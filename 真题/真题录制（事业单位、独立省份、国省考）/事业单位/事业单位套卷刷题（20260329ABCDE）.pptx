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119"/>
  </p:handoutMasterIdLst>
  <p:sldIdLst>
    <p:sldId id="547" r:id="rId3"/>
    <p:sldId id="557" r:id="rId5"/>
    <p:sldId id="558" r:id="rId6"/>
    <p:sldId id="559" r:id="rId7"/>
    <p:sldId id="560" r:id="rId8"/>
    <p:sldId id="561" r:id="rId9"/>
    <p:sldId id="562" r:id="rId10"/>
    <p:sldId id="563" r:id="rId11"/>
    <p:sldId id="564" r:id="rId12"/>
    <p:sldId id="565" r:id="rId13"/>
    <p:sldId id="566" r:id="rId14"/>
    <p:sldId id="567" r:id="rId15"/>
    <p:sldId id="568" r:id="rId16"/>
    <p:sldId id="569" r:id="rId17"/>
    <p:sldId id="570" r:id="rId18"/>
    <p:sldId id="571" r:id="rId19"/>
    <p:sldId id="572" r:id="rId20"/>
    <p:sldId id="573" r:id="rId21"/>
    <p:sldId id="574" r:id="rId22"/>
    <p:sldId id="575" r:id="rId23"/>
    <p:sldId id="576" r:id="rId24"/>
    <p:sldId id="577" r:id="rId25"/>
    <p:sldId id="578" r:id="rId26"/>
    <p:sldId id="579" r:id="rId27"/>
    <p:sldId id="580" r:id="rId28"/>
    <p:sldId id="581" r:id="rId29"/>
    <p:sldId id="582" r:id="rId30"/>
    <p:sldId id="583" r:id="rId31"/>
    <p:sldId id="584" r:id="rId32"/>
    <p:sldId id="585" r:id="rId33"/>
    <p:sldId id="586" r:id="rId34"/>
    <p:sldId id="587" r:id="rId35"/>
    <p:sldId id="588" r:id="rId36"/>
    <p:sldId id="589" r:id="rId37"/>
    <p:sldId id="590" r:id="rId38"/>
    <p:sldId id="591" r:id="rId39"/>
    <p:sldId id="548" r:id="rId40"/>
    <p:sldId id="549" r:id="rId41"/>
    <p:sldId id="592" r:id="rId42"/>
    <p:sldId id="593" r:id="rId43"/>
    <p:sldId id="594" r:id="rId44"/>
    <p:sldId id="595" r:id="rId45"/>
    <p:sldId id="596" r:id="rId46"/>
    <p:sldId id="597" r:id="rId47"/>
    <p:sldId id="598" r:id="rId48"/>
    <p:sldId id="599" r:id="rId49"/>
    <p:sldId id="600" r:id="rId50"/>
    <p:sldId id="601" r:id="rId51"/>
    <p:sldId id="602" r:id="rId52"/>
    <p:sldId id="603" r:id="rId53"/>
    <p:sldId id="604" r:id="rId54"/>
    <p:sldId id="605" r:id="rId55"/>
    <p:sldId id="606" r:id="rId56"/>
    <p:sldId id="607" r:id="rId57"/>
    <p:sldId id="608" r:id="rId58"/>
    <p:sldId id="609" r:id="rId59"/>
    <p:sldId id="610" r:id="rId60"/>
    <p:sldId id="611" r:id="rId61"/>
    <p:sldId id="612" r:id="rId62"/>
    <p:sldId id="613" r:id="rId63"/>
    <p:sldId id="614" r:id="rId64"/>
    <p:sldId id="615" r:id="rId65"/>
    <p:sldId id="616" r:id="rId66"/>
    <p:sldId id="617" r:id="rId67"/>
    <p:sldId id="618" r:id="rId68"/>
    <p:sldId id="619" r:id="rId69"/>
    <p:sldId id="620" r:id="rId70"/>
    <p:sldId id="621" r:id="rId71"/>
    <p:sldId id="622" r:id="rId72"/>
    <p:sldId id="623" r:id="rId73"/>
    <p:sldId id="624" r:id="rId74"/>
    <p:sldId id="625" r:id="rId75"/>
    <p:sldId id="626" r:id="rId76"/>
    <p:sldId id="550" r:id="rId77"/>
    <p:sldId id="551" r:id="rId78"/>
    <p:sldId id="484" r:id="rId79"/>
    <p:sldId id="485" r:id="rId80"/>
    <p:sldId id="486" r:id="rId81"/>
    <p:sldId id="487" r:id="rId82"/>
    <p:sldId id="488" r:id="rId83"/>
    <p:sldId id="489" r:id="rId84"/>
    <p:sldId id="492" r:id="rId85"/>
    <p:sldId id="493" r:id="rId86"/>
    <p:sldId id="495" r:id="rId87"/>
    <p:sldId id="498" r:id="rId88"/>
    <p:sldId id="500" r:id="rId89"/>
    <p:sldId id="501" r:id="rId90"/>
    <p:sldId id="502" r:id="rId91"/>
    <p:sldId id="507" r:id="rId92"/>
    <p:sldId id="509" r:id="rId93"/>
    <p:sldId id="510" r:id="rId94"/>
    <p:sldId id="511" r:id="rId95"/>
    <p:sldId id="512" r:id="rId96"/>
    <p:sldId id="552" r:id="rId97"/>
    <p:sldId id="553" r:id="rId98"/>
    <p:sldId id="527" r:id="rId99"/>
    <p:sldId id="529" r:id="rId100"/>
    <p:sldId id="530" r:id="rId101"/>
    <p:sldId id="531" r:id="rId102"/>
    <p:sldId id="532" r:id="rId103"/>
    <p:sldId id="533" r:id="rId104"/>
    <p:sldId id="554" r:id="rId105"/>
    <p:sldId id="555" r:id="rId106"/>
    <p:sldId id="537" r:id="rId107"/>
    <p:sldId id="538" r:id="rId108"/>
    <p:sldId id="539" r:id="rId109"/>
    <p:sldId id="528" r:id="rId110"/>
    <p:sldId id="540" r:id="rId111"/>
    <p:sldId id="541" r:id="rId112"/>
    <p:sldId id="542" r:id="rId113"/>
    <p:sldId id="543" r:id="rId114"/>
    <p:sldId id="544" r:id="rId115"/>
    <p:sldId id="545" r:id="rId116"/>
    <p:sldId id="546" r:id="rId117"/>
    <p:sldId id="556" r:id="rId118"/>
  </p:sldIdLst>
  <p:sldSz cx="12192000" cy="6858000"/>
  <p:notesSz cx="6858000" cy="9144000"/>
  <p:embeddedFontLst>
    <p:embeddedFont>
      <p:font typeface="楷体" panose="02010609060101010101" charset="-122"/>
      <p:regular r:id="rId124"/>
    </p:embeddedFont>
  </p:embeddedFontLst>
  <p:custDataLst>
    <p:tags r:id="rId1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4"/>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5" Type="http://schemas.openxmlformats.org/officeDocument/2006/relationships/tags" Target="tags/tag10.xml"/><Relationship Id="rId124" Type="http://schemas.openxmlformats.org/officeDocument/2006/relationships/font" Target="fonts/font1.fntdata"/><Relationship Id="rId123" Type="http://schemas.openxmlformats.org/officeDocument/2006/relationships/commentAuthors" Target="commentAuthors.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9.xml"/><Relationship Id="rId119" Type="http://schemas.openxmlformats.org/officeDocument/2006/relationships/handoutMaster" Target="handoutMasters/handoutMaster1.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相同，优先考虑位置规律。观察发现，图形存在明显的内外之分，且内圈都只有一个黑色三角形，考虑内外分开看。内圈黑色三角形每次顺时针转动90°，外圈黑色三角形每次逆时针移动1格，只有A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不同，优先考虑属性规律。观察发现，题干均为曲直结合图形，但无唯一答案。进一步观察发现，题干图形中出现多边形、较多弧线，考虑数直线、曲线。题干直线数依次为6，6，4，5，4，无明显规律，曲线数依次为2，3，2，4，4，无明显规律。进行运算发现，题干图形“直线数－曲线数”的结果依次为4，3，2，1，0，为递减的等差数列，故？处应选择直线数-曲线数=-1的图形，只有D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不同，优先考虑属性规律。观察发现，题干图形均含有等腰元素，考虑对称性。题干图形均只有一条竖向对称轴，且对称轴经过的面数量依次为1，2，3，4，5，故？处应选择只有一条竖向对称轴且对称轴经过的面数量为6的图形，只有A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04_147d108e84c9.png"/>
          <p:cNvPicPr>
            <a:picLocks noChangeAspect="1"/>
          </p:cNvPicPr>
          <p:nvPr/>
        </p:nvPicPr>
        <p:blipFill>
          <a:blip r:embed="rId3"/>
          <a:stretch>
            <a:fillRect/>
          </a:stretch>
        </p:blipFill>
        <p:spPr>
          <a:xfrm>
            <a:off x="685800" y="6500797"/>
            <a:ext cx="5486400" cy="783771"/>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相同，但无明显位置规律。观察发现，题干图形均由三种不同元素组成，考虑不同元素之间的关系。进一步观察发现，三种元素分别连线后会相交于一点，故？处应选择三种元素分别连线后相交于一点的图形，只有D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06_9501d858e062.png"/>
          <p:cNvPicPr>
            <a:picLocks noChangeAspect="1"/>
          </p:cNvPicPr>
          <p:nvPr/>
        </p:nvPicPr>
        <p:blipFill>
          <a:blip r:embed="rId3"/>
          <a:stretch>
            <a:fillRect/>
          </a:stretch>
        </p:blipFill>
        <p:spPr>
          <a:xfrm>
            <a:off x="1630811" y="6500797"/>
            <a:ext cx="3596377" cy="1500203"/>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解析：本题为空间重构题。</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如下图所示，A、C、D项中，“如”字中“女”与内部有一条斜线的面中的三角形相邻，但B项中，“如”字中“女”与内部有一条斜线的面中的梯形相邻，因此B项折成的纸盒与其他三个不同。</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08_f2af08ebb10e.png"/>
          <p:cNvPicPr>
            <a:picLocks noChangeAspect="1"/>
          </p:cNvPicPr>
          <p:nvPr/>
        </p:nvPicPr>
        <p:blipFill>
          <a:blip r:embed="rId3"/>
          <a:stretch>
            <a:fillRect/>
          </a:stretch>
        </p:blipFill>
        <p:spPr>
          <a:xfrm>
            <a:off x="685800" y="6500797"/>
            <a:ext cx="5486400" cy="1408386"/>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解析：“液体在固体表面铺展形成连续液膜的能力”。</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A项：水在多孔材料中会被吸附或渗透，是进入材料内部，并非在固体表面铺展形成液膜，不符合“液体在固体表面铺展形成连续液膜的能力”，不符合定义，排除；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B项：液体蒸发在固体表面留下残留物，不涉及液体在固体表面的铺展能力，不符合“液体在固体表面铺展形成连续液膜的能力”，不符合定义，排除；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C项：在金属表面喷涂防锈漆，防锈漆在金属表面形成连续的液膜，即防锈漆作为液体在金属表面形成均匀致密的保护层，符合“液体在固体表面铺展形成连续液膜的能力”，符合定义，当选；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注射器针尖设计成锥形能让药液在注射过程中更加均匀，降低药物在管道中的泄漏，减少药液残留，不涉及液体在固体表面的铺展能力，不符合“液体在固体表面铺展形成连续液膜的能力”，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解析：“相邻的两棵树在生长过程中，树冠避免相互重叠，形成明显间隔的现象”、“其本质是树木通过感知周围环境光信号，调节自身生长方向，以最大程度获取光合作用所需光照的生存策略”。</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高大乔木为争夺阳光，树干笔直向上生长，树冠呈伞状，只描述了树木竖直向上争夺阳光，但不涉及树冠避免相互重叠，不符合“相邻的两棵树在生长过程中，树冠避免相互重叠，形成明显间隔的现象”，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人工修剪的行道树，树冠被统一修剪成球形，相邻树之间保持均匀距离，行道树的形状和树木间距均为人工修剪，并非树木在生长过程中为避免树冠相互重叠而自发的生长调节的结果，不符合“相邻的两棵树在生长过程中，树冠避免相互重叠，形成明显间隔的现象”，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悬崖上并排的两棵树，在长期风力的作用下形成旗形树冠，互不重叠，两树的树冠形状是在风力影响下的变化，并非感知周围环境光信号，不符合“其本质是树木通过感知周围环境光信号，调节自身生长方向，以最大程度获取光合作用所需光照的生存策略”，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森林中，两棵相邻松树的树冠尚未接触，但枝叶均已向外侧弯曲生长，表明松树通过向外侧弯曲生长来避免树冠重叠，以获取更多光照，符合“相邻的两棵树在生长过程中，树冠避免相互重叠，形成明显间隔的现象”、“其本质是树木通过感知周围环境光信号，调节自身生长方向，以最大程度获取光合作用所需光照的生存策略”，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解析：“当环境或系统缺乏透明度时，人们因信息不足容易产生负面判断、好奇心或不良行为”。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A项：公司制定的考勤规则不明确，符合“环境或系统缺乏透明度”，有员工因看不出违反规则会付出什么代价而迟到，符合“人们因信息不足容易产生负面判断、好奇心或不良行为”，符合定义，当选；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某宾馆不监督服务员具体工作，而是根据顾客满意度进行绩效分配，导致服务员无原则迎合顾客需求，是管理方式导致的结果，管理者与服务员均了解绩效的规则，并非信息不透明，不符合“当环境或系统缺乏透明度时，人们因信息不足容易产生负面判断、好奇心或不良行为”，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许多旅游景点为吸引游客故意进行不实宣传，导致大量游客慕名而来，败兴而归，是旅游景点提供错误信息进行不实宣传，而非信息不透明，且吸引游客也并非游客做出负面判断或不良行为，不符合“当环境或系统缺乏透明度时，人们因信息不足容易产生负面判断、好奇心或不良行为”，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某公司按件计酬，导致部分员工一味追求产品数量，牺牲产品质量，是薪酬制度的激励行为，管理者与员工均了解计酬的规则，并非信息不透明，不符合“环境或系统缺乏透明度时，人们因信息不足容易产生负面判断、好奇心或不良行为”，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选项；考勤规则不明确（系统信息不透明、员工不清楚违规代价，信息不足）→员工频繁迟到（不良行为）。完全匹配：不透明→信息不足→不良行为，符合黑窗效应。</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选项；宾馆不监督过程，只看顾客满意度发绩效。不是 “信息不透明”，是考核标准导向问题；服务员迎合顾客是考核机制导致，并非看不到内部信息造成，不符合。</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选项；景点主动虚假宣传，属于刻意欺骗，不是系统缺乏透明度、信息缺失；是主动输出错误信息，而非看不到内部真实情况，排除。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选项；按件计酬制度，规则清晰透明，员工为多拿钱忽视质量，是薪酬激励机制的弊端，不存在信息不透明，排除。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解析：“由政府主导建立的自然资源资产运营平台，它将碎片化的生态资源集中收储，进行专业化整合提升，以市场化的方式实现生态产品的价值”。</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县政府建立山水资源数据库，追踪自然资源的开发和保护情况，只是建立起数据资源库，并非建立运营平台并以市场化方式实现价值，不符合“由政府主导建立的自然资源资产运营平台，它将碎片化的生态资源集中收储，进行专业化整合提升，以市场化的方式实现生态产品的价值”，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林权交易所是经国务院同意、由国家林业局与北京市人民政府共建的国内唯一从事全国林业要素与资源的综合性交易和服务机构，符合政府主导背景；将分散林地集中流转，符合将碎片化生态资源集中收储；引入社会资本发展林下经济，符合以市场化的方式实现生态产品的价值，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自然资源交易所挂牌交易企业超额减排量，实现环境权益置换，只是实现环境权益置换，并非将碎片化的生态资源集中收储，不符合“由政府主导建立的自然资源资产运营平台，未体现将碎片化的生态资源集中收储，进行专业化整合提升，以市场化的方式实现生态产品的价值”，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环保组织并非由政府主导的运营平台，且购买湿地碳汇指标，支付资金用于防护林的修复工程，也未体现将碎片化的生态资源集中收储，不符合“由政府主导建立的自然资源资产运营平台，它将碎片化的生态资源集中收储，进行专业化整合提升，以市场化的方式实现生态产品的价值”，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主体：政府主导的自然资源资产运营平台；</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动作 1：把碎片化生态资源集中收储、专业化整合提升；</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动作 2：引入产业运营商、吸引社会资本；</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最终目标：市场化运作，完成生态资源→生态资产转化，实现生态产品价值。</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仅做数据登记、监管统计，没有收储整合资源、引入社会资本、市场化运营变现，缺少核心运作环节，排除。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林权交易所是政府主导的自然资源运营平台；</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“分散林地集中流转”= 碎片化生态资源集中收储整合；</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“引入社会资本发展林下经济”= 吸引市场资本、专业产业运营；</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通过林下产业实现林地资源资产化、市场化变现，完全匹配生态银行全部定义要件，符合。</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交易标的是减排指标、环境权益，不是山水林田等实体自然资源；仅指标买卖，没有收储整合实体生态资源、发展实体生态产业，属于排污权 / 碳权交易，不是生态银行模式，排除。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主体是环保组织（非政府自然资源运营平台）；交易标的是碳汇指标，仅生态补偿修复，不存在碎片化资源集中收储、产业开发、资源变资产的完整链条，排除。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解析：“应用文献计量学、信息计量学及信息技术”、“对网上信息的组织、存储、分布、传递、相互引证和开发利用等进行定量描述或统计分析，以揭示其数量特征和内在规律的一门新兴分支学科”。</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采集经用户授权的照片并进行标记，用于大模型识别训练，其最终目的是提高模型准确性，并非揭示其数量特征和内在规律，不符合“应用文献计量学、信息计量学及信息技术”“对网上信息的组织、存储、分布、传递、相互引证和开发利用等进行定量描述或统计分析，以揭示其数量特征和内在规律的一门新兴分支学科”，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运用网络绘图和信息技术分析网页超级链接的拓扑结构，进而研究网页间数据的关系，是对网上信息的开发利用，且揭示了网页间数据的数量特征和内在规律，符合“应用文献计量学、信息计量学及信息技术”“对网上信息的组织、存储、分布、传递、相互引证和开发利用等进行定量描述或统计分析，以揭示其数量特征和内在规律的一门新兴分支学科”，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对某类网络文献引用及发表的情况进行统计，研究该类文献增长规律和老化规律，是对网络文献信息的组织、开发利用，且揭示该类文献的增长和老化规律，符合“应用文献计量学、信息计量学及信息技术”“对网上信息的组织、存储、分布、传递、相互引证和开发利用等进行定量描述或统计分析，以揭示其数量特征和内在规律的一门新兴分支学科”，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对网站和服务器的数量、网络用户的特征以及网络发展的增长率指标进行相关性分析，是对网上信息的开发利用，且研究各数据间的特征和相关性规律，符合“应用文献计量学、信息计量学及信息技术”“对网上信息的组织、存储、分布、传递、相互引证和开发利用等进行定量描述或统计分析，以揭示其数量特征和内在规律的一门新兴分支学科”，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本题为选非题，故正确答案为A。</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研究对象：网上信息（网页、网络文献、网络链接、网站、网络用户、网络传播引证等）</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研究手段：文献计量、信息计量、信息技术</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研究行为：定量统计、分析信息的组织、存储、分布、传递、相互引证、开发利用</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研究目的：揭示网络信息数量特征与内在规律</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核心对象是图片素材、人工智能模型训练，不属于 “网上信息的分布、引证、传递、网页 / 网络文献” 这类网络信息范畴；只是单纯图像数据集训练，没有针对网络信息做计量统计、挖掘网络传播 / 引用规律，不属于网络计量学。</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研究对象是网页、网络链接（典型网上信息），定量分析结构关系，完全符合定义，属于。</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对应定义里 “网络文献相互引证、定量统计分析、挖掘规律”，属于。</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研究网络主体、网络发展的数量特征，是对网络整体信息资源定量研究，属于。</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解析：“在统计记录、计算、整理等过程中”、“因统计行为人自身的主客观因素而出现的统计错误”、“导致统计数据与实际不符的情况”。</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小李填写月度报表，符合“在统计记录、计算、整理等过程中”；粗略估算并代填当地企业经济统计数据，粗略估算会导致数据不准确，符合“因统计行为人自身的主客观因素而出现的统计错误”、“导致统计数据与实际不符的情况”，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B项：小刘因更新了应用软件，导致上报的企业数据前后格式不一致，格式不一致不是数据错误，不符合“导致统计数据与实际不符的情况”，不符合定义，当选；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小张在将数据导入直报系统时，符合“在统计记录、计算、整理等过程中”；因操作不当致使部分数据错乱，符合“因统计行为人自身的主客观因素而出现的统计错误”、“导致统计数据与实际不符的情况”，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小王在记录数据时，符合“在统计记录、计算、整理等过程中”；不慎将某笔金融资金的交易类型标记错误，符合“因统计行为人自身的主客观因素而出现的统计错误”、“导致统计数据与实际不符的情况”，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解析：“材料在受到外力作用时”、“表面发生非均匀变形，导致结构失去原有的平面状态，形成褶皱、折痕等失稳形貌的现象”。</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折叠手机屏幕在反复使用后出现永久性折痕，反复使用属于外力作用，永久性折痕属于非均匀变形，符合“材料在受到外力作用时”、“表面发生非均匀变形，导致结构失去原有的平面状态，形成褶皱、折痕等失稳形貌的现象”，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柔性太阳能电池板在强风作用下表面出现局部褶皱，强风属于外力作用，局部褶皱属于非均匀变形，符合“材料在受到外力作用时”、“表面发生非均匀变形，导致结构失去原有的平面状态，形成褶皱、折痕等失稳形貌的现象”，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橡胶薄膜受局部挤压后，受压区域呈现放射状褶皱，局部挤压属于外力作用，放射状褶皱属于非均匀变形，符合“材料在受到外力作用时”、“表面发生非均匀变形，导致结构失去原有的平面状态，形成褶皱、折痕等失稳形貌的现象”，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玻璃片在温度骤变的情况下产生不规则裂纹，温度骤变中无外力作用，而是由此玻璃内部产生应力，当该应力超过玻璃的抗拉强度时，就会发生破裂，且裂痕也不属于非均匀变形，而是非均匀变形导致的结果，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解析：电离辐射：“携带足够能量使物质原子发生电离的辐射”、“具有破坏DNA的潜在危害”；</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非电离辐射：“能量较低无法引发电离作用的辐射”、“主要产生热效应”；</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电磁污染：“人工电磁辐射超过环境本底值，对生物或设备造成干扰的现象”。</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A项：微波炉主要功能是加热食物，手机用久后会发烫，符合“能量较低无法引发电离作用的辐射”、“主要产生热效应”，符合“非电离辐射”定义，不符合“电离辐射”定义，对应错误，排除；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β射线是原子核β衰变释放的电子流，属于电离辐射，可能引发皮肤损伤、组织电离甚至使癌症风险增加，符合“携带足够能量使物质原子发生电离的辐射”、“具有破坏DNA的潜在危害”，符合“电离辐射”定义，不符合“电磁污染”定义，对应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炼钢工人因长期靠近中频炉出现皮肤灼伤，中频炉加热的原理为电磁感应，其热量在工件内自身产生，长期靠近会出现灼伤的现象，符合“能量较低无法引发电离作用的辐射”、“主要产生热效应”，符合“非电离辐射”定义，对应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极光是地球磁层或太阳的高能带电粒子注入极区高层大气时，撞击原子和分子而激发产生的一种绚丽多彩的发光现象，符合“能量较低无法引发电离作用的辐射”，符合“非电离辐射”定义，不符合“电离辐射”定义，对应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电离辐射：能量高，能电离原子，损伤 </a:t>
            </a:r>
            <a:r>
              <a:rPr lang="en-US" altLang="zh-CN" sz="1200">
                <a:solidFill>
                  <a:srgbClr val="333333"/>
                </a:solidFill>
                <a:latin typeface="楷体" panose="02010609060101010101" charset="-122"/>
              </a:rPr>
              <a:t>DNA；</a:t>
            </a:r>
            <a:r>
              <a:rPr lang="zh-CN" altLang="en-US" sz="1200">
                <a:solidFill>
                  <a:srgbClr val="333333"/>
                </a:solidFill>
                <a:latin typeface="楷体" panose="02010609060101010101" charset="-122"/>
              </a:rPr>
              <a:t>例：</a:t>
            </a:r>
            <a:r>
              <a:rPr lang="en-US" altLang="zh-CN" sz="1200">
                <a:solidFill>
                  <a:srgbClr val="333333"/>
                </a:solidFill>
                <a:latin typeface="楷体" panose="02010609060101010101" charset="-122"/>
              </a:rPr>
              <a:t>β </a:t>
            </a:r>
            <a:r>
              <a:rPr lang="zh-CN" altLang="en-US" sz="1200">
                <a:solidFill>
                  <a:srgbClr val="333333"/>
                </a:solidFill>
                <a:latin typeface="楷体" panose="02010609060101010101" charset="-122"/>
              </a:rPr>
              <a:t>射线、</a:t>
            </a:r>
            <a:r>
              <a:rPr lang="en-US" altLang="zh-CN" sz="1200">
                <a:solidFill>
                  <a:srgbClr val="333333"/>
                </a:solidFill>
                <a:latin typeface="楷体" panose="02010609060101010101" charset="-122"/>
              </a:rPr>
              <a:t>X </a:t>
            </a:r>
            <a:r>
              <a:rPr lang="zh-CN" altLang="en-US" sz="1200">
                <a:solidFill>
                  <a:srgbClr val="333333"/>
                </a:solidFill>
                <a:latin typeface="楷体" panose="02010609060101010101" charset="-122"/>
              </a:rPr>
              <a:t>光、核辐射、放射性射线</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非电离辐射：能量低，只产生热效应，不能电离；例：微波、红外、可见光、中频炉热辐射</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电磁污染：人工产生的电磁辐射超标，干扰生物 / 电子设备</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微波炉旁手机画面卡顿；微波炉、手机都是人工电磁信号互相干扰，属于电磁污染，不是电离辐射。对应错误。</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监测 </a:t>
            </a:r>
            <a:r>
              <a:rPr lang="en-US" altLang="zh-CN" sz="1200">
                <a:solidFill>
                  <a:srgbClr val="333333"/>
                </a:solidFill>
                <a:latin typeface="楷体" panose="02010609060101010101" charset="-122"/>
              </a:rPr>
              <a:t>β </a:t>
            </a:r>
            <a:r>
              <a:rPr lang="zh-CN" altLang="en-US" sz="1200">
                <a:solidFill>
                  <a:srgbClr val="333333"/>
                </a:solidFill>
                <a:latin typeface="楷体" panose="02010609060101010101" charset="-122"/>
              </a:rPr>
              <a:t>射线暴露量；</a:t>
            </a:r>
            <a:r>
              <a:rPr lang="en-US" altLang="zh-CN" sz="1200">
                <a:solidFill>
                  <a:srgbClr val="333333"/>
                </a:solidFill>
                <a:latin typeface="楷体" panose="02010609060101010101" charset="-122"/>
              </a:rPr>
              <a:t>β </a:t>
            </a:r>
            <a:r>
              <a:rPr lang="zh-CN" altLang="en-US" sz="1200">
                <a:solidFill>
                  <a:srgbClr val="333333"/>
                </a:solidFill>
                <a:latin typeface="楷体" panose="02010609060101010101" charset="-122"/>
              </a:rPr>
              <a:t>射线属于高能核射线，是电离辐射，并非电磁污染。对应错误。</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中频炉造成皮肤灼伤；中频炉释放的辐射能量低，只会产生热量、烫伤皮肤，只有热效应，符合非电离辐射定义。对应正确。</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极光干扰卫星通信；极光是自然天象，定义里电磁污染限定为人工电磁辐射，极光不属于人工辐射；且极光干扰通信不属于电离辐射范畴。对应错误。</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解析：关联图：“一种把关系复杂而相互纠缠的问题及其因素用箭头连接起来的图示分析工具，用来整理分析原因、结果、目的、手段等方面的复杂关系”；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问题：“箭头只进不出”；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主因：“箭头只出不进”；</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中间因素：“箭头有进有出”；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关键中间因素：“箭头出多于进的中间因素”。</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箭头只出不进表示主因，图中有七个主因，即“车辆集中到达”、“卸车调度不合理”、“人员效能不足”、“设备故障”、“特殊时段电商促销”、“错分（含粗分）”、“漏扫”七个主因，说法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箭头有进有出表示中间因素，中间因素有八个，即图中“班车靠位时间长”、“卸车不及时”、“卸车/DWS效率低”、“拆包平台效率低”、“自动线效率低”、“操作量超出产能”、“清场不及时”、“扫描发件不及时”，主因有七个，中间因素多于主因，说法错误，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C项：箭头出多于进的中间因素是关键中间因素，图中没有符合要求的节点，故不存在关键中间因素，说法正确，排除；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D项：箭头只进不出表示问题，图中有两个问题，即“频次发件及时率低”和“分拨操作时长长”，说法正确，排除。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解析：媒体到达率：“指目标受众在特定时期（一般为四周）内收看某节目一次或一次以上的人数占总人数的比率”；</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媒体收视率：“某个节目一次播出所到达的目标受众占总人数的比率”；</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媒体收视频率：“目标受众在四周时间内对于某节目所展露的平均次数”、“媒体收视频率=媒体到达率/媒体收视率”；</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毛评点：“用来描述某个媒体播出计划中，一定时间内广告的总影响力”、“毛评点=媒体到达率×媒体收视频率”。</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媒体到达率是指目标受众在特定时期（一般为四周）内收看某节目一次或一次以上的人数占总人数的比率，是对信息扩散程度的度量，反映的是受众在一定时期内收看节目的广泛性，与重复程度无关，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B项：媒体收视率是某个节目一次播出所到达的目标受众占总人数的比率，与信息扩散程度无关，说法错误，排除；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由毛评点=媒体到达率×媒体收视频率，媒体收视频率=媒体到达率/媒体收视率，综合可得：毛评点=媒体到达率×（媒体到达率/媒体收视率），在媒体到达率一定的情况下，毛评点和媒体收视率成反比，且毛评点用来描述某个媒体播出计划中，一定时间内广告的总影响力，即媒体收视率越低，该时间内广告的总影响力就越大，说法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D项：媒体收视频率=媒体到达率/媒体收视率，而非媒体到达率/投放次数，媒体收视频率是目标受众在四周时间内对于某节目所展露的平均次数，与节目投放的平均次数无关，计算逻辑有误，说法错误，排除。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媒体到达率：四周内看过节目≥1 次的人数 / 总人数 → 衡量覆盖面、扩散广度（不看重复）</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媒体收视率：单一次播出的受众 / 总人数 → 单次播出占比</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媒体收视频率（平均展露次数） = 媒体到达率 ÷ 媒体收视率</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毛评点（总广告影响力） = 媒体到达率 × 媒体收视频率</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逐项分析</a:t>
            </a: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选项“媒体到达率是对重复程度的度量，反映目标受众展露于同一个节目的程度”；错误。</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重复程度、平均收看次数是收视频率；到达率只看 “有没有看过至少一次”，衡量覆盖广度，不反映重复。</a:t>
            </a: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选项“媒体收视率是对信息扩散程度的度量，反映目标受众在一定时期内收看某节目的广泛性”；错误。</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扩散广度、一定时期覆盖人群是到达率；收视率仅代表单一次播出的瞬时受众占比，不是一段时期的广泛性。</a:t>
            </a: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选项“在媒体到达率一定的情况下，媒体收视率越低，该时间内广告的总影响力就越大”</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已知：收视频率 = 到达率 ÷ 收视率；毛评点 = 到达率 × 收视频率</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代入得：毛评点 = 到达率 × (到达率 ÷ 收视率) = \(\</a:t>
            </a:r>
            <a:r>
              <a:rPr lang="en-US" altLang="zh-CN" sz="1200">
                <a:solidFill>
                  <a:srgbClr val="333333"/>
                </a:solidFill>
                <a:latin typeface="楷体" panose="02010609060101010101" charset="-122"/>
              </a:rPr>
              <a:t>frac{</a:t>
            </a:r>
            <a:r>
              <a:rPr lang="zh-CN" altLang="en-US" sz="1200">
                <a:solidFill>
                  <a:srgbClr val="333333"/>
                </a:solidFill>
                <a:latin typeface="楷体" panose="02010609060101010101" charset="-122"/>
              </a:rPr>
              <a:t>到达率^2}{收视率}\)</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到达率固定时，分母收视率越小，整体毛评点数值越大，即广告总影响力越大。；说法正确。</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选项“若某节目在四周时间内，投放的平均次数为 10 次，媒体到达率为 0.5，则该节目的收视频率就是 0.05”</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题干明确：收视频率 = 平均展露次数，题目直接给出平均次数 10 次，收视频率就是 10；</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按公式验算：收视频率 = 到达率 / 收视率，0.05≠10，计算与定义均矛盾。错误。</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解析：“隆隆”形容剧烈震动的声音，是模拟“雷声”的拟声词，二者为拟声词的对应关系。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A项：“奄奄”形容气息微弱，不是模拟“气息”的拟声词，与题干逻辑关系不一致，排除；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B项：“袅袅”形容声音婉转悠扬不绝，不是模拟“余音”的拟声词，与题干逻辑关系不一致，排除；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C项：“淙淙”是形容流水发出的轻柔的声音，是模拟“泉水”流动的拟声词，二者为拟声词的对应关系，与题干逻辑关系一致，当选；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D项：“潇潇”形容风雨急骤或细雨飘落的样子，用来形容风雨的状态，不是模拟“风雨”的拟声词，与题干逻辑关系不一致，排除。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隆隆是模拟雷声的拟声词，词语关系：事物 + 专属形容该事物声音的拟声词。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奄奄（奄奄一息）形容微弱的样子，不是声音，排除。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袅袅形容声音绵长、轻柔，侧重形态氛围，不是拟声词，排除。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淙淙</a:t>
            </a:r>
            <a:r>
              <a:rPr lang="en-US" altLang="zh-CN" sz="1200">
                <a:solidFill>
                  <a:srgbClr val="333333"/>
                </a:solidFill>
                <a:latin typeface="楷体" panose="02010609060101010101" charset="-122"/>
              </a:rPr>
              <a:t>c</a:t>
            </a:r>
            <a:r>
              <a:rPr lang="en-US" altLang="en-US" sz="1200">
                <a:solidFill>
                  <a:srgbClr val="333333"/>
                </a:solidFill>
                <a:latin typeface="楷体" panose="02010609060101010101" charset="-122"/>
              </a:rPr>
              <a:t>ó</a:t>
            </a:r>
            <a:r>
              <a:rPr lang="en-US" altLang="zh-CN" sz="1200">
                <a:solidFill>
                  <a:srgbClr val="333333"/>
                </a:solidFill>
                <a:latin typeface="楷体" panose="02010609060101010101" charset="-122"/>
              </a:rPr>
              <a:t>ng c</a:t>
            </a:r>
            <a:r>
              <a:rPr lang="en-US" altLang="en-US" sz="1200">
                <a:solidFill>
                  <a:srgbClr val="333333"/>
                </a:solidFill>
                <a:latin typeface="楷体" panose="02010609060101010101" charset="-122"/>
              </a:rPr>
              <a:t>ó</a:t>
            </a:r>
            <a:r>
              <a:rPr lang="en-US" altLang="zh-CN" sz="1200">
                <a:solidFill>
                  <a:srgbClr val="333333"/>
                </a:solidFill>
                <a:latin typeface="楷体" panose="02010609060101010101" charset="-122"/>
              </a:rPr>
              <a:t>ng</a:t>
            </a:r>
            <a:r>
              <a:rPr lang="zh-CN" altLang="en-US" sz="1200">
                <a:solidFill>
                  <a:srgbClr val="333333"/>
                </a:solidFill>
                <a:latin typeface="楷体" panose="02010609060101010101" charset="-122"/>
              </a:rPr>
              <a:t>是模拟泉水流动的拟声词，泉水对应专属水声拟声词，和题干结构完全一致。</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潇潇多形容风雨交织的景象，侧重场面，不是纯粹模拟声音的拟声词；且潇潇常连用 “风雨潇潇”，不专门形容雨声 / 风声。</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解析：烧鸡和烤鸭是两种不同的食物，二者为并列关系，烧鸡是用“烧”这种方法制作的鸡，烤鸭是用“烤”这种方法制作的鸭，二者均是根据制作方式来命名的。</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插花和剪纸是两种不同的手工艺术活动，二者为并列关系，插花是用“插”这种制作方式进行的手工艺术活动，剪纸是用“剪”这种制作方式进行的手工艺术活动，二者均是根据制作方式来命名的，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B项：蜡染是中国民间传统纺织印染手工艺，绘画是用色彩、线条在纸、布或其他底子上描绘出形象的作品，二者不是并列关系，与题干逻辑关系不一致，排除；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熏鱼和肉松是两种不同的食物，二者为并列关系，熏鱼是用“熏”这种方法制作的鱼，是根据制作方式来命名的，肉松是将肉除去水分后制成的粉末，是根据原材料来命名的，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辣酱和剁椒是两种不同的辣椒制品，二者为并列关系，辣酱的主要原料是辣椒，是根据原材料来命名的，剁椒是用“剁”这种方式制作的辣椒制品，是根据制作方式来命名的，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题干：烧鸡：烤鸭；并列，都是熟食菜肴；命名规则：加工工艺 + 原材料；烧（工艺）+ 鸡（原料）；烤（工艺）+ 鸭（原料）</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插花：剪纸；插（工艺）+ 花；剪（工艺）+ 纸；并列，命名格式：加工动作 + 材料，和题干结构完全对应。</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蜡染：绘画；蜡染是工艺成品，绘画是大类，结构不一致，排除。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熏鱼：肉松；熏鱼：熏 + 鱼（工艺 + 原料）；肉松：肉 + 形态，命名结构不一样，后半字不是原材料，结构不匹配。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辣酱：剁椒；剁椒属于辣酱，种属关系，排除。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解析：“其身不正，虽令不从”指的是如果执政者自身行为不端，那么即便下达政令也难以使人信服，二者为条件的对应关系。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A项：“不要人夸好颜色，只留清气满乾坤”指的是不需要别人夸它的颜色好看，只需要梅花的清香之气弥漫在天地之间，二者为并列关系，与题干逻辑关系不一致，排除；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B项：“不畏浮云遮望眼，自缘身在最高层”指的是不怕浮云会遮住我的视线，只因为如今我身在最高层，二者为因果的对应关系，与题干逻辑关系不一致，排除；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C项：“人生若只如初见，何事秋风悲画扇”指的是如果人生永远能像初次相遇时那样美好，又怎会在秋风中对着被遗弃的画扇悲伤呢？二者为条件的对应关系，与题干逻辑关系一致，保留；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D项：“但使龙城飞将在，不教胡马度阴山”指的是如果龙城的飞将李广如今还在，那就绝不许匈奴南下牧马度过阴山，二者为条件的对应关系，与题干逻辑关系一致，保留。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对比C、D项，题干与D项第二句均为陈述句，且题干是治国理政、将帅统军的宏观角度，而C项第二句为反问句，且探讨的是人与人之间的个人情感，故D项与题干逻辑关系更为一致。</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出自《论语》，逻辑：前半句是条件，后半句是该条件下的结果；翻译：自身行为不端正，就算下命令百姓也不会听从。句式关系：条件→结果（如果 </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那么 </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主旨并列，表达梅花不求夸赞、只留清香，无条件因果，排除。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因果倒置，后半句是原因，前半句是结果（因为站高处，所以不怕浮云遮挡），顺序相反，排除。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假设反问，意为 “如果人生都像初次相遇那般美好，就不会有后来离别伤感之事”，是假设感慨，并非客观条件推导结果，句式逻辑不符，排除。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但使 = 倘若、只要（条件）；后半句是带来的结果。翻译：只要有李广那样的名将驻守边关，就不会让匈奴骑兵越过阴山。逻辑：条件→结果，和题干完全一致。</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解析：用餐满意度是评价餐厅服务的标准之一，二者为评价标准的对应关系。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A项：生物多样性是生物进化的结果，二者为因果关系，与题干逻辑关系不一致，排除；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B项：考试及格率是评价学习效果的标准之一，二者为评价标准的对应关系，与题干逻辑关系一致，当选；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C项：集体荣誉感是集体成员对集体的认同感和自豪感，集体决策是集体成员共同做出的决定，二者无明显逻辑关系，与题干逻辑关系不一致，排除；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工作纪律是党的各级组织和全体党员在党的各项具体工作中必须遵守的行为规则，是党的各项工作正常开展的重要保证，工作积极性是指个体或集体对工作任务产生的能动自觉心理状态，表现为明确组织目标、克服障碍的意志努力及积极情感。二者不是评价标准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餐厅服务会正向影响用餐满意度；服务越好，满意度越高，二者是影响与被影响（正向因果）关系。前者是结果指标，后者是影响该指标的因素。</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生物进化带来生物多样性，逻辑方向看似相近，但进化是漫长底层根源，不是人为可调控的直接影响因素，和 “餐厅服务（人为经营要素）” 属性不符。</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学习效果越好，考试及格率越高；学习效果是直接影响及格率的核心正向因素。结构：结果指标（及格率）：影响它的正向因素（学习效果），和题干匹配。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集体决策不一定提升荣誉感，无必然正向影响关系，排除。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纪律主要是约束、管控，严格纪律大概率压制积极性，属于反向作用，排除。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解析：“征”指行军远行，远去，出兵讨伐；“伐”指攻打或攻击；“进攻”指军事上主动攻击的行动，三者为近义关系。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A项：“瘟”与“疫”均指流行性急性传染病，二者为近义关系，但“细菌”是引发传染病的原因，与题干逻辑关系不一致，排除；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B项：“茂”与“盛”均可用来形容“树木”繁盛，二者为近义关系，但“树木”为这两词修饰的对象，与题干逻辑关系不一致，排除；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C项：“凯”指军队得胜所奏的乐曲；“旋”指返回、归来，二者不是近义关系，与题干逻辑关系不一致，排除；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D项：“愉”指喜欢，快乐；“悦”指高兴，愉快；“快乐”指人开心、高兴的状态，三者为近义关系，与题干逻辑关系一致，当选。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征、伐都有进攻、讨伐的含义，三者是近义字：征 = 进攻，伐 = 进攻，征∶伐 同义，中间词是二者共同释义。</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结构：字 </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共同含义：字 </a:t>
            </a:r>
            <a:r>
              <a:rPr lang="en-US" altLang="zh-CN" sz="1200">
                <a:solidFill>
                  <a:srgbClr val="333333"/>
                </a:solidFill>
                <a:latin typeface="楷体" panose="02010609060101010101" charset="-122"/>
              </a:rPr>
              <a:t>C，A、C </a:t>
            </a:r>
            <a:r>
              <a:rPr lang="zh-CN" altLang="en-US" sz="1200">
                <a:solidFill>
                  <a:srgbClr val="333333"/>
                </a:solidFill>
                <a:latin typeface="楷体" panose="02010609060101010101" charset="-122"/>
              </a:rPr>
              <a:t>近义。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瘟、疫指疫病；细菌是致病微生物，不是二者含义，排除。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茂、盛是茂盛；树木是对象，不是释义，排除。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凯、旋搭配为凯旋，单字 “凯” 表胜利，“旋” 是归来，二者不同义，排除。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愉 = 快乐，悦 = 快乐，愉、悦同义，中间词为二者共同含义，和题干逻辑完全匹配。</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解析：风帆指船帆，风帆是帆船的组成部分，二者为组成关系，帆船的功能是航行，二者为功能的对应关系。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A项：文字是文章的组成部分，二者为组成关系，文章的功能是表达思想、表达情感等，二者为功能的对应关系，与题干逻辑关系一致，当选；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B项：调料是制作菜肴的原材料，二者为原材料的对应关系，与题干逻辑关系不一致，排除；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C项：铁轨是火车的行驶地点，二者为地点对应，与题干逻辑关系不一致，排除；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D项：指针和钟摆均为摆钟的组成部分，二者为并列关系，且功能为计时，而非时间，与题干逻辑关系不一致，排除。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风帆是帆船的组成部件；风帆的功能是辅助航行。拆解关系：部件∶部件功能∶整体载体</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文字是文章组成部分，文字作用是表达，结构看似接近，但文字是文章核心主体内容，风帆是帆船动力配件，属性不同，继续对比。</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调料是制作菜肴的原料，不是菜肴自带组成部件，排除。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铁轨不属于火车的部件，是外部配套设施；且铁轨功能不是变道，变道靠道岔，逻辑错误，排除。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指针功能是指示时间，不是 “时间” 这个名词；钟摆和指针是钟表两个并列零件，钟摆不是包含指针的整体，结构错，排除。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精细区分 </a:t>
            </a: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和题干</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题干：风帆（动力零部件）依附于帆船这个工具，用来完成航行动作；</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文字（基础构成单元）依附于文章，用来完成表达动作。</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核心硬伤：调料是外来原材料，不属于菜肴自带构件，直接排除。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解析：展示池和观赏窗均为水族馆的组成部分，二者与水族馆均为组成关系。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A项：火箭的发射需要燃料提供动力，二者为动力来源的对应关系，与题干逻辑关系不一致，排除；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B项：叶片和轮毂均为风车的组成部分，二者与风车为组成关系，与题干逻辑关系一致，当选；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C项：风琴是一种自由簧鸣乐器，靠空气压力使簧片振动发声，但风声不是风琴的组成部分，与题干逻辑关系不一致，排除；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D项：水塔一般指储水和配水的高耸结构，水箱和支架均为水塔的组成部分，二者与水塔均为组成关系，但词语顺序与题干顺序不一致，排除。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水族馆是整体；展示池、观赏窗都是水族馆内部并列组成部件。关系：整体：组成部分 1：组成部分 2。</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火药属于燃料，二者是种属，不是并列零件，排除。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风车是整体；叶片、轮毂都是风车的并列核心零部件，和题干结构完全一致。</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风声是产物，不是风琴的构件，排除。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水箱、水塔是两种独立容器，不是整体与内部零件关系，排除。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解析：先质疑判罚，再提出申诉，最后改变判罚，三者为时间先后的对应关系。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A项：深化改革的目的是经济繁荣，二者为方式目的的对应关系，扩大内需的目的是经济繁荣，二者为方式目的的对应关系，与题干逻辑关系不一致，排除；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B项：先登记入学，再举行开学典礼，最后社团招生，三者为时间先后的对应关系，但词语顺序与题干顺序不一致，排除；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C项：先急诊入院，再安排手术，最后康复出院，三者为时间先后的对应关系，与题干逻辑关系一致，当选；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D项：知识问答中，通过个人抢答使小组得分，三者为场景、方式目的的对应关系，与题干逻辑关系不一致，排除。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顺序混乱：扩大内需属于深化改革的手段，经济繁荣是结果，时序完全颠倒，排除。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正常流程：先登记入学，再开学典礼，时序颠倒，排除。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严格时间顺承：先急诊入院，再安排手术，最后康复出院；三步是就医完整流程，前两步动作，最后一步为最终结果，匹配题干逻辑。</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逻辑混乱：个人抢答是获取小组得分的方式，顺序、流程均不匹配，排除。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解析：A项：毛笔是写书法时使用的工具，二者为工具对应关系，蜀绣是刺绣，二者为种属关系，前后逻辑关系不一致，排除；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有的毛笔是画笔，有的毛笔不是画笔，如硬笔式毛笔等，有的画笔是毛笔，有的画笔不是毛笔，如水彩笔等，二者为交叉关系，绘画和刺绣是两种不同的艺术，二者为并列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C项：毛笔是创作国画的工具，二者为工具对应，绣针是进行刺绣的工具，二者为工具对应，前后逻辑关系一致，当选；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D项：毛笔和竹笛无明显逻辑关系，丝绸是制作刺绣的原材料，二者为原材料对应关系，前后关系不一致，排除。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毛笔用于书法；蜀绣属于刺绣（种属），前后关系不一致，排除。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毛笔属于画笔一类；绘画和刺绣是并列手工艺，关系不同，排除。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毛笔是创作国画的专用工具；绣针是做刺绣的专用工具。逻辑完全匹配：工具∶对应工艺。</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毛笔、竹笛并列；丝绸是刺绣原料，关系不同，排除。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解析：A项：机械部件是起重机的组成部分，二者为组成关系，物流园区与工业园区二者为并列关系，前后逻辑关系不一致，排除；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B项：在港口码头使用起重机，二者为地点的对应关系，在工业园区装配消防设施，二者为地点的对应关系，前后逻辑关系一致，当选；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C项：起升高度是起重机的参数，二者为参数的对应关系，安防系统是工业园区的常见配置，二者为配套设施的对应关系，前后逻辑关系不一致，排除；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D项：起重机是专业设备，二者为种属关系，通勤班车是工业园区的配套服务，二者为配套服务的对应关系，前后逻辑关系不一致，排除。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起重机包含机械部件；物流园区和工业园区是并列园区，关系不同，排除。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起重机布置、使用在港口码头；消防设施布置、使用在工业园区。事物与其主要配套应用场地，逻辑一致，保留。</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起升高度是起重机的性能指标；安防系统是工业园区内配套设施，关系不同，排除。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起重机属于专业设备（种属）；通勤班车服务于工业园区（配套工具场地），关系不同，排除。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解析：条件：①参加植树活动→参加废物利用活动</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结论：②有些参加图书捐赠活动→－参加植树活动</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将①逆否可得：－参加废物利用活动→－参加植树活动，要由①推出②则需要在“有些参加图书捐赠活动”和“－参加废物利用活动”间建立联系，即：有些参加图书捐赠活动－参加废物利用活动。</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解析：论点：天然林保护工程的实施，有效提升了天然林质量效益。</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论据：1998年，天然林保护工程开始实施，天然林商业性采伐由停伐减产到全面停止。到2020年底，天然林面积增加3.23亿亩、蓄积增加53亿立方米。</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论点讨论的是天然林保护工程与天然林质量效益之间的关系，论据讨论的是天然林保护工程与天然林面积、蓄积的关系，二者话题不一致，优先考虑搭桥，即建立天然林质量效益与天然林面积、蓄积之间的关系。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A项：该项说明天然林质量效益的提升，以天然林面积和蓄积的增加为主要衡量指标，建立了天然林质量效益与天然林面积、蓄积之间的关系，为搭桥项，可以加强，当选；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B项：该项说明保护生物多样性的其他途径，与天然林保护工程的实施是否有效提升了天然林质量效益无关，话题不一致，无法加强，排除；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C项：该项说明天然林质量效益的提升可以为全面推进天然林资源保护修复提供支撑，与天然林保护工程的实施是否有效提升了天然林质量效益无关，话题不一致，无法加强，排除；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只有实施了天然林保护工程，才有可能实现天然林面积、蓄积的增加，说明天然林保护工程和天然林面积、蓄积的增加有关系，加强论据，但与天然林保护工程的实施是否有效提升了天然林质量效益无关，不是上述论证的前提，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论据：实施天然林保护工程后，天然林面积、蓄积量增加。</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论点：天然林保护工程有效提升了天然林质量效益。</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逻辑断层：论据说的是面积、蓄积，论点说的是质量效益，二者概念不同，搭桥型前提题，必须建立两者联系。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建立桥梁：面积、蓄积增长可以代表质量效益提升。有了这句话，论据的数据才能推出论点结论，是论证必不可少的前提。</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讨论保护生物多样性的其他配套措施，和 “面积蓄积能否证明质量效益” 无关，无关项，排除。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讲质量效益提升带来的好处，是论点成立后的衍生作用，不是推出论点的前提，排除。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翻译：面积、蓄积增加→实施保护工程。该选项仅证明面积蓄积增长是工程带来的，但依然解决不了 “面积蓄积≠质量效益” 的核心断层。就算确认增长源于工程，也推不出质量效益提升，无法作为前提，排除。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解析：论点：（施工方乙）不应承担赔偿责任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论据：其（乙）在施工中无过错，施工现场有污水处理设施，施工中环保监测合格。</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A项：该项说明施工期间乙并没有受到过违规排放污水的行政处罚，虽然乙没有受到过违规排放污水的行政处罚，但乙在施工中是否有过错和是否应承担赔偿责任不确定，不明确选项，无法加强，排除；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该建设工程的环保监测是实时、全过程、不间断的，若环保监测并非实时、全程的、不间断的，就说明现有证据不足以证明乙在施工过程中无过错，因此该项为论点成立的必要条件，可以加强，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C项：该项说明工程的所有者作为乙的发包方需要承担赔偿责任，与乙是否需要承担赔偿责任无关，话题不一致，无法加强，排除；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D项：该项说明在该隧洞施工工地附近还有一处度假村正在建设，与乙是否应承担赔偿责任无关，话题不一致，无法加强，排除。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没被罚≠没有实际排污致害，行政处罚和民事损害赔偿不绑定，力度弱，无法有力支持。</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乙说 “环保监测合格”，如果监测是全程不间断实时监测，就排除了 “某时段偷偷超标排污” 的漏洞，证明全程排放都达标，直接强化乙 “无过错、无超标污染” 的核心依据，最强支持。</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转移责任主体，不能证明乙自身无责，无关，排除。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仅存在另一个施工主体，无法证明鱼苗死亡是度假村导致，只是存在其他可能性，属于微弱另有他因，支持力度远不如 </a:t>
            </a: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直接加固乙自身证据）。</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解析：论点：糖分不是原因，（甜瓜会令嗓子产生刺痛感）真正的原因是甜瓜中含有一种蛋白质，这种蛋白质会导致过敏反应。</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论据：无。</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A项：该项说明不同品种及不同甜瓜个体之间的蛋白质含量有差别，而论点讨论的是甜瓜会令嗓子产生刺痛感的原因是不是蛋白质，与蛋白质含量差异无关，话题不一致，无法加强，排除；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B项：该项说明嗓子出现刺痛感是蛋白质过敏反应的典型症状之一，即蛋白质过敏确实会导致嗓子刺痛，补充论据，可以加强，当选；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C项：该项说明甜瓜糖分的多少与蛋白质的含量并没有直接的关联，而论点讨论的是甜瓜会令嗓子产生刺痛感的原因是不是蛋白质，与糖分含量和蛋白质含量之间的关系无关，话题不一致，无法加强，排除；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D项：该项说明甜瓜中含有多种会导致过敏反应的物质，但不明确这些物质中是否包含蛋白质，以及是否会导致嗓子刺痛，无法加强，排除。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只说明含量不同，没说蛋白质和刺痛感、过敏的关系，无关，排除。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直接搭桥：过敏反应（甜瓜蛋白引发）→典型表现就是嗓子刺痛。完美串联反对者的因果逻辑，最强支持。</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仅说明二者不相关，只能微弱削弱 “糖分论”，但无法证明蛋白质才是刺痛的元凶，支持力度极弱。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只说有过敏物质，但没有把 “过敏” 和题干的刺痛感挂钩，无法解释为什么会嗓子疼，支持力度不足。</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解析：论点：研究人员认为如果能不断增加螨虫在土壤中的数量，将持续为实现N2O减排做出贡献。</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论据：螨虫可摄食土壤中产生N2O的真菌类微生物，从而减少N2O排放。</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A项：该项说明螨虫在土壤中的分布规模存在着上限，说明无法“不断增加”螨虫数量，论点中的方法没有可行性，既然无法不断增加土壤中螨虫的数量，那么“持续减排”就无法实现，削弱论点，当选；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B项：该项说明有螨虫的土壤在施肥后所排放的N2O量明显减少，举例说明螨虫确实可以减少土壤中的N2O排放，为加强项，无法削弱，排除；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C项：该项说明螨虫只摄食土壤中部分产生N2O的真菌类微生物，即螨虫确实可以在一定程度上减少土壤中的N2O，那么通过增加螨虫数量可能减少N2O排放，无法削弱，排除；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D项：该项说明减少化肥使用量有助于减少N2O排放，但论点讨论的是通过增加土壤中的螨虫数量来实现N2O减排，话题不一致，无法削弱，排除。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螨虫分布规模存在上限；螨虫数量没法无限增加，因此不能持续增加螨虫，直接切断论点前提 “不断增加螨虫数量”，无法实现持续减排，削弱力度最强。</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有螨虫土壤 </a:t>
            </a:r>
            <a:r>
              <a:rPr lang="en-US" altLang="zh-CN" sz="1200">
                <a:solidFill>
                  <a:srgbClr val="333333"/>
                </a:solidFill>
                <a:latin typeface="楷体" panose="02010609060101010101" charset="-122"/>
              </a:rPr>
              <a:t>N₂O </a:t>
            </a:r>
            <a:r>
              <a:rPr lang="zh-CN" altLang="en-US" sz="1200">
                <a:solidFill>
                  <a:srgbClr val="333333"/>
                </a:solidFill>
                <a:latin typeface="楷体" panose="02010609060101010101" charset="-122"/>
              </a:rPr>
              <a:t>排放更少，属于加强，排除。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螨虫只吃部分产 </a:t>
            </a:r>
            <a:r>
              <a:rPr lang="en-US" altLang="zh-CN" sz="1200">
                <a:solidFill>
                  <a:srgbClr val="333333"/>
                </a:solidFill>
                <a:latin typeface="楷体" panose="02010609060101010101" charset="-122"/>
              </a:rPr>
              <a:t>N₂O </a:t>
            </a:r>
            <a:r>
              <a:rPr lang="zh-CN" altLang="en-US" sz="1200">
                <a:solidFill>
                  <a:srgbClr val="333333"/>
                </a:solidFill>
                <a:latin typeface="楷体" panose="02010609060101010101" charset="-122"/>
              </a:rPr>
              <a:t>真菌；只能说明减排效果有限，但依然能减排，只是不能完全消除，无法否定 “增加螨虫能持续做减排贡献”，削弱很弱。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减少化肥也能减排，提出另一种方法，不否定螨虫的作用，无关削弱，排除。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解析：论点：这些发现是“地球生命起源于太空”这一理论的有力证据。</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论据：研究者利用探测器在一颗名为“龙宫”的近地小行星上采集样本，并从样本中发现了尿嘧啶和维生素B3。由于尿嘧啶是构成核糖核酸的4种碱基之一，而维生素B3是陆地生命代谢的重要辅动因子。</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论点讨论的是地球生命起源于太空，论据讨论的是近地小行星上采集样本中发现了尿嘧啶和维生素B3，它们和核糖核酸与生命代谢有关，讨论话题不一致，优先考虑拆桥。</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A项：该项说明地球形成初期的陨石中检测出了尿嘧啶，与地球生命是否起源于太空无关，话题不一致，无法削弱，排除；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B项：该项说明太空生命未必需要核糖核酸和维生素B3，说的是太空生命，与论点所讨论的地球生命起源无关，话题不一致，无法削弱，排除；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C项：该项说明构成核糖核酸的成分遍布太空中，与地球生命是否起源于太空无关，话题不一致，无法削弱，排除；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D项：该项说明采集的样本运至地球受到污染，说明检测到的物质可能不是小行星本身的，说明不能通过样本推出“地球生命起源于太空”，拆桥项，可以削弱，当选。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陨石本身就是太空来的，反而侧面支持，无法反驳，排除。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题干说的是地球生命起源于太空，不是太空自有生命；话题错位，削弱力度极弱。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只能说明物质普遍，但不代表不能随小行星带到地球孕育生命，不能反驳结论。</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直接说明：检测到的尿嘧啶、维生素 </a:t>
            </a:r>
            <a:r>
              <a:rPr lang="en-US" altLang="zh-CN" sz="1200">
                <a:solidFill>
                  <a:srgbClr val="333333"/>
                </a:solidFill>
                <a:latin typeface="楷体" panose="02010609060101010101" charset="-122"/>
              </a:rPr>
              <a:t>B3</a:t>
            </a:r>
            <a:r>
              <a:rPr lang="zh-CN" altLang="en-US" sz="1200">
                <a:solidFill>
                  <a:srgbClr val="333333"/>
                </a:solidFill>
                <a:latin typeface="楷体" panose="02010609060101010101" charset="-122"/>
              </a:rPr>
              <a:t>根本不是小行星自带的，是地球污染物，论据完全失效，从根源推翻论证，削弱力度最强。</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解析：（1）-卫二是青龙的卫星→-卫三是朱雀的卫星且-卫四是朱雀的卫星</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（2）卫一或卫三或卫四是玄武的卫星→卫五是青龙唯一的卫星</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（3）每颗行星都有其中的1~2颗卫星，每颗卫星仅是1颗行星的卫星，朱雀的卫星最少</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第二步：根据题干条件分析选项。</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已知（3）每颗行星都有其中的1~2颗卫星，朱雀的卫星最少，可得朱雀是唯一仅有1颗卫星的行星，因此青龙和玄武分别有两颗卫星。青龙有两颗卫星是对（2）的否后，否后必否前，得知卫一、卫三、卫四都不是玄武的卫星，则玄武的卫星是卫二、卫五，根据（3）每颗卫星仅是1颗行星的卫星，则卫二并非青龙的卫星，是对（1）的肯前，肯前必肯后，得出卫三、卫四都不是朱雀的卫星，则只有卫一是朱雀的卫星，卫三、卫四是青龙的卫星。</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解析：（1）赵说：钱比孙晚</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（2）钱说：钱比赵晚</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（3）孙说：-钱第三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（4）李说：李第一</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题干条件不确定，优先采用代入法。</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代入A项：赵说真话，钱说真话，孙说真话，李说真话，不满足第一第三进入公司说谎话，第二第四进入公司说真话，排除；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代入B项：赵说真话，钱说谎话，孙说谎话，李说谎话，不满足第一第三进入公司说谎话，第二第四进入公司说真话，排除；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代入C项：赵说谎话，钱说真话，孙说真话，李说谎话，满足第一第三进入公司说谎话，第二第四进入公司说真话，当选；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代入D项：赵说谎话，钱说谎话，孙说真话，李说谎话，不满足第一第三进入公司说谎话，第二第四进入公司说真话，排除。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解析：论点：是否具备独立思考能力对个人发展影响很大。</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论据：无。</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题干的提问方式是“能够支持是否具备独立思考能力对个人发展影响很大这一观点的有几项”说明只提供论点，需要在相关人士看法中找出论据。</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1号：说明独立思考能力与简单的理解和记忆能力不同，与独立思考能力是否对个人发展有影响无关，无法支持；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2号：举例说明独立思考能力为个人争取到了发展机会，可以支持；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3号：说明小班教学是培养学生独立思考能力的前提，与独立思考能力是否对个人发展有影响无关，无法支持；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4号：说明独立思考能力弱的学生，在个人发展方面很难有大的突破，说明独立思考能力对个人发展影响很大，可以支持；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5号：说明尊重孩子意见的家长没有受到功利教育观的影响，与独立思考能力是否对个人发展有影响无关，无法支持；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6号：说明考生在报考学校和专业时只考虑行业当前发展，导致在大学学习时没有动力，与独立思考能力是否对个人发展有影响无关，无法支持；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7号：说明具备了独立思考能力，年轻人步入社会能够在自己的岗位上充分发掘自我，发光发热，说明独立思考能力对个人发展影响很大，可以支持；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8号：说明部分学校的老师都重视培养学生的独立思考能力，但不确定独立思考能力对个人发展是否影响很大，无法支持。</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综上可以支持的有2号、4号、7号。</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解析：A项：5号论证形式：尊重孩子意见的家长→重视培养孩子独立思考能力，不受功利教育观影响的家长→重视培养孩子的独立思考能力，所以尊重孩子意见的家长→不受功利教育观影响，即A→B，C→B，A→C。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该项论证形式：以讲授为主的学校→减少了学生独立思考机会，学校作业负担重→减少了学生独立思考机会，所以以讲授为主的学校→学校作业负担重，即A→B，C→B，A→C。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与5号推理形式一致，当选。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B项：3号论证形式：培养学生独立思考能力→小班教学，小班教学→未来我国的能力教育必有大发展，即A→B，B→C。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该项是定义解释，即“多问为什么”等于“不要只学知识还要知道如何应用”，不是推理结构，与3号推理形式不一致，排除。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C项：8号论证形式：目前已有学校→重视培养学生的独立思考能力且充分利用教育场景，这些学校的老师→重视培养学生的独立思考能力。即A→B且C，D→B。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该项论证形式：启明中学→被定为培养学生独立思考能力试点中学，启明中学→重视培养学生的独立思考能力，即A→B，A→C，与8号推理形式不一致，排除。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D项：4号论证形式：独立思考能力强的学生→难能可贵，独立思考能力弱的学生→在个人发展方面也很难有大的突破，即A→B，-A→C。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该项论证形式：独立思考能力→更高层次的思维能力，具备独立思考能力→不会轻易被AI取代。即A→B，A→C，与4号推理形式不一致，排除。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相同，但无明显位置规律。观察发现，题干图形均由白色圆环球和黑色圆环球两种不同元素组成，考虑不同元素分开看。进一步观察发现，题干中白色圆环球为轴对称图形、中心对称图形交替出现，黑色圆环球为中心对称图形、轴对称图形交替出现，故？处应选择白色圆环球为中心对称图形，黑色圆环球为轴对称图形的选项，只有D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相似，优先考虑样式规律。九宫格优先看横行，观察发现，第一行中，图一和图二相加得到图三，黑块重合部分变为白色；第二行满足此规律；第三行应用此规律，故？处应选择图一和图二相加，黑块重合部分变白色的图形，只有A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不同，且无明显属性规律，考虑数量规律。观察发现，题干图形出现黑白块，考虑黑块面积。第一组图形黑块面积均占6.5个格子，第二组应用此规律，第二组前两个图形黑块面积均占4个格子，故？处应选择黑块面积占4个格子的图形，只有C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解析：元素组成不同，且无明显属性规律，优先考虑数量规律。观察发现，图①③④均为一部分图形，图②⑤⑥均为两部分图形，即图①③④为一组，图②⑤⑥为一组，只有B项符合。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解析：本题为空间重构题，对展开图进行编号，如下图所示：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选项中左侧纸盒P字母面与白色方块面存在公共边，但在展开图①中a面与f面为相对面，不能同时出现；在展开图②中k面与l面的公共边与k面P字母的右侧相邻，选项中公共边与P字母的上方相邻，选项与展开图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B项：在展开图①中b面与d面为相对面，不能同时出现，故选项中左侧纸盒只能为j面和i面，其公共边挨着i面中黑色方块，但在展开图②中j面和i面的公共边不挨着黑色方块，选项与展开图不一致，排除；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C项：选项与展开图一致，当选；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选项中右侧纸盒P字面和白色方块面存在公共边，但在展开图①中a面与f面为相对面，不能同时出现；在展开图②中k面中P字母上部与白色方块相邻，而选项中是P字母下部与白色方块相邻，选项与展开图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注：C项中右侧的立方体是使用展开图②进行折叠的，但折叠后的黑色方块所在面应位于立体图形的最右侧，并非目前C项展示的处于前方位置，如果将展开图②向内折叠才能对应到C项。根据A、B、D项的错误设置，可以发现A、B、D项在不考虑折叠方向时就已经出错，故出题人的答案应该更倾向于C项，可能未考虑到折叠方向的问题。</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15_3636c807cd46.png"/>
          <p:cNvPicPr>
            <a:picLocks noChangeAspect="1"/>
          </p:cNvPicPr>
          <p:nvPr/>
        </p:nvPicPr>
        <p:blipFill>
          <a:blip r:embed="rId3"/>
          <a:stretch>
            <a:fillRect/>
          </a:stretch>
        </p:blipFill>
        <p:spPr>
          <a:xfrm>
            <a:off x="1103358" y="6500797"/>
            <a:ext cx="4651284" cy="1500203"/>
          </a:xfrm>
          <a:prstGeom prst="rect">
            <a:avLst/>
          </a:prstGeom>
        </p:spPr>
      </p:pic>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解析：“将不同特质的人才进行科学配比与融合，在保持个体特色的同时，通过协同机制实现组织效能最大化的管理模式”、“差异性整合与协同性增效”。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某企业安排行政部门与营销部门员工定期轮岗，大部分员工的能力得到了全面提升，轮岗是注重员工个人能力的提升，并非将不同特质的人才进行科学配比与融合，不符合“将不同特质的人才进行科学配比与融合，在保持个体特色的同时，通过协同机制实现组织效能最大化的管理模式”，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某班班主任按学生成绩优劣分组管理，要求成绩优异者指导其他学生完成小组作业，是按照成绩这一单一指标进行分组管理并由成绩好的辅导成绩差的，并非将不同特质的人才进行科学配比与融合，不符合“将不同特质的人才进行科学配比与融合，在保持个体特色的同时，通过协同机制实现组织效能最大化的管理模式”，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某公司抽调架构师、风控专家等组成银行风控系统开发团队，缩短了项目交付周期，符合“将不同特质的人才进行科学配比与融合，在保持个体特色的同时，通过协同机制实现组织效能最大化的管理模式”，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某公司采用多样化的薪酬标准，因薪酬上涨幅度较大，员工的工作积极性显著提升，属于薪酬激励制度，并非将不同特质的人才进行科学配比与融合，不符合“将不同特质的人才进行科学配比与融合，在保持个体特色的同时，通过协同机制实现组织效能最大化的管理模式”，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行政、营销员工轮岗，是员工跨岗位锻炼、提升个人综合能力，不是把不同特质人才搭配组队协同工作，不符合 “人才配比融合、协同增效”，排除。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按成绩优劣分组，仅以分数划分，侧重优等生帮扶差生，不是整合不同特质人才，核心是补差，不是多元人才协同提效，排除。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抽调架构师、风控专家（两类专业、特质完全不同的人才）组建团队，最终缩短项目周期（协同实现效能提升）。完美匹配：不同特质人才配比融合 + 协同增效，符合定义。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多样化薪酬标准，是薪资制度设计，不涉及不同特质人才搭配协作，主体都不是 “人才组合调配”，排除。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解析：“把一个概念所反映的对象分为若干个小类”、“划分后的各子项之和必须与母项相等”、“每次划分必须按照同一标准进行”、“划分所得的各子项应互不相容”。</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我国中小企业可划分为中型企业、小型企业、微型企业，是按照企业规模这一标准进行的划分，子项互斥且和与母项相等，符合“把一个概念所反映的对象分为若干个小类”、“划分后的各子项之和必须与母项相等”、“每次划分必须按照同一标准进行”、“划分所得的各子项应互不相容”，说法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B项：社会形态除原始社会、奴隶社会、资本主义社会之外，还有封建社会、社会主义社会，因此该项划分后的各子项之和与母项并不相等，不符合“划分后的各子项之和必须与母项相等”，说法错误，排除；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C项：粮食作物和油料作物、饲料作物、经济作物之间是交叉关系，并非互不相容，不符合“每次划分必须按照同一标准进行”、“划分所得的各子项应互不相容”，说法错误，排除；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D项：三内角均为60°的三角形是按照角的大小进行划分，不是按照等边数量进行划分，不符合“每次划分必须按照同一标准进行”，说法错误，排除。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划分标准统一（企业规模）；子项合起来完整覆盖中小企业，子项之间互不交叉，完全符合三条划分规则，说法正确。</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社会形态列举：原始、奴隶、资本主义，漏掉封建社会、社会主义社会。子项之和＜母项，违反规则（1），错误。</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经济作物本身包含油料作物，二者存在包含关系，子项相容重叠，违反规则（3），错误。</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按边长划分三角形标准只能是：不等边、等腰（二等边）、等边；“三内角均为 60° 的三角形” 就是等边三角形，和二等边存在重叠，子项相容，违反规则（3），错误。</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解析：“行为人误认为第一个行为已经造成结果，出于其他目的实施了第二个行为”、“实际上是第二个行为才导致预期结果发生的情况”。</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甲向乙的水杯中投入了毒药，乙喝下后倒地不起，甲担心毒药无效，又勒其颈部，后经尸检确认乙系中毒身亡，乙系中毒身亡为第一个行为造成的结果，且甲实施第二个行为是担心第一个行为无效，并非出于其他目的，不符合“行为人误认为第一个行为已经造成结果，出于其他目的实施了第二个行为”、“实际上是第二个行为才导致预期结果发生的情况”，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甲误认为乙死于刀伤，出于掩盖罪行的目的将其扔下山，乙系坠亡为第二个行为造成的结果，符合“行为人误认为第一个行为已经造成结果，出于其他目的实施了第二个行为”、“实际上是第二个行为才导致预期结果发生的情况”，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C项：甲的初始目的是盗窃，因未能成功改为威胁和捅刀，并非误认为第一个行为已造成结果，不符合“行为人误认为第一个行为已经造成结果，出于其他目的实施了第二个行为”，不符合定义，排除；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甲看到乙的小说在网络上备受追捧，遂找到乙商量线下出版，被拒绝后在自己工厂中印刷，售卖赚取高额利润，甲是在第一个行为商量出版被拒后，实施第二个行为自行印刷，并非误认为第一个行为已经造成结果，出于其他目的实施第二个行为，不符合“行为人误认为第一个行为已经造成结果，出于其他目的实施了第二个行为”、“实际上是第二个行为才导致预期结果发生的情况”，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解析：“未被最终消费，而是被用作投入进入生产过程的公共物品”、“行业内集体消费的‘共用品’”、“共用性资源的多次重复使用带来成本的降低”。</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激光测距仪生产企业普遍使用的稀土材料，稀土材料属于私人物品并非公共物品，也无法作为共用性资源被多次重复使用，不符合“未被最终消费，而是被用作投入，进入生产过程的公共物品”、“行业内集体消费的‘共用品’”、“共用性资源的多次重复使用带来成本的降低”，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某城市的物流园区内建设的仓储配套设施，园区内的仓储配套设施具有共有性，多个企业可以同时使用，且通过多次使用可以降低企业成本，符合“未被最终消费，而是被用作投入，进入生产过程的公共物品”、“行业内集体消费的‘共用品’”、“共用性资源的多次重复使用带来成本的降低”，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某市为打造当地大米品牌举办的大米展销会，展销会是宣传推广活动，并非投入进入生产过程，且展销会为单次活动不能多次重复使用，不符合“未被最终消费，而是被用作投入，进入生产过程的公共物品”、“共用性资源的多次重复使用带来成本的降低”，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为方便城郊企业工人上下班增设的公共交通，公共交通属于最终消费，且并未投入进入生产过程，不符合“未被最终消费，而是被用作投入进入生产过程的公共物品”，同时公共交通最终是个人消费者进行消费使用，并非行业内进行的集体消费，不符合“行业内集体消费的‘共用品’”，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公共物品、供行业 / 集体共用；不直接最终消费，作为生产投入进入生产过程；共用、重复使用降低成本。</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稀土材料；属于企业单独采购的原材料，是私人投入品，不是行业集体共用的公共物品，排除。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物流园区配套仓储设施；园区内多家物流企业集体共用（公共属性）；企业用仓储存放货物、开展物流经营，是生产经营的投入，不是终端消费者直接消费，符合公共中间品全部条件。</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大米展销会；展销会是宣传销售活动，目的是终端售卖大米，属于面向最终消费的推广环节，不作为生产投入，排除。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企业工人通勤公交；服务工人上下班，是满足员工生活消费，属于最终消费类公共服务，不进入企业生产流程，排除。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解析：“将物理技术与农业生产相结合”、“以电、磁、声、光、热等物理方法主要特征”、“以保障植物、畜禽、水产品能够安全、高效、优质生产为目标”。</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A项：在土壤中引入有益微生物是生物技术，不属于物理技术，不符合“将物理技术与农业生产相结合”、“以电、磁、声、光、热等物理方法主要特征”，不符合定义，当选；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卫星定位系统是利用电磁波实现定位，属于物理技术，符合“将物理技术与农业生产相结合”、“以电、磁、声、光、热等物理方法主要特征”，实现农业生产的自动化、精准化符合“以保障植物、畜禽、水产品能够安全、高效、优质生产为目标”，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辐射属于物理技术，符合“将物理技术与农业生产相结合”、“以电、磁、声、光、热等物理方法主要特征”，使雄虫丧失正常繁殖能力可以减少害虫保障农田安全生产，符合“以保障植物、畜禽、水产品能够安全、高效、优质生产为目标”，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播放音乐属于物理技术，符合“将物理技术与农业生产相结合”、““以电、磁、声、光、热等物理方法主要特征”，目的是提升牛奶产量和品质，符合“以保障植物、畜禽、水产品能够安全、高效、优质生产为目标”，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本题为选非题，故正确答案为A。</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引入有益微生物，依靠微生物代谢物促生长。依靠生物菌群、生物代谢作用，属于生物技术，不属于电 / 磁 / 声 / 光 / 热物理手段，不体现物理农业。</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卫星定位导航（电磁波、卫星遥感物理技术），物理手段，符合。</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辐射处理害虫（辐射属于物理射线），物理手段，符合。</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播放音乐（声波，声物理技术），符合。</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解析：“不直接以金钱或实物形式提供的福利，其基本目的在于全面改善员工的工作和生活质量”。</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甲公司为员工提供免费的心理健康咨询服务，帮助员工解决心理困扰，心理咨询服务并非金钱或实物，且解决心理困扰能改善员工的工作和生活质量，符合“不直接以金钱或实物形式提供的福利，其基本目的在于全面改善员工的工作和生活质量”，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乙公司为创造更加灵活的工作环境，推出弹性工作时间制供员工选择，弹性工作时间制并非金钱或实物，且灵活的工作环境及弹性工作时间能改善员工工作质量，符合“不直接以金钱或实物形式提供的福利，其基本目的在于全面改善员工的工作和生活质量”，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丙公司为员工设立健身场地，并发放了员工健身用的体育服饰及器材，属于实物形式的福利，直接以实物为载体提供，不符合“不直接以金钱或实物形式提供的福利，其基本目的在于全面改善员工的工作和生活质量”，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丁公司定期组织员工旅游，以增强团队凝聚力和员工对公司的归属感，组织员工旅游是体验类福利，无直接金钱或实物交付，符合“不直接以金钱或实物形式提供的福利，其基本目的在于全面改善员工的工作和生活质量”，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解析：“基于物理实体进行感知和行动”、“通过与环境的交互来获取信息、理解问题，做出决策并执行行动，从而展现出智能行为和适应性”。</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扫地机器人能够通过摄像头和传感器来感知周边的环境，自主规划清扫路线，符合“通过与环境的交互来获取信息、理解问题，做出决策并执行行动，从而展现出智能行为和适应性”，利用机械臂清理垃圾、找到电源自动充电符合“基于物理实体进行感知和行动”，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人形机器人能够攀爬云梯，调整姿态穿越窗户，用灭火器灭火、给受困者递矿泉水，符合“基于物理实体进行感知和行动”，用温和的语气安抚情绪，符合“通过与环境的交互来获取信息、理解问题，做出决策并执行行动，从而展现出智能行为和适应性”，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特种机器狗可以灵活避开障碍，符合“基于物理实体进行感知和行动”，在油罐前停留10秒隔空扫描出罐体内部的液位和压力等数据，自动分析是否存在安全隐患，符合“通过与环境的交互来获取信息、理解问题，做出决策并执行行动，从而展现出智能行为和适应性”，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D项：智慧交通实时监控系统是通过监控摄像头获取信息，不涉及物理实体感知和行动，不符合“基于物理实体进行感知和行动”，不符合定义，排除。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本题为选非题，故正确答案为D。</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扫地机器人；有机身实体，传感器感知环境、自主规划路线、机械清理、自动充电，完整感知 - 行动闭环，属于具身智能。</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人形机器人；人形实体，攀爬、穿越、灭火、递水安抚，依靠身体执行各类物理动作，属于具身智能。</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特种机器狗；机器狗实体，自主避障、扫描罐体、分析隐患，自带移动与探测执行能力，属于具身智能。</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智慧交通实时监控系统；该系统仅由道路摄像头、后台服务器组成，没有独立可移动、能主动执行动作的物理实体；只采集、汇总、推送路况信息，不会主动在物理环境中行动、干预环境，只做数据处理，属于题干所说 “依赖抽象符号计算的传统人工智能”，不满足具身智能定义。</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解析：“指确立目标、制订和修正计划、实施计划，从而进行有目的活动的能力出现异常”。</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李老师每天按固定路线驾车上班，突遇道路施工，他不知道如何绕行，说明他面对突发状况时修订计划的能力出现了异常，符合“指确立目标、制订和修正计划、实施计划，从而进行有目的活动的能力出现异常”，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张女士制订减肥计划后，频繁修改运动方案，导致目标模糊放弃执行，说明她修正计划、实施计划、进行有目的活动的能力出现了异常，符合“指确立目标、制订和修正计划、实施计划，从而进行有目的活动的能力出现异常”，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刘先生计划本周完成项目报告，但因临时开会无法在计划时间内完成，只是客观条件导致计划未能完成，并未体现出刘先生在确立目标、制订和修正计划、实施计划等方面的能力出现异常，不符合“指确立目标、制订和修正计划、实施计划，从而进行有目的活动的能力出现异常”，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学生小曲虽明确考试目标，但是因拖延始终无法按复习计划进行学习，说明他实施计划的能力出现了异常，符合“指确立目标、制订和修正计划、实施计划，从而进行有目的活动的能力出现异常”，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本题为选非题，故正确答案为C。</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执行功能障碍：确立目标、制订 / 修正计划、实施计划的能力本身出现异常（自身认知、规划、行动能力不行）。</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固定路线遇施工，自己想不出绕行方案，属于遇到变化无法调整计划、解决问题，规划应变能力异常，涉及执行功能障碍。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频繁修改运动方案，最终目标模糊、放弃执行，自身修正计划、坚持目标的能力出问题，属于执行功能障碍。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计划完报告，客观外因（临时开会）导致无法按时完成，不是自身规划、执行能力有缺陷，是外部突发事务挤占时间，不涉及执行功能障碍。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有明确考试目标，但自身拖延、无法按计划学习，任务启动、执行能力受损，属于执行功能障碍。</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解析：参与式治理：“政府通过制度化渠道汇聚多元主体共同参与公共事务，形成开放协商、权责共担的治理模式”、“核心要件包含主体多元性、过程开放性与决策赋权性”；</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吸纳式治理：“政府基于风险管控，选择性整合关键利益群体进入决策流程的治理模式”。</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政府吸纳企业家单一群体，针对营商政策修订提供相关建议，属于选择性整合关键利益群体，符合“政府基于风险管控，选择性整合关键利益群体进入决策流程的治理模式”，符合“吸纳式治理”定义，不符合“参与式治理”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B项：网民自发发帖倡议，无政府制度化渠道介入，不符合“政府通过制度化渠道汇聚多元主体共同参与公共事务，形成开放协商、权责共担的治理模式”，不符合“参与式治理”定义，排除；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公益组织发起提案，经人大代表提交后启动立法程序，并非政府通过制度化渠道统筹组织多元主体参与，不符合“政府通过制度化渠道汇聚多元主体共同参与公共事务，形成开放协商、权责共担的治理模式”，不符合“参与式治理”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政府建立“网络议事厅”平台，即制度化渠道，由政府组织抽选居民代表与专家多元主体共同审定燃气改造方案，符合“政府通过制度化渠道汇聚多元主体共同参与公共事务，形成开放协商、权责共担的治理模式”，符合“参与式治理”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br>
              <a:rPr sz="1200">
                <a:solidFill>
                  <a:srgbClr val="333333"/>
                </a:solidFill>
                <a:latin typeface="楷体" panose="02010609060101010101" charset="-122"/>
              </a:rPr>
            </a:br>
            <a:r>
              <a:rPr lang="en-US" altLang="zh-CN">
                <a:solidFill>
                  <a:srgbClr val="333333"/>
                </a:solidFill>
                <a:sym typeface="+mn-ea"/>
              </a:rPr>
              <a:t>A</a:t>
            </a:r>
            <a:r>
              <a:rPr lang="zh-CN" altLang="en-US">
                <a:solidFill>
                  <a:srgbClr val="333333"/>
                </a:solidFill>
                <a:sym typeface="+mn-ea"/>
              </a:rPr>
              <a:t>只组建企业家顾问团，仅单一群体（企业），主体不多元，属于政府选择性吸纳关键利益群体，是吸纳式治理，排除。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B</a:t>
            </a:r>
            <a:r>
              <a:rPr lang="zh-CN" altLang="en-US">
                <a:solidFill>
                  <a:srgbClr val="333333"/>
                </a:solidFill>
                <a:sym typeface="+mn-ea"/>
              </a:rPr>
              <a:t>网民自发发帖倡议，没有政府搭建的制度化渠道，不属于政府主导的治理模式，排除。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C</a:t>
            </a:r>
            <a:r>
              <a:rPr lang="zh-CN" altLang="en-US">
                <a:solidFill>
                  <a:srgbClr val="333333"/>
                </a:solidFill>
                <a:sym typeface="+mn-ea"/>
              </a:rPr>
              <a:t>公益组织自发提案、通过人大代表递交，全程不是政府搭建制度化平台组织多方协商，主体自发行动，不符合 “政府通过制度化渠道汇聚多元主体”，排除。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D</a:t>
            </a:r>
            <a:r>
              <a:rPr lang="zh-CN" altLang="en-US">
                <a:solidFill>
                  <a:srgbClr val="333333"/>
                </a:solidFill>
                <a:sym typeface="+mn-ea"/>
              </a:rPr>
              <a:t>区政府搭建官方 “网络议事厅”（政府制度化渠道），参与方包含居民代表 + 专家（多元主体），共同审定改造方案（开放协商、参与决策），完全匹配参与式治理全部要件。</a:t>
            </a:r>
            <a:endParaRPr lang="zh-CN" altLang="en-US">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解析：外源化学物：“自然界存在的或人工合成的化学物质”、“这些物质从外界环境摄入，与机体相互作用”、“不包括在机体内正常代谢途径中形成的产物或中间产物”；</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内源化学物：“机体内部原已存在的和代谢过程中所形成的产物”。</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青霉素是人工合成药物，符合“自然界存在的或人工合成的化学物质”，通过注射从外界进入人体，与机体相互作用降低炎症反应，并非人体自身代谢产生，符合“这些物质从外界环境摄入，与机体相互作用”、“不包括在机体内正常代谢途径中形成的产物或中间产物”，符合“外源化学物”，说法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B项：尿素是人体内蛋白质代谢分解形成的代谢产物，符合“机体内部原已存在的和代谢过程中所形成的产物”，符合“内源化学物”，说法错误，排除；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维生素C是通过食用柑橘从外界摄入而来，并非人体自身合成，符合“这些物质从外界环境摄入，与机体相互作用”、“不包括在机体内正常代谢途径中形成的产物或中间产物”，符合“外源化学物”，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D项：一氧化碳由煤炭燃烧产生，经呼吸道从外界侵入人体，符合“这些物质从外界环境摄入，与机体相互作用”，符合“外源化学物”，说法错误，排除。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解析：竹青与鹅黄是两种颜色，二者为并列关系，且拆分后均为具体事物与颜色的对应关系。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A项：海蓝和赭赤是两种颜色，二者为并列关系，但拆分后，赭是红褐色，并非具体事物，与题干逻辑关系不一致，排除；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B项：雄黄是一种矿物类药材，并非颜色，“蝶黄”是描述类似蝴蝶翅膀的淡黄或金黄色调，二者无明显逻辑关系，与题干逻辑关系不一致，排除；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C项：草绿和茄红是两种颜色，二者为并列关系，且拆分后均为具体事物与颜色的对应关系，与题干逻辑关系一致，保留；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D项：桃红和驼棕是两种颜色，二者为并列关系，且拆分后均为具体事物与颜色的对应关系，与题干逻辑关系一致，保留；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对比C、D项，题干中的具体事物分别为植物和动物，C项中的具体事物均为植物，D项中的具体事物分别为植物和动物，因此D项与题干逻辑关系更一致。</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解析：体检不合格，就无法参军入伍，体检合格是参军入伍的必要条件，二者为必要条件的对应关系。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A项：不进行专项培训，也可以参与项目，二者不为必要条件的对应关系，与题干逻辑关系不一致，排除；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B项：不参加比赛，就无法获得冠军，参加比赛是获得冠军的必要条件，二者为必要条件的对应关系，与题干逻辑关系一致，当选；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C项：不满足工作年限，也可以考试报名，二者不为必要条件的对应关系，与题干逻辑关系不一致，排除；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D项：考核不优秀，也可以职级晋升，二者不为必要条件的对应关系，与题干逻辑关系不一致，排除。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小荷才露尖尖角意思是“嫩绿的荷叶尖尖的小角刚刚露出水面”，荷尽已无擎雨盖意思是“荷花凋谢连擎雨的荷叶也枯萎了”，两句描写同一事物的不同状态，先长出，后凋谢，二者为时间先后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君问归期未有期意思是“你问我回家的日期，我还没有确定日期”，西出阳关无故人意思是“向西出了阳关就难以遇到故旧亲人”，两句诗均描写分别，没有时间先后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归来饱饭黄昏后意思是“牧童回来吃饱了饭，已是黄昏之后了”，春风得意马蹄疾意思是“迎着浩荡春风得意地纵马奔驰”，前者写闲时的生活，后者写考取功名后的得意，二者没有明确的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此曲只应天上有意思是“这样的乐曲只应该天上有”，谁家玉笛暗飞声意思是“不知从哪儿传来了悠扬的笛声”，前者夸赞乐曲动听，后者询问笛声来处，二者没有明确的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十年窗下无人问意思是“十年寒窗苦读无人问津”，一举成名天下知意思是“一旦考取功名便名扬天下”，两句描写同一人的不同状态，先寒窗苦读，后一举成名，二者为时间先后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“小荷才露尖尖角” 写荷花初绽、新生初现；“荷尽已无擎雨盖” 写荷花凋零、花叶落尽。二者描写同一事物（荷花）的两种完全相反的生长阶段，前后形成反义、前后对比关系。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君问归期未有期（思念归乡）；西出阳关无故人（送别友人）；主题、事物完全不同，无对比，排除。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归来饱饭黄昏后（牧童闲适）；春风得意马蹄疾（金榜得志）；描写两类人的心境，无同一事物正反阶段，排除。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此曲只应天上有（赞叹乐曲绝妙）；谁家玉笛暗飞声（听见笛声）；都是写乐曲，但无相反对比关系，排除。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十年窗下无人问（寒窗苦读、默默无闻）；一举成名天下知（科考登第、名扬天下）；描写同一读书人两种截然相反的人生境遇，前后形成鲜明对比，和题干逻辑一致。</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解析：吊钩和臂架均为吊车的组成部分，二者与吊车均为组成关系，前两个词之间为并列关系。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A项：卷尺可以用来测量体长和体宽，为工具对应关系，与题干逻辑关系不一致，排除；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B项：扳机和喷嘴均为喷枪的组成部分，二者与喷枪均为组成关系，前两个词之间为并列关系，与题干逻辑关系一致，当选；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C项：烟道是窑炉的组成部分，二者为组成关系，但与题干顺序不同，油泵是一种用于输送油类液体的泵，油泵和窑炉、烟道均无明显逻辑关系，与题干逻辑关系不一致，排除；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D项：货架可以放置在货仓里，二者为地点对应关系，与题干逻辑关系不一致，排除。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解析：机场与地铁站均为公共场所，二者为并列关系，闸机是智能化通道管理设施，闸机与机场和地铁站均为公共基础设施与使用场所的对应关系。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A项：齿轮是机械传动中通过轮齿啮合传递动力的部件，齿轮是手电钻的组成部分，二者为组成关系，车间可能有手电钻，二者为地点对应关系，与题干逻辑关系不一致，排除；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B项：盆景与庭院和植物园均为地点对应关系，庭院指建筑物前后左右或被建筑物包围的场地，与植物园无明显逻辑关系，与题干逻辑关系不一致，排除；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C项：医院和电影院均为公共场所，二者为并列关系，座椅与医院和电影院均为公共基础设施与使用场所的对应关系，与题干逻辑关系一致，当选；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D项：教材与书店和图书馆均为特定书籍与地点的对应关系，与题干逻辑关系不一致，排除。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齿轮是手电钻的零件，不是车间和手电钻共有的物品，逻辑不符，排除。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盆景是庭院、植物园都可摆放的景观，符合 “场所 1：共有物品：场所 2”，先保留。</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座椅是医院、电影院都有的设施，符合结构，保留。</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书店卖教材，图书馆收藏教材，二者都存在教材，结构符合，保留。</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题干闸机是功能性必备基础设施，属于场地运营必需配套，不是陈列展品、商品。</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盆景是观赏景观摆件，非必备设施，排除；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教材是图书商品 / 馆藏读物，属于内容商品，不是场地配套设备，排除；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座椅是医院、电影院都必备的基础配套设施，和闸机同为场地功能性硬件，匹配度最高。</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解析：演员是职业，舞台是演员的工作地点，鞠躬致谢是演员在工作中典型的职业行为，三者为工作场地、职业行为、职业的对应关系。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A项：裁判是职业，赛场是裁判的工作地点，出牌警告是裁判在工作中典型的职业行为，三者为工作场地、职业行为、职业的对应关系，与题干逻辑关系一致，当选；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B项：法警是职业，法庭是法警的工作地点，但举证辩论是律师、诉讼当事人的行为，不属于法警的职业行为，与题干逻辑关系不一致，排除；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C项：地勤是职业，站台是地勤的工作地点，但拥抱送别是亲友、旅客的私人行为，不属于地勤的职业行为，与题干逻辑关系不一致，排除；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D项：灯塔是海上指引航向的设施，闪烁引航是灯塔的功能，二者为功能对应，与题干逻辑关系不一致，排除。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解析：易经和礼记是不同的国学经典，二者为并列关系，二者与国学经典均为种属关系。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A项：芒果是水果，二者为种属关系，与题干逻辑关系不一致，排除；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B项：先秦诸子是春秋战国时期各个学派的代表人物，墨子是墨家代表人物，荀子是儒家代表人物，墨子和荀子都是先秦诸子，二者为并列关系，二者与先秦诸子为种属关系，与题干逻辑关系一致，当选；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高等生物是指组织结构复杂、生理功能完善且具备高度适应能力的生物类群，藻类是无真正根、茎、叶分化的生物，菌类是结构简单、进化地位较低、缺乏组织分化的微生物，二者都不属于高等生物，二者与高等生物是反向种属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D项：甲板和舰桥是组成大型军舰的一部分，二者与大型军舰是组成关系，与题干逻辑关系不一致，排除。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解析：本月用电量=本月读数-上月读数，三者为对应关系。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A项：出库数量=库存总量−剩余库存，三者为对应关系，与题干逻辑关系不一致，排除；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B项：楼房高度=单层高度×楼房层数，三者为对应关系，与题干顺序不一致，排除；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C项：折后价格=初始价格−折扣金额，三者为对应关系，与题干逻辑关系一致，当选；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D项：给药速率=药物剂量÷给药时间，三者为对应关系，与题干逻辑关系不一致，排除。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解析：A项：油烟机的功能是吸油烟，而不是去污，二者无明显逻辑关系；节能是电冰箱的或然属性，二者为属性对应关系，前后逻辑关系不一致，排除；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B项：洗涤剂具有去污的功能，二者为功能的对应关系；若没有电源，电冰箱无法使用，二者为必要条件对应关系，前后逻辑关系不一致，排除；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C项：脏衣物需要去污，二者为问题和解决方式的对应关系；食品放在电冰箱内，二者为储存地点的对应关系，前后逻辑关系不一致，排除；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D项：洗衣机具有去污的功能，二者为功能的对应关系；电冰箱具有冷藏的功能，二者为功能的对应关系，前后逻辑关系一致，当选。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黄金储备指一国货币当局持有的，用以平衡国际收支，维持或影响汇率水平，作为金融资产持有的黄金，黄金储备是为了稳定币值，二者为方式目的的对应关系，配股增发是上市公司以原股权为基础，向现有股东按持股比例配售新股或面向全体投资者增发股票的再融资行为，配股增发是为了筹集资金，二者为方式目的的对应关系，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黄金储备指一国货币当局持有的，用以平衡国际收支，维持或影响汇率水平，作为金融资产持有的黄金，黄金储备是国家实力的体现，二者为对应关系，抵押贷款是为了筹集资金，二者为方式目的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黄金储备指一国货币当局持有的，用以平衡国际收支，维持或影响汇率水平，作为金融资产持有的黄金，国际贸易指世界各个国家（或地区）在商品和劳务等方面进行的交换活动，二者无明显逻辑关系，筹集资金是为了生产经营，二者为方式目的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黄金储备与粮食储备是两种不同的储备，二者为并列关系，企业负债是指由过去交易或事项形成的现时义务，需以资产或劳务偿还并导致经济利益流出企业。筹集资金是指企业为进行生产建设和经营活动而筹措和集中所需资金的工作，企业负债需要募筹资金，二者为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黄金储备的作用是稳定币值；配股增发的作用是筹集资金。前后均为：事物→核心功能，逻辑完全对应。</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黄金储备体现国家实力；抵押贷款目的是筹集资金。前者是对应象征关系，后者是方式目的，关系不一致，排除。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黄金储备用于国际贸易；生产经营需要筹集资金。前者是用途，后者是场景需求，逻辑结构不同，排除。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黄金储备和粮食储备是并列储备品类；筹集资金会产生企业负债。前后关系无关，排除。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解析：①有些人工智能企业→百强企业</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②有些传统制造业企业→百强企业</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③百强企业→表现出强劲的发展态势</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①③可以地推出④：有些人工智能企业→百强企业→表现出强劲的发展态势</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②③可以地推出⑤：有些传统制造业企业→百强企业→表现出强劲的发展态势</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A项：翻译为：有些表现出强劲发展态势的企业→－百强企业，根据③可得，有的表现出强劲的发展态势→百强企业，有的A是B推不出有的A不是B，排除；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B项：翻译为：表现出强劲发展态势的企业→百强企业，是对③的肯后，肯后无必然结论，排除；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C项：翻译为：有些人工智能企业→－表现出强劲的发展态势，根据④，有些A是B推不出有些A不是B，排除；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D项：翻译为：有些表现出强劲发展态势的企业→制造业企业，根据⑤，有的A是B可以换位为有的B是A，即有些表现出强劲发展态势的企业→制造业企业，当选。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解析：论点：这部电影兼顾了传统与创新。</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某国产动画电影从传统文本中挖掘故事素材，留存能让观众深度共情的核心创作元素，并进行创新性艺术表达，为传统文本注入新的时代内涵。影片中的情节引发了观众的强烈共情，同时也让观众聚焦到了成长与自我认同的时代问题和人性问题上。</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论点论据都讨论了这部电影兼顾了传统与创新，话题一致，加强优先考虑补充论据。</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A项：该项说明电影主题曲的创作人和歌词，与该电影是否兼顾了传统与创新无关，话题不一致，无法加强，排除；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B项：该项说明电影在海外市场票房高，与该电影是否兼顾了传统与创新无关，话题不一致，无法加强，排除；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C项：该项说明部分观众认为电影蕴含着中国哲学的深刻理念，中国哲学理念与传统文化相关，但并未提及是否有创新，为不明确项，无法加强，排除；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D项：该项说明电影将传统水墨画的晕染韵味与3D动画技术进行了结合，说明该电影兼顾了传统与创新，补充论据，可以加强，当选。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解析：论点：清凉喷剂极易引发火灾，切勿乱用。</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论据：无。</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只有论点没有论据，加强优先考虑补充论据。</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A项：选项说明清凉喷剂会刺激人体皮肤，与清凉喷剂极易引发火灾无关，话题不一致，无法支持，排除；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B项：选项说明清凉喷剂的主要成分是丙烷和丁烷，可以作为燃料使用，即清凉喷剂极易引发火灾，补充论据，可以支持，当选；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C项：选项说明喷剂长期接触可能中毒，与清凉喷剂极易引发火灾无关，话题不一致，无法支持，排除；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D项：选项说明喷剂可能会对神经组织造成较大的损伤，与清凉喷剂极易引发火灾无关，话题不一致，无法支持，排除。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解析：论点：这得益于其拥有的专业团队开发的完整课程体系。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论据：相比于本地其他同类培训机构，该培训机构近三年的利润一直是最高的。</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论点讨论的是机构有完整的课程体系，论据讨论的是机构的利润，二者话题不一致，优先考虑搭桥，即建立利润与完整课程体系之间的关系。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A项：该项说明拥有专业团队开发的完整课程体系有利于降低培训机构运营成本，当运营成本降低时，利润会提高，建立了利润与完整课程体系之间的关系，为搭桥项，可以加强，当选；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B项：该项说明素质类培训市场规模逐年增加的原因，与该机构高利润是否得益于专业团队开发的完整课程体系无关，话题不一致，无法加强，排除；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C项：该项说明完整的课程体系可以吸引家长的关注，但家长关注不代表会购买课程，不明确利润是否会因此提高，为不明确项，无法加强，排除；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D项：该项说明该培训机构销售画材画具等周边工具的收益最高，说明可能是因为销售周边工具导致利润提高，而不是因为完整的课程体系，为他因削弱，无法加强，排除。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解析：论点：长期素食者智力会受到影响。</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论据：素食中缺乏大脑需要的多种重要营养元素，如维生素B12。维生素B12不存在于植物中，且人体本身不能合成。</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论点讨论的是素食和智力的关系，论据讨论的是素食和维生素B12的关系，话题不一致，削弱优先考虑拆桥，即切断缺少维生素B12和智力受影响的关系。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A项：该项说明肉食中的维生素B12更容易被人体吸收，长期素食者不吃肉，说明无法通过饮食摄入维生素B12，但未说明是否会因此对智力产生影响，无法削弱，排除；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B项：该项说明素食可预防因高脂饮食而导致的各类疾病，与长期素食者智力是否受到影响无关，话题不一致，无法削弱，排除；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C项：该项说明素食者可以科学合理地摄入所需的营养补充剂，说明素食者可以通过补剂来获得所需的维生素B12，即素食缺少维生素B12，也不会对素食者智力有影响，为拆桥项，可以削弱，当选；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D项：该项说明人类祖先曾长期以素食作为食物，与长期素食者智力是否受到影响无关，话题不一致，无法削弱，排除。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解析：论点：有专家提出，为保护森林生态系统，应全面禁止商业采伐。</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论据：因为商业采伐会破坏树木群落结构，导致野生动物栖息地丧失，进而引发生态链断裂。禁止采伐后，森林可自然修复，生态功能将逐步增强。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论点、论据讨论的都是商业采伐和森林生态系统的关系，话题一致，削弱优先考虑削弱论点。</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A项：该项说明森林生态修复需要长期禁止采伐，与禁止商业采伐能否保护森林生态系统无关，为无关项，排除；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B项：该项说明野生动物栖息地丧失可能不会引发生态链断裂，为削弱论据，能够削弱，保留；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C项：该项说明禁止采伐不仅不能保护森林生态系统，还会导致老龄树木病虫害加剧，为否定论点，保留；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D项：该项说明商业采伐中的部分林木是人工种植的速生经济林，与禁止商业采伐能否保护森林生态系统无关，为无关项，排除。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对比B、C两项，削弱论据力度＜削弱论点，故排除B项，C项削弱力度最强。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解析一：根据题干条件可知，每行、每列均含有“仁”“义”“礼”“智”“信”5个汉字，因此第1行a的位置和第5行b的位置不能填入“义”，因此②格应该填入“义”；根据第1列，①格不能填入“礼”、“智”，根据第4行，①格不能填入“仁”、“义”，因此①格应该填入“信”，则方阵中①②格分别填入的汉字是“信”、“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二：根据题干要求，每行、每列均含有“仁”“义”“礼”“智”“信”5个汉字，则①所在列不能填“礼”、“智”，排除C、D项。②所在列不能填“智”、“礼”，排除B项。</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21_06d6bd6eaae7.png"/>
          <p:cNvPicPr>
            <a:picLocks noChangeAspect="1"/>
          </p:cNvPicPr>
          <p:nvPr/>
        </p:nvPicPr>
        <p:blipFill>
          <a:blip r:embed="rId3"/>
          <a:stretch>
            <a:fillRect/>
          </a:stretch>
        </p:blipFill>
        <p:spPr>
          <a:xfrm>
            <a:off x="2675167" y="6500797"/>
            <a:ext cx="1507666" cy="1500203"/>
          </a:xfrm>
          <a:prstGeom prst="rect">
            <a:avLst/>
          </a:prstGeom>
        </p:spPr>
      </p:pic>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解析：①甲≠文学、书法（甲=辩论/摄影）；</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②丙摄影→乙辩论；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③-丁书法→甲辩论；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④丙≠文学；</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⑤每人只报一个社团，每个社团仅有一人报名。</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提问方式为可能，优先考虑代入法。</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代入A项，乙报名辩论社团，即甲不报名辩论社团，根据条件③，否后必否前，可推出丁报名书法社团；根据条件①，甲只能报名摄影社团，丙只能报名文学社团，与条件④丙≠文学相矛盾，排除；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代入B项，丙报名书法社团，即丁不报名书法社团，根据条件③，肯前必肯后，甲报名辩论社团，剩余乙、丁两人可分配文学和摄影社团，满足所有条件，当选；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代入C项，丙报名摄影社团，根据条件②，肯前必肯后，可推出乙报名辩论社团；根据条件①，则甲只能报名摄影社团，与丙报名摄影社团相矛盾，排除；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代入D项，丁报名辩论社团，即丁不报名书法社团，根据条件③，肯前必肯后，甲报名辩论社团，与丁报名辩论社团相矛盾，排除。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解析：A项：（1）只说明《黄帝内经》受战国起源、汉初盛行的黄老思想影响，只能说明《黄帝内经》成书不早于战国，不能证明一定是西汉，无法证明西汉成书说，排除；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B项：（3）指出战国晚期的《吕氏春秋》没有记载《黄帝内经》，其他书籍中是否记载与何时成书无关，无法否定春秋成书说，排除；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C项：（6）指出《黄帝内经》中的“精气学说”是战国时期才首次提出的，说明《黄帝内经》里的内容不可能在春秋时期就出现，直接质疑了春秋成书说，当选；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D项：（7）只说明春秋时期成书极少，与《黄帝内经》成书时间无直接关系，无法支持战国成书说，排除。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解析：A项：（2）表明《黄帝内经》在西汉已有藏书目录收录，说明成书不晚于西汉，支持战国成书说和西汉成书说，并非不支持上述三种学说中的任何一种，也没有提出新观点，评价错误，排除；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B项：（4）只是指出西汉时期的《淮南子》有与《黄帝内经》类似的“脏时相配”说法，内容有相似之处无法判定具体成书年代，无法提供有力佐证，评价错误，排除；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5）指出直到西汉时期才能造出《黄帝内经》中的医用长针，说明此前时期都不能造出《黄帝内经》中的医用长针，即反对春秋成书说和战国成书说，支持西汉成书说，反对两种学说支持一种学说，评价不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8）中学者提出了“《黄帝内经》是春秋至西汉历代医家智慧的结晶”的新观点，三个论据分别是《黄帝内经》中语言兼有春秋、西汉风格，不同版本篇卷次、序不同，不同时代称谓、官衔并存，以三个论据来支持新观点，评价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事业单位上半年C类（20260328）</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元素组成不同，优先考虑属性规律。观察发现，题干图形均由黑球和白球组成，且分布规整，考虑对称性。图形①⑤⑥白色部分整体为轴对称图形，图形②③④白色部分整体为中心对称图形，即①⑤⑥一组，②③④一组。</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解析：本题考查平面拼合。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可采用平行且等长相消的方式解题。消去平行且等长的线段后进行组合即可得到轮廓图，即为A项。平行且等长相消的方式如下图所示：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25_d012982fc266.png"/>
          <p:cNvPicPr>
            <a:picLocks noChangeAspect="1"/>
          </p:cNvPicPr>
          <p:nvPr/>
        </p:nvPicPr>
        <p:blipFill>
          <a:blip r:embed="rId3"/>
          <a:stretch>
            <a:fillRect/>
          </a:stretch>
        </p:blipFill>
        <p:spPr>
          <a:xfrm>
            <a:off x="685800" y="6500797"/>
            <a:ext cx="5486400" cy="1226049"/>
          </a:xfrm>
          <a:prstGeom prst="rect">
            <a:avLst/>
          </a:prstGeom>
        </p:spPr>
      </p:pic>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解析：本题考查截面图，如下图所示，A、C、D项均可截出，只有B项无法截出。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27_ee2cf43153ee.png"/>
          <p:cNvPicPr>
            <a:picLocks noChangeAspect="1"/>
          </p:cNvPicPr>
          <p:nvPr/>
        </p:nvPicPr>
        <p:blipFill>
          <a:blip r:embed="rId3"/>
          <a:stretch>
            <a:fillRect/>
          </a:stretch>
        </p:blipFill>
        <p:spPr>
          <a:xfrm>
            <a:off x="952588" y="6500797"/>
            <a:ext cx="4952823" cy="1500203"/>
          </a:xfrm>
          <a:prstGeom prst="rect">
            <a:avLst/>
          </a:prstGeom>
        </p:spPr>
      </p:pic>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解析：本题考查立体拼合。</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将A项和题干立体图形按下图方式进行拼合可组成一个实心的正方体：</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pic>
        <p:nvPicPr>
          <p:cNvPr id="5" name="Picture 4" descr="新建_DOCX_文档_0029_41f4b9188b50.png"/>
          <p:cNvPicPr>
            <a:picLocks noChangeAspect="1"/>
          </p:cNvPicPr>
          <p:nvPr/>
        </p:nvPicPr>
        <p:blipFill>
          <a:blip r:embed="rId3"/>
          <a:stretch>
            <a:fillRect/>
          </a:stretch>
        </p:blipFill>
        <p:spPr>
          <a:xfrm>
            <a:off x="2559270" y="6500797"/>
            <a:ext cx="1739459" cy="1500203"/>
          </a:xfrm>
          <a:prstGeom prst="rect">
            <a:avLst/>
          </a:prstGeom>
        </p:spPr>
      </p:pic>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解析：“身体在认知过程中发挥着关键作用，认知是通过身体的体验及其活动方式而形成的”。</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身体的解剖学结构、身体的构造、身体的感觉，决定了人们怎样认知和看待世界，塑造了人们的认知，强调身体结构和感觉决定了人的认知，符合“身体在认知过程中发挥着关键作用，认知是通过身体的体验及其活动方式而形成的”，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认知过程是基于人们先天或后天获得的理性规则，以形式化的方式对大脑接收到的信息进行的处理和操作，强调认知是基于理性规则对信息的形式化处理，不涉及身体的体验，不符合“身体在认知过程中发挥着关键作用，认知是通过身体的体验及其活动方式而形成的”，不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思维和认知在很大程度上依赖和发端于身体的神经结构、感官和运动体验等，这些决定着人们的思维风格，强调认知依赖身体结构，符合“身体在认知过程中发挥着关键作用，认知是通过身体的体验及其活动方式而形成的”，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认知过程进行的方式和步骤是由身体的物理属性所决定的，认知的内容也是身体提供的，而身体又是嵌入环境的，强调认知的方式和内容均由身体决定，符合“身体在认知过程中发挥着关键作用，认知是通过身体的体验及其活动方式而形成的”，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本题为选非题，故正确答案为B。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解析：“将‘P当且仅当Q’型命题拆解为‘若P则Q，且若Q则P’的复合命题形式，逻辑值恒等于原命题”、“双向蕴涵的并列表达”。</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车辆超速当且仅当超速10%以上”拆解为：①若超速则超速≥10%；②若速度≥110%限速则算超速，超速是指汽车的行驶速度超过法律法规规定的速度，超速≥10%是指车辆实际行驶速度超过该路段规定限速的比例达到或超过10%，①不成立，不符合“将‘P当且仅当Q’型命题拆解为‘若P则Q，且若Q则P’的复合命题形式，逻辑值恒等于原命题”、“双向蕴涵的并列表达”，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三角形等边当且仅当三角形等角”拆解为：①若三角形等边则三角形等角；②若三角形等角则三角形等边，①正确，②正确，构成双向蕴涵，符合“将‘P当且仅当Q’型命题拆解为‘若P则Q，且若Q则P’的复合命题形式，逻辑值恒等于原命题”、“双向蕴涵的并列表达”，符合定义，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水温在50℃-80℃，水不会沸腾”拆解为：①若水温在50℃~80℃时则水不会沸腾；②若水没有沸腾，则水温在50℃~80℃，①正确，但②中水没有沸腾，水温可能是没有达到沸点，并非一定在50℃~80℃，②不成立，不符合“将‘P当且仅当Q’型命题拆解为‘若P则Q，且若Q则P’的复合命题形式，逻辑值恒等于原命题”、“双向蕴涵的并列表达”，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行政许可是指行政机关根据申请，经依法审查，准予其从事特定活动的行为”拆解为：①若准予其从事特定活动则是行政许可；②若属行政许可则经依法审查，原句内容为定义性陈述并非“当且仅当”结构，且行政许可需要满足三个条件，无法从准予其从事特定活动的条件推出行政许可，①不成立，不符合“将‘P当且仅当Q’型命题拆解为‘若P则Q，且若Q则P’的复合命题形式，逻辑值恒等于原命题”、“双向蕴涵的并列表达”，不符合定义，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解析：辐射接枝：“利用射线或射线引发的等离子体，将一种单体或聚合物接枝到另一种聚合物上”、“形成具有特定性能的接枝共聚物”；</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辐射交联：“在辐射作用下，聚合物分子链之间形成化学键或物理交联”、“形成三维网状结构”；</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辐射降解：“在辐射作用下，聚合物分子链发生断裂”、“导致分子量降低、性能改变或材料降解”。</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A项：用射线照射天然橡胶，使其分子链交联形成弹性体，符合“在辐射作用下，聚合物分子链之间形成化学键或物理交联”，属于“辐射交联”，不属于“辐射降解”，排除；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B项：通过紫外线辐射，使环氧树脂固化形成三维网状结构，符合“形成三维网状结构”，属于“辐射交联”，不属于“辐射降解”，排除；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C项：将丙烯酸单体接枝到聚乙烯主链上，制备吸水性材料，符合“利用射线或射线引发的等离子体，将一种单体或聚合物接枝到另一种聚合物上”，属于“辐射接枝”，不属于“辐射降解”，排除；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D项：用电子束辐照聚四氟乙烯，使其分解为低分子量碎片，符合“在辐射作用下，聚合物分子链发生断裂”、“导致分子量降低、性能改变或材料降解”，属于“辐射降解”，当选。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解析：有的化学实验是定量实验，有的化学实验不是定量实验，有的定量实验是化学实验，有的定量实验不是化学实验，二者为交叉关系。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第二步：判断选项词语间逻辑关系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A项：大型企业和微型企业是两种不同规模的企业，二者为并列关系，与题干逻辑关系不一致，排除；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B项：超声造影和X线造影是两种不同的造影方式，二者为并列关系，与题干逻辑关系不一致，排除；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C项：自然景观和建筑景观是两种不同的景观，二者为并列关系，与题干逻辑关系不一致，排除；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D项：有的圆顶帐篷是沙滩帐篷，有的圆顶帐篷不是沙滩帐篷，有的沙滩帐篷是圆顶帐篷，有的沙滩帐篷不是圆顶帐篷，二者为交叉关系，与题干逻辑关系一致，当选。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r>
              <a:rPr lang="zh-CN" altLang="en-US">
                <a:solidFill>
                  <a:srgbClr val="333333"/>
                </a:solidFill>
                <a:sym typeface="+mn-ea"/>
              </a:rPr>
              <a:t>化学实验；按照所属学科划分，以化学物质、化学反应为研究对象开展的实验。</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定量实验；按照实验研究方式划分，精确测定物质数量、浓度、质量等数值的实验。</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二者划分标准不同，交叉关系：有的化学实验是定量实验，有的定量实验是物理实验。</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A.</a:t>
            </a:r>
            <a:r>
              <a:rPr lang="zh-CN" altLang="en-US">
                <a:solidFill>
                  <a:srgbClr val="333333"/>
                </a:solidFill>
                <a:sym typeface="+mn-ea"/>
              </a:rPr>
              <a:t>依据企业从业人员、营收规模同一标准划分。大型企业：规模体量很大的企业；微型企业：规模极小的小微企业。中间还有中型、小型企业，属于反对关系。</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B. </a:t>
            </a:r>
            <a:r>
              <a:rPr lang="zh-CN" altLang="en-US">
                <a:solidFill>
                  <a:srgbClr val="333333"/>
                </a:solidFill>
                <a:sym typeface="+mn-ea"/>
              </a:rPr>
              <a:t>依据医学成像设备类型同一标准划分，两种不同影像学检查手段。超声造影：依靠超声波打造影显像；</a:t>
            </a:r>
            <a:r>
              <a:rPr lang="en-US" altLang="zh-CN">
                <a:solidFill>
                  <a:srgbClr val="333333"/>
                </a:solidFill>
                <a:sym typeface="+mn-ea"/>
              </a:rPr>
              <a:t>X </a:t>
            </a:r>
            <a:r>
              <a:rPr lang="zh-CN" altLang="en-US">
                <a:solidFill>
                  <a:srgbClr val="333333"/>
                </a:solidFill>
                <a:sym typeface="+mn-ea"/>
              </a:rPr>
              <a:t>线造影：依靠 </a:t>
            </a:r>
            <a:r>
              <a:rPr lang="en-US" altLang="zh-CN">
                <a:solidFill>
                  <a:srgbClr val="333333"/>
                </a:solidFill>
                <a:sym typeface="+mn-ea"/>
              </a:rPr>
              <a:t>X </a:t>
            </a:r>
            <a:r>
              <a:rPr lang="zh-CN" altLang="en-US">
                <a:solidFill>
                  <a:srgbClr val="333333"/>
                </a:solidFill>
                <a:sym typeface="+mn-ea"/>
              </a:rPr>
              <a:t>射线进行造影检查。互不重叠，反对关系。</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C. </a:t>
            </a:r>
            <a:r>
              <a:rPr lang="zh-CN" altLang="en-US">
                <a:solidFill>
                  <a:srgbClr val="333333"/>
                </a:solidFill>
                <a:sym typeface="+mn-ea"/>
              </a:rPr>
              <a:t>依据景观形成来源同一标准划分。自然景观：大自然天然形成（山川、湖泊、森林）；建筑景观：人工修建建筑物形成（楼阁、桥梁）。二者界限清晰，反对关系。</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D. </a:t>
            </a:r>
            <a:r>
              <a:rPr lang="zh-CN" altLang="en-US">
                <a:solidFill>
                  <a:srgbClr val="333333"/>
                </a:solidFill>
                <a:sym typeface="+mn-ea"/>
              </a:rPr>
              <a:t>划分标准不一样，交叉关系。圆顶帐篷：按照外形结构命名，顶部为圆形穹顶样式；沙滩帐篷：按照使用场景命名，适合在沙滩环境使用。有的圆顶帐篷可用在沙滩上，有的沙滩帐篷不是圆顶。</a:t>
            </a:r>
            <a:endParaRPr lang="zh-CN" altLang="en-US">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解析：光速和声速为不同的物理量，二者为并列关系中的反对关系，光速是速度，声速是速度，二者与速度均为种属关系。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A项：肝经和胆经为不同的人体经脉，二者为并列关系中的反对关系，肝经是经脉，胆经是经脉，二者与经脉均为种属关系，与题干逻辑关系一致，当选；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B项：外币和本币为不同的货币，二者为并列中的矛盾关系，与题干逻辑关系不一致，排除；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C项：海拔是指地面某个地点与海平面之间的垂直距离，深度指物体从上往下、到基准面（水底/地表）的垂直距离，深度是距离，海拔是距离，二者与距离均为种属关系，但词语顺序与题干相反，排除；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D项：民意指人民共同的意见和愿望，民生指人民的日常生活事项，民心指人民共同的心意，三者为并列关系，与题干逻辑关系不一致，排除。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zh-CN" altLang="en-US">
                <a:solidFill>
                  <a:srgbClr val="333333"/>
                </a:solidFill>
                <a:sym typeface="+mn-ea"/>
              </a:rPr>
              <a:t>光速：光在介质中传播的速度。声速：声波在介质中传播的速度。速度：描述物体运动快慢和方向的物理量。</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逻辑：光速、声速都属于速度，前两者为并列关系，二者与第三个词构成种属关系。</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A.</a:t>
            </a:r>
            <a:r>
              <a:rPr lang="zh-CN" altLang="en-US">
                <a:solidFill>
                  <a:srgbClr val="333333"/>
                </a:solidFill>
                <a:sym typeface="+mn-ea"/>
              </a:rPr>
              <a:t>肝经：足厥阴肝经，人体十二经脉之一。胆经：足少阳胆经，人体十二经脉之一。经脉：中医概念，人体内气血运行通路的主干（包含十二正经等）。</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逻辑：肝经、胆经并列，二者都属于经脉，并列 + 种属，和题干结构一致。</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B. </a:t>
            </a:r>
            <a:r>
              <a:rPr lang="zh-CN" altLang="en-US">
                <a:solidFill>
                  <a:srgbClr val="333333"/>
                </a:solidFill>
                <a:sym typeface="+mn-ea"/>
              </a:rPr>
              <a:t>货币：充当一般等价物的商品。外币：本国以外其他国家的货币。本币：本国法定货币。</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逻辑：外币、本币并列，二者都属于货币。词语顺序和题干颠倒，结构不符。</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C. </a:t>
            </a:r>
            <a:r>
              <a:rPr lang="zh-CN" altLang="en-US">
                <a:solidFill>
                  <a:srgbClr val="333333"/>
                </a:solidFill>
                <a:sym typeface="+mn-ea"/>
              </a:rPr>
              <a:t>深度：从上往下垂直距离。距离：两点之间空间长度。海拔：地面点高出海平面的垂直高度。</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逻辑：三者不存在 “前两者并列、同属于第三者” 的种属关系。</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海拔是一种特殊垂直距离；深度、海拔是距离的子类，词语结构混乱，排除。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D. </a:t>
            </a:r>
            <a:r>
              <a:rPr lang="zh-CN" altLang="en-US">
                <a:solidFill>
                  <a:srgbClr val="333333"/>
                </a:solidFill>
                <a:sym typeface="+mn-ea"/>
              </a:rPr>
              <a:t>民意：民众的意愿、想法。民生：民众的生活、生计相关事务。民心：民众内心的认同、人心向背。</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逻辑：三者为近义相关概念，不存在种属关系，排除。</a:t>
            </a:r>
            <a:endParaRPr lang="zh-CN" altLang="en-US">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解析：钟乳石是溶洞的组成部分，二者为组成关系，地下水侵蚀是溶洞中钟乳石形成的原因，二者为因果对应关系。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A项：沙丘是沙漠的组成部分，二者为组成关系，风力搬运是沙漠中沙丘形成的原因，二者为因果对应关系，与题干逻辑关系一致，当选；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B项：岛礁是海洋中四面环水、在高潮时高于水面的自然陆地区域，通常指岛屿和礁石，岛礁不是海岸的组成部分，二者不是组成关系，与题干逻辑关系不一致，排除；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C项：草甸可能是高原的组成部分，二者为组成关系，光合作用是植物生长的原因，而非高原中草甸形成的原因，二者不是因果对应关系，与题干逻辑关系不一致，排除；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D项：冰川是多年积雪经过压实、重新结晶、再冻结等成冰作用而形成的，二者为原材料对应关系，与题干逻辑关系不一致，排除。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a:p>
            <a:pPr>
              <a:lnSpc>
                <a:spcPct val="150000"/>
              </a:lnSpc>
            </a:pPr>
            <a:r>
              <a:rPr lang="zh-CN" altLang="en-US">
                <a:solidFill>
                  <a:srgbClr val="333333"/>
                </a:solidFill>
                <a:sym typeface="+mn-ea"/>
              </a:rPr>
              <a:t>溶洞：钟乳石：地下水侵蚀（溶蚀 + 沉积）；空间关系：钟乳石位于溶洞之中；因果：地下水长期溶蚀石灰岩，碳酸钙沉积形成钟乳石</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第三项：塑造该景观的外力地质作用；⚠️补充关键点：钟乳石形成完整过程：地下水溶蚀（侵蚀）岩石→物质迁移→之后沉积成型。</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A.</a:t>
            </a:r>
            <a:r>
              <a:rPr lang="zh-CN" altLang="en-US">
                <a:solidFill>
                  <a:srgbClr val="333333"/>
                </a:solidFill>
                <a:sym typeface="+mn-ea"/>
              </a:rPr>
              <a:t>空间：沙丘分布在沙漠当中；成因：风力搬运沙粒，风速降低后沙粒堆积形成沙丘</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风力搬运属于风力外力作用；结构匹配：地貌→地貌内典型地貌景观→形成对应的外力地质作用</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B.</a:t>
            </a:r>
            <a:r>
              <a:rPr lang="zh-CN" altLang="en-US">
                <a:solidFill>
                  <a:srgbClr val="333333"/>
                </a:solidFill>
                <a:sym typeface="+mn-ea"/>
              </a:rPr>
              <a:t>岛礁位于海洋中，不在海岸范围内；岛礁成因：珊瑚堆积 / 海底地壳抬升；潮汐仅起到侵蚀改造，不是岛礁形成原因，排除。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C.</a:t>
            </a:r>
            <a:r>
              <a:rPr lang="zh-CN" altLang="en-US">
                <a:solidFill>
                  <a:srgbClr val="333333"/>
                </a:solidFill>
                <a:sym typeface="+mn-ea"/>
              </a:rPr>
              <a:t>草甸是植被群落；光合作用是植物生理活动，不属于塑造地表形态的地质外力作用，范畴完全不同，排除。</a:t>
            </a:r>
            <a:endParaRPr lang="zh-CN" altLang="en-US">
              <a:solidFill>
                <a:srgbClr val="333333"/>
              </a:solidFill>
              <a:latin typeface="楷体" panose="02010609060101010101" charset="-122"/>
            </a:endParaRPr>
          </a:p>
          <a:p>
            <a:pPr>
              <a:lnSpc>
                <a:spcPct val="150000"/>
              </a:lnSpc>
            </a:pPr>
            <a:r>
              <a:rPr lang="en-US" altLang="zh-CN">
                <a:solidFill>
                  <a:srgbClr val="333333"/>
                </a:solidFill>
                <a:sym typeface="+mn-ea"/>
              </a:rPr>
              <a:t>D. </a:t>
            </a:r>
            <a:r>
              <a:rPr lang="zh-CN" altLang="en-US">
                <a:solidFill>
                  <a:srgbClr val="333333"/>
                </a:solidFill>
                <a:sym typeface="+mn-ea"/>
              </a:rPr>
              <a:t>积雪是冰川的原料；冰川是积雪长年压实变质而成。</a:t>
            </a:r>
            <a:endParaRPr lang="zh-CN" altLang="en-US">
              <a:solidFill>
                <a:srgbClr val="333333"/>
              </a:solidFill>
              <a:latin typeface="楷体" panose="02010609060101010101" charset="-122"/>
            </a:endParaRPr>
          </a:p>
          <a:p>
            <a:pPr>
              <a:lnSpc>
                <a:spcPct val="150000"/>
              </a:lnSpc>
            </a:pPr>
            <a:r>
              <a:rPr lang="zh-CN" altLang="en-US">
                <a:solidFill>
                  <a:srgbClr val="333333"/>
                </a:solidFill>
                <a:sym typeface="+mn-ea"/>
              </a:rPr>
              <a:t>极地寒潮只是冷空气活动，不是积雪形成冰川的主要作用，逻辑不成立，排除。</a:t>
            </a:r>
            <a:endParaRPr lang="zh-CN" altLang="en-US">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解析：比例尺=图上距离÷实际距离，三者为对应关系。</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A项：复数包含实数和虚数，实数与虚数为并列关系，与题干逻辑关系不一致，排除；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B项：风力等级是指根据风速划分的等级，风速与风力等级二者为依据的对应关系，与题干逻辑关系不一致，排除；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C项：飞行时间=航程÷航速，三者为对应关系，与题干逻辑关系不一致，排除；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D项：资产负债率=总负债÷总资产，三者为对应关系，与题干逻辑关系一致，当选。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解析：A项：彷徨指徘徊不定、犹疑不决的状态，与笃定为反义关系；包庇和偏袒均是袒护或掩护的意思，二者为近义关系，前后逻辑关系不一致，排除；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B项：彷徨与果断为反义关系，公正和偏袒为反义关系，前后逻辑关系一致，当选；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C项：失措指因受惊导致举止失常、不知如何应对的状态，与彷徨为近义关系；打压指通过强力手段压制对立立场个体或群体的行为，和偏袒无明显逻辑关系，前后逻辑关系不一致，排除；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D项：彷徨与徘徊为近义关系，诋毁指通过毁谤、污蔑等手段破坏他人名誉的行为，和偏袒无明显逻辑关系，前后逻辑关系不一致，排除。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彷徨：犹豫不决，心神不定，走来走去，拿不定主意。（近义：徘徊；反义：果断、笃定）</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笃定：有把握、从容不迫，十分确定。</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果断：不犹豫，迅速做出决断。</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失措：举动慌张，不知怎么办。</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徘徊：来回走动，比喻犹豫拿不定主意。</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包庇：袒护、掩护坏人坏事。</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公正：公平正直，不偏私。</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打压：打击、压制。</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诋毁：恶意污蔑、毁坏别人名誉。</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偏袒：偏向一方，不公正护着某一方。（近义：包庇；反义：公正）</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答案：C</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解析：A项：细胞是血管的组成部分，二者为组成关系，泥土是铺设路面的原材料，二者为原材料的对应关系，前后逻辑关系不一致，排除；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B项：血管是血液流经的通道，二者为通道的对应关系，沥青是铺设路面的原材料，二者为原材料的对应关系，前后逻辑关系不一致，排除；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C项：止血钳作用于血管，二者为作用对象的对应关系，压路机作用于路面，二者为作用对象的对应关系，前后逻辑关系一致，当选；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D项：护士长和血管无明显逻辑关系，清洁工清理路面，二者为职业与工作对象的对应关系，前后逻辑关系不一致，排除。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故正确答案为C。</a:t>
            </a:r>
            <a:endParaRPr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血管：身体内流通血液的管道。</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路面：道路供车辆行人通行的表层。</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细胞：生物体基本结构和功能单位。</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泥土：土壤、沙土混合物。</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血液：在血管中流动的体液。</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沥青：常用于铺设路面的黑色建材。</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止血钳：外科手术夹持止血的器械。</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压路机：压实路面的工程车辆。</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护士长：医院病房护理工作负责人。</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清洁工：负责清扫环境卫生的人员。</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解析：①常绿树→结果；</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②春天开花的树→结果；</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③花坛中的树→名贵树种；</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老杨推测：名贵树种→-结果。</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翻译为：花坛中的树→春天开花。根据条件③可得：有些名贵树种→花坛中的树，串联可得：有些名贵树种→花坛中的树→春天开花，串联条件②：有些名贵树种→花坛中的树→春天开花的树→结果，可推出：有些名贵树种→结果，为老杨推测的矛盾，削弱论点，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B项：翻译为：有些名贵树种→常绿树。结合条件①，串联可得：有些名贵树种→常绿树→－结果，可推出：有些名贵树种→－结果，为加强项，无法削弱，排除；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翻译为：有些常绿树→花坛中的树。结合条件③，串联可得：有些常绿树→花坛中的树→名贵树种，换位可得：有些名贵树种→常绿树，结合条件①，串联可得：有些名贵树种→常绿树→－结果，可推出：有些名贵树种→－结果，为加强项，无法削弱，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D项：翻译为：有些结果的树→－名贵树种，换位可得：有些－名贵树种→结果的树，题干讨论的是名贵树种是否会结果，与不是名贵树种的树无关，为无关项，排除。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故正确答案选A。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答案：B</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题干的论证结构是：骑兵的行军速度＞步兵的行军速度，刘某→某军队中行军速度最快的人，所以，刘某→骑兵。题干论证忽略了军队中可能存在的行军速度更快的其他军种，犯了虚假二分（非黑即白）的逻辑错误。</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该项论证结构为：灵长类动物通常智商较高，长臂猿→灵长类动物，M→长臂猿，所以，M→智商高，该论证将灵长类动物整体具有的“智商较高”这一属性，直接推导到个体长臂猿M身上，犯了分解谬误的逻辑错误，与题干逻辑错误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该项论证结构为：推理小说销量＞工具书销量，K小说→某书店销量最高的书，所以，K小说→推理小说，忽略了书店里可能存在销量更高的其他类型书籍，犯了虚假二分（非黑即白）的逻辑错误，与题干逻辑错误一致，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C项：该项论证结构为：采用合理方法分析数据→一般能得到可靠研究结论，杜教授有可靠的研究结论，所以，杜教授采用了合理方法分析数据，犯了肯后推肯前的逻辑错误，与题干逻辑错误不一致，排除；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该项论证结构为：个性化管理效果＞标准化管理效果，周总管理效果非常好，所以，周总采用了个性化管理方式，该项只是对比了两类管理方式的整体效果，未体现“管理效果最优”，与题干逻辑错误不一致，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故正确答案为B。</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解析：大规模计算会使核心计算部件产生大量的热量，通常需要消耗大量淡水资源进行冷却，会间接导致水资源损失，而C国却将其数据中心建立在水资源缺乏、地域广阔的W地区。</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A项：选项说明W地区人口稀少，水资源利用规模不大，但无法得知W地区水资源能否满足数据中心大量冷却用水，不能解释题干矛盾，排除；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B项：选项说明W地区地域广阔，便于基础设施建设，与题干讨论的缺水地区为何建耗水数据中心无关，不能解释题干矛盾，排除；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C项：选项说明W地区水资源能满足居民用水需求，但不代表能满足数据中心大量冷却用水，不能解释题干矛盾，排除；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D项：选项说明W地区气温常年偏低，可利用自然冷却替代淡水冷却，即无需消耗大量水资源，很好地解释了为什么在缺水地区建立数据中心，可以解释题干矛盾，当选。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故正确答案为D。</a:t>
            </a:r>
            <a:endParaRPr sz="1200">
              <a:solidFill>
                <a:srgbClr val="333333"/>
              </a:solidFill>
              <a:latin typeface="楷体" panose="02010609060101010101" charset="-122"/>
            </a:endParaRPr>
          </a:p>
          <a:p>
            <a:pPr>
              <a:lnSpc>
                <a:spcPct val="150000"/>
              </a:lnSpc>
            </a:pP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答案：A</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解析：找出明确反对对AD无症状人群进行早筛的观点。</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（1）指出早筛有助于干预病情、延缓病程，支持对AD无症状人群进行早筛，排除；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（2）指出早筛会引发无症状人群误解和心理痛苦，为其带来负面影响，反对对AD无症状人群进行早筛，满足题干要求，保留；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（3）说明早筛检测有生物标志物作为客观准确的诊断依据，仅能说明早筛是客观准确的，未提及是否支持或反对对AD无症状人群进行早筛，排除；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（4）说明目前AD的无症状个体缺乏治疗选择，未提及是否支持或反对对AD无症状人群进行早筛，排除；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（5）说明对AD无症状人群进行早筛有助于针对AD无症状人群治疗方法的研究，支持对AD无症状人群进行早筛，排除；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（6）说明对AD无症状人群进行早筛会出现过度诊断、误导患者、增加医疗风险，反对对AD无症状人群进行早筛，满足题干要求，保留。</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综上，明确AD早筛的观点有（2）（6）。</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故正确答案为A。</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楷体" panose="02010609060101010101" charset="-122"/>
              </a:rPr>
              <a:t>答案：D</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解析：A项：（1）指出早筛能发现处于疾病早期阶段的人群，便于医生干预、延缓病程，属于正常的因果论述，不存在因果倒置的错误，评价不正确，排除；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B项：（3）指出相关生物标志物检测客观准确，反驳该观点只需指出相关生物标志物检测结果可能会存在误差即可，无需列出AD所有生物标志物，评价不正确，排除；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C项：（4）只是客观陈述无症状阳性患者暂无有效治疗药物的现状，不存在非此即彼的错误，评价不正确，排除；</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D项：（6）由其他疾病的早期诊断中存在过度诊断的现象，推出AD早筛一定会出现这种情况，把可能发生的情况当成必然事实，错误将可能性结论当作必然性结论，评价正确，当选。</a:t>
            </a:r>
            <a:endParaRPr sz="1200">
              <a:solidFill>
                <a:srgbClr val="333333"/>
              </a:solidFill>
              <a:latin typeface="楷体" panose="02010609060101010101" charset="-122"/>
            </a:endParaRPr>
          </a:p>
          <a:p>
            <a:pPr>
              <a:lnSpc>
                <a:spcPct val="150000"/>
              </a:lnSpc>
            </a:pPr>
            <a:r>
              <a:rPr sz="1200">
                <a:solidFill>
                  <a:srgbClr val="333333"/>
                </a:solidFill>
                <a:latin typeface="楷体" panose="02010609060101010101" charset="-122"/>
              </a:rPr>
              <a:t>故正确答案选D。</a:t>
            </a:r>
            <a:endParaRPr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1.答案：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元素组成基本相同，优先考虑位置规律。观察发现，题干图形均由虚线四宫格和线条构成，如下图所示，红色线条依次向下平移一格（循环走），蓝点沿四宫格外框依次逆时针方向移动一格，故？处应选择红色线条位于最下端，蓝色的点位于最左侧中间位置构成的图形的选项，只有</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项符合。</a:t>
            </a:r>
            <a:endParaRPr lang="zh-CN" altLang="en-US"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2.答案：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解析：元素组成不同，且无明显属性规律，优先考虑数量规律。观察发现，题干中出现“圆”相切变形图，杂乱的面及嵌套图形，优先考虑笔画数。题干图形均为一笔画图形，故？处应选择一笔画图形，只有</a:t>
            </a: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项符合。</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3.答案：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解析：元素组成不同，优先考虑属性规律。观察发现，题干出现纯直线图形和含曲线图形，考虑曲直性。再次观察发现，题干图形为全直线图形和曲+直图形交替出现，故？处应选择曲+直图形，只有</a:t>
            </a: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项符合。</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4.答案：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解析：“运用各种软件工具和安全漏洞，破解合法用户的口令或避开口令验证过程”、“冒充合法用户潜入目标网络，夺取目标系统控制权”。</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攻击者是通过恶意程序攻陷购物网站获取管理员权限，其攻击手段是直接攻陷网站系统，直接读取已存储的用户信息，并未破解口令或避开口令验证过程来冒充合法用户进行登录，不符合“运用各种软件工具和安全漏洞，破解合法用户的口令或避开口令验证过程”、“冒充合法用户潜入目标网络，夺取目标系统控制权”，不符合定义，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攻击者利用用户没有改密码的安全漏洞，通过默认口令入侵智能家居设备，属于避开口令验证过程，符合“运用各种软件工具和安全漏洞，破解合法用户的口令或避开口令验证过程”、“冒充合法用户潜入目标网络，夺取目标系统控制权”，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攻击者整合个人信息，经数百次尝试获得用户的正确口令，符合“运用各种软件工具和安全漏洞，破解合法用户的口令或避开口令验证过程”，以用户身份登录网站，符合“冒充合法用户潜入目标网络，夺取目标系统控制权”，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攻击者使用程序自动进行多次操破解口令最终登录，符合“运用各种软件工具和安全漏洞，破解合法用户的口令或避开口令验证过程”，符合“冒充合法用户潜入目标网络，夺取目标系统控制权”，符合定义，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本题为选非题，故正确答案为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手段：利用工具 / 漏洞，破解口令 或 避开口令验证</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结果：冒充合法用户潜入，夺取系统控制权</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攻击者先攻陷网站、拿到管理员权限，再抓取用户口令信息。整个过程并不是破解用户口令、也没有避开口令验证冒充用户登录。是攻破服务器后直接窃取存储的口令数据，不属于口令攻击。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利用设备默认口令（口令）入侵设备，属于使用口令登录闯入，符合口令攻击。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搜集信息尝试猜解口令，拿到口令后冒充用户登录，属于破解口令，符合定义。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字典爆破，程序尝试海量密码破解口令登录，典型破解口令，属于口令攻击。</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5.答案：</a:t>
            </a:r>
            <a:r>
              <a:rPr lang="en-US" altLang="zh-CN" sz="1200">
                <a:solidFill>
                  <a:srgbClr val="333333"/>
                </a:solidFill>
                <a:latin typeface="楷体" panose="02010609060101010101" charset="-122"/>
              </a:rPr>
              <a:t>D</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解析：勤兴意为勤奋带来兴旺，懒败意为懒惰导致失败，二者无明显逻辑关系，考虑词语拆分。勤和懒为反义关系，兴和败为反义关系，且勤导致兴，懒导致败，两词拆分后内部均为因果的对应关系。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项：大和小为反义关系，但材和用并非反义关系，与题干逻辑关系不一致，排除；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项：亲贤指亲近贤能之人，疏佞指疏远奸佞小人，亲和疏为反义关系，贤和佞为反义关系，但亲贤和疏佞均为动宾结构，与题干逻辑关系不一致，排除；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项：云和月为并列关系，与题干逻辑关系不一致，排除；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项：进荣指在仕途上进身则获得荣耀，退辱指退隐则遭受耻辱，进和退为反义关系，荣和辱为反义关系，且进导致荣，退导致辱，两词拆分内部均为因果的对应关系，与题干逻辑关系一致，当选。</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D。</a:t>
            </a: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6.答案：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解析：论点：学生在</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自习室中学习，能提升学习的效率和主动性。</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自习室通过人工智能技术搭建沉浸式学习环境，不仅能为学生智能推荐学习资源、提供定制化的学习计划，还能在学习过程中及时提示学生作业中的知识点，进行重点讲解。</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项：该项说明学习效率会受到教师指导、学习习惯和自律性影响，与在</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自习室中学习能否提升学习的效率和主动性无关，无法削弱，排除；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项：该项说明学生频繁与</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进行互动，难以专注学习，说明在</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自习室中学习不能提升学习的效率，削弱论点，可以削弱，当选；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项：该项说明学生长期处于</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空间中会对学生的全面发展造成不利影响，但不确定学生在</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自习室中学习能否提升学习的效率和主动性，不明确选项，无法削弱，排除；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项：该项说明</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自习室仅满足了部分学生的需求，与学生在</a:t>
            </a:r>
            <a:r>
              <a:rPr lang="en-US" altLang="zh-CN" sz="1200">
                <a:solidFill>
                  <a:srgbClr val="333333"/>
                </a:solidFill>
                <a:latin typeface="楷体" panose="02010609060101010101" charset="-122"/>
              </a:rPr>
              <a:t>AI</a:t>
            </a:r>
            <a:r>
              <a:rPr lang="zh-CN" altLang="en-US" sz="1200">
                <a:solidFill>
                  <a:srgbClr val="333333"/>
                </a:solidFill>
                <a:latin typeface="楷体" panose="02010609060101010101" charset="-122"/>
              </a:rPr>
              <a:t>自习室中学习能否提升学习的效率和主动性无关，无法削弱，排除。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论点：学生在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自习室中学习，能提升学习的效率和主动性。</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自习室依靠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搭建学习环境，推荐资源、定制计划、讲解知识点。</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削弱思路：找到选项，直接证明在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自习室学习无法提升效率、主动性。</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学习效率、主动性还受教师、习惯、自律影响。只是说明存在其他影响因素，不能否定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自习室依然可以起到提升作用，属于无关干扰，无法削弱。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在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自习室频繁和 </a:t>
            </a:r>
            <a:r>
              <a:rPr lang="en-US" altLang="zh-CN" sz="1200">
                <a:solidFill>
                  <a:srgbClr val="333333"/>
                </a:solidFill>
                <a:latin typeface="楷体" panose="02010609060101010101" charset="-122"/>
              </a:rPr>
              <a:t>AI </a:t>
            </a:r>
            <a:r>
              <a:rPr lang="zh-CN" altLang="en-US" sz="1200">
                <a:solidFill>
                  <a:srgbClr val="333333"/>
                </a:solidFill>
                <a:latin typeface="楷体" panose="02010609060101010101" charset="-122"/>
              </a:rPr>
              <a:t>互动，容易分散精力、难以专注。难以专注直接导致学习效率下降，直接反驳论点，有力削弱。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长期使用不利于全面发展。话题跑偏：论点讨论【学习效率、主动性】，选项讲【现实认知、全面发展】，话题不一致，无关。</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设备昂贵、部分学生被排除在外。讨论是否普惠，不讨论能不能提升学习效率，无关。</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1.答案：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解析：元素组成不同，且无明显属性规律，优先考虑数量规律。观察发现，题干图形黑块个数依次为8、9、10、11、12，故？处应选择黑块个数为13的图形，排除</a:t>
            </a:r>
            <a:r>
              <a:rPr lang="en-US" altLang="zh-CN" sz="1200">
                <a:solidFill>
                  <a:srgbClr val="333333"/>
                </a:solidFill>
                <a:latin typeface="楷体" panose="02010609060101010101" charset="-122"/>
              </a:rPr>
              <a:t>A、D</a:t>
            </a:r>
            <a:r>
              <a:rPr lang="zh-CN" altLang="en-US" sz="1200">
                <a:solidFill>
                  <a:srgbClr val="333333"/>
                </a:solidFill>
                <a:latin typeface="楷体" panose="02010609060101010101" charset="-122"/>
              </a:rPr>
              <a:t>项。再次观察发现，黑块边边相连，考虑笔画数。题干黑块均为一笔画图形，故？处应选择黑块笔画数为一笔画的图形，只有</a:t>
            </a: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项符合。</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2.答案：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元素组成不同，且无明显属性规律、数量规律，考虑特殊规律。九宫格优先看横行，观察发现，题干均出现了小元素，考虑功能元素。观察发现，题干功能元素均在面内，且标记面大小不同。第一行中黑圆标记所处图形中的最大面，黑三角标记最小面，黑方块标记中等大小（非最大非最小）的面，第二行符合此规律；第三行应用此规律，故？处图形选择黑三角标记所处图形最小面的图形，只有</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项符合。</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3.答案：</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解析：“在进化过程中，由于各种因素导致种群内个体数目在短时间内急剧下降，从而使遗传多样性严重丢失”、“即使后续种群规模恢复，遗传变异也难以完全恢复”。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项：草原狮群数量锐减后通过人工繁育恢复了该种群规模，未体现遗传多样性丢失，不符合“从而使遗传多样性严重丢失”，不符合定义，排除；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项：滥用杀虫剂后只有少数携带抗药性基因的个体存活下来，是存活数量减少，未体现遗传多样性丢失，不符合“从而使遗传多样性严重丢失”，不符合定义，排除；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特有鸟类因火山爆发大规模死亡，符合“在进化过程中，由于各种因素导致种群内个体数目在短时间内急剧下降，从而使遗传多样性严重丢失”，后种群数量虽有恢复但毛色变得单一，符合“即使后续种群规模恢复，遗传变异也难以完全恢复”，符合定义，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项：达尔文雀族某些不利基因渐被淘汰但种群数量无显著变化，不符合“由于各种因素导致种群内个体数目在短时间内急剧下降”，不符合定义，排除。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草原狮群栖息地缩小数量锐减，人工繁育恢复种群规模</a:t>
            </a:r>
            <a:r>
              <a:rPr lang="en-US" altLang="zh-CN" sz="1200">
                <a:solidFill>
                  <a:srgbClr val="333333"/>
                </a:solidFill>
                <a:latin typeface="楷体" panose="02010609060101010101" charset="-122"/>
              </a:rPr>
              <a:t>;</a:t>
            </a:r>
            <a:r>
              <a:rPr lang="zh-CN" altLang="en-US" sz="1200">
                <a:solidFill>
                  <a:srgbClr val="333333"/>
                </a:solidFill>
                <a:latin typeface="楷体" panose="02010609060101010101" charset="-122"/>
              </a:rPr>
              <a:t>只说了数量下降、人工恢复数量；没有体现遗传多样性丢失，缺少关键条件，排除。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昆虫因杀虫剂数量骤降，仅少数抗药性个体存活；杀虫剂属于定向自然选择，存活个体是因为拥有有利基因；</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侧重筛选抗性基因，并没有体现「种群数量恢复之后多样性依旧不足」，缺少第三个条件，不属于瓶颈效应。</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岛屿鸟类火山爆发大量死亡，种群数量恢复但毛色变得单一；火山爆发 → 个体大规模死亡（数量骤降）；种群数量恢复；毛色单一 = 性状多样性下降，代表遗传多样性丢失；完全匹配全部三条条件 ✅</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达尔文雀不利基因被淘汰，种群数量无显著变化；种群数量没有急剧下降，直接违反条件①，排除。</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4.答案：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解析：“草地生态系统中的家畜与植物之间”、“通过长期适应形成的相互选择而不断进化的过程”。</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牧场引进高产奶牛后，人工选育出耐践踏的牧草品种，以适应频繁放牧的需求，人工选育并非家畜与植物长期适应形成的自然选择，不符合“草地生态系统中的家畜与植物之间”、“通过长期适应形成的相互选择而不断进化的过程”，不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针茅属植物进化出坚硬的叶鞘抵抗牛羊啃食，羊进化出更灵活的嘴唇避开尖刺，针茅属植物为防啃食进化出坚硬叶鞘，羊为取食进化出灵活的嘴唇，双方相互适应并进化，符合“草地生态系统中的家畜与植物之间”、“通过长期适应形成的相互选择而不断进化的过程”，符合定义，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项：兰花花管细而深，进化出特定香气吸引传粉者，而兰花蜂进化出长吻方便取蜜，但兰花蜂并非家畜，不符合“草地生态系统中的家畜与植物之间”，不符合定义，排除；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项：为了适应荒漠地区特殊的干燥环境和植被稀疏的特点，骆驼进化出了储水能力，只有骆驼单方面进化，无植物方面的进化，不符合“通过长期适应形成的相互选择而不断进化的过程”，不符合定义，排除。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①主体：草地生态系统的家畜 + 植物</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②关系：二者长期相互选择、共同进化</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引进奶牛后，人工选育牧草。是人干预培育，不是自然长期相互选择进化，排除。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针茅（植物）演化结构抵御牛羊啃食；羊（家畜）演化嘴唇规避尖刺。</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植物与家畜互相适应、双向进化，完全符合草畜协同进化。✅</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兰花与兰花蜂，是植物和昆虫，没有家畜，不属于草畜范畴，排除。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骆驼单独为适应荒漠环境进化，只有单一物种自身进化，不存在和植物相互选择协同进化，排除。</a:t>
            </a:r>
            <a:endParaRPr lang="zh-CN" altLang="en-US"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5.答案：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解析：速记员在会场使用录音笔工作，三者为职业、工具、工作地点的对应关系。</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项：审判员在法庭用法槌工作，三者为职业、工具、工作地点的对应关系，与题干逻辑关系一致，当选；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项：饲养员在海洋馆工作，二者为职业与工作地点的对应关系，但饲料是喂养动物的消耗物资、原料，并非工作工具，与题干逻辑关系不一致，排除；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项：快递员在快递站工作，二者为职业与工作地点的对应关系，但头盔并非在快递站工作时使用的工具，与题干逻辑关系不一致，排除；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项：战地记者在战场报道，二者为职业与工作地点的对应关系，但记者证是身份证明证件，并非采编工作的实操工具，与题干逻辑关系不一致，排除。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审判员（职业）；法槌（工作专用工具）；法庭（工作场所）</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结构：职业∶工作工具∶工作地点，结构完全匹配。</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饲料是消耗品、工作原料，不是工具，和录音笔属性不同，排除。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头盔属于防护装备，并非快递员开展派送工作的核心作业工具；快递站更多是集散据点，主要工作场地在路上，匹配度弱。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记者证是身份凭证，不是工作工具，排除。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精细辨析 </a:t>
            </a:r>
            <a:r>
              <a:rPr lang="en-US" altLang="zh-CN" sz="1200">
                <a:solidFill>
                  <a:srgbClr val="333333"/>
                </a:solidFill>
                <a:latin typeface="楷体" panose="02010609060101010101" charset="-122"/>
              </a:rPr>
              <a:t>A、C</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录音笔是速记员履行本职工作、完成核心任务必需的作业工具；法槌是审判员庭审工作的法定专业工具；头盔只是安全防护用品，不属于完成快递核心业务的工具。</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6.答案：</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解析：①飓风形成→海洋上形成了低气压区域且低气压区域与周围大气的压力差成了驱动力</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②飓风形成→海洋表面温度不低于26.5摄氏度</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③水蒸气大量蒸发→海洋表面温度较高</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④飓风接近海岸线且吸收了丰富的暖湿空气→飓风的风速和强度增加</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项：翻译为：-水蒸气大量蒸发→海洋表面温度高，是对条件③的否前，否前得不到确定性结论，无法推出，排除；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项：翻译为：飓风的风速和强度减小→飓风没有接近海岸线，是对条件④的否后，否后必否前，可以推出飓风没有接近海岸线或没有吸收丰富的暖湿空气，无法直接推出飓风没有接近海岸线，排除；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项：翻译为：飓风形成→海洋表面温度至少达到26.5摄氏度，是对条件②的肯前，肯前必肯后，可以推出，当选；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项：翻译为：低气压区域与周围大气的压力差形成了驱动力→飓风形成，肯定了条件①箭头后且关系的一部分，无法确定且关系是否成立，无法推出，排除。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7.答案：</a:t>
            </a:r>
            <a:r>
              <a:rPr lang="en-US" altLang="zh-CN" sz="1200">
                <a:solidFill>
                  <a:srgbClr val="333333"/>
                </a:solidFill>
                <a:latin typeface="楷体" panose="02010609060101010101" charset="-122"/>
              </a:rPr>
              <a:t>D</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解析：论点：人们认为企鹅的祖先很可能是能够飞行的鸟类。</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飞鸟的骨骼中有一个名为“龙骨突”的特殊结构，其上附着为了振翅飞翔而存在的强有力的胸肌，只在陆地生活的鸟类（鸵鸟等）没有龙骨突，不会飞翔但善于潜水的企鹅却拥有龙骨突，并与飞行鸟类一样具有高度发达的小脑。</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论点讨论的是企鹅的祖先可能是飞行的鸟类，论据讨论的是企鹅拥有龙骨突和高度发达的小脑，讨论话题不一致，考虑搭桥。</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项：该项说明企鹅的龙骨突能够帮助其在水下灵活游动，与企鹅的祖先很可能是能够飞行的鸟类无关，话题不一致，无法支持，排除；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项：该项说明企鹅的羽毛有利于维持其体温，与企鹅的祖先很可能是能够飞行的鸟类无关，话题不一致，无法支持，排除；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项：该项说明既能飞翔又能潜水的鸟类，有极大的羽翼，但不明确企鹅的祖先是否是能够飞行的鸟类，不明确项，无法支持，排除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项：该项说明小脑在飞行能力的进化中起到了核心作用，建立了小脑与飞行的联系，搭桥项，可以支持，当选。</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D。</a:t>
            </a:r>
            <a:endParaRPr lang="en-US" altLang="zh-CN"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 </a:t>
            </a:r>
            <a:r>
              <a:rPr lang="zh-CN" altLang="en-US" sz="1200">
                <a:solidFill>
                  <a:srgbClr val="333333"/>
                </a:solidFill>
                <a:latin typeface="楷体" panose="02010609060101010101" charset="-122"/>
              </a:rPr>
              <a:t>企鹅龙骨突帮助水下游动；解释龙骨突现在的作用是潜水，弱化龙骨突和飞行的关联，属于削弱 / 无关，排除。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羽毛利于维持体温；羽毛保温，和飞行、祖先能否飞行无关，排除。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既能飞又能潜水的鸟类有巨大羽翼；题干讨论企鹅，未涉及羽翼，话题无关，排除。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小脑在飞行能力的进化中起到了核心作用；✅建立逻辑桥梁：题干论据提到企鹅拥有高度发达的小脑，本选项直接说明小脑是飞行进化的关键。解释了 “为什么具备发达小脑，可以推断祖先会飞”，补齐论证漏洞，有力支持结论。</a:t>
            </a:r>
            <a:endParaRPr lang="zh-CN" altLang="en-US"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8.答案：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解析：论点：减少睡前使用屏幕的时间可以改善年轻人的睡眠。</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一项针对年轻人的调查中，研究人员询问了他们睡前使用屏幕的习惯，包括使用的时长和活动类型（如看节目，玩游戏，浏览社交媒体等），以及他们的睡眠模式和质量问题，发现睡前使用屏幕会使失眠的风险增加59%，睡眠时间平均减少24分钟。</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项：选项说明在睡前长时间使用屏幕对眼睛有不利影响，与减少睡前使用屏幕的时间可以改善年轻人的睡眠无关，话题不一致，无法支持，当选；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项：选项说明所有活动类型的屏幕使用对睡眠的干扰性都是相似的，即屏幕使用会干扰睡眠，减少睡前使用屏幕的时间可以改善年轻人的睡眠，可以支持，排除；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项：选项说明睡前使用屏幕的时间长，睡眠的时间自然就变短，说明减少睡前使用屏幕的时间可以改善年轻人的睡眠，可以支持，排除；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项：选项说明屏幕使用会影响睡眠，延长入睡所需时间且抑制昼夜节律，说明减少睡前使用屏幕的时间可以改善年轻人的睡眠，可以支持，排除。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本题为选非题，故正确答案为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论据：调查发现睡前使用屏幕→失眠风险上升、睡眠时间变短；论点：减少睡前使用屏幕的时间可以改善年轻人的睡眠。</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因果关系：睡前屏幕使用损害睡眠 → 减少屏幕时间能够改善睡眠</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话题：眼部不适，和「睡眠质量、失眠、睡眠时间长短」无关。眼睛疲劳≠影响睡眠，没有建立屏幕使用与睡眠之间的联系，无法支持论点。</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说明只要使用屏幕就会干扰睡眠，侧面印证减少屏幕时长有效，可以加强。</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解释了为什么睡前刷屏幕导致睡眠时间减少，建立因果，支持结论。</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清晰列出屏幕影响睡眠的四种内在机制（打扰、占用休息时间、延长入睡、蓝光抑制节律），解释原理，有力加强论证。</a:t>
            </a:r>
            <a:endParaRPr lang="zh-CN" altLang="en-US"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9.答案：</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解析：论点：饮用咖啡与睡觉磨牙具有直接的因果关系。</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论据：研究发现，与不饮用咖啡的人相比，咖啡饮用者睡觉磨牙症的发生指数有所提高。</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论点论据均讨论咖啡和睡觉磨牙的关系，话题一致，削弱优先考虑削弱论点。</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项：该项说明吸烟、饮酒等不良习惯也是导致睡觉磨牙的原因，与喝咖啡能否导致睡觉磨牙无关，无法削弱，排除；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项：该项说明咖啡与睡眠质量并没有关联，睡眠质量与睡觉磨牙无关，话题不一致，无法削弱，排除；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项：该项说明睡觉磨牙是病理因素和心理因素共同作用的结果，饮用咖啡并非病理因素和心理因素，故喝咖啡不能导致睡觉磨牙，削弱论点，可以削弱，当选；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项：该项讨论的是饮用含有咖啡因的红茶，但论点讨论的是饮用咖啡，话题不一致，无法削弱，排除。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C。</a:t>
            </a:r>
            <a:endParaRPr lang="en-US" altLang="zh-CN"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只是说明磨牙存在其他诱因。另有他因，但不能否定咖啡同样可以造成磨牙，削弱力度弱。</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 </a:t>
            </a:r>
            <a:r>
              <a:rPr lang="zh-CN" altLang="en-US" sz="1200">
                <a:solidFill>
                  <a:srgbClr val="333333"/>
                </a:solidFill>
                <a:latin typeface="楷体" panose="02010609060101010101" charset="-122"/>
              </a:rPr>
              <a:t>题干讨论的是磨牙，不是笼统的睡眠质量，话题不一致，无关选项。</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 </a:t>
            </a:r>
            <a:r>
              <a:rPr lang="zh-CN" altLang="en-US" sz="1200">
                <a:solidFill>
                  <a:srgbClr val="333333"/>
                </a:solidFill>
                <a:latin typeface="楷体" panose="02010609060101010101" charset="-122"/>
              </a:rPr>
              <a:t>指出磨牙是多重因素共同作用。重点：直接否定 “单一直接因果”。结论声称咖啡和磨牙有直接因果，意味着咖啡可以独立造成磨牙；该选项说明磨牙不会由单一因素直接引发，是多因素共同作用，直接动摇 “直接因果关系” 这个核心论断。</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 </a:t>
            </a:r>
            <a:r>
              <a:rPr lang="zh-CN" altLang="en-US" sz="1200">
                <a:solidFill>
                  <a:srgbClr val="333333"/>
                </a:solidFill>
                <a:latin typeface="楷体" panose="02010609060101010101" charset="-122"/>
              </a:rPr>
              <a:t>属于个别反例。存在咖啡因饮品不磨牙，只能说明咖啡因不一定诱发磨牙；但不能否定咖啡里其他物质、或者咖啡饮用场景导致磨牙，单一反例削弱力度有限。</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力度对比（公考标准）</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否定单一直接因果（</a:t>
            </a: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个别反例（</a:t>
            </a: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另有他因（</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无关（</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10.答案：</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解析：（1）要么武术社第一，要么武术社第七；</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（2）朗诵社……轮滑社；</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（3）轮滑社×××太极拳社/太极拳社×××轮滑社</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（4）朗诵社××腰鼓社</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提问方式为“可能”，优先使用代入法。</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代入</a:t>
            </a: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项：当太极拳社第二个上场，根据（3）可知轮滑社第六个上场，若武术社第一个上场，结合（4）可知朗诵社第四个上场、腰鼓社第七个上场，此时与题干无冲突，符合题干条件，当选；</a:t>
            </a:r>
            <a:endParaRPr lang="zh-CN" altLang="en-US"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代入</a:t>
            </a: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项：当轮滑社第四个上场，不满足条件（3），不符合题干条件，排除；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代入</a:t>
            </a: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项：当朗诵社第五个上场，不满足条件（4），不符合题干条件，排除；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代入</a:t>
            </a: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项：当街舞社第七个上场，根据条件（1），武术社第一个上场，若太极拳社和轮滑社分别在第二个和第六个上场，不满足条件（4），不符合题干条件，排除。</a:t>
            </a:r>
            <a:endParaRPr lang="zh-CN" altLang="en-US"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A。</a:t>
            </a: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lang="zh-CN" altLang="en-US" sz="1200">
                <a:solidFill>
                  <a:srgbClr val="333333"/>
                </a:solidFill>
                <a:latin typeface="楷体" panose="02010609060101010101" charset="-122"/>
              </a:rPr>
              <a:t>11.答案：</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解析：题干论证的逻辑是：题干指出白内障可能造成视物不清，由郑爷爷视物不清推出其一得了白内障，根据结果推测原因，但犯了把可能性原因当作必然性原因的逻辑错误。</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A</a:t>
            </a:r>
            <a:r>
              <a:rPr lang="zh-CN" altLang="en-US" sz="1200">
                <a:solidFill>
                  <a:srgbClr val="333333"/>
                </a:solidFill>
                <a:latin typeface="楷体" panose="02010609060101010101" charset="-122"/>
              </a:rPr>
              <a:t>项：由甲市吸引了大量的企业入驻，而企业入驻会带来人口的增长，推出甲市人口必然增长，是根据原因推测结果，与题干逻辑错误不一致，排除；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B</a:t>
            </a:r>
            <a:r>
              <a:rPr lang="zh-CN" altLang="en-US" sz="1200">
                <a:solidFill>
                  <a:srgbClr val="333333"/>
                </a:solidFill>
                <a:latin typeface="楷体" panose="02010609060101010101" charset="-122"/>
              </a:rPr>
              <a:t>项：科学的田间管理会使水稻产量大增，由乙市今年水稻产量大增推出其一定是采取了科学的田间管理，根据结果推测原因，但犯了把可能性原因当作必然性原因的逻辑错误，与题干逻辑错误一致，当选；</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C</a:t>
            </a:r>
            <a:r>
              <a:rPr lang="zh-CN" altLang="en-US" sz="1200">
                <a:solidFill>
                  <a:srgbClr val="333333"/>
                </a:solidFill>
                <a:latin typeface="楷体" panose="02010609060101010101" charset="-122"/>
              </a:rPr>
              <a:t>项：题干指出会员权益升级会减少商场投诉量，由丁商场今年投诉量下降推出其可能是因为更新了会员权益升级方案，根据结果推测原因，但是推测的原因为可能性原因，与题干逻辑错误不一致，排除；</a:t>
            </a:r>
            <a:endParaRPr lang="zh-CN" altLang="en-US" sz="1200">
              <a:solidFill>
                <a:srgbClr val="333333"/>
              </a:solidFill>
              <a:latin typeface="楷体" panose="02010609060101010101" charset="-122"/>
            </a:endParaRPr>
          </a:p>
          <a:p>
            <a:pPr>
              <a:lnSpc>
                <a:spcPct val="150000"/>
              </a:lnSpc>
            </a:pPr>
            <a:r>
              <a:rPr lang="en-US" altLang="zh-CN" sz="1200">
                <a:solidFill>
                  <a:srgbClr val="333333"/>
                </a:solidFill>
                <a:latin typeface="楷体" panose="02010609060101010101" charset="-122"/>
              </a:rPr>
              <a:t>D</a:t>
            </a:r>
            <a:r>
              <a:rPr lang="zh-CN" altLang="en-US" sz="1200">
                <a:solidFill>
                  <a:srgbClr val="333333"/>
                </a:solidFill>
                <a:latin typeface="楷体" panose="02010609060101010101" charset="-122"/>
              </a:rPr>
              <a:t>项：题干指出冬季用电需求上升会增加火灾发生风险，由丙市冬季发生多起火灾推出是由于用电需求上升导致的，发生多起火灾不等于火灾风险增加，犯了偷换概念的逻辑错误，与题干逻辑错误不一致，排除。</a:t>
            </a:r>
            <a:endParaRPr lang="zh-CN" altLang="en-US" sz="1200">
              <a:solidFill>
                <a:srgbClr val="333333"/>
              </a:solidFill>
              <a:latin typeface="楷体" panose="02010609060101010101" charset="-122"/>
            </a:endParaRPr>
          </a:p>
          <a:p>
            <a:pPr>
              <a:lnSpc>
                <a:spcPct val="150000"/>
              </a:lnSpc>
            </a:pPr>
            <a:r>
              <a:rPr lang="zh-CN" altLang="en-US" sz="1200">
                <a:solidFill>
                  <a:srgbClr val="333333"/>
                </a:solidFill>
                <a:latin typeface="楷体" panose="02010609060101010101" charset="-122"/>
              </a:rPr>
              <a:t>故正确答案为</a:t>
            </a:r>
            <a:r>
              <a:rPr lang="en-US" altLang="zh-CN" sz="1200">
                <a:solidFill>
                  <a:srgbClr val="333333"/>
                </a:solidFill>
                <a:latin typeface="楷体" panose="02010609060101010101" charset="-122"/>
              </a:rPr>
              <a:t>B。</a:t>
            </a:r>
            <a:endParaRPr lang="en-US" altLang="zh-CN" sz="1200">
              <a:solidFill>
                <a:srgbClr val="333333"/>
              </a:solidFill>
              <a:latin typeface="楷体" panose="02010609060101010101" charset="-122"/>
            </a:endParaRPr>
          </a:p>
          <a:p>
            <a:pPr>
              <a:lnSpc>
                <a:spcPct val="150000"/>
              </a:lnSpc>
            </a:pPr>
            <a:endParaRPr lang="en-US" altLang="zh-CN" sz="1200">
              <a:solidFill>
                <a:srgbClr val="333333"/>
              </a:solidFill>
              <a:latin typeface="楷体" panose="0201060906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image" Target="../media/image22.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3.xml"/><Relationship Id="rId2" Type="http://schemas.openxmlformats.org/officeDocument/2006/relationships/image" Target="../media/image27.png"/><Relationship Id="rId1" Type="http://schemas.openxmlformats.org/officeDocument/2006/relationships/image" Target="../media/image26.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4.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2026</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A</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333415"/>
            <a:ext cx="10692000" cy="11074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1.从所给的四个选项中，选择最合适的一个填入问号处，使之呈现一定的规律性（）。</a:t>
            </a:r>
            <a:endParaRPr sz="2400" b="0">
              <a:solidFill>
                <a:srgbClr val="333333"/>
              </a:solidFill>
              <a:latin typeface="楷体" panose="02010609060101010101" charset="-122"/>
              <a:cs typeface="楷体" panose="02010609060101010101" charset="-122"/>
            </a:endParaRPr>
          </a:p>
        </p:txBody>
      </p:sp>
      <p:pic>
        <p:nvPicPr>
          <p:cNvPr id="4" name="Picture 3" descr="新建_DOCX_文档_0001_b3aed8444ff6.png"/>
          <p:cNvPicPr>
            <a:picLocks noChangeAspect="1"/>
          </p:cNvPicPr>
          <p:nvPr/>
        </p:nvPicPr>
        <p:blipFill>
          <a:blip r:embed="rId1"/>
          <a:stretch>
            <a:fillRect/>
          </a:stretch>
        </p:blipFill>
        <p:spPr>
          <a:xfrm>
            <a:off x="600000" y="1542438"/>
            <a:ext cx="10992000" cy="47893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99835" y="382945"/>
            <a:ext cx="10692000" cy="11074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2.从所给的四个选项中，选择最合适的一个填入问号处，使之呈现一定的规律性（）。</a:t>
            </a:r>
            <a:endParaRPr sz="2400" b="0">
              <a:solidFill>
                <a:srgbClr val="333333"/>
              </a:solidFill>
              <a:latin typeface="楷体" panose="02010609060101010101" charset="-122"/>
              <a:cs typeface="楷体" panose="02010609060101010101" charset="-122"/>
            </a:endParaRPr>
          </a:p>
        </p:txBody>
      </p:sp>
      <p:pic>
        <p:nvPicPr>
          <p:cNvPr id="4" name="Picture 3" descr="新建_DOCX_文档_0002_396430295afc.png"/>
          <p:cNvPicPr>
            <a:picLocks noChangeAspect="1"/>
          </p:cNvPicPr>
          <p:nvPr/>
        </p:nvPicPr>
        <p:blipFill>
          <a:blip r:embed="rId1"/>
          <a:stretch>
            <a:fillRect/>
          </a:stretch>
        </p:blipFill>
        <p:spPr>
          <a:xfrm>
            <a:off x="600000" y="1542438"/>
            <a:ext cx="10992000" cy="4532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99835" y="375325"/>
            <a:ext cx="10692000" cy="11074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3.从所给的四个选项中，选择最合适的一个填入问号处，使之呈现一定的规律性（）。</a:t>
            </a:r>
            <a:endParaRPr sz="2400" b="0">
              <a:solidFill>
                <a:srgbClr val="333333"/>
              </a:solidFill>
              <a:latin typeface="楷体" panose="02010609060101010101" charset="-122"/>
              <a:cs typeface="楷体" panose="02010609060101010101" charset="-122"/>
            </a:endParaRPr>
          </a:p>
        </p:txBody>
      </p:sp>
      <p:pic>
        <p:nvPicPr>
          <p:cNvPr id="4" name="Picture 3" descr="新建_DOCX_文档_0003_874451e2cdb2.png"/>
          <p:cNvPicPr>
            <a:picLocks noChangeAspect="1"/>
          </p:cNvPicPr>
          <p:nvPr/>
        </p:nvPicPr>
        <p:blipFill>
          <a:blip r:embed="rId1"/>
          <a:stretch>
            <a:fillRect/>
          </a:stretch>
        </p:blipFill>
        <p:spPr>
          <a:xfrm>
            <a:off x="600000" y="1542438"/>
            <a:ext cx="10992000" cy="46323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416600"/>
            <a:ext cx="10692000" cy="11074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4.从所给的四个选项中，选择最合适的一个填入问号处，使之呈现一定的规律性（）。</a:t>
            </a:r>
            <a:endParaRPr sz="2400" b="0">
              <a:solidFill>
                <a:srgbClr val="333333"/>
              </a:solidFill>
              <a:latin typeface="楷体" panose="02010609060101010101" charset="-122"/>
              <a:cs typeface="楷体" panose="02010609060101010101" charset="-122"/>
            </a:endParaRPr>
          </a:p>
        </p:txBody>
      </p:sp>
      <p:pic>
        <p:nvPicPr>
          <p:cNvPr id="4" name="Picture 3" descr="新建_DOCX_文档_0005_87b87771bae5.png"/>
          <p:cNvPicPr>
            <a:picLocks noChangeAspect="1"/>
          </p:cNvPicPr>
          <p:nvPr/>
        </p:nvPicPr>
        <p:blipFill>
          <a:blip r:embed="rId1"/>
          <a:stretch>
            <a:fillRect/>
          </a:stretch>
        </p:blipFill>
        <p:spPr>
          <a:xfrm>
            <a:off x="700330" y="1417343"/>
            <a:ext cx="10992000" cy="4883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11074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5.以下为四个正方体纸盒的外表面展开图，问哪一个折叠成的纸盒和其他三个不一样？（）</a:t>
            </a:r>
            <a:endParaRPr sz="2400" b="0">
              <a:solidFill>
                <a:srgbClr val="333333"/>
              </a:solidFill>
              <a:latin typeface="楷体" panose="02010609060101010101" charset="-122"/>
              <a:cs typeface="楷体" panose="02010609060101010101" charset="-122"/>
            </a:endParaRPr>
          </a:p>
        </p:txBody>
      </p:sp>
      <p:pic>
        <p:nvPicPr>
          <p:cNvPr id="4" name="Picture 3" descr="新建_DOCX_文档_0007_caf2e5bde905.jpeg"/>
          <p:cNvPicPr>
            <a:picLocks noChangeAspect="1"/>
          </p:cNvPicPr>
          <p:nvPr/>
        </p:nvPicPr>
        <p:blipFill>
          <a:blip r:embed="rId1"/>
          <a:stretch>
            <a:fillRect/>
          </a:stretch>
        </p:blipFill>
        <p:spPr>
          <a:xfrm>
            <a:off x="600000" y="2388258"/>
            <a:ext cx="10992000" cy="30306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6.物理学中的可润性是指液体在固体表面铺展形成连续液膜的能力，通常由液体与固体表面之间的相互作用决定。可润性良好表现为液体能够均匀铺展在固体表面，形成连续的液膜；可润性差表现为液体在固体表面形成不连续的液滴或液珠。
根据上述定义，下列体现了可润性的是（）。
A.水在多孔材料中会被吸附或渗透
B.液体因蒸发而在固体表面留下残留物
C.在金属表面喷涂防锈漆，形成均匀致密的保护层
D.注射器针尖设计成锥形，可以减少药液残留</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7.树冠羞避指的是相邻的两棵树在生长过程中，树冠避免相互重叠，形成明显间隔的现象，其本质是树木通过感知周围环境光信号，调节自身生长方向，以最大程度获取光合作用所需光照的生存策略。
根据上述定义，下列属于树冠羞避的是（）。
A.热带雨林中，高大乔木为争夺阳光，树干笔直向上生长，树冠呈伞状
B.人工修剪的行道树，树冠被统一修剪成球形，相邻树之间保持均匀距离
C.悬崖上并排的两棵树，在长期风力的作用下形成旗形树冠，互不重叠
D.森林中，两棵相邻松树的树冠尚未接触，但枝叶均已向外侧弯曲生长</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49935" y="725170"/>
            <a:ext cx="10984230" cy="55397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8.黑窗效应是一种社会心理学现象，是指当环境或系统缺乏透明度时，人们因信息不足容易产生负面判断、好奇心或不良行为。这种效应的核心在于不透明性，即外部观察者无法直接了解内部状态，导致误判和风险增加。
根据上述定义，下列涉及黑窗效应的是（）。
A.某公司制定的考勤规则不明确，有员工因看不出违反规则会付出什么代价而经常迟到
B.某宾馆不监督服务员具体工作，而是根据顾客满意度进行绩效分配，导致有服务员无原则迎合顾客需求
C.许多旅游景点为吸引游客故意进行不实宣传，导致大量游客慕名而来，败兴而归
D.某公司按件计酬，导致部分员工一味追求产品数量，牺牲产品质量</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83630"/>
            <a:ext cx="10692000" cy="55397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9.生态银行指的是由政府主导建立的自然资源资产运营平台，它将碎片化的生态资源集中收储，进行专业化整合提升，以市场化的方式实现生态产品的价值。其本质是引入产业运营商，吸引市场资本注入，构建将生态自然资源变成资产的可持续发展路径。
根据上述定义，下列最能体现生态银行运作模式的是（）。
A.县政府建立山水资源数据库，追踪自然资源的开发和保护情况
B.林权交易所将分散林地集中流转，引入社会资本发展林下经济
C.自然资源交易所挂牌交易企业超额减排量，实现环境权益置换
D.环保组织购买湿地碳汇指标，支付资金用于防护林的修复工程</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71500" y="949960"/>
            <a:ext cx="11276330" cy="4778375"/>
          </a:xfrm>
          <a:prstGeom prst="rect">
            <a:avLst/>
          </a:prstGeom>
          <a:noFill/>
        </p:spPr>
        <p:txBody>
          <a:bodyPr wrap="square" lIns="0" tIns="0" rIns="0" bIns="0">
            <a:spAutoFit/>
          </a:bodyPr>
          <a:lstStyle/>
          <a:p>
            <a:pPr algn="l">
              <a:lnSpc>
                <a:spcPct val="150000"/>
              </a:lnSpc>
              <a:buClrTx/>
              <a:buSzTx/>
              <a:buFontTx/>
            </a:pPr>
            <a:r>
              <a:rPr sz="2300" b="0">
                <a:solidFill>
                  <a:srgbClr val="333333"/>
                </a:solidFill>
                <a:latin typeface="楷体" panose="02010609060101010101" charset="-122"/>
                <a:cs typeface="楷体" panose="02010609060101010101" charset="-122"/>
              </a:rPr>
              <a:t>10.网络计量学是应用文献计量学、信息计量学及信息技术，对网上信息的组织、存储、分布、传递、相互引证和开发利用等进行定量描述或统计分析，以揭示其数量特征和内在规律的一门新兴分支学科。
根据上述定义，下列不属于网络计量学研究范畴的是（）。
A.采集经用户授权的照片并进行标记，形成大量的数据用于大模型识别训练，提高模型准确性
B.运用网络绘图和信息技术分析网页超级链接的拓扑结构，进而研究网页间数据的关系
C.对某类网络文献引用及发表的情况进行统计，研究该类文献增长规律和老化规律
D.对网站和服务器的数量、网络用户的特征以及网络发展的增长率指标进行相关性分析</a:t>
            </a:r>
            <a:endParaRPr sz="2300" b="0">
              <a:solidFill>
                <a:srgbClr val="333333"/>
              </a:solidFill>
              <a:latin typeface="楷体" panose="02010609060101010101" charset="-122"/>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11.统计失实是指在统计记录、计算、整理等过程中，因统计行为人自身的主客观因素而出现的统计错误，导致统计数据与实际不符的情况。
根据上述定义，下列统计人员的行为没有体现统计失实的是（）。
A.小李为完成月度报表，粗略估算并代填当地企业经济统计数据
B.小刘因更新了应用软件，导致上报的企业数据前后格式不一致
C.小张在将数据导入直报系统时，因操作不当致使部分数据错乱
D.小王在记录数据时，不慎将某笔金融资金的交易类型标记错误</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12.表面失稳是指材料在受到外力作用时，表面发生非均匀变形，导致结构失去原有的平面状态，形成褶皱、折痕等失稳形貌的现象。
根据上述定义，下列现象不属于表面失稳的是（）。
A.折叠手机屏幕在反复使用后出现永久性折痕
B.柔性太阳能电池板在强风作用下表面出现局部褶皱
C.橡胶薄膜受局部挤压后，受压区域呈现放射状褶皱
D.玻璃片在温度骤变的情况下产生不规则裂纹</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13.电离辐射指的是携带足够能量使物质原子发生电离的辐射，具有破坏DNA的潜在危害；非电离辐射指的是能量较低无法引发电离作用的辐射，主要产生热效应；电磁污染指的是人工电磁辐射超过环境本底值，对生物或设备造成干扰的现象。
根据上述定义，下列对应正确的是（）。
</a:t>
            </a:r>
            <a:r>
              <a:rPr lang="en-US" sz="2400" b="0">
                <a:solidFill>
                  <a:srgbClr val="333333"/>
                </a:solidFill>
                <a:latin typeface="楷体" panose="02010609060101010101" charset="-122"/>
                <a:cs typeface="楷体" panose="02010609060101010101" charset="-122"/>
              </a:rPr>
              <a:t> </a:t>
            </a:r>
            <a:r>
              <a:rPr sz="2400" b="0">
                <a:solidFill>
                  <a:srgbClr val="333333"/>
                </a:solidFill>
                <a:latin typeface="楷体" panose="02010609060101010101" charset="-122"/>
                <a:cs typeface="楷体" panose="02010609060101010101" charset="-122"/>
              </a:rPr>
              <a:t>
A.微波炉运行时近距离使用手机会导致视频变得卡顿——电离辐射
B.核电站工作人员佩戴剂量计监测β射线暴露量——电磁污染
C.炼钢工人因长期靠近中频炉出现皮肤灼伤——非电离辐射
D.极光现象导致北极科考队卫星通信短暂中断——电离辐射</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46165"/>
            <a:ext cx="10692000" cy="230822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14.关联图是一种把关系复杂而相互纠缠的问题及其因素用箭头连接起来的图示分析工具，用来整理分析原因、结果、目的、手段等方面的复杂关系。其中箭头只进不出表示问题，箭头只出不进表示主因，箭头有进有出表示中间因素，箭头出多于进的中间因素是关键中间因素。下图是快递行业发件过程关联图。
根据上述定义，下列关于上图的说法错误的是（）。</a:t>
            </a:r>
            <a:endParaRPr sz="2000" b="0">
              <a:solidFill>
                <a:srgbClr val="333333"/>
              </a:solidFill>
              <a:latin typeface="楷体" panose="02010609060101010101" charset="-122"/>
              <a:cs typeface="楷体" panose="02010609060101010101" charset="-122"/>
            </a:endParaRPr>
          </a:p>
        </p:txBody>
      </p:sp>
      <p:pic>
        <p:nvPicPr>
          <p:cNvPr id="4" name="Picture 3" descr="新建_DOCX_文档_0009_b74d417e896d.png"/>
          <p:cNvPicPr>
            <a:picLocks noChangeAspect="1"/>
          </p:cNvPicPr>
          <p:nvPr/>
        </p:nvPicPr>
        <p:blipFill>
          <a:blip r:embed="rId1"/>
          <a:stretch>
            <a:fillRect/>
          </a:stretch>
        </p:blipFill>
        <p:spPr>
          <a:xfrm>
            <a:off x="6830695" y="2454275"/>
            <a:ext cx="5280660" cy="3199130"/>
          </a:xfrm>
          <a:prstGeom prst="rect">
            <a:avLst/>
          </a:prstGeom>
        </p:spPr>
      </p:pic>
      <p:sp>
        <p:nvSpPr>
          <p:cNvPr id="5" name="TextBox 4"/>
          <p:cNvSpPr txBox="1"/>
          <p:nvPr/>
        </p:nvSpPr>
        <p:spPr>
          <a:xfrm>
            <a:off x="750000" y="4141457"/>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A.展现了车辆集中到达、卸车调度不合理等七个主因
B.中间因素的数量少于主因
C.不存在关键中间因素
D.存在频次发件及时率低和分拨操作时长长两个问题</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15.媒体到达率是指目标受众在特定时期（一般为四周）内收看某节目一次或一次以上的人数占总人数的比率。媒体收视率是某个节目一次播出所到达的目标受众占总人数的比率。媒体收视频率是目标受众在四周时间内对于某节目所展露的平均次数，媒体收视频率=媒体到达率/媒体收视率。毛评点用来描述某个媒体播出计划中，一定时间内广告的总影响力，毛评点=媒体到达率×媒体收视频率。
根据上述定义，下列说法正确的是（）。
A.媒体到达率是对重复程度的度量，反映目标受众展露于同一个节目的程度
B.媒体收视率是对信息扩散程度的度量，反映目标受众在一定时期内收看某节目的广泛性
C.在媒体到达率一定的情况下，媒体收视率越低，该时间内广告的总影响力就越大
D.若某节目在四周时间内，投放的平均次数为10次，媒体到达率为0.5，则该节目的收视频率就是0.05</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16.雷声：隆隆
A.气息：奄奄
B.余音：袅袅
C.泉水：淙淙
D.风雨：潇潇</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17.烧鸡：烤鸭
A.插花：剪纸
B.蜡染：绘画
C.熏鱼：肉松
D.辣酱：剁椒</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18.其身不正：虽令不从
A.不要人夸好颜色：只留清气满乾坤
B.不畏浮云遮望眼：自缘身在最高层
C.人生若只如初见：何事秋风悲画扇
D.但使龙城飞将在：不教胡马度阴山</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19.用餐满意度：餐厅服务
A.生物多样性：生物进化
B.考试及格率：学习效果
C.集体荣誉感：集体决策
D.工作积极性：工作纪律</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20.征：进攻：伐
A.瘟：细菌：疫
B.茂：树木：盛
C.凯：胜利：旋
D.愉：快乐：悦</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21.风帆：航行：帆船
A.文字：表达：文章
B.调料：调味：菜肴
C.铁轨：变道：火车
D.指针：时间：钟摆</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22.水族馆：展示池：观赏窗
A.火箭：火药：燃料
B.风车：叶片：轮毂
C.风琴：风管：风声
D.水箱：支架：水塔</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23.质疑判罚：提出申诉：改变判罚
A.深化改革：经济繁荣：扩大内需
B.开学典礼：登记入学：社团招生
C.急诊入院：安排手术：康复出院
D.知识问答：小组得分：个人抢答</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24.毛笔对于（）相当于（）对于刺绣
A.书法；蜀绣
B.画笔；绘画
C.国画；绣针
D.竹笛；丝绸</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25.起重机对于（）相当于（）对于工业园区
A.机械部件；物流园区
B.港口码头；消防设施
C.起升高度；安防系统
D.专业设备；通勤班车</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26.某日，学校开展社会实践活动，所有参加植树活动的学生都参加了废物利用活动。请问再加入下列哪项陈述，可以推出“有些参加图书捐赠活动的学生没有参加植树活动”？（）
A.有些参加废物利用活动的学生参加了图书捐赠活动
B.参加图书捐赠活动的学生都参加了废物利用活动
C.有些学生既没有参加图书捐赠活动也没有参加废物利用活动
D.有些学生参加了图书捐赠活动但是没有参加废物利用活动</a:t>
            </a:r>
            <a:endParaRPr sz="2400" b="0">
              <a:solidFill>
                <a:srgbClr val="333333"/>
              </a:solidFill>
              <a:latin typeface="楷体" panose="02010609060101010101" charset="-122"/>
              <a:cs typeface="楷体" panose="02010609060101010101" charset="-122"/>
            </a:endParaRPr>
          </a:p>
        </p:txBody>
      </p:sp>
      <p:sp>
        <p:nvSpPr>
          <p:cNvPr id="4" name="文本框 3"/>
          <p:cNvSpPr txBox="1"/>
          <p:nvPr/>
        </p:nvSpPr>
        <p:spPr>
          <a:xfrm>
            <a:off x="4087495" y="2007235"/>
            <a:ext cx="7983220" cy="1198880"/>
          </a:xfrm>
          <a:prstGeom prst="rect">
            <a:avLst/>
          </a:prstGeom>
          <a:noFill/>
        </p:spPr>
        <p:txBody>
          <a:bodyPr wrap="square" rtlCol="0" anchor="t">
            <a:spAutoFit/>
          </a:bodyPr>
          <a:p>
            <a:pPr>
              <a:lnSpc>
                <a:spcPct val="150000"/>
              </a:lnSpc>
            </a:pPr>
            <a:r>
              <a:rPr sz="2400">
                <a:solidFill>
                  <a:srgbClr val="FF0000"/>
                </a:solidFill>
                <a:latin typeface="楷体" panose="02010609060101010101" charset="-122"/>
                <a:sym typeface="+mn-ea"/>
              </a:rPr>
              <a:t>条件：①参加植树活动→参加废物利用活动</a:t>
            </a:r>
            <a:endParaRPr sz="2400">
              <a:solidFill>
                <a:srgbClr val="FF0000"/>
              </a:solidFill>
              <a:latin typeface="楷体" panose="02010609060101010101" charset="-122"/>
            </a:endParaRPr>
          </a:p>
          <a:p>
            <a:pPr>
              <a:lnSpc>
                <a:spcPct val="150000"/>
              </a:lnSpc>
            </a:pPr>
            <a:r>
              <a:rPr sz="2400">
                <a:solidFill>
                  <a:srgbClr val="FF0000"/>
                </a:solidFill>
                <a:latin typeface="楷体" panose="02010609060101010101" charset="-122"/>
                <a:sym typeface="+mn-ea"/>
              </a:rPr>
              <a:t>结论：②有些参加图书捐赠活动→－参加植树活动</a:t>
            </a:r>
            <a:endParaRPr lang="zh-CN" altLang="en-US" sz="2400" kern="100" dirty="0">
              <a:solidFill>
                <a:srgbClr val="FF0000"/>
              </a:solidFill>
              <a:effectLst/>
              <a:latin typeface="楷体" panose="02010609060101010101" charset="-122"/>
              <a:cs typeface="江城圆体 400W" panose="020B0500000000000000"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24575"/>
            <a:ext cx="10692000" cy="5586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27.天然林资源是国家重要的战略资源与生态资源，在维护国土生态安全、应对气候变化、保护生物多样性等方面发挥着不可替代的重要作用。1998年，天然林保护工程开始实施，天然林商业性采伐由停伐减产到全面停止。到2020年底，天然林面积增加3.23亿亩、蓄积增加53亿立方米。有人据此得出结论，天然林保护工程的实施，有效提升了天然林质量效益。
上述论证的成立需要补充以下哪项作为前提？（）
A.天然林质量效益的提升，以天然林面积和蓄积的增加为主要衡量指标
B.保护生物多样性，除了要提升天然林质量效益，还需要兼顾其他效益
C.天然林质量效益的提升，可为全面推进天然林资源保护修复提供支撑
D.只有实施了天然林保护工程，才有可能实现天然林面积、蓄积的增加</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28.某养殖户甲从7月份开始，陆续发现其承包的水库中的鱼苗死亡，至10月份全部死亡。甲认为：鱼苗死亡系水库上游的隧洞施工排放污水、砂石、泥浆所致，因此要求该工程的施工方乙承担赔偿责任。施工方乙认为，其在施工中无过错，施工现场有污水处理设施，施工中环保监测合格，因此不应承担赔偿责任。
以下哪项如果为真，最能支持乙的观点？（）
A.施工期间乙并没有受到过违规排放污水的行政处罚
B.该建设工程的环保监测是实时、全过程、不间断的
C.工程的所有者作为乙的发包方，需要承担赔偿责任
D.在该隧洞施工工地附近，还有一处度假村正在建设</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29.关于甜瓜会令嗓子产生刺痛感的原因，一种观点认为瓜的甜度太高，吃下去的时候口腔黏膜细胞脱水，从而产生了刺痛感。但反对者的观点认为，白砂糖的糖分比甜瓜高，却不会令嗓子产生刺痛感，所以糖分不是原因，真正的原因是甜瓜中含有一种蛋白质，这种蛋白质会导致过敏反应。
以下哪项如果为真，最能支持反对者的观点？（）
A.不同品种及不同甜瓜个体之间的蛋白质含量有差别
B.嗓子出现刺痛感是蛋白质过敏反应的典型症状之一
C.甜瓜糖分的多少与蛋白质的含量并没有直接的关联
D.研究表明，甜瓜中含有多种会导致过敏反应的物质</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30.</a:t>
            </a:r>
            <a:r>
              <a:rPr sz="2200" b="0">
                <a:solidFill>
                  <a:srgbClr val="333333"/>
                </a:solidFill>
                <a:latin typeface="楷体" panose="02010609060101010101" charset="-122"/>
                <a:cs typeface="楷体" panose="02010609060101010101" charset="-122"/>
              </a:rPr>
              <a:t>氧化亚氮（N</a:t>
            </a:r>
            <a:r>
              <a:rPr sz="2200" b="0" baseline="-25000">
                <a:solidFill>
                  <a:srgbClr val="333333"/>
                </a:solidFill>
                <a:latin typeface="楷体" panose="02010609060101010101" charset="-122"/>
                <a:cs typeface="楷体" panose="02010609060101010101" charset="-122"/>
              </a:rPr>
              <a:t>2</a:t>
            </a:r>
            <a:r>
              <a:rPr sz="2200" b="0">
                <a:solidFill>
                  <a:srgbClr val="333333"/>
                </a:solidFill>
                <a:latin typeface="楷体" panose="02010609060101010101" charset="-122"/>
                <a:cs typeface="楷体" panose="02010609060101010101" charset="-122"/>
              </a:rPr>
              <a:t>O）是人类活动排放的重要温室气体，主要源自农业生产中，特别是施肥后土壤里微生物的硝化和反硝化作用，研究发现，螨虫可摄食土壤中产生</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的真菌类微生物，从而减少</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排放。因此，研究人员认为如果能不断增加螨虫在土壤中的数量，将持续为实现</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减排做出贡献。
以下哪项如果为真，最能削弱上述观点？（）
A.螨虫在土壤中的分布规模存在着上限
B.有螨虫的土壤在施肥后所排放的</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量明显减少
C.螨虫只摄食土壤中部分产生</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的真菌类微生物
D.减少化肥使用量有助于减少</a:t>
            </a:r>
            <a:r>
              <a:rPr sz="2200">
                <a:solidFill>
                  <a:srgbClr val="333333"/>
                </a:solidFill>
                <a:latin typeface="楷体" panose="02010609060101010101" charset="-122"/>
                <a:cs typeface="楷体" panose="02010609060101010101" charset="-122"/>
                <a:sym typeface="+mn-ea"/>
              </a:rPr>
              <a:t>N</a:t>
            </a:r>
            <a:r>
              <a:rPr sz="2200" baseline="-25000">
                <a:solidFill>
                  <a:srgbClr val="333333"/>
                </a:solidFill>
                <a:latin typeface="楷体" panose="02010609060101010101" charset="-122"/>
                <a:cs typeface="楷体" panose="02010609060101010101" charset="-122"/>
                <a:sym typeface="+mn-ea"/>
              </a:rPr>
              <a:t>2</a:t>
            </a:r>
            <a:r>
              <a:rPr sz="2200">
                <a:solidFill>
                  <a:srgbClr val="333333"/>
                </a:solidFill>
                <a:latin typeface="楷体" panose="02010609060101010101" charset="-122"/>
                <a:cs typeface="楷体" panose="02010609060101010101" charset="-122"/>
                <a:sym typeface="+mn-ea"/>
              </a:rPr>
              <a:t>O</a:t>
            </a:r>
            <a:r>
              <a:rPr sz="2200" b="0">
                <a:solidFill>
                  <a:srgbClr val="333333"/>
                </a:solidFill>
                <a:latin typeface="楷体" panose="02010609060101010101" charset="-122"/>
                <a:cs typeface="楷体" panose="02010609060101010101" charset="-122"/>
              </a:rPr>
              <a:t>排放</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31.研究者利用探测器在一颗名为“龙宫”的近地小行星上采集样本，并从样本中发现了尿嘧啶和维生素B3。由于尿嘧啶是构成核糖核酸的4种碱基之一，而维生素B3是陆地生命代谢的重要辅动因子，因此有人认为，这些发现是“地球生命起源于太空”这一理论的有力证据。
以下哪项如果为真，最能反驳上述观点？（）
A.地球形成初期的陨石中检测出了尿嘧啶
B.太空生命未必需要核糖核酸和维生素B3
C.构成核糖核酸的成分在太空中无处不在
D.小行星上采集的样本运至地球受到污染</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32.卫一、卫二、卫三、卫四、卫五是某遥远星系中的3颗行星（朱雀、玄武、青龙）的卫星。每颗行星都有其中的1~2颗卫星，每颗卫星仅是1颗行星的卫星，朱雀的卫星最少。已知：（1）若卫二不是青龙的卫星，则卫三、卫四都不是朱雀的卫星；（2）若卫一、卫三、卫四中至少有1颗是玄武的卫星，则卫五是青龙唯一的卫星。
根据以上信息，可以得出以下哪项？（）
A.卫二是朱雀的卫星
B.卫三、卫四是青龙的卫星
C.卫一是玄武的卫星
D.卫四、卫五是玄武的卫星</a:t>
            </a:r>
            <a:endParaRPr sz="2000" b="0">
              <a:solidFill>
                <a:srgbClr val="333333"/>
              </a:solidFill>
              <a:latin typeface="楷体" panose="02010609060101010101" charset="-122"/>
              <a:cs typeface="楷体" panose="02010609060101010101" charset="-122"/>
            </a:endParaRPr>
          </a:p>
        </p:txBody>
      </p:sp>
      <p:sp>
        <p:nvSpPr>
          <p:cNvPr id="4" name="文本框 3"/>
          <p:cNvSpPr txBox="1"/>
          <p:nvPr/>
        </p:nvSpPr>
        <p:spPr>
          <a:xfrm>
            <a:off x="4648835" y="3286125"/>
            <a:ext cx="7350125" cy="922020"/>
          </a:xfrm>
          <a:prstGeom prst="rect">
            <a:avLst/>
          </a:prstGeom>
          <a:noFill/>
        </p:spPr>
        <p:txBody>
          <a:bodyPr wrap="square" rtlCol="0" anchor="t">
            <a:spAutoFit/>
          </a:bodyPr>
          <a:p>
            <a:pPr>
              <a:lnSpc>
                <a:spcPct val="150000"/>
              </a:lnSpc>
            </a:pPr>
            <a:r>
              <a:rPr>
                <a:solidFill>
                  <a:srgbClr val="FF0000"/>
                </a:solidFill>
                <a:latin typeface="楷体" panose="02010609060101010101" charset="-122"/>
                <a:sym typeface="+mn-ea"/>
              </a:rPr>
              <a:t>（1）卫</a:t>
            </a:r>
            <a:r>
              <a:rPr lang="zh-CN">
                <a:solidFill>
                  <a:srgbClr val="FF0000"/>
                </a:solidFill>
                <a:latin typeface="楷体" panose="02010609060101010101" charset="-122"/>
                <a:sym typeface="+mn-ea"/>
              </a:rPr>
              <a:t>二</a:t>
            </a:r>
            <a:r>
              <a:rPr lang="en-US" altLang="zh-CN">
                <a:solidFill>
                  <a:srgbClr val="FF0000"/>
                </a:solidFill>
                <a:latin typeface="楷体" panose="02010609060101010101" charset="-122"/>
                <a:sym typeface="+mn-ea"/>
              </a:rPr>
              <a:t>≠</a:t>
            </a:r>
            <a:r>
              <a:rPr>
                <a:solidFill>
                  <a:srgbClr val="FF0000"/>
                </a:solidFill>
                <a:latin typeface="楷体" panose="02010609060101010101" charset="-122"/>
                <a:sym typeface="+mn-ea"/>
              </a:rPr>
              <a:t>青龙→卫三</a:t>
            </a:r>
            <a:r>
              <a:rPr lang="en-US" altLang="zh-CN">
                <a:solidFill>
                  <a:srgbClr val="FF0000"/>
                </a:solidFill>
                <a:latin typeface="楷体" panose="02010609060101010101" charset="-122"/>
                <a:sym typeface="+mn-ea"/>
              </a:rPr>
              <a:t>≠</a:t>
            </a:r>
            <a:r>
              <a:rPr>
                <a:solidFill>
                  <a:srgbClr val="FF0000"/>
                </a:solidFill>
                <a:latin typeface="楷体" panose="02010609060101010101" charset="-122"/>
                <a:sym typeface="+mn-ea"/>
              </a:rPr>
              <a:t>朱雀且卫四</a:t>
            </a:r>
            <a:r>
              <a:rPr lang="en-US" altLang="zh-CN">
                <a:solidFill>
                  <a:srgbClr val="FF0000"/>
                </a:solidFill>
                <a:latin typeface="楷体" panose="02010609060101010101" charset="-122"/>
                <a:sym typeface="+mn-ea"/>
              </a:rPr>
              <a:t>≠</a:t>
            </a:r>
            <a:r>
              <a:rPr>
                <a:solidFill>
                  <a:srgbClr val="FF0000"/>
                </a:solidFill>
                <a:latin typeface="楷体" panose="02010609060101010101" charset="-122"/>
                <a:sym typeface="+mn-ea"/>
              </a:rPr>
              <a:t>朱雀</a:t>
            </a:r>
            <a:endParaRPr>
              <a:solidFill>
                <a:srgbClr val="FF0000"/>
              </a:solidFill>
              <a:latin typeface="楷体" panose="02010609060101010101" charset="-122"/>
              <a:sym typeface="+mn-ea"/>
            </a:endParaRPr>
          </a:p>
          <a:p>
            <a:pPr>
              <a:lnSpc>
                <a:spcPct val="150000"/>
              </a:lnSpc>
            </a:pPr>
            <a:r>
              <a:rPr>
                <a:solidFill>
                  <a:srgbClr val="FF0000"/>
                </a:solidFill>
                <a:latin typeface="楷体" panose="02010609060101010101" charset="-122"/>
                <a:sym typeface="+mn-ea"/>
              </a:rPr>
              <a:t>（2）卫一或卫三或卫四</a:t>
            </a:r>
            <a:r>
              <a:rPr lang="en-US">
                <a:solidFill>
                  <a:srgbClr val="FF0000"/>
                </a:solidFill>
                <a:latin typeface="楷体" panose="02010609060101010101" charset="-122"/>
                <a:sym typeface="+mn-ea"/>
              </a:rPr>
              <a:t>=</a:t>
            </a:r>
            <a:r>
              <a:rPr>
                <a:solidFill>
                  <a:srgbClr val="FF0000"/>
                </a:solidFill>
                <a:latin typeface="楷体" panose="02010609060101010101" charset="-122"/>
                <a:sym typeface="+mn-ea"/>
              </a:rPr>
              <a:t>玄武→卫五</a:t>
            </a:r>
            <a:r>
              <a:rPr lang="en-US">
                <a:solidFill>
                  <a:srgbClr val="FF0000"/>
                </a:solidFill>
                <a:latin typeface="楷体" panose="02010609060101010101" charset="-122"/>
                <a:sym typeface="+mn-ea"/>
              </a:rPr>
              <a:t>=</a:t>
            </a:r>
            <a:r>
              <a:rPr>
                <a:solidFill>
                  <a:srgbClr val="FF0000"/>
                </a:solidFill>
                <a:latin typeface="楷体" panose="02010609060101010101" charset="-122"/>
                <a:sym typeface="+mn-ea"/>
              </a:rPr>
              <a:t>青龙唯一的卫星</a:t>
            </a:r>
            <a:endParaRPr lang="zh-CN" altLang="en-US" kern="100" dirty="0">
              <a:solidFill>
                <a:srgbClr val="FF0000"/>
              </a:solidFill>
              <a:effectLst/>
              <a:latin typeface="楷体" panose="02010609060101010101" charset="-122"/>
              <a:cs typeface="江城圆体 400W" panose="020B0500000000000000"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49975"/>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33.市场部有四位员工，分别是赵、钱、孙、李。有人问起他们四人进入公司的时间，回答如下：</a:t>
            </a:r>
            <a:r>
              <a:rPr sz="1400" b="0">
                <a:solidFill>
                  <a:srgbClr val="333333"/>
                </a:solidFill>
                <a:latin typeface="楷体" panose="02010609060101010101" charset="-122"/>
                <a:cs typeface="楷体" panose="02010609060101010101" charset="-122"/>
              </a:rPr>
              <a:t>
</a:t>
            </a:r>
            <a:r>
              <a:rPr sz="2000" b="0">
                <a:solidFill>
                  <a:srgbClr val="333333"/>
                </a:solidFill>
                <a:latin typeface="楷体" panose="02010609060101010101" charset="-122"/>
                <a:cs typeface="楷体" panose="02010609060101010101" charset="-122"/>
              </a:rPr>
              <a:t>（1）赵说：“钱比孙进入公司的时间晚。”
（2）钱说：“我比赵晚进入公司。”
（3）孙说：“四个人中，钱不是第三个进入公司的。”
（4）李说：“我是最早进入公司的。”
经调查，真实的结果是：最早进入公司的人和第三个进入公司的人说了谎话，第二个进入公司的人和最晚进入公司的人说了真话。
按照进入公司由早至晚的时间，四个人依次为（）。
A.李、孙、赵、钱
B.孙、李、钱、赵
C.赵、钱、李、孙
D.钱、李、赵、孙</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458470" y="503555"/>
            <a:ext cx="11389995" cy="5662930"/>
          </a:xfrm>
          <a:prstGeom prst="rect">
            <a:avLst/>
          </a:prstGeom>
          <a:noFill/>
        </p:spPr>
        <p:txBody>
          <a:bodyPr wrap="square" lIns="0" tIns="0" rIns="0" bIns="0">
            <a:spAutoFit/>
          </a:bodyPr>
          <a:lstStyle/>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独立思考能力是基于可靠的信息，清晰的逻辑和自主的判断，对问题进行剖析、评估并形成自己见解的能力。近日，有媒体进行的一项调查显示，超八成受访者认为是否具备独立思考能力对个人发展影响很大，针对这一调查结果，相关人士提出了各自的看法。</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1号：独立思考能力与简单的理解和记忆能力不同，要求在理解和记忆的基础上，综合运用比较分析和概括推理等思维方法，全面、辩证地思考问题，形成自己的结论和主张。</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2号：像我现在在工作中，就经常需要有一些创造性的策划，才能把自己的想法更好地呈现出来。这种独立思考能力，不光为我自己争取到了发展机会，也助力了公司一些项目的顺利开展。</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3号：小班教学是培养学生独立思考能力的前提，目前我国基础教育正在逐步实现小班教学，这为培养学生独立思考能力奠定了基础，未来我国的能力教育必有大发展。</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4号：与独立思考能力弱的学生相比，独立思考能力强的学生是难能可贵的。独立思考能力弱的学生，即使学习成绩再好，在个人发展方面也很难有大的突破。</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5号：通常来说，尊重孩子意见的家长重视培养孩子独立思考能力，不受功利教育观影响的家长也重视培养孩子的独立思考能力，所以尊重孩子意见的家长没有受到功利教育观的影响。</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6号：每到高考报考季，一些考生在报考学校和专业时只考虑行业当前发展，不顾自己的兴趣爱好，导致在大学学习时没有动力。</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7号：具备了独立思考能力，学生能在学习方法上不断反思和改进，有利于提高学习效率；年轻人步入社会，也能够在自己的岗位上充分发掘自我，发光发热。</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8号：目前已有学校重视培养学生的独立思考能力，并充分利用了社会实践、社团活动、少先队活动和课后服务等教育场景。这意味着这些学校的老师都重视培养学生的独立思考能力。</a:t>
            </a:r>
            <a:endParaRPr lang="zh-CN" altLang="en-US" sz="1600" b="0">
              <a:solidFill>
                <a:srgbClr val="333333"/>
              </a:solidFill>
              <a:latin typeface="楷体" panose="02010609060101010101" charset="-122"/>
              <a:cs typeface="楷体" panose="02010609060101010101" charset="-122"/>
            </a:endParaRPr>
          </a:p>
          <a:p>
            <a:pPr algn="l">
              <a:lnSpc>
                <a:spcPct val="100000"/>
              </a:lnSpc>
              <a:buClrTx/>
              <a:buSzTx/>
              <a:buFontTx/>
              <a:buNone/>
            </a:pPr>
            <a:r>
              <a:rPr lang="zh-CN" altLang="en-US" sz="1600" b="0">
                <a:solidFill>
                  <a:srgbClr val="333333"/>
                </a:solidFill>
                <a:latin typeface="楷体" panose="02010609060101010101" charset="-122"/>
                <a:cs typeface="楷体" panose="02010609060101010101" charset="-122"/>
              </a:rPr>
              <a:t>34.上述讨论中，能够支持“是否具备独立思考能力对个人发展影响很大”这一观点的有几项？（）。
A.1项
B.4项
C.3项
D.2项</a:t>
            </a:r>
            <a:endParaRPr lang="zh-CN" altLang="en-US" sz="1600" b="0">
              <a:solidFill>
                <a:srgbClr val="333333"/>
              </a:solidFill>
              <a:latin typeface="楷体" panose="02010609060101010101" charset="-122"/>
              <a:cs typeface="楷体" panose="0201060906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11810" y="179705"/>
            <a:ext cx="11311255" cy="6155690"/>
          </a:xfrm>
          <a:prstGeom prst="rect">
            <a:avLst/>
          </a:prstGeom>
          <a:noFill/>
        </p:spPr>
        <p:txBody>
          <a:bodyPr wrap="square" lIns="0" tIns="0" rIns="0" bIns="0">
            <a:spAutoFit/>
          </a:bodyPr>
          <a:lstStyle/>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独立思考能力是基于可靠的信息，清晰的逻辑和自主的判断，对问题进行剖析、评估并形成自己见解的能力。近日，有媒体进行的一项调查显示，超八成受访者认为是否具备独立思考能力对个人发展影响很大，针对这一调查结果，相关人士提出了各自的看法。</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1号：独立思考能力与简单的理解和记忆能力不同，要求在理解和记忆的基础上，综合运用比较分析和概括推理等思维方法，全面、辩证地思考问题，形成自己的结论和主张。</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2号：像我现在在工作中，就经常需要有一些创造性的策划，才能把自己的想法更好地呈现出来。这种独立思考能力，不光为我自己争取到了发展机会，也助力了公司一些项目的顺利开展。</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3号：小班教学是培养学生独立思考能力的前提，目前我国基础教育正在逐步实现小班教学，这为培养学生独立思考能力奠定了基础，未来我国的能力教育必有大发展。</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4号：与独立思考能力弱的学生相比，独立思考能力强的学生是难能可贵的。独立思考能力弱的学生，即使学习成绩再好，在个人发展方面也很难有大的突破。</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5号：通常来说，尊重孩子意见的家长重视培养孩子独立思考能力，不受功利教育观影响的家长也重视培养孩子的独立思考能力，所以尊重孩子意见的家长没有受到功利教育观的影响。</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6号：每到高考报考季，一些考生在报考学校和专业时只考虑行业当前发展，不顾自己的兴趣爱好，导致在大学学习时没有动力。</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7号：具备了独立思考能力，学生能在学习方法上不断反思和改进，有利于提高学习效率；年轻人步入社会，也能够在自己的岗位上充分发掘自我，发光发热。</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lang="zh-CN" altLang="en-US" sz="1600" b="0">
                <a:solidFill>
                  <a:srgbClr val="333333"/>
                </a:solidFill>
                <a:latin typeface="楷体" panose="02010609060101010101" charset="-122"/>
                <a:cs typeface="楷体" panose="02010609060101010101" charset="-122"/>
              </a:rPr>
              <a:t>8号：目前已有学校重视培养学生的独立思考能力，并充分利用了社会实践、社团活动、少先队活动和课后服务等教育场景。这意味着这些学校的老师都重视培养学生的独立思考能力。</a:t>
            </a:r>
            <a:endParaRPr lang="zh-CN" altLang="en-US" sz="1600" b="0">
              <a:solidFill>
                <a:srgbClr val="333333"/>
              </a:solidFill>
              <a:latin typeface="楷体" panose="02010609060101010101" charset="-122"/>
              <a:cs typeface="楷体" panose="02010609060101010101" charset="-122"/>
            </a:endParaRPr>
          </a:p>
          <a:p>
            <a:pPr indent="0" algn="l" fontAlgn="auto">
              <a:lnSpc>
                <a:spcPct val="100000"/>
              </a:lnSpc>
              <a:buClrTx/>
              <a:buSzTx/>
              <a:buFontTx/>
            </a:pPr>
            <a:r>
              <a:rPr sz="1600" b="0">
                <a:solidFill>
                  <a:srgbClr val="333333"/>
                </a:solidFill>
                <a:latin typeface="楷体" panose="02010609060101010101" charset="-122"/>
                <a:cs typeface="楷体" panose="02010609060101010101" charset="-122"/>
              </a:rPr>
              <a:t>35.下列哪项与上述人士表述的逻辑结构最为相似？（）
A.“以讲授为主的学校减少了学生独立思考机会，学校作业负担重减少了学生独立思考机会，所以以讲授为主的学校作业负担重。”——5号
B.“培养独立思考能力要在学习知识时多问‘为什么’，也就是说，不要只学知识，还要知道如何应用。”——3号
C.“启明中学被定为培养学生独立思考能力试点中学，可见启明中学重视培养学生的独立思考能力。”——8号
D.“与简单的理解和记忆能力不同，独立思考能力是更高层次的思维能力。只要具备独立思考能力，就不会轻易被AI取代。”——4号</a:t>
            </a:r>
            <a:endParaRPr sz="1600" b="0">
              <a:solidFill>
                <a:srgbClr val="333333"/>
              </a:solidFill>
              <a:latin typeface="楷体" panose="02010609060101010101" charset="-122"/>
              <a:cs typeface="楷体" panose="0201060906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2026</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B</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1.从所给的四个选项中，选择最合适的一个填入问号处，使之呈现一定的规律性（）。</a:t>
            </a:r>
            <a:endParaRPr sz="2000" b="0">
              <a:solidFill>
                <a:srgbClr val="333333"/>
              </a:solidFill>
              <a:latin typeface="楷体" panose="02010609060101010101" charset="-122"/>
              <a:cs typeface="楷体" panose="02010609060101010101" charset="-122"/>
            </a:endParaRPr>
          </a:p>
        </p:txBody>
      </p:sp>
      <p:pic>
        <p:nvPicPr>
          <p:cNvPr id="4" name="Picture 3" descr="新建_DOCX_文档_0010_33053de74ab2.png"/>
          <p:cNvPicPr>
            <a:picLocks noChangeAspect="1"/>
          </p:cNvPicPr>
          <p:nvPr/>
        </p:nvPicPr>
        <p:blipFill>
          <a:blip r:embed="rId1"/>
          <a:stretch>
            <a:fillRect/>
          </a:stretch>
        </p:blipFill>
        <p:spPr>
          <a:xfrm>
            <a:off x="600000" y="1542438"/>
            <a:ext cx="10992000" cy="445961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452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2.从所给的四个选项中，选择最合适的一个填入问号处，使之呈现一定的规律性（）。</a:t>
            </a:r>
            <a:endParaRPr sz="2000" b="0">
              <a:solidFill>
                <a:srgbClr val="333333"/>
              </a:solidFill>
              <a:latin typeface="楷体" panose="02010609060101010101" charset="-122"/>
              <a:cs typeface="楷体" panose="02010609060101010101" charset="-122"/>
            </a:endParaRPr>
          </a:p>
        </p:txBody>
      </p:sp>
      <p:pic>
        <p:nvPicPr>
          <p:cNvPr id="4" name="Picture 3" descr="新建_DOCX_文档_0011_c1ee294f3635.png"/>
          <p:cNvPicPr>
            <a:picLocks noChangeAspect="1"/>
          </p:cNvPicPr>
          <p:nvPr/>
        </p:nvPicPr>
        <p:blipFill>
          <a:blip r:embed="rId1"/>
          <a:stretch>
            <a:fillRect/>
          </a:stretch>
        </p:blipFill>
        <p:spPr>
          <a:xfrm>
            <a:off x="3578318" y="1256688"/>
            <a:ext cx="5035363" cy="490756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3.从所给的四个选项中，选择最合适的一个填入问号处，使之呈现一定的规律性（）。</a:t>
            </a:r>
            <a:endParaRPr sz="2000" b="0">
              <a:solidFill>
                <a:srgbClr val="333333"/>
              </a:solidFill>
              <a:latin typeface="楷体" panose="02010609060101010101" charset="-122"/>
              <a:cs typeface="楷体" panose="02010609060101010101" charset="-122"/>
            </a:endParaRPr>
          </a:p>
        </p:txBody>
      </p:sp>
      <p:pic>
        <p:nvPicPr>
          <p:cNvPr id="4" name="Picture 3" descr="新建_DOCX_文档_0012_136615d225fe.png"/>
          <p:cNvPicPr>
            <a:picLocks noChangeAspect="1"/>
          </p:cNvPicPr>
          <p:nvPr/>
        </p:nvPicPr>
        <p:blipFill>
          <a:blip r:embed="rId1"/>
          <a:stretch>
            <a:fillRect/>
          </a:stretch>
        </p:blipFill>
        <p:spPr>
          <a:xfrm>
            <a:off x="600000" y="1542438"/>
            <a:ext cx="10991999" cy="448940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4.把下面的六个图形分为两类，使每一类图形都有各自的共同特征或规律，分类正确的一项是（）。</a:t>
            </a:r>
            <a:endParaRPr sz="2000" b="0">
              <a:solidFill>
                <a:srgbClr val="333333"/>
              </a:solidFill>
              <a:latin typeface="楷体" panose="02010609060101010101" charset="-122"/>
              <a:cs typeface="楷体" panose="02010609060101010101" charset="-122"/>
            </a:endParaRPr>
          </a:p>
        </p:txBody>
      </p:sp>
      <p:pic>
        <p:nvPicPr>
          <p:cNvPr id="4" name="Picture 3" descr="新建_DOCX_文档_0013_50158c9f27cc.png"/>
          <p:cNvPicPr>
            <a:picLocks noChangeAspect="1"/>
          </p:cNvPicPr>
          <p:nvPr/>
        </p:nvPicPr>
        <p:blipFill>
          <a:blip r:embed="rId1"/>
          <a:stretch>
            <a:fillRect/>
          </a:stretch>
        </p:blipFill>
        <p:spPr>
          <a:xfrm>
            <a:off x="650165" y="2016783"/>
            <a:ext cx="10992000" cy="2394905"/>
          </a:xfrm>
          <a:prstGeom prst="rect">
            <a:avLst/>
          </a:prstGeom>
        </p:spPr>
      </p:pic>
      <p:sp>
        <p:nvSpPr>
          <p:cNvPr id="5" name="TextBox 4"/>
          <p:cNvSpPr txBox="1"/>
          <p:nvPr/>
        </p:nvSpPr>
        <p:spPr>
          <a:xfrm>
            <a:off x="800165" y="4411828"/>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A.①②③,④⑤⑥
B.①③④,②⑤⑥
C.①④⑤,②③⑥
D.①④⑥,②③⑤</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5.以下为两个不同的正方体纸盒的外表面展开图。问哪一项能由这两个正方体纸盒粘接而成？（）</a:t>
            </a:r>
            <a:endParaRPr sz="2000" b="0">
              <a:solidFill>
                <a:srgbClr val="333333"/>
              </a:solidFill>
              <a:latin typeface="楷体" panose="02010609060101010101" charset="-122"/>
              <a:cs typeface="楷体" panose="02010609060101010101" charset="-122"/>
            </a:endParaRPr>
          </a:p>
        </p:txBody>
      </p:sp>
      <p:pic>
        <p:nvPicPr>
          <p:cNvPr id="4" name="Picture 3" descr="新建_DOCX_文档_0014_a3d4abbdfe86.png"/>
          <p:cNvPicPr>
            <a:picLocks noChangeAspect="1"/>
          </p:cNvPicPr>
          <p:nvPr/>
        </p:nvPicPr>
        <p:blipFill>
          <a:blip r:embed="rId1"/>
          <a:stretch>
            <a:fillRect/>
          </a:stretch>
        </p:blipFill>
        <p:spPr>
          <a:xfrm>
            <a:off x="1389119" y="1411628"/>
            <a:ext cx="9413762" cy="490756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6.鸡尾酒式管理指的是管理者在管理过程中，如同调制鸡尾酒般，将不同特质的人才进行科学配比与融合，在保持个体特色的同时，通过协同机制实现组织效能最大化的管理模式，其核心在于差异性整合与协同性增效。
根据上述定义，下列属于鸡尾酒式管理的是（）。
A.某企业安排行政部门与营销部门员工定期轮岗，大部分员工的能力得到了全面提升
B.某班班主任按学生成绩优劣分组管理，要求成绩优异者指导其他学生完成小组作业
C.某公司抽调架构师、风控专家等组成银行风控系统开发团队，缩短了项目交付周期
D.某公司采用多样化的薪酬标准，因薪酬上涨幅度较大，员工的工作积极性显著提升</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7.划分是通过把一个概念所反映的对象分为若干个小类，来揭示这个概念所指对象的逻辑方法。它通常是把一个概念分为若干个子概念。划分的规则主要有三条：
（1）划分后的各子项之和必须与母项相等；
（2）每次划分必须按照同一标准进行；
（3）划分所得的各子项应互不相容。
根据上述定义，下列说法正确的是（）。
A.我国中小企业可划分为中型企业、小型企业、微型企业，这是按照企业规模进行的划分
B.社会形态可划分为原始社会、奴隶社会、资本主义社会，划分后的各子项之和与母项相等
C.农作物可划分为粮食作物、油料作物、经济作物、饲料作物和绿肥作物，所划分出的子项互不相容
D.三角形可划分为不等边三角形、二等边三角形、三内角均为60°的三角形，这是按照等边的数量进行的划分</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30925"/>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8.事前故意是指行为人误认为第一个行为已经造成结果，出于其他目的实施了第二个行为，实际上是第二个行为才导致预期结果发生的情况。
根据上述定义，下列属于事前故意的是（）。
A.甲向乙的水杯中投入了毒药，乙喝下后倒地不起，甲担心毒药无效，又勒其颈部，后经尸检确认乙系中毒身亡
B.甲与乙积怨已久，欲杀死乙，向其捅刺数刀，以为乙已经死亡，为掩盖行为，遂将其扔下山，后确认乙系坠亡
C.甲盗窃乙的财物，未能成功，持刀威胁乙交出财物，乙拒绝，甲捅乙数刀。甲被捕后得知乙因重伤不治身亡
D.甲看到乙的小说在网络上备受追捧，遂找到乙商量线下出版，被拒绝后在自己工厂中印刷，售卖赚取高额利润</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9.公共中间品是指未被最终消费，而是被用作投入进入生产过程的公共物品。公共中间品常表现为行业内集体消费的“共用品”，这种共用性特征之所以能够得到重视，是由于共用性资源的多次重复使用带来成本的降低。
根据上述定义，下列属于公共中间品的是（）。
A.激光测距仪生产企业普遍使用的稀土材料
B.某城市的物流园区内建设的仓储配套设施
C.某市为打造当地大米品牌举办的大米展销会
D.为方便城郊企业工人上下班增设的公共交通</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10.物理农业是一种将物理技术与农业生产相结合的新型农业体系。物理农业以电、磁、声、光、热等物理方法为主要特征，以保障植物、畜禽、水产品能够安全、高效、优质生产为目标。
根据上述定义，下列没有体现物理农业的是（）。
A.在土壤中引入有益微生物，它们繁殖过程中的代谢物可加速植物生长
B.采用卫星定位系统为农用机械导航，实现农业生产的自动化、精准化
C.对特定发育阶段的农田害虫进行辐射处理，使雄虫丧失正常繁殖能力
D.某牧场为了提升牛奶产量和品质，在牧场内播放舒缓的音乐给奶牛听</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11.非经济性福利是指不直接以金钱或实物形式提供的福利，其基本目的在于全面改善员工的工作和生活质量。
根据上述定义，下列不属于非经济性福利的是（）。
A.甲公司为员工提供免费的心理健康咨询服务，帮助员工解决心理困扰
B.乙公司为创造更加灵活的工作环境，推出弹性工作时间制供员工选择
C.丙公司为员工设立健身场地，并发放了员工健身用的体育服饰及器材
D.丁公司定期组织员工旅游，以增强团队凝聚力和员工对公司的归属感</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12.具身智能是一种基于物理实体进行感知和行动的智能系统，它通过与环境的交互来获取信息、理解问题，做出决策并执行行动，从而展现出智能行为和适应性。传统的人工智能通常依赖于抽象的符号计算，而具身智能更强调通过物理身体的感知、运动以及与外部环境的交互来实现认知。
根据上述定义，下列不属于具身智能的是（）。
A.扫地机器人能够通过摄像头和传感器来感知周边的环境，自主规划清扫路线，利用机械臂清理垃圾，还能够找到电源自动充电
B.人形机器人能够攀爬云梯，调整姿态穿越窗户，用灭火器灭火，还能一边给受困者递矿泉水，一边用温和的语气安抚他们的情绪
C.特种机器狗不仅可以灵活避开障碍，还能在油罐前停留10秒隔空扫描出罐体内部的液位和压力等数据，自动分析是否存在安全隐患
D.智慧交通实时监控系统能够获知哪里发生了交通事故、哪里交通拥堵；哪条路最为畅通，并将信息及时提供给驾驶员和交通管理人员</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13.执行功能障碍是指确立目标、制订和修正计划、实施计划，从而进行有目的活动的能力出现异常的现象。
根据上述定义，下列不涉及执行功能障碍的是（）。
A.李老师每天按固定路线驾车上班，突遇道路施工，他不知道如何绕行
B.张女士制订减肥计划后，频繁修改运动方案，导致目标模糊放弃执行
C.刘先生计划本周完成项目报告，但因临时开会无法在计划时间内完成
D.学生小曲虽明确考试目标，但是因拖延始终无法按复习计划进行学习</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85510"/>
            <a:ext cx="10692000" cy="5586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14.政府治理有不同的模式：参与式治理指的是政府通过制度化渠道汇聚多元主体共同参与公共事务，形成开放协商、权责共担的治理模式，核心要件包含主体多元性、过程开放性与决策赋权性；吸纳式治理指的是政府基于风险管控，选择性整合关键利益群体进入决策流程的治理模式，本质是通过有限开放实现秩序重构，需满足“政府主导－利益整合－渠道可控”三重特征。
根据上述定义，下列属于参与式治理的是（）。
A.某市政府组建企业家顾问团，针对营商政策修订提供相关建议
B.某网民通过市政论坛发起垃圾分类倡议，两周内获超十万点击量
C.某环保公益组织发起湿地保护联名提案，经人大代表提交后启动立法程序
D.某区政府建立“网络议事厅”平台，抽选居民代表与专家共同审定燃气改造方案清</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15.外源化学物指的是自然界存在的或人工合成的化学物质，这些物质从外界环境摄入，与机体相互作用，不包括在机体内正常代谢途径中形成的产物或中间产物。内源化学物指的是机体内部原已存在的和代谢过程中所形成的产物。
根据上述定义，下列说法正确的是（）。
A.人体患肺炎后，注射青霉素降低炎症反应。这些青霉素属于外源化学物
B.人体摄入的蛋白质，在体内分解后会产生尿素。这些尿素属于外源化学物
C.适量食用柑橘可为人体提供维生素C，增强免疫力。这些维生素C属于内源化学物
D.煤炭不完全燃烧时，产生的一氧化碳经呼吸道进入人体。这些一氧化碳属于内源化学物</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16.竹青：鹅黄
A.海蓝：赭赤
B.雄黄：蝶黄
C.草绿：茄红
D.桃红：驼棕</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17.体检合格：参军入伍
A.专项培训：参与项目
B.参加比赛：获得冠军
C.工作年限：考试报名
D.考核优秀：职级晋升</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18.小荷才露尖尖角：荷尽已无擎雨盖
A.君问归期未有期：西出阳关无故人
B.归来饱饭黄昏后：春风得意马蹄疾
C.此曲只应天上有：谁家玉笛暗飞声
D.十年窗下无人问：一举成名天下知</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19.吊钩：臂架：吊车
A.体长：体宽：卷尺
B.扳机：喷嘴：喷枪
C.窑炉：油泵：烟道
D.货仓：货架：货车</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20.机场：闸机：地铁站
A.车间：齿轮：手电钻
B.庭院：盆景：植物园
C.医院：座椅：电影院
D.书店：教材：图书馆</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21.舞台：鞠躬致谢：演员
A.赛场：出牌警告：裁判
B.法庭：举证辩论：法警
C.站台：拥抱送别：地勤
D.灯塔：闪烁引航：海员</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22.易经：国学经典：礼记
A.水果：瓜果时蔬：芒果
B.墨子：先秦诸子：荀子
C.藻类：高等生物：菌类
D.甲板：大型军舰：舰桥</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23.本月用电量：本月读数：上月读数
A.出库数量：剩余库存：库存总量
B.单层高度：楼房层数：楼房高度
C.折后价格：初始价格：折扣金额
D.给药速率：药物剂量：给药时间</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24.（）对于去污相当于电冰箱对于（）
A.油烟机；节能
B.洗涤剂；电源
C.脏衣物；食品
D.洗衣机；冷藏</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25.黄金储备对于（）相当于（）对于筹集资金
A.稳定币值；配股增发
B.国家实力；抵押贷款
C.国际贸易；生产经营
D.粮食储备；企业负债</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26.最新发布的J市百强企业名单显示，在该市的百强企业中，有近四十家人工智能企业入选，当然也有一些传统制造业企业入选，所有的百强企业都表现出强劲的发展态势。由此可以推出（）。
A.一些表现出强劲发展态势的企业不是百强企业
B.所有表现出强劲发展态势的企业都是百强企业
C.有些人工智能企业并未表现出强劲的发展态势
D.一些表现出强劲发展态势的企业是制造业企业</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200" b="0">
                <a:solidFill>
                  <a:srgbClr val="333333"/>
                </a:solidFill>
                <a:latin typeface="楷体" panose="02010609060101010101" charset="-122"/>
                <a:cs typeface="楷体" panose="02010609060101010101" charset="-122"/>
              </a:rPr>
              <a:t>27.某国产动画电影从传统文本中挖掘故事素材，留存能让观众深度共情的核心创作元素，并进行创新性艺术表达，为传统文本注入新的时代内涵。影片中的情节引发了观众的强烈共情，同时也让观众聚焦到了成长与自我认同的时代问题和人性问题上。由此可见，这部电影兼顾了传统与创新。
以下哪项如果为真，最能支持上述结论？（）
A.该电影主题曲由国际知名音乐人创作，歌词中还巧妙融入当下流行语，增添现代感
B.该电影在海外市场收获了极高的票房，海外观众纷纷表示被影片中人物风格所打动
C.部分观众称赞该电影无论是人物塑造还是整体氛围，都蕴含着中国哲学的深刻理念
D.在艺术表现形式上，该电影将传统水墨画的晕染韵味与3D动画技术进行了无缝结合</a:t>
            </a:r>
            <a:endParaRPr sz="2200" b="0">
              <a:solidFill>
                <a:srgbClr val="333333"/>
              </a:solidFill>
              <a:latin typeface="楷体" panose="02010609060101010101" charset="-122"/>
              <a:cs typeface="楷体" panose="02010609060101010101"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28.有一款清凉喷剂，号称一摇一喷就可以瞬间结冰，从而达到降温效果，不少人买来用于太阳暴晒过的车内，以达到快速降温的效果，还有人喷在衣物上，甚至有人直接喷在皮肤上以消暑降温，但专家提醒，此“神器”极易引发火灾，切勿乱用！
以下哪项如果为真，最能支持专家观点？（）
A.清凉喷剂的冰凉感主要来自化学物质，会刺激人体皮肤
B.清凉喷剂的主要成分是丙烷和丁烷，可以作为燃料使用
C.喷剂中含有的化学物质有麻醉作用，长期接触可能中毒
D.喷剂中含有的丁烷，可能会对神经组织造成较大的损伤</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29.某素质类培训机构主要经营三种产品：少儿创意美术课程、少儿书法课程和画材画具。相比于本地其他同类培训机构，该培训机构近三年的利润一直是最高的，这得益于其拥有的专业团队开发的完整课程体系。
以下哪项如果为真，最能支持上述论证？（）
A.拥有专业团队开发的完整课程体系，有利于降低培训机构运营成本
B.由于家长对子女素质教育更加重视，素质类培训市场规模逐年增加
C.完整的课程体系有助于提高素质类教育水平，吸引更多家长的关注
D.与竞争机构相比，该培训机构销售画材画具等周边工具的收益最高</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30.人类的素食主义倾向十分令人担忧。素食中缺乏大脑需要的多种重要营养元素，如维生素B12。维生素B12不存在于植物中，且人体本身不能合成。因此，有研究认为，长期素食者智力会受到影响。
以下哪项如果为真，最能削弱上述观点？（）
A.通过肉食摄入的维生素B12更容易被人体吸收
B.素食可有效预防因高脂饮食而导致的各类疾病
C.素食者可以科学合理地摄入所需的营养补充剂
D.人类的祖先曾长期以果实一类的素食作为食物</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49950"/>
            <a:ext cx="10692000" cy="553974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31.森林调节着自然界的空气和水循环，具有固碳释氧、涵养水源、防风固沙、调节气候、保护生物多样性等多重功能。有专家提出，为保护森林生态系统，应全面禁止商业采伐，因为商业采伐会破坏树木群落结构，导致野生动物栖息地丧失，进而引发生态链断裂。禁止采伐后，森林可自然修复，生态功能将逐步增强。
以下哪项如果为真，最能质疑上述论证？（）
A.森林生态修复需要数十年时间，短期内禁止采伐无法显现生态效益
B.野生动物已逐渐适应人类活动区域，栖息地丧失对其生存影响有限
C.森林适度采伐可促进林木更新，禁止采伐会导致老龄树木病虫害加剧
D.商业采伐中的部分林木是人工种植的速生经济林，并非原生森林植被</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166179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32.在下列5x5方阵中，每格均填入“仁”“义”“礼”“智”“信”5个之一，使得每行、每列均含有“仁”“义”“礼”“智”“信”5个汉字。已知：
则方阵中①②格分别填入的汉字是（）。</a:t>
            </a:r>
            <a:endParaRPr sz="2400" b="0">
              <a:solidFill>
                <a:srgbClr val="333333"/>
              </a:solidFill>
              <a:latin typeface="楷体" panose="02010609060101010101" charset="-122"/>
              <a:cs typeface="楷体" panose="02010609060101010101" charset="-122"/>
            </a:endParaRPr>
          </a:p>
        </p:txBody>
      </p:sp>
      <p:pic>
        <p:nvPicPr>
          <p:cNvPr id="4" name="Picture 3" descr="新建_DOCX_文档_0020_d5b2974225f8.png"/>
          <p:cNvPicPr>
            <a:picLocks noChangeAspect="1"/>
          </p:cNvPicPr>
          <p:nvPr/>
        </p:nvPicPr>
        <p:blipFill>
          <a:blip r:embed="rId1"/>
          <a:stretch>
            <a:fillRect/>
          </a:stretch>
        </p:blipFill>
        <p:spPr>
          <a:xfrm>
            <a:off x="6426200" y="2710180"/>
            <a:ext cx="3306445" cy="3326765"/>
          </a:xfrm>
          <a:prstGeom prst="rect">
            <a:avLst/>
          </a:prstGeom>
        </p:spPr>
      </p:pic>
      <p:sp>
        <p:nvSpPr>
          <p:cNvPr id="5" name="TextBox 4"/>
          <p:cNvSpPr txBox="1"/>
          <p:nvPr/>
        </p:nvSpPr>
        <p:spPr>
          <a:xfrm>
            <a:off x="750000" y="3599802"/>
            <a:ext cx="10692000" cy="2215515"/>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A.信、义
B.信、礼
C.礼、智
D.礼、义</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33.某大学的文学、辩论、摄影、书法四个社团招新，甲、乙、丙、丁四名学生每人只报名一个社团，且每个社团均有一人报名。已知：
（1）甲不报名文学社团，也不报名书法社团；
（2）若丙报名摄影社团，则乙报名辩论社团；
（3）若丁不报名书法社团，则甲报名辩论社团；
（4）丙不报名文学社团。
根据上述信息，以下哪项是可能的？（）
A.乙报名辩论社团
B.丙报名书法社团
C.丙报名摄影社团
D.丁报名辩论社团</a:t>
            </a:r>
            <a:endParaRPr sz="2000" b="0">
              <a:solidFill>
                <a:srgbClr val="333333"/>
              </a:solidFill>
              <a:latin typeface="楷体" panose="02010609060101010101" charset="-122"/>
              <a:cs typeface="楷体" panose="02010609060101010101" charset="-122"/>
            </a:endParaRPr>
          </a:p>
        </p:txBody>
      </p:sp>
      <p:sp>
        <p:nvSpPr>
          <p:cNvPr id="4" name="文本框 3"/>
          <p:cNvSpPr txBox="1"/>
          <p:nvPr/>
        </p:nvSpPr>
        <p:spPr>
          <a:xfrm>
            <a:off x="6757670" y="1550670"/>
            <a:ext cx="5255260" cy="1753235"/>
          </a:xfrm>
          <a:prstGeom prst="rect">
            <a:avLst/>
          </a:prstGeom>
          <a:noFill/>
        </p:spPr>
        <p:txBody>
          <a:bodyPr wrap="square" rtlCol="0" anchor="t">
            <a:spAutoFit/>
          </a:bodyPr>
          <a:p>
            <a:pPr>
              <a:lnSpc>
                <a:spcPct val="150000"/>
              </a:lnSpc>
            </a:pPr>
            <a:r>
              <a:rPr>
                <a:solidFill>
                  <a:srgbClr val="FF0000"/>
                </a:solidFill>
                <a:latin typeface="楷体" panose="02010609060101010101" charset="-122"/>
                <a:sym typeface="+mn-ea"/>
              </a:rPr>
              <a:t>①甲≠文学、书法（甲=辩论/摄影）；</a:t>
            </a:r>
            <a:endParaRPr>
              <a:solidFill>
                <a:srgbClr val="FF0000"/>
              </a:solidFill>
              <a:latin typeface="楷体" panose="02010609060101010101" charset="-122"/>
            </a:endParaRPr>
          </a:p>
          <a:p>
            <a:pPr>
              <a:lnSpc>
                <a:spcPct val="150000"/>
              </a:lnSpc>
            </a:pPr>
            <a:r>
              <a:rPr>
                <a:solidFill>
                  <a:srgbClr val="FF0000"/>
                </a:solidFill>
                <a:latin typeface="楷体" panose="02010609060101010101" charset="-122"/>
                <a:sym typeface="+mn-ea"/>
              </a:rPr>
              <a:t>②丙摄影→乙辩论；</a:t>
            </a:r>
            <a:endParaRPr>
              <a:solidFill>
                <a:srgbClr val="FF0000"/>
              </a:solidFill>
              <a:latin typeface="楷体" panose="02010609060101010101" charset="-122"/>
            </a:endParaRPr>
          </a:p>
          <a:p>
            <a:pPr>
              <a:lnSpc>
                <a:spcPct val="150000"/>
              </a:lnSpc>
            </a:pPr>
            <a:r>
              <a:rPr>
                <a:solidFill>
                  <a:srgbClr val="FF0000"/>
                </a:solidFill>
                <a:latin typeface="楷体" panose="02010609060101010101" charset="-122"/>
                <a:sym typeface="+mn-ea"/>
              </a:rPr>
              <a:t>③-丁书法→甲辩论；</a:t>
            </a:r>
            <a:endParaRPr>
              <a:solidFill>
                <a:srgbClr val="FF0000"/>
              </a:solidFill>
              <a:latin typeface="楷体" panose="02010609060101010101" charset="-122"/>
            </a:endParaRPr>
          </a:p>
          <a:p>
            <a:pPr>
              <a:lnSpc>
                <a:spcPct val="150000"/>
              </a:lnSpc>
            </a:pPr>
            <a:r>
              <a:rPr>
                <a:solidFill>
                  <a:srgbClr val="FF0000"/>
                </a:solidFill>
                <a:latin typeface="楷体" panose="02010609060101010101" charset="-122"/>
                <a:sym typeface="+mn-ea"/>
              </a:rPr>
              <a:t>④丙≠文学；</a:t>
            </a:r>
            <a:endParaRPr lang="zh-CN" altLang="en-US" kern="100" dirty="0">
              <a:solidFill>
                <a:srgbClr val="FF0000"/>
              </a:solidFill>
              <a:effectLst/>
              <a:latin typeface="楷体" panose="02010609060101010101" charset="-122"/>
              <a:cs typeface="江城圆体 400W" panose="020B0500000000000000" pitchFamily="3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92850" y="330875"/>
            <a:ext cx="10692000" cy="5909310"/>
          </a:xfrm>
          <a:prstGeom prst="rect">
            <a:avLst/>
          </a:prstGeom>
          <a:noFill/>
        </p:spPr>
        <p:txBody>
          <a:bodyPr wrap="square" lIns="0" tIns="0" rIns="0" bIns="0">
            <a:spAutoFit/>
          </a:bodyPr>
          <a:lstStyle/>
          <a:p>
            <a:pPr indent="0" fontAlgn="auto">
              <a:lnSpc>
                <a:spcPct val="100000"/>
              </a:lnSpc>
            </a:pPr>
            <a:r>
              <a:rPr sz="1600">
                <a:solidFill>
                  <a:srgbClr val="333333"/>
                </a:solidFill>
                <a:latin typeface="楷体" panose="02010609060101010101" charset="-122"/>
                <a:sym typeface="+mn-ea"/>
              </a:rPr>
              <a:t>《黄帝内经》是我国现存最早的一部医学经典著作，是中医学理论与防治疾病技术的渊源。全书包括《素问》和《灵枢》两部分。《黄帝内经》的成书年代历来争论较多，至今没有定论，目前按时间顺序主要有春秋成书说、战国成书说和西汉成书说三种观点。资料显示，涉及《黄帝内经》的相关信息有：</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（1）黄老思想起源于战国时期的齐国，在汉初盛行。《黄帝内经》深受黄老思想影响。</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（2）《汉书》是东汉著名史学家班固所作，其中《艺文志》是我国现存最早的目录学文献，相当于西汉国家藏书目录。《黄帝内经》在《汉书·艺文志》中已收录。</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（3）形成于战国晚期的《吕氏春秋》中也涉及了部分医学内容的记载，遍查《吕氏春秋》后发现，书中无《黄帝内经》的任何记载。</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4）《黄帝内经》根据四时气候的变化规律来考察人体的生理、病理现象，构建起“脏时一体”理论，即认为五脏系统功能的盛衰，与相应的自然界五行时节交替旺衰同步变化。西汉时期的《淮南子》也提到了关于“脏时相配”的说法。</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5）《黄帝内经》中论及的九种针具，分为一寸六分、三寸半、四寸、七寸四个不同长度。制造这样长度金针所需的金属要求较高，战国时仅有块炼铁和块炼钢，含碳量低，无法制造医用长针，直至西汉时才能铸造成刚柔相济的长针。</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（6）《黄帝内经》中的一些基本学说理论，如“精气学说”，是战国时齐国稷下学宫的学者首先提出的，一些治疗手段如用砭石治病，在战国时使用而在秦汉时已基本淘汰。</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（7）从我国学术思想发展的一般情况分析，春秋时期成书的著作极少。那时的学者多述而不作，或仅有一些零散的作品，编纂成比较完整的书籍，如先秦诸子的著作，大都是战国以至秦汉时代的事。</a:t>
            </a:r>
            <a:endParaRPr sz="1600">
              <a:solidFill>
                <a:srgbClr val="333333"/>
              </a:solidFill>
              <a:latin typeface="楷体" panose="02010609060101010101" charset="-122"/>
            </a:endParaRPr>
          </a:p>
          <a:p>
            <a:pPr indent="0" fontAlgn="auto">
              <a:lnSpc>
                <a:spcPct val="100000"/>
              </a:lnSpc>
            </a:pPr>
            <a:r>
              <a:rPr sz="1600">
                <a:solidFill>
                  <a:srgbClr val="333333"/>
                </a:solidFill>
                <a:latin typeface="楷体" panose="02010609060101010101" charset="-122"/>
                <a:sym typeface="+mn-ea"/>
              </a:rPr>
              <a:t>（8）有学者认为，《黄帝内经》非一时之作，而是春秋至西汉历代医家智慧的结晶。《黄帝内经》中的语言表达既有春秋之风，又有西汉之迹。从版本来看，在不同版本中，《素问》和《灵枢》的篇卷、次序均不同，春秋至西汉不同时代的人名称谓和官衔同存于书中，说明其成书经历了相当长的时间。</a:t>
            </a:r>
            <a:endParaRPr sz="1600">
              <a:solidFill>
                <a:srgbClr val="333333"/>
              </a:solidFill>
              <a:latin typeface="楷体" panose="02010609060101010101" charset="-122"/>
            </a:endParaRPr>
          </a:p>
          <a:p>
            <a:pPr indent="0" algn="l" fontAlgn="auto">
              <a:lnSpc>
                <a:spcPct val="100000"/>
              </a:lnSpc>
              <a:buClrTx/>
              <a:buSzTx/>
              <a:buFontTx/>
            </a:pPr>
            <a:r>
              <a:rPr sz="1600" b="0">
                <a:solidFill>
                  <a:srgbClr val="333333"/>
                </a:solidFill>
                <a:latin typeface="楷体" panose="02010609060101010101" charset="-122"/>
                <a:cs typeface="楷体" panose="02010609060101010101" charset="-122"/>
              </a:rPr>
              <a:t>34.关于《黄帝内经》的成书年代，下列说法正确的是（）。
A.（1）证明了西汉成书说
B.（3）否定了春秋成书说
C.（6）质疑了春秋成书说
D.（7）支持了战国成书说</a:t>
            </a:r>
            <a:endParaRPr sz="1600" b="0">
              <a:solidFill>
                <a:srgbClr val="333333"/>
              </a:solidFill>
              <a:latin typeface="楷体" panose="02010609060101010101" charset="-122"/>
              <a:cs typeface="楷体" panose="02010609060101010101"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64275" y="340400"/>
            <a:ext cx="10692000" cy="5909310"/>
          </a:xfrm>
          <a:prstGeom prst="rect">
            <a:avLst/>
          </a:prstGeom>
          <a:noFill/>
        </p:spPr>
        <p:txBody>
          <a:bodyPr wrap="square" lIns="0" tIns="0" rIns="0" bIns="0">
            <a:spAutoFit/>
          </a:bodyPr>
          <a:lstStyle/>
          <a:p>
            <a:pPr algn="l" fontAlgn="auto">
              <a:lnSpc>
                <a:spcPct val="100000"/>
              </a:lnSpc>
              <a:buClrTx/>
              <a:buSzTx/>
              <a:buNone/>
            </a:pPr>
            <a:r>
              <a:rPr sz="1600">
                <a:solidFill>
                  <a:srgbClr val="333333"/>
                </a:solidFill>
                <a:latin typeface="楷体" panose="02010609060101010101" charset="-122"/>
                <a:sym typeface="+mn-ea"/>
              </a:rPr>
              <a:t>《黄帝内经》是我国现存最早的一部医学经典著作，是中医学理论与防治疾病技术的渊源。全书包括《素问》和《灵枢》两部分。《黄帝内经》的成书年代历来争论较多，至今没有定论，目前按时间顺序主要有春秋成书说、战国成书说和西汉成书说三种观点。资料显示，涉及《黄帝内经》的相关信息有：</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（1）黄老思想起源于战国时期的齐国，在汉初盛行。《黄帝内经》深受黄老思想影响。</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（2）《汉书》是东汉著名史学家班固所作，其中《艺文志》是我国现存最早的目录学文献，相当于西汉国家藏书目录。《黄帝内经》在《汉书·艺文志》中已收录。</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（3）形成于战国晚期的《吕氏春秋》中也涉及了部分医学内容的记载，遍查《吕氏春秋》后发现，书中无《黄帝内经》的任何记载。</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4）《黄帝内经》根据四时气候的变化规律来考察人体的生理、病理现象，构建起“脏时一体”理论，即认为五脏系统功能的盛衰，与相应的自然界五行时节交替旺衰同步变化。西汉时期的《淮南子》也提到了关于“脏时相配”的说法。</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5）《黄帝内经》中论及的九种针具，分为一寸六分、三寸半、四寸、七寸四个不同长度。制造这样长度金针所需的金属要求较高，战国时仅有块炼铁和块炼钢，含碳量低，无法制造医用长针，直至西汉时才能铸造成刚柔相济的长针。</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（6）《黄帝内经》中的一些基本学说理论，如“精气学说”，是战国时齐国稷下学宫的学者首先提出的，一些治疗手段如用砭石治病，在战国时使用而在秦汉时已基本淘汰。</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（7）从我国学术思想发展的一般情况分析，春秋时期成书的著作极少。那时的学者多述而不作，或仅有一些零散的作品，编纂成比较完整的书籍，如先秦诸子的著作，大都是战国以至秦汉时代的事。</a:t>
            </a:r>
            <a:endParaRPr sz="1600">
              <a:solidFill>
                <a:srgbClr val="333333"/>
              </a:solidFill>
              <a:latin typeface="楷体" panose="02010609060101010101" charset="-122"/>
            </a:endParaRPr>
          </a:p>
          <a:p>
            <a:pPr algn="l" fontAlgn="auto">
              <a:lnSpc>
                <a:spcPct val="100000"/>
              </a:lnSpc>
              <a:buClrTx/>
              <a:buSzTx/>
              <a:buNone/>
            </a:pPr>
            <a:r>
              <a:rPr sz="1600">
                <a:solidFill>
                  <a:srgbClr val="333333"/>
                </a:solidFill>
                <a:latin typeface="楷体" panose="02010609060101010101" charset="-122"/>
                <a:sym typeface="+mn-ea"/>
              </a:rPr>
              <a:t>（8）有学者认为，《黄帝内经》非一时之作，而是春秋至西汉历代医家智慧的结晶。《黄帝内经》中的语言表达既有春秋之风，又有西汉之迹。从版本来看，在不同版本中，《素问》和《灵枢》的篇卷、次序均不同，春秋至西汉不同时代的人名称谓和官衔同存于书中，说明其成书经历了相当长的时间。</a:t>
            </a:r>
            <a:endParaRPr sz="1600">
              <a:solidFill>
                <a:srgbClr val="333333"/>
              </a:solidFill>
              <a:latin typeface="楷体" panose="02010609060101010101" charset="-122"/>
            </a:endParaRPr>
          </a:p>
          <a:p>
            <a:pPr algn="l">
              <a:lnSpc>
                <a:spcPct val="100000"/>
              </a:lnSpc>
              <a:buClrTx/>
              <a:buSzTx/>
              <a:buFontTx/>
              <a:buNone/>
            </a:pPr>
            <a:r>
              <a:rPr sz="1600" b="0">
                <a:solidFill>
                  <a:srgbClr val="333333"/>
                </a:solidFill>
                <a:latin typeface="楷体" panose="02010609060101010101" charset="-122"/>
              </a:rPr>
              <a:t>35.下列选项说法正确的是（）。
A.（2）不支持上述三种学说中的任何一种，而是提出了一种新的观点
B.（4）引用《淮南子》能够为《黄帝内经》的成书年代提供有力佐证
C.（5）仅反对一种学说并支持另一种学说，同时也给出了相应的理由
D.（8）中的学者提出了新的观点，并列举三个论据来支持自己的观点</a:t>
            </a:r>
            <a:endParaRPr sz="1600" b="0">
              <a:solidFill>
                <a:srgbClr val="333333"/>
              </a:solidFill>
              <a:latin typeface="楷体" panose="02010609060101010101"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2026</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C</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1</a:t>
            </a:r>
            <a:r>
              <a:rPr sz="2000" b="0">
                <a:solidFill>
                  <a:srgbClr val="333333"/>
                </a:solidFill>
                <a:latin typeface="楷体" panose="02010609060101010101" charset="-122"/>
                <a:cs typeface="楷体" panose="02010609060101010101" charset="-122"/>
              </a:rPr>
              <a:t>.把下面的六个图形分为两类，使每一类图形都有各自的共同特征或规律，分类正确的一项是（）。</a:t>
            </a:r>
            <a:endParaRPr sz="2000" b="0">
              <a:solidFill>
                <a:srgbClr val="333333"/>
              </a:solidFill>
              <a:latin typeface="楷体" panose="02010609060101010101" charset="-122"/>
              <a:cs typeface="楷体" panose="02010609060101010101" charset="-122"/>
            </a:endParaRPr>
          </a:p>
        </p:txBody>
      </p:sp>
      <p:pic>
        <p:nvPicPr>
          <p:cNvPr id="4" name="Picture 3" descr="新建_DOCX_文档_0023_5e8f659e16f2.png"/>
          <p:cNvPicPr>
            <a:picLocks noChangeAspect="1"/>
          </p:cNvPicPr>
          <p:nvPr/>
        </p:nvPicPr>
        <p:blipFill>
          <a:blip r:embed="rId1"/>
          <a:stretch>
            <a:fillRect/>
          </a:stretch>
        </p:blipFill>
        <p:spPr>
          <a:xfrm>
            <a:off x="525705" y="1788818"/>
            <a:ext cx="10992000" cy="2496754"/>
          </a:xfrm>
          <a:prstGeom prst="rect">
            <a:avLst/>
          </a:prstGeom>
        </p:spPr>
      </p:pic>
      <p:sp>
        <p:nvSpPr>
          <p:cNvPr id="5" name="TextBox 4"/>
          <p:cNvSpPr txBox="1"/>
          <p:nvPr/>
        </p:nvSpPr>
        <p:spPr>
          <a:xfrm>
            <a:off x="675705" y="4285712"/>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楷体" panose="02010609060101010101" charset="-122"/>
                <a:cs typeface="楷体" panose="02010609060101010101" charset="-122"/>
              </a:rPr>
              <a:t>A.①②⑥,③④⑤
B.①③④,②⑤⑥
C.①④⑥,②③⑤
D.①⑤⑥,②③④</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2</a:t>
            </a:r>
            <a:r>
              <a:rPr sz="2000" b="0">
                <a:solidFill>
                  <a:srgbClr val="333333"/>
                </a:solidFill>
                <a:latin typeface="楷体" panose="02010609060101010101" charset="-122"/>
                <a:cs typeface="楷体" panose="02010609060101010101" charset="-122"/>
              </a:rPr>
              <a:t>.</a:t>
            </a:r>
            <a:r>
              <a:rPr lang="zh-CN" sz="2000" b="0">
                <a:solidFill>
                  <a:srgbClr val="333333"/>
                </a:solidFill>
                <a:latin typeface="楷体" panose="02010609060101010101" charset="-122"/>
                <a:cs typeface="楷体" panose="02010609060101010101" charset="-122"/>
              </a:rPr>
              <a:t>下</a:t>
            </a:r>
            <a:r>
              <a:rPr sz="2000" b="0">
                <a:solidFill>
                  <a:srgbClr val="333333"/>
                </a:solidFill>
                <a:latin typeface="楷体" panose="02010609060101010101" charset="-122"/>
                <a:cs typeface="楷体" panose="02010609060101010101" charset="-122"/>
              </a:rPr>
              <a:t>边四个图形中，哪一项是由</a:t>
            </a:r>
            <a:r>
              <a:rPr lang="zh-CN" sz="2000" b="0">
                <a:solidFill>
                  <a:srgbClr val="333333"/>
                </a:solidFill>
                <a:latin typeface="楷体" panose="02010609060101010101" charset="-122"/>
                <a:cs typeface="楷体" panose="02010609060101010101" charset="-122"/>
              </a:rPr>
              <a:t>上</a:t>
            </a:r>
            <a:r>
              <a:rPr sz="2000" b="0">
                <a:solidFill>
                  <a:srgbClr val="333333"/>
                </a:solidFill>
                <a:latin typeface="楷体" panose="02010609060101010101" charset="-122"/>
                <a:cs typeface="楷体" panose="02010609060101010101" charset="-122"/>
              </a:rPr>
              <a:t>边的四个图形拼合（只能通过上、下、左、右平移，不能旋转或翻转）而成的？（）</a:t>
            </a:r>
            <a:endParaRPr sz="2000" b="0">
              <a:solidFill>
                <a:srgbClr val="333333"/>
              </a:solidFill>
              <a:latin typeface="楷体" panose="02010609060101010101" charset="-122"/>
              <a:cs typeface="楷体" panose="02010609060101010101" charset="-122"/>
            </a:endParaRPr>
          </a:p>
        </p:txBody>
      </p:sp>
      <p:pic>
        <p:nvPicPr>
          <p:cNvPr id="4" name="Picture 3" descr="新建_DOCX_文档_0024_8239921824f3.png"/>
          <p:cNvPicPr>
            <a:picLocks noChangeAspect="1"/>
          </p:cNvPicPr>
          <p:nvPr/>
        </p:nvPicPr>
        <p:blipFill>
          <a:blip r:embed="rId1"/>
          <a:stretch>
            <a:fillRect/>
          </a:stretch>
        </p:blipFill>
        <p:spPr>
          <a:xfrm>
            <a:off x="492125" y="2035175"/>
            <a:ext cx="5603875" cy="3426460"/>
          </a:xfrm>
          <a:prstGeom prst="rect">
            <a:avLst/>
          </a:prstGeom>
        </p:spPr>
      </p:pic>
      <p:pic>
        <p:nvPicPr>
          <p:cNvPr id="787" name="图片 1183"/>
          <p:cNvPicPr>
            <a:picLocks noChangeAspect="1"/>
          </p:cNvPicPr>
          <p:nvPr/>
        </p:nvPicPr>
        <p:blipFill>
          <a:blip r:embed="rId2"/>
          <a:stretch>
            <a:fillRect/>
          </a:stretch>
        </p:blipFill>
        <p:spPr>
          <a:xfrm>
            <a:off x="6372225" y="4119245"/>
            <a:ext cx="5709920" cy="1278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3</a:t>
            </a:r>
            <a:r>
              <a:rPr sz="2000" b="0">
                <a:solidFill>
                  <a:srgbClr val="333333"/>
                </a:solidFill>
                <a:latin typeface="楷体" panose="02010609060101010101" charset="-122"/>
                <a:cs typeface="楷体" panose="02010609060101010101" charset="-122"/>
              </a:rPr>
              <a:t>.左边是正方体被截去一部分的立体图形，将其从任一面剖开，以下哪项不可能是该立体图形的截面？（）</a:t>
            </a:r>
            <a:endParaRPr sz="2000" b="0">
              <a:solidFill>
                <a:srgbClr val="333333"/>
              </a:solidFill>
              <a:latin typeface="楷体" panose="02010609060101010101" charset="-122"/>
              <a:cs typeface="楷体" panose="02010609060101010101" charset="-122"/>
            </a:endParaRPr>
          </a:p>
        </p:txBody>
      </p:sp>
      <p:pic>
        <p:nvPicPr>
          <p:cNvPr id="4" name="Picture 3" descr="新建_DOCX_文档_0026_0ed652ce2739.png"/>
          <p:cNvPicPr>
            <a:picLocks noChangeAspect="1"/>
          </p:cNvPicPr>
          <p:nvPr/>
        </p:nvPicPr>
        <p:blipFill>
          <a:blip r:embed="rId1"/>
          <a:stretch>
            <a:fillRect/>
          </a:stretch>
        </p:blipFill>
        <p:spPr>
          <a:xfrm>
            <a:off x="1209675" y="1873250"/>
            <a:ext cx="8839835" cy="2541270"/>
          </a:xfrm>
          <a:prstGeom prst="rect">
            <a:avLst/>
          </a:prstGeom>
        </p:spPr>
      </p:pic>
      <p:pic>
        <p:nvPicPr>
          <p:cNvPr id="789" name="图片 1185"/>
          <p:cNvPicPr>
            <a:picLocks noChangeAspect="1"/>
          </p:cNvPicPr>
          <p:nvPr/>
        </p:nvPicPr>
        <p:blipFill>
          <a:blip r:embed="rId2"/>
          <a:stretch>
            <a:fillRect/>
          </a:stretch>
        </p:blipFill>
        <p:spPr>
          <a:xfrm>
            <a:off x="4333240" y="4414520"/>
            <a:ext cx="5550535" cy="16821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00140" y="95000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4</a:t>
            </a:r>
            <a:r>
              <a:rPr sz="2000" b="0">
                <a:solidFill>
                  <a:srgbClr val="333333"/>
                </a:solidFill>
                <a:latin typeface="楷体" panose="02010609060101010101" charset="-122"/>
                <a:cs typeface="楷体" panose="02010609060101010101" charset="-122"/>
              </a:rPr>
              <a:t>.右边四个图形中，哪一项可以与左边图形组合成3×3×3的实心正方体？（）</a:t>
            </a:r>
            <a:endParaRPr sz="2000" b="0">
              <a:solidFill>
                <a:srgbClr val="333333"/>
              </a:solidFill>
              <a:latin typeface="楷体" panose="02010609060101010101" charset="-122"/>
              <a:cs typeface="楷体" panose="02010609060101010101" charset="-122"/>
            </a:endParaRPr>
          </a:p>
        </p:txBody>
      </p:sp>
      <p:pic>
        <p:nvPicPr>
          <p:cNvPr id="4" name="Picture 3" descr="新建_DOCX_文档_0028_976b22ed8064.png"/>
          <p:cNvPicPr>
            <a:picLocks noChangeAspect="1"/>
          </p:cNvPicPr>
          <p:nvPr/>
        </p:nvPicPr>
        <p:blipFill>
          <a:blip r:embed="rId1"/>
          <a:stretch>
            <a:fillRect/>
          </a:stretch>
        </p:blipFill>
        <p:spPr>
          <a:xfrm>
            <a:off x="600000" y="1542438"/>
            <a:ext cx="10992000" cy="281081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5</a:t>
            </a:r>
            <a:r>
              <a:rPr sz="2000" b="0">
                <a:solidFill>
                  <a:srgbClr val="333333"/>
                </a:solidFill>
                <a:latin typeface="楷体" panose="02010609060101010101" charset="-122"/>
                <a:cs typeface="楷体" panose="02010609060101010101" charset="-122"/>
              </a:rPr>
              <a:t>.具身认知理论认为生理体验与心理状态之间有着强烈的联系，生理体验“激活”心理感觉，反之亦然。身体在认知过程中发挥着关键作用，认知是通过身体的体验及其活动方式而形成的。
根据上述定义，下列不符合具身认知理论的是（）。
A.身体的解剖学结构、身体的构造、身体的感觉，决定了人们怎样认知和看待世界，塑造了人们的认知
B.认知过程是基于人们先天或后天获得的理性规则，以形式化的方式对大脑接收到的信息进行的处理和操作
C.思维和认知在很大程度上依赖和发端于身体的神经结构、感官和运动体验等，这些决定着人们的思维风格
D.认知过程进行的方式和步骤是由身体的物理属性所决定的，认知的内容也是身体提供的，而身体又是嵌入环境的</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6</a:t>
            </a:r>
            <a:r>
              <a:rPr sz="2000" b="0">
                <a:solidFill>
                  <a:srgbClr val="333333"/>
                </a:solidFill>
                <a:latin typeface="楷体" panose="02010609060101010101" charset="-122"/>
                <a:cs typeface="楷体" panose="02010609060101010101" charset="-122"/>
              </a:rPr>
              <a:t>.双条件等价合取式指的是将“P当且仅当Q”型命题拆解为“若P则Q，且若Q则P”的复合命题形式，逻辑值恒等于原命题。其核心在于双向蕴涵的并列表达。
根据上述定义，下列属于双条件等价合取式的是（）。
A.“车辆超速当且仅当超速10%以上”拆解为：①若超速则超速≥10%；②若速度≥110%限速则算超速
B.“三角形等边当且仅当三角形等角”拆解为：①若三角形等边则三角形等角；②若三角形等角则三角形等边
C.“水温在50℃-80℃，水不会沸腾”拆解为：①若水温在50℃~80℃时则水不会沸腾；②若水没有沸腾，则水温在50℃~80℃
D.“行政许可是指行政机关根据申请，经依法审查，准予其从事特定活动的行为”拆解为：①若准予其从事特定活动则是行政许可；②若属行政许可则经依法审查</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7</a:t>
            </a:r>
            <a:r>
              <a:rPr sz="2000" b="0">
                <a:solidFill>
                  <a:srgbClr val="333333"/>
                </a:solidFill>
                <a:latin typeface="楷体" panose="02010609060101010101" charset="-122"/>
                <a:cs typeface="楷体" panose="02010609060101010101" charset="-122"/>
              </a:rPr>
              <a:t>.辐射改性的内容主要包括辐射接枝、辐射交联、辐射降解。辐射接枝指利用射线或射线引发的等离子体，将一种单体或聚合物接枝到另一种聚合物上，从而形成具有特定性能的接枝共聚物的过程。辐射交联指在辐射作用下，聚合物分子链之间形成化学键或物理交联，从而形成三维网状结构的过程。辐射降解指在辐射作用下，聚合物分子链发生断裂，导致分子量降低、性能改变或材料降解的过程。
根据上述定义，下列属于辐射降解的是（）。
A.用射线照射天然橡胶，使其分子链交联形成弹性体
B.通过紫外线辐射，使环氧树脂固化形成三维网状结构
C.将丙烯酸单体接枝到聚乙烯主链上，制备吸水性材料
D.用电子束辐照聚四氟乙烯，使其分解为低分子量碎片</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lang="en-US" sz="2400" b="0">
                <a:solidFill>
                  <a:srgbClr val="333333"/>
                </a:solidFill>
                <a:latin typeface="楷体" panose="02010609060101010101" charset="-122"/>
                <a:cs typeface="楷体" panose="02010609060101010101" charset="-122"/>
              </a:rPr>
              <a:t>8</a:t>
            </a:r>
            <a:r>
              <a:rPr sz="2400" b="0">
                <a:solidFill>
                  <a:srgbClr val="333333"/>
                </a:solidFill>
                <a:latin typeface="楷体" panose="02010609060101010101" charset="-122"/>
                <a:cs typeface="楷体" panose="02010609060101010101" charset="-122"/>
              </a:rPr>
              <a:t>.化学实验：定量实验
A.大型企业：微型企业
B.超声造影：X线造影
C.自然景观：建筑景观
D.圆顶帐篷：沙滩帐篷</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lang="en-US" sz="2400" b="0">
                <a:solidFill>
                  <a:srgbClr val="333333"/>
                </a:solidFill>
                <a:latin typeface="楷体" panose="02010609060101010101" charset="-122"/>
                <a:cs typeface="楷体" panose="02010609060101010101" charset="-122"/>
              </a:rPr>
              <a:t>9</a:t>
            </a:r>
            <a:r>
              <a:rPr sz="2400" b="0">
                <a:solidFill>
                  <a:srgbClr val="333333"/>
                </a:solidFill>
                <a:latin typeface="楷体" panose="02010609060101010101" charset="-122"/>
                <a:cs typeface="楷体" panose="02010609060101010101" charset="-122"/>
              </a:rPr>
              <a:t>.光速：声速：速度
A.肝经：胆经：经脉
B.货币：外币：本币
C.深度：距离：海拔
D.民意：民生：民心</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lang="en-US" sz="2400" b="0">
                <a:solidFill>
                  <a:srgbClr val="333333"/>
                </a:solidFill>
                <a:latin typeface="楷体" panose="02010609060101010101" charset="-122"/>
                <a:cs typeface="楷体" panose="02010609060101010101" charset="-122"/>
              </a:rPr>
              <a:t>10</a:t>
            </a:r>
            <a:r>
              <a:rPr sz="2400" b="0">
                <a:solidFill>
                  <a:srgbClr val="333333"/>
                </a:solidFill>
                <a:latin typeface="楷体" panose="02010609060101010101" charset="-122"/>
                <a:cs typeface="楷体" panose="02010609060101010101" charset="-122"/>
              </a:rPr>
              <a:t>.溶洞：钟乳石：地下水侵蚀
A.沙漠：沙丘：风力搬运
B.海岸：岛礁：潮汐作用
C.高原：草甸：光合作用
D.冰川：积雪：极地寒潮</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a:t>
            </a:r>
            <a:r>
              <a:rPr lang="en-US" sz="2400" b="0">
                <a:solidFill>
                  <a:srgbClr val="333333"/>
                </a:solidFill>
                <a:latin typeface="楷体" panose="02010609060101010101" charset="-122"/>
                <a:cs typeface="楷体" panose="02010609060101010101" charset="-122"/>
              </a:rPr>
              <a:t>1</a:t>
            </a:r>
            <a:r>
              <a:rPr sz="2400" b="0">
                <a:solidFill>
                  <a:srgbClr val="333333"/>
                </a:solidFill>
                <a:latin typeface="楷体" panose="02010609060101010101" charset="-122"/>
                <a:cs typeface="楷体" panose="02010609060101010101" charset="-122"/>
              </a:rPr>
              <a:t>.实际距离：图上距离：比例尺
A.复数：实数：虚数
B.风速：风压：风力等级
C.航程：航速：飞行时间
D.总资产：总负债：资产负债率</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楷体" panose="02010609060101010101" charset="-122"/>
                <a:cs typeface="楷体" panose="02010609060101010101" charset="-122"/>
              </a:rPr>
              <a:t>1</a:t>
            </a:r>
            <a:r>
              <a:rPr lang="en-US" sz="2400" b="0">
                <a:solidFill>
                  <a:srgbClr val="333333"/>
                </a:solidFill>
                <a:latin typeface="楷体" panose="02010609060101010101" charset="-122"/>
                <a:cs typeface="楷体" panose="02010609060101010101" charset="-122"/>
              </a:rPr>
              <a:t>2</a:t>
            </a:r>
            <a:r>
              <a:rPr sz="2400" b="0">
                <a:solidFill>
                  <a:srgbClr val="333333"/>
                </a:solidFill>
                <a:latin typeface="楷体" panose="02010609060101010101" charset="-122"/>
                <a:cs typeface="楷体" panose="02010609060101010101" charset="-122"/>
              </a:rPr>
              <a:t>.彷徨对于（）相当于（）对于偏袒
A.笃定；包庇
B.果断；公正
C.失措；打压
D.徘徊；诋毁</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323590"/>
          </a:xfrm>
          <a:prstGeom prst="rect">
            <a:avLst/>
          </a:prstGeom>
          <a:noFill/>
        </p:spPr>
        <p:txBody>
          <a:bodyPr wrap="square" lIns="0" tIns="0" rIns="0" bIns="0">
            <a:spAutoFit/>
          </a:bodyPr>
          <a:lstStyle/>
          <a:p>
            <a:pPr algn="l">
              <a:lnSpc>
                <a:spcPct val="150000"/>
              </a:lnSpc>
              <a:buClrTx/>
              <a:buSzTx/>
              <a:buFontTx/>
            </a:pPr>
            <a:r>
              <a:rPr lang="en-US" sz="2400" b="0">
                <a:solidFill>
                  <a:srgbClr val="333333"/>
                </a:solidFill>
                <a:latin typeface="楷体" panose="02010609060101010101" charset="-122"/>
                <a:cs typeface="楷体" panose="02010609060101010101" charset="-122"/>
              </a:rPr>
              <a:t>13</a:t>
            </a:r>
            <a:r>
              <a:rPr sz="2400" b="0">
                <a:solidFill>
                  <a:srgbClr val="333333"/>
                </a:solidFill>
                <a:latin typeface="楷体" panose="02010609060101010101" charset="-122"/>
                <a:cs typeface="楷体" panose="02010609060101010101" charset="-122"/>
              </a:rPr>
              <a:t>.（）对于血管相当于（）对于路面
A.细胞；泥土
B.血液；沥青
C.止血钳；压路机
D.护士长；清洁工</a:t>
            </a:r>
            <a:endParaRPr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14</a:t>
            </a:r>
            <a:r>
              <a:rPr sz="2000" b="0">
                <a:solidFill>
                  <a:srgbClr val="333333"/>
                </a:solidFill>
                <a:latin typeface="楷体" panose="02010609060101010101" charset="-122"/>
                <a:cs typeface="楷体" panose="02010609060101010101" charset="-122"/>
              </a:rPr>
              <a:t>.小区院子里种植着很多树，新入住的老杨发现该小区：
（1）常绿树都是不结果的；
（2）春天开花的树都结果；
（3）花坛中的树都是名贵树种。
老杨由此推测：名贵树种都不结果。
以下哪项如果为真，最能质疑老杨的推测？（）
A.花坛中的树都春天开花
B.有些名贵树种是常绿树
C.有些常绿树种植在花坛中
D.有些结果的树不是名贵树种</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15</a:t>
            </a:r>
            <a:r>
              <a:rPr sz="2000" b="0">
                <a:solidFill>
                  <a:srgbClr val="333333"/>
                </a:solidFill>
                <a:latin typeface="楷体" panose="02010609060101010101" charset="-122"/>
                <a:cs typeface="楷体" panose="02010609060101010101" charset="-122"/>
              </a:rPr>
              <a:t>.古代战争中，骑兵比步兵的行军速度要快。刘某是古代某军队中行军速度最快的人，所以刘某一定是骑兵。以下哪项论证中存在的错误与上述论证最为类似？（）
A.灵长类动物通常智商较高，长臂猿属于灵长类动物，M是一只长臂猿，所以M的智商高
B.书店里推理小说比工具书销量高，K小说是某书店里销量最高的，所以K小说是推理小说
C.采用合理的方法分析数据，一般都能得到较为可靠的研究结论，所以杜教授较为可靠的研究结论来自他采用合理的方法分析数据
D.对员工来说，个性化的管理方式比标准化的管理方式更有效，周总对自己的员工管理得非常好，所以周总一定采用了个性化的管理方式</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lang="en-US" sz="2000" b="0">
                <a:solidFill>
                  <a:srgbClr val="333333"/>
                </a:solidFill>
                <a:latin typeface="楷体" panose="02010609060101010101" charset="-122"/>
                <a:cs typeface="楷体" panose="02010609060101010101" charset="-122"/>
              </a:rPr>
              <a:t>16</a:t>
            </a:r>
            <a:r>
              <a:rPr sz="2000" b="0">
                <a:solidFill>
                  <a:srgbClr val="333333"/>
                </a:solidFill>
                <a:latin typeface="楷体" panose="02010609060101010101" charset="-122"/>
                <a:cs typeface="楷体" panose="02010609060101010101" charset="-122"/>
              </a:rPr>
              <a:t>.人工智能在进行运算和学习时，需要大型计算机设施来保障其强大的计算能力。由于大规模计算会使核心计算部件产生大量的热量，通常需要消耗大量的淡水资源进行冷却降温，会间接导致水资源损失，而C国却将其数据中心建立在水资源缺乏、地域广阔的W地区。
以下哪项如果为真，最能解释C国对数据中心选址的考虑？（）
A.W地区人口稀少，水资源利用规模不大
B.W地区地域广阔，便于大规模进行基础设施建设
C.W地区虽然水资源缺乏，但基本能满足当地居民的用水需要
D.W地区气温常年偏低，可充分利用自然冷却技术实现降温效果</a:t>
            </a:r>
            <a:endParaRPr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65785" y="458470"/>
            <a:ext cx="11183620" cy="5930900"/>
          </a:xfrm>
          <a:prstGeom prst="rect">
            <a:avLst/>
          </a:prstGeom>
          <a:noFill/>
        </p:spPr>
        <p:txBody>
          <a:bodyPr wrap="square" lIns="0" tIns="0" rIns="0" bIns="0">
            <a:noAutofit/>
          </a:bodyPr>
          <a:lstStyle/>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阿尔茨海默病（AD）可导致患病人群出现进行性的认知功能障碍和行为损害。由于该病具有生物标志物，因此可通过血液、脑脊液等检测方法进行早筛。关于是否需要对AD无症状人群进行早筛，网友发表了不同观点：</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（1）早筛可发现处于疾病早期阶段的人群，这有助于医生采取干预措施，延缓病程发展。</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（2）对于无症状的个体，若告知其患有该病可能会引发误解和不必要的痛苦，他们会担心自己的未来，而实际上他们可能永远不会出现认知衰退的症状。</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（3）β-淀粉样蛋白和Tau蛋白是该病特定的生物标志物，检测这些标志物可以提供客观、准确的诊断依据，不受患者主观症状的影响。</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（4）目前除了临床试验，不存在针对生物标志物阳性但无症状者的有效药物，这意味着AD的无症状个体面临缺乏治疗选择的困境。</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（5）根据疾病诊断标准，会有大量无症状但生物标志物阳性的个体被纳入临床试验，从而加速针对这些个体治疗方法的开发。</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zh-CN" altLang="en-US" sz="1600" b="0">
                <a:solidFill>
                  <a:srgbClr val="333333"/>
                </a:solidFill>
                <a:latin typeface="楷体" panose="02010609060101010101" charset="-122"/>
                <a:cs typeface="楷体" panose="02010609060101010101" charset="-122"/>
              </a:rPr>
              <a:t>（6）在许多疾病的早期诊断中，都出现过为了推广新药或新检测方法，药企或医疗机构过度诊断或误导患者的现象。因此在AD早期诊断中，也会出现这种情况，进而增加医疗风险。</a:t>
            </a:r>
            <a:endParaRPr lang="zh-CN" altLang="en-US" sz="1600" b="0">
              <a:solidFill>
                <a:srgbClr val="333333"/>
              </a:solidFill>
              <a:latin typeface="楷体" panose="02010609060101010101" charset="-122"/>
              <a:cs typeface="楷体" panose="02010609060101010101" charset="-122"/>
            </a:endParaRPr>
          </a:p>
          <a:p>
            <a:pPr algn="l">
              <a:lnSpc>
                <a:spcPct val="130000"/>
              </a:lnSpc>
              <a:buClrTx/>
              <a:buSzTx/>
              <a:buNone/>
            </a:pPr>
            <a:r>
              <a:rPr lang="en-US" altLang="zh-CN" sz="1600" b="0">
                <a:solidFill>
                  <a:srgbClr val="333333"/>
                </a:solidFill>
                <a:latin typeface="楷体" panose="02010609060101010101" charset="-122"/>
                <a:cs typeface="楷体" panose="02010609060101010101" charset="-122"/>
              </a:rPr>
              <a:t>17</a:t>
            </a:r>
            <a:r>
              <a:rPr lang="zh-CN" altLang="en-US" sz="1600" b="0">
                <a:solidFill>
                  <a:srgbClr val="333333"/>
                </a:solidFill>
                <a:latin typeface="楷体" panose="02010609060101010101" charset="-122"/>
                <a:cs typeface="楷体" panose="02010609060101010101" charset="-122"/>
              </a:rPr>
              <a:t>.针对上述讨论中明确反对AD早筛的观点有（）。
A.(2)(6)
B.(3)(4)
C.(2)(4)(5)
D.(4)(5)(6)</a:t>
            </a:r>
            <a:endParaRPr lang="zh-CN" altLang="en-US" sz="1600" b="0">
              <a:solidFill>
                <a:srgbClr val="333333"/>
              </a:solidFill>
              <a:latin typeface="楷体" panose="02010609060101010101" charset="-122"/>
              <a:cs typeface="楷体" panose="02010609060101010101"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41020" y="533400"/>
            <a:ext cx="11172190" cy="5439410"/>
          </a:xfrm>
          <a:prstGeom prst="rect">
            <a:avLst/>
          </a:prstGeom>
          <a:noFill/>
        </p:spPr>
        <p:txBody>
          <a:bodyPr wrap="square" lIns="0" tIns="0" rIns="0" bIns="0">
            <a:spAutoFit/>
          </a:bodyPr>
          <a:lstStyle/>
          <a:p>
            <a:pPr indent="0" algn="l" fontAlgn="auto">
              <a:lnSpc>
                <a:spcPct val="130000"/>
              </a:lnSpc>
            </a:pPr>
            <a:r>
              <a:rPr lang="zh-CN" altLang="en-US" sz="1600" b="0">
                <a:solidFill>
                  <a:srgbClr val="333333"/>
                </a:solidFill>
                <a:latin typeface="楷体" panose="02010609060101010101" charset="-122"/>
                <a:cs typeface="楷体" panose="02010609060101010101" charset="-122"/>
              </a:rPr>
              <a:t>阿尔茨海默病（</a:t>
            </a:r>
            <a:r>
              <a:rPr lang="en-US" altLang="zh-CN" sz="1600" b="0">
                <a:solidFill>
                  <a:srgbClr val="333333"/>
                </a:solidFill>
                <a:latin typeface="楷体" panose="02010609060101010101" charset="-122"/>
                <a:cs typeface="楷体" panose="02010609060101010101" charset="-122"/>
              </a:rPr>
              <a:t>AD）</a:t>
            </a:r>
            <a:r>
              <a:rPr lang="zh-CN" altLang="en-US" sz="1600" b="0">
                <a:solidFill>
                  <a:srgbClr val="333333"/>
                </a:solidFill>
                <a:latin typeface="楷体" panose="02010609060101010101" charset="-122"/>
                <a:cs typeface="楷体" panose="02010609060101010101" charset="-122"/>
              </a:rPr>
              <a:t>可导致患病人群出现进行性的认知功能障碍和行为损害。由于该病具有生物标志物，因此可通过血液、脑脊液等检测方法进行早筛。关于是否需要对</a:t>
            </a:r>
            <a:r>
              <a:rPr lang="en-US" altLang="zh-CN" sz="1600" b="0">
                <a:solidFill>
                  <a:srgbClr val="333333"/>
                </a:solidFill>
                <a:latin typeface="楷体" panose="02010609060101010101" charset="-122"/>
                <a:cs typeface="楷体" panose="02010609060101010101" charset="-122"/>
              </a:rPr>
              <a:t>AD</a:t>
            </a:r>
            <a:r>
              <a:rPr lang="zh-CN" altLang="en-US" sz="1600" b="0">
                <a:solidFill>
                  <a:srgbClr val="333333"/>
                </a:solidFill>
                <a:latin typeface="楷体" panose="02010609060101010101" charset="-122"/>
                <a:cs typeface="楷体" panose="02010609060101010101" charset="-122"/>
              </a:rPr>
              <a:t>无症状人群进行早筛，网友发表了不同观点：</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zh-CN" altLang="en-US" sz="1600" b="0">
                <a:solidFill>
                  <a:srgbClr val="333333"/>
                </a:solidFill>
                <a:latin typeface="楷体" panose="02010609060101010101" charset="-122"/>
                <a:cs typeface="楷体" panose="02010609060101010101" charset="-122"/>
              </a:rPr>
              <a:t>（1）早筛可发现处于疾病早期阶段的人群，这有助于医生采取干预措施，延缓病程发展。</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zh-CN" altLang="en-US" sz="1600" b="0">
                <a:solidFill>
                  <a:srgbClr val="333333"/>
                </a:solidFill>
                <a:latin typeface="楷体" panose="02010609060101010101" charset="-122"/>
                <a:cs typeface="楷体" panose="02010609060101010101" charset="-122"/>
              </a:rPr>
              <a:t>（2）对于无症状的个体，若告知其患有该病可能会引发误解和不必要的痛苦，他们会担心自己的未来，而实际上他们可能永远不会出现认知衰退的症状。</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en-US" altLang="zh-CN" sz="1600" b="0">
                <a:solidFill>
                  <a:srgbClr val="333333"/>
                </a:solidFill>
                <a:latin typeface="楷体" panose="02010609060101010101" charset="-122"/>
                <a:cs typeface="楷体" panose="02010609060101010101" charset="-122"/>
              </a:rPr>
              <a:t>（3）β-</a:t>
            </a:r>
            <a:r>
              <a:rPr lang="zh-CN" altLang="en-US" sz="1600" b="0">
                <a:solidFill>
                  <a:srgbClr val="333333"/>
                </a:solidFill>
                <a:latin typeface="楷体" panose="02010609060101010101" charset="-122"/>
                <a:cs typeface="楷体" panose="02010609060101010101" charset="-122"/>
              </a:rPr>
              <a:t>淀粉样蛋白和</a:t>
            </a:r>
            <a:r>
              <a:rPr lang="en-US" altLang="zh-CN" sz="1600" b="0">
                <a:solidFill>
                  <a:srgbClr val="333333"/>
                </a:solidFill>
                <a:latin typeface="楷体" panose="02010609060101010101" charset="-122"/>
                <a:cs typeface="楷体" panose="02010609060101010101" charset="-122"/>
              </a:rPr>
              <a:t>Tau</a:t>
            </a:r>
            <a:r>
              <a:rPr lang="zh-CN" altLang="en-US" sz="1600" b="0">
                <a:solidFill>
                  <a:srgbClr val="333333"/>
                </a:solidFill>
                <a:latin typeface="楷体" panose="02010609060101010101" charset="-122"/>
                <a:cs typeface="楷体" panose="02010609060101010101" charset="-122"/>
              </a:rPr>
              <a:t>蛋白是该病特定的生物标志物，检测这些标志物可以提供客观、准确的诊断依据，不受患者主观症状的影响。</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zh-CN" altLang="en-US" sz="1600" b="0">
                <a:solidFill>
                  <a:srgbClr val="333333"/>
                </a:solidFill>
                <a:latin typeface="楷体" panose="02010609060101010101" charset="-122"/>
                <a:cs typeface="楷体" panose="02010609060101010101" charset="-122"/>
              </a:rPr>
              <a:t>（4）目前除了临床试验，不存在针对生物标志物阳性但无症状者的有效药物，这意味着</a:t>
            </a:r>
            <a:r>
              <a:rPr lang="en-US" altLang="zh-CN" sz="1600" b="0">
                <a:solidFill>
                  <a:srgbClr val="333333"/>
                </a:solidFill>
                <a:latin typeface="楷体" panose="02010609060101010101" charset="-122"/>
                <a:cs typeface="楷体" panose="02010609060101010101" charset="-122"/>
              </a:rPr>
              <a:t>AD</a:t>
            </a:r>
            <a:r>
              <a:rPr lang="zh-CN" altLang="en-US" sz="1600" b="0">
                <a:solidFill>
                  <a:srgbClr val="333333"/>
                </a:solidFill>
                <a:latin typeface="楷体" panose="02010609060101010101" charset="-122"/>
                <a:cs typeface="楷体" panose="02010609060101010101" charset="-122"/>
              </a:rPr>
              <a:t>的无症状个体面临缺乏治疗选择的困境。</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zh-CN" altLang="en-US" sz="1600" b="0">
                <a:solidFill>
                  <a:srgbClr val="333333"/>
                </a:solidFill>
                <a:latin typeface="楷体" panose="02010609060101010101" charset="-122"/>
                <a:cs typeface="楷体" panose="02010609060101010101" charset="-122"/>
              </a:rPr>
              <a:t>（5）根据疾病诊断标准，会有大量无症状但生物标志物阳性的个体被纳入临床试验，从而加速针对这些个体治疗方法的开发。</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zh-CN" altLang="en-US" sz="1600" b="0">
                <a:solidFill>
                  <a:srgbClr val="333333"/>
                </a:solidFill>
                <a:latin typeface="楷体" panose="02010609060101010101" charset="-122"/>
                <a:cs typeface="楷体" panose="02010609060101010101" charset="-122"/>
              </a:rPr>
              <a:t>（6）在许多疾病的早期诊断中，都出现过为了推广新药或新检测方法，药企或医疗机构过度诊断或误导患者的现象。因此在</a:t>
            </a:r>
            <a:r>
              <a:rPr lang="en-US" altLang="zh-CN" sz="1600" b="0">
                <a:solidFill>
                  <a:srgbClr val="333333"/>
                </a:solidFill>
                <a:latin typeface="楷体" panose="02010609060101010101" charset="-122"/>
                <a:cs typeface="楷体" panose="02010609060101010101" charset="-122"/>
              </a:rPr>
              <a:t>AD</a:t>
            </a:r>
            <a:r>
              <a:rPr lang="zh-CN" altLang="en-US" sz="1600" b="0">
                <a:solidFill>
                  <a:srgbClr val="333333"/>
                </a:solidFill>
                <a:latin typeface="楷体" panose="02010609060101010101" charset="-122"/>
                <a:cs typeface="楷体" panose="02010609060101010101" charset="-122"/>
              </a:rPr>
              <a:t>早期诊断中，也会出现这种情况，进而增加医疗风险。</a:t>
            </a:r>
            <a:endParaRPr lang="zh-CN" altLang="en-US" sz="1600" b="0">
              <a:solidFill>
                <a:srgbClr val="333333"/>
              </a:solidFill>
              <a:latin typeface="楷体" panose="02010609060101010101" charset="-122"/>
              <a:cs typeface="楷体" panose="02010609060101010101" charset="-122"/>
            </a:endParaRPr>
          </a:p>
          <a:p>
            <a:pPr indent="0" algn="l" fontAlgn="auto">
              <a:lnSpc>
                <a:spcPct val="130000"/>
              </a:lnSpc>
            </a:pPr>
            <a:r>
              <a:rPr lang="en-US" sz="1600" b="0">
                <a:solidFill>
                  <a:srgbClr val="333333"/>
                </a:solidFill>
                <a:latin typeface="楷体" panose="02010609060101010101" charset="-122"/>
                <a:cs typeface="楷体" panose="02010609060101010101" charset="-122"/>
              </a:rPr>
              <a:t>18</a:t>
            </a:r>
            <a:r>
              <a:rPr sz="1600" b="0">
                <a:solidFill>
                  <a:srgbClr val="333333"/>
                </a:solidFill>
                <a:latin typeface="楷体" panose="02010609060101010101" charset="-122"/>
                <a:cs typeface="楷体" panose="02010609060101010101" charset="-122"/>
              </a:rPr>
              <a:t>.对于上述网友的观点，以下评价恰当的是（）。
A.（1）存在因果倒置的错误，误将原因当作结论
B.若要反驳（3），就应列出AD所有生物标志物
C.（4）存在非此即彼的错误，忽略可能存在的中间选项
D.（6）错误地将可能性结论当作必然性结论</a:t>
            </a:r>
            <a:endParaRPr sz="1600" b="0">
              <a:solidFill>
                <a:srgbClr val="333333"/>
              </a:solidFill>
              <a:latin typeface="楷体" panose="02010609060101010101" charset="-122"/>
              <a:cs typeface="楷体" panose="02010609060101010101"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2026</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D</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1</a:t>
            </a:r>
            <a:r>
              <a:rPr lang="zh-CN" altLang="en-US" sz="2000" b="0">
                <a:solidFill>
                  <a:srgbClr val="333333"/>
                </a:solidFill>
                <a:latin typeface="楷体" panose="02010609060101010101" charset="-122"/>
                <a:cs typeface="楷体" panose="02010609060101010101" charset="-122"/>
              </a:rPr>
              <a:t>.从所给的四个选项中，选择最合适的一个填入问号处，使之呈现一定的规律性（ ）。</a:t>
            </a:r>
            <a:endParaRPr lang="zh-CN" altLang="en-US" sz="2000" b="0">
              <a:solidFill>
                <a:srgbClr val="333333"/>
              </a:solidFill>
              <a:latin typeface="楷体" panose="02010609060101010101" charset="-122"/>
              <a:cs typeface="楷体" panose="02010609060101010101" charset="-122"/>
            </a:endParaRPr>
          </a:p>
        </p:txBody>
      </p:sp>
      <p:pic>
        <p:nvPicPr>
          <p:cNvPr id="80" name="图片 2"/>
          <p:cNvPicPr>
            <a:picLocks noChangeAspect="1"/>
          </p:cNvPicPr>
          <p:nvPr/>
        </p:nvPicPr>
        <p:blipFill>
          <a:blip r:embed="rId1"/>
          <a:stretch>
            <a:fillRect/>
          </a:stretch>
        </p:blipFill>
        <p:spPr>
          <a:xfrm>
            <a:off x="1498600" y="1604010"/>
            <a:ext cx="9195435" cy="3883025"/>
          </a:xfrm>
          <a:prstGeom prst="rect">
            <a:avLst/>
          </a:prstGeom>
          <a:noFill/>
          <a:ln>
            <a:noFill/>
          </a:ln>
        </p:spPr>
      </p:pic>
      <p:pic>
        <p:nvPicPr>
          <p:cNvPr id="77" name="图片 3" descr="IMG_256"/>
          <p:cNvPicPr>
            <a:picLocks noChangeAspect="1"/>
          </p:cNvPicPr>
          <p:nvPr/>
        </p:nvPicPr>
        <p:blipFill>
          <a:blip r:embed="rId2"/>
          <a:stretch>
            <a:fillRect/>
          </a:stretch>
        </p:blipFill>
        <p:spPr>
          <a:xfrm>
            <a:off x="1497965" y="1572895"/>
            <a:ext cx="9196070" cy="176085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2</a:t>
            </a:r>
            <a:r>
              <a:rPr lang="zh-CN" altLang="en-US" sz="2000" b="0">
                <a:solidFill>
                  <a:srgbClr val="333333"/>
                </a:solidFill>
                <a:latin typeface="楷体" panose="02010609060101010101" charset="-122"/>
                <a:cs typeface="楷体" panose="02010609060101010101" charset="-122"/>
              </a:rPr>
              <a:t>.从所给的四个选项中，选择最合适的一个填入问号处，使之呈现一定的规律性（ ）。</a:t>
            </a:r>
            <a:endParaRPr lang="zh-CN" altLang="en-US" sz="2000" b="0">
              <a:solidFill>
                <a:srgbClr val="333333"/>
              </a:solidFill>
              <a:latin typeface="楷体" panose="02010609060101010101" charset="-122"/>
              <a:cs typeface="楷体" panose="02010609060101010101" charset="-122"/>
            </a:endParaRPr>
          </a:p>
        </p:txBody>
      </p:sp>
      <p:pic>
        <p:nvPicPr>
          <p:cNvPr id="78" name="图片 4" descr="IMG_256"/>
          <p:cNvPicPr>
            <a:picLocks noChangeAspect="1"/>
          </p:cNvPicPr>
          <p:nvPr/>
        </p:nvPicPr>
        <p:blipFill>
          <a:blip r:embed="rId1"/>
          <a:stretch>
            <a:fillRect/>
          </a:stretch>
        </p:blipFill>
        <p:spPr>
          <a:xfrm>
            <a:off x="1230630" y="1604010"/>
            <a:ext cx="9730105" cy="4100830"/>
          </a:xfrm>
          <a:prstGeom prst="rect">
            <a:avLst/>
          </a:prstGeom>
          <a:noFill/>
          <a:ln w="9525">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3</a:t>
            </a:r>
            <a:r>
              <a:rPr lang="zh-CN" altLang="en-US" sz="2000" b="0">
                <a:solidFill>
                  <a:srgbClr val="333333"/>
                </a:solidFill>
                <a:latin typeface="楷体" panose="02010609060101010101" charset="-122"/>
                <a:cs typeface="楷体" panose="02010609060101010101" charset="-122"/>
              </a:rPr>
              <a:t>.从所给的四个选项中，选择最合适的一个填入问号处，使之呈现一定的规律性（ ）。</a:t>
            </a:r>
            <a:endParaRPr lang="zh-CN" altLang="en-US" sz="2000" b="0">
              <a:solidFill>
                <a:srgbClr val="333333"/>
              </a:solidFill>
              <a:latin typeface="楷体" panose="02010609060101010101" charset="-122"/>
              <a:cs typeface="楷体" panose="02010609060101010101" charset="-122"/>
            </a:endParaRPr>
          </a:p>
        </p:txBody>
      </p:sp>
      <p:pic>
        <p:nvPicPr>
          <p:cNvPr id="79" name="图片 5" descr="IMG_256"/>
          <p:cNvPicPr>
            <a:picLocks noChangeAspect="1"/>
          </p:cNvPicPr>
          <p:nvPr/>
        </p:nvPicPr>
        <p:blipFill>
          <a:blip r:embed="rId1"/>
          <a:stretch>
            <a:fillRect/>
          </a:stretch>
        </p:blipFill>
        <p:spPr>
          <a:xfrm>
            <a:off x="954405" y="1604010"/>
            <a:ext cx="10207625" cy="4375150"/>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lang="zh-CN" altLang="en-US" sz="2000" b="0">
                <a:solidFill>
                  <a:srgbClr val="333333"/>
                </a:solidFill>
                <a:latin typeface="楷体" panose="02010609060101010101" charset="-122"/>
                <a:cs typeface="楷体" panose="02010609060101010101" charset="-122"/>
              </a:rPr>
              <a:t>4.口令攻击是指运用各种软件工具和安全漏洞，破解合法用户的口令或避开口令验证过程，然后冒充合法用户潜入目标网络，夺取目标系统控制权的攻击形式。</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000" b="0">
                <a:solidFill>
                  <a:srgbClr val="333333"/>
                </a:solidFill>
                <a:latin typeface="楷体" panose="02010609060101010101" charset="-122"/>
                <a:cs typeface="楷体" panose="02010609060101010101" charset="-122"/>
              </a:rPr>
              <a:t>根据上述定义，下列不属于口令攻击的是（    ）。</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A.</a:t>
            </a:r>
            <a:r>
              <a:rPr lang="zh-CN" altLang="en-US" sz="2000" b="0">
                <a:solidFill>
                  <a:srgbClr val="333333"/>
                </a:solidFill>
                <a:latin typeface="楷体" panose="02010609060101010101" charset="-122"/>
                <a:cs typeface="楷体" panose="02010609060101010101" charset="-122"/>
              </a:rPr>
              <a:t>攻击者通过恶意程序攻陷购物网站，获取管理员权限，抓取网站用户的口令位数，消费金额等个人信息</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B.</a:t>
            </a:r>
            <a:r>
              <a:rPr lang="zh-CN" altLang="en-US" sz="2000" b="0">
                <a:solidFill>
                  <a:srgbClr val="333333"/>
                </a:solidFill>
                <a:latin typeface="楷体" panose="02010609060101010101" charset="-122"/>
                <a:cs typeface="楷体" panose="02010609060101010101" charset="-122"/>
              </a:rPr>
              <a:t>用户的家庭摄像头、智能门锁等如果没有更改初始密码，攻击者可通过默认口令入侵这些智能家居设备</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C.</a:t>
            </a:r>
            <a:r>
              <a:rPr lang="zh-CN" altLang="en-US" sz="2000" b="0">
                <a:solidFill>
                  <a:srgbClr val="333333"/>
                </a:solidFill>
                <a:latin typeface="楷体" panose="02010609060101010101" charset="-122"/>
                <a:cs typeface="楷体" panose="02010609060101010101" charset="-122"/>
              </a:rPr>
              <a:t>攻击者整合“123456”等常见弱口令及用户的生日、车牌等个人信息，经数百次尝试获得用户的正确口令，以用户身份登录网站</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D.</a:t>
            </a:r>
            <a:r>
              <a:rPr lang="zh-CN" altLang="en-US" sz="2000" b="0">
                <a:solidFill>
                  <a:srgbClr val="333333"/>
                </a:solidFill>
                <a:latin typeface="楷体" panose="02010609060101010101" charset="-122"/>
                <a:cs typeface="楷体" panose="02010609060101010101" charset="-122"/>
              </a:rPr>
              <a:t>攻击者使用程序自动从电脑字典中读取单词作为口令输入主机，申请进入系统，一秒可进行上万次操作，直至找到正确口令登录</a:t>
            </a:r>
            <a:endParaRPr lang="zh-CN" altLang="en-US"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5.勤兴：懒败</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大材：小用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亲贤：疏佞</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云散：月明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进荣：退辱</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6.AI</a:t>
            </a:r>
            <a:r>
              <a:rPr lang="zh-CN" altLang="en-US" sz="2000" b="0">
                <a:solidFill>
                  <a:srgbClr val="333333"/>
                </a:solidFill>
                <a:latin typeface="楷体" panose="02010609060101010101" charset="-122"/>
                <a:cs typeface="楷体" panose="02010609060101010101" charset="-122"/>
              </a:rPr>
              <a:t>自习室是一种融合人工智能技术与传统自习空间的新型学习场所。</a:t>
            </a:r>
            <a:r>
              <a:rPr lang="en-US" altLang="zh-CN" sz="2000" b="0">
                <a:solidFill>
                  <a:srgbClr val="333333"/>
                </a:solidFill>
                <a:latin typeface="楷体" panose="02010609060101010101" charset="-122"/>
                <a:cs typeface="楷体" panose="02010609060101010101" charset="-122"/>
              </a:rPr>
              <a:t>AI</a:t>
            </a:r>
            <a:r>
              <a:rPr lang="zh-CN" altLang="en-US" sz="2000" b="0">
                <a:solidFill>
                  <a:srgbClr val="333333"/>
                </a:solidFill>
                <a:latin typeface="楷体" panose="02010609060101010101" charset="-122"/>
                <a:cs typeface="楷体" panose="02010609060101010101" charset="-122"/>
              </a:rPr>
              <a:t>自习室通过人工智能技术搭建沉浸式学习环境，不仅能为学生智能推荐学习资源、提供定制化的学习计划，还能在学习过程中及时提示学生作业中的知识点，进行重点讲解。因此，学生在</a:t>
            </a:r>
            <a:r>
              <a:rPr lang="en-US" altLang="zh-CN" sz="2000" b="0">
                <a:solidFill>
                  <a:srgbClr val="333333"/>
                </a:solidFill>
                <a:latin typeface="楷体" panose="02010609060101010101" charset="-122"/>
                <a:cs typeface="楷体" panose="02010609060101010101" charset="-122"/>
              </a:rPr>
              <a:t>AI</a:t>
            </a:r>
            <a:r>
              <a:rPr lang="zh-CN" altLang="en-US" sz="2000" b="0">
                <a:solidFill>
                  <a:srgbClr val="333333"/>
                </a:solidFill>
                <a:latin typeface="楷体" panose="02010609060101010101" charset="-122"/>
                <a:cs typeface="楷体" panose="02010609060101010101" charset="-122"/>
              </a:rPr>
              <a:t>自习室中学习，能提升学习的效率和主动性。</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000" b="0">
                <a:solidFill>
                  <a:srgbClr val="333333"/>
                </a:solidFill>
                <a:latin typeface="楷体" panose="02010609060101010101" charset="-122"/>
                <a:cs typeface="楷体" panose="02010609060101010101" charset="-122"/>
              </a:rPr>
              <a:t>以下哪项如果为真，最能削弱上述观点？（    ）</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A.</a:t>
            </a:r>
            <a:r>
              <a:rPr lang="zh-CN" altLang="en-US" sz="2000" b="0">
                <a:solidFill>
                  <a:srgbClr val="333333"/>
                </a:solidFill>
                <a:latin typeface="楷体" panose="02010609060101010101" charset="-122"/>
                <a:cs typeface="楷体" panose="02010609060101010101" charset="-122"/>
              </a:rPr>
              <a:t>学生学习效率和主动性的提升，会受到教师的指导、学生的学习习惯和自律性的影响</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B.</a:t>
            </a:r>
            <a:r>
              <a:rPr lang="zh-CN" altLang="en-US" sz="2000" b="0">
                <a:solidFill>
                  <a:srgbClr val="333333"/>
                </a:solidFill>
                <a:latin typeface="楷体" panose="02010609060101010101" charset="-122"/>
                <a:cs typeface="楷体" panose="02010609060101010101" charset="-122"/>
              </a:rPr>
              <a:t>学生在</a:t>
            </a:r>
            <a:r>
              <a:rPr lang="en-US" altLang="zh-CN" sz="2000" b="0">
                <a:solidFill>
                  <a:srgbClr val="333333"/>
                </a:solidFill>
                <a:latin typeface="楷体" panose="02010609060101010101" charset="-122"/>
                <a:cs typeface="楷体" panose="02010609060101010101" charset="-122"/>
              </a:rPr>
              <a:t>AI</a:t>
            </a:r>
            <a:r>
              <a:rPr lang="zh-CN" altLang="en-US" sz="2000" b="0">
                <a:solidFill>
                  <a:srgbClr val="333333"/>
                </a:solidFill>
                <a:latin typeface="楷体" panose="02010609060101010101" charset="-122"/>
                <a:cs typeface="楷体" panose="02010609060101010101" charset="-122"/>
              </a:rPr>
              <a:t>自习室中学习时，由于频繁与</a:t>
            </a:r>
            <a:r>
              <a:rPr lang="en-US" altLang="zh-CN" sz="2000" b="0">
                <a:solidFill>
                  <a:srgbClr val="333333"/>
                </a:solidFill>
                <a:latin typeface="楷体" panose="02010609060101010101" charset="-122"/>
                <a:cs typeface="楷体" panose="02010609060101010101" charset="-122"/>
              </a:rPr>
              <a:t>AI</a:t>
            </a:r>
            <a:r>
              <a:rPr lang="zh-CN" altLang="en-US" sz="2000" b="0">
                <a:solidFill>
                  <a:srgbClr val="333333"/>
                </a:solidFill>
                <a:latin typeface="楷体" panose="02010609060101010101" charset="-122"/>
                <a:cs typeface="楷体" panose="02010609060101010101" charset="-122"/>
              </a:rPr>
              <a:t>进行互动，反而容易分散精力，难以专注学习</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C.</a:t>
            </a:r>
            <a:r>
              <a:rPr lang="zh-CN" altLang="en-US" sz="2000" b="0">
                <a:solidFill>
                  <a:srgbClr val="333333"/>
                </a:solidFill>
                <a:latin typeface="楷体" panose="02010609060101010101" charset="-122"/>
                <a:cs typeface="楷体" panose="02010609060101010101" charset="-122"/>
              </a:rPr>
              <a:t>学生长期处于</a:t>
            </a:r>
            <a:r>
              <a:rPr lang="en-US" altLang="zh-CN" sz="2000" b="0">
                <a:solidFill>
                  <a:srgbClr val="333333"/>
                </a:solidFill>
                <a:latin typeface="楷体" panose="02010609060101010101" charset="-122"/>
                <a:cs typeface="楷体" panose="02010609060101010101" charset="-122"/>
              </a:rPr>
              <a:t>AI</a:t>
            </a:r>
            <a:r>
              <a:rPr lang="zh-CN" altLang="en-US" sz="2000" b="0">
                <a:solidFill>
                  <a:srgbClr val="333333"/>
                </a:solidFill>
                <a:latin typeface="楷体" panose="02010609060101010101" charset="-122"/>
                <a:cs typeface="楷体" panose="02010609060101010101" charset="-122"/>
              </a:rPr>
              <a:t>空间中会丧失对于现实世界的认知与感受，对于学生的全面发展会造成不利影响</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D.AI</a:t>
            </a:r>
            <a:r>
              <a:rPr lang="zh-CN" altLang="en-US" sz="2000" b="0">
                <a:solidFill>
                  <a:srgbClr val="333333"/>
                </a:solidFill>
                <a:latin typeface="楷体" panose="02010609060101010101" charset="-122"/>
                <a:cs typeface="楷体" panose="02010609060101010101" charset="-122"/>
              </a:rPr>
              <a:t>自习室过度依赖高端智能设备和付费学习资源，尽管满足了部分学生个性化需求，也会将部分学生排除在外</a:t>
            </a:r>
            <a:endParaRPr lang="zh-CN" altLang="en-US"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2026</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E</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1</a:t>
            </a:r>
            <a:r>
              <a:rPr lang="zh-CN" altLang="en-US" sz="2000" b="0">
                <a:solidFill>
                  <a:srgbClr val="333333"/>
                </a:solidFill>
                <a:latin typeface="楷体" panose="02010609060101010101" charset="-122"/>
                <a:cs typeface="楷体" panose="02010609060101010101" charset="-122"/>
              </a:rPr>
              <a:t>.从所给的四个选项中，选择最合适的一个填入问号处，使之呈现一定的规律性（ ）。</a:t>
            </a:r>
            <a:endParaRPr lang="zh-CN" altLang="en-US" sz="2000" b="0">
              <a:solidFill>
                <a:srgbClr val="333333"/>
              </a:solidFill>
              <a:latin typeface="楷体" panose="02010609060101010101" charset="-122"/>
              <a:cs typeface="楷体" panose="02010609060101010101" charset="-122"/>
            </a:endParaRPr>
          </a:p>
        </p:txBody>
      </p:sp>
      <p:pic>
        <p:nvPicPr>
          <p:cNvPr id="101" name="图片 6" descr="IMG_256"/>
          <p:cNvPicPr>
            <a:picLocks noChangeAspect="1"/>
          </p:cNvPicPr>
          <p:nvPr/>
        </p:nvPicPr>
        <p:blipFill>
          <a:blip r:embed="rId1"/>
          <a:stretch>
            <a:fillRect/>
          </a:stretch>
        </p:blipFill>
        <p:spPr>
          <a:xfrm>
            <a:off x="1009650" y="1604010"/>
            <a:ext cx="10432415" cy="4583430"/>
          </a:xfrm>
          <a:prstGeom prst="rect">
            <a:avLst/>
          </a:prstGeom>
          <a:noFill/>
          <a:ln w="9525">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03620"/>
            <a:ext cx="10692000" cy="461645"/>
          </a:xfrm>
          <a:prstGeom prst="rect">
            <a:avLst/>
          </a:prstGeom>
          <a:noFill/>
        </p:spPr>
        <p:txBody>
          <a:bodyPr wrap="square" lIns="0" tIns="0" rIns="0" bIns="0">
            <a:spAutoFit/>
          </a:bodyPr>
          <a:lstStyle/>
          <a:p>
            <a:pPr algn="l">
              <a:lnSpc>
                <a:spcPct val="150000"/>
              </a:lnSpc>
              <a:buClrTx/>
              <a:buSzTx/>
              <a:buFontTx/>
            </a:pPr>
            <a:r>
              <a:rPr lang="en-US" sz="2000" b="0">
                <a:solidFill>
                  <a:srgbClr val="333333"/>
                </a:solidFill>
                <a:latin typeface="楷体" panose="02010609060101010101" charset="-122"/>
                <a:cs typeface="楷体" panose="02010609060101010101" charset="-122"/>
              </a:rPr>
              <a:t>2</a:t>
            </a:r>
            <a:r>
              <a:rPr lang="zh-CN" altLang="en-US" sz="2000" b="0">
                <a:solidFill>
                  <a:srgbClr val="333333"/>
                </a:solidFill>
                <a:latin typeface="楷体" panose="02010609060101010101" charset="-122"/>
                <a:cs typeface="楷体" panose="02010609060101010101" charset="-122"/>
              </a:rPr>
              <a:t>.从所给的四个选项中，选择最合适的一个填入问号处，使之呈现一定的规律性（ ）。</a:t>
            </a:r>
            <a:endParaRPr lang="zh-CN" altLang="en-US" sz="2000" b="0">
              <a:solidFill>
                <a:srgbClr val="333333"/>
              </a:solidFill>
              <a:latin typeface="楷体" panose="02010609060101010101" charset="-122"/>
              <a:cs typeface="楷体" panose="02010609060101010101" charset="-122"/>
            </a:endParaRPr>
          </a:p>
        </p:txBody>
      </p:sp>
      <p:pic>
        <p:nvPicPr>
          <p:cNvPr id="126" name="图片 8"/>
          <p:cNvPicPr>
            <a:picLocks noChangeAspect="1"/>
          </p:cNvPicPr>
          <p:nvPr/>
        </p:nvPicPr>
        <p:blipFill>
          <a:blip r:embed="rId1"/>
          <a:stretch>
            <a:fillRect/>
          </a:stretch>
        </p:blipFill>
        <p:spPr>
          <a:xfrm>
            <a:off x="3835400" y="1165225"/>
            <a:ext cx="4521200" cy="512318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3.瓶颈效应是指在进化过程中，由于各种因素导致种群内个体数目在短时间内急剧下降，从而使遗传多样性严重丢失，即使后续种群规模恢复，遗传变异也难以完全恢复的现象。</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根据上述定义，下列最符合瓶颈效应的是（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某草原狮群因栖息地缩小导致数量锐减，随后通过人工繁育恢复了该种群规模</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某类昆虫因杀虫剂滥用数量骤降，只有少数携带抗药性基因的个体存活下来</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某岛屿特有鸟类因火山爆发大规模死亡，后种群数量虽有恢复但毛色变得单一</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达尔文雀族在自然选择过程中，某些不利基因渐被淘汰但种群数量无显著变化</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877945"/>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4.草畜协同进化指的是草地生态系统中的家畜与植物之间通过长期适应形成的相互选择而不断进化的过程。</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根据上述定义，下列涉及草畜协同进化的是（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牧场引进高产奶牛后，人工选育出耐践踏的牧草品种，以适应频繁放牧的需求</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针茅属植物进化出坚硬的叶鞘抵抗牛羊啃食，羊进化出更灵活的嘴唇避开尖刺</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兰花花管细而深，进化出特定香气吸引传粉者，而兰花蜂进化出长吻方便取蜜</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为了适应荒漠地区特殊的干燥环境和植被稀疏的特点，骆驼进化出了储水能力</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5.速记员：录音笔：会场</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审判员：法槌：法庭</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饲养员：饲料：海洋馆</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快递员：头盔：快递站</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战地记者：记者证：战场</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86095"/>
          </a:xfrm>
          <a:prstGeom prst="rect">
            <a:avLst/>
          </a:prstGeom>
          <a:noFill/>
        </p:spPr>
        <p:txBody>
          <a:bodyPr wrap="square" lIns="0" tIns="0" rIns="0" bIns="0">
            <a:spAutoFit/>
          </a:bodyPr>
          <a:lstStyle/>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6.只有海洋上形成了低气压区域，且这个低气压区域与周围大气的压力差成了驱动力，飓风才会形成。只有海洋表面温度不低于26.5摄氏度，飓风才会形成。只有海洋表面温度较高时，水蒸气才会大量蒸发，进而形成丰富的湿空气。当飓风接近海岸线且吸收了丰富的暖湿空气，飓风的风速和强度增加，进而扩大飓风的影响范围。</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由此可以推出（    ）。</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A.</a:t>
            </a:r>
            <a:r>
              <a:rPr lang="zh-CN" altLang="en-US" sz="2200" b="0">
                <a:solidFill>
                  <a:srgbClr val="333333"/>
                </a:solidFill>
                <a:latin typeface="楷体" panose="02010609060101010101" charset="-122"/>
                <a:cs typeface="楷体" panose="02010609060101010101" charset="-122"/>
              </a:rPr>
              <a:t>如果水蒸气没有大量蒸发，则海洋表面温度不高</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B.</a:t>
            </a:r>
            <a:r>
              <a:rPr lang="zh-CN" altLang="en-US" sz="2200" b="0">
                <a:solidFill>
                  <a:srgbClr val="333333"/>
                </a:solidFill>
                <a:latin typeface="楷体" panose="02010609060101010101" charset="-122"/>
                <a:cs typeface="楷体" panose="02010609060101010101" charset="-122"/>
              </a:rPr>
              <a:t>如果飓风的风速和强度减小，则飓风没有接近海岸线</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C.</a:t>
            </a:r>
            <a:r>
              <a:rPr lang="zh-CN" altLang="en-US" sz="2200" b="0">
                <a:solidFill>
                  <a:srgbClr val="333333"/>
                </a:solidFill>
                <a:latin typeface="楷体" panose="02010609060101010101" charset="-122"/>
                <a:cs typeface="楷体" panose="02010609060101010101" charset="-122"/>
              </a:rPr>
              <a:t>如果飓风形成了，则海洋表面温度至少达到26.5摄氏度</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D.</a:t>
            </a:r>
            <a:r>
              <a:rPr lang="zh-CN" altLang="en-US" sz="2200" b="0">
                <a:solidFill>
                  <a:srgbClr val="333333"/>
                </a:solidFill>
                <a:latin typeface="楷体" panose="02010609060101010101" charset="-122"/>
                <a:cs typeface="楷体" panose="02010609060101010101" charset="-122"/>
              </a:rPr>
              <a:t>只要低气压区域与周围大气的压力差形成了驱动力，飓风就会形成</a:t>
            </a:r>
            <a:endParaRPr lang="zh-CN" altLang="en-US" sz="2200" b="0">
              <a:solidFill>
                <a:srgbClr val="333333"/>
              </a:solidFill>
              <a:latin typeface="楷体" panose="02010609060101010101" charset="-122"/>
              <a:cs typeface="楷体" panose="02010609060101010101" charset="-122"/>
            </a:endParaRPr>
          </a:p>
        </p:txBody>
      </p:sp>
      <p:sp>
        <p:nvSpPr>
          <p:cNvPr id="2" name="文本框 1"/>
          <p:cNvSpPr txBox="1"/>
          <p:nvPr/>
        </p:nvSpPr>
        <p:spPr>
          <a:xfrm>
            <a:off x="3670300" y="2575560"/>
            <a:ext cx="8521700" cy="1753235"/>
          </a:xfrm>
          <a:prstGeom prst="rect">
            <a:avLst/>
          </a:prstGeom>
          <a:noFill/>
        </p:spPr>
        <p:txBody>
          <a:bodyPr wrap="square" rtlCol="0" anchor="t">
            <a:spAutoFit/>
          </a:bodyPr>
          <a:p>
            <a:pPr>
              <a:lnSpc>
                <a:spcPct val="150000"/>
              </a:lnSpc>
            </a:pPr>
            <a:r>
              <a:rPr lang="zh-CN" altLang="en-US">
                <a:solidFill>
                  <a:srgbClr val="FF0000"/>
                </a:solidFill>
                <a:latin typeface="楷体" panose="02010609060101010101" charset="-122"/>
                <a:sym typeface="+mn-ea"/>
              </a:rPr>
              <a:t>①飓风形成→形成低气压区域且与周围大气压力差成了驱动力</a:t>
            </a:r>
            <a:endParaRPr lang="zh-CN" altLang="en-US">
              <a:solidFill>
                <a:srgbClr val="FF0000"/>
              </a:solidFill>
              <a:latin typeface="楷体" panose="02010609060101010101" charset="-122"/>
            </a:endParaRPr>
          </a:p>
          <a:p>
            <a:pPr>
              <a:lnSpc>
                <a:spcPct val="150000"/>
              </a:lnSpc>
            </a:pPr>
            <a:r>
              <a:rPr lang="zh-CN" altLang="en-US">
                <a:solidFill>
                  <a:srgbClr val="FF0000"/>
                </a:solidFill>
                <a:latin typeface="楷体" panose="02010609060101010101" charset="-122"/>
                <a:sym typeface="+mn-ea"/>
              </a:rPr>
              <a:t>②飓风形成→海洋表面温度不低于26.5摄氏度</a:t>
            </a:r>
            <a:endParaRPr lang="zh-CN" altLang="en-US">
              <a:solidFill>
                <a:srgbClr val="FF0000"/>
              </a:solidFill>
              <a:latin typeface="楷体" panose="02010609060101010101" charset="-122"/>
            </a:endParaRPr>
          </a:p>
          <a:p>
            <a:pPr>
              <a:lnSpc>
                <a:spcPct val="150000"/>
              </a:lnSpc>
            </a:pPr>
            <a:r>
              <a:rPr lang="zh-CN" altLang="en-US">
                <a:solidFill>
                  <a:srgbClr val="FF0000"/>
                </a:solidFill>
                <a:latin typeface="楷体" panose="02010609060101010101" charset="-122"/>
                <a:sym typeface="+mn-ea"/>
              </a:rPr>
              <a:t>③水蒸气大量蒸发→海洋表面温度较高</a:t>
            </a:r>
            <a:endParaRPr lang="zh-CN" altLang="en-US">
              <a:solidFill>
                <a:srgbClr val="FF0000"/>
              </a:solidFill>
              <a:latin typeface="楷体" panose="02010609060101010101" charset="-122"/>
            </a:endParaRPr>
          </a:p>
          <a:p>
            <a:pPr>
              <a:lnSpc>
                <a:spcPct val="150000"/>
              </a:lnSpc>
            </a:pPr>
            <a:r>
              <a:rPr lang="zh-CN" altLang="en-US">
                <a:solidFill>
                  <a:srgbClr val="FF0000"/>
                </a:solidFill>
                <a:latin typeface="楷体" panose="02010609060101010101" charset="-122"/>
                <a:sym typeface="+mn-ea"/>
              </a:rPr>
              <a:t>④飓风接近海岸线且吸收丰富的暖湿空气→飓风的风速和强度增加</a:t>
            </a:r>
            <a:r>
              <a:rPr lang="zh-CN" altLang="en-US">
                <a:solidFill>
                  <a:srgbClr val="FF0000"/>
                </a:solidFill>
                <a:latin typeface="楷体" panose="02010609060101010101" charset="-122"/>
                <a:sym typeface="+mn-ea"/>
              </a:rPr>
              <a:t>→扩大影响范围</a:t>
            </a:r>
            <a:endParaRPr lang="zh-CN" altLang="en-US">
              <a:solidFill>
                <a:srgbClr val="FF0000"/>
              </a:solidFill>
              <a:latin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7.飞鸟的骨骼中有一个名为“龙骨突”的特殊结构，其上附着为了振翅飞翔而存在的强有力的胸肌，只在陆地生活的鸟类（鸵鸟等）没有龙骨突，不会飞翔但善于潜水的企鹅却拥有龙骨突，并与飞行鸟类一样具有高度发达的小脑，所以人们认为企鹅的祖先很可能是能够飞行的鸟类。</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以下哪项如果为真，最能支持上述结论？（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企鹅的龙骨突能够帮助其在水下灵活游动</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企鹅的羽毛短而密集，有利于维持其体温</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既能飞翔又能潜水的鸟类，有极大的羽翼</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小脑在飞行能力的进化中起到了核心作用</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49935" y="779780"/>
            <a:ext cx="10975975" cy="5709920"/>
          </a:xfrm>
          <a:prstGeom prst="rect">
            <a:avLst/>
          </a:prstGeom>
          <a:noFill/>
        </p:spPr>
        <p:txBody>
          <a:bodyPr wrap="square" lIns="0" tIns="0" rIns="0" bIns="0">
            <a:noAutofit/>
          </a:bodyPr>
          <a:lstStyle/>
          <a:p>
            <a:pPr algn="l">
              <a:lnSpc>
                <a:spcPct val="150000"/>
              </a:lnSpc>
              <a:buClrTx/>
              <a:buSzTx/>
              <a:buFontTx/>
            </a:pPr>
            <a:r>
              <a:rPr lang="zh-CN" altLang="en-US" sz="2000" b="0">
                <a:solidFill>
                  <a:srgbClr val="333333"/>
                </a:solidFill>
                <a:latin typeface="楷体" panose="02010609060101010101" charset="-122"/>
                <a:cs typeface="楷体" panose="02010609060101010101" charset="-122"/>
              </a:rPr>
              <a:t>8.一项针对年轻人的调查中，研究人员询问了他们睡前使用屏幕的习惯，包括使用的时长和活动类型（如看节目，玩游戏，浏览社交媒体等），以及他们的睡眠模式和质量问题，发现睡前使用屏幕会使失眠的风险增加59%，睡眠时间平均减少24分钟。研究人员据此认为，减少睡前使用屏幕的时间可以改善年轻人的睡眠。</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000" b="0">
                <a:solidFill>
                  <a:srgbClr val="333333"/>
                </a:solidFill>
                <a:latin typeface="楷体" panose="02010609060101010101" charset="-122"/>
                <a:cs typeface="楷体" panose="02010609060101010101" charset="-122"/>
              </a:rPr>
              <a:t>以下哪项如果为真，不能支持研究人员的上述观点？（    ）</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A.</a:t>
            </a:r>
            <a:r>
              <a:rPr lang="zh-CN" altLang="en-US" sz="2000" b="0">
                <a:solidFill>
                  <a:srgbClr val="333333"/>
                </a:solidFill>
                <a:latin typeface="楷体" panose="02010609060101010101" charset="-122"/>
                <a:cs typeface="楷体" panose="02010609060101010101" charset="-122"/>
              </a:rPr>
              <a:t>在睡前长时间使用屏幕会导致眼部肌肉过于紧张，疲劳，进而出现干涩，酸胀，有异物感等症状</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B.</a:t>
            </a:r>
            <a:r>
              <a:rPr lang="zh-CN" altLang="en-US" sz="2000" b="0">
                <a:solidFill>
                  <a:srgbClr val="333333"/>
                </a:solidFill>
                <a:latin typeface="楷体" panose="02010609060101010101" charset="-122"/>
                <a:cs typeface="楷体" panose="02010609060101010101" charset="-122"/>
              </a:rPr>
              <a:t>尽管许多人认为浏览社交媒体对睡眠最具有干扰性，但实际上所有活动类型的屏幕使用对睡眠的干扰性都是相似的</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C.</a:t>
            </a:r>
            <a:r>
              <a:rPr lang="zh-CN" altLang="en-US" sz="2000" b="0">
                <a:solidFill>
                  <a:srgbClr val="333333"/>
                </a:solidFill>
                <a:latin typeface="楷体" panose="02010609060101010101" charset="-122"/>
                <a:cs typeface="楷体" panose="02010609060101010101" charset="-122"/>
              </a:rPr>
              <a:t>对于处在学习或工作期间的年轻人来说，其休息时间是相对有限的，睡前使用屏幕的时间长，睡眠的时间自然就变短</a:t>
            </a:r>
            <a:endParaRPr lang="zh-CN" altLang="en-US" sz="20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000" b="0">
                <a:solidFill>
                  <a:srgbClr val="333333"/>
                </a:solidFill>
                <a:latin typeface="楷体" panose="02010609060101010101" charset="-122"/>
                <a:cs typeface="楷体" panose="02010609060101010101" charset="-122"/>
              </a:rPr>
              <a:t>D.</a:t>
            </a:r>
            <a:r>
              <a:rPr lang="zh-CN" altLang="en-US" sz="2000" b="0">
                <a:solidFill>
                  <a:srgbClr val="333333"/>
                </a:solidFill>
                <a:latin typeface="楷体" panose="02010609060101010101" charset="-122"/>
                <a:cs typeface="楷体" panose="02010609060101010101" charset="-122"/>
              </a:rPr>
              <a:t>屏幕使用影响睡眠的方式有4种：通知打扰，占用本应用于休息的时间，延长入睡所需时间以及屏幕发出的光抑制昼夜节律</a:t>
            </a:r>
            <a:endParaRPr lang="zh-CN" altLang="en-US" sz="2000" b="0">
              <a:solidFill>
                <a:srgbClr val="333333"/>
              </a:solidFill>
              <a:latin typeface="楷体" panose="02010609060101010101" charset="-122"/>
              <a:cs typeface="楷体" panose="02010609060101010101"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9.长期磨牙会对人类健康造成不同程度的影响。最近，研究人员分析了106名成年志愿者饮用咖啡和睡觉磨牙的关系，研究发现，与不饮用咖啡的人相比，咖啡饮用者睡觉磨牙症的发生指数有所提高。研究人员认为，饮用咖啡与睡觉磨牙具有直接的因果关系。</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以下哪项如果为真，最能削弱上述结论？（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吸烟、饮酒等不良习惯也是导致睡觉磨牙的原因</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是否饮用咖啡与睡眠质量等睡眠指标并没有关联</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睡觉磨牙是病理因素和心理因素共同作用的结果</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饮用含有咖啡因的红茶的志愿者并没有睡觉磨牙</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46800"/>
            <a:ext cx="10692000" cy="5586095"/>
          </a:xfrm>
          <a:prstGeom prst="rect">
            <a:avLst/>
          </a:prstGeom>
          <a:noFill/>
        </p:spPr>
        <p:txBody>
          <a:bodyPr wrap="square" lIns="0" tIns="0" rIns="0" bIns="0">
            <a:spAutoFit/>
          </a:bodyPr>
          <a:lstStyle/>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10.学校组织迎新晚会，各社团需按照一定的顺序上场演出，共7个社团，分别是话剧社、街舞社、轮滑社、太极拳社、武术社、腰鼓社、朗诵社，已知：</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（1）武术社要么第一个上场，要么最后一个上场；</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（2）朗诵社要在轮滑社之前上场；   </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（3）轮滑社与太极拳社之间要间隔3个社团；</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（4）腰鼓社和朗诵社之间要间隔2个社团，并且腰鼓社后上场。</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200" b="0">
                <a:solidFill>
                  <a:srgbClr val="333333"/>
                </a:solidFill>
                <a:latin typeface="楷体" panose="02010609060101010101" charset="-122"/>
                <a:cs typeface="楷体" panose="02010609060101010101" charset="-122"/>
              </a:rPr>
              <a:t>根据上述信息，以下哪项可能为真？（    ）</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A.</a:t>
            </a:r>
            <a:r>
              <a:rPr lang="zh-CN" altLang="en-US" sz="2200" b="0">
                <a:solidFill>
                  <a:srgbClr val="333333"/>
                </a:solidFill>
                <a:latin typeface="楷体" panose="02010609060101010101" charset="-122"/>
                <a:cs typeface="楷体" panose="02010609060101010101" charset="-122"/>
              </a:rPr>
              <a:t>太极拳社第二个上场</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B.</a:t>
            </a:r>
            <a:r>
              <a:rPr lang="zh-CN" altLang="en-US" sz="2200" b="0">
                <a:solidFill>
                  <a:srgbClr val="333333"/>
                </a:solidFill>
                <a:latin typeface="楷体" panose="02010609060101010101" charset="-122"/>
                <a:cs typeface="楷体" panose="02010609060101010101" charset="-122"/>
              </a:rPr>
              <a:t>轮滑社第四个上场</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C.</a:t>
            </a:r>
            <a:r>
              <a:rPr lang="zh-CN" altLang="en-US" sz="2200" b="0">
                <a:solidFill>
                  <a:srgbClr val="333333"/>
                </a:solidFill>
                <a:latin typeface="楷体" panose="02010609060101010101" charset="-122"/>
                <a:cs typeface="楷体" panose="02010609060101010101" charset="-122"/>
              </a:rPr>
              <a:t>朗诵社第五个上场</a:t>
            </a:r>
            <a:endParaRPr lang="zh-CN" altLang="en-US" sz="22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200" b="0">
                <a:solidFill>
                  <a:srgbClr val="333333"/>
                </a:solidFill>
                <a:latin typeface="楷体" panose="02010609060101010101" charset="-122"/>
                <a:cs typeface="楷体" panose="02010609060101010101" charset="-122"/>
              </a:rPr>
              <a:t>D.</a:t>
            </a:r>
            <a:r>
              <a:rPr lang="zh-CN" altLang="en-US" sz="2200" b="0">
                <a:solidFill>
                  <a:srgbClr val="333333"/>
                </a:solidFill>
                <a:latin typeface="楷体" panose="02010609060101010101" charset="-122"/>
                <a:cs typeface="楷体" panose="02010609060101010101" charset="-122"/>
              </a:rPr>
              <a:t>街舞社第七个上场</a:t>
            </a:r>
            <a:endParaRPr lang="zh-CN" altLang="en-US" sz="2200" b="0">
              <a:solidFill>
                <a:srgbClr val="333333"/>
              </a:solidFill>
              <a:latin typeface="楷体" panose="02010609060101010101" charset="-122"/>
              <a:cs typeface="楷体" panose="02010609060101010101" charset="-122"/>
            </a:endParaRPr>
          </a:p>
        </p:txBody>
      </p:sp>
      <p:graphicFrame>
        <p:nvGraphicFramePr>
          <p:cNvPr id="2" name="表格 1"/>
          <p:cNvGraphicFramePr/>
          <p:nvPr>
            <p:custDataLst>
              <p:tags r:id="rId1"/>
            </p:custDataLst>
          </p:nvPr>
        </p:nvGraphicFramePr>
        <p:xfrm>
          <a:off x="6689725" y="4259580"/>
          <a:ext cx="5040630" cy="1828800"/>
        </p:xfrm>
        <a:graphic>
          <a:graphicData uri="http://schemas.openxmlformats.org/drawingml/2006/table">
            <a:tbl>
              <a:tblPr firstRow="1" bandRow="1">
                <a:tableStyleId>{5C22544A-7EE6-4342-B048-85BDC9FD1C3A}</a:tableStyleId>
              </a:tblPr>
              <a:tblGrid>
                <a:gridCol w="720090"/>
                <a:gridCol w="720090"/>
                <a:gridCol w="720090"/>
                <a:gridCol w="720090"/>
                <a:gridCol w="720090"/>
                <a:gridCol w="720090"/>
                <a:gridCol w="720090"/>
              </a:tblGrid>
              <a:tr h="365760">
                <a:tc>
                  <a:txBody>
                    <a:bodyPr/>
                    <a:p>
                      <a:pPr>
                        <a:buNone/>
                      </a:pPr>
                      <a:r>
                        <a:rPr lang="en-US" altLang="zh-CN"/>
                        <a:t>1</a:t>
                      </a:r>
                      <a:endParaRPr lang="en-US" altLang="zh-CN"/>
                    </a:p>
                  </a:txBody>
                  <a:tcPr/>
                </a:tc>
                <a:tc>
                  <a:txBody>
                    <a:bodyPr/>
                    <a:p>
                      <a:pPr>
                        <a:buNone/>
                      </a:pPr>
                      <a:r>
                        <a:rPr lang="en-US" altLang="zh-CN"/>
                        <a:t>2</a:t>
                      </a:r>
                      <a:endParaRPr lang="en-US" altLang="zh-CN"/>
                    </a:p>
                  </a:txBody>
                  <a:tcPr/>
                </a:tc>
                <a:tc>
                  <a:txBody>
                    <a:bodyPr/>
                    <a:p>
                      <a:pPr>
                        <a:buNone/>
                      </a:pPr>
                      <a:r>
                        <a:rPr lang="en-US" altLang="zh-CN"/>
                        <a:t>3</a:t>
                      </a:r>
                      <a:endParaRPr lang="en-US" altLang="zh-CN"/>
                    </a:p>
                  </a:txBody>
                  <a:tcPr/>
                </a:tc>
                <a:tc>
                  <a:txBody>
                    <a:bodyPr/>
                    <a:p>
                      <a:pPr>
                        <a:buNone/>
                      </a:pPr>
                      <a:r>
                        <a:rPr lang="en-US" altLang="zh-CN"/>
                        <a:t>4</a:t>
                      </a:r>
                      <a:endParaRPr lang="en-US" altLang="zh-CN"/>
                    </a:p>
                  </a:txBody>
                  <a:tcPr/>
                </a:tc>
                <a:tc>
                  <a:txBody>
                    <a:bodyPr/>
                    <a:p>
                      <a:pPr>
                        <a:buNone/>
                      </a:pPr>
                      <a:r>
                        <a:rPr lang="en-US" altLang="zh-CN"/>
                        <a:t>5</a:t>
                      </a:r>
                      <a:endParaRPr lang="en-US" altLang="zh-CN"/>
                    </a:p>
                  </a:txBody>
                  <a:tcPr/>
                </a:tc>
                <a:tc>
                  <a:txBody>
                    <a:bodyPr/>
                    <a:p>
                      <a:pPr>
                        <a:buNone/>
                      </a:pPr>
                      <a:r>
                        <a:rPr lang="en-US" altLang="zh-CN"/>
                        <a:t>6</a:t>
                      </a:r>
                      <a:endParaRPr lang="en-US" altLang="zh-CN"/>
                    </a:p>
                  </a:txBody>
                  <a:tcPr/>
                </a:tc>
                <a:tc>
                  <a:txBody>
                    <a:bodyPr/>
                    <a:p>
                      <a:pPr>
                        <a:buNone/>
                      </a:pPr>
                      <a:r>
                        <a:rPr lang="en-US" altLang="zh-CN"/>
                        <a:t>7</a:t>
                      </a:r>
                      <a:endParaRPr lang="en-US" altLang="zh-CN"/>
                    </a:p>
                  </a:txBody>
                  <a:tcPr/>
                </a:tc>
              </a:tr>
              <a:tr h="365760">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c>
                  <a:txBody>
                    <a:bodyPr/>
                    <a:p>
                      <a:pP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11.郑爷爷最近视物不清，白内障可能造成视物不清，可见郑爷爷得了白内障。</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zh-CN" altLang="en-US" sz="2400" b="0">
                <a:solidFill>
                  <a:srgbClr val="333333"/>
                </a:solidFill>
                <a:latin typeface="楷体" panose="02010609060101010101" charset="-122"/>
                <a:cs typeface="楷体" panose="02010609060101010101" charset="-122"/>
              </a:rPr>
              <a:t>以下哪项论证中存在的错误与上述论证最为类似？（    ）</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A.</a:t>
            </a:r>
            <a:r>
              <a:rPr lang="zh-CN" altLang="en-US" sz="2400" b="0">
                <a:solidFill>
                  <a:srgbClr val="333333"/>
                </a:solidFill>
                <a:latin typeface="楷体" panose="02010609060101010101" charset="-122"/>
                <a:cs typeface="楷体" panose="02010609060101010101" charset="-122"/>
              </a:rPr>
              <a:t>甲市近年来吸引了大量的企业入驻，企业入驻会带来人口的增长，可见甲市近年来人口必然增长</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B.</a:t>
            </a:r>
            <a:r>
              <a:rPr lang="zh-CN" altLang="en-US" sz="2400" b="0">
                <a:solidFill>
                  <a:srgbClr val="333333"/>
                </a:solidFill>
                <a:latin typeface="楷体" panose="02010609060101010101" charset="-122"/>
                <a:cs typeface="楷体" panose="02010609060101010101" charset="-122"/>
              </a:rPr>
              <a:t>乙市今年水稻产量大增，采取科学的田间管理会使水稻产量大增，可见乙市今年采取了科学的田间管理</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C.</a:t>
            </a:r>
            <a:r>
              <a:rPr lang="zh-CN" altLang="en-US" sz="2400" b="0">
                <a:solidFill>
                  <a:srgbClr val="333333"/>
                </a:solidFill>
                <a:latin typeface="楷体" panose="02010609060101010101" charset="-122"/>
                <a:cs typeface="楷体" panose="02010609060101010101" charset="-122"/>
              </a:rPr>
              <a:t>丁商场今年投诉量下降，会员权益升级会减少商场投诉量，可见丁商场今年可能更新了会员权益升级方案</a:t>
            </a:r>
            <a:endParaRPr lang="zh-CN" altLang="en-US" sz="2400" b="0">
              <a:solidFill>
                <a:srgbClr val="333333"/>
              </a:solidFill>
              <a:latin typeface="楷体" panose="02010609060101010101" charset="-122"/>
              <a:cs typeface="楷体" panose="02010609060101010101" charset="-122"/>
            </a:endParaRPr>
          </a:p>
          <a:p>
            <a:pPr algn="l">
              <a:lnSpc>
                <a:spcPct val="150000"/>
              </a:lnSpc>
              <a:buClrTx/>
              <a:buSzTx/>
              <a:buFontTx/>
            </a:pPr>
            <a:r>
              <a:rPr lang="en-US" altLang="zh-CN" sz="2400" b="0">
                <a:solidFill>
                  <a:srgbClr val="333333"/>
                </a:solidFill>
                <a:latin typeface="楷体" panose="02010609060101010101" charset="-122"/>
                <a:cs typeface="楷体" panose="02010609060101010101" charset="-122"/>
              </a:rPr>
              <a:t>D.</a:t>
            </a:r>
            <a:r>
              <a:rPr lang="zh-CN" altLang="en-US" sz="2400" b="0">
                <a:solidFill>
                  <a:srgbClr val="333333"/>
                </a:solidFill>
                <a:latin typeface="楷体" panose="02010609060101010101" charset="-122"/>
                <a:cs typeface="楷体" panose="02010609060101010101" charset="-122"/>
              </a:rPr>
              <a:t>丙市冬季发生了多起大型火灾，冬季用电需求上升会增加火灾发生风险，可见丙市冬季发生多起大型火灾是由于用电需求上升</a:t>
            </a:r>
            <a:endParaRPr lang="zh-CN" altLang="en-US" sz="2400" b="0">
              <a:solidFill>
                <a:srgbClr val="333333"/>
              </a:solidFill>
              <a:latin typeface="楷体" panose="02010609060101010101" charset="-122"/>
              <a:cs typeface="楷体" panose="02010609060101010101"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6.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7.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8.xml><?xml version="1.0" encoding="utf-8"?>
<p:tagLst xmlns:p="http://schemas.openxmlformats.org/presentationml/2006/main">
  <p:tag name="TABLE_ENDDRAG_ORIGIN_RECT" val="396*52"/>
  <p:tag name="TABLE_ENDDRAG_RECT" val="419*248*396*52"/>
</p:tagLst>
</file>

<file path=ppt/tags/tag9.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10.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21053</Words>
  <Application>WPS 演示</Application>
  <PresentationFormat>宽屏</PresentationFormat>
  <Paragraphs>407</Paragraphs>
  <Slides>115</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115</vt:i4>
      </vt:variant>
    </vt:vector>
  </HeadingPairs>
  <TitlesOfParts>
    <vt:vector size="125" baseType="lpstr">
      <vt:lpstr>Arial</vt:lpstr>
      <vt:lpstr>宋体</vt:lpstr>
      <vt:lpstr>Wingdings</vt:lpstr>
      <vt:lpstr>楷体</vt:lpstr>
      <vt:lpstr>Wingdings</vt:lpstr>
      <vt:lpstr>微软雅黑</vt:lpstr>
      <vt:lpstr>Arial Unicode MS</vt:lpstr>
      <vt:lpstr>江城圆体 400W</vt:lpstr>
      <vt:lpstr>MS PGothic</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227</cp:revision>
  <dcterms:created xsi:type="dcterms:W3CDTF">2019-06-19T02:08:00Z</dcterms:created>
  <dcterms:modified xsi:type="dcterms:W3CDTF">2026-07-23T08:34:53Z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FCCE691D4E054FED95D0A6A2CB4CCD6A_13</vt:lpwstr>
  </property>
</Properties>
</file>