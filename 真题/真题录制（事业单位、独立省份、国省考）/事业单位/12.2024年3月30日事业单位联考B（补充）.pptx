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30"/>
  </p:handoutMasterIdLst>
  <p:sldIdLst>
    <p:sldId id="629" r:id="rId4"/>
    <p:sldId id="424" r:id="rId6"/>
    <p:sldId id="1362" r:id="rId7"/>
    <p:sldId id="1363" r:id="rId8"/>
    <p:sldId id="1364" r:id="rId9"/>
    <p:sldId id="1365" r:id="rId10"/>
    <p:sldId id="1366" r:id="rId11"/>
    <p:sldId id="1367" r:id="rId12"/>
    <p:sldId id="1368" r:id="rId13"/>
    <p:sldId id="1369" r:id="rId14"/>
    <p:sldId id="1370" r:id="rId15"/>
    <p:sldId id="1371" r:id="rId16"/>
    <p:sldId id="1372" r:id="rId17"/>
    <p:sldId id="1373" r:id="rId18"/>
    <p:sldId id="1374" r:id="rId19"/>
    <p:sldId id="1375" r:id="rId20"/>
    <p:sldId id="1376" r:id="rId21"/>
    <p:sldId id="1377" r:id="rId22"/>
    <p:sldId id="1378" r:id="rId23"/>
    <p:sldId id="1379" r:id="rId24"/>
    <p:sldId id="1386" r:id="rId25"/>
    <p:sldId id="1380" r:id="rId26"/>
    <p:sldId id="1387" r:id="rId27"/>
    <p:sldId id="1388" r:id="rId28"/>
    <p:sldId id="992" r:id="rId29"/>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5" Type="http://schemas.openxmlformats.org/officeDocument/2006/relationships/tags" Target="tags/tag31.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【解析】元素组成不同，且无明显属性规律，考虑数量规律。观察发现，题干线条交叉明显，考虑数点，但整体数点无规律。继续观察发现，图形曲线和直线相交明显，考虑曲直交点，题干每幅图形均有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个曲直交点，故？处应选择具有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个曲直交点的图形。</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项有</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个曲直交点，</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项有</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个曲直交点，</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项有</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个曲直交点，</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项有</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个曲直交点，只有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【解析】元素组成不同，优先考虑属性规律。观察发现，第一组图形中黑色图形都为轴对称图形，且都只有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条对称轴，对称轴方向在逆时针旋转</a:t>
            </a:r>
            <a:r>
              <a:rPr lang="en-US" altLang="zh-CN" sz="1200" kern="1200" dirty="0">
                <a:solidFill>
                  <a:schemeClr val="tx1"/>
                </a:solidFill>
                <a:effectLst/>
                <a:latin typeface="+mn-lt"/>
                <a:sym typeface="+mn-ea"/>
              </a:rPr>
              <a:t>45</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；第二组图形中白色图形都为轴对称图形，且都只有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条对称轴，对称轴方向在逆时针旋转</a:t>
            </a:r>
            <a:r>
              <a:rPr lang="en-US" altLang="zh-CN" sz="1200" kern="1200" dirty="0">
                <a:solidFill>
                  <a:schemeClr val="tx1"/>
                </a:solidFill>
                <a:effectLst/>
                <a:latin typeface="+mn-lt"/>
                <a:sym typeface="+mn-ea"/>
              </a:rPr>
              <a:t>45</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，故？处应选择白色图形为轴对称图形，且只有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条对称轴，对称轴方向为竖直方向的图形，只有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【解析】元素组成相似，优先考虑样式规律。九宫格优先横行看，观察发现，第一行前两个图形相加，且重合部分变为黑色可得到第三个图形；第二行满足此规律；第三行应用此规律，只有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【解析】元素组成不同，且无明显属性规律，优先考虑数量规律。观察发现，题干图形中出现嵌套图形、杂乱的面，考虑笔画数。观察发现，题干图形均为一笔画图形，故？处应选择一个一笔画的图形，只有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对于不能消除的无关变量，我们可以使它在整个实验中保持恒定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项：时间符合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不能消除的无关变量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，将实验组和对照组都安排在同一时间进行实验，符合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使无关变量在整个实验中保持恒定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项：把噪音、光线等无关变量通过人为设计采取一定措施消除了这些影响因素，不符合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对于不能消除的无关变量，使它在整个实验中保持恒定</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项：男女性别属于实验中的相关变量，不符合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对于不能消除的无关变量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项：实验刺激的先后顺序属于实验中的相关变量，不符合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对于不能消除的无关变量</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，不符合定义，排除。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【解析】学业求助策略：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当学生在学习上遇到困难时向他人请求帮助的行为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执行性求助策略：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请求他人替自己解决困难的策略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工具性求助策略：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借助他人的力量但由自己解决困难或者实现目标的策略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项：小宋自己苦思冥想，最终解答出思考题，不是向他人请求帮忙，不符合任何一个定义，排除；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项：小陈向老师请教阅读理解的答题技巧，并将该技巧用于解题，符合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借助他人的力量但由自己解决困难或者实现目标的策略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工具性求助策略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执行性求助策略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项：小冯仅请小方给自己讲作文的基本思路和方法，并未请求小方替自己写作文，符合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借助他人的力量但由自己解决困难或者实现目标的策略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工具性求助策略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执行性求助策略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项：小王请小李告知详细的解题步骤以完成求解，是小李直接替小王解题，小王并未自己思考解决题目，符合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请求他人替自己解决困难的策略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执行性求助策略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【解析】预先控制：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在制定计划时，已经做好了产生偏差的充分准备，使计划在实施过程中尽量减少偏差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实时控制：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实时掌握工作进程。及时修正行动，消除问题偏差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反馈控制：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在某一行动完成之后，将实际结果与计划进行比较，从而对下一步行动起到调整作用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项：小张一行需要不断借助卫星导航找寻合适的科考路线，符合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实时掌握工作进程。及时修正行动，消除问题偏差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实时控制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项：通过充分调研，制定了不同的美丽乡村建设方案，并根据实施情况及时调整完善，符合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在制定计划时，已经做好了产生偏差的充分准备，使计划在实施过程中尽量减少偏差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预先控制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项：开学初针对学生制定个性化的培养目标，在期末进行综合评价并优化培养方案，符合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在某一行动完成之后，将实际结果与计划进行比较，从而对下一步行动起到调整作用</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项：在实验中，主试及时将组合正误结果告知被试，符合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实时掌握工作进程。及时修正行动，消除问题偏差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实时控制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定义，不符合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反馈控制</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定义，排除。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）纵深调度：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运用演员调度的多种形式，使演员的表演在透视关系上具有或近或远的动态感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运用摄影机调度的多种形式，配合富于变化的演员调度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）重复调度：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相同或相似的演员调度或镜头调度重复出现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）对比调度：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运用对比形式，如动与静、快与慢等增加艺术效果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项：镜头快速地向前推进是运用摄影机调度，配合士兵和长官这两位演员的动作、位置的调度，符合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演员的表演在透视关系上具有或近或远的动态感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运用摄影机调度的多种形式，配合富于变化的演员调度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），对应正确，当选；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项：同样的一棵树下，拍摄妻子送别丈夫上前线和迎接丈夫凯旋，符合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相同或相似的演员调度或镜头调度重复出现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）而不是（</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），对应错误，排除；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项：先拍摄男子焦急地来回踱步，后转向坐在椅子上一动不动的妻子，属于动与静的对比，符合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运用对比形式，如动与静、快与慢等增加艺术效果</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）而不是（</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），对应错误，排除；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项：将摄像机摆在十字路口，拍摄演员从北街由远而近又拐向西街由近而远跑去，符合</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运用演员调度的多种形式，使演员的表演在透视关系上具有或近或远的动态感</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，对应（</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）而不是（</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），对应错误，排除。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【解析】飘尘：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悬浮在空气中</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粒径小于等于</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微米的颗粒物</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降尘：</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自然降落于地表的空气颗粒物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粒径大于</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微米的固体颗粒</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大气污染物质量浓度</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每立方米空气中所含污染物的质量数</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大气污染物体积浓度</a:t>
            </a:r>
            <a:r>
              <a:rPr lang="en-US" altLang="zh-CN" sz="1200" kern="1200" dirty="0">
                <a:solidFill>
                  <a:schemeClr val="tx1"/>
                </a:solidFill>
                <a:effectLst/>
                <a:latin typeface="+mn-lt"/>
                <a:sym typeface="+mn-ea"/>
              </a:rPr>
              <a:t>CP</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“100</a:t>
            </a:r>
            <a:r>
              <a:rPr lang="zh-CN" altLang="en-US" sz="1200" kern="1200" dirty="0">
                <a:solidFill>
                  <a:schemeClr val="tx1"/>
                </a:solidFill>
                <a:effectLst/>
                <a:latin typeface="+mn-lt"/>
                <a:sym typeface="+mn-ea"/>
              </a:rPr>
              <a:t>万体积的空气中所含污染物的体积数</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a:t>
            </a:r>
            <a:r>
              <a:rPr lang="en-US" altLang="zh-CN" sz="1200" kern="1200" dirty="0">
                <a:solidFill>
                  <a:schemeClr val="tx1"/>
                </a:solidFill>
                <a:effectLst/>
                <a:latin typeface="+mn-lt"/>
                <a:sym typeface="+mn-ea"/>
              </a:rPr>
              <a:t>CP</a:t>
            </a:r>
            <a:r>
              <a:rPr lang="zh-CN" altLang="en-US" sz="1200" kern="1200" dirty="0">
                <a:solidFill>
                  <a:schemeClr val="tx1"/>
                </a:solidFill>
                <a:effectLst/>
                <a:latin typeface="+mn-lt"/>
                <a:sym typeface="+mn-ea"/>
              </a:rPr>
              <a:t>的关系：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项：降尘量越多，说明大气污染物浓度越高，即污染程度越高，故选项说法错误，排除；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项：由公式可知，污染物的分子量一定时，大气污染物质量浓度</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与大气污染物体积浓度</a:t>
            </a:r>
            <a:r>
              <a:rPr lang="en-US" altLang="zh-CN" sz="1200" kern="1200" dirty="0">
                <a:solidFill>
                  <a:schemeClr val="tx1"/>
                </a:solidFill>
                <a:effectLst/>
                <a:latin typeface="+mn-lt"/>
                <a:sym typeface="+mn-ea"/>
              </a:rPr>
              <a:t>CP</a:t>
            </a:r>
            <a:r>
              <a:rPr lang="zh-CN" altLang="en-US" sz="1200" kern="1200" dirty="0">
                <a:solidFill>
                  <a:schemeClr val="tx1"/>
                </a:solidFill>
                <a:effectLst/>
                <a:latin typeface="+mn-lt"/>
                <a:sym typeface="+mn-ea"/>
              </a:rPr>
              <a:t>成正比，即污染物的质量浓度越大，其体积浓度就越大，故选项说法错误，排除；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项：由题干信息无法判断不依靠外力的情况下，部分粒径小于等于</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微米且悬浮在空气中的颗粒物是否会缓慢降落于地表，无法判断是否正确，排除；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项：大气污染物质量浓度</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指每立方米空气中所含污染物的质量数，如果</a:t>
            </a:r>
            <a:r>
              <a:rPr lang="en-US" altLang="zh-CN" sz="1200" kern="1200" dirty="0">
                <a:solidFill>
                  <a:schemeClr val="tx1"/>
                </a:solidFill>
                <a:effectLst/>
                <a:latin typeface="+mn-lt"/>
                <a:sym typeface="+mn-ea"/>
              </a:rPr>
              <a:t>1000</a:t>
            </a:r>
            <a:r>
              <a:rPr lang="zh-CN" altLang="en-US" sz="1200" kern="1200" dirty="0">
                <a:solidFill>
                  <a:schemeClr val="tx1"/>
                </a:solidFill>
                <a:effectLst/>
                <a:latin typeface="+mn-lt"/>
                <a:sym typeface="+mn-ea"/>
              </a:rPr>
              <a:t>立方米空气中所含二氧化硫的质量数</a:t>
            </a:r>
            <a:r>
              <a:rPr lang="en-US" altLang="zh-CN" sz="1200" kern="1200" dirty="0">
                <a:solidFill>
                  <a:schemeClr val="tx1"/>
                </a:solidFill>
                <a:effectLst/>
                <a:latin typeface="+mn-lt"/>
                <a:sym typeface="+mn-ea"/>
              </a:rPr>
              <a:t>20</a:t>
            </a:r>
            <a:r>
              <a:rPr lang="zh-CN" altLang="en-US" sz="1200" kern="1200" dirty="0">
                <a:solidFill>
                  <a:schemeClr val="tx1"/>
                </a:solidFill>
                <a:effectLst/>
                <a:latin typeface="+mn-lt"/>
                <a:sym typeface="+mn-ea"/>
              </a:rPr>
              <a:t>毫克，则二氧化硫的质量浓度为，说法正确，当选。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【解析】渔网放在渔船上，二者为物品与地点的对应关系；渔船是船，二者为种属关系。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项：餐桌放置在餐厅内，二者为物品与地点的对应关系；厅指会客、宴会、行礼、展览用的房间，餐厅是厅，二者为种属关系，与题干逻辑关系一致，当选；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项：铁饼是投掷类运动器材，与铁桶无明显逻辑关系，与题干逻辑关系不一致，排除；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燕窝是雨燕目雨燕科的部分雨燕和金丝燕属的几种金丝燕分泌的唾液及其绒羽混合粘结所筑成的巢穴，这些巢穴被用作孵化和养育幼鸟的场所，而非居住用途，二者不是物品与地点的对应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鸟兽昆虫栖息处。如：鸡窝。</a:t>
            </a:r>
            <a:r>
              <a:rPr lang="en-US" altLang="zh-CN" sz="1200" kern="1200" dirty="0">
                <a:solidFill>
                  <a:schemeClr val="tx1"/>
                </a:solidFill>
                <a:effectLst/>
                <a:latin typeface="+mn-lt"/>
                <a:sym typeface="+mn-ea"/>
              </a:rPr>
              <a:t> 2.</a:t>
            </a:r>
            <a:r>
              <a:rPr lang="zh-CN" altLang="en-US" sz="1200" kern="1200" dirty="0">
                <a:solidFill>
                  <a:schemeClr val="tx1"/>
                </a:solidFill>
                <a:effectLst/>
                <a:latin typeface="+mn-lt"/>
                <a:sym typeface="+mn-ea"/>
              </a:rPr>
              <a:t>借喻人藏匿或安身之处。如：安乐窝。</a:t>
            </a:r>
            <a:r>
              <a:rPr lang="en-US" altLang="zh-CN" sz="1200" kern="1200" dirty="0">
                <a:solidFill>
                  <a:schemeClr val="tx1"/>
                </a:solidFill>
                <a:effectLst/>
                <a:latin typeface="+mn-lt"/>
                <a:sym typeface="+mn-ea"/>
              </a:rPr>
              <a:t> 3.</a:t>
            </a:r>
            <a:r>
              <a:rPr lang="zh-CN" altLang="en-US" sz="1200" kern="1200" dirty="0">
                <a:solidFill>
                  <a:schemeClr val="tx1"/>
                </a:solidFill>
                <a:effectLst/>
                <a:latin typeface="+mn-lt"/>
                <a:sym typeface="+mn-ea"/>
              </a:rPr>
              <a:t>指人或物所在或所占的位置</a:t>
            </a:r>
            <a:r>
              <a:rPr lang="en-US" altLang="zh-CN" sz="1200" kern="1200" dirty="0">
                <a:solidFill>
                  <a:schemeClr val="tx1"/>
                </a:solidFill>
                <a:effectLst/>
                <a:latin typeface="+mn-lt"/>
                <a:sym typeface="+mn-ea"/>
              </a:rPr>
              <a:t>……</a:t>
            </a:r>
            <a:endParaRPr lang="en-US" altLang="zh-CN"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项：炒饭和炒面均是食物，二者为并列关系，与题干逻辑关系不一致，排除。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【解析】外语和母语都是语言，前两者为矛盾关系，前两者与第三者之间为种属关系。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项：疫苗是指用各类病原微生物制作的用于预防接种的生物制品，其中用细菌或螺旋体制作的疫苗称为菌苗，菌苗是疫苗，前两者为种属关系，与题干逻辑关系不一致，排除；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项：家乡和他乡都是地方，前两者为矛盾关系，前两者与第三者之间为种属关系，与题干逻辑关系一致，当选；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项：白糖、红糖、葡萄糖是三种不同的糖，三者为反对关系，与题干逻辑关系不一致，排除；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项：癌症即恶性肿瘤，癌症是肿瘤，前两者为种属关系，与题干逻辑关系不一致，排除。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癌症是慢性疾病。癌症作为一种慢性疾病，其发生和发展是一个长期的过程。与急性疾病不同，癌症通常不是突然出现的，而是经过长时间的基因突变和细胞异常增殖逐渐形成的。这个过程可能持续数年甚至数十年，期间患者可能没有明显的症状，使得癌症在早期难以被发现。</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【解析】有的侦探小说是长篇小说，有的侦探小说不是长篇小说，有的长篇小说是侦探小说，有的长篇小说不是侦探小说，二者为交叉关系，侦探小说和长篇小说都是文学作品，二者与第三词为种属关系。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项：低背沙发和欧式沙发均是家具，后两词与第一词为种属关系，但词语顺序与题干不一致，与题干逻辑关系不一致，排除；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项：灯光师、音响师是负责舞台和演出的专业技术人员，与舞台演员三者为并列关系，与题干逻辑关系不一致，排除；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季节河指一年内受季节影响特别明显的河流，内流河指指由内陆山区降雨或高山融雪产生的不能流入海洋、只能流入内陆湖泊或在内陆消失的河流，有的内流河是季节河，有的内流河不是季节河，有的季节河是内流河，有的季节河不是内流河，二者为交叉关系，内流河和季节河都是江水河系，二者与第三词为种属关系，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项：两栖动物和爬行动物都是脊椎动物，二者为并列关系，与题干逻辑关系不一致，排除。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两栖动物都是卵生动物青蛙、蟾蜍、蝾螈，大部分的爬行动物是卵生动物，极少部分是卵胎生（部分毒蛇、蝮蛇）</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项：货物放在集装箱内，二者为地点的对应关系；邮件放在快递柜里，二者为地点的对应关系，前后逻辑关系一致，但两词顺序相反，排除；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项：集装箱可以运输石油，二者为工具的对应关系；文件与快递柜无明显逻辑关系，前后逻辑关系不一致，排除；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项：集装箱装在游轮上，游轮在大海上行驶，二者是间接载体的对应关系，快递柜安装在社区里，二者为地点的对应关系，前后逻辑关系不一致，排除；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项：集装箱放置在码头，二者为地点的对应关系；包裹放在快递柜里，二者为地点的对应关系，前后逻辑关系一致，当选。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项：便利贴与闹钟均为生活用品，二者为并列关系，橱柜与电冰箱均为储存物品的工具，二者为并列关系，前后逻辑关系一致，当选；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项：便利贴可以贴在书本上，二者为地点对应关系，电冰箱可以放在厨房内，二者为地点对应关系，前后逻辑关系一致，但方向相反，排除；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项：有的便利贴是彩纸，有的便利贴不是彩纸，有的彩纸是便利贴，有的彩纸不是便利贴，二者为交叉关系，速冻食品可以存放在电冰箱里，二者为地点对应关系，前后逻辑关系不一致，排除；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项：笔筒和便利贴都是生活用品，二者为并列关系，立式冰箱是电冰箱，二者为种属关系，前后逻辑关系不一致，排除。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【解析】翻译题干。</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如果会员拖欠会费，就会失去其在学会的投票权。除非存在不可控因素。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除非存在不可控因素，否则会员拖欠会费，就会失去其在学会的投票权。</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即拖欠会费且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项：翻译为：存在不可控因素且失去投票权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是对题干推理的肯后，肯后无必然结论，无法推出，排除；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存在不可控因素且失去投票权</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是对题干推理的否后，否后必否前，可以得出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拖欠会费或失去投票权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，或关系中肯定其中一个条件无法推出另一个，该项无法推出，排除；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项：翻译为：存在不可控因素且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是对题干推理的肯后，肯后无必然结论，无法推出，排除；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项：翻译为：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存在不可控因素</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是对题干推理的否后，否后必否前，可以得出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拖欠会费或失去投票权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，根据否一推一，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失去投票权</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可以推出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拖欠会费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，该项可以推出，当选。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【解析】论点：观察和实验并不能证伪它（逻辑学），当然也不能证明它（逻辑学）。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论据：逻辑学不是一门自然科学。</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论点论据话题不一致，优先考虑搭桥，即建立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不是自然科学</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观察和实验不能证伪、证明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之间的联系。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项：该项说明观察和实验只能证伪自然科学，即不是自然科学就不能被观察和实验证伪，建立论点与论据间的联系，为搭桥项，可以加强，当选；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项：该项说明自然科学不进行纯粹形式的分析，与论点讨论的观察和实验是否能证伪、证明逻辑学话题不一致，为无关项，无法加强，排除；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项：该项说明自然科学研究需要以逻辑学为基础，与论点讨论的观察和实验是否能证伪、证明逻辑学话题不一致，为无关项，无法加强，排除；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项：该项说明然自然科学都要接受观察和实验的检验，与论点讨论的观察和实验是否能证伪、证明逻辑学话题不一致，为无关项，无法加强，排除。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【解析】一般来说，年代越晚，工艺越成熟，铸币品质越高，然而楚国早中期的蚁鼻钱更精美，达到青铜铸币的最佳比例（含铜</a:t>
            </a:r>
            <a:r>
              <a:rPr lang="en-US" altLang="zh-CN" sz="1200" kern="1200" dirty="0">
                <a:solidFill>
                  <a:schemeClr val="tx1"/>
                </a:solidFill>
                <a:effectLst/>
                <a:latin typeface="+mn-lt"/>
                <a:sym typeface="+mn-ea"/>
              </a:rPr>
              <a:t>70%</a:t>
            </a:r>
            <a:r>
              <a:rPr lang="zh-CN" altLang="en-US" sz="1200" kern="1200" dirty="0">
                <a:solidFill>
                  <a:schemeClr val="tx1"/>
                </a:solidFill>
                <a:effectLst/>
                <a:latin typeface="+mn-lt"/>
                <a:sym typeface="+mn-ea"/>
              </a:rPr>
              <a:t>以上，铅锡</a:t>
            </a:r>
            <a:r>
              <a:rPr lang="en-US" altLang="zh-CN" sz="1200" kern="1200" dirty="0">
                <a:solidFill>
                  <a:schemeClr val="tx1"/>
                </a:solidFill>
                <a:effectLst/>
                <a:latin typeface="+mn-lt"/>
                <a:sym typeface="+mn-ea"/>
              </a:rPr>
              <a:t>10%</a:t>
            </a:r>
            <a:r>
              <a:rPr lang="zh-CN" altLang="en-US" sz="1200" kern="1200" dirty="0">
                <a:solidFill>
                  <a:schemeClr val="tx1"/>
                </a:solidFill>
                <a:effectLst/>
                <a:latin typeface="+mn-lt"/>
                <a:sym typeface="+mn-ea"/>
              </a:rPr>
              <a:t>左右），楚国末期的蚁鼻钱不仅低铜高铅，而且工艺粗糙。</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项：选项说明楚国境内铜锡贵而铅贱，可以解释楚国末期的蚁鼻钱低铜高铅，但是不能解释蚁鼻钱铸造工艺前期精美而后期粗糙，不能解释题干矛盾，排除；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项：选项说明蚁鼻钱成分比例的变化，源于楚国国力的日渐衰退，所以楚国末期的蚁鼻钱不仅低铜高铅，而且工艺粗糙，可以解释题干矛盾，当选；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项：选项说明蚁鼻钱因面值小多用于民间小额交易，无需更精美，但是无法解释楚国早中期的蚁鼻钱更精美，末期的蚁鼻钱不仅低铜高铅，而且工艺粗糙，无法解释题干矛盾，排除；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项：选项说明浇筑工艺早已非常成熟，与楚国早中期的蚁鼻钱更精美，末期的蚁鼻钱不仅低铜高铅，而且工艺粗糙无关，无法解释题干矛盾，排除。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【解析】论点：太忙或太闲都会影响幸福感，自由时间适中的人幸福感更强。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论据：参与者被随机分配到拥有低自由时间（每天</a:t>
            </a:r>
            <a:r>
              <a:rPr lang="en-US" altLang="zh-CN" sz="1200" kern="1200" dirty="0">
                <a:solidFill>
                  <a:schemeClr val="tx1"/>
                </a:solidFill>
                <a:effectLst/>
                <a:latin typeface="+mn-lt"/>
                <a:sym typeface="+mn-ea"/>
              </a:rPr>
              <a:t>15</a:t>
            </a:r>
            <a:r>
              <a:rPr lang="zh-CN" altLang="en-US" sz="1200" kern="1200" dirty="0">
                <a:solidFill>
                  <a:schemeClr val="tx1"/>
                </a:solidFill>
                <a:effectLst/>
                <a:latin typeface="+mn-lt"/>
                <a:sym typeface="+mn-ea"/>
              </a:rPr>
              <a:t>分钟）、中等自由时间（每天</a:t>
            </a:r>
            <a:r>
              <a:rPr lang="en-US" altLang="zh-CN" sz="1200" kern="1200" dirty="0">
                <a:solidFill>
                  <a:schemeClr val="tx1"/>
                </a:solidFill>
                <a:effectLst/>
                <a:latin typeface="+mn-lt"/>
                <a:sym typeface="+mn-ea"/>
              </a:rPr>
              <a:t>3.5</a:t>
            </a:r>
            <a:r>
              <a:rPr lang="zh-CN" altLang="en-US" sz="1200" kern="1200" dirty="0">
                <a:solidFill>
                  <a:schemeClr val="tx1"/>
                </a:solidFill>
                <a:effectLst/>
                <a:latin typeface="+mn-lt"/>
                <a:sym typeface="+mn-ea"/>
              </a:rPr>
              <a:t>小时）和高自由时间（每天</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小时）的组里，并被要求报告他们的感受到的快乐、幸福和满足程度。结果显示，无论是低自由时间组还是高自由时间组，报告的幸福感都低于中等自由时间组。</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论点中出现因果关系，削弱优先考虑因果倒置或他因削弱。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项：该项说明高自由时间的人从事各项活动效率较低从而影响了幸福感，解释了高自由时间的人幸福感低的原因，为加强项，不能削弱，排除；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项：该项说明实验中高低自由时间组幸福感较低是因为改变了原有的生活习惯，提出了其它影响幸福感的原因，为他因削弱，可以削弱，当选；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项：该项说明有实验者认为休闲纯粹是在浪费时间，他们的幸福感相对较低，但不清楚这些实验者的自由时间情况，为不明确项，不能削弱，排除；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项：该项说明拥有高和低自由时间的人在从事业余爱好活动时，和中等自由时间的人幸福感相似，但不明确从事非业余爱好活动时</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类人群的幸福感高低，为无关项，不能削弱，排除。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白术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黄芪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党参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首乌</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黄芪或首乌</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当归</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假设不种植当归，是对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的否后，否后必否前，则</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种植黄芪且</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种植首乌，此时三种植物都不种植，与题干选择</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种进行种植矛盾，则一定要种植当归。</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白术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黄芪</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党参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首乌</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黄芪或首乌</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当归</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黄芪</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党参</a:t>
            </a:r>
            <a:endParaRPr lang="zh-CN" altLang="en-US" sz="1200" kern="1200" dirty="0">
              <a:solidFill>
                <a:schemeClr val="tx1"/>
              </a:solidFill>
              <a:effectLst/>
              <a:latin typeface="+mn-lt"/>
              <a:sym typeface="+mn-ea"/>
            </a:endParaRPr>
          </a:p>
          <a:p>
            <a:r>
              <a:rPr lang="en-US" altLang="en-US" sz="1200" kern="1200" dirty="0">
                <a:solidFill>
                  <a:schemeClr val="tx1"/>
                </a:solidFill>
                <a:effectLst/>
                <a:latin typeface="+mn-lt"/>
                <a:sym typeface="+mn-ea"/>
              </a:rPr>
              <a:t>①②③④</a:t>
            </a:r>
            <a:r>
              <a:rPr lang="zh-CN" altLang="en-US" sz="1200" kern="1200" dirty="0">
                <a:solidFill>
                  <a:schemeClr val="tx1"/>
                </a:solidFill>
                <a:effectLst/>
                <a:latin typeface="+mn-lt"/>
                <a:sym typeface="+mn-ea"/>
              </a:rPr>
              <a:t>可以推出</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白术</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黄芪</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党参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首乌</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黄芪或首乌</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当归</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假设种植白术，是对</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的肯前，肯前必肯后，则种植黄芪、种植党参、种植首乌、种植当归，此时种植</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种植物，与题干选择</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种植物进行种植矛盾，则不能种植白术，排除</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项；假设种植黄芪，是对</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的肯前，肯前必肯后，则种植党参、种植首乌、种植当归，此时种植</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种植物，与题干选择</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种植物进行种植矛盾，则不能种植黄芪，排除</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【解析】论点：写字楼里有很多形式化的会议，各种周报、月报、年报，还有复杂的人际关系、让人避之不及的精神内耗，这些写字楼里巨大的工作压力是人们选择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的原因。</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论点中出现因果关系，削弱考虑因果倒置或他因削弱。</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项：该项说明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不是缓解工作压力的唯一或最好的方式，与论点讨论的人们选择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写字楼的原因话题不一致，为无关项，不能削弱，排除；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项：该项说明各类劳动者普遍面临工作压力大的问题，与论点讨论的人们选择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写字楼的原因话题不一致，为无关项，不能削弱，排除；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项：该项说明</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写字楼的人更多是因为具备一定的经济条件而主动规划未来生活，提出了其它选择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写字楼的原因，为他因削弱，可以削弱，当选；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项：该项说明有很多人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体力工作，而进入写字楼从事脑力工作，与论点讨论的人们选择</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写字楼的原因话题不一致，为无关项，不能削弱，排除。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【解析】论点：这样</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后一无所成的人并不是少数。</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论据：仅以我身边的朋友来说，有一位辞职离开了大厂，现在啥也没干；另一位曾是媒体人，辞职后躲进了山里，悠然自得。</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项：题干并未讨论是否应该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写字楼，仅是谈及</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写字楼的现象，因此小王并未歪曲论题，评价不正确，排除；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项：小王身边的朋友仅是一些偶然性的例子，小王仅通过偶然性的例子就得出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后一无所成的人并不是少数的结论，存在证据不足、缺乏严谨论证的问题，评价正确，当选；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项：小王的言论是通过身边的个例，得出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后一无所成的人并不是少数的结论，是由个别事例推出一般结论，因此小王对他人的批评是基于对问题的论证，评价不正确，排除；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项：小王的言论是通过身边的个例，得出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后一无所成的人并不是少数的结论，他是认为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身边的朋友</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具有的属性，其他</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者也具有，由部分推断整体，评价不正确，排除。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【解析】小李论点：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写字楼并不会让人真正摆脱脑力劳动的烦恼，只会让人更加焦虑。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小李论据：</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个月内是最幸福的时候，但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个月后，很多人因为没事做或经济原因陷入焦虑。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小赵论点：</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逃离</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写字楼会让人真正摆脱脑力劳动的烦恼，不会让人更加焦虑。</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小赵论据：在这个价值多元的社会，有从办公室到咖啡屋快乐打工的人，也有从车间来到写字楼的人，世上生存方式千千万，总有一款适合你。无论是选择体力劳动还是脑力劳动，都是一种人生的选择。</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项：小赵的言论是无论是选择体力劳动还是脑力劳动，都是一种人生的选择，并未质疑事实，评价错误，排除；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项：小赵的言论中并未出现举例，不符合援引例证，评价错误，排除；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项：小赵的言论是无论是选择体力劳动还是脑力劳动，都是一种人生的选择，与小李的论题无关，无法支持小李的论题，评价错误，排除；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项：小赵的言论是无论是选择体力劳动还是脑力劳动，都是一种人生的选择，与小李的论题话题不一致，离开了小李的论题，无法反驳小李，评价正确，当选。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B</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（补充）</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2024</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30</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44" name="图片 144" descr="1753263943353"/>
          <p:cNvPicPr>
            <a:picLocks noChangeAspect="1"/>
          </p:cNvPicPr>
          <p:nvPr/>
        </p:nvPicPr>
        <p:blipFill>
          <a:blip r:embed="rId1"/>
          <a:stretch>
            <a:fillRect/>
          </a:stretch>
        </p:blipFill>
        <p:spPr>
          <a:xfrm>
            <a:off x="669925" y="1918970"/>
            <a:ext cx="9237345" cy="3602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4" name="图片 3"/>
          <p:cNvPicPr/>
          <p:nvPr/>
        </p:nvPicPr>
        <p:blipFill>
          <a:blip r:embed="rId1"/>
          <a:stretch>
            <a:fillRect/>
          </a:stretch>
        </p:blipFill>
        <p:spPr>
          <a:xfrm>
            <a:off x="1042035" y="1816735"/>
            <a:ext cx="8385175" cy="38379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63</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98" name="图片 97"/>
          <p:cNvPicPr>
            <a:picLocks noChangeAspect="1"/>
          </p:cNvPicPr>
          <p:nvPr/>
        </p:nvPicPr>
        <p:blipFill>
          <a:blip r:embed="rId1"/>
          <a:stretch>
            <a:fillRect/>
          </a:stretch>
        </p:blipFill>
        <p:spPr>
          <a:xfrm>
            <a:off x="1446530" y="1379220"/>
            <a:ext cx="5026660" cy="468312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140" name="图片 138" descr="IMG_256"/>
          <p:cNvPicPr>
            <a:picLocks noChangeAspect="1"/>
          </p:cNvPicPr>
          <p:nvPr/>
        </p:nvPicPr>
        <p:blipFill>
          <a:blip r:embed="rId1"/>
          <a:stretch>
            <a:fillRect/>
          </a:stretch>
        </p:blipFill>
        <p:spPr>
          <a:xfrm>
            <a:off x="818515" y="1987550"/>
            <a:ext cx="7796530" cy="328549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dirty="0">
                <a:cs typeface="微软雅黑" panose="020B0503020204020204" charset="-122"/>
              </a:rPr>
              <a:t> </a:t>
            </a:r>
            <a:r>
              <a:rPr lang="zh-CN" altLang="en-US" dirty="0">
                <a:cs typeface="微软雅黑" panose="020B0503020204020204" charset="-122"/>
                <a:sym typeface="+mn-ea"/>
              </a:rPr>
              <a:t>在研究中存在许多与研究目的无关的变量，它们可能引起研究结果的误差，因此，在制定研究计划时应采取适当措施控制无关变量。其中，对于不能消除的无关变量，我们可以使它在整个实验中保持恒定，这种控制方法称为恒常法。</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根据上述定义，下列使用了恒常法的是（</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通过将实验组和对照组都安排在同一时间进行实验，来消除时间这一因素可能产生的影响</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为了控制噪音、光线等无关变量，在实验环境中，通过人为设计采取一定措施消除这些影响因素</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为研究某药物对性别的影响，随机抽取男女被试，使男性组和女性组人数一致，从而控制性别这个变量</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为了控制实验刺激的先后顺序这个潜在变量，设计一半被试先接受红光刺激，再接受绿光刺激，而另一半被试顺序相反</a:t>
            </a:r>
            <a:endParaRPr lang="zh-CN" altLang="en-US"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学业求助策略是指当学生在学习上遇到困难时向他人请求帮助的行为。按照求助者的目的将学业求助策略划分为执行性求助策略和工具性求助策略。执行性求助策略指请求他人替自己解决困难的策略；工具性求助策略指借助他人的力量但由自己解决困难或者实现目标的策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根据上述定义，下列属于执行性求助策略的是（）。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小宋苦思冥想，终于解答出了作业中的思考题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小陈课后向老师请教阅读理解的答题技巧用于解题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小冯写作前请小方给自己讲一讲作文的基本思路和方法</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小王请小李将某题的详细解题步骤告诉自己以完成求解</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管理控制有多种类型。预先控制是指在制定计划时，已经做好了产生偏差的充分准备，使计划在实施过程中尽量减少偏差；实时控制是指实时掌握工作进程。及时修正行动，消除问题偏差；反馈控制是指在某一行动完成之后，将实际结果与计划进行比较，从而对下一步行动起到调整作用。</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根据上述定义，下列行为整体属于反馈控制的是（）。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小张一行到西部山区进行科考，由于这里人迹罕至，没有公路，他们只能不断借助卫星导航找寻合适的科考路线</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通过充分调研，工作组掌握了乡镇所属</a:t>
            </a:r>
            <a:r>
              <a:rPr lang="en-US" altLang="zh-CN" dirty="0">
                <a:cs typeface="微软雅黑" panose="020B0503020204020204" charset="-122"/>
                <a:sym typeface="+mn-ea"/>
              </a:rPr>
              <a:t>8</a:t>
            </a:r>
            <a:r>
              <a:rPr lang="zh-CN" altLang="en-US" dirty="0">
                <a:cs typeface="微软雅黑" panose="020B0503020204020204" charset="-122"/>
                <a:sym typeface="+mn-ea"/>
              </a:rPr>
              <a:t>个村的情况，制定了不同的美丽乡村建设方案，并打算根据实施情况及时调整完善</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某班开学初针对学生的个人情况制定不同的培养目标，在期末进行综合评价，并在下学期开始前根据评价情况优化了培养方案</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在一项实验中，让被试每次自主将两个字母进行组合，主试及时将组合正误结果告知被试，直到被试连续组合出</a:t>
            </a:r>
            <a:r>
              <a:rPr lang="en-US" altLang="zh-CN" dirty="0">
                <a:cs typeface="微软雅黑" panose="020B0503020204020204" charset="-122"/>
                <a:sym typeface="+mn-ea"/>
              </a:rPr>
              <a:t>5</a:t>
            </a:r>
            <a:r>
              <a:rPr lang="zh-CN" altLang="en-US" dirty="0">
                <a:cs typeface="微软雅黑" panose="020B0503020204020204" charset="-122"/>
                <a:sym typeface="+mn-ea"/>
              </a:rPr>
              <a:t>个正确的为止</a:t>
            </a:r>
            <a:endParaRPr lang="zh-CN" altLang="en-US"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73</a:t>
            </a:r>
            <a:endParaRPr kumimoji="1" lang="en-US" altLang="zh-CN" sz="2800" b="1" dirty="0">
              <a:solidFill>
                <a:srgbClr val="FF653F"/>
              </a:solidFill>
            </a:endParaRPr>
          </a:p>
        </p:txBody>
      </p:sp>
      <p:sp>
        <p:nvSpPr>
          <p:cNvPr id="3" name="文本框 2"/>
          <p:cNvSpPr txBox="1"/>
          <p:nvPr/>
        </p:nvSpPr>
        <p:spPr>
          <a:xfrm>
            <a:off x="462915" y="564515"/>
            <a:ext cx="8601710" cy="5526405"/>
          </a:xfrm>
          <a:prstGeom prst="rect">
            <a:avLst/>
          </a:prstGeom>
          <a:noFill/>
        </p:spPr>
        <p:txBody>
          <a:bodyPr wrap="square" rtlCol="0" anchor="t">
            <a:noAutofit/>
          </a:bodyPr>
          <a:p>
            <a:pPr indent="0" fontAlgn="auto">
              <a:lnSpc>
                <a:spcPct val="130000"/>
              </a:lnSpc>
            </a:pPr>
            <a:r>
              <a:rPr lang="zh-CN" altLang="en-US" dirty="0">
                <a:cs typeface="微软雅黑" panose="020B0503020204020204" charset="-122"/>
                <a:sym typeface="+mn-ea"/>
              </a:rPr>
              <a:t>电影拍摄中的场面调度主要包括三类：</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）纵深调度：在多层次的空间中，运用演员调度的多种形式，使演员的表演在透视关系上具有或近或远的动态感，或运用摄影机调度的多种形式，配合富于变化的演员调度；</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）重复调度：相同或相似的演员调度或镜头调度重复出现；</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）对比调度：在演员和镜头调度的具体处理中，运用对比形式，如动与静、快与慢等增加艺术效果。</a:t>
            </a:r>
            <a:endParaRPr lang="zh-CN" altLang="en-US" dirty="0">
              <a:cs typeface="微软雅黑" panose="020B0503020204020204" charset="-122"/>
              <a:sym typeface="+mn-ea"/>
            </a:endParaRPr>
          </a:p>
          <a:p>
            <a:pPr indent="0" fontAlgn="auto">
              <a:lnSpc>
                <a:spcPct val="130000"/>
              </a:lnSpc>
            </a:pPr>
            <a:r>
              <a:rPr lang="zh-CN" altLang="en-US" dirty="0">
                <a:cs typeface="微软雅黑" panose="020B0503020204020204" charset="-122"/>
                <a:sym typeface="+mn-ea"/>
              </a:rPr>
              <a:t>根据上述定义，下列与上述场面调度类型对应正确的是（）。</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A.</a:t>
            </a:r>
            <a:r>
              <a:rPr lang="zh-CN" altLang="en-US" dirty="0">
                <a:cs typeface="微软雅黑" panose="020B0503020204020204" charset="-122"/>
                <a:sym typeface="+mn-ea"/>
              </a:rPr>
              <a:t>拍摄中，一个士兵上前抓住女工人的手时，镜头快速地向前推进，直到长官走来要询问她时才停下</a:t>
            </a:r>
            <a:r>
              <a:rPr lang="en-US" altLang="zh-CN" dirty="0">
                <a:cs typeface="微软雅黑" panose="020B0503020204020204" charset="-122"/>
                <a:sym typeface="+mn-ea"/>
              </a:rPr>
              <a:t>——</a:t>
            </a: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B.</a:t>
            </a:r>
            <a:r>
              <a:rPr lang="zh-CN" altLang="en-US" dirty="0">
                <a:cs typeface="微软雅黑" panose="020B0503020204020204" charset="-122"/>
                <a:sym typeface="+mn-ea"/>
              </a:rPr>
              <a:t>一幕戏中，刚结完婚的妻子在树下送别丈夫上前线；另一幕戏中，数年后，同在这棵树下，妻子迎接丈夫凯旋</a:t>
            </a:r>
            <a:r>
              <a:rPr lang="en-US" altLang="zh-CN" dirty="0">
                <a:cs typeface="微软雅黑" panose="020B0503020204020204" charset="-122"/>
                <a:sym typeface="+mn-ea"/>
              </a:rPr>
              <a:t>——</a:t>
            </a:r>
            <a:r>
              <a:rPr lang="zh-CN" altLang="en-US" dirty="0">
                <a:cs typeface="微软雅黑" panose="020B0503020204020204" charset="-122"/>
                <a:sym typeface="+mn-ea"/>
              </a:rPr>
              <a:t>（</a:t>
            </a:r>
            <a:r>
              <a:rPr lang="en-US" altLang="zh-CN" dirty="0">
                <a:cs typeface="微软雅黑" panose="020B0503020204020204" charset="-122"/>
                <a:sym typeface="+mn-ea"/>
              </a:rPr>
              <a:t>1</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C.</a:t>
            </a:r>
            <a:r>
              <a:rPr lang="zh-CN" altLang="en-US" dirty="0">
                <a:cs typeface="微软雅黑" panose="020B0503020204020204" charset="-122"/>
                <a:sym typeface="+mn-ea"/>
              </a:rPr>
              <a:t>某客厅中，镜头先拍摄一男子在家中焦急地来回踱步，后转向其妻子，她冷冰冰地坐在椅子上一动不动</a:t>
            </a:r>
            <a:r>
              <a:rPr lang="en-US" altLang="zh-CN" dirty="0">
                <a:cs typeface="微软雅黑" panose="020B0503020204020204" charset="-122"/>
                <a:sym typeface="+mn-ea"/>
              </a:rPr>
              <a:t>——</a:t>
            </a:r>
            <a:r>
              <a:rPr lang="zh-CN" altLang="en-US" dirty="0">
                <a:cs typeface="微软雅黑" panose="020B0503020204020204" charset="-122"/>
                <a:sym typeface="+mn-ea"/>
              </a:rPr>
              <a:t>（</a:t>
            </a:r>
            <a:r>
              <a:rPr lang="en-US" altLang="zh-CN" dirty="0">
                <a:cs typeface="微软雅黑" panose="020B0503020204020204" charset="-122"/>
                <a:sym typeface="+mn-ea"/>
              </a:rPr>
              <a:t>2</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30000"/>
              </a:lnSpc>
            </a:pPr>
            <a:r>
              <a:rPr lang="en-US" altLang="zh-CN" dirty="0">
                <a:cs typeface="微软雅黑" panose="020B0503020204020204" charset="-122"/>
                <a:sym typeface="+mn-ea"/>
              </a:rPr>
              <a:t>D.</a:t>
            </a:r>
            <a:r>
              <a:rPr lang="zh-CN" altLang="en-US" dirty="0">
                <a:cs typeface="微软雅黑" panose="020B0503020204020204" charset="-122"/>
                <a:sym typeface="+mn-ea"/>
              </a:rPr>
              <a:t>将摄像机摆在十字路口，拍摄某演员从北街由远而近冲向镜头跑来，又拐向西街由近而远跑去</a:t>
            </a:r>
            <a:r>
              <a:rPr lang="en-US" altLang="zh-CN" dirty="0">
                <a:cs typeface="微软雅黑" panose="020B0503020204020204" charset="-122"/>
                <a:sym typeface="+mn-ea"/>
              </a:rPr>
              <a:t>——</a:t>
            </a:r>
            <a:r>
              <a:rPr lang="zh-CN" altLang="en-US" dirty="0">
                <a:cs typeface="微软雅黑" panose="020B0503020204020204" charset="-122"/>
                <a:sym typeface="+mn-ea"/>
              </a:rPr>
              <a:t>（</a:t>
            </a:r>
            <a:r>
              <a:rPr lang="en-US" altLang="zh-CN" dirty="0">
                <a:cs typeface="微软雅黑" panose="020B0503020204020204" charset="-122"/>
                <a:sym typeface="+mn-ea"/>
              </a:rPr>
              <a:t>3</a:t>
            </a:r>
            <a:r>
              <a:rPr lang="zh-CN" altLang="en-US" dirty="0">
                <a:cs typeface="微软雅黑" panose="020B0503020204020204" charset="-122"/>
                <a:sym typeface="+mn-ea"/>
              </a:rPr>
              <a:t>）</a:t>
            </a:r>
            <a:endParaRPr lang="zh-CN" altLang="en-US"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大气污染物是指由于人类活动或自然过程排入大气的并对人和环境产生有害影响的那些物质，飘尘和降尘都属于大气污染物，飘尘又称可吸入颗粒物，指浮在空气中粒径小于等于</a:t>
            </a:r>
            <a:r>
              <a:rPr lang="en-US" altLang="zh-CN" dirty="0">
                <a:cs typeface="微软雅黑" panose="020B0503020204020204" charset="-122"/>
                <a:sym typeface="+mn-ea"/>
              </a:rPr>
              <a:t>10</a:t>
            </a:r>
            <a:r>
              <a:rPr lang="zh-CN" altLang="en-US" dirty="0">
                <a:cs typeface="微软雅黑" panose="020B0503020204020204" charset="-122"/>
                <a:sym typeface="+mn-ea"/>
              </a:rPr>
              <a:t>微米的颗粒物。降尘是自然降落于地表的空气颗粒物，是粒径大于</a:t>
            </a:r>
            <a:r>
              <a:rPr lang="en-US" altLang="zh-CN" dirty="0">
                <a:cs typeface="微软雅黑" panose="020B0503020204020204" charset="-122"/>
                <a:sym typeface="+mn-ea"/>
              </a:rPr>
              <a:t>10</a:t>
            </a:r>
            <a:r>
              <a:rPr lang="zh-CN" altLang="en-US" dirty="0">
                <a:cs typeface="微软雅黑" panose="020B0503020204020204" charset="-122"/>
                <a:sym typeface="+mn-ea"/>
              </a:rPr>
              <a:t>微米的固体颗粒。大气污染物浓度可两种方法表示：（</a:t>
            </a:r>
            <a:r>
              <a:rPr lang="en-US" altLang="zh-CN" dirty="0">
                <a:cs typeface="微软雅黑" panose="020B0503020204020204" charset="-122"/>
                <a:sym typeface="+mn-ea"/>
              </a:rPr>
              <a:t>1</a:t>
            </a:r>
            <a:r>
              <a:rPr lang="zh-CN" altLang="en-US" dirty="0">
                <a:cs typeface="微软雅黑" panose="020B0503020204020204" charset="-122"/>
                <a:sym typeface="+mn-ea"/>
              </a:rPr>
              <a:t>）质量浓度</a:t>
            </a:r>
            <a:r>
              <a:rPr lang="en-US" altLang="zh-CN" dirty="0">
                <a:cs typeface="微软雅黑" panose="020B0503020204020204" charset="-122"/>
                <a:sym typeface="+mn-ea"/>
              </a:rPr>
              <a:t>C</a:t>
            </a:r>
            <a:r>
              <a:rPr lang="zh-CN" altLang="en-US" dirty="0">
                <a:cs typeface="微软雅黑" panose="020B0503020204020204" charset="-122"/>
                <a:sym typeface="+mn-ea"/>
              </a:rPr>
              <a:t>指每立方米空气中所含污染物的质量数；（</a:t>
            </a:r>
            <a:r>
              <a:rPr lang="en-US" altLang="zh-CN" dirty="0">
                <a:cs typeface="微软雅黑" panose="020B0503020204020204" charset="-122"/>
                <a:sym typeface="+mn-ea"/>
              </a:rPr>
              <a:t>2</a:t>
            </a:r>
            <a:r>
              <a:rPr lang="zh-CN" altLang="en-US" dirty="0">
                <a:cs typeface="微软雅黑" panose="020B0503020204020204" charset="-122"/>
                <a:sym typeface="+mn-ea"/>
              </a:rPr>
              <a:t>）体积浓度</a:t>
            </a:r>
            <a:r>
              <a:rPr lang="en-US" altLang="zh-CN" dirty="0">
                <a:cs typeface="微软雅黑" panose="020B0503020204020204" charset="-122"/>
                <a:sym typeface="+mn-ea"/>
              </a:rPr>
              <a:t>Cp</a:t>
            </a:r>
            <a:r>
              <a:rPr lang="zh-CN" altLang="en-US" dirty="0">
                <a:cs typeface="微软雅黑" panose="020B0503020204020204" charset="-122"/>
                <a:sym typeface="+mn-ea"/>
              </a:rPr>
              <a:t>指</a:t>
            </a:r>
            <a:r>
              <a:rPr lang="en-US" altLang="zh-CN" dirty="0">
                <a:cs typeface="微软雅黑" panose="020B0503020204020204" charset="-122"/>
                <a:sym typeface="+mn-ea"/>
              </a:rPr>
              <a:t>100</a:t>
            </a:r>
            <a:r>
              <a:rPr lang="zh-CN" altLang="en-US" dirty="0">
                <a:cs typeface="微软雅黑" panose="020B0503020204020204" charset="-122"/>
                <a:sym typeface="+mn-ea"/>
              </a:rPr>
              <a:t>万体积的空气中所含污染物的体积数。两者关系为</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根据上义，下列说法正确的是（）。</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降尘量越多，代表大气的清洁程度越高</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大气污染物的分子量一定时，污染物的质量浓度越大，其体积浓度就越小</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不依靠外力，部分粒径小于等于</a:t>
            </a:r>
            <a:r>
              <a:rPr lang="en-US" altLang="zh-CN" dirty="0">
                <a:cs typeface="微软雅黑" panose="020B0503020204020204" charset="-122"/>
                <a:sym typeface="+mn-ea"/>
              </a:rPr>
              <a:t>10</a:t>
            </a:r>
            <a:r>
              <a:rPr lang="zh-CN" altLang="en-US" dirty="0">
                <a:cs typeface="微软雅黑" panose="020B0503020204020204" charset="-122"/>
                <a:sym typeface="+mn-ea"/>
              </a:rPr>
              <a:t>微米且悬浮在空气中的颗粒物也会缓慢降落于地表</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如果</a:t>
            </a:r>
            <a:r>
              <a:rPr lang="en-US" altLang="zh-CN" dirty="0">
                <a:cs typeface="微软雅黑" panose="020B0503020204020204" charset="-122"/>
                <a:sym typeface="+mn-ea"/>
              </a:rPr>
              <a:t>1000</a:t>
            </a:r>
            <a:r>
              <a:rPr lang="zh-CN" altLang="en-US" dirty="0">
                <a:cs typeface="微软雅黑" panose="020B0503020204020204" charset="-122"/>
                <a:sym typeface="+mn-ea"/>
              </a:rPr>
              <a:t>立方米空气中所含二氧化硫的质量数</a:t>
            </a:r>
            <a:r>
              <a:rPr lang="en-US" altLang="zh-CN" dirty="0">
                <a:cs typeface="微软雅黑" panose="020B0503020204020204" charset="-122"/>
                <a:sym typeface="+mn-ea"/>
              </a:rPr>
              <a:t>20</a:t>
            </a:r>
            <a:r>
              <a:rPr lang="zh-CN" altLang="en-US" dirty="0">
                <a:cs typeface="微软雅黑" panose="020B0503020204020204" charset="-122"/>
                <a:sym typeface="+mn-ea"/>
              </a:rPr>
              <a:t>毫克，则二氧化硫的质量浓度为</a:t>
            </a:r>
            <a:r>
              <a:rPr lang="en-US" altLang="zh-CN" dirty="0">
                <a:cs typeface="微软雅黑" panose="020B0503020204020204" charset="-122"/>
                <a:sym typeface="+mn-ea"/>
              </a:rPr>
              <a:t>0.02mg/m</a:t>
            </a:r>
            <a:r>
              <a:rPr lang="en-US" altLang="en-US" dirty="0">
                <a:cs typeface="微软雅黑" panose="020B0503020204020204" charset="-122"/>
                <a:sym typeface="+mn-ea"/>
              </a:rPr>
              <a:t>³</a:t>
            </a:r>
            <a:endParaRPr lang="en-US" altLang="en-US" dirty="0">
              <a:cs typeface="微软雅黑" panose="020B0503020204020204" charset="-122"/>
              <a:sym typeface="+mn-ea"/>
            </a:endParaRPr>
          </a:p>
        </p:txBody>
      </p:sp>
      <p:pic>
        <p:nvPicPr>
          <p:cNvPr id="100" name="图片 100"/>
          <p:cNvPicPr>
            <a:picLocks noChangeAspect="1"/>
          </p:cNvPicPr>
          <p:nvPr/>
        </p:nvPicPr>
        <p:blipFill>
          <a:blip r:embed="rId1"/>
          <a:stretch>
            <a:fillRect/>
          </a:stretch>
        </p:blipFill>
        <p:spPr>
          <a:xfrm>
            <a:off x="2893060" y="2837815"/>
            <a:ext cx="3380105" cy="59118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78</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渔网：渔船：船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餐桌：餐厅：厅</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铁饼：铁桶：桶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雨燕：燕窝：窝</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炒饭：炒面：面</a:t>
            </a:r>
            <a:endParaRPr lang="zh-CN" altLang="en-US"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外语：母语：语言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疫苗：菌苗：细菌</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家乡：他乡：地方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白糖：红糖：葡萄糖</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癌症：肿瘤：慢性病</a:t>
            </a:r>
            <a:endParaRPr lang="zh-CN" altLang="en-US" sz="2000" dirty="0">
              <a:cs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侦探小说：长篇小说：文学作品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家具：低背沙发：欧式沙发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灯光师：音响师：舞台演员</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内流河：季节河：江水河系</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卵生动物：两栖动物：爬行动物</a:t>
            </a:r>
            <a:endParaRPr lang="zh-CN" altLang="en-US" sz="2000" dirty="0">
              <a:cs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集装箱对于（）相当于（）对于快递柜。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货物；邮件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石油；文件</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大海；社区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码头；包裹</a:t>
            </a:r>
            <a:endParaRPr lang="zh-CN" altLang="en-US" sz="2000" dirty="0">
              <a:cs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便利贴对于（</a:t>
            </a:r>
            <a:r>
              <a:rPr lang="en-US" altLang="zh-CN" sz="2000" dirty="0">
                <a:cs typeface="微软雅黑" panose="020B0503020204020204" charset="-122"/>
                <a:sym typeface="+mn-ea"/>
              </a:rPr>
              <a:t>     </a:t>
            </a:r>
            <a:r>
              <a:rPr lang="zh-CN" altLang="en-US" sz="2000" dirty="0">
                <a:cs typeface="微软雅黑" panose="020B0503020204020204" charset="-122"/>
                <a:sym typeface="+mn-ea"/>
              </a:rPr>
              <a:t>）相当于（</a:t>
            </a:r>
            <a:r>
              <a:rPr lang="en-US" altLang="en-US" sz="2000" dirty="0">
                <a:cs typeface="微软雅黑" panose="020B0503020204020204" charset="-122"/>
                <a:sym typeface="+mn-ea"/>
              </a:rPr>
              <a:t>    </a:t>
            </a:r>
            <a:r>
              <a:rPr lang="zh-CN" altLang="en-US" sz="2000" dirty="0">
                <a:cs typeface="微软雅黑" panose="020B0503020204020204" charset="-122"/>
                <a:sym typeface="+mn-ea"/>
              </a:rPr>
              <a:t>）对于</a:t>
            </a:r>
            <a:r>
              <a:rPr lang="en-US" altLang="en-US" sz="2000" dirty="0">
                <a:cs typeface="微软雅黑" panose="020B0503020204020204" charset="-122"/>
                <a:sym typeface="+mn-ea"/>
              </a:rPr>
              <a:t> </a:t>
            </a:r>
            <a:r>
              <a:rPr lang="zh-CN" altLang="en-US" sz="2000" dirty="0">
                <a:cs typeface="微软雅黑" panose="020B0503020204020204" charset="-122"/>
                <a:sym typeface="+mn-ea"/>
              </a:rPr>
              <a:t>电冰箱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闹钟；橱柜</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书本；厨房</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彩纸；速冻食品</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笔筒；立式冰箱</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某学会章程中有一条款规定，如果会员拖欠会费，就会失去其在学会的投票权。除非存在不可控因素。由此可以推出（</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如果存在不可控因素，且会失去在学会的投票权，那么他拖欠了会费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如果不存在不可控因素，且会员失去在学会的投票权，那么他拖欠了会费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如果存在不可控因素，且会员没有失去在学会的投票权，那么他没有拖欠会费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如果不存在不可控因素，且会员没有失去在学会的投票权，那么他没有拖欠会费</a:t>
            </a:r>
            <a:endParaRPr lang="zh-CN" altLang="en-US" sz="2000" dirty="0">
              <a:cs typeface="微软雅黑" panose="020B0503020204020204" charset="-122"/>
              <a:sym typeface="+mn-ea"/>
            </a:endParaRPr>
          </a:p>
        </p:txBody>
      </p:sp>
      <p:sp>
        <p:nvSpPr>
          <p:cNvPr id="4" name="文本框 3"/>
          <p:cNvSpPr txBox="1"/>
          <p:nvPr/>
        </p:nvSpPr>
        <p:spPr>
          <a:xfrm>
            <a:off x="826770" y="1677670"/>
            <a:ext cx="9164955" cy="1291590"/>
          </a:xfrm>
          <a:prstGeom prst="rect">
            <a:avLst/>
          </a:prstGeom>
          <a:noFill/>
        </p:spPr>
        <p:txBody>
          <a:bodyPr wrap="square" rtlCol="0" anchor="t">
            <a:spAutoFit/>
          </a:bodyPr>
          <a:p>
            <a:pPr indent="0" fontAlgn="auto">
              <a:lnSpc>
                <a:spcPct val="130000"/>
              </a:lnSpc>
            </a:pPr>
            <a:r>
              <a:rPr lang="zh-CN" altLang="en-US" sz="2000" dirty="0">
                <a:solidFill>
                  <a:srgbClr val="FF0000"/>
                </a:solidFill>
                <a:effectLst/>
                <a:cs typeface="楷体" panose="02010609060101010101" charset="-122"/>
                <a:sym typeface="+mn-ea"/>
              </a:rPr>
              <a:t>除非存在不可控因素，否则会员拖欠会费，就会失去其在学会的投票权。</a:t>
            </a:r>
            <a:endParaRPr lang="zh-CN" altLang="en-US" sz="2000" dirty="0">
              <a:solidFill>
                <a:srgbClr val="FF0000"/>
              </a:solidFill>
              <a:effectLst/>
              <a:cs typeface="楷体" panose="02010609060101010101" charset="-122"/>
              <a:sym typeface="+mn-ea"/>
            </a:endParaRPr>
          </a:p>
          <a:p>
            <a:pPr indent="0" fontAlgn="auto">
              <a:lnSpc>
                <a:spcPct val="130000"/>
              </a:lnSpc>
            </a:pPr>
            <a:r>
              <a:rPr lang="en-US" altLang="zh-CN"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（拖欠会费</a:t>
            </a:r>
            <a:r>
              <a:rPr lang="en-US" altLang="en-US"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失去投票权）</a:t>
            </a:r>
            <a:r>
              <a:rPr lang="en-US" altLang="en-US"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存在不可控因素</a:t>
            </a:r>
            <a:endParaRPr lang="zh-CN" altLang="en-US" sz="2000" dirty="0">
              <a:solidFill>
                <a:srgbClr val="FF0000"/>
              </a:solidFill>
              <a:effectLs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拖欠会费且</a:t>
            </a:r>
            <a:r>
              <a:rPr lang="en-US" altLang="zh-CN"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失去投票权</a:t>
            </a:r>
            <a:r>
              <a:rPr lang="en-US" altLang="en-US" sz="2000" dirty="0">
                <a:solidFill>
                  <a:srgbClr val="FF0000"/>
                </a:solidFill>
                <a:effectLst/>
                <a:cs typeface="楷体" panose="02010609060101010101" charset="-122"/>
                <a:sym typeface="+mn-ea"/>
              </a:rPr>
              <a:t>→</a:t>
            </a:r>
            <a:r>
              <a:rPr lang="zh-CN" altLang="en-US" sz="2000" dirty="0">
                <a:solidFill>
                  <a:srgbClr val="FF0000"/>
                </a:solidFill>
                <a:effectLst/>
                <a:cs typeface="楷体" panose="02010609060101010101" charset="-122"/>
                <a:sym typeface="+mn-ea"/>
              </a:rPr>
              <a:t>存在不可控因素</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逻辑学主要研究的是如何进行正确推理，它提供给人们如何区分正确推理和错误推理的一般方法，它是基于概念的精确定义和纯粹形式的分析，推理而获得人们进行正确思维所应该遵守的一般规律，他并不是一门自然科学。因此，观察和实验并不能证伪它，当然也不能证明它。</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solidFill>
                <a:srgbClr val="FF0000"/>
              </a:solidFill>
              <a:effectLst/>
              <a:cs typeface="楷体" panose="02010609060101010101" charset="-122"/>
              <a:sym typeface="+mn-ea"/>
            </a:endParaRPr>
          </a:p>
          <a:p>
            <a:pPr indent="0" fontAlgn="auto">
              <a:lnSpc>
                <a:spcPct val="150000"/>
              </a:lnSpc>
            </a:pPr>
            <a:r>
              <a:rPr lang="zh-CN" altLang="en-US" sz="2000" dirty="0">
                <a:cs typeface="微软雅黑" panose="020B0503020204020204" charset="-122"/>
                <a:sym typeface="+mn-ea"/>
              </a:rPr>
              <a:t>以下哪项如果为真，最能支持以上论述？</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观察和实验只能证伪自然科学</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自然科学不进行纯粹形式的分析</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自然科学研究需要以逻辑学为基础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自然科学都要接受观察和实验的检验</a:t>
            </a:r>
            <a:endParaRPr lang="zh-CN" altLang="en-US" sz="2000" dirty="0">
              <a:cs typeface="微软雅黑" panose="020B0503020204020204" charset="-122"/>
              <a:sym typeface="+mn-ea"/>
            </a:endParaRPr>
          </a:p>
        </p:txBody>
      </p:sp>
      <p:sp>
        <p:nvSpPr>
          <p:cNvPr id="4" name="文本框 3"/>
          <p:cNvSpPr txBox="1"/>
          <p:nvPr/>
        </p:nvSpPr>
        <p:spPr>
          <a:xfrm>
            <a:off x="707390" y="2564765"/>
            <a:ext cx="9164955" cy="891540"/>
          </a:xfrm>
          <a:prstGeom prst="rect">
            <a:avLst/>
          </a:prstGeom>
          <a:noFill/>
        </p:spPr>
        <p:txBody>
          <a:bodyPr wrap="square" rtlCol="0" anchor="t">
            <a:spAutoFit/>
          </a:bodyPr>
          <a:p>
            <a:pPr indent="0" fontAlgn="auto">
              <a:lnSpc>
                <a:spcPct val="130000"/>
              </a:lnSpc>
            </a:pPr>
            <a:r>
              <a:rPr lang="zh-CN" altLang="en-US" sz="2000" dirty="0">
                <a:solidFill>
                  <a:srgbClr val="FF0000"/>
                </a:solidFill>
                <a:effectLst/>
                <a:cs typeface="楷体" panose="02010609060101010101" charset="-122"/>
                <a:sym typeface="+mn-ea"/>
              </a:rPr>
              <a:t>论点：观察和实验并不能证伪它（逻辑学），当然也不能证明它（逻辑学）。</a:t>
            </a:r>
            <a:endParaRPr lang="zh-CN" altLang="en-US" sz="2000" kern="1200" dirty="0">
              <a:solidFill>
                <a:srgbClr val="FF0000"/>
              </a:solidFill>
              <a:effectLst/>
              <a:latin typeface="+mn-lt"/>
              <a:cs typeface="楷体" panose="02010609060101010101" charset="-122"/>
              <a:sym typeface="+mn-ea"/>
            </a:endParaRPr>
          </a:p>
          <a:p>
            <a:pPr indent="0" fontAlgn="auto">
              <a:lnSpc>
                <a:spcPct val="130000"/>
              </a:lnSpc>
            </a:pPr>
            <a:r>
              <a:rPr lang="zh-CN" altLang="en-US" sz="2000" dirty="0">
                <a:solidFill>
                  <a:srgbClr val="FF0000"/>
                </a:solidFill>
                <a:effectLst/>
                <a:cs typeface="楷体" panose="02010609060101010101" charset="-122"/>
                <a:sym typeface="+mn-ea"/>
              </a:rPr>
              <a:t>论据：逻辑学不是一门自然科学。</a:t>
            </a:r>
            <a:endParaRPr lang="zh-CN" altLang="en-US" sz="2000"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战国时期，蚁鼻钱是楚国使用最广，数量最多的货币，然而楚国故地内出土不同年代蚁鼻钱品质差别很大。铸造蚁鼻钱的青铜，是铜、铅、锡合金，其成分比例差异是决定铜制货币品质的关键因素，一般来说，年代越晚，工艺越成熟，铸币品质越高，然而楚国早中期的蚁鼻钱更精美，达到青铜铸币的最佳比例（含铜</a:t>
            </a:r>
            <a:r>
              <a:rPr lang="en-US" altLang="zh-CN" sz="2000" dirty="0">
                <a:cs typeface="微软雅黑" panose="020B0503020204020204" charset="-122"/>
                <a:sym typeface="+mn-ea"/>
              </a:rPr>
              <a:t>70%</a:t>
            </a:r>
            <a:r>
              <a:rPr lang="zh-CN" altLang="en-US" sz="2000" dirty="0">
                <a:cs typeface="微软雅黑" panose="020B0503020204020204" charset="-122"/>
                <a:sym typeface="+mn-ea"/>
              </a:rPr>
              <a:t>以上，铅锡</a:t>
            </a:r>
            <a:r>
              <a:rPr lang="en-US" altLang="zh-CN" sz="2000" dirty="0">
                <a:cs typeface="微软雅黑" panose="020B0503020204020204" charset="-122"/>
                <a:sym typeface="+mn-ea"/>
              </a:rPr>
              <a:t>10%</a:t>
            </a:r>
            <a:r>
              <a:rPr lang="zh-CN" altLang="en-US" sz="2000" dirty="0">
                <a:cs typeface="微软雅黑" panose="020B0503020204020204" charset="-122"/>
                <a:sym typeface="+mn-ea"/>
              </a:rPr>
              <a:t>左右），楚国末期的蚁鼻钱不仅低铜高铅，而且工艺粗糙。</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以下哪项如果为真，最能解释上述现象？（）</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从战国时期的金属价格看，楚国境内铜锡贵而铅贱</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蚁鼻钱成分比例的变化，源于楚国国力的日渐衰退</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蚁鼻钱因面值小多用于民间小额交易，无需更精美</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由于需要大量生产蚁鼻钱，浇筑工艺早已非常成熟</a:t>
            </a:r>
            <a:endParaRPr lang="zh-CN" altLang="en-US" sz="2000" dirty="0">
              <a:cs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879840" cy="5526405"/>
          </a:xfrm>
          <a:prstGeom prst="rect">
            <a:avLst/>
          </a:prstGeom>
          <a:noFill/>
        </p:spPr>
        <p:txBody>
          <a:bodyPr wrap="square" rtlCol="0" anchor="t">
            <a:noAutofit/>
          </a:bodyPr>
          <a:p>
            <a:pPr indent="0" fontAlgn="auto">
              <a:lnSpc>
                <a:spcPct val="150000"/>
              </a:lnSpc>
            </a:pPr>
            <a:r>
              <a:rPr lang="zh-CN" altLang="en-US" dirty="0">
                <a:cs typeface="微软雅黑" panose="020B0503020204020204" charset="-122"/>
                <a:sym typeface="+mn-ea"/>
              </a:rPr>
              <a:t>人们经常抱怨自己太忙，想要更多自由时间。但是更自由真的与更大的幸福感有关吗？研究人员进行了两项涉及</a:t>
            </a:r>
            <a:r>
              <a:rPr lang="en-US" altLang="zh-CN" dirty="0">
                <a:cs typeface="微软雅黑" panose="020B0503020204020204" charset="-122"/>
                <a:sym typeface="+mn-ea"/>
              </a:rPr>
              <a:t>6000</a:t>
            </a:r>
            <a:r>
              <a:rPr lang="zh-CN" altLang="en-US" dirty="0">
                <a:cs typeface="微软雅黑" panose="020B0503020204020204" charset="-122"/>
                <a:sym typeface="+mn-ea"/>
              </a:rPr>
              <a:t>多名参与者的在线实验。参与者被要求在至少</a:t>
            </a:r>
            <a:r>
              <a:rPr lang="en-US" altLang="zh-CN" dirty="0">
                <a:cs typeface="微软雅黑" panose="020B0503020204020204" charset="-122"/>
                <a:sym typeface="+mn-ea"/>
              </a:rPr>
              <a:t>6</a:t>
            </a:r>
            <a:r>
              <a:rPr lang="zh-CN" altLang="en-US" dirty="0">
                <a:cs typeface="微软雅黑" panose="020B0503020204020204" charset="-122"/>
                <a:sym typeface="+mn-ea"/>
              </a:rPr>
              <a:t>个月里每天都有一定数量的自由支配的休闲时间。参与者被随机分配到拥有低自由时间（每天</a:t>
            </a:r>
            <a:r>
              <a:rPr lang="en-US" altLang="zh-CN" dirty="0">
                <a:cs typeface="微软雅黑" panose="020B0503020204020204" charset="-122"/>
                <a:sym typeface="+mn-ea"/>
              </a:rPr>
              <a:t>15</a:t>
            </a:r>
            <a:r>
              <a:rPr lang="zh-CN" altLang="en-US" dirty="0">
                <a:cs typeface="微软雅黑" panose="020B0503020204020204" charset="-122"/>
                <a:sym typeface="+mn-ea"/>
              </a:rPr>
              <a:t>分钟）、中等自由时间（每天</a:t>
            </a:r>
            <a:r>
              <a:rPr lang="en-US" altLang="zh-CN" dirty="0">
                <a:cs typeface="微软雅黑" panose="020B0503020204020204" charset="-122"/>
                <a:sym typeface="+mn-ea"/>
              </a:rPr>
              <a:t>3.5</a:t>
            </a:r>
            <a:r>
              <a:rPr lang="zh-CN" altLang="en-US" dirty="0">
                <a:cs typeface="微软雅黑" panose="020B0503020204020204" charset="-122"/>
                <a:sym typeface="+mn-ea"/>
              </a:rPr>
              <a:t>小时）和高自由时间（每天</a:t>
            </a:r>
            <a:r>
              <a:rPr lang="en-US" altLang="zh-CN" dirty="0">
                <a:cs typeface="微软雅黑" panose="020B0503020204020204" charset="-122"/>
                <a:sym typeface="+mn-ea"/>
              </a:rPr>
              <a:t>7</a:t>
            </a:r>
            <a:r>
              <a:rPr lang="zh-CN" altLang="en-US" dirty="0">
                <a:cs typeface="微软雅黑" panose="020B0503020204020204" charset="-122"/>
                <a:sym typeface="+mn-ea"/>
              </a:rPr>
              <a:t>小时）的组里，并被要求报告他们的感受到的快乐、幸福和满足程度。结果显示，无论是低自由时间组还是高自由时间组，报告的幸福感都低于中等自由时间组。研究人员认为太忙或太闲都会影响幸福感，自由时间适中的人幸福感更强。</a:t>
            </a:r>
            <a:endParaRPr lang="zh-CN" altLang="en-US" dirty="0">
              <a:cs typeface="微软雅黑" panose="020B0503020204020204" charset="-122"/>
              <a:sym typeface="+mn-ea"/>
            </a:endParaRPr>
          </a:p>
          <a:p>
            <a:pPr indent="0" fontAlgn="auto">
              <a:lnSpc>
                <a:spcPct val="150000"/>
              </a:lnSpc>
            </a:pPr>
            <a:r>
              <a:rPr lang="zh-CN" altLang="en-US" dirty="0">
                <a:cs typeface="微软雅黑" panose="020B0503020204020204" charset="-122"/>
                <a:sym typeface="+mn-ea"/>
              </a:rPr>
              <a:t>以下哪项如果为真，最能削弱上述结论？</a:t>
            </a:r>
            <a:endParaRPr lang="zh-CN" altLang="en-US" dirty="0">
              <a:cs typeface="微软雅黑" panose="020B0503020204020204" charset="-122"/>
              <a:sym typeface="+mn-ea"/>
            </a:endParaRPr>
          </a:p>
          <a:p>
            <a:pPr indent="0" fontAlgn="auto">
              <a:lnSpc>
                <a:spcPct val="150000"/>
              </a:lnSpc>
            </a:pP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A.</a:t>
            </a:r>
            <a:r>
              <a:rPr lang="zh-CN" altLang="en-US" dirty="0">
                <a:cs typeface="微软雅黑" panose="020B0503020204020204" charset="-122"/>
                <a:sym typeface="+mn-ea"/>
              </a:rPr>
              <a:t>那些拥有高自由时间的人认为，自己从事各项活动的效率较低，从而影响了其幸福感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B.</a:t>
            </a:r>
            <a:r>
              <a:rPr lang="zh-CN" altLang="en-US" dirty="0">
                <a:cs typeface="微软雅黑" panose="020B0503020204020204" charset="-122"/>
                <a:sym typeface="+mn-ea"/>
              </a:rPr>
              <a:t>实验期间，高低自由时间组较大改变了参与者原有的生活习惯，从而影响了其幸福感</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C.</a:t>
            </a:r>
            <a:r>
              <a:rPr lang="zh-CN" altLang="en-US" dirty="0">
                <a:cs typeface="微软雅黑" panose="020B0503020204020204" charset="-122"/>
                <a:sym typeface="+mn-ea"/>
              </a:rPr>
              <a:t>在实验过程中，有很多参与者认为，休闲纯粹是在浪费时间，他们的幸福感相对较低</a:t>
            </a:r>
            <a:endParaRPr lang="zh-CN" altLang="en-US" dirty="0">
              <a:cs typeface="微软雅黑" panose="020B0503020204020204" charset="-122"/>
              <a:sym typeface="+mn-ea"/>
            </a:endParaRPr>
          </a:p>
          <a:p>
            <a:pPr indent="0" fontAlgn="auto">
              <a:lnSpc>
                <a:spcPct val="150000"/>
              </a:lnSpc>
            </a:pPr>
            <a:r>
              <a:rPr lang="en-US" altLang="zh-CN" dirty="0">
                <a:cs typeface="微软雅黑" panose="020B0503020204020204" charset="-122"/>
                <a:sym typeface="+mn-ea"/>
              </a:rPr>
              <a:t>D.</a:t>
            </a:r>
            <a:r>
              <a:rPr lang="zh-CN" altLang="en-US" dirty="0">
                <a:cs typeface="微软雅黑" panose="020B0503020204020204" charset="-122"/>
                <a:sym typeface="+mn-ea"/>
              </a:rPr>
              <a:t>拥有高和低自由时间的人在从事业余爱好活动时，其幸福感与中等自由时间的人相似</a:t>
            </a:r>
            <a:endParaRPr lang="zh-CN" altLang="en-US" dirty="0">
              <a:cs typeface="微软雅黑" panose="020B0503020204020204" charset="-122"/>
              <a:sym typeface="+mn-ea"/>
            </a:endParaRPr>
          </a:p>
        </p:txBody>
      </p:sp>
      <p:sp>
        <p:nvSpPr>
          <p:cNvPr id="4" name="文本框 3"/>
          <p:cNvSpPr txBox="1"/>
          <p:nvPr/>
        </p:nvSpPr>
        <p:spPr>
          <a:xfrm>
            <a:off x="4824730" y="3456305"/>
            <a:ext cx="7192010" cy="81026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论点：太忙或太闲都会影响幸福感，自由时间适中的人幸福感更强。</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论据：对比实验，低自由时间组和高自由时间组幸福感均低。</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a:t>
            </a:r>
            <a:r>
              <a:rPr kumimoji="1" lang="en-US" altLang="zh-CN" sz="2800" b="1" dirty="0">
                <a:solidFill>
                  <a:srgbClr val="FF653F"/>
                </a:solidFill>
              </a:rPr>
              <a:t>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91</a:t>
            </a:r>
            <a:r>
              <a:rPr lang="zh-CN" altLang="en-US" sz="2000" dirty="0">
                <a:cs typeface="微软雅黑" panose="020B0503020204020204" charset="-122"/>
                <a:sym typeface="+mn-ea"/>
              </a:rPr>
              <a:t>～</a:t>
            </a:r>
            <a:r>
              <a:rPr lang="en-US" altLang="zh-CN" sz="2000" dirty="0">
                <a:cs typeface="微软雅黑" panose="020B0503020204020204" charset="-122"/>
                <a:sym typeface="+mn-ea"/>
              </a:rPr>
              <a:t>92</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青年农民小陈打算种植中药材。经过考察，他拟在</a:t>
            </a:r>
            <a:r>
              <a:rPr lang="en-US" altLang="zh-CN" sz="2000" dirty="0">
                <a:cs typeface="微软雅黑" panose="020B0503020204020204" charset="-122"/>
                <a:sym typeface="+mn-ea"/>
              </a:rPr>
              <a:t>5</a:t>
            </a:r>
            <a:r>
              <a:rPr lang="zh-CN" altLang="en-US" sz="2000" dirty="0">
                <a:cs typeface="微软雅黑" panose="020B0503020204020204" charset="-122"/>
                <a:sym typeface="+mn-ea"/>
              </a:rPr>
              <a:t>种中药材白术、黄芪、党参、首乌、当归中选择</a:t>
            </a:r>
            <a:r>
              <a:rPr lang="en-US" altLang="zh-CN" sz="2000" dirty="0">
                <a:cs typeface="微软雅黑" panose="020B0503020204020204" charset="-122"/>
                <a:sym typeface="+mn-ea"/>
              </a:rPr>
              <a:t>3</a:t>
            </a:r>
            <a:r>
              <a:rPr lang="zh-CN" altLang="en-US" sz="2000" dirty="0">
                <a:cs typeface="微软雅黑" panose="020B0503020204020204" charset="-122"/>
                <a:sym typeface="+mn-ea"/>
              </a:rPr>
              <a:t>种进行种植。已知：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）如果种植白术，则也种植黄芪；</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）如果种植党参，则也种植首乌；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）只要黄芪和首乌两种中至少种植一种，则当归也种植。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91.</a:t>
            </a:r>
            <a:r>
              <a:rPr lang="zh-CN" altLang="en-US" sz="2000" dirty="0">
                <a:cs typeface="微软雅黑" panose="020B0503020204020204" charset="-122"/>
                <a:sym typeface="+mn-ea"/>
              </a:rPr>
              <a:t>根据上述信息，小陈一定会种植（</a:t>
            </a:r>
            <a:r>
              <a:rPr lang="en-US" altLang="en-US" sz="2000" dirty="0">
                <a:cs typeface="微软雅黑" panose="020B0503020204020204" charset="-122"/>
                <a:sym typeface="+mn-ea"/>
              </a:rPr>
              <a:t>  </a:t>
            </a:r>
            <a:r>
              <a:rPr lang="zh-CN" altLang="en-US" sz="2000" dirty="0">
                <a:cs typeface="微软雅黑" panose="020B0503020204020204" charset="-122"/>
                <a:sym typeface="+mn-ea"/>
              </a:rPr>
              <a:t>）。</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白术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黄芪</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党参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当归</a:t>
            </a:r>
            <a:endParaRPr lang="zh-CN" altLang="en-US" sz="2000" dirty="0">
              <a:cs typeface="微软雅黑" panose="020B0503020204020204" charset="-122"/>
              <a:sym typeface="+mn-ea"/>
            </a:endParaRPr>
          </a:p>
        </p:txBody>
      </p:sp>
      <p:sp>
        <p:nvSpPr>
          <p:cNvPr id="4" name="文本框 3"/>
          <p:cNvSpPr txBox="1"/>
          <p:nvPr/>
        </p:nvSpPr>
        <p:spPr>
          <a:xfrm>
            <a:off x="7393305" y="2118995"/>
            <a:ext cx="4319270" cy="1170305"/>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1</a:t>
            </a:r>
            <a:r>
              <a:rPr lang="zh-CN" altLang="en-US" dirty="0">
                <a:solidFill>
                  <a:srgbClr val="FF0000"/>
                </a:solidFill>
                <a:effectLst/>
                <a:cs typeface="楷体" panose="02010609060101010101" charset="-122"/>
                <a:sym typeface="+mn-ea"/>
              </a:rPr>
              <a:t>）白术</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黄芪</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2</a:t>
            </a:r>
            <a:r>
              <a:rPr lang="zh-CN" altLang="en-US" dirty="0">
                <a:solidFill>
                  <a:srgbClr val="FF0000"/>
                </a:solidFill>
                <a:effectLst/>
                <a:cs typeface="楷体" panose="02010609060101010101" charset="-122"/>
                <a:sym typeface="+mn-ea"/>
              </a:rPr>
              <a:t>）党参</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首乌</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3</a:t>
            </a:r>
            <a:r>
              <a:rPr lang="zh-CN" altLang="en-US" dirty="0">
                <a:solidFill>
                  <a:srgbClr val="FF0000"/>
                </a:solidFill>
                <a:effectLst/>
                <a:cs typeface="楷体" panose="02010609060101010101" charset="-122"/>
                <a:sym typeface="+mn-ea"/>
              </a:rPr>
              <a:t>）黄芪或首乌</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当归</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806815" cy="5526405"/>
          </a:xfrm>
          <a:prstGeom prst="rect">
            <a:avLst/>
          </a:prstGeom>
          <a:noFill/>
        </p:spPr>
        <p:txBody>
          <a:bodyPr wrap="square" rtlCol="0" anchor="t">
            <a:noAutofit/>
          </a:bodyPr>
          <a:p>
            <a:pPr indent="0" fontAlgn="auto">
              <a:lnSpc>
                <a:spcPct val="150000"/>
              </a:lnSpc>
            </a:pPr>
            <a:r>
              <a:rPr lang="en-US" altLang="zh-CN" sz="2000" dirty="0">
                <a:cs typeface="微软雅黑" panose="020B0503020204020204" charset="-122"/>
              </a:rPr>
              <a:t> </a:t>
            </a: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91</a:t>
            </a:r>
            <a:r>
              <a:rPr lang="zh-CN" altLang="en-US" sz="2000" dirty="0">
                <a:cs typeface="微软雅黑" panose="020B0503020204020204" charset="-122"/>
                <a:sym typeface="+mn-ea"/>
              </a:rPr>
              <a:t>～</a:t>
            </a:r>
            <a:r>
              <a:rPr lang="en-US" altLang="zh-CN" sz="2000" dirty="0">
                <a:cs typeface="微软雅黑" panose="020B0503020204020204" charset="-122"/>
                <a:sym typeface="+mn-ea"/>
              </a:rPr>
              <a:t>92</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青年农民小陈打算种植中药材。经过考察，他拟在</a:t>
            </a:r>
            <a:r>
              <a:rPr lang="en-US" altLang="zh-CN" sz="2000" dirty="0">
                <a:cs typeface="微软雅黑" panose="020B0503020204020204" charset="-122"/>
                <a:sym typeface="+mn-ea"/>
              </a:rPr>
              <a:t>5</a:t>
            </a:r>
            <a:r>
              <a:rPr lang="zh-CN" altLang="en-US" sz="2000" dirty="0">
                <a:cs typeface="微软雅黑" panose="020B0503020204020204" charset="-122"/>
                <a:sym typeface="+mn-ea"/>
              </a:rPr>
              <a:t>种中药材白术、黄芪、党参、首乌、当归中选择</a:t>
            </a:r>
            <a:r>
              <a:rPr lang="en-US" altLang="zh-CN" sz="2000" dirty="0">
                <a:cs typeface="微软雅黑" panose="020B0503020204020204" charset="-122"/>
                <a:sym typeface="+mn-ea"/>
              </a:rPr>
              <a:t>3</a:t>
            </a:r>
            <a:r>
              <a:rPr lang="zh-CN" altLang="en-US" sz="2000" dirty="0">
                <a:cs typeface="微软雅黑" panose="020B0503020204020204" charset="-122"/>
                <a:sym typeface="+mn-ea"/>
              </a:rPr>
              <a:t>种进行种植。已知：</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1</a:t>
            </a:r>
            <a:r>
              <a:rPr lang="zh-CN" altLang="en-US" sz="2000" dirty="0">
                <a:cs typeface="微软雅黑" panose="020B0503020204020204" charset="-122"/>
                <a:sym typeface="+mn-ea"/>
              </a:rPr>
              <a:t>）如果种植白术，则也种植黄芪；</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2</a:t>
            </a:r>
            <a:r>
              <a:rPr lang="zh-CN" altLang="en-US" sz="2000" dirty="0">
                <a:cs typeface="微软雅黑" panose="020B0503020204020204" charset="-122"/>
                <a:sym typeface="+mn-ea"/>
              </a:rPr>
              <a:t>）如果种植党参，则也种植首乌；</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a:t>
            </a:r>
            <a:r>
              <a:rPr lang="en-US" altLang="zh-CN" sz="2000" dirty="0">
                <a:cs typeface="微软雅黑" panose="020B0503020204020204" charset="-122"/>
                <a:sym typeface="+mn-ea"/>
              </a:rPr>
              <a:t>3</a:t>
            </a:r>
            <a:r>
              <a:rPr lang="zh-CN" altLang="en-US" sz="2000" dirty="0">
                <a:cs typeface="微软雅黑" panose="020B0503020204020204" charset="-122"/>
                <a:sym typeface="+mn-ea"/>
              </a:rPr>
              <a:t>）只要黄芪和首乌两种中至少种植一种，则当归也种植。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92.</a:t>
            </a:r>
            <a:r>
              <a:rPr lang="zh-CN" altLang="en-US" sz="2000" dirty="0">
                <a:cs typeface="微软雅黑" panose="020B0503020204020204" charset="-122"/>
                <a:sym typeface="+mn-ea"/>
              </a:rPr>
              <a:t>如果增加条件</a:t>
            </a:r>
            <a:r>
              <a:rPr lang="en-US" altLang="zh-CN" sz="2000" dirty="0">
                <a:cs typeface="微软雅黑" panose="020B0503020204020204" charset="-122"/>
                <a:sym typeface="+mn-ea"/>
              </a:rPr>
              <a:t>“</a:t>
            </a:r>
            <a:r>
              <a:rPr lang="zh-CN" altLang="en-US" sz="2000" dirty="0">
                <a:cs typeface="微软雅黑" panose="020B0503020204020204" charset="-122"/>
                <a:sym typeface="+mn-ea"/>
              </a:rPr>
              <a:t>若不种植党参，则也不种植黄芪</a:t>
            </a:r>
            <a:r>
              <a:rPr lang="en-US" altLang="zh-CN" sz="2000" dirty="0">
                <a:cs typeface="微软雅黑" panose="020B0503020204020204" charset="-122"/>
                <a:sym typeface="+mn-ea"/>
              </a:rPr>
              <a:t>”</a:t>
            </a:r>
            <a:r>
              <a:rPr lang="zh-CN" altLang="en-US" sz="2000" dirty="0">
                <a:cs typeface="微软雅黑" panose="020B0503020204020204" charset="-122"/>
                <a:sym typeface="+mn-ea"/>
              </a:rPr>
              <a:t>，那么可以得出以下哪项？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白术和黄芪都种植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黄芪和党参都种植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党参和首乌都种植</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白术和首乌都种植</a:t>
            </a:r>
            <a:endParaRPr lang="zh-CN" altLang="en-US" sz="2000" dirty="0">
              <a:cs typeface="微软雅黑" panose="020B0503020204020204" charset="-122"/>
              <a:sym typeface="+mn-ea"/>
            </a:endParaRPr>
          </a:p>
        </p:txBody>
      </p:sp>
      <p:sp>
        <p:nvSpPr>
          <p:cNvPr id="4" name="文本框 3"/>
          <p:cNvSpPr txBox="1"/>
          <p:nvPr/>
        </p:nvSpPr>
        <p:spPr>
          <a:xfrm>
            <a:off x="7393305" y="2118995"/>
            <a:ext cx="4319270" cy="1170305"/>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1</a:t>
            </a:r>
            <a:r>
              <a:rPr lang="zh-CN" altLang="en-US" dirty="0">
                <a:solidFill>
                  <a:srgbClr val="FF0000"/>
                </a:solidFill>
                <a:effectLst/>
                <a:cs typeface="楷体" panose="02010609060101010101" charset="-122"/>
                <a:sym typeface="+mn-ea"/>
              </a:rPr>
              <a:t>）白术</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黄芪</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2</a:t>
            </a:r>
            <a:r>
              <a:rPr lang="zh-CN" altLang="en-US" dirty="0">
                <a:solidFill>
                  <a:srgbClr val="FF0000"/>
                </a:solidFill>
                <a:effectLst/>
                <a:cs typeface="楷体" panose="02010609060101010101" charset="-122"/>
                <a:sym typeface="+mn-ea"/>
              </a:rPr>
              <a:t>）党参</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首乌</a:t>
            </a:r>
            <a:endParaRPr lang="zh-CN" altLang="en-US" dirty="0">
              <a:solidFill>
                <a:srgbClr val="FF0000"/>
              </a:solidFill>
              <a:effectLst/>
              <a:cs typeface="楷体" panose="02010609060101010101" charset="-122"/>
              <a:sym typeface="+mn-ea"/>
            </a:endParaRPr>
          </a:p>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3</a:t>
            </a:r>
            <a:r>
              <a:rPr lang="zh-CN" altLang="en-US" dirty="0">
                <a:solidFill>
                  <a:srgbClr val="FF0000"/>
                </a:solidFill>
                <a:effectLst/>
                <a:cs typeface="楷体" panose="02010609060101010101" charset="-122"/>
                <a:sym typeface="+mn-ea"/>
              </a:rPr>
              <a:t>）黄芪或首乌</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当归</a:t>
            </a:r>
            <a:endParaRPr lang="zh-CN" altLang="en-US" dirty="0">
              <a:solidFill>
                <a:srgbClr val="FF0000"/>
              </a:solidFill>
              <a:effectLst/>
              <a:cs typeface="楷体" panose="02010609060101010101" charset="-122"/>
              <a:sym typeface="+mn-ea"/>
            </a:endParaRPr>
          </a:p>
        </p:txBody>
      </p:sp>
      <p:sp>
        <p:nvSpPr>
          <p:cNvPr id="5" name="文本框 4"/>
          <p:cNvSpPr txBox="1"/>
          <p:nvPr/>
        </p:nvSpPr>
        <p:spPr>
          <a:xfrm>
            <a:off x="7418070" y="3213100"/>
            <a:ext cx="4319270" cy="45085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4</a:t>
            </a:r>
            <a:r>
              <a:rPr lang="zh-CN" altLang="en-US" dirty="0">
                <a:solidFill>
                  <a:srgbClr val="FF0000"/>
                </a:solidFill>
                <a:effectLst/>
                <a:cs typeface="楷体" panose="02010609060101010101" charset="-122"/>
                <a:sym typeface="+mn-ea"/>
              </a:rPr>
              <a:t>）</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党参</a:t>
            </a:r>
            <a:r>
              <a:rPr lang="en-US" altLang="en-US"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黄芪</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93</a:t>
            </a:r>
            <a:endParaRPr kumimoji="1" lang="en-US" altLang="zh-CN" sz="2800" b="1" dirty="0">
              <a:solidFill>
                <a:srgbClr val="FF653F"/>
              </a:solidFill>
            </a:endParaRPr>
          </a:p>
        </p:txBody>
      </p:sp>
      <p:sp>
        <p:nvSpPr>
          <p:cNvPr id="3" name="文本框 2"/>
          <p:cNvSpPr txBox="1"/>
          <p:nvPr/>
        </p:nvSpPr>
        <p:spPr>
          <a:xfrm>
            <a:off x="462915" y="701675"/>
            <a:ext cx="11380470" cy="5526405"/>
          </a:xfrm>
          <a:prstGeom prst="rect">
            <a:avLst/>
          </a:prstGeom>
          <a:noFill/>
        </p:spPr>
        <p:txBody>
          <a:bodyPr wrap="square" rtlCol="0" anchor="t">
            <a:noAutofit/>
          </a:bodyPr>
          <a:p>
            <a:pPr indent="0" fontAlgn="auto">
              <a:lnSpc>
                <a:spcPct val="100000"/>
              </a:lnSpc>
            </a:pP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93</a:t>
            </a:r>
            <a:r>
              <a:rPr lang="zh-CN" altLang="en-US" dirty="0">
                <a:cs typeface="微软雅黑" panose="020B0503020204020204" charset="-122"/>
                <a:sym typeface="+mn-ea"/>
              </a:rPr>
              <a:t>～</a:t>
            </a:r>
            <a:r>
              <a:rPr lang="en-US" altLang="zh-CN" dirty="0">
                <a:cs typeface="微软雅黑" panose="020B0503020204020204" charset="-122"/>
                <a:sym typeface="+mn-ea"/>
              </a:rPr>
              <a:t>95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曾几何时，在外界看来，坐在办公室里吹着空调、对着电脑，这样的工作才称得上是</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体面的工作，然而最近，不少人却开始</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写字楼，从事起了体力劳动、对于这</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种</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写字楼的现象，一些人表达了自己的观点。</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小张：人们之所以如此，是因为写字楼里有很多形式化的会议，各种周报、月报、年报，还有复杂的人际关系、让人避之不及的精神内耗，这些写字楼里巨大的工作压力是人们选择</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的原因。</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小王：我不知道如何从数据上定义</a:t>
            </a:r>
            <a:r>
              <a:rPr lang="en-US" altLang="zh-CN" dirty="0">
                <a:cs typeface="微软雅黑" panose="020B0503020204020204" charset="-122"/>
                <a:sym typeface="+mn-ea"/>
              </a:rPr>
              <a:t>“</a:t>
            </a:r>
            <a:r>
              <a:rPr lang="zh-CN" altLang="en-US" dirty="0">
                <a:cs typeface="微软雅黑" panose="020B0503020204020204" charset="-122"/>
                <a:sym typeface="+mn-ea"/>
              </a:rPr>
              <a:t>不少人</a:t>
            </a:r>
            <a:r>
              <a:rPr lang="en-US" altLang="zh-CN" dirty="0">
                <a:cs typeface="微软雅黑" panose="020B0503020204020204" charset="-122"/>
                <a:sym typeface="+mn-ea"/>
              </a:rPr>
              <a:t>”</a:t>
            </a:r>
            <a:r>
              <a:rPr lang="zh-CN" altLang="en-US" dirty="0">
                <a:cs typeface="微软雅黑" panose="020B0503020204020204" charset="-122"/>
                <a:sym typeface="+mn-ea"/>
              </a:rPr>
              <a:t>，但我相信这是一个值得关注的现象。仅以我身边的朋友来说，有一位辞职离开了大厂，现在啥也没干；另一位曾是媒体人，辞职后躲进了山里，悠然自得，如此来看，这样</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后一无所成的人并不是少数。</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小李：</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写字楼并不会让人真正摆脱脑力劳动的烦恼，只会让人更加焦虑，一项调查显示，</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a:t>
            </a:r>
            <a:r>
              <a:rPr lang="en-US" altLang="zh-CN" dirty="0">
                <a:cs typeface="微软雅黑" panose="020B0503020204020204" charset="-122"/>
                <a:sym typeface="+mn-ea"/>
              </a:rPr>
              <a:t>3</a:t>
            </a:r>
            <a:r>
              <a:rPr lang="zh-CN" altLang="en-US" dirty="0">
                <a:cs typeface="微软雅黑" panose="020B0503020204020204" charset="-122"/>
                <a:sym typeface="+mn-ea"/>
              </a:rPr>
              <a:t>个月内是最幸福的时候，但</a:t>
            </a:r>
            <a:r>
              <a:rPr lang="en-US" altLang="zh-CN" dirty="0">
                <a:cs typeface="微软雅黑" panose="020B0503020204020204" charset="-122"/>
                <a:sym typeface="+mn-ea"/>
              </a:rPr>
              <a:t>3</a:t>
            </a:r>
            <a:r>
              <a:rPr lang="zh-CN" altLang="en-US" dirty="0">
                <a:cs typeface="微软雅黑" panose="020B0503020204020204" charset="-122"/>
                <a:sym typeface="+mn-ea"/>
              </a:rPr>
              <a:t>个月后，很多人因为没事做或经济原因陷入焦虑。</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赵：我不同意小李的观点。在这个价值多元的社会，有从办公室到咖啡屋快乐打工的人，也有从车间来到写字楼的人，世上生存方式千千万，总有一款适合你。无论是选择体力劳动还是脑力劳动，都是一种人生的选择。</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93.</a:t>
            </a:r>
            <a:r>
              <a:rPr lang="zh-CN" altLang="en-US" dirty="0">
                <a:cs typeface="微软雅黑" panose="020B0503020204020204" charset="-122"/>
                <a:sym typeface="+mn-ea"/>
              </a:rPr>
              <a:t>以下哪项如果为真，最能削弱小张的观点？（</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00000"/>
              </a:lnSpc>
            </a:pPr>
            <a:endParaRPr lang="zh-CN" altLang="en-US" dirty="0">
              <a:cs typeface="微软雅黑" panose="020B0503020204020204" charset="-122"/>
              <a:sym typeface="+mn-ea"/>
            </a:endParaRPr>
          </a:p>
          <a:p>
            <a:pPr indent="0" fontAlgn="auto">
              <a:lnSpc>
                <a:spcPct val="100000"/>
              </a:lnSpc>
            </a:pP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A.“</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不是缓解工作压力的唯一方式，更不是最好的方式</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B.</a:t>
            </a:r>
            <a:r>
              <a:rPr lang="zh-CN" altLang="en-US" dirty="0">
                <a:cs typeface="微软雅黑" panose="020B0503020204020204" charset="-122"/>
                <a:sym typeface="+mn-ea"/>
              </a:rPr>
              <a:t>在快节奏的今天，工作压力大是各类劳动者在职场普遍面临的问题</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C.“</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写字楼的人，更多是在具备一定经济条件下主动规划未来生活</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D.</a:t>
            </a:r>
            <a:r>
              <a:rPr lang="zh-CN" altLang="en-US" dirty="0">
                <a:cs typeface="微软雅黑" panose="020B0503020204020204" charset="-122"/>
                <a:sym typeface="+mn-ea"/>
              </a:rPr>
              <a:t>有很多人选择</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体力工作，进入写字楼从事自己理想的脑力工作</a:t>
            </a:r>
            <a:endParaRPr lang="zh-CN" altLang="en-US" dirty="0">
              <a:cs typeface="微软雅黑" panose="020B0503020204020204" charset="-122"/>
              <a:sym typeface="+mn-ea"/>
            </a:endParaRPr>
          </a:p>
        </p:txBody>
      </p:sp>
      <p:sp>
        <p:nvSpPr>
          <p:cNvPr id="5" name="文本框 4"/>
          <p:cNvSpPr txBox="1"/>
          <p:nvPr/>
        </p:nvSpPr>
        <p:spPr>
          <a:xfrm>
            <a:off x="612775" y="4618990"/>
            <a:ext cx="11231245" cy="450850"/>
          </a:xfrm>
          <a:prstGeom prst="rect">
            <a:avLst/>
          </a:prstGeom>
          <a:noFill/>
        </p:spPr>
        <p:txBody>
          <a:bodyPr wrap="square" rtlCol="0" anchor="t">
            <a:spAutoFit/>
          </a:bodyPr>
          <a:p>
            <a:pPr indent="0" fontAlgn="auto">
              <a:lnSpc>
                <a:spcPct val="130000"/>
              </a:lnSpc>
            </a:pPr>
            <a:r>
              <a:rPr lang="zh-CN" altLang="en-US" dirty="0">
                <a:solidFill>
                  <a:srgbClr val="FF0000"/>
                </a:solidFill>
                <a:effectLst/>
                <a:cs typeface="楷体" panose="02010609060101010101" charset="-122"/>
                <a:sym typeface="+mn-ea"/>
              </a:rPr>
              <a:t>论点：因为写字楼中压力（形式化会议、周报月报、人际关系、精神内耗）导致逃离</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94</a:t>
            </a:r>
            <a:endParaRPr kumimoji="1" lang="en-US" altLang="zh-CN" sz="2800" b="1" dirty="0">
              <a:solidFill>
                <a:srgbClr val="FF653F"/>
              </a:solidFill>
            </a:endParaRPr>
          </a:p>
        </p:txBody>
      </p:sp>
      <p:sp>
        <p:nvSpPr>
          <p:cNvPr id="3" name="文本框 2"/>
          <p:cNvSpPr txBox="1"/>
          <p:nvPr/>
        </p:nvSpPr>
        <p:spPr>
          <a:xfrm>
            <a:off x="462915" y="701675"/>
            <a:ext cx="11432540" cy="5526405"/>
          </a:xfrm>
          <a:prstGeom prst="rect">
            <a:avLst/>
          </a:prstGeom>
          <a:noFill/>
        </p:spPr>
        <p:txBody>
          <a:bodyPr wrap="square" rtlCol="0" anchor="t">
            <a:noAutofit/>
          </a:bodyPr>
          <a:p>
            <a:pPr indent="0" fontAlgn="auto">
              <a:lnSpc>
                <a:spcPct val="100000"/>
              </a:lnSpc>
            </a:pP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93</a:t>
            </a:r>
            <a:r>
              <a:rPr lang="zh-CN" altLang="en-US" dirty="0">
                <a:cs typeface="微软雅黑" panose="020B0503020204020204" charset="-122"/>
                <a:sym typeface="+mn-ea"/>
              </a:rPr>
              <a:t>～</a:t>
            </a:r>
            <a:r>
              <a:rPr lang="en-US" altLang="zh-CN" dirty="0">
                <a:cs typeface="微软雅黑" panose="020B0503020204020204" charset="-122"/>
                <a:sym typeface="+mn-ea"/>
              </a:rPr>
              <a:t>95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曾几何时，在外界看来，坐在办公室里吹着空调、对着电脑，这样的工作才称得上是</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体面的工作，然而最近，不少人却开始</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写字楼，从事起了体力劳动、对于这</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种</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写字楼的现象，一些人表达了自己的观点。</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小张：人们之所以如此，是因为写字楼里有很多形式化的会议，各种周报、月报、年报，还有复杂的人际关系、让人避之不及的精神内耗，这些写字楼里巨大的工作压力是人们选择</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的原因。</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小王：我不知道如何从数据上定义</a:t>
            </a:r>
            <a:r>
              <a:rPr lang="en-US" altLang="zh-CN" dirty="0">
                <a:cs typeface="微软雅黑" panose="020B0503020204020204" charset="-122"/>
                <a:sym typeface="+mn-ea"/>
              </a:rPr>
              <a:t>“</a:t>
            </a:r>
            <a:r>
              <a:rPr lang="zh-CN" altLang="en-US" dirty="0">
                <a:cs typeface="微软雅黑" panose="020B0503020204020204" charset="-122"/>
                <a:sym typeface="+mn-ea"/>
              </a:rPr>
              <a:t>不少人</a:t>
            </a:r>
            <a:r>
              <a:rPr lang="en-US" altLang="zh-CN" dirty="0">
                <a:cs typeface="微软雅黑" panose="020B0503020204020204" charset="-122"/>
                <a:sym typeface="+mn-ea"/>
              </a:rPr>
              <a:t>”</a:t>
            </a:r>
            <a:r>
              <a:rPr lang="zh-CN" altLang="en-US" dirty="0">
                <a:cs typeface="微软雅黑" panose="020B0503020204020204" charset="-122"/>
                <a:sym typeface="+mn-ea"/>
              </a:rPr>
              <a:t>，但我相信这是一个值得关注的现象。仅以我身边的朋友来说，有一位辞职离开了大厂，现在啥也没干；另一位曾是媒体人，辞职后躲进了山里，悠然自得，如此来看，这样</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后一无所成的人并不是少数。</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小李：</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写字楼并不会让人真正摆脱脑力劳动的烦恼，只会让人更加焦虑，一项调查显示，</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a:t>
            </a:r>
            <a:r>
              <a:rPr lang="en-US" altLang="zh-CN" dirty="0">
                <a:cs typeface="微软雅黑" panose="020B0503020204020204" charset="-122"/>
                <a:sym typeface="+mn-ea"/>
              </a:rPr>
              <a:t>3</a:t>
            </a:r>
            <a:r>
              <a:rPr lang="zh-CN" altLang="en-US" dirty="0">
                <a:cs typeface="微软雅黑" panose="020B0503020204020204" charset="-122"/>
                <a:sym typeface="+mn-ea"/>
              </a:rPr>
              <a:t>个月内是最幸福的时候，但</a:t>
            </a:r>
            <a:r>
              <a:rPr lang="en-US" altLang="zh-CN" dirty="0">
                <a:cs typeface="微软雅黑" panose="020B0503020204020204" charset="-122"/>
                <a:sym typeface="+mn-ea"/>
              </a:rPr>
              <a:t>3</a:t>
            </a:r>
            <a:r>
              <a:rPr lang="zh-CN" altLang="en-US" dirty="0">
                <a:cs typeface="微软雅黑" panose="020B0503020204020204" charset="-122"/>
                <a:sym typeface="+mn-ea"/>
              </a:rPr>
              <a:t>个月后，很多人因为没事做或经济原因陷入焦虑。</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赵：我不同意小李的观点。在这个价值多元的社会，有从办公室到咖啡屋快乐打工的人，也有从车间来到写字楼的人，世上生存方式千千万，总有一款适合你。无论是选择体力劳动还是脑力劳动，都是一种人生的选择。</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94.</a:t>
            </a:r>
            <a:r>
              <a:rPr lang="zh-CN" altLang="en-US" dirty="0">
                <a:cs typeface="微软雅黑" panose="020B0503020204020204" charset="-122"/>
                <a:sym typeface="+mn-ea"/>
              </a:rPr>
              <a:t>对于小王的言论，评价正确的是（）。</a:t>
            </a:r>
            <a:endParaRPr lang="zh-CN" altLang="en-US" dirty="0">
              <a:cs typeface="微软雅黑" panose="020B0503020204020204" charset="-122"/>
              <a:sym typeface="+mn-ea"/>
            </a:endParaRPr>
          </a:p>
          <a:p>
            <a:pPr indent="0" fontAlgn="auto">
              <a:lnSpc>
                <a:spcPct val="100000"/>
              </a:lnSpc>
            </a:pP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A.</a:t>
            </a:r>
            <a:r>
              <a:rPr lang="zh-CN" altLang="en-US" dirty="0">
                <a:cs typeface="微软雅黑" panose="020B0503020204020204" charset="-122"/>
                <a:sym typeface="+mn-ea"/>
              </a:rPr>
              <a:t>将是否应该</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写字楼这一论题，歪曲成</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写字楼后是否一无所成这一论题</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B.</a:t>
            </a:r>
            <a:r>
              <a:rPr lang="zh-CN" altLang="en-US" dirty="0">
                <a:cs typeface="微软雅黑" panose="020B0503020204020204" charset="-122"/>
                <a:sym typeface="+mn-ea"/>
              </a:rPr>
              <a:t>在证据不足、缺乏严谨论证的情况下，仅凭一些个人经验或者偶然性的例子、就匆忙得出结论</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C.</a:t>
            </a:r>
            <a:r>
              <a:rPr lang="zh-CN" altLang="en-US" dirty="0">
                <a:cs typeface="微软雅黑" panose="020B0503020204020204" charset="-122"/>
                <a:sym typeface="+mn-ea"/>
              </a:rPr>
              <a:t>对于他人的批评并非基于对问题的论证，而是基于其个人背景、身份或与所讨论的论点无关的其他特征</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D.</a:t>
            </a:r>
            <a:r>
              <a:rPr lang="zh-CN" altLang="en-US" dirty="0">
                <a:cs typeface="微软雅黑" panose="020B0503020204020204" charset="-122"/>
                <a:sym typeface="+mn-ea"/>
              </a:rPr>
              <a:t>将</a:t>
            </a:r>
            <a:r>
              <a:rPr lang="en-US" altLang="zh-CN" dirty="0">
                <a:cs typeface="微软雅黑" panose="020B0503020204020204" charset="-122"/>
                <a:sym typeface="+mn-ea"/>
              </a:rPr>
              <a:t>“</a:t>
            </a:r>
            <a:r>
              <a:rPr lang="zh-CN" altLang="en-US" dirty="0">
                <a:cs typeface="微软雅黑" panose="020B0503020204020204" charset="-122"/>
                <a:sym typeface="+mn-ea"/>
              </a:rPr>
              <a:t>身边的朋友</a:t>
            </a:r>
            <a:r>
              <a:rPr lang="en-US" altLang="zh-CN" dirty="0">
                <a:cs typeface="微软雅黑" panose="020B0503020204020204" charset="-122"/>
                <a:sym typeface="+mn-ea"/>
              </a:rPr>
              <a:t>”</a:t>
            </a:r>
            <a:r>
              <a:rPr lang="zh-CN" altLang="en-US" dirty="0">
                <a:cs typeface="微软雅黑" panose="020B0503020204020204" charset="-122"/>
                <a:sym typeface="+mn-ea"/>
              </a:rPr>
              <a:t>和其他</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者进行不恰当的类比，认为其他</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者具有的属性，</a:t>
            </a:r>
            <a:r>
              <a:rPr lang="en-US" altLang="zh-CN" dirty="0">
                <a:cs typeface="微软雅黑" panose="020B0503020204020204" charset="-122"/>
                <a:sym typeface="+mn-ea"/>
              </a:rPr>
              <a:t>“</a:t>
            </a:r>
            <a:r>
              <a:rPr lang="zh-CN" altLang="en-US" dirty="0">
                <a:cs typeface="微软雅黑" panose="020B0503020204020204" charset="-122"/>
                <a:sym typeface="+mn-ea"/>
              </a:rPr>
              <a:t>身边的朋友</a:t>
            </a:r>
            <a:r>
              <a:rPr lang="en-US" altLang="zh-CN" dirty="0">
                <a:cs typeface="微软雅黑" panose="020B0503020204020204" charset="-122"/>
                <a:sym typeface="+mn-ea"/>
              </a:rPr>
              <a:t>”</a:t>
            </a:r>
            <a:r>
              <a:rPr lang="zh-CN" altLang="en-US" dirty="0">
                <a:cs typeface="微软雅黑" panose="020B0503020204020204" charset="-122"/>
                <a:sym typeface="+mn-ea"/>
              </a:rPr>
              <a:t>也具有</a:t>
            </a:r>
            <a:endParaRPr lang="zh-CN" altLang="en-US" dirty="0">
              <a:cs typeface="微软雅黑" panose="020B0503020204020204" charset="-122"/>
              <a:sym typeface="+mn-ea"/>
            </a:endParaRPr>
          </a:p>
        </p:txBody>
      </p:sp>
      <p:sp>
        <p:nvSpPr>
          <p:cNvPr id="5" name="文本框 4"/>
          <p:cNvSpPr txBox="1"/>
          <p:nvPr/>
        </p:nvSpPr>
        <p:spPr>
          <a:xfrm>
            <a:off x="4770120" y="4276090"/>
            <a:ext cx="7125335" cy="645160"/>
          </a:xfrm>
          <a:prstGeom prst="rect">
            <a:avLst/>
          </a:prstGeom>
          <a:noFill/>
        </p:spPr>
        <p:txBody>
          <a:bodyPr wrap="square" rtlCol="0" anchor="t">
            <a:spAutoFit/>
          </a:bodyPr>
          <a:p>
            <a:pPr indent="0" fontAlgn="auto">
              <a:lnSpc>
                <a:spcPct val="100000"/>
              </a:lnSpc>
            </a:pPr>
            <a:r>
              <a:rPr lang="zh-CN" altLang="en-US" dirty="0">
                <a:solidFill>
                  <a:srgbClr val="FF0000"/>
                </a:solidFill>
                <a:effectLst/>
                <a:cs typeface="楷体" panose="02010609060101010101" charset="-122"/>
                <a:sym typeface="+mn-ea"/>
              </a:rPr>
              <a:t>论点：这样</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逃离</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后一无所成的人并不是少数。</a:t>
            </a:r>
            <a:endParaRPr lang="zh-CN" altLang="en-US" dirty="0">
              <a:solidFill>
                <a:srgbClr val="FF0000"/>
              </a:solidFill>
              <a:effectLst/>
              <a:cs typeface="楷体" panose="02010609060101010101" charset="-122"/>
              <a:sym typeface="+mn-ea"/>
            </a:endParaRPr>
          </a:p>
          <a:p>
            <a:pPr indent="0" fontAlgn="auto">
              <a:lnSpc>
                <a:spcPct val="100000"/>
              </a:lnSpc>
            </a:pPr>
            <a:r>
              <a:rPr lang="zh-CN" altLang="en-US" dirty="0">
                <a:solidFill>
                  <a:srgbClr val="FF0000"/>
                </a:solidFill>
                <a:effectLst/>
                <a:cs typeface="楷体" panose="02010609060101010101" charset="-122"/>
                <a:sym typeface="+mn-ea"/>
              </a:rPr>
              <a:t>论据：举身边朋友的例子，大厂人辞职啥也没干；媒体人躲进山里</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95</a:t>
            </a:r>
            <a:endParaRPr kumimoji="1" lang="en-US" altLang="zh-CN" sz="2800" b="1" dirty="0">
              <a:solidFill>
                <a:srgbClr val="FF653F"/>
              </a:solidFill>
            </a:endParaRPr>
          </a:p>
        </p:txBody>
      </p:sp>
      <p:sp>
        <p:nvSpPr>
          <p:cNvPr id="3" name="文本框 2"/>
          <p:cNvSpPr txBox="1"/>
          <p:nvPr/>
        </p:nvSpPr>
        <p:spPr>
          <a:xfrm>
            <a:off x="462915" y="701675"/>
            <a:ext cx="11249660" cy="5526405"/>
          </a:xfrm>
          <a:prstGeom prst="rect">
            <a:avLst/>
          </a:prstGeom>
          <a:noFill/>
        </p:spPr>
        <p:txBody>
          <a:bodyPr wrap="square" rtlCol="0" anchor="t">
            <a:noAutofit/>
          </a:bodyPr>
          <a:p>
            <a:pPr indent="0" fontAlgn="auto">
              <a:lnSpc>
                <a:spcPct val="100000"/>
              </a:lnSpc>
            </a:pPr>
            <a:r>
              <a:rPr lang="zh-CN" altLang="en-US" dirty="0">
                <a:cs typeface="微软雅黑" panose="020B0503020204020204" charset="-122"/>
                <a:sym typeface="+mn-ea"/>
              </a:rPr>
              <a:t>根据以下材料，回答</a:t>
            </a:r>
            <a:r>
              <a:rPr lang="en-US" altLang="zh-CN" dirty="0">
                <a:cs typeface="微软雅黑" panose="020B0503020204020204" charset="-122"/>
                <a:sym typeface="+mn-ea"/>
              </a:rPr>
              <a:t>93</a:t>
            </a:r>
            <a:r>
              <a:rPr lang="zh-CN" altLang="en-US" dirty="0">
                <a:cs typeface="微软雅黑" panose="020B0503020204020204" charset="-122"/>
                <a:sym typeface="+mn-ea"/>
              </a:rPr>
              <a:t>～</a:t>
            </a:r>
            <a:r>
              <a:rPr lang="en-US" altLang="zh-CN" dirty="0">
                <a:cs typeface="微软雅黑" panose="020B0503020204020204" charset="-122"/>
                <a:sym typeface="+mn-ea"/>
              </a:rPr>
              <a:t>95</a:t>
            </a:r>
            <a:r>
              <a:rPr lang="zh-CN" altLang="en-US" dirty="0">
                <a:cs typeface="微软雅黑" panose="020B0503020204020204" charset="-122"/>
                <a:sym typeface="+mn-ea"/>
              </a:rPr>
              <a:t>题。</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曾几何时，在外界看来，坐在办公室里吹着空调、对着电脑，这样的工作才称得上是</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体面的工作，然而最近，不少人却开始</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写字楼，从事起了体力劳动、对于这</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种</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写字楼的现象，一些人表达了自己的观点。</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小张：人们之所以如此，是因为写字楼里有很多形式化的会议，各种周报、月报、年报，还有复杂的人际关系、让人避之不及的精神内耗，这些写字楼里巨大的工作压力是人们选择</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的原因。</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小王：我不知道如何从数据上定义</a:t>
            </a:r>
            <a:r>
              <a:rPr lang="en-US" altLang="zh-CN" dirty="0">
                <a:cs typeface="微软雅黑" panose="020B0503020204020204" charset="-122"/>
                <a:sym typeface="+mn-ea"/>
              </a:rPr>
              <a:t>“</a:t>
            </a:r>
            <a:r>
              <a:rPr lang="zh-CN" altLang="en-US" dirty="0">
                <a:cs typeface="微软雅黑" panose="020B0503020204020204" charset="-122"/>
                <a:sym typeface="+mn-ea"/>
              </a:rPr>
              <a:t>不少人</a:t>
            </a:r>
            <a:r>
              <a:rPr lang="en-US" altLang="zh-CN" dirty="0">
                <a:cs typeface="微软雅黑" panose="020B0503020204020204" charset="-122"/>
                <a:sym typeface="+mn-ea"/>
              </a:rPr>
              <a:t>”</a:t>
            </a:r>
            <a:r>
              <a:rPr lang="zh-CN" altLang="en-US" dirty="0">
                <a:cs typeface="微软雅黑" panose="020B0503020204020204" charset="-122"/>
                <a:sym typeface="+mn-ea"/>
              </a:rPr>
              <a:t>，但我相信这是一个值得关注的现象。仅以我身边的朋友来说，有一位辞职离开了大厂，现在啥也没干；另一位曾是媒体人，辞职后躲进了山里，悠然自得，如此来看，这样</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后一无所成的人并不是少数。</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小李：</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写字楼并不会让人真正摆脱脑力劳动的烦恼，只会让人更加焦虑，一项调查显示，</a:t>
            </a:r>
            <a:r>
              <a:rPr lang="en-US" altLang="zh-CN" dirty="0">
                <a:cs typeface="微软雅黑" panose="020B0503020204020204" charset="-122"/>
                <a:sym typeface="+mn-ea"/>
              </a:rPr>
              <a:t>“</a:t>
            </a:r>
            <a:r>
              <a:rPr lang="zh-CN" altLang="en-US" dirty="0">
                <a:cs typeface="微软雅黑" panose="020B0503020204020204" charset="-122"/>
                <a:sym typeface="+mn-ea"/>
              </a:rPr>
              <a:t>逃离</a:t>
            </a:r>
            <a:r>
              <a:rPr lang="en-US" altLang="zh-CN" dirty="0">
                <a:cs typeface="微软雅黑" panose="020B0503020204020204" charset="-122"/>
                <a:sym typeface="+mn-ea"/>
              </a:rPr>
              <a:t>”</a:t>
            </a:r>
            <a:r>
              <a:rPr lang="zh-CN" altLang="en-US" dirty="0">
                <a:cs typeface="微软雅黑" panose="020B0503020204020204" charset="-122"/>
                <a:sym typeface="+mn-ea"/>
              </a:rPr>
              <a:t>写字楼</a:t>
            </a:r>
            <a:r>
              <a:rPr lang="en-US" altLang="zh-CN" dirty="0">
                <a:cs typeface="微软雅黑" panose="020B0503020204020204" charset="-122"/>
                <a:sym typeface="+mn-ea"/>
              </a:rPr>
              <a:t>3</a:t>
            </a:r>
            <a:r>
              <a:rPr lang="zh-CN" altLang="en-US" dirty="0">
                <a:cs typeface="微软雅黑" panose="020B0503020204020204" charset="-122"/>
                <a:sym typeface="+mn-ea"/>
              </a:rPr>
              <a:t>个月内是最幸福的时候，但</a:t>
            </a:r>
            <a:r>
              <a:rPr lang="en-US" altLang="zh-CN" dirty="0">
                <a:cs typeface="微软雅黑" panose="020B0503020204020204" charset="-122"/>
                <a:sym typeface="+mn-ea"/>
              </a:rPr>
              <a:t>3</a:t>
            </a:r>
            <a:r>
              <a:rPr lang="zh-CN" altLang="en-US" dirty="0">
                <a:cs typeface="微软雅黑" panose="020B0503020204020204" charset="-122"/>
                <a:sym typeface="+mn-ea"/>
              </a:rPr>
              <a:t>个月后，很多人因为没事做或经济原因陷入焦虑。</a:t>
            </a:r>
            <a:endParaRPr lang="zh-CN" altLang="en-US" dirty="0">
              <a:cs typeface="微软雅黑" panose="020B0503020204020204" charset="-122"/>
              <a:sym typeface="+mn-ea"/>
            </a:endParaRPr>
          </a:p>
          <a:p>
            <a:pPr indent="0" fontAlgn="auto">
              <a:lnSpc>
                <a:spcPct val="100000"/>
              </a:lnSpc>
            </a:pPr>
            <a:r>
              <a:rPr lang="zh-CN" altLang="en-US" dirty="0">
                <a:cs typeface="微软雅黑" panose="020B0503020204020204" charset="-122"/>
                <a:sym typeface="+mn-ea"/>
              </a:rPr>
              <a:t>小赵：我不同意小李的观点。在这个价值多元的社会，有从办公室到咖啡屋快乐打工的人，也有从车间来到写字楼的人，世上生存方式千千万，总有一款适合你。无论是选择体力劳动还是脑力劳动，都是一种人生的选择。</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95.</a:t>
            </a:r>
            <a:r>
              <a:rPr lang="zh-CN" altLang="en-US" dirty="0">
                <a:cs typeface="微软雅黑" panose="020B0503020204020204" charset="-122"/>
                <a:sym typeface="+mn-ea"/>
              </a:rPr>
              <a:t>关于小赵对小李的反驳，下列说法最恰当的是（</a:t>
            </a:r>
            <a:r>
              <a:rPr lang="en-US" altLang="en-US" dirty="0">
                <a:cs typeface="微软雅黑" panose="020B0503020204020204" charset="-122"/>
                <a:sym typeface="+mn-ea"/>
              </a:rPr>
              <a:t>    </a:t>
            </a:r>
            <a:r>
              <a:rPr lang="zh-CN" altLang="en-US" dirty="0">
                <a:cs typeface="微软雅黑" panose="020B0503020204020204" charset="-122"/>
                <a:sym typeface="+mn-ea"/>
              </a:rPr>
              <a:t>）。</a:t>
            </a:r>
            <a:endParaRPr lang="zh-CN" altLang="en-US" dirty="0">
              <a:cs typeface="微软雅黑" panose="020B0503020204020204" charset="-122"/>
              <a:sym typeface="+mn-ea"/>
            </a:endParaRPr>
          </a:p>
          <a:p>
            <a:pPr indent="0" fontAlgn="auto">
              <a:lnSpc>
                <a:spcPct val="100000"/>
              </a:lnSpc>
            </a:pPr>
            <a:endParaRPr lang="zh-CN" altLang="en-US" dirty="0">
              <a:cs typeface="微软雅黑" panose="020B0503020204020204" charset="-122"/>
              <a:sym typeface="+mn-ea"/>
            </a:endParaRPr>
          </a:p>
          <a:p>
            <a:pPr indent="0" fontAlgn="auto">
              <a:lnSpc>
                <a:spcPct val="100000"/>
              </a:lnSpc>
            </a:pP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A.</a:t>
            </a:r>
            <a:r>
              <a:rPr lang="zh-CN" altLang="en-US" dirty="0">
                <a:cs typeface="微软雅黑" panose="020B0503020204020204" charset="-122"/>
                <a:sym typeface="+mn-ea"/>
              </a:rPr>
              <a:t>小赵通过质疑事实，有力地反驳了小李</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B.</a:t>
            </a:r>
            <a:r>
              <a:rPr lang="zh-CN" altLang="en-US" dirty="0">
                <a:cs typeface="微软雅黑" panose="020B0503020204020204" charset="-122"/>
                <a:sym typeface="+mn-ea"/>
              </a:rPr>
              <a:t>小赵通过援引例证，有力地反驳了小李</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C.</a:t>
            </a:r>
            <a:r>
              <a:rPr lang="zh-CN" altLang="en-US" dirty="0">
                <a:cs typeface="微软雅黑" panose="020B0503020204020204" charset="-122"/>
                <a:sym typeface="+mn-ea"/>
              </a:rPr>
              <a:t>小赵的言论实际上支持小李的论题，无法反驳小李</a:t>
            </a:r>
            <a:endParaRPr lang="zh-CN" altLang="en-US" dirty="0">
              <a:cs typeface="微软雅黑" panose="020B0503020204020204" charset="-122"/>
              <a:sym typeface="+mn-ea"/>
            </a:endParaRPr>
          </a:p>
          <a:p>
            <a:pPr indent="0" fontAlgn="auto">
              <a:lnSpc>
                <a:spcPct val="100000"/>
              </a:lnSpc>
            </a:pPr>
            <a:r>
              <a:rPr lang="en-US" altLang="zh-CN" dirty="0">
                <a:cs typeface="微软雅黑" panose="020B0503020204020204" charset="-122"/>
                <a:sym typeface="+mn-ea"/>
              </a:rPr>
              <a:t>D.</a:t>
            </a:r>
            <a:r>
              <a:rPr lang="zh-CN" altLang="en-US" dirty="0">
                <a:cs typeface="微软雅黑" panose="020B0503020204020204" charset="-122"/>
                <a:sym typeface="+mn-ea"/>
              </a:rPr>
              <a:t>小赵的言论完全离开了小李的论题，无法反驳小李</a:t>
            </a:r>
            <a:endParaRPr lang="zh-CN" altLang="en-US" dirty="0">
              <a:cs typeface="微软雅黑" panose="020B0503020204020204" charset="-122"/>
              <a:sym typeface="+mn-ea"/>
            </a:endParaRPr>
          </a:p>
        </p:txBody>
      </p:sp>
      <p:sp>
        <p:nvSpPr>
          <p:cNvPr id="5" name="文本框 4"/>
          <p:cNvSpPr txBox="1"/>
          <p:nvPr/>
        </p:nvSpPr>
        <p:spPr>
          <a:xfrm>
            <a:off x="3340735" y="4567555"/>
            <a:ext cx="8554720" cy="645160"/>
          </a:xfrm>
          <a:prstGeom prst="rect">
            <a:avLst/>
          </a:prstGeom>
          <a:noFill/>
        </p:spPr>
        <p:txBody>
          <a:bodyPr wrap="square" rtlCol="0" anchor="t">
            <a:spAutoFit/>
          </a:bodyPr>
          <a:p>
            <a:pPr indent="0" fontAlgn="auto">
              <a:lnSpc>
                <a:spcPct val="100000"/>
              </a:lnSpc>
            </a:pPr>
            <a:r>
              <a:rPr lang="zh-CN" altLang="en-US" dirty="0">
                <a:solidFill>
                  <a:srgbClr val="FF0000"/>
                </a:solidFill>
                <a:effectLst/>
                <a:cs typeface="楷体" panose="02010609060101010101" charset="-122"/>
                <a:sym typeface="+mn-ea"/>
              </a:rPr>
              <a:t>小李：逃离</a:t>
            </a:r>
            <a:r>
              <a:rPr lang="en-US" altLang="zh-CN" dirty="0">
                <a:solidFill>
                  <a:srgbClr val="FF0000"/>
                </a:solidFill>
                <a:effectLst/>
                <a:cs typeface="楷体" panose="02010609060101010101" charset="-122"/>
                <a:sym typeface="+mn-ea"/>
              </a:rPr>
              <a:t>”</a:t>
            </a:r>
            <a:r>
              <a:rPr lang="zh-CN" altLang="en-US" dirty="0">
                <a:solidFill>
                  <a:srgbClr val="FF0000"/>
                </a:solidFill>
                <a:effectLst/>
                <a:cs typeface="楷体" panose="02010609060101010101" charset="-122"/>
                <a:sym typeface="+mn-ea"/>
              </a:rPr>
              <a:t>写字楼只会更焦虑（</a:t>
            </a:r>
            <a:r>
              <a:rPr lang="en-US" altLang="zh-CN" dirty="0">
                <a:solidFill>
                  <a:srgbClr val="FF0000"/>
                </a:solidFill>
                <a:effectLst/>
                <a:cs typeface="楷体" panose="02010609060101010101" charset="-122"/>
                <a:sym typeface="+mn-ea"/>
              </a:rPr>
              <a:t>3</a:t>
            </a:r>
            <a:r>
              <a:rPr lang="zh-CN" altLang="en-US" dirty="0">
                <a:solidFill>
                  <a:srgbClr val="FF0000"/>
                </a:solidFill>
                <a:effectLst/>
                <a:cs typeface="楷体" panose="02010609060101010101" charset="-122"/>
                <a:sym typeface="+mn-ea"/>
              </a:rPr>
              <a:t>月内幸福，</a:t>
            </a:r>
            <a:r>
              <a:rPr lang="en-US" altLang="zh-CN" dirty="0">
                <a:solidFill>
                  <a:srgbClr val="FF0000"/>
                </a:solidFill>
                <a:effectLst/>
                <a:cs typeface="楷体" panose="02010609060101010101" charset="-122"/>
                <a:sym typeface="+mn-ea"/>
              </a:rPr>
              <a:t>3</a:t>
            </a:r>
            <a:r>
              <a:rPr lang="zh-CN" altLang="en-US" dirty="0">
                <a:solidFill>
                  <a:srgbClr val="FF0000"/>
                </a:solidFill>
                <a:effectLst/>
                <a:cs typeface="楷体" panose="02010609060101010101" charset="-122"/>
                <a:sym typeface="+mn-ea"/>
              </a:rPr>
              <a:t>月后因为没事做或经济原因焦虑）</a:t>
            </a:r>
            <a:endParaRPr lang="zh-CN" altLang="en-US" dirty="0">
              <a:solidFill>
                <a:srgbClr val="FF0000"/>
              </a:solidFill>
              <a:effectLst/>
              <a:cs typeface="楷体" panose="02010609060101010101" charset="-122"/>
              <a:sym typeface="+mn-ea"/>
            </a:endParaRPr>
          </a:p>
          <a:p>
            <a:pPr indent="0" fontAlgn="auto">
              <a:lnSpc>
                <a:spcPct val="100000"/>
              </a:lnSpc>
            </a:pPr>
            <a:r>
              <a:rPr lang="zh-CN" altLang="en-US" dirty="0">
                <a:solidFill>
                  <a:srgbClr val="FF0000"/>
                </a:solidFill>
                <a:effectLst/>
                <a:cs typeface="楷体" panose="02010609060101010101" charset="-122"/>
                <a:sym typeface="+mn-ea"/>
              </a:rPr>
              <a:t>小赵：无论是选择体力劳动还是脑力劳动，都是一种人生的选择</a:t>
            </a:r>
            <a:endParaRPr lang="zh-CN" altLang="en-US" dirty="0">
              <a:solidFill>
                <a:srgbClr val="FF0000"/>
              </a:solidFill>
              <a:effectLst/>
              <a:cs typeface="楷体" panose="0201060906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6059</Words>
  <Application>WPS 演示</Application>
  <PresentationFormat>宽屏</PresentationFormat>
  <Paragraphs>258</Paragraphs>
  <Slides>25</Slides>
  <Notes>4</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25</vt:i4>
      </vt:variant>
    </vt:vector>
  </HeadingPairs>
  <TitlesOfParts>
    <vt:vector size="35" baseType="lpstr">
      <vt:lpstr>Arial</vt:lpstr>
      <vt:lpstr>宋体</vt:lpstr>
      <vt:lpstr>Wingdings</vt:lpstr>
      <vt:lpstr>微软雅黑</vt:lpstr>
      <vt:lpstr>微软雅黑 Light</vt:lpstr>
      <vt:lpstr>Wingdings</vt:lpstr>
      <vt:lpstr>Arial Unicode MS</vt:lpstr>
      <vt:lpstr>楷体</vt:lpstr>
      <vt:lpstr>Office 主题​​</vt:lpstr>
      <vt:lpstr>WPS</vt:lpstr>
      <vt:lpstr>PowerPoint 演示文稿</vt:lpstr>
      <vt:lpstr>题61</vt:lpstr>
      <vt:lpstr>题62</vt:lpstr>
      <vt:lpstr>题63</vt:lpstr>
      <vt:lpstr>题64</vt:lpstr>
      <vt:lpstr>题68</vt:lpstr>
      <vt:lpstr>题70</vt:lpstr>
      <vt:lpstr>题71</vt:lpstr>
      <vt:lpstr>题73</vt:lpstr>
      <vt:lpstr>题74</vt:lpstr>
      <vt:lpstr>题78</vt:lpstr>
      <vt:lpstr>题79</vt:lpstr>
      <vt:lpstr>题82</vt:lpstr>
      <vt:lpstr>题84</vt:lpstr>
      <vt:lpstr>题85</vt:lpstr>
      <vt:lpstr>题86</vt:lpstr>
      <vt:lpstr>题87</vt:lpstr>
      <vt:lpstr>题89</vt:lpstr>
      <vt:lpstr>题90</vt:lpstr>
      <vt:lpstr>题91</vt:lpstr>
      <vt:lpstr>题92</vt:lpstr>
      <vt:lpstr>题93</vt:lpstr>
      <vt:lpstr>题94</vt:lpstr>
      <vt:lpstr>题95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197</cp:revision>
  <dcterms:created xsi:type="dcterms:W3CDTF">2019-06-19T02:08:00Z</dcterms:created>
  <dcterms:modified xsi:type="dcterms:W3CDTF">2025-08-12T10:18:34Z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