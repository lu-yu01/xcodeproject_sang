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
  </p:handoutMasterIdLst>
  <p:sldIdLst>
    <p:sldId id="1654" r:id="rId3"/>
    <p:sldId id="1618" r:id="rId5"/>
    <p:sldId id="1619" r:id="rId6"/>
    <p:sldId id="1620" r:id="rId7"/>
    <p:sldId id="1622" r:id="rId8"/>
    <p:sldId id="1635" r:id="rId9"/>
    <p:sldId id="1637" r:id="rId10"/>
    <p:sldId id="1641" r:id="rId11"/>
    <p:sldId id="1625" r:id="rId12"/>
    <p:sldId id="1626" r:id="rId13"/>
    <p:sldId id="1645" r:id="rId14"/>
    <p:sldId id="1627" r:id="rId15"/>
    <p:sldId id="1628" r:id="rId16"/>
    <p:sldId id="1648" r:id="rId17"/>
    <p:sldId id="1630" r:id="rId18"/>
    <p:sldId id="1632" r:id="rId19"/>
    <p:sldId id="1651" r:id="rId20"/>
    <p:sldId id="1652" r:id="rId21"/>
    <p:sldId id="1653" r:id="rId22"/>
    <p:sldId id="1655" r:id="rId23"/>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7" userDrawn="1">
          <p15:clr>
            <a:srgbClr val="A4A3A4"/>
          </p15:clr>
        </p15:guide>
        <p15:guide id="2" pos="383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17"/>
        <p:guide pos="383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5.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元素组成相似，但无明显样式规律。观察发现，题干出现若干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小白球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，考虑元素的数量和种类。题干利用五角星将小白球分割成内外两部分，考虑内外拆分。内部小白球数量依次为：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，外部小白球数量依次为：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，单独看数量无规律，考虑内外数量做运算。进一步观察发现，每幅图中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内部小白球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外部小白球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的差值依次为：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，差值呈等差数列且依次递减，故？处应选择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内部小白球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外部小白球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差值为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元素组成不同，且无明显属性规律，考虑数量规律。观察发现，题干图形满足数点特征图，但整体数点没有规律，进一步观察发现题干图形存在单一直线，考虑数直线数。题干图形直线数均为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，故？处应选择直线数量为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本题为空间重构题，如下图所示，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直角梯形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面中梯形的短直角边与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灰色半圆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面不相邻，但</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直角梯形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面中梯形的短直角边与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灰色半圆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面相邻，因此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项折成的纸盒与其他三个不同。</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个体或群体认知系统的无序化进程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因信息过载或框架缺失导致思维混乱度持续上升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表现为有效决策能力衰减，观点自洽性降低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无法通过简单信息补充逆转该趋势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项：该项中新入职员工面对多源文件混淆补贴标准，虽因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信息过载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出现思维混乱，但通过老同事梳理后厘清标准，成功逆转无序状态，不符合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无法通过简单信息补充逆转该趋势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项：该项中应急指挥部在灾情信息激增时，因矛盾数据多而暂缓决策，虽因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信息过载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出现思维混乱，但通过专家组筛选核心信息并确认后恢复正常，成功逆转无序状态，不符合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无法通过简单信息补充逆转该趋势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项：该项中基层干部长期处理碎片化事务，符合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因信息过载或框架缺失导致思维混乱度持续上升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，逐渐失去对政策的全面认识，符合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个体或群体认知系统的无序化进程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，陷入见招折招、疲于应付的被动状态，符合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表现为有效决策能力衰减，观点自洽性降低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无法通过简单信息补充逆转该趋势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项：该项中群众对专业术语理解有偏差，解释后仍有部分疑虑，仅体现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认知偏差未完全消除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思维混乱度持续上升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决策能力衰减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的程度，不符合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因信息过载或框架缺失导致思维混乱度持续上升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原因：信息过载或框架缺失；</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结果：认知系统无序化，表现为有效决策能力衰减、观点自洽性降低；</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不可逆性：无法通过简单信息补充逆转。</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：新入职员工面对多源政策文件（信息过载）混淆补贴标准，但老同事帮助梳理后就能厘清各项标准，说明该认知无序状态可以通过外部指导（简单信息补充</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框架搭建）逆转，不符合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无法通过简单信息补充逆转</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的核心特征，不属于思想熵增。</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：应急指挥部因灾情信息激增（信息过载）、矛盾数据多而暂缓决策，待专家组筛选核心信息确认后便恢复正常决策，说明无序状态可通过信息筛选解决，不满足</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不可逆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的要求，不属于思想熵增。</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基层干部长期处理碎片化事务，既属于信息过载，又缺乏整体工作框架支撑，最终导致失去对政策的全面认识，陷入见招拆招、疲于应付的被动状态，体现出认知系统无序化、有效决策能力衰减，且这种长期形成的被动状态无法通过简单信息补充逆转，完全符合思想熵增的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：群众因专业术语理解偏差产生疑虑困惑，专业人员解释后仍有部分疑虑，这种情况只是认知不充分，并非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认知系统无序化、决策能力衰减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，且未体现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无法通过简单信息补充逆转</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的特征，不属于思想熵增。</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8.D</a:t>
            </a:r>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通过在不同时期针对同一样本进行多次资料收集获得的数据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不仅可以了解一般趋势，也可以追溯每个个案的变化情况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项：每年随机抽取</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万户家庭说明样本的选取具有随机性，不属于同一样本，不符合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通过在不同时期针对同一样本进行多次资料收集获得的数据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项：新注册用户是每年春节期间新增的不同群体，不属于同一样本，不符合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通过在不同时期针对同一样本进行多次资料收集获得的数据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项：调研数据是针对不同季节的应季蔬菜，不同季节的应季蔬菜种类存在差异，不属于同一样本，不符合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通过在不同时期针对同一样本进行多次资料收集获得的数据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，不符合定义，排除；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a:t>
            </a:r>
            <a:r>
              <a:rPr lang="en-US" altLang="zh-CN" sz="1200" kern="1200" dirty="0">
                <a:solidFill>
                  <a:schemeClr val="tx1"/>
                </a:solidFill>
                <a:effectLst/>
                <a:latin typeface="+mn-lt"/>
                <a:sym typeface="楷体" panose="02010609060101010101" charset="-122"/>
              </a:rPr>
              <a:t>2020—2025</a:t>
            </a:r>
            <a:r>
              <a:rPr lang="zh-CN" altLang="en-US" sz="1200" kern="1200" dirty="0">
                <a:solidFill>
                  <a:schemeClr val="tx1"/>
                </a:solidFill>
                <a:effectLst/>
                <a:latin typeface="+mn-lt"/>
                <a:sym typeface="楷体" panose="02010609060101010101" charset="-122"/>
              </a:rPr>
              <a:t>年期间持续针对</a:t>
            </a:r>
            <a:r>
              <a:rPr lang="en-US" altLang="zh-CN" sz="1200" kern="1200" dirty="0">
                <a:solidFill>
                  <a:schemeClr val="tx1"/>
                </a:solidFill>
                <a:effectLst/>
                <a:latin typeface="+mn-lt"/>
                <a:sym typeface="楷体" panose="02010609060101010101" charset="-122"/>
              </a:rPr>
              <a:t>2020</a:t>
            </a:r>
            <a:r>
              <a:rPr lang="zh-CN" altLang="en-US" sz="1200" kern="1200" dirty="0">
                <a:solidFill>
                  <a:schemeClr val="tx1"/>
                </a:solidFill>
                <a:effectLst/>
                <a:latin typeface="+mn-lt"/>
                <a:sym typeface="楷体" panose="02010609060101010101" charset="-122"/>
              </a:rPr>
              <a:t>年入选的</a:t>
            </a:r>
            <a:r>
              <a:rPr lang="en-US" altLang="zh-CN" sz="1200" kern="1200" dirty="0">
                <a:solidFill>
                  <a:schemeClr val="tx1"/>
                </a:solidFill>
                <a:effectLst/>
                <a:latin typeface="+mn-lt"/>
                <a:sym typeface="楷体" panose="02010609060101010101" charset="-122"/>
              </a:rPr>
              <a:t>500</a:t>
            </a:r>
            <a:r>
              <a:rPr lang="zh-CN" altLang="en-US" sz="1200" kern="1200" dirty="0">
                <a:solidFill>
                  <a:schemeClr val="tx1"/>
                </a:solidFill>
                <a:effectLst/>
                <a:latin typeface="+mn-lt"/>
                <a:sym typeface="楷体" panose="02010609060101010101" charset="-122"/>
              </a:rPr>
              <a:t>名患者收集数据，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入选的</a:t>
            </a:r>
            <a:r>
              <a:rPr lang="en-US" altLang="zh-CN" sz="1200" kern="1200" dirty="0">
                <a:solidFill>
                  <a:schemeClr val="tx1"/>
                </a:solidFill>
                <a:effectLst/>
                <a:latin typeface="+mn-lt"/>
                <a:sym typeface="楷体" panose="02010609060101010101" charset="-122"/>
              </a:rPr>
              <a:t>500</a:t>
            </a:r>
            <a:r>
              <a:rPr lang="zh-CN" altLang="en-US" sz="1200" kern="1200" dirty="0">
                <a:solidFill>
                  <a:schemeClr val="tx1"/>
                </a:solidFill>
                <a:effectLst/>
                <a:latin typeface="+mn-lt"/>
                <a:sym typeface="楷体" panose="02010609060101010101" charset="-122"/>
              </a:rPr>
              <a:t>名患者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为同一样本，符合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通过在不同时期针对同一样本进行多次资料收集获得的数据</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，既能通过多年血糖数据了解患者群体的血糖变化趋势，也能追溯每一位患者每月的血糖变化，符合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不仅可以了解一般趋势，也可以追溯每个个案的变化情况</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，符合定义，当选。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11.B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通常用于强调研究问题的理论视角、社会背景或文化框架，表示在某个宏观视角或特定的理论框架中审视和分析问题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通常适用于探讨在某个条件或刺激达到特定阈值时所引发的行为、反应或认知变化，适合需要测量感知、接受或行为反应的研究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项：社会正义视域下的儿童权益保护，</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社会正义</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是一个宏观的理论视角和社会背景，在该视角下的儿童权益保护问题，符合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通常用于强调研究问题的理论视角、社会背景或文化框架，表示在某个宏观视角或特定的理论框架中审视和分析问题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定义，选项论文题目用词恰当，排除；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项：视觉效果视域下的广告设计影响，</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视觉效果</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需要测量视觉感知，视觉效果下的广告设计影响，体现了视觉效果会引发广告设计的变化，符合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通常适用于探讨在某个条件或刺激达到特定阈值时所引发的行为、反应或认知变化，适合需要测量感知、接受或行为反应的研究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定义，应该用</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而不是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，选项论文题目用词不恰当，当选；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项：生态文明视域下的乡村振兴研究，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生态文明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是一个宏观的理论视角，在该视角下研究乡村振兴，符合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通常用于强调研究问题的理论视角、社会背景或文化框架，表示在某个宏观视角或特定的理论框架中审视和分析问题</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定义，选项论文题目用词恰当，排除；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项：收入水平视阈下的品牌偏好研究，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收入水平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是一个条件或刺激，会影响品牌偏好的变化，符合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通常适用于探讨在某个条件或刺激达到特定阈值时所引发的行为、反应或认知变化，适合需要测量感知、接受或行为反应的研究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定义，选项论文题目用词恰当，排除。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视域：强调宏观视角、理论框架或社会文化背景，用于从整体层面审视分析问题。</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视阈：强调特定阈值条件，用于探讨达到某一临界值时引发的行为、认知变化，适用于可测量的感知、反应类研究。</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逐一分析选项用词合理性</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社会正义</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属于宏观的社会价值框架，用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来界定儿童权益保护的研究视角，符合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的定义，用词恰当。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B</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视觉效果</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并非宏观理论视角或社会文化背景，而是广告设计的具体要素；且该题目是研究视觉效果对广告设计的影响，既不涉及宏观框架，也未体现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阈值条件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一词不恰当。若要贴合概念，需结合具体研究侧重调整（如强调宏观设计理论框架可用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，强调视觉效果临界值可用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生态文明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是国家发展的宏观战略与理论框架，用</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界定乡村振兴的研究视角，符合定义，用词恰当。</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D</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收入水平</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存在高低不同的临界阈值，研究不同收入阈值下的品牌偏好变化，完全契合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视阈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的定义，用词恰当。</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）情绪外包：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个体将情感管理委托给专业机构或智能系统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通过标准化服务实现心理负荷转移的行为策略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）认知留白：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在信息过载环境中主动保留非结构化时间与空间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以激发创造性思维的心理调节技术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需满足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去任务化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非功利性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双重条件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）心智游移：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注意力无目的自发漂移的神经活动状态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常伴随碎片化记忆提取与未来情景模拟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项：企业高管使用冥想软件听舒缓白噪音进行正念训练，属于企业高管的自我调节，未涉及情感管理委托和心理负荷转移，不符合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个体将情感管理委托给专业机构或智能系统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通过标准化服务实现心理负荷转移的行为策略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情绪外包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项：某程序员购买专业心理服务倾诉职场焦虑，属于个体将情感管理委托给专业机构，符合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个体将情感管理委托给专业机构或智能系统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；每周生成心理评估报告是标准化服务，符合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通过标准化服务实现心理负荷转移的行为策略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情绪外包</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认知留白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定义，即与（</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项：大学生听课时常神思恍惚属于注意力不集中，符合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注意力无目的自发漂移的神经活动状态</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；联想到童年往事并构思周末出游路线，即提取了记忆又构思了未来，符合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常伴随碎片化记忆提取与未来情景模拟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心智游移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）对应正确，当选；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项：设计师每月前往古镇居住三日，不携带电子设备且不做行程规划，属于去任务化且非功利性的活动，且设计师休闲放空一般是为了激发创造性思维，符合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在信息过载环境中主动保留非结构化时间与空间</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以激发创造性思维的心理调节技术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需满足</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去任务化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非功利性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双重条件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认知留白</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定义，不符合</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心智游移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定义，即与（</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）对应错误，排除。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A</a:t>
            </a:r>
            <a:r>
              <a:rPr lang="zh-CN" altLang="en-US" sz="1200" kern="1200" dirty="0">
                <a:solidFill>
                  <a:schemeClr val="tx1"/>
                </a:solidFill>
                <a:effectLst/>
                <a:latin typeface="+mn-lt"/>
                <a:sym typeface="楷体" panose="02010609060101010101" charset="-122"/>
              </a:rPr>
              <a:t>：企业高管用冥想软件做正念训练，系统推送白噪音。冥想软件属于智能系统，但正念训练更偏向放松训练，未明确体现</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委托情感管理、转移心理负荷</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的核心目的，与情绪外包（</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）的匹配度不高。</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B</a:t>
            </a:r>
            <a:r>
              <a:rPr lang="zh-CN" altLang="en-US" sz="1200" kern="1200" dirty="0">
                <a:solidFill>
                  <a:schemeClr val="tx1"/>
                </a:solidFill>
                <a:effectLst/>
                <a:latin typeface="+mn-lt"/>
                <a:sym typeface="楷体" panose="02010609060101010101" charset="-122"/>
              </a:rPr>
              <a:t>：程序员购买专业心理服务倾诉职场焦虑，生成评估报告。该行为符合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委托专业机构管理情感、转移心理负荷</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，应对应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情绪外包（</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），而非认知留白（</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），匹配错误。</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：大学生听课走神，联想到童年往事（碎片化记忆提取）、构思周末出游（未来情景模拟），完全符合</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注意力无目的自发漂移</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的核心特征，与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心智游移（</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精准匹配。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D</a:t>
            </a:r>
            <a:r>
              <a:rPr lang="zh-CN" altLang="en-US" sz="1200" kern="1200" dirty="0">
                <a:solidFill>
                  <a:schemeClr val="tx1"/>
                </a:solidFill>
                <a:effectLst/>
                <a:latin typeface="+mn-lt"/>
                <a:sym typeface="楷体" panose="02010609060101010101" charset="-122"/>
              </a:rPr>
              <a:t>：设计师去古镇居住，不带电子设备、不做行程规划，属于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主动保留非结构化时空，满足</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去任务化</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非功利性</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，目的是激发创造性思维，应对应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认知留白（</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），而非心智游移（</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），匹配错误。</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疲劳驾驶可能会导致交通事故，二者为或然的因果对应关系，且疲劳驾驶是导致交通事故的直接原因。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项：收入降低可能会导致营养不良，二者为或然的因果对应关系，但是收入降低不是导致营养不良的直接原因，还需经过饮食结构不合理等中间环节，与题干逻辑关系不一致，排除；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项：学习焦虑可能会导致考试作弊，二者为或然的因果对应关系，但是学习焦虑不是导致考试作弊的直接原因，还需经过准备不足等中间环节，与题干逻辑关系不一致，排除；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项：管道老化可能会导致气体泄漏，二者为或然的因果对应关系，且管道老化是导致气体泄露的直接原因，与题干逻辑关系一致，当选；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项：暴雨天气一定会导致路面湿滑，二者为必然的因果对应关系，与题干逻辑关系不一致，排除。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疲劳驾驶：交通事故</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因果关系，且是直接因果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疲劳驾驶是导致交通事故的常见、直接原因，二者为原因</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结果的对应，同时原因属于人为行为因素，结果属于负面事件。</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：收入降低：营养不良收入降低可能间接导致营养不良（如买不起充足食物），但二者并非直接因果，中间存在</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饮食摄入不足</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等中介环节，不符合题干直接因果的特征。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：学习焦虑：考试作弊学习焦虑可能是考试作弊的诱因之一，但并非直接因果关系，考试作弊的直接原因通常是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想通过考试却缺乏实力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等，且二者的因果关联性较弱。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：管道老化：气体泄漏管道老化是导致气体泄漏的直接原因，属于原因</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结果的对应关系，且结果属于负面事件，与题干逻辑关系完全一致。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：暴雨天气：路面湿滑二者是因果关系，但路面湿滑属于自然现象的直接后果，并非负面事件（而是一种状态描述），与题干中</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结果为负面事件</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的属性不符。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对比择优确定答案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题干是人为行为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负面事件的直接因果，选项</a:t>
            </a:r>
            <a:r>
              <a:rPr lang="en-US" altLang="zh-CN" sz="1200" kern="1200" dirty="0">
                <a:solidFill>
                  <a:schemeClr val="tx1"/>
                </a:solidFill>
                <a:effectLst/>
                <a:latin typeface="+mn-lt"/>
                <a:sym typeface="+mn-ea"/>
              </a:rPr>
              <a:t> C </a:t>
            </a:r>
            <a:r>
              <a:rPr lang="zh-CN" altLang="en-US" sz="1200" kern="1200" dirty="0">
                <a:solidFill>
                  <a:schemeClr val="tx1"/>
                </a:solidFill>
                <a:effectLst/>
                <a:latin typeface="+mn-lt"/>
                <a:sym typeface="+mn-ea"/>
              </a:rPr>
              <a:t>是事物状态</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负面事件的直接因果，逻辑契合度最高；选项</a:t>
            </a:r>
            <a:r>
              <a:rPr lang="en-US" altLang="zh-CN" sz="1200" kern="1200" dirty="0">
                <a:solidFill>
                  <a:schemeClr val="tx1"/>
                </a:solidFill>
                <a:effectLst/>
                <a:latin typeface="+mn-lt"/>
                <a:sym typeface="+mn-ea"/>
              </a:rPr>
              <a:t> D </a:t>
            </a:r>
            <a:r>
              <a:rPr lang="zh-CN" altLang="en-US" sz="1200" kern="1200" dirty="0">
                <a:solidFill>
                  <a:schemeClr val="tx1"/>
                </a:solidFill>
                <a:effectLst/>
                <a:latin typeface="+mn-lt"/>
                <a:sym typeface="+mn-ea"/>
              </a:rPr>
              <a:t>的结果并非负面事件，可排除。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21.C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草原和牧场都是牛羊生长的地点，前两词与第三词为生长地点的对应关系，且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草原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为自然地点，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牧场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为人为划定的区域。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项：白云是一种自然形成的物体而不是地点，第二词与第三词不为生长地点的对应关系，与题干逻辑关系不一致，排除；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项：水渠和水库都是鱼虾生长的地点，前两词与第三词为生长地点的对应关系，但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均为人为建造的地点，与题干逻辑关系不一致，排除；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项：山地和林场都是松柏生长的地点，前两词与第三词为生长地点的对应关系，且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为自然地点，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林场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为人为划定的区域，与题干逻辑关系一致，当选；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项：田野和平原都是作物生长的地点，前两词与第三词为生长地点的对应关系，且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平原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为自然地点，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田野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为人为划定的区域，但两词顺序相反，与题干逻辑关系不一致，排除。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空间包容关系：草原是大范围的地理环境，牧场是建在草原上的特定区域（草原包含牧场）；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功能对应关系：牧场的核心功能是养殖牛羊，牛羊是牧场的养殖对象。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：蓝天和白云是并列的自然景观，并非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大范围地理环境包含特定区域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的关系；飞鸟在蓝天上活动，并非白云的专属对象，逻辑不匹配。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：水渠和水库是并列的水利设施，二者是功能互补的关系（水库蓄水、水渠输水），而非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大范围地理环境包含特定区域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，逻辑不匹配。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空间包容：山地是大范围地理环境，林场是建在山地上的特定区域（山地包含林场）；</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功能对应：林场的核心功能是培育松柏，松柏是林场的培育对象，与题干逻辑完全一致。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：平原是大范围地理环境，田野是平原上的耕种区域，二者的包容顺序与题干相反；且作物是田野的种植对象，逻辑顺序混乱。</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22.D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法院是国家的司法机关，二者为种属关系；法官是法院这一组织中的工作人员，可以看作是法院中的组成部分，二者为组成关系。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项：铁路是交通网络的组成部分，二者为组成关系，与题干逻辑关系不一致，排除；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项：工厂是工业体系的组成部分，二者为组成关系，与题干逻辑关系不一致，排除；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项：职员是行政机关中的工作人员，二者为组成关系，与题干逻辑关系不一致，排除；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项：军队是武装组织，二者为种属关系；军队由军人组成，二者为组成关系，与题干逻辑关系一致，当选。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种属关系：法院属于国家机关的一种；</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组成</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对应关系：法官是法院的组成人员，且法官在法院履行职责。</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逐一分析选项逻辑关系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A</a:t>
            </a:r>
            <a:r>
              <a:rPr lang="zh-CN" altLang="en-US" sz="1200" kern="1200" dirty="0">
                <a:solidFill>
                  <a:schemeClr val="tx1"/>
                </a:solidFill>
                <a:effectLst/>
                <a:latin typeface="+mn-lt"/>
                <a:sym typeface="楷体" panose="02010609060101010101" charset="-122"/>
              </a:rPr>
              <a:t>：铁路属于交通网络的一种（种属关系），但乘警是铁路系统中的执法人员，乘警的工作载体是列车，并非直接隶属于铁路这个</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交通网络组成部分</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人员</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机构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的直接对应关系不符。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B</a:t>
            </a:r>
            <a:r>
              <a:rPr lang="zh-CN" altLang="en-US" sz="1200" kern="1200" dirty="0">
                <a:solidFill>
                  <a:schemeClr val="tx1"/>
                </a:solidFill>
                <a:effectLst/>
                <a:latin typeface="+mn-lt"/>
                <a:sym typeface="楷体" panose="02010609060101010101" charset="-122"/>
              </a:rPr>
              <a:t>：工厂属于工业体系的组成部分（种属关系），但车间是工厂的组成结构，并非人员，与题干</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最后一个词是人员</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的属性不符。</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：逻辑顺序混乱，职员是行政机关的工作人员，科室是行政机关的组成单位，前后种属、对应关系均与题干相反。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D</a:t>
            </a:r>
            <a:r>
              <a:rPr lang="zh-CN" altLang="en-US" sz="1200" kern="1200" dirty="0">
                <a:solidFill>
                  <a:schemeClr val="tx1"/>
                </a:solidFill>
                <a:effectLst/>
                <a:latin typeface="+mn-lt"/>
                <a:sym typeface="楷体" panose="02010609060101010101" charset="-122"/>
              </a:rPr>
              <a:t>：</a:t>
            </a:r>
            <a:r>
              <a:rPr lang="en-US" altLang="en-US" sz="1200" kern="1200" dirty="0">
                <a:solidFill>
                  <a:schemeClr val="tx1"/>
                </a:solidFill>
                <a:effectLst/>
                <a:latin typeface="+mn-lt"/>
                <a:sym typeface="楷体" panose="02010609060101010101" charset="-122"/>
              </a:rPr>
              <a:t>①</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种属关系：军队属于武装组织的一种；</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组成</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对应关系：军人是军队的组成人员，且军人在军队履行职责，与题干逻辑完全一致。</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24.C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项：数码扫描（一种将光信号转换为电信号并传输至计算机的扫描方式），二者为偏正关系，拍摄需要利用光影来成像，光影是拍摄的必要条件，二者为条件对应关系，前后逻辑关系不一致，排除；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项：模糊是扫描中可能出现的问题，彩色是拍摄成品呈现的属性，前后逻辑关系不一致，排除；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项：扫描图片，二者为动宾关系，拍摄人物，二者为动宾关系，前后逻辑关系一致，当选；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项：扫描是一种录入信息的方式，二者为方式目的的对应关系，拍摄和输出没有明显逻辑关系，前后逻辑关系不一致，排除。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数码</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可修饰扫描（如数码扫描），是扫描的技术属性；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光影</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是拍摄的对象或效果，二者逻辑关系不一致，排除。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模糊</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是扫描可能出现的结果（扫描不清）；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彩色</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是拍摄的一种类型（彩色拍摄），前者是结果属性，后者是类型属性，逻辑关系不一致，排除。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扫描图片</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是动宾关系（扫描的对象是图片）；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拍摄人物</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也是动宾关系（拍摄的对象是人物），前后逻辑关系完全一致。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扫描</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是实现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录入</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的一种方式；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拍摄</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的结果通常是录入</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存储，而非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输出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，二者逻辑关系不一致，排除。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26.A</a:t>
            </a:r>
            <a:endParaRPr lang="en-US" altLang="zh-CN"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幸福社区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积极情绪维度（居民主观感受）且人际互动且群众自治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项：翻译为：居民主观感受且群众自治</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幸福社区，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群众自治是对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幸福社区的建设与社区居民的幸福感并无直接关联，但题干提及幸福社区必须满足的评估指标需要包含积极情绪维度（居民主观感受），而积极情绪就是幸福感的其中一个维度，即幸福社区的建设与社区居民的幸福感有关，该项表述错误，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项：翻译为：居民的主观感受</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可能被评为幸福社区，居民的主观感受是对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的否后，否后必否前，即一定不能被评为幸福社区，该项表述错误，无法推出，排除；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项：翻译为：积极情绪维度（居民主观感受）且人际互动且群众自治</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幸福社区，积极情绪维度（居民主观感受）且人际互动且群众自治是对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的肯后，肯后得不到确定性的结论，排除。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28.D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论点：土卫二具备完整的生命孕育要素，应成为未来二十年深空生命探测的首要目标。</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论据：该星体南极区域存在周期性喷发的冰晶羽流，其中检测到的氯化钠、碳酸氢化合物及微量甲烷。更关键的是，其冰壳下方存在全球性液态海洋，平均深度</a:t>
            </a:r>
            <a:r>
              <a:rPr lang="en-US" altLang="zh-CN" sz="1200" kern="1200" dirty="0">
                <a:solidFill>
                  <a:schemeClr val="tx1"/>
                </a:solidFill>
                <a:effectLst/>
                <a:latin typeface="+mn-lt"/>
                <a:sym typeface="楷体" panose="02010609060101010101" charset="-122"/>
              </a:rPr>
              <a:t>30</a:t>
            </a:r>
            <a:r>
              <a:rPr lang="zh-CN" altLang="en-US" sz="1200" kern="1200" dirty="0">
                <a:solidFill>
                  <a:schemeClr val="tx1"/>
                </a:solidFill>
                <a:effectLst/>
                <a:latin typeface="+mn-lt"/>
                <a:sym typeface="楷体" panose="02010609060101010101" charset="-122"/>
              </a:rPr>
              <a:t>公里，且海底岩层与海水交界处存在持续的热液活动。有研究表明，地球海底热液口附近是生命诞生的理想区域。</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论点论据均围绕</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土卫二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生命探测</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展开讨论，话题一致，加强考虑补充论据。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项：该项讨论的是土卫二和木卫二的冰层厚度，与土卫二是否应成为未来二十年深空生命探测的首要目标无关，不能支持，排除；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项：该项说明木卫二表面辐射剂量高，登陆需额外研发防护技术，与论点讨论的土卫二，主体不一致，不能支持，排除；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项：该项说明土卫二羽流中存在磷化物未在木卫二表面发现，但该磷化物是否为生命孕育要素未知，且土卫二是否应成为未来二十年深空生命探测的首要目标不确定，不能支持，排除；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土卫二海底热泉区域存在与地球马里亚纳海沟热液喷口相似的温度和结构，论据指出地球海底热液口附近是生命诞生的理想区域，那么与地球海底热液口环境相似的土卫二海底热泉区域就更有可能存在生命，土卫二应该成为未来二十年深空生命探测的首要目标，补充论据，可以支持，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天文学家团队观点：土卫二具备完整生命孕育要素，应成为未来二十年深空生命探测首要目标。</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反对者观点：木卫二同样有冰下海洋，且发现类似海底色素沉积物，更可能孕育生命，应优先探测。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支持团队观点的关键：需证明土卫二相比木卫二，生命孕育要素更完整</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更具备生命存在条件，或直接强化土卫二的生命孕育优势。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提取题干中团队的论据</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土卫二南极有冰晶羽流，含氯化钠、碳酸氢化合物、微量甲烷；</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冰壳下有全球性液态海洋（平均深度</a:t>
            </a:r>
            <a:r>
              <a:rPr lang="en-US" altLang="zh-CN" sz="1200" kern="1200" dirty="0">
                <a:solidFill>
                  <a:schemeClr val="tx1"/>
                </a:solidFill>
                <a:effectLst/>
                <a:latin typeface="+mn-lt"/>
                <a:sym typeface="楷体" panose="02010609060101010101" charset="-122"/>
              </a:rPr>
              <a:t> 30 </a:t>
            </a:r>
            <a:r>
              <a:rPr lang="zh-CN" altLang="en-US" sz="1200" kern="1200" dirty="0">
                <a:solidFill>
                  <a:schemeClr val="tx1"/>
                </a:solidFill>
                <a:effectLst/>
                <a:latin typeface="+mn-lt"/>
                <a:sym typeface="楷体" panose="02010609060101010101" charset="-122"/>
              </a:rPr>
              <a:t>公里）；</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海底岩层与海水交界处有持续热液活动（地球海底热液口是生命诞生理想区域）。</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逐一分析选项</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A</a:t>
            </a:r>
            <a:r>
              <a:rPr lang="zh-CN" altLang="en-US" sz="1200" kern="1200" dirty="0">
                <a:solidFill>
                  <a:schemeClr val="tx1"/>
                </a:solidFill>
                <a:effectLst/>
                <a:latin typeface="+mn-lt"/>
                <a:sym typeface="楷体" panose="02010609060101010101" charset="-122"/>
              </a:rPr>
              <a:t>：对比土卫二和木卫二的冰层厚度。冰层厚度仅说明探测难度，与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是否具备生命孕育要素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是否应优先探测</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无直接关联，无法支持，排除。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B</a:t>
            </a:r>
            <a:r>
              <a:rPr lang="zh-CN" altLang="en-US" sz="1200" kern="1200" dirty="0">
                <a:solidFill>
                  <a:schemeClr val="tx1"/>
                </a:solidFill>
                <a:effectLst/>
                <a:latin typeface="+mn-lt"/>
                <a:sym typeface="楷体" panose="02010609060101010101" charset="-122"/>
              </a:rPr>
              <a:t>：木卫二表面辐射剂量高，登陆需额外防护。该选项指出木卫二的探测技术门槛高，但技术难度</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生命孕育可能性，不能证明土卫二更适合作为探测目标，支持力度弱，排除。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土卫二羽流中存在磷化物，木卫二未发现。磷是构成生命的核心元素（如核酸、磷脂均含磷），这一发现补充了土卫二的生命孕育关键要素，且直接指出其相比木卫二的独特优势，说明土卫二的生命孕育条件更完整，支持力度较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 D</a:t>
            </a:r>
            <a:r>
              <a:rPr lang="zh-CN" altLang="en-US" sz="1200" kern="1200" dirty="0">
                <a:solidFill>
                  <a:schemeClr val="tx1"/>
                </a:solidFill>
                <a:effectLst/>
                <a:latin typeface="+mn-lt"/>
                <a:sym typeface="楷体" panose="02010609060101010101" charset="-122"/>
              </a:rPr>
              <a:t>：土卫二海底热泉与地球马里亚纳海沟热液喷口温度和结构相似。题干已提及地球热液口是生命诞生理想区域，该选项强化了土卫二热液活动的生命适配性，但未针对反对者提出的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木卫二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进行对比，仅单向加强土卫二的优势，支持力度弱于选项</a:t>
            </a:r>
            <a:r>
              <a:rPr lang="en-US" altLang="zh-CN" sz="1200" kern="1200" dirty="0">
                <a:solidFill>
                  <a:schemeClr val="tx1"/>
                </a:solidFill>
                <a:effectLst/>
                <a:latin typeface="+mn-lt"/>
                <a:sym typeface="楷体" panose="02010609060101010101" charset="-122"/>
              </a:rPr>
              <a:t> 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30.B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论点：生成式人工智能无法长久发展。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论据：随着生成式人工智能的应用，大量用户的搜索信息，个人偏好等隐私数据在未经充分授权的情况下被收集使用，存在隐患。</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讨论的是生成式人工智能存在隐私数据在未经充分授权的情况下被收集使用的安全隐患，论点讨论的是生成式人工智能无法长久发展，二者话题不一致，削弱优先考虑拆桥，即目前存在安全隐患不代表无法实现长久发展。</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项：该项说明生成式人工智能能够结合历史搜索数据，增加了用户隐私泄露的风险，加强论据，无法削弱，排除；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项：该项说明风险是可以被控制和防范的，即目前存在安全隐患不代表无法实现长久发展，切断论据论点之间的联系，为拆桥项，可以削弱，当选；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项：该项说明目前市面上已经出现了能够替代生成式人工智能的多种新技术，且这些新技术已展现出极高的稳定性和安全性，即生成式人工智能可能被替代，无法长久发展，加强项，无法削弱，排除；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项：该项说明许多人即便知道当前生成式人工智能存在一定的风险，还是愿意在日常的生活和工作学习中尝试使用该项技术，但不明确生成式人工智能是否可以长久发展，无法削弱，排除。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32.B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）的理由是独身生活可以更自由，（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）的理由是独身生活成本低，二者理由并非相反，而是通过不同维度支持独身生活，评价错误，排除；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）认为独身生活更自由，（</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）认为独身生活日常成本低，二者均肯定了独身生活的优势，并且是通过不同维度说明的理由，评价正确，当选；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）都通过不同的理由证明独身生活有优势，观点一致，评价错误，排除；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）只是给出的理由不同，但核心观点都是认为独身生活有优势，观点是一致的，评价错误，排除。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33.D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论点：独身生活成本低，独身的生活成本通常会比婚姻家庭低。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论据：没有子女和配偶的开销，日常开支相对要单纯得多。</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项：该项说明生活开支是否单纯是影响婚姻家庭建立的重要因素之一，与独身的生活成本是否比婚姻家庭生活成本低无关，所以该项不是（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）中论证的前提，排除；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项：论点讨论的是独身的生活成本是否比婚姻家庭生活成本低，讨论的话题为生活支出成本，没有讨论婚姻双方的收入，所以该项不是（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）中论证的前提，排除；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项：即使婚姻生活中用于子女的支出低于夫妻双方独立生活的总支出，婚姻的生活总支出也可能高于夫妻双方独自生活的总支出，否定带入后论点仍旧成立，所以该项不是（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）中论证的前提，排除；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如果婚姻生活中仅用于夫妻双方的支出要高于两人独身生活的总支出，那说明夫妻双方除了承担自身的生活开销外，至少还有一方需要承担对方的一部分生活开支，即独身的生活成本要比婚姻的生活成本低，所以该项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）中论证的前提，当选。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独身与婚姻家庭的生活成本对比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影响婚姻家庭建立的因素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，话题无关，排除。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：论点比较的是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生活成本（支出）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收入</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无关；且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只会增加支出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表述绝对，并非论证的必要前提（即使婚姻会增加收入，只要支出增幅大于收入增幅，仍可得出成本更高的结论），排除。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：论据提及的是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子女</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配偶的开销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，该选项只强调</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子女支出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，未涉及</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配偶开销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，范围片面，无法支撑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整体生活成本更高</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的论点，排除。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：这是论证的必要前提。假设该前提不成立，即</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夫妻双方婚姻内的支出</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两人独身总支出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，那么即使加上子女开销，也无法必然得出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婚姻家庭成本高于独身</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的结论；只有当夫妻二人婚姻内的支出本身就超过各自独身的总支出，再叠加子女开销，才能确保婚姻家庭的生活成本高于独身生活，完美衔接论据与论点。</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34.B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）的观点是独身生活的自由度高，（</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）的观点是独身生活容易影响身心健康，二者话题不冲突，观点无矛盾，排除；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）的观点是独身生活对身心健康有负面影响，（</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）的观点是独身生活对身心健康有积极影响，双方观点相互矛盾，当选；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）的观点是独身生活成本低，（</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）的观点是独身生活的人在经济上和精神上可能存在压力，二者话题不冲突，观点无矛盾，排除；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）的观点是独身生活的人，在经济上和精神上可能存在压力，（</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）的观点是独身生活对身心健康有积极影响，二者话题不冲突，观点无矛盾，排除。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35.D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论点：独身生活不稳定。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论据：首先是饮食没有保障；其次会因为生活中的某些困难而无法承担所有的责任；再者，有些独身者的社交圈比较狭窄，无法融入以婚姻家庭为主要群体的主流社会。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论点讨论的是独身生活的稳定性，论据是基于客观事实阐述饮食、责任和社交的相关内容，论点论据存在明显跳跃，二者话题不一致，论据无法支持论点，只有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论证成立的关键是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论据必须直接支撑论点，即论据描述的现象要能直接体现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不稳定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的属性。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饮食无保障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难以承担部分责任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，确实能体现独身生活在生活保障、责任承担层面的不稳定性，与论点相关。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社交圈狭窄、难以融入主流社会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，反映的是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社交层面的融入度问题，和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生活是否稳定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没有直接关联。</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更关键的是，论据中使用了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有些独身者</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这一个别化表述，只能代表部分群体的情况，无法推出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独身生活整体不稳定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的普遍性结论。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整体来看，论据要么与论点无直接关联，要么仅能支撑个别情况，无法有效支持论点的普遍性。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逐一排除选项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A</a:t>
            </a:r>
            <a:r>
              <a:rPr lang="zh-CN" altLang="en-US" sz="1200" kern="1200" dirty="0">
                <a:solidFill>
                  <a:schemeClr val="tx1"/>
                </a:solidFill>
                <a:effectLst/>
                <a:latin typeface="+mn-lt"/>
                <a:sym typeface="+mn-ea"/>
              </a:rPr>
              <a:t>（转移论题）：转移论题指论证过程中偏离原论点，讨论无关话题。（</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）始终围绕</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独身生活是否稳定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展开，未转移论题，排除。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（论点不明确）：（</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）的论点</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独身生活不稳定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清晰明确，不存在模糊不清的问题，排除。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C</a:t>
            </a:r>
            <a:r>
              <a:rPr lang="zh-CN" altLang="en-US" sz="1200" kern="1200" dirty="0">
                <a:solidFill>
                  <a:schemeClr val="tx1"/>
                </a:solidFill>
                <a:effectLst/>
                <a:latin typeface="+mn-lt"/>
                <a:sym typeface="+mn-ea"/>
              </a:rPr>
              <a:t>（论据不真实）：论据中提到的</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饮食无保障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难以承担部分责任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社交圈狭窄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，都是现实中可能存在的情况，并非虚假论据，排除。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选项</a:t>
            </a:r>
            <a:r>
              <a:rPr lang="en-US" altLang="zh-CN" sz="1200" kern="1200" dirty="0">
                <a:solidFill>
                  <a:schemeClr val="tx1"/>
                </a:solidFill>
                <a:effectLst/>
                <a:latin typeface="+mn-lt"/>
                <a:sym typeface="+mn-ea"/>
              </a:rPr>
              <a:t> D</a:t>
            </a:r>
            <a:r>
              <a:rPr lang="zh-CN" altLang="en-US" sz="1200" kern="1200" dirty="0">
                <a:solidFill>
                  <a:schemeClr val="tx1"/>
                </a:solidFill>
                <a:effectLst/>
                <a:latin typeface="+mn-lt"/>
                <a:sym typeface="+mn-ea"/>
              </a:rPr>
              <a:t>（论据不支持论点）：论据中的部分内容与论点无关，且个别化论据无法支撑普遍性论点，完全符合论证的核心问题。</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2025</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年下半年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B</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1114615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92" name="图片 1" descr="IMG_256"/>
          <p:cNvPicPr>
            <a:picLocks noChangeAspect="1"/>
          </p:cNvPicPr>
          <p:nvPr/>
        </p:nvPicPr>
        <p:blipFill>
          <a:blip r:embed="rId1"/>
          <a:stretch>
            <a:fillRect/>
          </a:stretch>
        </p:blipFill>
        <p:spPr>
          <a:xfrm>
            <a:off x="1434465" y="1614805"/>
            <a:ext cx="9203055" cy="407543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2</a:t>
            </a:r>
            <a:endParaRPr kumimoji="1" lang="en-US" altLang="zh-CN" sz="2800" b="1" dirty="0">
              <a:solidFill>
                <a:srgbClr val="FF653F"/>
              </a:solidFill>
            </a:endParaRPr>
          </a:p>
        </p:txBody>
      </p:sp>
      <p:sp>
        <p:nvSpPr>
          <p:cNvPr id="3" name="文本框 2"/>
          <p:cNvSpPr txBox="1"/>
          <p:nvPr/>
        </p:nvSpPr>
        <p:spPr>
          <a:xfrm>
            <a:off x="462915" y="701675"/>
            <a:ext cx="112483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rPr>
              <a:t>从所给的四个选项中，选择最合适的一个填入问号处，使之呈现一定的规律性：</a:t>
            </a:r>
            <a:endParaRPr lang="zh-CN" altLang="en-US" sz="2000" dirty="0">
              <a:cs typeface="微软雅黑" panose="020B0503020204020204" charset="-122"/>
            </a:endParaRPr>
          </a:p>
          <a:p>
            <a:pPr indent="0" fontAlgn="auto">
              <a:lnSpc>
                <a:spcPct val="150000"/>
              </a:lnSpc>
            </a:pPr>
            <a:endParaRPr lang="en-US" altLang="en-US" sz="2000" dirty="0">
              <a:cs typeface="微软雅黑" panose="020B0503020204020204" charset="-122"/>
              <a:sym typeface="+mn-ea"/>
            </a:endParaRPr>
          </a:p>
        </p:txBody>
      </p:sp>
      <p:pic>
        <p:nvPicPr>
          <p:cNvPr id="93" name="图片 2" descr="IMG_256"/>
          <p:cNvPicPr>
            <a:picLocks noChangeAspect="1"/>
          </p:cNvPicPr>
          <p:nvPr/>
        </p:nvPicPr>
        <p:blipFill>
          <a:blip r:embed="rId1"/>
          <a:stretch>
            <a:fillRect/>
          </a:stretch>
        </p:blipFill>
        <p:spPr>
          <a:xfrm>
            <a:off x="1256030" y="1463040"/>
            <a:ext cx="9661525" cy="431990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3</a:t>
            </a:r>
            <a:endParaRPr kumimoji="1" lang="en-US" altLang="zh-CN" sz="2800" b="1" dirty="0">
              <a:solidFill>
                <a:srgbClr val="FF653F"/>
              </a:solidFill>
            </a:endParaRPr>
          </a:p>
        </p:txBody>
      </p:sp>
      <p:sp>
        <p:nvSpPr>
          <p:cNvPr id="3" name="文本框 2"/>
          <p:cNvSpPr txBox="1"/>
          <p:nvPr/>
        </p:nvSpPr>
        <p:spPr>
          <a:xfrm>
            <a:off x="462915" y="701675"/>
            <a:ext cx="1112837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以下为</a:t>
            </a:r>
            <a:r>
              <a:rPr lang="en-US" altLang="zh-CN" sz="2000" dirty="0">
                <a:cs typeface="微软雅黑" panose="020B0503020204020204" charset="-122"/>
                <a:sym typeface="+mn-ea"/>
              </a:rPr>
              <a:t>4</a:t>
            </a:r>
            <a:r>
              <a:rPr lang="zh-CN" altLang="en-US" sz="2000" dirty="0">
                <a:cs typeface="微软雅黑" panose="020B0503020204020204" charset="-122"/>
                <a:sym typeface="+mn-ea"/>
              </a:rPr>
              <a:t>个正方体纸盒的外表面展开图，问哪一个折叠成的纸盒和其他</a:t>
            </a:r>
            <a:r>
              <a:rPr lang="en-US" altLang="zh-CN" sz="2000" dirty="0">
                <a:cs typeface="微软雅黑" panose="020B0503020204020204" charset="-122"/>
                <a:sym typeface="+mn-ea"/>
              </a:rPr>
              <a:t>3</a:t>
            </a:r>
            <a:r>
              <a:rPr lang="zh-CN" altLang="en-US" sz="2000" dirty="0">
                <a:cs typeface="微软雅黑" panose="020B0503020204020204" charset="-122"/>
                <a:sym typeface="+mn-ea"/>
              </a:rPr>
              <a:t>个不一样？（）</a:t>
            </a:r>
            <a:endParaRPr lang="zh-CN" altLang="en-US" sz="2000" dirty="0">
              <a:cs typeface="微软雅黑" panose="020B0503020204020204" charset="-122"/>
              <a:sym typeface="+mn-ea"/>
            </a:endParaRPr>
          </a:p>
        </p:txBody>
      </p:sp>
      <p:pic>
        <p:nvPicPr>
          <p:cNvPr id="96" name="图片 5" descr="IMG_256"/>
          <p:cNvPicPr>
            <a:picLocks noChangeAspect="1"/>
          </p:cNvPicPr>
          <p:nvPr/>
        </p:nvPicPr>
        <p:blipFill>
          <a:blip r:embed="rId1"/>
          <a:stretch>
            <a:fillRect/>
          </a:stretch>
        </p:blipFill>
        <p:spPr>
          <a:xfrm>
            <a:off x="586105" y="1707515"/>
            <a:ext cx="11088370" cy="291528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771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4</a:t>
            </a:r>
            <a:endParaRPr kumimoji="1" lang="en-US" altLang="zh-CN" sz="2800" b="1" dirty="0">
              <a:solidFill>
                <a:srgbClr val="FF653F"/>
              </a:solidFill>
            </a:endParaRPr>
          </a:p>
        </p:txBody>
      </p:sp>
      <p:sp>
        <p:nvSpPr>
          <p:cNvPr id="3" name="文本框 2"/>
          <p:cNvSpPr txBox="1"/>
          <p:nvPr/>
        </p:nvSpPr>
        <p:spPr>
          <a:xfrm>
            <a:off x="462915" y="701675"/>
            <a:ext cx="1104455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思想熵增是指个体或群体认知系统的无序化进程，在认知过程中，因信息过载或框架缺失导致思维混乱度持续上升，表现为有效决策能力衰减，观点自洽性降低，且无法通过简单信息补充逆转该趋势。</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根据上述定义，下列属于思想熵增的是（）。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新入职员工面对多源政策文件，虽加班研读仍混淆补贴标准，需要老同事帮助梳理方能厘清各项标准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应急指挥部在灾情信息激增时，因矛盾数据多而暂缓决策，待专家组筛选核心信息并确认后恢复正常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某基层干部长期处理碎片化事务，逐渐失去对政策的全面认识，陷入见招折招、疲于应付的被动状态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听证会上，有些群众对专业术语的理解存在偏差，专业人员进行通俗化解释后仍存在部分疑虑和困惑</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610235" y="701675"/>
            <a:ext cx="1128903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固定样本数据是指通过在不同时期针对同一样本进行多次资料收集获得的数据。由于固定样本数据的特点，其不仅可以像使用趋势数据一样用于了解一般趋势，也可以通过各种固定样本数据分析方法追溯每个个案的变化情况。</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根据上述定义，下列涉及固定样本数据的是（）。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统计局每年随机抽取</a:t>
            </a:r>
            <a:r>
              <a:rPr lang="en-US" altLang="zh-CN" sz="2400" dirty="0">
                <a:cs typeface="楷体" panose="02010609060101010101" charset="-122"/>
              </a:rPr>
              <a:t>1</a:t>
            </a:r>
            <a:r>
              <a:rPr lang="zh-CN" altLang="en-US" sz="2400" dirty="0">
                <a:cs typeface="楷体" panose="02010609060101010101" charset="-122"/>
              </a:rPr>
              <a:t>万户家庭进行消费支出调查，比较十年间居民消费趋势</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某电商平台详细分析了</a:t>
            </a:r>
            <a:r>
              <a:rPr lang="en-US" altLang="zh-CN" sz="2400" dirty="0">
                <a:cs typeface="楷体" panose="02010609060101010101" charset="-122"/>
              </a:rPr>
              <a:t>2020</a:t>
            </a:r>
            <a:r>
              <a:rPr lang="zh-CN" altLang="en-US" sz="2400" dirty="0">
                <a:cs typeface="楷体" panose="02010609060101010101" charset="-122"/>
              </a:rPr>
              <a:t>年至</a:t>
            </a:r>
            <a:r>
              <a:rPr lang="en-US" altLang="zh-CN" sz="2400" dirty="0">
                <a:cs typeface="楷体" panose="02010609060101010101" charset="-122"/>
              </a:rPr>
              <a:t>2025</a:t>
            </a:r>
            <a:r>
              <a:rPr lang="zh-CN" altLang="en-US" sz="2400" dirty="0">
                <a:cs typeface="楷体" panose="02010609060101010101" charset="-122"/>
              </a:rPr>
              <a:t>年春节促销期间的新注册用户消费偏好</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某调研公司在不同季节对应季蔬菜的采购情况进行调查，以了解居民饮食结构</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研究团队对</a:t>
            </a:r>
            <a:r>
              <a:rPr lang="en-US" altLang="zh-CN" sz="2400" dirty="0">
                <a:cs typeface="楷体" panose="02010609060101010101" charset="-122"/>
              </a:rPr>
              <a:t>2020</a:t>
            </a:r>
            <a:r>
              <a:rPr lang="zh-CN" altLang="en-US" sz="2400" dirty="0">
                <a:cs typeface="楷体" panose="02010609060101010101" charset="-122"/>
              </a:rPr>
              <a:t>年入选的</a:t>
            </a:r>
            <a:r>
              <a:rPr lang="en-US" altLang="zh-CN" sz="2400" dirty="0">
                <a:cs typeface="楷体" panose="02010609060101010101" charset="-122"/>
              </a:rPr>
              <a:t>500</a:t>
            </a:r>
            <a:r>
              <a:rPr lang="zh-CN" altLang="en-US" sz="2400" dirty="0">
                <a:cs typeface="楷体" panose="02010609060101010101" charset="-122"/>
              </a:rPr>
              <a:t>名糖尿病患者每月记录其血糖数据直至</a:t>
            </a:r>
            <a:r>
              <a:rPr lang="en-US" altLang="zh-CN" sz="2400" dirty="0">
                <a:cs typeface="楷体" panose="02010609060101010101" charset="-122"/>
              </a:rPr>
              <a:t>2025</a:t>
            </a:r>
            <a:r>
              <a:rPr lang="zh-CN" altLang="en-US" sz="2400" dirty="0">
                <a:cs typeface="楷体" panose="02010609060101010101" charset="-122"/>
              </a:rPr>
              <a:t>年</a:t>
            </a:r>
            <a:endParaRPr lang="zh-CN" altLang="en-US" sz="2400" dirty="0">
              <a:cs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sym typeface="+mn-ea"/>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视域通常用于强调研究问题的理论视角、社会背景或文化框架，表示在某个宏观视角或特定的理论框架中审视和分析问题。视阈通常适用于探讨在某个条件或刺激达到特定阈值时所引发的行为、反应或认知变化，适合需要测量感知、接受或行为反应的研究。</a:t>
            </a:r>
            <a:endParaRPr lang="zh-CN" altLang="en-US" sz="2400" dirty="0">
              <a:cs typeface="楷体" panose="02010609060101010101" charset="-122"/>
            </a:endParaRPr>
          </a:p>
          <a:p>
            <a:pPr indent="0" fontAlgn="auto">
              <a:lnSpc>
                <a:spcPct val="150000"/>
              </a:lnSpc>
            </a:pPr>
            <a:r>
              <a:rPr lang="zh-CN" altLang="en-US" sz="2400" dirty="0">
                <a:cs typeface="楷体" panose="02010609060101010101" charset="-122"/>
              </a:rPr>
              <a:t>根据上述定义，下列论文题目用词不恰当的是（）。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社会正义视域下的儿童权益保护</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视觉效果视域下的广告设计影响</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生态文明视域下的乡村振兴研究</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收入水平视阈下的品牌偏好研究</a:t>
            </a:r>
            <a:endParaRPr lang="zh-CN" altLang="en-US" sz="24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895"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1</a:t>
            </a:r>
            <a:r>
              <a:rPr lang="zh-CN" altLang="en-US" sz="2200" dirty="0">
                <a:cs typeface="楷体" panose="02010609060101010101" charset="-122"/>
              </a:rPr>
              <a:t>）情绪外包：个体将情感管理委托给专业机构或智能系统，通过标准化服务实现心理负荷转移的行为策略。</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2</a:t>
            </a:r>
            <a:r>
              <a:rPr lang="zh-CN" altLang="en-US" sz="2200" dirty="0">
                <a:cs typeface="楷体" panose="02010609060101010101" charset="-122"/>
              </a:rPr>
              <a:t>）认知留白：在信息过载环境中主动保留非结构化时间与空间，以激发创造性思维的心理调节技术，需满足</a:t>
            </a:r>
            <a:r>
              <a:rPr lang="en-US" altLang="zh-CN" sz="2200" dirty="0">
                <a:cs typeface="楷体" panose="02010609060101010101" charset="-122"/>
              </a:rPr>
              <a:t>“</a:t>
            </a:r>
            <a:r>
              <a:rPr lang="zh-CN" altLang="en-US" sz="2200" dirty="0">
                <a:cs typeface="楷体" panose="02010609060101010101" charset="-122"/>
              </a:rPr>
              <a:t>去任务化</a:t>
            </a:r>
            <a:r>
              <a:rPr lang="en-US" altLang="zh-CN" sz="2200" dirty="0">
                <a:cs typeface="楷体" panose="02010609060101010101" charset="-122"/>
              </a:rPr>
              <a:t>——</a:t>
            </a:r>
            <a:r>
              <a:rPr lang="zh-CN" altLang="en-US" sz="2200" dirty="0">
                <a:cs typeface="楷体" panose="02010609060101010101" charset="-122"/>
              </a:rPr>
              <a:t>非功利性</a:t>
            </a:r>
            <a:r>
              <a:rPr lang="en-US" altLang="zh-CN" sz="2200" dirty="0">
                <a:cs typeface="楷体" panose="02010609060101010101" charset="-122"/>
              </a:rPr>
              <a:t>”</a:t>
            </a:r>
            <a:r>
              <a:rPr lang="zh-CN" altLang="en-US" sz="2200" dirty="0">
                <a:cs typeface="楷体" panose="02010609060101010101" charset="-122"/>
              </a:rPr>
              <a:t>双重条件。</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a:t>
            </a:r>
            <a:r>
              <a:rPr lang="en-US" altLang="zh-CN" sz="2200" dirty="0">
                <a:cs typeface="楷体" panose="02010609060101010101" charset="-122"/>
              </a:rPr>
              <a:t>3</a:t>
            </a:r>
            <a:r>
              <a:rPr lang="zh-CN" altLang="en-US" sz="2200" dirty="0">
                <a:cs typeface="楷体" panose="02010609060101010101" charset="-122"/>
              </a:rPr>
              <a:t>）心智游移：注意力无目的自发漂移的神经活动状态，常伴随碎片化记忆提取与未来情景模拟。</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根据上述定义，下列现象与定义对应正确的是（）。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企业高管使用冥想软件进行正念训练，系统自动推送舒缓白噪音</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1</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程序员购买专业心理服务倾诉职场焦虑，每周生成心理评估报告</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2</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大学生听课时常神思恍惚，联想到童年往事并构思周末出游路线</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3</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设计师每月前往古镇居住三日，不携带电子设备且不做行程规划</a:t>
            </a:r>
            <a:r>
              <a:rPr lang="en-US" altLang="zh-CN" sz="2200" dirty="0">
                <a:cs typeface="楷体" panose="02010609060101010101" charset="-122"/>
              </a:rPr>
              <a:t>——</a:t>
            </a:r>
            <a:r>
              <a:rPr lang="zh-CN" altLang="en-US" sz="2200" dirty="0">
                <a:cs typeface="楷体" panose="02010609060101010101" charset="-122"/>
              </a:rPr>
              <a:t>（</a:t>
            </a:r>
            <a:r>
              <a:rPr lang="en-US" altLang="zh-CN" sz="2200" dirty="0">
                <a:cs typeface="楷体" panose="02010609060101010101" charset="-122"/>
              </a:rPr>
              <a:t>3</a:t>
            </a:r>
            <a:r>
              <a:rPr lang="zh-CN" altLang="en-US" sz="2200" dirty="0">
                <a:cs typeface="楷体" panose="02010609060101010101" charset="-122"/>
              </a:rPr>
              <a:t>）</a:t>
            </a:r>
            <a:endParaRPr lang="zh-CN" altLang="en-US" sz="22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8</a:t>
            </a:r>
            <a:endParaRPr kumimoji="1" lang="en-US" altLang="zh-CN" sz="2800" b="1" dirty="0">
              <a:solidFill>
                <a:srgbClr val="FF653F"/>
              </a:solidFill>
            </a:endParaRPr>
          </a:p>
        </p:txBody>
      </p:sp>
      <p:sp>
        <p:nvSpPr>
          <p:cNvPr id="3" name="文本框 2"/>
          <p:cNvSpPr txBox="1"/>
          <p:nvPr/>
        </p:nvSpPr>
        <p:spPr>
          <a:xfrm>
            <a:off x="462915" y="1322070"/>
            <a:ext cx="8601710" cy="4906010"/>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疲劳驾驶：交通事故</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收入降低：营养不良</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学习焦虑：考试作弊</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管道老化：气体泄漏</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暴雨天气：路面湿滑</a:t>
            </a:r>
            <a:endParaRPr lang="zh-CN" altLang="en-US" sz="24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9</a:t>
            </a:r>
            <a:endParaRPr kumimoji="1" lang="en-US" altLang="zh-CN" sz="2800" b="1" dirty="0">
              <a:solidFill>
                <a:srgbClr val="FF653F"/>
              </a:solidFill>
            </a:endParaRPr>
          </a:p>
        </p:txBody>
      </p:sp>
      <p:sp>
        <p:nvSpPr>
          <p:cNvPr id="3" name="文本框 2"/>
          <p:cNvSpPr txBox="1"/>
          <p:nvPr/>
        </p:nvSpPr>
        <p:spPr>
          <a:xfrm>
            <a:off x="462915" y="1312545"/>
            <a:ext cx="8601710" cy="491553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草原：牧场：牛羊</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蓝天：白云：飞鸟</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水渠：水库：鱼虾</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山地：林场：松柏</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田野：平原：作物</a:t>
            </a:r>
            <a:endParaRPr lang="zh-CN" altLang="en-US" sz="24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sym typeface="+mn-ea"/>
            </a:endParaRPr>
          </a:p>
        </p:txBody>
      </p:sp>
      <p:sp>
        <p:nvSpPr>
          <p:cNvPr id="3" name="文本框 2"/>
          <p:cNvSpPr txBox="1"/>
          <p:nvPr/>
        </p:nvSpPr>
        <p:spPr>
          <a:xfrm>
            <a:off x="462915" y="1322070"/>
            <a:ext cx="8601710" cy="4906010"/>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国家机关：法院：法官</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交通网络：铁路：乘警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工业体系：工厂：车间</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行政机关：职员：科室</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武装组织：军队：军人</a:t>
            </a:r>
            <a:endParaRPr lang="zh-CN" altLang="en-US" sz="2400" dirty="0">
              <a:cs typeface="楷体" panose="0201060906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11</a:t>
            </a:r>
            <a:endParaRPr kumimoji="1" lang="en-US" altLang="zh-CN" sz="2800" b="1" dirty="0">
              <a:solidFill>
                <a:srgbClr val="FF653F"/>
              </a:solidFill>
            </a:endParaRPr>
          </a:p>
        </p:txBody>
      </p:sp>
      <p:sp>
        <p:nvSpPr>
          <p:cNvPr id="3" name="文本框 2"/>
          <p:cNvSpPr txBox="1"/>
          <p:nvPr/>
        </p:nvSpPr>
        <p:spPr>
          <a:xfrm>
            <a:off x="462915" y="1377315"/>
            <a:ext cx="8601710" cy="4850765"/>
          </a:xfrm>
          <a:prstGeom prst="rect">
            <a:avLst/>
          </a:prstGeom>
          <a:noFill/>
        </p:spPr>
        <p:txBody>
          <a:bodyPr wrap="square" rtlCol="0" anchor="t">
            <a:noAutofit/>
          </a:bodyPr>
          <a:p>
            <a:pPr indent="0" fontAlgn="auto">
              <a:lnSpc>
                <a:spcPct val="150000"/>
              </a:lnSpc>
            </a:pPr>
            <a:r>
              <a:rPr lang="zh-CN" altLang="en-US" sz="2400" dirty="0">
                <a:cs typeface="微软雅黑" panose="020B0503020204020204" charset="-122"/>
                <a:sym typeface="+mn-ea"/>
              </a:rPr>
              <a:t>扫描对于（）相当于拍摄对于（）。</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A.</a:t>
            </a:r>
            <a:r>
              <a:rPr lang="zh-CN" altLang="en-US" sz="2400" dirty="0">
                <a:cs typeface="微软雅黑" panose="020B0503020204020204" charset="-122"/>
                <a:sym typeface="+mn-ea"/>
              </a:rPr>
              <a:t>数码；光影</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B.</a:t>
            </a:r>
            <a:r>
              <a:rPr lang="zh-CN" altLang="en-US" sz="2400" dirty="0">
                <a:cs typeface="微软雅黑" panose="020B0503020204020204" charset="-122"/>
                <a:sym typeface="+mn-ea"/>
              </a:rPr>
              <a:t>模糊；彩色</a:t>
            </a:r>
            <a:endParaRPr lang="zh-CN" altLang="en-US"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C.</a:t>
            </a:r>
            <a:r>
              <a:rPr lang="zh-CN" altLang="en-US" sz="2400" dirty="0">
                <a:cs typeface="微软雅黑" panose="020B0503020204020204" charset="-122"/>
                <a:sym typeface="+mn-ea"/>
              </a:rPr>
              <a:t>图片；人物</a:t>
            </a:r>
            <a:r>
              <a:rPr lang="en-US" altLang="zh-CN" sz="2400" dirty="0">
                <a:cs typeface="微软雅黑" panose="020B0503020204020204" charset="-122"/>
                <a:sym typeface="+mn-ea"/>
              </a:rPr>
              <a:t>	</a:t>
            </a:r>
            <a:endParaRPr lang="en-US" altLang="zh-CN" sz="2400" dirty="0">
              <a:cs typeface="微软雅黑" panose="020B0503020204020204" charset="-122"/>
              <a:sym typeface="+mn-ea"/>
            </a:endParaRPr>
          </a:p>
          <a:p>
            <a:pPr indent="0" fontAlgn="auto">
              <a:lnSpc>
                <a:spcPct val="150000"/>
              </a:lnSpc>
            </a:pPr>
            <a:r>
              <a:rPr lang="en-US" altLang="zh-CN" sz="2400" dirty="0">
                <a:cs typeface="微软雅黑" panose="020B0503020204020204" charset="-122"/>
                <a:sym typeface="+mn-ea"/>
              </a:rPr>
              <a:t>D.</a:t>
            </a:r>
            <a:r>
              <a:rPr lang="zh-CN" altLang="en-US" sz="2400" dirty="0">
                <a:cs typeface="微软雅黑" panose="020B0503020204020204" charset="-122"/>
                <a:sym typeface="+mn-ea"/>
              </a:rPr>
              <a:t>录入；输出</a:t>
            </a:r>
            <a:endParaRPr lang="zh-CN" altLang="en-US" sz="24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12</a:t>
            </a:r>
            <a:endParaRPr kumimoji="1" lang="en-US" altLang="zh-CN" sz="2800" b="1" dirty="0">
              <a:solidFill>
                <a:srgbClr val="FF653F"/>
              </a:solidFill>
            </a:endParaRPr>
          </a:p>
        </p:txBody>
      </p:sp>
      <p:sp>
        <p:nvSpPr>
          <p:cNvPr id="3" name="文本框 2"/>
          <p:cNvSpPr txBox="1"/>
          <p:nvPr/>
        </p:nvSpPr>
        <p:spPr>
          <a:xfrm>
            <a:off x="462915" y="701675"/>
            <a:ext cx="11035030" cy="5526405"/>
          </a:xfrm>
          <a:prstGeom prst="rect">
            <a:avLst/>
          </a:prstGeom>
          <a:noFill/>
        </p:spPr>
        <p:txBody>
          <a:bodyPr wrap="square" rtlCol="0" anchor="t">
            <a:noAutofit/>
          </a:bodyPr>
          <a:p>
            <a:pPr indent="0" fontAlgn="auto">
              <a:lnSpc>
                <a:spcPct val="140000"/>
              </a:lnSpc>
            </a:pPr>
            <a:r>
              <a:rPr lang="zh-CN" altLang="en-US" sz="2200" dirty="0">
                <a:cs typeface="微软雅黑" panose="020B0503020204020204" charset="-122"/>
                <a:sym typeface="+mn-ea"/>
              </a:rPr>
              <a:t>社区作为人类生活的基层单元，在增强社区居民幸福感的过程中发挥着不容忽视的作用。当前评估幸福社区的具体指标越来越重视社区居民的主观感受，但也有学者指出，幸福社区必须满足的评估指标不仅需要包含积极情绪维度，还须包含人际互动以及群众自治等方面因素。</a:t>
            </a:r>
            <a:endParaRPr lang="zh-CN" altLang="en-US" sz="2200" dirty="0">
              <a:cs typeface="微软雅黑" panose="020B0503020204020204" charset="-122"/>
              <a:sym typeface="+mn-ea"/>
            </a:endParaRPr>
          </a:p>
          <a:p>
            <a:pPr indent="0" fontAlgn="auto">
              <a:lnSpc>
                <a:spcPct val="140000"/>
              </a:lnSpc>
            </a:pPr>
            <a:r>
              <a:rPr lang="zh-CN" altLang="en-US" sz="2200" dirty="0">
                <a:cs typeface="微软雅黑" panose="020B0503020204020204" charset="-122"/>
                <a:sym typeface="+mn-ea"/>
              </a:rPr>
              <a:t>根据上述学者意见，可以推出（）。</a:t>
            </a:r>
            <a:endParaRPr lang="zh-CN" altLang="en-US" sz="2200" dirty="0">
              <a:cs typeface="微软雅黑" panose="020B0503020204020204" charset="-122"/>
              <a:sym typeface="+mn-ea"/>
            </a:endParaRPr>
          </a:p>
          <a:p>
            <a:pPr indent="0" fontAlgn="auto">
              <a:lnSpc>
                <a:spcPct val="140000"/>
              </a:lnSpc>
            </a:pPr>
            <a:r>
              <a:rPr lang="en-US" altLang="zh-CN" sz="2200" dirty="0">
                <a:cs typeface="微软雅黑" panose="020B0503020204020204" charset="-122"/>
                <a:sym typeface="+mn-ea"/>
              </a:rPr>
              <a:t>A.</a:t>
            </a:r>
            <a:r>
              <a:rPr lang="zh-CN" altLang="en-US" sz="2200" dirty="0">
                <a:cs typeface="微软雅黑" panose="020B0503020204020204" charset="-122"/>
                <a:sym typeface="+mn-ea"/>
              </a:rPr>
              <a:t>有些社区虽重视居民主观感受，但完全忽略了群众自治，所以不能被评为幸福社区</a:t>
            </a:r>
            <a:endParaRPr lang="zh-CN" altLang="en-US" sz="2200" dirty="0">
              <a:cs typeface="微软雅黑" panose="020B0503020204020204" charset="-122"/>
              <a:sym typeface="+mn-ea"/>
            </a:endParaRPr>
          </a:p>
          <a:p>
            <a:pPr indent="0" fontAlgn="auto">
              <a:lnSpc>
                <a:spcPct val="140000"/>
              </a:lnSpc>
            </a:pPr>
            <a:r>
              <a:rPr lang="en-US" altLang="zh-CN" sz="2200" dirty="0">
                <a:cs typeface="微软雅黑" panose="020B0503020204020204" charset="-122"/>
                <a:sym typeface="+mn-ea"/>
              </a:rPr>
              <a:t>B.</a:t>
            </a:r>
            <a:r>
              <a:rPr lang="zh-CN" altLang="en-US" sz="2200" dirty="0">
                <a:cs typeface="微软雅黑" panose="020B0503020204020204" charset="-122"/>
                <a:sym typeface="+mn-ea"/>
              </a:rPr>
              <a:t>幸福社区的建设与社区居民的幸福感并无直接关联，关键在于各项硬性指标的达成</a:t>
            </a:r>
            <a:endParaRPr lang="zh-CN" altLang="en-US" sz="2200" dirty="0">
              <a:cs typeface="微软雅黑" panose="020B0503020204020204" charset="-122"/>
              <a:sym typeface="+mn-ea"/>
            </a:endParaRPr>
          </a:p>
          <a:p>
            <a:pPr indent="0" fontAlgn="auto">
              <a:lnSpc>
                <a:spcPct val="140000"/>
              </a:lnSpc>
            </a:pPr>
            <a:r>
              <a:rPr lang="en-US" altLang="zh-CN" sz="2200" dirty="0">
                <a:cs typeface="微软雅黑" panose="020B0503020204020204" charset="-122"/>
                <a:sym typeface="+mn-ea"/>
              </a:rPr>
              <a:t>C.</a:t>
            </a:r>
            <a:r>
              <a:rPr lang="zh-CN" altLang="en-US" sz="2200" dirty="0">
                <a:cs typeface="微软雅黑" panose="020B0503020204020204" charset="-122"/>
                <a:sym typeface="+mn-ea"/>
              </a:rPr>
              <a:t>若一个社区不重视居民的主观感受，只在其他方面下功夫，有可能被评为幸福社区</a:t>
            </a:r>
            <a:endParaRPr lang="zh-CN" altLang="en-US" sz="2200" dirty="0">
              <a:cs typeface="微软雅黑" panose="020B0503020204020204" charset="-122"/>
              <a:sym typeface="+mn-ea"/>
            </a:endParaRPr>
          </a:p>
          <a:p>
            <a:pPr indent="0" fontAlgn="auto">
              <a:lnSpc>
                <a:spcPct val="140000"/>
              </a:lnSpc>
            </a:pPr>
            <a:r>
              <a:rPr lang="en-US" altLang="zh-CN" sz="2200" dirty="0">
                <a:cs typeface="微软雅黑" panose="020B0503020204020204" charset="-122"/>
                <a:sym typeface="+mn-ea"/>
              </a:rPr>
              <a:t>D.</a:t>
            </a:r>
            <a:r>
              <a:rPr lang="zh-CN" altLang="en-US" sz="2200" dirty="0">
                <a:cs typeface="微软雅黑" panose="020B0503020204020204" charset="-122"/>
                <a:sym typeface="+mn-ea"/>
              </a:rPr>
              <a:t>满足积极情绪、人际互动及群众自治等方面评估指标的社区，将会被评为幸福社区</a:t>
            </a:r>
            <a:endParaRPr lang="zh-CN" altLang="en-US" sz="22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295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13</a:t>
            </a:r>
            <a:endParaRPr kumimoji="1" lang="en-US" altLang="zh-CN" sz="2800" b="1" dirty="0">
              <a:solidFill>
                <a:srgbClr val="FF653F"/>
              </a:solidFill>
            </a:endParaRPr>
          </a:p>
        </p:txBody>
      </p:sp>
      <p:sp>
        <p:nvSpPr>
          <p:cNvPr id="3" name="文本框 2"/>
          <p:cNvSpPr txBox="1"/>
          <p:nvPr/>
        </p:nvSpPr>
        <p:spPr>
          <a:xfrm>
            <a:off x="462915" y="70802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某天文学家团队提交的论证报告指出，土卫二具备完整的生命孕育要素，应成为未来二十年深空生命探测的首要目标。该星体南极区域存在周期性喷发的冰晶羽流，其中检测到的氯化钠、碳酸氢化合物及微量甲烷。更关键的是，其冰壳下方存在全球性液态海洋，平均深度</a:t>
            </a:r>
            <a:r>
              <a:rPr lang="en-US" altLang="zh-CN" sz="2200" dirty="0">
                <a:cs typeface="楷体" panose="02010609060101010101" charset="-122"/>
              </a:rPr>
              <a:t>30</a:t>
            </a:r>
            <a:r>
              <a:rPr lang="zh-CN" altLang="en-US" sz="2200" dirty="0">
                <a:cs typeface="楷体" panose="02010609060101010101" charset="-122"/>
              </a:rPr>
              <a:t>公里，且海底岩层与海水交界处存在持续的热液活动。有研究表明，地球海底热液口附近是生命诞生的理想区域。反对者认为，木卫二同样具备冰下海洋特征，且表面冰层裂缝中已发现类似海底的色素沉积物，更可能孕育生命，应首先探测。</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以下哪项如果为真，最能支持该天文学家团队的观点？（）</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土卫二的冰层厚度为</a:t>
            </a:r>
            <a:r>
              <a:rPr lang="en-US" altLang="zh-CN" sz="2200" dirty="0">
                <a:cs typeface="楷体" panose="02010609060101010101" charset="-122"/>
              </a:rPr>
              <a:t>5-20</a:t>
            </a:r>
            <a:r>
              <a:rPr lang="zh-CN" altLang="en-US" sz="2200" dirty="0">
                <a:cs typeface="楷体" panose="02010609060101010101" charset="-122"/>
              </a:rPr>
              <a:t>公里，木卫二的冰层厚度为</a:t>
            </a:r>
            <a:r>
              <a:rPr lang="en-US" altLang="zh-CN" sz="2200" dirty="0">
                <a:cs typeface="楷体" panose="02010609060101010101" charset="-122"/>
              </a:rPr>
              <a:t>15-30</a:t>
            </a:r>
            <a:r>
              <a:rPr lang="zh-CN" altLang="en-US" sz="2200" dirty="0">
                <a:cs typeface="楷体" panose="02010609060101010101" charset="-122"/>
              </a:rPr>
              <a:t>公里</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木卫二表面辐射剂量是地球的数百万倍，登陆需额外研发防护技术</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质谱分析显示土卫二羽流中存在磷化物，这种物质未在木卫二表面发现</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土卫二海底热泉区域存在与地球马里亚纳海沟热液喷口相似的温度和结构</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14</a:t>
            </a:r>
            <a:endParaRPr kumimoji="1" lang="en-US" altLang="zh-CN" sz="2800" b="1" dirty="0">
              <a:solidFill>
                <a:srgbClr val="FF653F"/>
              </a:solidFill>
            </a:endParaRPr>
          </a:p>
        </p:txBody>
      </p:sp>
      <p:sp>
        <p:nvSpPr>
          <p:cNvPr id="3" name="文本框 2"/>
          <p:cNvSpPr txBox="1"/>
          <p:nvPr/>
        </p:nvSpPr>
        <p:spPr>
          <a:xfrm>
            <a:off x="462915" y="701675"/>
            <a:ext cx="1105344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当前，生成式人工智能飞速发展，但近期某研究机构发现，随着生成式人工智能的应用，大量用户的搜索信息，个人偏好等隐私数据在未经充分授权的情况下被收集使用，鉴于这些隐患，有研究者断言，生成式人工智能无法长久发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以下哪项如果为真，最能质疑该研究者的观点？（）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生成式人工智能能够结合历史搜索数据，在短时间内响应用户需求，增加了用户隐私泄露的风险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虽然生成式人工智能尚存在诸多问题，但风险可以通过即将出台的相关政策法律加以控制和防范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目前市面上已经出现了能够替代生成式人工智能的多种新技术，且这些新技术已展现出极高的稳定性和安全性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许多人即便知道当前生成式人工智能存在一定的风险，还是愿意在日常的生活和工作学习中尝试使用该项技术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1520" y="0"/>
            <a:ext cx="10515600" cy="70167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15</a:t>
            </a:r>
            <a:endParaRPr kumimoji="1" lang="en-US" altLang="zh-CN" sz="2800" b="1" dirty="0">
              <a:solidFill>
                <a:srgbClr val="FF653F"/>
              </a:solidFill>
            </a:endParaRPr>
          </a:p>
        </p:txBody>
      </p:sp>
      <p:sp>
        <p:nvSpPr>
          <p:cNvPr id="3" name="文本框 2"/>
          <p:cNvSpPr txBox="1"/>
          <p:nvPr/>
        </p:nvSpPr>
        <p:spPr>
          <a:xfrm>
            <a:off x="462915" y="239395"/>
            <a:ext cx="11053445" cy="5526405"/>
          </a:xfrm>
          <a:prstGeom prst="rect">
            <a:avLst/>
          </a:prstGeom>
          <a:noFill/>
        </p:spPr>
        <p:txBody>
          <a:bodyPr wrap="square" rtlCol="0" anchor="t">
            <a:noAutofit/>
          </a:bodyPr>
          <a:p>
            <a:pPr indent="0" fontAlgn="auto">
              <a:lnSpc>
                <a:spcPct val="110000"/>
              </a:lnSpc>
            </a:pPr>
            <a:r>
              <a:rPr lang="zh-CN" altLang="en-US" dirty="0">
                <a:cs typeface="微软雅黑" panose="020B0503020204020204" charset="-122"/>
                <a:sym typeface="+mn-ea"/>
              </a:rPr>
              <a:t>根据以下材料，回答以下</a:t>
            </a:r>
            <a:r>
              <a:rPr lang="en-US" altLang="zh-CN" dirty="0">
                <a:cs typeface="微软雅黑" panose="020B0503020204020204" charset="-122"/>
                <a:sym typeface="+mn-ea"/>
              </a:rPr>
              <a:t>4</a:t>
            </a:r>
            <a:r>
              <a:rPr lang="zh-CN" altLang="en-US" dirty="0">
                <a:cs typeface="微软雅黑" panose="020B0503020204020204" charset="-122"/>
                <a:sym typeface="+mn-ea"/>
              </a:rPr>
              <a:t>道题。</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独身生活代表着自由和独立，也有可能带来孤独和无助。关于独身生活，存在如下不同的看法：</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）独身生活的自由度高。独身者可以随心所欲地做自己想做的事情，不会因承担对家庭和子女的责任而受到束缚，生活可以更自由。</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）独身生活容易影响身心健康，独身生活通常会感到孤独，尤其是在一个无亲无故的城市中，因为难以得到家庭或亲属的支持和陪伴，更容易产生无助感。</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）独身生活成本低，独身的生活成本通常会比婚姻家庭低，因为没有子女和配偶的开销，日常开支相对要单纯得多。</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）虽然个人生活是独身的，但是作为子女、独身者也要肩负对父母的责任。因此，他们在经济上和精神上也不会更轻松。</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）独身生活使得个人调节身心的时间比较充裕。可以坚持体育锻炼，能够保持更健康的生活方式，加之受到旁人干扰较少，心理也随之安稳平静，没有烦恼。</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6</a:t>
            </a:r>
            <a:r>
              <a:rPr lang="zh-CN" altLang="en-US" dirty="0">
                <a:cs typeface="微软雅黑" panose="020B0503020204020204" charset="-122"/>
                <a:sym typeface="+mn-ea"/>
              </a:rPr>
              <a:t>）独身生活不稳定。首先是饮食没有保障；其次会因为生活中的某些困难而无法承担所有的责任；再者，有些独身者的社交圈比较狭窄，无法融入以婚姻家庭为主要群体的主流社会。</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15.</a:t>
            </a:r>
            <a:r>
              <a:rPr lang="zh-CN" altLang="en-US" dirty="0">
                <a:cs typeface="微软雅黑" panose="020B0503020204020204" charset="-122"/>
                <a:sym typeface="+mn-ea"/>
              </a:rPr>
              <a:t>关于（</a:t>
            </a:r>
            <a:r>
              <a:rPr lang="en-US" altLang="zh-CN" dirty="0">
                <a:cs typeface="微软雅黑" panose="020B0503020204020204" charset="-122"/>
                <a:sym typeface="+mn-ea"/>
              </a:rPr>
              <a:t>1</a:t>
            </a:r>
            <a:r>
              <a:rPr lang="zh-CN" altLang="en-US" dirty="0">
                <a:cs typeface="微软雅黑" panose="020B0503020204020204" charset="-122"/>
                <a:sym typeface="+mn-ea"/>
              </a:rPr>
              <a:t>）和（</a:t>
            </a:r>
            <a:r>
              <a:rPr lang="en-US" altLang="zh-CN" dirty="0">
                <a:cs typeface="微软雅黑" panose="020B0503020204020204" charset="-122"/>
                <a:sym typeface="+mn-ea"/>
              </a:rPr>
              <a:t>3</a:t>
            </a:r>
            <a:r>
              <a:rPr lang="zh-CN" altLang="en-US" dirty="0">
                <a:cs typeface="微软雅黑" panose="020B0503020204020204" charset="-122"/>
                <a:sym typeface="+mn-ea"/>
              </a:rPr>
              <a:t>）的评价，以下哪项最为恰当？（）</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A.</a:t>
            </a:r>
            <a:r>
              <a:rPr lang="zh-CN" altLang="en-US" dirty="0">
                <a:cs typeface="微软雅黑" panose="020B0503020204020204" charset="-122"/>
                <a:sym typeface="+mn-ea"/>
              </a:rPr>
              <a:t>两者都支持独身生活，但是理由相反</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B.</a:t>
            </a:r>
            <a:r>
              <a:rPr lang="zh-CN" altLang="en-US" dirty="0">
                <a:cs typeface="微软雅黑" panose="020B0503020204020204" charset="-122"/>
                <a:sym typeface="+mn-ea"/>
              </a:rPr>
              <a:t>两者均肯定了独身生活有优势，但理由不同</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C.</a:t>
            </a:r>
            <a:r>
              <a:rPr lang="zh-CN" altLang="en-US" dirty="0">
                <a:cs typeface="微软雅黑" panose="020B0503020204020204" charset="-122"/>
                <a:sym typeface="+mn-ea"/>
              </a:rPr>
              <a:t>两者观点不一致，且两者的理由都不足以支持其观点</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D.</a:t>
            </a:r>
            <a:r>
              <a:rPr lang="zh-CN" altLang="en-US" dirty="0">
                <a:cs typeface="微软雅黑" panose="020B0503020204020204" charset="-122"/>
                <a:sym typeface="+mn-ea"/>
              </a:rPr>
              <a:t>一个考虑的是自由，一个考虑的是金钱，两者观点并不一致</a:t>
            </a:r>
            <a:endParaRPr lang="zh-CN" altLang="en-US"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152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16</a:t>
            </a:r>
            <a:endParaRPr kumimoji="1" lang="en-US" altLang="zh-CN" sz="2800" b="1" dirty="0">
              <a:solidFill>
                <a:srgbClr val="FF653F"/>
              </a:solidFill>
            </a:endParaRPr>
          </a:p>
        </p:txBody>
      </p:sp>
      <p:sp>
        <p:nvSpPr>
          <p:cNvPr id="3" name="文本框 2"/>
          <p:cNvSpPr txBox="1"/>
          <p:nvPr/>
        </p:nvSpPr>
        <p:spPr>
          <a:xfrm>
            <a:off x="462915" y="240030"/>
            <a:ext cx="11053445" cy="5526405"/>
          </a:xfrm>
          <a:prstGeom prst="rect">
            <a:avLst/>
          </a:prstGeom>
          <a:noFill/>
        </p:spPr>
        <p:txBody>
          <a:bodyPr wrap="square" rtlCol="0" anchor="t">
            <a:noAutofit/>
          </a:bodyPr>
          <a:p>
            <a:pPr indent="0" fontAlgn="auto">
              <a:lnSpc>
                <a:spcPct val="110000"/>
              </a:lnSpc>
            </a:pPr>
            <a:r>
              <a:rPr lang="zh-CN" altLang="en-US" dirty="0">
                <a:cs typeface="微软雅黑" panose="020B0503020204020204" charset="-122"/>
                <a:sym typeface="+mn-ea"/>
              </a:rPr>
              <a:t>根据以下材料，回答以下</a:t>
            </a:r>
            <a:r>
              <a:rPr lang="en-US" altLang="zh-CN" dirty="0">
                <a:cs typeface="微软雅黑" panose="020B0503020204020204" charset="-122"/>
                <a:sym typeface="+mn-ea"/>
              </a:rPr>
              <a:t>4</a:t>
            </a:r>
            <a:r>
              <a:rPr lang="zh-CN" altLang="en-US" dirty="0">
                <a:cs typeface="微软雅黑" panose="020B0503020204020204" charset="-122"/>
                <a:sym typeface="+mn-ea"/>
              </a:rPr>
              <a:t>道题。</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独身生活代表着自由和独立，也有可能带来孤独和无助。关于独身生活，存在如下不同的看法：</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）独身生活的自由度高。独身者可以随心所欲地做自己想做的事情，不会因承担对家庭和子女的责任而受到束缚，生活可以更自由。</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）独身生活容易影响身心健康，独身生活通常会感到孤独，尤其是在一个无亲无故的城市中，因为难以得到家庭或亲属的支持和陪伴，更容易产生无助感。</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）独身生活成本低，独身的生活成本通常会比婚姻家庭低，因为没有子女和配偶的开销，日常开支相对要单纯得多。</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）虽然个人生活是独身的，但是作为子女、独身者也要肩负对父母的责任。因此，他们在经济上和精神上也不会更轻松。</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）独身生活使得个人调节身心的时间比较充裕。可以坚持体育锻炼，能够保持更健康的生活方式，加之受到旁人干扰较少，心理也随之安稳平静，没有烦恼。</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6</a:t>
            </a:r>
            <a:r>
              <a:rPr lang="zh-CN" altLang="en-US" dirty="0">
                <a:cs typeface="微软雅黑" panose="020B0503020204020204" charset="-122"/>
                <a:sym typeface="+mn-ea"/>
              </a:rPr>
              <a:t>）独身生活不稳定。首先是饮食没有保障；其次会因为生活中的某些困难而无法承担所有的责任；再者，有些独身者的社交圈比较狭窄，无法融入以婚姻家庭为主要群体的主流社会。</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16.</a:t>
            </a:r>
            <a:r>
              <a:rPr lang="zh-CN" altLang="en-US" dirty="0">
                <a:cs typeface="微软雅黑" panose="020B0503020204020204" charset="-122"/>
                <a:sym typeface="+mn-ea"/>
              </a:rPr>
              <a:t>以下哪项是（</a:t>
            </a:r>
            <a:r>
              <a:rPr lang="en-US" altLang="zh-CN" dirty="0">
                <a:cs typeface="微软雅黑" panose="020B0503020204020204" charset="-122"/>
                <a:sym typeface="+mn-ea"/>
              </a:rPr>
              <a:t>3</a:t>
            </a:r>
            <a:r>
              <a:rPr lang="zh-CN" altLang="en-US" dirty="0">
                <a:cs typeface="微软雅黑" panose="020B0503020204020204" charset="-122"/>
                <a:sym typeface="+mn-ea"/>
              </a:rPr>
              <a:t>）中论证所假设的前提？（）</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A.</a:t>
            </a:r>
            <a:r>
              <a:rPr lang="zh-CN" altLang="en-US" dirty="0">
                <a:cs typeface="微软雅黑" panose="020B0503020204020204" charset="-122"/>
                <a:sym typeface="+mn-ea"/>
              </a:rPr>
              <a:t>生活开支是否单纯是影响婚姻家庭建立的重要因素之一</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B.</a:t>
            </a:r>
            <a:r>
              <a:rPr lang="zh-CN" altLang="en-US" dirty="0">
                <a:cs typeface="微软雅黑" panose="020B0503020204020204" charset="-122"/>
                <a:sym typeface="+mn-ea"/>
              </a:rPr>
              <a:t>婚姻生活只会增加夫妻双方的支出，而不会增加双方的收入</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C.</a:t>
            </a:r>
            <a:r>
              <a:rPr lang="zh-CN" altLang="en-US" dirty="0">
                <a:cs typeface="微软雅黑" panose="020B0503020204020204" charset="-122"/>
                <a:sym typeface="+mn-ea"/>
              </a:rPr>
              <a:t>婚姻生活中用于子女的支出要高于夫妻双方独自生活的总支出</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D.</a:t>
            </a:r>
            <a:r>
              <a:rPr lang="zh-CN" altLang="en-US" dirty="0">
                <a:cs typeface="微软雅黑" panose="020B0503020204020204" charset="-122"/>
                <a:sym typeface="+mn-ea"/>
              </a:rPr>
              <a:t>婚姻生活中仅用于夫妻双方的支出要高于两人独身生活的总支出</a:t>
            </a:r>
            <a:endParaRPr lang="zh-CN" altLang="en-US"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152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17</a:t>
            </a:r>
            <a:endParaRPr kumimoji="1" lang="en-US" altLang="zh-CN" sz="2800" b="1" dirty="0">
              <a:solidFill>
                <a:srgbClr val="FF653F"/>
              </a:solidFill>
            </a:endParaRPr>
          </a:p>
        </p:txBody>
      </p:sp>
      <p:sp>
        <p:nvSpPr>
          <p:cNvPr id="3" name="文本框 2"/>
          <p:cNvSpPr txBox="1"/>
          <p:nvPr/>
        </p:nvSpPr>
        <p:spPr>
          <a:xfrm>
            <a:off x="462915" y="225425"/>
            <a:ext cx="11053445" cy="5526405"/>
          </a:xfrm>
          <a:prstGeom prst="rect">
            <a:avLst/>
          </a:prstGeom>
          <a:noFill/>
        </p:spPr>
        <p:txBody>
          <a:bodyPr wrap="square" rtlCol="0" anchor="t">
            <a:noAutofit/>
          </a:bodyPr>
          <a:p>
            <a:pPr indent="0" fontAlgn="auto">
              <a:lnSpc>
                <a:spcPct val="110000"/>
              </a:lnSpc>
            </a:pPr>
            <a:r>
              <a:rPr lang="zh-CN" altLang="en-US" dirty="0">
                <a:cs typeface="微软雅黑" panose="020B0503020204020204" charset="-122"/>
                <a:sym typeface="+mn-ea"/>
              </a:rPr>
              <a:t>根据以下材料，回答以下</a:t>
            </a:r>
            <a:r>
              <a:rPr lang="en-US" altLang="zh-CN" dirty="0">
                <a:cs typeface="微软雅黑" panose="020B0503020204020204" charset="-122"/>
                <a:sym typeface="+mn-ea"/>
              </a:rPr>
              <a:t>4</a:t>
            </a:r>
            <a:r>
              <a:rPr lang="zh-CN" altLang="en-US" dirty="0">
                <a:cs typeface="微软雅黑" panose="020B0503020204020204" charset="-122"/>
                <a:sym typeface="+mn-ea"/>
              </a:rPr>
              <a:t>道题。</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独身生活代表着自由和独立，也有可能带来孤独和无助。关于独身生活，存在如下不同的看法：</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）独身生活的自由度高。独身者可以随心所欲地做自己想做的事情，不会因承担对家庭和子女的责任而受到束缚，生活可以更自由。</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）独身生活容易影响身心健康，独身生活通常会感到孤独，尤其是在一个无亲无故的城市中，因为难以得到家庭或亲属的支持和陪伴，更容易产生无助感。</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）独身生活成本低，独身的生活成本通常会比婚姻家庭低，因为没有子女和配偶的开销，日常开支相对要单纯得多。</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）虽然个人生活是独身的，但是作为子女、独身者也要肩负对父母的责任。因此，他们在经济上和精神上也不会更轻松。</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）独身生活使得个人调节身心的时间比较充裕。可以坚持体育锻炼，能够保持更健康的生活方式，加之受到旁人干扰较少，心理也随之安稳平静，没有烦恼。</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6</a:t>
            </a:r>
            <a:r>
              <a:rPr lang="zh-CN" altLang="en-US" dirty="0">
                <a:cs typeface="微软雅黑" panose="020B0503020204020204" charset="-122"/>
                <a:sym typeface="+mn-ea"/>
              </a:rPr>
              <a:t>）独身生活不稳定。首先是饮食没有保障；其次会因为生活中的某些困难而无法承担所有的责任；再者，有些独身者的社交圈比较狭窄，无法融入以婚姻家庭为主要群体的主流社会。</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17.</a:t>
            </a:r>
            <a:r>
              <a:rPr lang="zh-CN" altLang="en-US" dirty="0">
                <a:cs typeface="微软雅黑" panose="020B0503020204020204" charset="-122"/>
                <a:sym typeface="+mn-ea"/>
              </a:rPr>
              <a:t>以下哪项中两者之间的观点是相互矛盾的？（）</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A.</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）和（</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	</a:t>
            </a:r>
            <a:endParaRPr lang="en-US" altLang="zh-CN"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B.</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）和（</a:t>
            </a:r>
            <a:r>
              <a:rPr lang="en-US" altLang="zh-CN" dirty="0">
                <a:cs typeface="微软雅黑" panose="020B0503020204020204" charset="-122"/>
                <a:sym typeface="+mn-ea"/>
              </a:rPr>
              <a:t>5</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C.</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）和（</a:t>
            </a:r>
            <a:r>
              <a:rPr lang="en-US" altLang="zh-CN" dirty="0">
                <a:cs typeface="微软雅黑" panose="020B0503020204020204" charset="-122"/>
                <a:sym typeface="+mn-ea"/>
              </a:rPr>
              <a:t>4</a:t>
            </a:r>
            <a:r>
              <a:rPr lang="zh-CN" altLang="en-US" dirty="0">
                <a:cs typeface="微软雅黑" panose="020B0503020204020204" charset="-122"/>
                <a:sym typeface="+mn-ea"/>
              </a:rPr>
              <a:t>）</a:t>
            </a:r>
            <a:r>
              <a:rPr lang="en-US" altLang="zh-CN" dirty="0">
                <a:cs typeface="微软雅黑" panose="020B0503020204020204" charset="-122"/>
                <a:sym typeface="+mn-ea"/>
              </a:rPr>
              <a:t>	</a:t>
            </a:r>
            <a:endParaRPr lang="en-US" altLang="zh-CN"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D.</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）和（</a:t>
            </a:r>
            <a:r>
              <a:rPr lang="en-US" altLang="zh-CN" dirty="0">
                <a:cs typeface="微软雅黑" panose="020B0503020204020204" charset="-122"/>
                <a:sym typeface="+mn-ea"/>
              </a:rPr>
              <a:t>5</a:t>
            </a:r>
            <a:r>
              <a:rPr lang="zh-CN" altLang="en-US" dirty="0">
                <a:cs typeface="微软雅黑" panose="020B0503020204020204" charset="-122"/>
                <a:sym typeface="+mn-ea"/>
              </a:rPr>
              <a:t>）</a:t>
            </a:r>
            <a:endParaRPr lang="zh-CN" altLang="en-US"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31520" y="-6350"/>
            <a:ext cx="10515600" cy="708025"/>
          </a:xfrm>
        </p:spPr>
        <p:txBody>
          <a:bodyPr/>
          <a:lstStyle/>
          <a:p>
            <a:pPr algn="ctr">
              <a:buClrTx/>
              <a:buSzTx/>
              <a:buFontTx/>
            </a:pPr>
            <a:r>
              <a:rPr kumimoji="1" lang="zh-CN" sz="2800" b="1" dirty="0">
                <a:solidFill>
                  <a:srgbClr val="FF653F"/>
                </a:solidFill>
              </a:rPr>
              <a:t>题</a:t>
            </a:r>
            <a:r>
              <a:rPr kumimoji="1" lang="en-US" altLang="zh-CN" sz="2800" b="1" dirty="0">
                <a:solidFill>
                  <a:srgbClr val="FF653F"/>
                </a:solidFill>
              </a:rPr>
              <a:t>18</a:t>
            </a:r>
            <a:endParaRPr kumimoji="1" lang="en-US" altLang="zh-CN" sz="2800" b="1" dirty="0">
              <a:solidFill>
                <a:srgbClr val="FF653F"/>
              </a:solidFill>
            </a:endParaRPr>
          </a:p>
        </p:txBody>
      </p:sp>
      <p:sp>
        <p:nvSpPr>
          <p:cNvPr id="3" name="文本框 2"/>
          <p:cNvSpPr txBox="1"/>
          <p:nvPr/>
        </p:nvSpPr>
        <p:spPr>
          <a:xfrm>
            <a:off x="462915" y="237490"/>
            <a:ext cx="11053445" cy="5526405"/>
          </a:xfrm>
          <a:prstGeom prst="rect">
            <a:avLst/>
          </a:prstGeom>
          <a:noFill/>
        </p:spPr>
        <p:txBody>
          <a:bodyPr wrap="square" rtlCol="0" anchor="t">
            <a:noAutofit/>
          </a:bodyPr>
          <a:p>
            <a:pPr indent="0" fontAlgn="auto">
              <a:lnSpc>
                <a:spcPct val="110000"/>
              </a:lnSpc>
            </a:pPr>
            <a:r>
              <a:rPr lang="zh-CN" altLang="en-US" dirty="0">
                <a:cs typeface="微软雅黑" panose="020B0503020204020204" charset="-122"/>
                <a:sym typeface="+mn-ea"/>
              </a:rPr>
              <a:t>根据以下材料，回答以下</a:t>
            </a:r>
            <a:r>
              <a:rPr lang="en-US" altLang="zh-CN" dirty="0">
                <a:cs typeface="微软雅黑" panose="020B0503020204020204" charset="-122"/>
                <a:sym typeface="+mn-ea"/>
              </a:rPr>
              <a:t>4</a:t>
            </a:r>
            <a:r>
              <a:rPr lang="zh-CN" altLang="en-US" dirty="0">
                <a:cs typeface="微软雅黑" panose="020B0503020204020204" charset="-122"/>
                <a:sym typeface="+mn-ea"/>
              </a:rPr>
              <a:t>道题。</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独身生活代表着自由和独立，也有可能带来孤独和无助。关于独身生活，存在如下不同的看法：</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）独身生活的自由度高。独身者可以随心所欲地做自己想做的事情，不会因承担对家庭和子女的责任而受到束缚，生活可以更自由。</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）独身生活容易影响身心健康，独身生活通常会感到孤独，尤其是在一个无亲无故的城市中，因为难以得到家庭或亲属的支持和陪伴，更容易产生无助感。</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）独身生活成本低，独身的生活成本通常会比婚姻家庭低，因为没有子女和配偶的开销，日常开支相对要单纯得多。</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）虽然个人生活是独身的，但是作为子女、独身者也要肩负对父母的责任。因此，他们在经济上和精神上也不会更轻松。</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5</a:t>
            </a:r>
            <a:r>
              <a:rPr lang="zh-CN" altLang="en-US" dirty="0">
                <a:cs typeface="微软雅黑" panose="020B0503020204020204" charset="-122"/>
                <a:sym typeface="+mn-ea"/>
              </a:rPr>
              <a:t>）独身生活使得个人调节身心的时间比较充裕。可以坚持体育锻炼，能够保持更健康的生活方式，加之受到旁人干扰较少，心理也随之安稳平静，没有烦恼。</a:t>
            </a:r>
            <a:endParaRPr lang="zh-CN" altLang="en-US" dirty="0">
              <a:cs typeface="微软雅黑" panose="020B0503020204020204" charset="-122"/>
              <a:sym typeface="+mn-ea"/>
            </a:endParaRPr>
          </a:p>
          <a:p>
            <a:pPr indent="0" fontAlgn="auto">
              <a:lnSpc>
                <a:spcPct val="110000"/>
              </a:lnSpc>
            </a:pPr>
            <a:r>
              <a:rPr lang="zh-CN" altLang="en-US" dirty="0">
                <a:cs typeface="微软雅黑" panose="020B0503020204020204" charset="-122"/>
                <a:sym typeface="+mn-ea"/>
              </a:rPr>
              <a:t>（</a:t>
            </a:r>
            <a:r>
              <a:rPr lang="en-US" altLang="zh-CN" dirty="0">
                <a:cs typeface="微软雅黑" panose="020B0503020204020204" charset="-122"/>
                <a:sym typeface="+mn-ea"/>
              </a:rPr>
              <a:t>6</a:t>
            </a:r>
            <a:r>
              <a:rPr lang="zh-CN" altLang="en-US" dirty="0">
                <a:cs typeface="微软雅黑" panose="020B0503020204020204" charset="-122"/>
                <a:sym typeface="+mn-ea"/>
              </a:rPr>
              <a:t>）独身生活不稳定。首先是饮食没有保障；其次会因为生活中的某些困难而无法承担所有的责任；再者，有些独身者的社交圈比较狭窄，无法融入以婚姻家庭为主要群体的主流社会。</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18.</a:t>
            </a:r>
            <a:r>
              <a:rPr lang="zh-CN" altLang="en-US" dirty="0">
                <a:cs typeface="微软雅黑" panose="020B0503020204020204" charset="-122"/>
                <a:sym typeface="+mn-ea"/>
              </a:rPr>
              <a:t>（</a:t>
            </a:r>
            <a:r>
              <a:rPr lang="en-US" altLang="zh-CN" dirty="0">
                <a:cs typeface="微软雅黑" panose="020B0503020204020204" charset="-122"/>
                <a:sym typeface="+mn-ea"/>
              </a:rPr>
              <a:t>6</a:t>
            </a:r>
            <a:r>
              <a:rPr lang="zh-CN" altLang="en-US" dirty="0">
                <a:cs typeface="微软雅黑" panose="020B0503020204020204" charset="-122"/>
                <a:sym typeface="+mn-ea"/>
              </a:rPr>
              <a:t>）中论证存在的最主要问题是（）。</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A.</a:t>
            </a:r>
            <a:r>
              <a:rPr lang="zh-CN" altLang="en-US" dirty="0">
                <a:cs typeface="微软雅黑" panose="020B0503020204020204" charset="-122"/>
                <a:sym typeface="+mn-ea"/>
              </a:rPr>
              <a:t>转移论题</a:t>
            </a:r>
            <a:r>
              <a:rPr lang="en-US" altLang="zh-CN" dirty="0">
                <a:cs typeface="微软雅黑" panose="020B0503020204020204" charset="-122"/>
                <a:sym typeface="+mn-ea"/>
              </a:rPr>
              <a:t>	</a:t>
            </a:r>
            <a:endParaRPr lang="en-US" altLang="zh-CN"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B.</a:t>
            </a:r>
            <a:r>
              <a:rPr lang="zh-CN" altLang="en-US" dirty="0">
                <a:cs typeface="微软雅黑" panose="020B0503020204020204" charset="-122"/>
                <a:sym typeface="+mn-ea"/>
              </a:rPr>
              <a:t>论点不明确</a:t>
            </a:r>
            <a:endParaRPr lang="zh-CN" altLang="en-US"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C.</a:t>
            </a:r>
            <a:r>
              <a:rPr lang="zh-CN" altLang="en-US" dirty="0">
                <a:cs typeface="微软雅黑" panose="020B0503020204020204" charset="-122"/>
                <a:sym typeface="+mn-ea"/>
              </a:rPr>
              <a:t>论据不真实</a:t>
            </a:r>
            <a:r>
              <a:rPr lang="en-US" altLang="zh-CN" dirty="0">
                <a:cs typeface="微软雅黑" panose="020B0503020204020204" charset="-122"/>
                <a:sym typeface="+mn-ea"/>
              </a:rPr>
              <a:t>	</a:t>
            </a:r>
            <a:endParaRPr lang="en-US" altLang="zh-CN" dirty="0">
              <a:cs typeface="微软雅黑" panose="020B0503020204020204" charset="-122"/>
              <a:sym typeface="+mn-ea"/>
            </a:endParaRPr>
          </a:p>
          <a:p>
            <a:pPr indent="0" fontAlgn="auto">
              <a:lnSpc>
                <a:spcPct val="110000"/>
              </a:lnSpc>
            </a:pPr>
            <a:r>
              <a:rPr lang="en-US" altLang="zh-CN" dirty="0">
                <a:cs typeface="微软雅黑" panose="020B0503020204020204" charset="-122"/>
                <a:sym typeface="+mn-ea"/>
              </a:rPr>
              <a:t>D.</a:t>
            </a:r>
            <a:r>
              <a:rPr lang="zh-CN" altLang="en-US" dirty="0">
                <a:cs typeface="微软雅黑" panose="020B0503020204020204" charset="-122"/>
                <a:sym typeface="+mn-ea"/>
              </a:rPr>
              <a:t>论据不支持论点</a:t>
            </a:r>
            <a:endParaRPr lang="zh-CN" altLang="en-US"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4633</Words>
  <Application>WPS 演示</Application>
  <PresentationFormat>宽屏</PresentationFormat>
  <Paragraphs>184</Paragraphs>
  <Slides>20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宋体</vt:lpstr>
      <vt:lpstr>Wingdings</vt:lpstr>
      <vt:lpstr>楷体</vt:lpstr>
      <vt:lpstr>Wingdings</vt:lpstr>
      <vt:lpstr>微软雅黑</vt:lpstr>
      <vt:lpstr>Arial Unicode MS</vt:lpstr>
      <vt:lpstr>自定义设计方案</vt:lpstr>
      <vt:lpstr>PowerPoint 演示文稿</vt:lpstr>
      <vt:lpstr>题1</vt:lpstr>
      <vt:lpstr>题2</vt:lpstr>
      <vt:lpstr>题5</vt:lpstr>
      <vt:lpstr>题7</vt:lpstr>
      <vt:lpstr>题8</vt:lpstr>
      <vt:lpstr>题11</vt:lpstr>
      <vt:lpstr>题15</vt:lpstr>
      <vt:lpstr>题19</vt:lpstr>
      <vt:lpstr>题21</vt:lpstr>
      <vt:lpstr>题22</vt:lpstr>
      <vt:lpstr>题24</vt:lpstr>
      <vt:lpstr>题26</vt:lpstr>
      <vt:lpstr>题28</vt:lpstr>
      <vt:lpstr>题30</vt:lpstr>
      <vt:lpstr>题32</vt:lpstr>
      <vt:lpstr>题33</vt:lpstr>
      <vt:lpstr>题34</vt:lpstr>
      <vt:lpstr>题35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219</cp:revision>
  <dcterms:created xsi:type="dcterms:W3CDTF">2019-06-19T02:08:00Z</dcterms:created>
  <dcterms:modified xsi:type="dcterms:W3CDTF">2026-01-12T13:11:53Z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