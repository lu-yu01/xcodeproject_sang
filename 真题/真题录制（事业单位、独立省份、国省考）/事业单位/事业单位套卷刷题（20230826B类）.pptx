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2"/>
  </p:handoutMasterIdLst>
  <p:sldIdLst>
    <p:sldId id="1620" r:id="rId3"/>
    <p:sldId id="1582" r:id="rId5"/>
    <p:sldId id="1583" r:id="rId6"/>
    <p:sldId id="1591" r:id="rId7"/>
    <p:sldId id="1594" r:id="rId8"/>
    <p:sldId id="1595" r:id="rId9"/>
    <p:sldId id="1603" r:id="rId10"/>
    <p:sldId id="1604" r:id="rId11"/>
    <p:sldId id="1606" r:id="rId12"/>
    <p:sldId id="1607" r:id="rId13"/>
    <p:sldId id="1611" r:id="rId14"/>
    <p:sldId id="1612" r:id="rId15"/>
    <p:sldId id="1613" r:id="rId16"/>
    <p:sldId id="1614" r:id="rId17"/>
    <p:sldId id="1615" r:id="rId18"/>
    <p:sldId id="1616" r:id="rId19"/>
    <p:sldId id="1619" r:id="rId20"/>
    <p:sldId id="1621" r:id="rId21"/>
  </p:sldIdLst>
  <p:sldSz cx="12192000" cy="6858000"/>
  <p:notesSz cx="6858000" cy="9144000"/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ei" initials="2" lastIdx="9" clrIdx="0"/>
  <p:cmAuthor id="1" name="作者" initials="作" lastIdx="3" clrIdx="2"/>
  <p:cmAuthor id="2" name="许远超" initials="许" lastIdx="8" clrIdx="3"/>
  <p:cmAuthor id="3" name="Administrator" initials="A" lastIdx="1" clrIdx="2"/>
  <p:cmAuthor id="4" name="kingsoft" initials="k" lastIdx="1" clrIdx="0"/>
  <p:cmAuthor id="5" name="刘 译璟" initials="刘" lastIdx="32" clrIdx="0"/>
  <p:cmAuthor id="6" name="番茄花园" initials="番" lastIdx="1" clrIdx="0"/>
  <p:cmAuthor id="7" name="李鹏飞_6bQfzI3a" initials="李" lastIdx="0" clrIdx="0"/>
  <p:cmAuthor id="8" name="小珞_QjMfU7FR" initials="小" lastIdx="0" clrIdx="0"/>
  <p:cmAuthor id="9" name="骆倩怡_Znauj26B" initials="authorId_382814100" lastIdx="0" clrIdx="0"/>
  <p:cmAuthor id="249246244" name="桑桑" initials="桑" lastIdx="1" clrIdx="0"/>
  <p:cmAuthor id="10" name="caoyue" initials="c" lastIdx="1" clrIdx="9"/>
  <p:cmAuthor id="12" name="18309297108" initials="1" lastIdx="1" clrIdx="11"/>
  <p:cmAuthor id="13" name="xmiles" initials="x" lastIdx="1" clrIdx="12"/>
  <p:cmAuthor id="2001" name="Microsoft Office User" initials="MOU" lastIdx="1" clrIdx="2"/>
  <p:cmAuthor id="11" name="ibm" initials="i" lastIdx="5" clrIdx="10"/>
  <p:cmAuthor id="14" name="kobe" initials="k" lastIdx="1" clrIdx="13"/>
  <p:cmAuthor id="15" name="MIAI" initials="M" lastIdx="1" clrIdx="14"/>
  <p:cmAuthor id="16" name="HP" initials="H" lastIdx="1" clrIdx="15"/>
  <p:cmAuthor id="17" name="yangyaqin" initials="y" lastIdx="1" clrIdx="16"/>
  <p:cmAuthor id="18" name="ASUS" initials="A" lastIdx="1" clrIdx="1"/>
  <p:cmAuthor id="76" name="Yongqiang ZHOU" initials="YZ" lastIdx="1" clrIdx="25"/>
  <p:cmAuthor id="2000" name="Beck_jUrevum2" initials="authorId_724972424" lastIdx="0" clrIdx="0"/>
  <p:cmAuthor id="1483810881" name="WPS_1679281038" initials="W" lastIdx="1" clrIdx="2"/>
  <p:cmAuthor id="25" name="小蕊" initials="小" lastIdx="0" clrIdx="2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1368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05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tags" Target="tags/tag5.xml"/><Relationship Id="rId26" Type="http://schemas.openxmlformats.org/officeDocument/2006/relationships/commentAuthors" Target="commentAuthors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handoutMaster" Target="handoutMasters/handoutMaster1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</a:fld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</a:fld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楷体" panose="02010609060101010101" charset="-122"/>
        <a:ea typeface="楷体" panose="02010609060101010101" charset="-122"/>
        <a:cs typeface="楷体" panose="02010609060101010101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楷体" panose="02010609060101010101" charset="-122"/>
        <a:ea typeface="楷体" panose="02010609060101010101" charset="-122"/>
        <a:cs typeface="楷体" panose="02010609060101010101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楷体" panose="02010609060101010101" charset="-122"/>
        <a:ea typeface="楷体" panose="02010609060101010101" charset="-122"/>
        <a:cs typeface="楷体" panose="02010609060101010101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楷体" panose="02010609060101010101" charset="-122"/>
        <a:ea typeface="楷体" panose="02010609060101010101" charset="-122"/>
        <a:cs typeface="楷体" panose="02010609060101010101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楷体" panose="02010609060101010101" charset="-122"/>
        <a:ea typeface="楷体" panose="02010609060101010101" charset="-122"/>
        <a:cs typeface="楷体" panose="02010609060101010101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1.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答案：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A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解析：本题属于数量类，主要考查黑球数。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第一行图形中黑球分别为：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1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、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3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、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4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，即图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1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黑球数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+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图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2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黑球数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=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图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3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黑球数；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第二行满足此规律；第三行应用此规律，故？处应选择黑球为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8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的图形，只有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项符合。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故正确答案为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2.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答案：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C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解析：本题属于样式类，主要考查对称性。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图形中黑球均为轴对称图形，且均只有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1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条对称轴，对称轴依次顺时针旋转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30</a:t>
            </a:r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°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，故？处应选择黑球轴对称，且对称轴方向由图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5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对称轴顺时针旋转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30</a:t>
            </a:r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°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之后所得的图形，只有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项符合。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故正确答案为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9.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答案：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D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解析：本题属于定义判断。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把地理因素视为影响甚至决定国家政治行为的一个基本因素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项：一带一路是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丝绸之路经济带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“21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世纪海上丝绸之路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的简称，旨在积极发展与沿线国家的经济合作伙伴关系，符合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把地理因素视为影响甚至决定国家政治行为的一个基本因素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，符合定义，排除；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项：远交近攻是战国时期秦国采取的一种外交策略，意思是联络距离远的国家，进攻邻近的国家，符合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把地理因素视为影响甚至决定国家政治行为的一个基本因素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，符合定义，排除；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项：合纵连横是战国时期纵横家所宣扬并推行的外交和军事政策。由苏秦游说六国推动六国最终完成联合抗秦，秦在西方，六国在东方，因此六国土地南北相连，故称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合纵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。后秦国自西向东与各诸侯结交，自西向东为横向，故称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连横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。符合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把地理因素视为影响甚至决定国家政治行为的一个基本因素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，符合定义，排除；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项：弱肉强食是指弱者被强者吞食，多指强国吞并弱国，并未涉及地理因素，不符合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把地理因素视为影响甚至决定国家政治行为的一个基本因素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，不符合定义，当选。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本题为选非题，故正确答案为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12.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答案：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C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解析：本题属于定义判断。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良性妒忌：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觉得被妒忌者的优越品质，成就或财产是应得的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”“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希望通过提升自己而与被妒忌者相似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恶意妒忌：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贬低优越的对比对象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”“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希望他人在某件事上失败或失去妒忌的目标，甚至受到伤害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项：甲在舞会上看到乙佩戴了昂贵的首饰，觉得乙的首饰丢了才解气，符合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希望他人在某件事上失败或失去妒忌的目标，甚至受到伤害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，符合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恶意妒忌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定义，不符合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良性妒忌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定义，排除；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项：甲觉得乙能取得今天的成就全靠家里人帮忙，乙本身没什么了不起，符合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贬低优越的对比对象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，符合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恶意妒忌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定义，不符合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良性妒忌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定义，排除；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项：甲看到乙升职，承认了乙的能力强，符合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觉得被妒忌者的优越品质，成就或财产是应得的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，甲觉得自己经过努力也能达到乙的能力水平，符合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希望通过提升自己而与被妒忌者相似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，符合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良性妒忌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定义，当选；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项：甲很羡慕乙的社交能力，觉得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社恐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的自己永远达不到乙的境界，并未涉及妒忌的心理，也没有产生想要与对方一样的想法，不符合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觉得被妒忌者的优越品质，成就或财产是应得的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”“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希望通过提升自己而与被妒忌者相似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，不符合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良性妒忌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定义，排除。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故正确答案为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13.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答案：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A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解析：本题属于定义判断。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伦理绝对主义：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人们的善恶观念和道德规范是永恒不变的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”“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否认它们的历史性、社会性和民族性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伦理相对主义：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道德观念和道德概念具有相对性和条件性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”“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否认在道德发展中存在着具有普遍性的和规律性的客观因素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项：荀子坚持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性恶论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，认为人的本性具有恶的道德价值，孟子坚持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性善论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，认为人性本善，他们都坚持自己的理论，说明认为善恶观念和道德规范是永恒不变的，符合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人们的善恶观念和道德规范是永恒不变的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”“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否认它们的历史性、社会性和民族性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，符合定义，当选；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项：尊老爱幼是世界上很多民族共同认可的道德规范，尊老爱幼是一种随着时间推移观念上的转变，某些时间或者某些地区、某些民族没有尊老爱幼的道德规范，符合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道德观念和道德概念具有相对性和条件性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”“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否认在道德发展中存在着具有普遍性的和规律性的客观因素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，符合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伦理相对主义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定义，不符合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伦理绝对主义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定义，排除；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项：小成认为在新时代人们都有自己内心珍视的道德准则，说明小成认为道德准则因人而异，并且还受时代的影响，符合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道德观念和道德概念具有相对性和条件性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”“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否认在道德发展中存在着具有普遍性的和规律性的客观因素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，符合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伦理相对主义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定义，不符合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伦理绝对主义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定义，排除；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项：小芳到了国外后认为西方社会的道德规范跟我国差别很大，说明道德发展存在差异，符合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道德观念和道德概念具有相对性和条件性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”“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否认在道德发展中存在着具有普遍性的和规律性的客观因素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，符合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伦理相对主义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定义，不符合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伦理绝对主义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定义，排除。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故正确答案为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21.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答案：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A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解析：本题属于映射类，主要考查顺承关系。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提纲、初稿、终稿都是写作的流程，三者为并列关系，且写作时先完成提纲，再完成初稿，最后完成终稿，三者存在时间先后顺序。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项：勘探、设计、开采都是开矿的流程，三者为并列关系，且开矿时先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勘探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需要对矿有着大致的了解，再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设计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开采方案，最后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开采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，三者存在时间先后顺序，与题干逻辑关系一致，当选；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项：工作、娱乐、休憩都是活动，三者为并列关系，但不存在时间先后顺序，与题干逻辑关系不一致，排除；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项：金星、木星、火星都是行星，三者为并列关系，但不存在时间先后顺序，与题干逻辑关系不一致，排除；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项：教授是老师的职称，二者为对应关系，与题干逻辑关系不一致，排除。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故正确答案为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22.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答案：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C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解析：本题属于映射类，主要考查地点对应关系。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佛龛是指供奉佛像、神位等的小阁子；佛窟是山壁开凿而成，窟内雕有佛像及宣扬佛教教义和佛教故事的壁画等的建筑；二者为并列关系，与佛像均为存放地点的对应关系。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项：蜂箱是养蜂过程中供蜜蜂繁衍生息的处所，蜂蜡是由蜜蜂（工蜂）腹部四对蜡腺分泌出来的蜡，二者不是并列关系，与题干逻辑关系不一致，排除；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项：油桶是指盛油用的桶，油箱是指飞机上的或汽车上的装燃料的容器，二者为并列关系。油田指原油生产的特定区域，与油桶、油箱之间无明显逻辑关系，与题干逻辑关系不一致，排除；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项：内存是计算机中用于存放数据的重要部件，硬盘是计算机系统的数据存储器，二者为并列关系，与数据均为存放地点的对应关系，与题干逻辑关系一致，当选；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项：钱币和黄金都是资产，二者为并列关系，与题干逻辑关系不一致，排除。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故正确答案为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24.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答案：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C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解析：本题属于映射类，主要考查属性对应关系。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项：令尊是称对方父亲的敬词，二者为属性对应关系；贡献史稿，二者为动宾关系，前后逻辑关系不一致，排除；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项：令尊是称对方父亲的敬词，令尊是长辈，二者为种属关系；史稿由文字组成，二者为组成关系，前后逻辑关系不一致，排除；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项：令尊是称对方父亲的敬词，令堂是称对方母亲的敬词，二者为并列关系；药典和史稿均是记载不同内容的资料，二者为并列关系，前后逻辑关系一致，当选；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项：令尊是称对方父亲的敬词，二者为对应关系；传记是史稿，二者为种属关系，前后逻辑关系不一致，排除。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故正确答案为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史稿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”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的核心定义的是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未经最终定稿、仍可修订完善的历史著作，是史学领域的专用术语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药典是一个国家或国际组织颁布的记载药品标准、规格的法定法典；是药品研发、生产、经营、使用和监督管理的核心依据，核心特点为法定性、规范性和动态更新性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传记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”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是以真实人物为核心，系统记载其生平事迹、思想历程、社会影响的文学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 /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史学作品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25.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答案：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B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解析：本题属于复合类，主要考查并列关系和原材料对应关系。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项：枝干和树叶都是组成树木的一部分，二者为并列关系，建材为建筑物的原材料，二者为原材料的对应关系，前后逻辑关系不一致，排除；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项：枝干是大树的一部分，二者为组成关系，梁柱是建筑物的一部分，二者为组成关系，前后逻辑关系一致，当选；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项：有的鸟巢建筑在枝干上，二者为地点的对应关系，依据图纸修建建筑物，二者为依据的对应关系，前后逻辑关系不一致，排除；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项：枝干和树根都是组成树木的一部分，二者为并列关系，塔楼是一种建筑物，二者为种属关系，前后逻辑关系不一致，排除。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故正确答案为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29.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答案：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B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解析：本题属于论证类。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论点：食品添加剂会危害儿童健康。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本题只有论点没有论据，要想削弱考虑否论点。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项：该项说明天然食品不一定安全，而论点讨论的是食品添加剂是否会危害儿童健康，话题不一致，无关项，排除；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项：该项说明合理范围内的食品添加剂是安全的，说明合理剂量的食品安全剂并不会危害儿童健康，可以削弱，当选；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项：该项说明食品添加剂具有防腐作用，而论点讨论的是食品添加剂是否会危害儿童健康，话题不一致，无关项，排除；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项：该项说明儿童经常吃零食会导致营养不均衡，从而导致健康问题的出现，但并不能够证明食品添加剂是否会危害儿童健康，话题不一致，无关项，排除。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故正确答案为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30.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答案：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C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解析：本题属于论证类。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论点：这是一种能有效降解塑料垃圾的菌群。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论据：菌群在含有塑料垃圾的培养基中能维持旺盛的生长能力。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论点论据话题不一致，优先考虑搭桥，即建立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维持旺盛的生长能力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能有效降解塑料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之间的联系。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项：选项说明该菌群可以降解部分聚乙烯对苯二甲酸酯塑料，补充论据，可以加强，保留；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项：选项说明该菌群喜好聚乙烯塑料，能够将其分解为碎片，补充论据，可以加强，保留；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项：选项说明该菌群是通过高效降解塑料以获得能量维持生命的，建立论据论点联系，为搭桥项，可以加强，保留；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项：选项说明该菌群为发展降解塑料垃圾生物制品产业提供了可能，说明该菌群对降解塑料垃圾有帮助，补充论据，可以加强，保留。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对比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、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、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、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项，搭桥项力度比补充论据力度强，优选。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故正确答案为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注：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项中的将塑料分解成碎片也是塑料降解的典型表现之一。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31.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答案：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A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解析：本题属于论证类。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论点：有人认为柑橘更甜不是自然条件下的变甜，而是因为果农给果实注射了食品甜味剂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——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甜蜜素，才会增加甜度。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本题只有论点，没有论据，要想削弱考虑否论点。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项：该项说明甜蜜素是安全食品添加剂，许多国家和地区都允许添加，但题干论点讨论的是柑橘变甜的原因，话题不一致，为无关项，不能削弱，当选；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项：该项说明注射的针眼会成为微生物入侵的通道，易导致水果腐烂，说明了注射甜蜜素会带来的劣势，故果农不会冒着水果腐烂的风险来注射甜蜜素增加甜度，可以削弱，排除；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项：该项说明注射无法保证甜蜜素在水果内均匀分布，还可能影响口感，说明了注射甜蜜素会带来的劣势，故果农不会采取注射甜蜜素的手段来增加甜度，可以削弱，排除；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项：该项说明果林里柑橘数量巨大，逐个为果实注入甜蜜素几乎不可能，故果农不会采取注射甜蜜素的手段来增加甜度，可以削弱，排除。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本题为选非题，故正确答案为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32.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答案：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D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解析：本题属于论证类。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论点：容貌焦虑的来源在于对美颜的过度依赖，而这种依赖正是来自社交平台的反馈。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论据：约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55%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的人去做整容手术是为了让自己看起来和美颜照片一样漂亮，因容貌焦虑导致的整容上瘾已经成为一种新的就医现象。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项：该项说明社交平台会使人们根据反馈不断地进行自我观察，说明容貌焦虑确实来自于社交平台的反馈，补充论据，可以加强，排除；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项：该项说明经常使用美颜功能和浏览社交平台的照片，会加重对自身容貌和外形瑕疵的不满意，说明容貌焦虑确实来自于对美颜的过度依赖及社交平台的反馈，补充论据，可以加强，排除；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项：该项说明社交平台呈现的美化后的照片易给浏览者带来焦虑，说明容貌焦虑确实来自于社交平台的反馈，补充论据，可以加强，排除；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项：该项说明部分因容貌焦虑去整容的人会出现病态的重复性整容行为，该项说明的是有了容貌焦虑之后的行为，与论点讨论的容貌焦虑的原因无关，为无关项，当选。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本题为选非题，故正确答案为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33.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答案：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C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解析：本题属于论证类。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论点：老姜并非更有价值。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论据：老姜是由嫩生姜长成的。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论点讨论老姜的价值，论据分析老姜是如何长成而来的即老姜的来源，论点论据话题不一致，削弱优先考虑拆桥。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项：该项说明嫩姜与老姜价值各有不同，没有涉及比较，与老姜价值是否更高无关，不能削弱，排除；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项：该项说明是否爱吃完全是个人喜好，强调的是个人喜好，与老姜价值是否更高无关，不能削弱，排除；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项：该项说明老姜的价值由辛辣程度决定，而不是由其来源决定的，切断了价值与来源之间的联系，为拆桥项，可以削弱，当选；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项：该项说明人们的喜好不同，不必强求，强调的是个人喜好，与老姜价值是否更高无关，不能削弱，排除。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故正确答案为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34.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答案：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C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解析：本题属于论证类。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论点：古人的寿命比现代人短，主要原因就是中医落后。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论点包含因果关系，削弱优先考虑因果倒置或者他因削弱。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网友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1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：说明在受访者中首选西医的人多于首选中医的人，与古人寿命比现代人短的原因无关，无关选项，不能削弱；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网友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2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：说明古人生病之后没有条件看中医，提出了另外一个导致古人寿命比现代人短的原因，为他因削弱，可以削弱；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网友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3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：说明古代自然灾害频繁，造成大量人口死亡，提出了另外一个导致古人寿命比现代人短的原因，为他因削弱，可以削弱；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网友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4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：说明中医和西医各有所长，需要根据病症做出正确的选择，与古人寿命比现代人短的原因无关，无关选项，不能削弱；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网友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5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：说明是现代发达农业技术大大减少了人类非正常的死亡，使得现代人的寿命比古人长，提出了另外一个导致古人寿命比现代人短的原因，为他因削弱，可以削弱；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网友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6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：说明人们认为得了急症要去看西医，与古人寿命比现代人短的原因无关，无关选项，不能削弱；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网友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7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：说明只有看过中医的人才会知道中医的好处，与古人寿命比现代人短的原因无关，无关选项，不能削弱。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能够反驳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古人的寿命比现代人短，主要原因就是中医落后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的有网友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2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、网友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3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、网友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5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，共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3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故正确答案为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35.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答案：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D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解析：本题属于论证类。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论点：所以中医落后于西医。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论据：调查显示，有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42.7%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的受访者表示首选西医，而只有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17.7%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的受访者表示首选中医。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项：该项说明西医医院和科室远多于中医，所以西医要先进于中医，医院和科室的多少不能证明中医和西医谁更先进，与网友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1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论证无关，没有指出论证错误，排除；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项：该项说明首选西医的受访者在西医治疗无效后或许也会选择中医，并不能证明中医和西医谁更先进，与网友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1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论证无关，没有指出论证错误，排除；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项：该项说明不知道其余受访者选择的是什么，所以不能说中医落后于西医，然而即便知道其余受访者的选择，也不能单凭受访者的选择得出中医落后于西医的结论，故该项没有指出论证错误，排除；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项：该项说明首选西医或者中医只代表受访者的认知和选择，不能证明中医落后，即由论据不能得出论点，可以指出论证错误，当选。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故正确答案为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楷体" panose="02010609060101010101" charset="-122"/>
            </a:endParaRPr>
          </a:p>
        </p:txBody>
      </p:sp>
      <p:pic>
        <p:nvPicPr>
          <p:cNvPr id="5" name="图片 4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7" name="文本框 6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0" i="0" dirty="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陆羽老师</a:t>
            </a:r>
            <a:endParaRPr kumimoji="1" lang="zh-CN" altLang="en-US" sz="1400" b="0" i="0" dirty="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楷体" panose="02010609060101010101" charset="-122"/>
            </a:endParaRPr>
          </a:p>
        </p:txBody>
      </p:sp>
      <p:pic>
        <p:nvPicPr>
          <p:cNvPr id="8" name="图片 7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1" name="文本框 10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0" i="0" dirty="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陆羽老师</a:t>
            </a:r>
            <a:endParaRPr kumimoji="1" lang="zh-CN" altLang="en-US" sz="1400" b="0" i="0" dirty="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楷体" panose="02010609060101010101" charset="-122"/>
            </a:endParaRPr>
          </a:p>
        </p:txBody>
      </p:sp>
      <p:pic>
        <p:nvPicPr>
          <p:cNvPr id="7" name="图片 6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8" name="文本框 7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0" i="0" dirty="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陆羽老师</a:t>
            </a:r>
            <a:endParaRPr kumimoji="1" lang="zh-CN" altLang="en-US" sz="1400" b="0" i="0" dirty="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 userDrawn="1"/>
        </p:nvSpPr>
        <p:spPr>
          <a:xfrm>
            <a:off x="545123" y="-10287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>
              <a:cs typeface="楷体" panose="02010609060101010101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楷体" panose="02010609060101010101" charset="-122"/>
            </a:endParaRPr>
          </a:p>
        </p:txBody>
      </p:sp>
      <p:pic>
        <p:nvPicPr>
          <p:cNvPr id="7" name="图片 6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8" name="文本框 7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0" i="0" dirty="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陆羽老师</a:t>
            </a:r>
            <a:endParaRPr kumimoji="1" lang="zh-CN" altLang="en-US" sz="1400" b="0" i="0" dirty="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tags" Target="../tags/tag3.xml"/><Relationship Id="rId7" Type="http://schemas.openxmlformats.org/officeDocument/2006/relationships/tags" Target="../tags/tag2.xml"/><Relationship Id="rId6" Type="http://schemas.openxmlformats.org/officeDocument/2006/relationships/tags" Target="../tags/tag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7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  <p:custDataLst>
      <p:tags r:id="rId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楷体" panose="02010609060101010101" charset="-122"/>
          <a:ea typeface="楷体" panose="02010609060101010101" charset="-122"/>
          <a:cs typeface="楷体" panose="02010609060101010101" charset="-122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楷体" panose="02010609060101010101" charset="-122"/>
          <a:ea typeface="楷体" panose="02010609060101010101" charset="-122"/>
          <a:cs typeface="楷体" panose="02010609060101010101" charset="-122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楷体" panose="02010609060101010101" charset="-122"/>
          <a:ea typeface="楷体" panose="02010609060101010101" charset="-122"/>
          <a:cs typeface="楷体" panose="02010609060101010101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楷体" panose="02010609060101010101" charset="-122"/>
          <a:ea typeface="楷体" panose="02010609060101010101" charset="-122"/>
          <a:cs typeface="楷体" panose="02010609060101010101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楷体" panose="02010609060101010101" charset="-122"/>
          <a:ea typeface="楷体" panose="02010609060101010101" charset="-122"/>
          <a:cs typeface="楷体" panose="02010609060101010101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楷体" panose="02010609060101010101" charset="-122"/>
          <a:ea typeface="楷体" panose="02010609060101010101" charset="-122"/>
          <a:cs typeface="楷体" panose="02010609060101010101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4.xml"/><Relationship Id="rId2" Type="http://schemas.openxmlformats.org/officeDocument/2006/relationships/tags" Target="../tags/tag4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徽标&#10;&#10;AI 生成的内容可能不正确。"/>
          <p:cNvPicPr>
            <a:picLocks noChangeAspect="1"/>
          </p:cNvPicPr>
          <p:nvPr/>
        </p:nvPicPr>
        <p:blipFill>
          <a:blip r:embed="rId1"/>
          <a:srcRect t="9991" b="18252"/>
          <a:stretch>
            <a:fillRect/>
          </a:stretch>
        </p:blipFill>
        <p:spPr>
          <a:xfrm>
            <a:off x="4437879" y="883627"/>
            <a:ext cx="2976453" cy="95043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807628" y="2367459"/>
            <a:ext cx="6576647" cy="2799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4400" b="1" dirty="0">
                <a:solidFill>
                  <a:srgbClr val="DC5037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2023</a:t>
            </a:r>
            <a:r>
              <a:rPr kumimoji="1" lang="zh-CN" altLang="en-US" sz="4400" b="1" dirty="0">
                <a:solidFill>
                  <a:srgbClr val="DC5037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年下半年</a:t>
            </a:r>
            <a:endParaRPr kumimoji="1" lang="zh-CN" altLang="en-US" sz="4400" b="1" dirty="0">
              <a:solidFill>
                <a:srgbClr val="DC5037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4400" b="1" dirty="0">
                <a:solidFill>
                  <a:srgbClr val="DC5037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事业单位联考</a:t>
            </a:r>
            <a:r>
              <a:rPr kumimoji="1" lang="en-US" altLang="zh-CN" sz="4400" b="1" dirty="0">
                <a:solidFill>
                  <a:srgbClr val="DC5037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B</a:t>
            </a:r>
            <a:r>
              <a:rPr kumimoji="1" lang="zh-CN" altLang="en-US" sz="4400" b="1" dirty="0">
                <a:solidFill>
                  <a:srgbClr val="DC5037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类</a:t>
            </a:r>
            <a:endParaRPr kumimoji="1" lang="zh-CN" altLang="en-US" sz="4400" b="1" dirty="0">
              <a:solidFill>
                <a:srgbClr val="DC5037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4400" b="1" dirty="0">
                <a:solidFill>
                  <a:srgbClr val="DC5037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真题解析</a:t>
            </a:r>
            <a:endParaRPr kumimoji="1" lang="zh-CN" altLang="en-US" sz="4400" b="1" dirty="0">
              <a:solidFill>
                <a:srgbClr val="DC5037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kumimoji="1" lang="zh-CN" altLang="en-US" sz="4400" b="1" dirty="0">
              <a:solidFill>
                <a:srgbClr val="DC5037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675016" y="4612428"/>
            <a:ext cx="2502877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>
                <a:solidFill>
                  <a:srgbClr val="DC5037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主讲老师：陆羽老师</a:t>
            </a:r>
            <a:endParaRPr kumimoji="1" lang="zh-CN" altLang="en-US" sz="2000" dirty="0">
              <a:solidFill>
                <a:srgbClr val="DC5037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62915" y="701675"/>
            <a:ext cx="11230610" cy="5526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50000"/>
              </a:lnSpc>
            </a:pPr>
            <a:r>
              <a:rPr sz="2000" dirty="0">
                <a:cs typeface="楷体" panose="02010609060101010101" charset="-122"/>
              </a:rPr>
              <a:t>从所给的四个选项中，选择最合适的一个填在问号处，使之呈现一定的规律性（）。</a:t>
            </a:r>
            <a:endParaRPr sz="2000" dirty="0">
              <a:cs typeface="楷体" panose="02010609060101010101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08025"/>
          </a:xfrm>
        </p:spPr>
        <p:txBody>
          <a:bodyPr/>
          <a:p>
            <a:pPr algn="ctr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  <a:sym typeface="+mn-ea"/>
              </a:rPr>
              <a:t>题</a:t>
            </a:r>
            <a:r>
              <a:rPr kumimoji="1" lang="en-US" altLang="zh-CN" sz="2800" b="1" dirty="0">
                <a:solidFill>
                  <a:srgbClr val="FF653F"/>
                </a:solidFill>
                <a:sym typeface="+mn-ea"/>
              </a:rPr>
              <a:t>1</a:t>
            </a:r>
            <a:endParaRPr kumimoji="1" lang="en-US" altLang="zh-CN" sz="2800" b="1" dirty="0">
              <a:solidFill>
                <a:srgbClr val="FF653F"/>
              </a:solidFill>
            </a:endParaRPr>
          </a:p>
        </p:txBody>
      </p:sp>
      <p:pic>
        <p:nvPicPr>
          <p:cNvPr id="187" name="图片 1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65550" y="1285240"/>
            <a:ext cx="4625340" cy="54521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-6350"/>
            <a:ext cx="10515600" cy="708025"/>
          </a:xfrm>
        </p:spPr>
        <p:txBody>
          <a:bodyPr/>
          <a:lstStyle/>
          <a:p>
            <a:pPr algn="ctr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  <a:sym typeface="+mn-ea"/>
              </a:rPr>
              <a:t>题</a:t>
            </a:r>
            <a:r>
              <a:rPr kumimoji="1" lang="en-US" altLang="zh-CN" sz="2800" b="1" dirty="0">
                <a:solidFill>
                  <a:srgbClr val="FF653F"/>
                </a:solidFill>
                <a:sym typeface="+mn-ea"/>
              </a:rPr>
              <a:t>2</a:t>
            </a:r>
            <a:endParaRPr kumimoji="1" lang="en-US" altLang="zh-CN" sz="2800" b="1" dirty="0">
              <a:solidFill>
                <a:srgbClr val="FF653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2915" y="701675"/>
            <a:ext cx="11146790" cy="5526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sz="2000" dirty="0">
                <a:cs typeface="楷体" panose="02010609060101010101" charset="-122"/>
              </a:rPr>
              <a:t>从所给的四个选项中，选择最合适的一个填入问号处，使之呈现一定的规律性。（）</a:t>
            </a:r>
            <a:endParaRPr lang="zh-CN" altLang="en-US" sz="2000" dirty="0">
              <a:cs typeface="楷体" panose="02010609060101010101" charset="-122"/>
            </a:endParaRPr>
          </a:p>
        </p:txBody>
      </p:sp>
      <p:pic>
        <p:nvPicPr>
          <p:cNvPr id="328" name="图片 1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1390" y="1608455"/>
            <a:ext cx="10149840" cy="45529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-6350"/>
            <a:ext cx="10515600" cy="708025"/>
          </a:xfrm>
        </p:spPr>
        <p:txBody>
          <a:bodyPr/>
          <a:lstStyle/>
          <a:p>
            <a:pPr algn="ctr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  <a:sym typeface="+mn-ea"/>
              </a:rPr>
              <a:t>题</a:t>
            </a:r>
            <a:r>
              <a:rPr kumimoji="1" lang="en-US" altLang="zh-CN" sz="2800" b="1" dirty="0">
                <a:solidFill>
                  <a:srgbClr val="FF653F"/>
                </a:solidFill>
                <a:sym typeface="+mn-ea"/>
              </a:rPr>
              <a:t>3</a:t>
            </a:r>
            <a:endParaRPr kumimoji="1" lang="en-US" altLang="zh-CN" sz="2800" b="1" dirty="0">
              <a:solidFill>
                <a:srgbClr val="FF653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2915" y="701675"/>
            <a:ext cx="11210925" cy="5526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sz="2400" dirty="0">
                <a:cs typeface="楷体" panose="02010609060101010101" charset="-122"/>
              </a:rPr>
              <a:t>地缘政治是政治地理学中的一项理论，它主要是根据地理要素和政治格局的地域形式，分析和预测世界或地区范围的战略形势和有关国家的政治行为，它把地理因素视为影响甚至决定国家政治行为的一个基本因素。</a:t>
            </a:r>
            <a:endParaRPr lang="zh-CN" altLang="en-US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400" dirty="0">
                <a:cs typeface="楷体" panose="02010609060101010101" charset="-122"/>
              </a:rPr>
              <a:t>根据上述定义，下列不涉及地缘政治的是（</a:t>
            </a:r>
            <a:r>
              <a:rPr lang="en-US" altLang="zh-CN" sz="2400" dirty="0">
                <a:cs typeface="楷体" panose="02010609060101010101" charset="-122"/>
              </a:rPr>
              <a:t>  </a:t>
            </a:r>
            <a:r>
              <a:rPr lang="zh-CN" altLang="en-US" sz="2400" dirty="0">
                <a:cs typeface="楷体" panose="02010609060101010101" charset="-122"/>
              </a:rPr>
              <a:t>）。</a:t>
            </a:r>
            <a:endParaRPr lang="zh-CN" altLang="en-US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dirty="0">
                <a:cs typeface="楷体" panose="02010609060101010101" charset="-122"/>
              </a:rPr>
              <a:t>A.</a:t>
            </a:r>
            <a:r>
              <a:rPr lang="zh-CN" altLang="en-US" sz="2400" dirty="0">
                <a:cs typeface="楷体" panose="02010609060101010101" charset="-122"/>
              </a:rPr>
              <a:t>一带一路</a:t>
            </a:r>
            <a:r>
              <a:rPr lang="en-US" altLang="zh-CN" sz="2400" dirty="0">
                <a:cs typeface="楷体" panose="02010609060101010101" charset="-122"/>
              </a:rPr>
              <a:t>	</a:t>
            </a:r>
            <a:endParaRPr lang="en-US" altLang="zh-CN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dirty="0">
                <a:cs typeface="楷体" panose="02010609060101010101" charset="-122"/>
              </a:rPr>
              <a:t>B.</a:t>
            </a:r>
            <a:r>
              <a:rPr lang="zh-CN" altLang="en-US" sz="2400" dirty="0">
                <a:cs typeface="楷体" panose="02010609060101010101" charset="-122"/>
              </a:rPr>
              <a:t>远交近攻</a:t>
            </a:r>
            <a:endParaRPr lang="zh-CN" altLang="en-US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dirty="0">
                <a:cs typeface="楷体" panose="02010609060101010101" charset="-122"/>
              </a:rPr>
              <a:t>C.</a:t>
            </a:r>
            <a:r>
              <a:rPr lang="zh-CN" altLang="en-US" sz="2400" dirty="0">
                <a:cs typeface="楷体" panose="02010609060101010101" charset="-122"/>
              </a:rPr>
              <a:t>合纵连横</a:t>
            </a:r>
            <a:r>
              <a:rPr lang="en-US" altLang="zh-CN" sz="2400" dirty="0">
                <a:cs typeface="楷体" panose="02010609060101010101" charset="-122"/>
              </a:rPr>
              <a:t>	</a:t>
            </a:r>
            <a:endParaRPr lang="en-US" altLang="zh-CN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dirty="0">
                <a:cs typeface="楷体" panose="02010609060101010101" charset="-122"/>
              </a:rPr>
              <a:t>D.</a:t>
            </a:r>
            <a:r>
              <a:rPr lang="zh-CN" altLang="en-US" sz="2400" dirty="0">
                <a:cs typeface="楷体" panose="02010609060101010101" charset="-122"/>
              </a:rPr>
              <a:t>弱肉强食</a:t>
            </a:r>
            <a:endParaRPr lang="zh-CN" altLang="en-US" sz="2400" dirty="0">
              <a:cs typeface="楷体" panose="02010609060101010101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7400" y="-6350"/>
            <a:ext cx="10515600" cy="708025"/>
          </a:xfrm>
        </p:spPr>
        <p:txBody>
          <a:bodyPr/>
          <a:lstStyle/>
          <a:p>
            <a:pPr algn="ctr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  <a:sym typeface="+mn-ea"/>
              </a:rPr>
              <a:t>题</a:t>
            </a:r>
            <a:r>
              <a:rPr kumimoji="1" lang="en-US" altLang="zh-CN" sz="2800" b="1" dirty="0">
                <a:solidFill>
                  <a:srgbClr val="FF653F"/>
                </a:solidFill>
                <a:sym typeface="+mn-ea"/>
              </a:rPr>
              <a:t>4</a:t>
            </a:r>
            <a:endParaRPr kumimoji="1" lang="en-US" altLang="zh-CN" sz="2800" b="1" dirty="0">
              <a:solidFill>
                <a:srgbClr val="FF653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2915" y="701675"/>
            <a:ext cx="11164570" cy="5526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sz="2400" dirty="0">
                <a:cs typeface="楷体" panose="02010609060101010101" charset="-122"/>
              </a:rPr>
              <a:t>良性妒忌是一种同化性情绪，妒忌者觉得被妒忌者的优越品质，成就或财产是应得的，并希望通过提升自己而与被妒忌者相似；恶意妒忌是一种对比性情绪，它的特征是贬低优越的对比对象，希望他人在某件事上失败或失去妒忌的目标，甚至受到伤害。</a:t>
            </a:r>
            <a:endParaRPr lang="zh-CN" altLang="en-US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400" dirty="0">
                <a:cs typeface="楷体" panose="02010609060101010101" charset="-122"/>
              </a:rPr>
              <a:t>根据上述定义，下列属于良性妒忌的是（</a:t>
            </a:r>
            <a:r>
              <a:rPr lang="en-US" altLang="zh-CN" sz="2400" dirty="0">
                <a:cs typeface="楷体" panose="02010609060101010101" charset="-122"/>
              </a:rPr>
              <a:t>  </a:t>
            </a:r>
            <a:r>
              <a:rPr lang="zh-CN" altLang="en-US" sz="2400" dirty="0">
                <a:cs typeface="楷体" panose="02010609060101010101" charset="-122"/>
              </a:rPr>
              <a:t>）。</a:t>
            </a:r>
            <a:endParaRPr lang="zh-CN" altLang="en-US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dirty="0">
                <a:cs typeface="楷体" panose="02010609060101010101" charset="-122"/>
              </a:rPr>
              <a:t>A.</a:t>
            </a:r>
            <a:r>
              <a:rPr lang="zh-CN" altLang="en-US" sz="2400" dirty="0">
                <a:cs typeface="楷体" panose="02010609060101010101" charset="-122"/>
              </a:rPr>
              <a:t>甲在舞会上看到乙佩戴了昂贵的首饰，觉得乙的首饰丢了才解气</a:t>
            </a:r>
            <a:endParaRPr lang="zh-CN" altLang="en-US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dirty="0">
                <a:cs typeface="楷体" panose="02010609060101010101" charset="-122"/>
              </a:rPr>
              <a:t>B.</a:t>
            </a:r>
            <a:r>
              <a:rPr lang="zh-CN" altLang="en-US" sz="2400" dirty="0">
                <a:cs typeface="楷体" panose="02010609060101010101" charset="-122"/>
              </a:rPr>
              <a:t>甲觉得乙能取得今天的成就全靠家里人帮忙，乙本身没什么了不起</a:t>
            </a:r>
            <a:endParaRPr lang="zh-CN" altLang="en-US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dirty="0">
                <a:cs typeface="楷体" panose="02010609060101010101" charset="-122"/>
              </a:rPr>
              <a:t>C.</a:t>
            </a:r>
            <a:r>
              <a:rPr lang="zh-CN" altLang="en-US" sz="2400" dirty="0">
                <a:cs typeface="楷体" panose="02010609060101010101" charset="-122"/>
              </a:rPr>
              <a:t>甲看到乙升职，觉得自己虽然没有乙能力强，但经过努力也能达到</a:t>
            </a:r>
            <a:endParaRPr lang="zh-CN" altLang="en-US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dirty="0">
                <a:cs typeface="楷体" panose="02010609060101010101" charset="-122"/>
              </a:rPr>
              <a:t>D.</a:t>
            </a:r>
            <a:r>
              <a:rPr lang="zh-CN" altLang="en-US" sz="2400" dirty="0">
                <a:cs typeface="楷体" panose="02010609060101010101" charset="-122"/>
              </a:rPr>
              <a:t>甲很羡慕乙的社交能力，觉得</a:t>
            </a:r>
            <a:r>
              <a:rPr lang="en-US" altLang="zh-CN" sz="2400" dirty="0">
                <a:cs typeface="楷体" panose="02010609060101010101" charset="-122"/>
              </a:rPr>
              <a:t>“</a:t>
            </a:r>
            <a:r>
              <a:rPr lang="zh-CN" altLang="en-US" sz="2400" dirty="0">
                <a:cs typeface="楷体" panose="02010609060101010101" charset="-122"/>
              </a:rPr>
              <a:t>社恐</a:t>
            </a:r>
            <a:r>
              <a:rPr lang="en-US" altLang="zh-CN" sz="2400" dirty="0">
                <a:cs typeface="楷体" panose="02010609060101010101" charset="-122"/>
              </a:rPr>
              <a:t>”</a:t>
            </a:r>
            <a:r>
              <a:rPr lang="zh-CN" altLang="en-US" sz="2400" dirty="0">
                <a:cs typeface="楷体" panose="02010609060101010101" charset="-122"/>
              </a:rPr>
              <a:t>的自己永远达不到乙的境界</a:t>
            </a:r>
            <a:endParaRPr lang="zh-CN" altLang="en-US" sz="2400" dirty="0">
              <a:cs typeface="楷体" panose="02010609060101010101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08025"/>
          </a:xfrm>
        </p:spPr>
        <p:txBody>
          <a:bodyPr/>
          <a:lstStyle/>
          <a:p>
            <a:pPr algn="ctr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  <a:sym typeface="+mn-ea"/>
              </a:rPr>
              <a:t>题</a:t>
            </a:r>
            <a:r>
              <a:rPr kumimoji="1" lang="en-US" altLang="zh-CN" sz="2800" b="1" dirty="0">
                <a:solidFill>
                  <a:srgbClr val="FF653F"/>
                </a:solidFill>
                <a:sym typeface="+mn-ea"/>
              </a:rPr>
              <a:t>5</a:t>
            </a:r>
            <a:endParaRPr kumimoji="1" lang="en-US" altLang="zh-CN" sz="2800" b="1" dirty="0">
              <a:solidFill>
                <a:srgbClr val="FF653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81965" y="708025"/>
            <a:ext cx="11118850" cy="5526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sz="2400" dirty="0">
                <a:cs typeface="楷体" panose="02010609060101010101" charset="-122"/>
              </a:rPr>
              <a:t>伦理绝对主义认为人们的善恶观念和道德规范是永恒不变的，否认它们的历史性、社会性和民族性，伦理相对主义认为道德观念和道德概念具有相对性和条件性，否认在道德发展中存在着具有普遍性的和规律性的客观因素。</a:t>
            </a:r>
            <a:endParaRPr lang="zh-CN" altLang="en-US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400" dirty="0">
                <a:cs typeface="楷体" panose="02010609060101010101" charset="-122"/>
              </a:rPr>
              <a:t>根据上述定义，下列观点属于伦理绝对主义的是（</a:t>
            </a:r>
            <a:r>
              <a:rPr lang="en-US" altLang="zh-CN" sz="2400" dirty="0">
                <a:cs typeface="楷体" panose="02010609060101010101" charset="-122"/>
              </a:rPr>
              <a:t>  </a:t>
            </a:r>
            <a:r>
              <a:rPr lang="zh-CN" altLang="en-US" sz="2400" dirty="0">
                <a:cs typeface="楷体" panose="02010609060101010101" charset="-122"/>
              </a:rPr>
              <a:t>）。</a:t>
            </a:r>
            <a:endParaRPr lang="zh-CN" altLang="en-US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dirty="0">
                <a:cs typeface="楷体" panose="02010609060101010101" charset="-122"/>
              </a:rPr>
              <a:t>A.</a:t>
            </a:r>
            <a:r>
              <a:rPr lang="zh-CN" altLang="en-US" sz="2400" dirty="0">
                <a:cs typeface="楷体" panose="02010609060101010101" charset="-122"/>
              </a:rPr>
              <a:t>荀子坚持</a:t>
            </a:r>
            <a:r>
              <a:rPr lang="en-US" altLang="zh-CN" sz="2400" dirty="0">
                <a:cs typeface="楷体" panose="02010609060101010101" charset="-122"/>
              </a:rPr>
              <a:t>“</a:t>
            </a:r>
            <a:r>
              <a:rPr lang="zh-CN" altLang="en-US" sz="2400" dirty="0">
                <a:cs typeface="楷体" panose="02010609060101010101" charset="-122"/>
              </a:rPr>
              <a:t>性恶论</a:t>
            </a:r>
            <a:r>
              <a:rPr lang="en-US" altLang="zh-CN" sz="2400" dirty="0">
                <a:cs typeface="楷体" panose="02010609060101010101" charset="-122"/>
              </a:rPr>
              <a:t>”</a:t>
            </a:r>
            <a:r>
              <a:rPr lang="zh-CN" altLang="en-US" sz="2400" dirty="0">
                <a:cs typeface="楷体" panose="02010609060101010101" charset="-122"/>
              </a:rPr>
              <a:t>，孟子坚持</a:t>
            </a:r>
            <a:r>
              <a:rPr lang="en-US" altLang="zh-CN" sz="2400" dirty="0">
                <a:cs typeface="楷体" panose="02010609060101010101" charset="-122"/>
              </a:rPr>
              <a:t>“</a:t>
            </a:r>
            <a:r>
              <a:rPr lang="zh-CN" altLang="en-US" sz="2400" dirty="0">
                <a:cs typeface="楷体" panose="02010609060101010101" charset="-122"/>
              </a:rPr>
              <a:t>性善论</a:t>
            </a:r>
            <a:r>
              <a:rPr lang="en-US" altLang="zh-CN" sz="2400" dirty="0">
                <a:cs typeface="楷体" panose="02010609060101010101" charset="-122"/>
              </a:rPr>
              <a:t>”</a:t>
            </a:r>
            <a:endParaRPr lang="en-US" altLang="zh-CN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dirty="0">
                <a:cs typeface="楷体" panose="02010609060101010101" charset="-122"/>
              </a:rPr>
              <a:t>B.</a:t>
            </a:r>
            <a:r>
              <a:rPr lang="zh-CN" altLang="en-US" sz="2400" dirty="0">
                <a:cs typeface="楷体" panose="02010609060101010101" charset="-122"/>
              </a:rPr>
              <a:t>尊老爱幼是世界上很多民族共同认可的道德规范</a:t>
            </a:r>
            <a:endParaRPr lang="zh-CN" altLang="en-US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dirty="0">
                <a:cs typeface="楷体" panose="02010609060101010101" charset="-122"/>
              </a:rPr>
              <a:t>C.</a:t>
            </a:r>
            <a:r>
              <a:rPr lang="zh-CN" altLang="en-US" sz="2400" dirty="0">
                <a:cs typeface="楷体" panose="02010609060101010101" charset="-122"/>
              </a:rPr>
              <a:t>小成认为在新时代人们都有自己内心珍视的道德准则</a:t>
            </a:r>
            <a:endParaRPr lang="zh-CN" altLang="en-US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dirty="0">
                <a:cs typeface="楷体" panose="02010609060101010101" charset="-122"/>
              </a:rPr>
              <a:t>D.</a:t>
            </a:r>
            <a:r>
              <a:rPr lang="zh-CN" altLang="en-US" sz="2400" dirty="0">
                <a:cs typeface="楷体" panose="02010609060101010101" charset="-122"/>
              </a:rPr>
              <a:t>小芳到了国外后认为西方社会的道德规范跟我国差别很大</a:t>
            </a:r>
            <a:endParaRPr lang="zh-CN" altLang="en-US" sz="2400" dirty="0">
              <a:cs typeface="楷体" panose="02010609060101010101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08025"/>
          </a:xfrm>
        </p:spPr>
        <p:txBody>
          <a:bodyPr/>
          <a:lstStyle/>
          <a:p>
            <a:pPr algn="ctr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  <a:sym typeface="+mn-ea"/>
              </a:rPr>
              <a:t>题</a:t>
            </a:r>
            <a:r>
              <a:rPr kumimoji="1" lang="en-US" altLang="zh-CN" sz="2800" b="1" dirty="0">
                <a:solidFill>
                  <a:srgbClr val="FF653F"/>
                </a:solidFill>
                <a:sym typeface="+mn-ea"/>
              </a:rPr>
              <a:t>6</a:t>
            </a:r>
            <a:endParaRPr kumimoji="1" lang="en-US" altLang="zh-CN" sz="2800" b="1" dirty="0">
              <a:solidFill>
                <a:srgbClr val="FF653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2915" y="1188720"/>
            <a:ext cx="8601710" cy="50457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sz="2400" dirty="0">
                <a:cs typeface="楷体" panose="02010609060101010101" charset="-122"/>
              </a:rPr>
              <a:t>提纲：初稿：终稿</a:t>
            </a:r>
            <a:endParaRPr lang="zh-CN" altLang="en-US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dirty="0">
                <a:cs typeface="楷体" panose="02010609060101010101" charset="-122"/>
              </a:rPr>
              <a:t>A.</a:t>
            </a:r>
            <a:r>
              <a:rPr lang="zh-CN" altLang="en-US" sz="2400" dirty="0">
                <a:cs typeface="楷体" panose="02010609060101010101" charset="-122"/>
              </a:rPr>
              <a:t>勘探：设计：开采</a:t>
            </a:r>
            <a:r>
              <a:rPr lang="en-US" altLang="zh-CN" sz="2400" dirty="0">
                <a:cs typeface="楷体" panose="02010609060101010101" charset="-122"/>
              </a:rPr>
              <a:t>	</a:t>
            </a:r>
            <a:endParaRPr lang="en-US" altLang="zh-CN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dirty="0">
                <a:cs typeface="楷体" panose="02010609060101010101" charset="-122"/>
              </a:rPr>
              <a:t>B.</a:t>
            </a:r>
            <a:r>
              <a:rPr lang="zh-CN" altLang="en-US" sz="2400" dirty="0">
                <a:cs typeface="楷体" panose="02010609060101010101" charset="-122"/>
              </a:rPr>
              <a:t>工作：娱乐：休憩</a:t>
            </a:r>
            <a:endParaRPr lang="zh-CN" altLang="en-US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dirty="0">
                <a:cs typeface="楷体" panose="02010609060101010101" charset="-122"/>
              </a:rPr>
              <a:t>C.</a:t>
            </a:r>
            <a:r>
              <a:rPr lang="zh-CN" altLang="en-US" sz="2400" dirty="0">
                <a:cs typeface="楷体" panose="02010609060101010101" charset="-122"/>
              </a:rPr>
              <a:t>金星：木星：火星</a:t>
            </a:r>
            <a:r>
              <a:rPr lang="en-US" altLang="zh-CN" sz="2400" dirty="0">
                <a:cs typeface="楷体" panose="02010609060101010101" charset="-122"/>
              </a:rPr>
              <a:t>	</a:t>
            </a:r>
            <a:endParaRPr lang="en-US" altLang="zh-CN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dirty="0">
                <a:cs typeface="楷体" panose="02010609060101010101" charset="-122"/>
              </a:rPr>
              <a:t>D.</a:t>
            </a:r>
            <a:r>
              <a:rPr lang="zh-CN" altLang="en-US" sz="2400" dirty="0">
                <a:cs typeface="楷体" panose="02010609060101010101" charset="-122"/>
              </a:rPr>
              <a:t>老师：教授：校长</a:t>
            </a:r>
            <a:endParaRPr lang="zh-CN" altLang="en-US" sz="2400" dirty="0">
              <a:cs typeface="楷体" panose="02010609060101010101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08025"/>
          </a:xfrm>
        </p:spPr>
        <p:txBody>
          <a:bodyPr/>
          <a:lstStyle/>
          <a:p>
            <a:pPr algn="ctr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  <a:sym typeface="+mn-ea"/>
              </a:rPr>
              <a:t>题</a:t>
            </a:r>
            <a:r>
              <a:rPr kumimoji="1" lang="en-US" altLang="zh-CN" sz="2800" b="1" dirty="0">
                <a:solidFill>
                  <a:srgbClr val="FF653F"/>
                </a:solidFill>
                <a:sym typeface="+mn-ea"/>
              </a:rPr>
              <a:t>7</a:t>
            </a:r>
            <a:endParaRPr kumimoji="1" lang="en-US" altLang="zh-CN" sz="2800" b="1" dirty="0">
              <a:solidFill>
                <a:srgbClr val="FF653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2915" y="1217295"/>
            <a:ext cx="8601710" cy="50171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sz="2400" dirty="0">
                <a:cs typeface="楷体" panose="02010609060101010101" charset="-122"/>
              </a:rPr>
              <a:t>佛像：佛龛：佛窟</a:t>
            </a:r>
            <a:endParaRPr lang="zh-CN" altLang="en-US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dirty="0">
                <a:cs typeface="楷体" panose="02010609060101010101" charset="-122"/>
              </a:rPr>
              <a:t>A.</a:t>
            </a:r>
            <a:r>
              <a:rPr lang="zh-CN" altLang="en-US" sz="2400" dirty="0">
                <a:cs typeface="楷体" panose="02010609060101010101" charset="-122"/>
              </a:rPr>
              <a:t>蜜蜂：蜂箱：蜂蜡</a:t>
            </a:r>
            <a:r>
              <a:rPr lang="en-US" altLang="zh-CN" sz="2400" dirty="0">
                <a:cs typeface="楷体" panose="02010609060101010101" charset="-122"/>
              </a:rPr>
              <a:t>	</a:t>
            </a:r>
            <a:endParaRPr lang="en-US" altLang="zh-CN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dirty="0">
                <a:cs typeface="楷体" panose="02010609060101010101" charset="-122"/>
              </a:rPr>
              <a:t>B.</a:t>
            </a:r>
            <a:r>
              <a:rPr lang="zh-CN" altLang="en-US" sz="2400" dirty="0">
                <a:cs typeface="楷体" panose="02010609060101010101" charset="-122"/>
              </a:rPr>
              <a:t>油田：油桶：油箱</a:t>
            </a:r>
            <a:endParaRPr lang="zh-CN" altLang="en-US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dirty="0">
                <a:cs typeface="楷体" panose="02010609060101010101" charset="-122"/>
              </a:rPr>
              <a:t>C.</a:t>
            </a:r>
            <a:r>
              <a:rPr lang="zh-CN" altLang="en-US" sz="2400" dirty="0">
                <a:cs typeface="楷体" panose="02010609060101010101" charset="-122"/>
              </a:rPr>
              <a:t>数据：内存：硬盘</a:t>
            </a:r>
            <a:r>
              <a:rPr lang="en-US" altLang="zh-CN" sz="2400" dirty="0">
                <a:cs typeface="楷体" panose="02010609060101010101" charset="-122"/>
              </a:rPr>
              <a:t>	</a:t>
            </a:r>
            <a:endParaRPr lang="en-US" altLang="zh-CN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dirty="0">
                <a:cs typeface="楷体" panose="02010609060101010101" charset="-122"/>
              </a:rPr>
              <a:t>D.</a:t>
            </a:r>
            <a:r>
              <a:rPr lang="zh-CN" altLang="en-US" sz="2400" dirty="0">
                <a:cs typeface="楷体" panose="02010609060101010101" charset="-122"/>
              </a:rPr>
              <a:t>钱币：黄金：银行</a:t>
            </a:r>
            <a:endParaRPr lang="zh-CN" altLang="en-US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2400" dirty="0">
              <a:cs typeface="楷体" panose="02010609060101010101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08025"/>
          </a:xfrm>
        </p:spPr>
        <p:txBody>
          <a:bodyPr/>
          <a:lstStyle/>
          <a:p>
            <a:pPr algn="ctr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  <a:sym typeface="+mn-ea"/>
              </a:rPr>
              <a:t>题</a:t>
            </a:r>
            <a:r>
              <a:rPr kumimoji="1" lang="en-US" altLang="zh-CN" sz="2800" b="1" dirty="0">
                <a:solidFill>
                  <a:srgbClr val="FF653F"/>
                </a:solidFill>
                <a:sym typeface="+mn-ea"/>
              </a:rPr>
              <a:t>8</a:t>
            </a:r>
            <a:endParaRPr kumimoji="1" lang="en-US" altLang="zh-CN" sz="2800" b="1" dirty="0">
              <a:solidFill>
                <a:srgbClr val="FF653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2915" y="1192530"/>
            <a:ext cx="8601710" cy="50355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sz="2400" dirty="0">
                <a:cs typeface="楷体" panose="02010609060101010101" charset="-122"/>
              </a:rPr>
              <a:t>令尊对于（</a:t>
            </a:r>
            <a:r>
              <a:rPr lang="en-US" altLang="zh-CN" sz="2400" dirty="0">
                <a:cs typeface="楷体" panose="02010609060101010101" charset="-122"/>
              </a:rPr>
              <a:t>  </a:t>
            </a:r>
            <a:r>
              <a:rPr lang="zh-CN" altLang="en-US" sz="2400" dirty="0">
                <a:cs typeface="楷体" panose="02010609060101010101" charset="-122"/>
              </a:rPr>
              <a:t>）相当于（</a:t>
            </a:r>
            <a:r>
              <a:rPr lang="en-US" altLang="zh-CN" sz="2400" dirty="0">
                <a:cs typeface="楷体" panose="02010609060101010101" charset="-122"/>
              </a:rPr>
              <a:t>  </a:t>
            </a:r>
            <a:r>
              <a:rPr lang="zh-CN" altLang="en-US" sz="2400" dirty="0">
                <a:cs typeface="楷体" panose="02010609060101010101" charset="-122"/>
              </a:rPr>
              <a:t>）对于史稿</a:t>
            </a:r>
            <a:endParaRPr lang="zh-CN" altLang="en-US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dirty="0">
                <a:cs typeface="楷体" panose="02010609060101010101" charset="-122"/>
              </a:rPr>
              <a:t>A.</a:t>
            </a:r>
            <a:r>
              <a:rPr lang="zh-CN" altLang="en-US" sz="2400" dirty="0">
                <a:cs typeface="楷体" panose="02010609060101010101" charset="-122"/>
              </a:rPr>
              <a:t>尊敬；贡献</a:t>
            </a:r>
            <a:r>
              <a:rPr lang="en-US" altLang="zh-CN" sz="2400" dirty="0">
                <a:cs typeface="楷体" panose="02010609060101010101" charset="-122"/>
              </a:rPr>
              <a:t>	</a:t>
            </a:r>
            <a:endParaRPr lang="en-US" altLang="zh-CN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dirty="0">
                <a:cs typeface="楷体" panose="02010609060101010101" charset="-122"/>
              </a:rPr>
              <a:t>B.</a:t>
            </a:r>
            <a:r>
              <a:rPr lang="zh-CN" altLang="en-US" sz="2400" dirty="0">
                <a:cs typeface="楷体" panose="02010609060101010101" charset="-122"/>
              </a:rPr>
              <a:t>长辈；文字</a:t>
            </a:r>
            <a:endParaRPr lang="zh-CN" altLang="en-US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dirty="0">
                <a:cs typeface="楷体" panose="02010609060101010101" charset="-122"/>
              </a:rPr>
              <a:t>C.</a:t>
            </a:r>
            <a:r>
              <a:rPr lang="zh-CN" altLang="en-US" sz="2400" dirty="0">
                <a:cs typeface="楷体" panose="02010609060101010101" charset="-122"/>
              </a:rPr>
              <a:t>令堂；药典</a:t>
            </a:r>
            <a:r>
              <a:rPr lang="en-US" altLang="zh-CN" sz="2400" dirty="0">
                <a:cs typeface="楷体" panose="02010609060101010101" charset="-122"/>
              </a:rPr>
              <a:t>	</a:t>
            </a:r>
            <a:endParaRPr lang="en-US" altLang="zh-CN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dirty="0">
                <a:cs typeface="楷体" panose="02010609060101010101" charset="-122"/>
              </a:rPr>
              <a:t>D.</a:t>
            </a:r>
            <a:r>
              <a:rPr lang="zh-CN" altLang="en-US" sz="2400" dirty="0">
                <a:cs typeface="楷体" panose="02010609060101010101" charset="-122"/>
              </a:rPr>
              <a:t>父亲；传记</a:t>
            </a:r>
            <a:endParaRPr lang="zh-CN" altLang="en-US" sz="2400" dirty="0">
              <a:cs typeface="楷体" panose="02010609060101010101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08025"/>
          </a:xfrm>
        </p:spPr>
        <p:txBody>
          <a:bodyPr/>
          <a:lstStyle/>
          <a:p>
            <a:pPr algn="ctr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  <a:sym typeface="+mn-ea"/>
              </a:rPr>
              <a:t>题</a:t>
            </a:r>
            <a:r>
              <a:rPr kumimoji="1" lang="en-US" altLang="zh-CN" sz="2800" b="1" dirty="0">
                <a:solidFill>
                  <a:srgbClr val="FF653F"/>
                </a:solidFill>
                <a:sym typeface="+mn-ea"/>
              </a:rPr>
              <a:t>9</a:t>
            </a:r>
            <a:endParaRPr kumimoji="1" lang="en-US" altLang="zh-CN" sz="2800" b="1" dirty="0">
              <a:solidFill>
                <a:srgbClr val="FF653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2915" y="1318895"/>
            <a:ext cx="8601710" cy="49155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sz="2400" dirty="0">
                <a:cs typeface="楷体" panose="02010609060101010101" charset="-122"/>
              </a:rPr>
              <a:t>枝干对于（</a:t>
            </a:r>
            <a:r>
              <a:rPr lang="en-US" altLang="zh-CN" sz="2400" dirty="0">
                <a:cs typeface="楷体" panose="02010609060101010101" charset="-122"/>
              </a:rPr>
              <a:t>  </a:t>
            </a:r>
            <a:r>
              <a:rPr lang="zh-CN" altLang="en-US" sz="2400" dirty="0">
                <a:cs typeface="楷体" panose="02010609060101010101" charset="-122"/>
              </a:rPr>
              <a:t>）相当于（</a:t>
            </a:r>
            <a:r>
              <a:rPr lang="en-US" altLang="zh-CN" sz="2400" dirty="0">
                <a:cs typeface="楷体" panose="02010609060101010101" charset="-122"/>
              </a:rPr>
              <a:t>  </a:t>
            </a:r>
            <a:r>
              <a:rPr lang="zh-CN" altLang="en-US" sz="2400" dirty="0">
                <a:cs typeface="楷体" panose="02010609060101010101" charset="-122"/>
              </a:rPr>
              <a:t>）对于建筑物</a:t>
            </a:r>
            <a:endParaRPr lang="zh-CN" altLang="en-US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dirty="0">
                <a:cs typeface="楷体" panose="02010609060101010101" charset="-122"/>
              </a:rPr>
              <a:t>A.</a:t>
            </a:r>
            <a:r>
              <a:rPr lang="zh-CN" altLang="en-US" sz="2400" dirty="0">
                <a:cs typeface="楷体" panose="02010609060101010101" charset="-122"/>
              </a:rPr>
              <a:t>树叶；建材</a:t>
            </a:r>
            <a:r>
              <a:rPr lang="en-US" altLang="zh-CN" sz="2400" dirty="0">
                <a:cs typeface="楷体" panose="02010609060101010101" charset="-122"/>
              </a:rPr>
              <a:t>	</a:t>
            </a:r>
            <a:endParaRPr lang="en-US" altLang="zh-CN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dirty="0">
                <a:cs typeface="楷体" panose="02010609060101010101" charset="-122"/>
              </a:rPr>
              <a:t>B.</a:t>
            </a:r>
            <a:r>
              <a:rPr lang="zh-CN" altLang="en-US" sz="2400" dirty="0">
                <a:cs typeface="楷体" panose="02010609060101010101" charset="-122"/>
              </a:rPr>
              <a:t>大树；梁柱</a:t>
            </a:r>
            <a:endParaRPr lang="zh-CN" altLang="en-US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dirty="0">
                <a:cs typeface="楷体" panose="02010609060101010101" charset="-122"/>
              </a:rPr>
              <a:t>C.</a:t>
            </a:r>
            <a:r>
              <a:rPr lang="zh-CN" altLang="en-US" sz="2400" dirty="0">
                <a:cs typeface="楷体" panose="02010609060101010101" charset="-122"/>
              </a:rPr>
              <a:t>鸟巢；图纸</a:t>
            </a:r>
            <a:r>
              <a:rPr lang="en-US" altLang="zh-CN" sz="2400" dirty="0">
                <a:cs typeface="楷体" panose="02010609060101010101" charset="-122"/>
              </a:rPr>
              <a:t>	</a:t>
            </a:r>
            <a:endParaRPr lang="en-US" altLang="zh-CN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dirty="0">
                <a:cs typeface="楷体" panose="02010609060101010101" charset="-122"/>
              </a:rPr>
              <a:t>D.</a:t>
            </a:r>
            <a:r>
              <a:rPr lang="zh-CN" altLang="en-US" sz="2400" dirty="0">
                <a:cs typeface="楷体" panose="02010609060101010101" charset="-122"/>
              </a:rPr>
              <a:t>树根；塔楼</a:t>
            </a:r>
            <a:endParaRPr lang="zh-CN" altLang="en-US" sz="2400" dirty="0">
              <a:cs typeface="楷体" panose="02010609060101010101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74065" y="0"/>
            <a:ext cx="10515600" cy="708025"/>
          </a:xfrm>
        </p:spPr>
        <p:txBody>
          <a:bodyPr/>
          <a:lstStyle/>
          <a:p>
            <a:pPr algn="ctr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  <a:sym typeface="+mn-ea"/>
              </a:rPr>
              <a:t>题</a:t>
            </a:r>
            <a:r>
              <a:rPr kumimoji="1" lang="en-US" altLang="zh-CN" sz="2800" b="1" dirty="0">
                <a:solidFill>
                  <a:srgbClr val="FF653F"/>
                </a:solidFill>
                <a:sym typeface="+mn-ea"/>
              </a:rPr>
              <a:t>10</a:t>
            </a:r>
            <a:endParaRPr kumimoji="1" lang="en-US" altLang="zh-CN" sz="2800" b="1" dirty="0">
              <a:solidFill>
                <a:srgbClr val="FF653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2915" y="701675"/>
            <a:ext cx="11137265" cy="5526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sz="2400" dirty="0">
                <a:cs typeface="楷体" panose="02010609060101010101" charset="-122"/>
              </a:rPr>
              <a:t>在零食等预包装食品中含有多种食品添加剂，通常越是精致的零食含有添加剂的种类越多，即使添加剂通过相关部门审批并正常上市，很多家长还是谈</a:t>
            </a:r>
            <a:r>
              <a:rPr lang="en-US" altLang="zh-CN" sz="2400" dirty="0">
                <a:cs typeface="楷体" panose="02010609060101010101" charset="-122"/>
              </a:rPr>
              <a:t>“</a:t>
            </a:r>
            <a:r>
              <a:rPr lang="zh-CN" altLang="en-US" sz="2400" dirty="0">
                <a:cs typeface="楷体" panose="02010609060101010101" charset="-122"/>
              </a:rPr>
              <a:t>剂</a:t>
            </a:r>
            <a:r>
              <a:rPr lang="en-US" altLang="zh-CN" sz="2400" dirty="0">
                <a:cs typeface="楷体" panose="02010609060101010101" charset="-122"/>
              </a:rPr>
              <a:t>”</a:t>
            </a:r>
            <a:r>
              <a:rPr lang="zh-CN" altLang="en-US" sz="2400" dirty="0">
                <a:cs typeface="楷体" panose="02010609060101010101" charset="-122"/>
              </a:rPr>
              <a:t>色变。倡导食用天然食品的人认为，食品添加剂会危害儿童健康。</a:t>
            </a:r>
            <a:endParaRPr lang="zh-CN" altLang="en-US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400" dirty="0">
                <a:cs typeface="楷体" panose="02010609060101010101" charset="-122"/>
              </a:rPr>
              <a:t>以下哪项如果为真，最能质疑上述观点？（</a:t>
            </a:r>
            <a:r>
              <a:rPr lang="en-US" altLang="zh-CN" sz="2400" dirty="0">
                <a:cs typeface="楷体" panose="02010609060101010101" charset="-122"/>
              </a:rPr>
              <a:t>  </a:t>
            </a:r>
            <a:r>
              <a:rPr lang="zh-CN" altLang="en-US" sz="2400" dirty="0">
                <a:cs typeface="楷体" panose="02010609060101010101" charset="-122"/>
              </a:rPr>
              <a:t>）</a:t>
            </a:r>
            <a:endParaRPr lang="zh-CN" altLang="en-US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dirty="0">
                <a:cs typeface="楷体" panose="02010609060101010101" charset="-122"/>
              </a:rPr>
              <a:t>A.</a:t>
            </a:r>
            <a:r>
              <a:rPr lang="zh-CN" altLang="en-US" sz="2400" dirty="0">
                <a:cs typeface="楷体" panose="02010609060101010101" charset="-122"/>
              </a:rPr>
              <a:t>天然食品也并不代表就一定安全</a:t>
            </a:r>
            <a:endParaRPr lang="zh-CN" altLang="en-US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dirty="0">
                <a:cs typeface="楷体" panose="02010609060101010101" charset="-122"/>
              </a:rPr>
              <a:t>B.</a:t>
            </a:r>
            <a:r>
              <a:rPr lang="zh-CN" altLang="en-US" sz="2400" dirty="0">
                <a:cs typeface="楷体" panose="02010609060101010101" charset="-122"/>
              </a:rPr>
              <a:t>食品添加剂如按剂量合理使用是安全的</a:t>
            </a:r>
            <a:endParaRPr lang="zh-CN" altLang="en-US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dirty="0">
                <a:cs typeface="楷体" panose="02010609060101010101" charset="-122"/>
              </a:rPr>
              <a:t>C.</a:t>
            </a:r>
            <a:r>
              <a:rPr lang="zh-CN" altLang="en-US" sz="2400" dirty="0">
                <a:cs typeface="楷体" panose="02010609060101010101" charset="-122"/>
              </a:rPr>
              <a:t>食品添加剂可以起到防止食物变质的作用</a:t>
            </a:r>
            <a:endParaRPr lang="zh-CN" altLang="en-US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dirty="0">
                <a:cs typeface="楷体" panose="02010609060101010101" charset="-122"/>
              </a:rPr>
              <a:t>D.</a:t>
            </a:r>
            <a:r>
              <a:rPr lang="zh-CN" altLang="en-US" sz="2400" dirty="0">
                <a:cs typeface="楷体" panose="02010609060101010101" charset="-122"/>
              </a:rPr>
              <a:t>儿童经常食用零食会因营养不均衡而引发健康风险</a:t>
            </a:r>
            <a:endParaRPr lang="zh-CN" altLang="en-US" sz="2400" dirty="0">
              <a:cs typeface="楷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0570" y="0"/>
            <a:ext cx="10515600" cy="708025"/>
          </a:xfrm>
        </p:spPr>
        <p:txBody>
          <a:bodyPr/>
          <a:lstStyle/>
          <a:p>
            <a:pPr algn="ctr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  <a:sym typeface="+mn-ea"/>
              </a:rPr>
              <a:t>题</a:t>
            </a:r>
            <a:r>
              <a:rPr kumimoji="1" lang="en-US" altLang="zh-CN" sz="2800" b="1" dirty="0">
                <a:solidFill>
                  <a:srgbClr val="FF653F"/>
                </a:solidFill>
                <a:sym typeface="+mn-ea"/>
              </a:rPr>
              <a:t>11</a:t>
            </a:r>
            <a:endParaRPr kumimoji="1" lang="en-US" altLang="zh-CN" sz="2800" b="1" dirty="0">
              <a:solidFill>
                <a:srgbClr val="FF653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2915" y="449580"/>
            <a:ext cx="11091545" cy="5526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sz="2400" dirty="0">
                <a:cs typeface="楷体" panose="02010609060101010101" charset="-122"/>
                <a:sym typeface="+mn-ea"/>
              </a:rPr>
              <a:t>国内某研究团队自</a:t>
            </a:r>
            <a:r>
              <a:rPr lang="en-US" altLang="zh-CN" sz="2400" dirty="0">
                <a:cs typeface="楷体" panose="02010609060101010101" charset="-122"/>
                <a:sym typeface="+mn-ea"/>
              </a:rPr>
              <a:t>2016</a:t>
            </a:r>
            <a:r>
              <a:rPr lang="zh-CN" altLang="en-US" sz="2400" dirty="0">
                <a:cs typeface="楷体" panose="02010609060101010101" charset="-122"/>
                <a:sym typeface="+mn-ea"/>
              </a:rPr>
              <a:t>年开始，在近海采集了上千份塑料垃圾，经筛选发现部分塑料垃圾上附着了一种菌群。在随后的实验中，该菌群在含有塑料垃圾的培养基中能维持旺盛的生长能力。研究人员推断，这是一种能有效降解塑料垃圾的菌群。</a:t>
            </a:r>
            <a:endParaRPr lang="zh-CN" altLang="en-US" sz="2400" dirty="0">
              <a:cs typeface="楷体" panose="02010609060101010101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400" dirty="0">
                <a:cs typeface="楷体" panose="02010609060101010101" charset="-122"/>
                <a:sym typeface="+mn-ea"/>
              </a:rPr>
              <a:t>以下哪项如果为真，最能支持上述推断？（</a:t>
            </a:r>
            <a:r>
              <a:rPr lang="en-US" altLang="zh-CN" sz="2400" dirty="0">
                <a:cs typeface="楷体" panose="02010609060101010101" charset="-122"/>
                <a:sym typeface="+mn-ea"/>
              </a:rPr>
              <a:t>  </a:t>
            </a:r>
            <a:r>
              <a:rPr lang="zh-CN" altLang="en-US" sz="2400" dirty="0">
                <a:cs typeface="楷体" panose="02010609060101010101" charset="-122"/>
                <a:sym typeface="+mn-ea"/>
              </a:rPr>
              <a:t>）</a:t>
            </a:r>
            <a:endParaRPr lang="zh-CN" altLang="en-US" sz="2400" dirty="0">
              <a:cs typeface="楷体" panose="02010609060101010101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dirty="0">
                <a:cs typeface="楷体" panose="02010609060101010101" charset="-122"/>
                <a:sym typeface="+mn-ea"/>
              </a:rPr>
              <a:t>A.</a:t>
            </a:r>
            <a:r>
              <a:rPr lang="zh-CN" altLang="en-US" sz="2400" dirty="0">
                <a:cs typeface="楷体" panose="02010609060101010101" charset="-122"/>
                <a:sym typeface="+mn-ea"/>
              </a:rPr>
              <a:t>该菌群可以降解部分聚乙烯对苯二甲酸酯塑料</a:t>
            </a:r>
            <a:endParaRPr lang="zh-CN" altLang="en-US" sz="2400" dirty="0">
              <a:cs typeface="楷体" panose="02010609060101010101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dirty="0">
                <a:cs typeface="楷体" panose="02010609060101010101" charset="-122"/>
                <a:sym typeface="+mn-ea"/>
              </a:rPr>
              <a:t>B.</a:t>
            </a:r>
            <a:r>
              <a:rPr lang="zh-CN" altLang="en-US" sz="2400" dirty="0">
                <a:cs typeface="楷体" panose="02010609060101010101" charset="-122"/>
                <a:sym typeface="+mn-ea"/>
              </a:rPr>
              <a:t>该菌群喜好聚乙烯塑料，能够将其分解为碎片</a:t>
            </a:r>
            <a:endParaRPr lang="zh-CN" altLang="en-US" sz="2400" dirty="0">
              <a:cs typeface="楷体" panose="02010609060101010101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dirty="0">
                <a:cs typeface="楷体" panose="02010609060101010101" charset="-122"/>
                <a:sym typeface="+mn-ea"/>
              </a:rPr>
              <a:t>C.</a:t>
            </a:r>
            <a:r>
              <a:rPr lang="zh-CN" altLang="en-US" sz="2400" dirty="0">
                <a:cs typeface="楷体" panose="02010609060101010101" charset="-122"/>
                <a:sym typeface="+mn-ea"/>
              </a:rPr>
              <a:t>该菌群是通过高效降解塑料以获得能量维持生命的</a:t>
            </a:r>
            <a:endParaRPr lang="zh-CN" altLang="en-US" sz="2400" dirty="0">
              <a:cs typeface="楷体" panose="02010609060101010101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dirty="0">
                <a:cs typeface="楷体" panose="02010609060101010101" charset="-122"/>
                <a:sym typeface="+mn-ea"/>
              </a:rPr>
              <a:t>D.</a:t>
            </a:r>
            <a:r>
              <a:rPr lang="zh-CN" altLang="en-US" sz="2400" dirty="0">
                <a:cs typeface="楷体" panose="02010609060101010101" charset="-122"/>
                <a:sym typeface="+mn-ea"/>
              </a:rPr>
              <a:t>该菌群为发展降解塑料垃圾生物制品产业提供了可能</a:t>
            </a:r>
            <a:endParaRPr lang="zh-CN" altLang="en-US" sz="2400" dirty="0">
              <a:cs typeface="楷体" panose="0201060906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74065" y="0"/>
            <a:ext cx="10515600" cy="708025"/>
          </a:xfrm>
        </p:spPr>
        <p:txBody>
          <a:bodyPr/>
          <a:lstStyle/>
          <a:p>
            <a:pPr algn="ctr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  <a:sym typeface="+mn-ea"/>
              </a:rPr>
              <a:t>题</a:t>
            </a:r>
            <a:r>
              <a:rPr kumimoji="1" lang="en-US" altLang="zh-CN" sz="2800" b="1" dirty="0">
                <a:solidFill>
                  <a:srgbClr val="FF653F"/>
                </a:solidFill>
                <a:sym typeface="+mn-ea"/>
              </a:rPr>
              <a:t>12</a:t>
            </a:r>
            <a:endParaRPr kumimoji="1" lang="en-US" altLang="zh-CN" sz="2800" b="1" dirty="0">
              <a:solidFill>
                <a:srgbClr val="FF653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27685" y="460375"/>
            <a:ext cx="11137265" cy="5264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sz="2400" dirty="0">
                <a:cs typeface="楷体" panose="02010609060101010101" charset="-122"/>
              </a:rPr>
              <a:t>现在，很多盛产柑橘的地区虽然种植条件没有变化，但出产的柑橘吃起来却比过去甜多了。有人认为柑橘更甜不是自然条件下的变甜，而是因为果农给果实注射了食品甜味剂</a:t>
            </a:r>
            <a:r>
              <a:rPr lang="en-US" altLang="zh-CN" sz="2400" dirty="0">
                <a:cs typeface="楷体" panose="02010609060101010101" charset="-122"/>
              </a:rPr>
              <a:t>——</a:t>
            </a:r>
            <a:r>
              <a:rPr lang="zh-CN" altLang="en-US" sz="2400" dirty="0">
                <a:cs typeface="楷体" panose="02010609060101010101" charset="-122"/>
              </a:rPr>
              <a:t>甜蜜素，才会增加甜度。</a:t>
            </a:r>
            <a:endParaRPr lang="zh-CN" altLang="en-US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400" dirty="0">
                <a:cs typeface="楷体" panose="02010609060101010101" charset="-122"/>
              </a:rPr>
              <a:t>以下各项如果为真，除哪项外均能质疑上述说法？（</a:t>
            </a:r>
            <a:r>
              <a:rPr lang="en-US" altLang="zh-CN" sz="2400" dirty="0">
                <a:cs typeface="楷体" panose="02010609060101010101" charset="-122"/>
              </a:rPr>
              <a:t>  </a:t>
            </a:r>
            <a:r>
              <a:rPr lang="zh-CN" altLang="en-US" sz="2400" dirty="0">
                <a:cs typeface="楷体" panose="02010609060101010101" charset="-122"/>
              </a:rPr>
              <a:t>）</a:t>
            </a:r>
            <a:endParaRPr lang="zh-CN" altLang="en-US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dirty="0">
                <a:cs typeface="楷体" panose="02010609060101010101" charset="-122"/>
              </a:rPr>
              <a:t>A.</a:t>
            </a:r>
            <a:r>
              <a:rPr lang="zh-CN" altLang="en-US" sz="2400" dirty="0">
                <a:cs typeface="楷体" panose="02010609060101010101" charset="-122"/>
              </a:rPr>
              <a:t>甜蜜素是安全食品添加剂，许多国家和地区都允许添加</a:t>
            </a:r>
            <a:endParaRPr lang="zh-CN" altLang="en-US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dirty="0">
                <a:cs typeface="楷体" panose="02010609060101010101" charset="-122"/>
              </a:rPr>
              <a:t>B.</a:t>
            </a:r>
            <a:r>
              <a:rPr lang="zh-CN" altLang="en-US" sz="2400" dirty="0">
                <a:cs typeface="楷体" panose="02010609060101010101" charset="-122"/>
              </a:rPr>
              <a:t>注射的针眼会成为微生物入侵的通道，易导致水果腐烂</a:t>
            </a:r>
            <a:endParaRPr lang="zh-CN" altLang="en-US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dirty="0">
                <a:cs typeface="楷体" panose="02010609060101010101" charset="-122"/>
              </a:rPr>
              <a:t>C.</a:t>
            </a:r>
            <a:r>
              <a:rPr lang="zh-CN" altLang="en-US" sz="2400" dirty="0">
                <a:cs typeface="楷体" panose="02010609060101010101" charset="-122"/>
              </a:rPr>
              <a:t>注射无法保证甜蜜素在水果内均匀分布，还可能影响口感</a:t>
            </a:r>
            <a:endParaRPr lang="zh-CN" altLang="en-US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dirty="0">
                <a:cs typeface="楷体" panose="02010609060101010101" charset="-122"/>
              </a:rPr>
              <a:t>D.</a:t>
            </a:r>
            <a:r>
              <a:rPr lang="zh-CN" altLang="en-US" sz="2400" dirty="0">
                <a:cs typeface="楷体" panose="02010609060101010101" charset="-122"/>
              </a:rPr>
              <a:t>果林里柑橘数量巨大，逐个为果实注入甜蜜素几乎不可能</a:t>
            </a:r>
            <a:endParaRPr lang="zh-CN" altLang="en-US" sz="2400" dirty="0">
              <a:cs typeface="楷体" panose="02010609060101010101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3905" y="0"/>
            <a:ext cx="10515600" cy="708025"/>
          </a:xfrm>
        </p:spPr>
        <p:txBody>
          <a:bodyPr/>
          <a:lstStyle/>
          <a:p>
            <a:pPr algn="ctr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  <a:sym typeface="+mn-ea"/>
              </a:rPr>
              <a:t>题</a:t>
            </a:r>
            <a:r>
              <a:rPr kumimoji="1" lang="en-US" altLang="zh-CN" sz="2800" b="1" dirty="0">
                <a:solidFill>
                  <a:srgbClr val="FF653F"/>
                </a:solidFill>
                <a:sym typeface="+mn-ea"/>
              </a:rPr>
              <a:t>13</a:t>
            </a:r>
            <a:endParaRPr kumimoji="1" lang="en-US" altLang="zh-CN" sz="2800" b="1" dirty="0">
              <a:solidFill>
                <a:srgbClr val="FF653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00355" y="416560"/>
            <a:ext cx="11591925" cy="52565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sz="2400" dirty="0">
                <a:cs typeface="楷体" panose="02010609060101010101" charset="-122"/>
              </a:rPr>
              <a:t>整容医院的最新数据显示，约</a:t>
            </a:r>
            <a:r>
              <a:rPr lang="en-US" altLang="zh-CN" sz="2400" dirty="0">
                <a:cs typeface="楷体" panose="02010609060101010101" charset="-122"/>
              </a:rPr>
              <a:t>55%</a:t>
            </a:r>
            <a:r>
              <a:rPr lang="zh-CN" altLang="en-US" sz="2400" dirty="0">
                <a:cs typeface="楷体" panose="02010609060101010101" charset="-122"/>
              </a:rPr>
              <a:t>的人去做整容手术是为了让自己看起来和美颜照片一样漂亮，因容貌焦虑导致的整容上瘾已经成为一种新的就医现象。可见，容貌焦虑的来源在于对美颜的过度依赖，而这种依赖正是来自社交平台的反馈。</a:t>
            </a:r>
            <a:endParaRPr lang="zh-CN" altLang="en-US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400" dirty="0">
                <a:cs typeface="楷体" panose="02010609060101010101" charset="-122"/>
              </a:rPr>
              <a:t>以下哪项如果为真，不能支持上述结论？（</a:t>
            </a:r>
            <a:r>
              <a:rPr lang="en-US" altLang="zh-CN" sz="2400" dirty="0">
                <a:cs typeface="楷体" panose="02010609060101010101" charset="-122"/>
              </a:rPr>
              <a:t>  </a:t>
            </a:r>
            <a:r>
              <a:rPr lang="zh-CN" altLang="en-US" sz="2400" dirty="0">
                <a:cs typeface="楷体" panose="02010609060101010101" charset="-122"/>
              </a:rPr>
              <a:t>）</a:t>
            </a:r>
            <a:endParaRPr lang="zh-CN" altLang="en-US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dirty="0">
                <a:cs typeface="楷体" panose="02010609060101010101" charset="-122"/>
              </a:rPr>
              <a:t>A.</a:t>
            </a:r>
            <a:r>
              <a:rPr lang="zh-CN" altLang="en-US" sz="2400" dirty="0">
                <a:cs typeface="楷体" panose="02010609060101010101" charset="-122"/>
              </a:rPr>
              <a:t>社交平台的交互性让人对好评和点赞充满期待，人们根据反馈不断地进行自我观察</a:t>
            </a:r>
            <a:endParaRPr lang="zh-CN" altLang="en-US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dirty="0">
                <a:cs typeface="楷体" panose="02010609060101010101" charset="-122"/>
              </a:rPr>
              <a:t>B.</a:t>
            </a:r>
            <a:r>
              <a:rPr lang="zh-CN" altLang="en-US" sz="2400" dirty="0">
                <a:cs typeface="楷体" panose="02010609060101010101" charset="-122"/>
              </a:rPr>
              <a:t>经常使用美颜功能和浏览社交平台的照片，会加重对自身容貌和外形瑕疵的不满意</a:t>
            </a:r>
            <a:endParaRPr lang="zh-CN" altLang="en-US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dirty="0">
                <a:cs typeface="楷体" panose="02010609060101010101" charset="-122"/>
              </a:rPr>
              <a:t>C.</a:t>
            </a:r>
            <a:r>
              <a:rPr lang="zh-CN" altLang="en-US" sz="2400" dirty="0">
                <a:cs typeface="楷体" panose="02010609060101010101" charset="-122"/>
              </a:rPr>
              <a:t>区别于现实生活的同步性，社交平台给了呈现者美化照片的时间，上传后易给浏览者带来焦虑</a:t>
            </a:r>
            <a:endParaRPr lang="zh-CN" altLang="en-US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dirty="0">
                <a:cs typeface="楷体" panose="02010609060101010101" charset="-122"/>
              </a:rPr>
              <a:t>D.</a:t>
            </a:r>
            <a:r>
              <a:rPr lang="zh-CN" altLang="en-US" sz="2400" dirty="0">
                <a:cs typeface="楷体" panose="02010609060101010101" charset="-122"/>
              </a:rPr>
              <a:t>部分因容貌焦虑去整容的人，不仅无法满足对完美的渴求，反而会出现病态的重复性整容行为</a:t>
            </a:r>
            <a:endParaRPr lang="zh-CN" altLang="en-US" sz="2400" dirty="0">
              <a:cs typeface="楷体" panose="02010609060101010101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66140" y="0"/>
            <a:ext cx="10515600" cy="708025"/>
          </a:xfrm>
        </p:spPr>
        <p:txBody>
          <a:bodyPr/>
          <a:lstStyle/>
          <a:p>
            <a:pPr algn="ctr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  <a:sym typeface="+mn-ea"/>
              </a:rPr>
              <a:t>题</a:t>
            </a:r>
            <a:r>
              <a:rPr kumimoji="1" lang="en-US" altLang="zh-CN" sz="2800" b="1" dirty="0">
                <a:solidFill>
                  <a:srgbClr val="FF653F"/>
                </a:solidFill>
                <a:sym typeface="+mn-ea"/>
              </a:rPr>
              <a:t>14</a:t>
            </a:r>
            <a:endParaRPr kumimoji="1" lang="en-US" altLang="zh-CN" sz="2800" b="1" dirty="0">
              <a:solidFill>
                <a:srgbClr val="FF653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2915" y="533400"/>
            <a:ext cx="11321415" cy="5526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sz="2400" dirty="0">
                <a:cs typeface="楷体" panose="02010609060101010101" charset="-122"/>
              </a:rPr>
              <a:t>甲：</a:t>
            </a:r>
            <a:r>
              <a:rPr lang="en-US" altLang="zh-CN" sz="2400" dirty="0">
                <a:cs typeface="楷体" panose="02010609060101010101" charset="-122"/>
              </a:rPr>
              <a:t>“</a:t>
            </a:r>
            <a:r>
              <a:rPr lang="zh-CN" altLang="en-US" sz="2400" dirty="0">
                <a:cs typeface="楷体" panose="02010609060101010101" charset="-122"/>
              </a:rPr>
              <a:t>嫩生姜爽爽脆脆，口感好，爱吃。</a:t>
            </a:r>
            <a:r>
              <a:rPr lang="en-US" altLang="zh-CN" sz="2400" dirty="0">
                <a:cs typeface="楷体" panose="02010609060101010101" charset="-122"/>
              </a:rPr>
              <a:t>”</a:t>
            </a:r>
            <a:endParaRPr lang="en-US" altLang="zh-CN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400" dirty="0">
                <a:cs typeface="楷体" panose="02010609060101010101" charset="-122"/>
              </a:rPr>
              <a:t>乙：</a:t>
            </a:r>
            <a:r>
              <a:rPr lang="en-US" altLang="zh-CN" sz="2400" dirty="0">
                <a:cs typeface="楷体" panose="02010609060101010101" charset="-122"/>
              </a:rPr>
              <a:t>“</a:t>
            </a:r>
            <a:r>
              <a:rPr lang="zh-CN" altLang="en-US" sz="2400" dirty="0">
                <a:cs typeface="楷体" panose="02010609060101010101" charset="-122"/>
              </a:rPr>
              <a:t>可是人常说，姜还是老的辣，老姜更有价值。</a:t>
            </a:r>
            <a:r>
              <a:rPr lang="en-US" altLang="zh-CN" sz="2400" dirty="0">
                <a:cs typeface="楷体" panose="02010609060101010101" charset="-122"/>
              </a:rPr>
              <a:t>”</a:t>
            </a:r>
            <a:endParaRPr lang="en-US" altLang="zh-CN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400" dirty="0">
                <a:cs typeface="楷体" panose="02010609060101010101" charset="-122"/>
              </a:rPr>
              <a:t>丙：</a:t>
            </a:r>
            <a:r>
              <a:rPr lang="en-US" altLang="zh-CN" sz="2400" dirty="0">
                <a:cs typeface="楷体" panose="02010609060101010101" charset="-122"/>
              </a:rPr>
              <a:t>“</a:t>
            </a:r>
            <a:r>
              <a:rPr lang="zh-CN" altLang="en-US" sz="2400" dirty="0">
                <a:cs typeface="楷体" panose="02010609060101010101" charset="-122"/>
              </a:rPr>
              <a:t>我不认为老姜更有价值，老姜不是由嫩生姜长成的吗？</a:t>
            </a:r>
            <a:r>
              <a:rPr lang="en-US" altLang="zh-CN" sz="2400" dirty="0">
                <a:cs typeface="楷体" panose="02010609060101010101" charset="-122"/>
              </a:rPr>
              <a:t>”</a:t>
            </a:r>
            <a:endParaRPr lang="en-US" altLang="zh-CN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400" dirty="0">
                <a:cs typeface="楷体" panose="02010609060101010101" charset="-122"/>
              </a:rPr>
              <a:t>以下哪项如果为真，最能质疑丙对乙的反驳？（</a:t>
            </a:r>
            <a:r>
              <a:rPr lang="en-US" altLang="zh-CN" sz="2400" dirty="0">
                <a:cs typeface="楷体" panose="02010609060101010101" charset="-122"/>
              </a:rPr>
              <a:t>  </a:t>
            </a:r>
            <a:r>
              <a:rPr lang="zh-CN" altLang="en-US" sz="2400" dirty="0">
                <a:cs typeface="楷体" panose="02010609060101010101" charset="-122"/>
              </a:rPr>
              <a:t>）</a:t>
            </a:r>
            <a:endParaRPr lang="zh-CN" altLang="en-US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dirty="0">
                <a:cs typeface="楷体" panose="02010609060101010101" charset="-122"/>
              </a:rPr>
              <a:t>A.</a:t>
            </a:r>
            <a:r>
              <a:rPr lang="zh-CN" altLang="en-US" sz="2400" dirty="0">
                <a:cs typeface="楷体" panose="02010609060101010101" charset="-122"/>
              </a:rPr>
              <a:t>嫩姜爽脆，老姜补益，价值各有不同</a:t>
            </a:r>
            <a:endParaRPr lang="zh-CN" altLang="en-US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dirty="0">
                <a:cs typeface="楷体" panose="02010609060101010101" charset="-122"/>
              </a:rPr>
              <a:t>B.</a:t>
            </a:r>
            <a:r>
              <a:rPr lang="zh-CN" altLang="en-US" sz="2400" dirty="0">
                <a:cs typeface="楷体" panose="02010609060101010101" charset="-122"/>
              </a:rPr>
              <a:t>爱不爱吃，完全是个人喜好，与他人无关</a:t>
            </a:r>
            <a:endParaRPr lang="zh-CN" altLang="en-US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dirty="0">
                <a:cs typeface="楷体" panose="02010609060101010101" charset="-122"/>
              </a:rPr>
              <a:t>C.</a:t>
            </a:r>
            <a:r>
              <a:rPr lang="zh-CN" altLang="en-US" sz="2400" dirty="0">
                <a:cs typeface="楷体" panose="02010609060101010101" charset="-122"/>
              </a:rPr>
              <a:t>老姜的价值是由其辛辣程度决定的，而不是由其来源决定的</a:t>
            </a:r>
            <a:endParaRPr lang="zh-CN" altLang="en-US" sz="2400" dirty="0"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dirty="0">
                <a:cs typeface="楷体" panose="02010609060101010101" charset="-122"/>
              </a:rPr>
              <a:t>D.</a:t>
            </a:r>
            <a:r>
              <a:rPr lang="zh-CN" altLang="en-US" sz="2400" dirty="0">
                <a:cs typeface="楷体" panose="02010609060101010101" charset="-122"/>
              </a:rPr>
              <a:t>有人喜爱的是口感，有人喜爱的是内涵，各取所需，不必强求一致</a:t>
            </a:r>
            <a:endParaRPr lang="zh-CN" altLang="en-US" sz="2400" dirty="0">
              <a:cs typeface="楷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08025"/>
          </a:xfrm>
        </p:spPr>
        <p:txBody>
          <a:bodyPr/>
          <a:lstStyle/>
          <a:p>
            <a:pPr algn="ctr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  <a:sym typeface="+mn-ea"/>
              </a:rPr>
              <a:t>题</a:t>
            </a:r>
            <a:r>
              <a:rPr kumimoji="1" lang="en-US" altLang="zh-CN" sz="2800" b="1" dirty="0">
                <a:solidFill>
                  <a:srgbClr val="FF653F"/>
                </a:solidFill>
                <a:sym typeface="+mn-ea"/>
              </a:rPr>
              <a:t>15</a:t>
            </a:r>
            <a:endParaRPr kumimoji="1" lang="en-US" altLang="zh-CN" sz="2800" b="1" dirty="0">
              <a:solidFill>
                <a:srgbClr val="FF653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2915" y="202565"/>
            <a:ext cx="11460480" cy="5526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10000"/>
              </a:lnSpc>
            </a:pPr>
            <a:r>
              <a:rPr lang="zh-CN" altLang="en-US" sz="2000" dirty="0">
                <a:cs typeface="楷体" panose="02010609060101010101" charset="-122"/>
              </a:rPr>
              <a:t>根据以下材料，回答</a:t>
            </a:r>
            <a:r>
              <a:rPr lang="en-US" altLang="zh-CN" sz="2000" dirty="0">
                <a:cs typeface="楷体" panose="02010609060101010101" charset="-122"/>
              </a:rPr>
              <a:t>34</a:t>
            </a:r>
            <a:r>
              <a:rPr lang="zh-CN" altLang="en-US" sz="2000" dirty="0">
                <a:cs typeface="楷体" panose="02010609060101010101" charset="-122"/>
              </a:rPr>
              <a:t>～</a:t>
            </a:r>
            <a:r>
              <a:rPr lang="en-US" altLang="zh-CN" sz="2000" dirty="0">
                <a:cs typeface="楷体" panose="02010609060101010101" charset="-122"/>
              </a:rPr>
              <a:t>35</a:t>
            </a:r>
            <a:r>
              <a:rPr lang="zh-CN" altLang="en-US" sz="2000" dirty="0">
                <a:cs typeface="楷体" panose="02010609060101010101" charset="-122"/>
              </a:rPr>
              <a:t>题。</a:t>
            </a:r>
            <a:endParaRPr lang="zh-CN" altLang="en-US" sz="2000" dirty="0">
              <a:cs typeface="楷体" panose="02010609060101010101" charset="-122"/>
            </a:endParaRPr>
          </a:p>
          <a:p>
            <a:pPr indent="0" fontAlgn="auto">
              <a:lnSpc>
                <a:spcPct val="110000"/>
              </a:lnSpc>
            </a:pPr>
            <a:r>
              <a:rPr lang="zh-CN" altLang="en-US" sz="2000" dirty="0">
                <a:cs typeface="楷体" panose="02010609060101010101" charset="-122"/>
              </a:rPr>
              <a:t>中医是在古代朴素的唯物论和自发的辨证法思想指导下，通过长期医疗实践逐步形成并发展成的医学理论体系。中医在现代中国仍然是治疗疾病的常用手段之一。有人却提出了反中医的证据：古人的寿命比现代人短，主要原因就是中医落后，对于疾病救治能力有限。对此，网络上出现了不同的声音。</a:t>
            </a:r>
            <a:endParaRPr lang="zh-CN" altLang="en-US" sz="2000" dirty="0">
              <a:cs typeface="楷体" panose="02010609060101010101" charset="-122"/>
            </a:endParaRPr>
          </a:p>
          <a:p>
            <a:pPr indent="0" fontAlgn="auto">
              <a:lnSpc>
                <a:spcPct val="110000"/>
              </a:lnSpc>
            </a:pPr>
            <a:r>
              <a:rPr lang="zh-CN" altLang="en-US" sz="2000" dirty="0">
                <a:cs typeface="楷体" panose="02010609060101010101" charset="-122"/>
              </a:rPr>
              <a:t>网友</a:t>
            </a:r>
            <a:r>
              <a:rPr lang="en-US" altLang="zh-CN" sz="2000" dirty="0">
                <a:cs typeface="楷体" panose="02010609060101010101" charset="-122"/>
              </a:rPr>
              <a:t>1</a:t>
            </a:r>
            <a:r>
              <a:rPr lang="zh-CN" altLang="en-US" sz="2000" dirty="0">
                <a:cs typeface="楷体" panose="02010609060101010101" charset="-122"/>
              </a:rPr>
              <a:t>：调查显示，有</a:t>
            </a:r>
            <a:r>
              <a:rPr lang="en-US" altLang="zh-CN" sz="2000" dirty="0">
                <a:cs typeface="楷体" panose="02010609060101010101" charset="-122"/>
              </a:rPr>
              <a:t>42.7%</a:t>
            </a:r>
            <a:r>
              <a:rPr lang="zh-CN" altLang="en-US" sz="2000" dirty="0">
                <a:cs typeface="楷体" panose="02010609060101010101" charset="-122"/>
              </a:rPr>
              <a:t>的受访者表示首选西医，而只有</a:t>
            </a:r>
            <a:r>
              <a:rPr lang="en-US" altLang="zh-CN" sz="2000" dirty="0">
                <a:cs typeface="楷体" panose="02010609060101010101" charset="-122"/>
              </a:rPr>
              <a:t>17.7%</a:t>
            </a:r>
            <a:r>
              <a:rPr lang="zh-CN" altLang="en-US" sz="2000" dirty="0">
                <a:cs typeface="楷体" panose="02010609060101010101" charset="-122"/>
              </a:rPr>
              <a:t>的受访者表示首选中医，所以中医落后于西医。</a:t>
            </a:r>
            <a:endParaRPr lang="zh-CN" altLang="en-US" sz="2000" dirty="0">
              <a:cs typeface="楷体" panose="02010609060101010101" charset="-122"/>
            </a:endParaRPr>
          </a:p>
          <a:p>
            <a:pPr indent="0" fontAlgn="auto">
              <a:lnSpc>
                <a:spcPct val="110000"/>
              </a:lnSpc>
            </a:pPr>
            <a:r>
              <a:rPr lang="zh-CN" altLang="en-US" sz="2000" dirty="0">
                <a:cs typeface="楷体" panose="02010609060101010101" charset="-122"/>
              </a:rPr>
              <a:t>网友</a:t>
            </a:r>
            <a:r>
              <a:rPr lang="en-US" altLang="zh-CN" sz="2000" dirty="0">
                <a:cs typeface="楷体" panose="02010609060101010101" charset="-122"/>
              </a:rPr>
              <a:t>2</a:t>
            </a:r>
            <a:r>
              <a:rPr lang="zh-CN" altLang="en-US" sz="2000" dirty="0">
                <a:cs typeface="楷体" panose="02010609060101010101" charset="-122"/>
              </a:rPr>
              <a:t>：古人常年经受日晒风吹，饭都吃不饱，更别说生病之后有条件看中医了。</a:t>
            </a:r>
            <a:endParaRPr lang="zh-CN" altLang="en-US" sz="2000" dirty="0">
              <a:cs typeface="楷体" panose="02010609060101010101" charset="-122"/>
            </a:endParaRPr>
          </a:p>
          <a:p>
            <a:pPr indent="0" fontAlgn="auto">
              <a:lnSpc>
                <a:spcPct val="110000"/>
              </a:lnSpc>
            </a:pPr>
            <a:r>
              <a:rPr lang="zh-CN" altLang="en-US" sz="2000" dirty="0">
                <a:cs typeface="楷体" panose="02010609060101010101" charset="-122"/>
              </a:rPr>
              <a:t>网友</a:t>
            </a:r>
            <a:r>
              <a:rPr lang="en-US" altLang="zh-CN" sz="2000" dirty="0">
                <a:cs typeface="楷体" panose="02010609060101010101" charset="-122"/>
              </a:rPr>
              <a:t>3</a:t>
            </a:r>
            <a:r>
              <a:rPr lang="zh-CN" altLang="en-US" sz="2000" dirty="0">
                <a:cs typeface="楷体" panose="02010609060101010101" charset="-122"/>
              </a:rPr>
              <a:t>：古代自然灾害频繁，造成大量的人口死亡，平均寿命当然会低于现在。</a:t>
            </a:r>
            <a:endParaRPr lang="zh-CN" altLang="en-US" sz="2000" dirty="0">
              <a:cs typeface="楷体" panose="02010609060101010101" charset="-122"/>
            </a:endParaRPr>
          </a:p>
          <a:p>
            <a:pPr indent="0" fontAlgn="auto">
              <a:lnSpc>
                <a:spcPct val="110000"/>
              </a:lnSpc>
            </a:pPr>
            <a:r>
              <a:rPr lang="zh-CN" altLang="en-US" sz="2000" dirty="0">
                <a:cs typeface="楷体" panose="02010609060101010101" charset="-122"/>
              </a:rPr>
              <a:t>网友</a:t>
            </a:r>
            <a:r>
              <a:rPr lang="en-US" altLang="zh-CN" sz="2000" dirty="0">
                <a:cs typeface="楷体" panose="02010609060101010101" charset="-122"/>
              </a:rPr>
              <a:t>4</a:t>
            </a:r>
            <a:r>
              <a:rPr lang="zh-CN" altLang="en-US" sz="2000" dirty="0">
                <a:cs typeface="楷体" panose="02010609060101010101" charset="-122"/>
              </a:rPr>
              <a:t>：中医和西医各有所长，需要根据病症做出正确的选择。</a:t>
            </a:r>
            <a:endParaRPr lang="zh-CN" altLang="en-US" sz="2000" dirty="0">
              <a:cs typeface="楷体" panose="02010609060101010101" charset="-122"/>
            </a:endParaRPr>
          </a:p>
          <a:p>
            <a:pPr indent="0" fontAlgn="auto">
              <a:lnSpc>
                <a:spcPct val="110000"/>
              </a:lnSpc>
            </a:pPr>
            <a:r>
              <a:rPr lang="zh-CN" altLang="en-US" sz="2000" dirty="0">
                <a:cs typeface="楷体" panose="02010609060101010101" charset="-122"/>
              </a:rPr>
              <a:t>网友</a:t>
            </a:r>
            <a:r>
              <a:rPr lang="en-US" altLang="zh-CN" sz="2000" dirty="0">
                <a:cs typeface="楷体" panose="02010609060101010101" charset="-122"/>
              </a:rPr>
              <a:t>5</a:t>
            </a:r>
            <a:r>
              <a:rPr lang="zh-CN" altLang="en-US" sz="2000" dirty="0">
                <a:cs typeface="楷体" panose="02010609060101010101" charset="-122"/>
              </a:rPr>
              <a:t>：现代发达农业技术使人们摆脱了靠天吃饭的困境，大大减少了人类非正常的死亡，现代人的寿命自然就比古人长。</a:t>
            </a:r>
            <a:endParaRPr lang="zh-CN" altLang="en-US" sz="2000" dirty="0">
              <a:cs typeface="楷体" panose="02010609060101010101" charset="-122"/>
            </a:endParaRPr>
          </a:p>
          <a:p>
            <a:pPr indent="0" fontAlgn="auto">
              <a:lnSpc>
                <a:spcPct val="110000"/>
              </a:lnSpc>
            </a:pPr>
            <a:r>
              <a:rPr lang="zh-CN" altLang="en-US" sz="2000" dirty="0">
                <a:cs typeface="楷体" panose="02010609060101010101" charset="-122"/>
              </a:rPr>
              <a:t>网友</a:t>
            </a:r>
            <a:r>
              <a:rPr lang="en-US" altLang="zh-CN" sz="2000" dirty="0">
                <a:cs typeface="楷体" panose="02010609060101010101" charset="-122"/>
              </a:rPr>
              <a:t>6</a:t>
            </a:r>
            <a:r>
              <a:rPr lang="zh-CN" altLang="en-US" sz="2000" dirty="0">
                <a:cs typeface="楷体" panose="02010609060101010101" charset="-122"/>
              </a:rPr>
              <a:t>：人们常说中医是</a:t>
            </a:r>
            <a:r>
              <a:rPr lang="en-US" altLang="zh-CN" sz="2000" dirty="0">
                <a:cs typeface="楷体" panose="02010609060101010101" charset="-122"/>
              </a:rPr>
              <a:t>“</a:t>
            </a:r>
            <a:r>
              <a:rPr lang="zh-CN" altLang="en-US" sz="2000" dirty="0">
                <a:cs typeface="楷体" panose="02010609060101010101" charset="-122"/>
              </a:rPr>
              <a:t>慢郎中</a:t>
            </a:r>
            <a:r>
              <a:rPr lang="en-US" altLang="zh-CN" sz="2000" dirty="0">
                <a:cs typeface="楷体" panose="02010609060101010101" charset="-122"/>
              </a:rPr>
              <a:t>”</a:t>
            </a:r>
            <a:r>
              <a:rPr lang="zh-CN" altLang="en-US" sz="2000" dirty="0">
                <a:cs typeface="楷体" panose="02010609060101010101" charset="-122"/>
              </a:rPr>
              <a:t>，真要得了急症，还是要去看西医。</a:t>
            </a:r>
            <a:endParaRPr lang="zh-CN" altLang="en-US" sz="2000" dirty="0">
              <a:cs typeface="楷体" panose="02010609060101010101" charset="-122"/>
            </a:endParaRPr>
          </a:p>
          <a:p>
            <a:pPr indent="0" fontAlgn="auto">
              <a:lnSpc>
                <a:spcPct val="110000"/>
              </a:lnSpc>
            </a:pPr>
            <a:r>
              <a:rPr lang="zh-CN" altLang="en-US" sz="2000" dirty="0">
                <a:cs typeface="楷体" panose="02010609060101010101" charset="-122"/>
              </a:rPr>
              <a:t>网友</a:t>
            </a:r>
            <a:r>
              <a:rPr lang="en-US" altLang="zh-CN" sz="2000" dirty="0">
                <a:cs typeface="楷体" panose="02010609060101010101" charset="-122"/>
              </a:rPr>
              <a:t>7</a:t>
            </a:r>
            <a:r>
              <a:rPr lang="zh-CN" altLang="en-US" sz="2000" dirty="0">
                <a:cs typeface="楷体" panose="02010609060101010101" charset="-122"/>
              </a:rPr>
              <a:t>：只有看过中医的人才会知道中医的好处。</a:t>
            </a:r>
            <a:endParaRPr lang="zh-CN" altLang="en-US" sz="2000" dirty="0">
              <a:cs typeface="楷体" panose="02010609060101010101" charset="-122"/>
            </a:endParaRPr>
          </a:p>
          <a:p>
            <a:pPr indent="0" fontAlgn="auto">
              <a:lnSpc>
                <a:spcPct val="110000"/>
              </a:lnSpc>
            </a:pPr>
            <a:r>
              <a:rPr lang="en-US" altLang="zh-CN" sz="2000" dirty="0">
                <a:cs typeface="楷体" panose="02010609060101010101" charset="-122"/>
              </a:rPr>
              <a:t>34.</a:t>
            </a:r>
            <a:r>
              <a:rPr lang="zh-CN" altLang="en-US" sz="2000" dirty="0">
                <a:cs typeface="楷体" panose="02010609060101010101" charset="-122"/>
              </a:rPr>
              <a:t>以上网友的观点中，能够反驳</a:t>
            </a:r>
            <a:r>
              <a:rPr lang="en-US" altLang="zh-CN" sz="2000" dirty="0">
                <a:cs typeface="楷体" panose="02010609060101010101" charset="-122"/>
              </a:rPr>
              <a:t>“</a:t>
            </a:r>
            <a:r>
              <a:rPr lang="zh-CN" altLang="en-US" sz="2000" dirty="0">
                <a:cs typeface="楷体" panose="02010609060101010101" charset="-122"/>
              </a:rPr>
              <a:t>古人的寿命比现代人短，主要原因就是中医落后</a:t>
            </a:r>
            <a:r>
              <a:rPr lang="en-US" altLang="zh-CN" sz="2000" dirty="0">
                <a:cs typeface="楷体" panose="02010609060101010101" charset="-122"/>
              </a:rPr>
              <a:t>”</a:t>
            </a:r>
            <a:r>
              <a:rPr lang="zh-CN" altLang="en-US" sz="2000" dirty="0">
                <a:cs typeface="楷体" panose="02010609060101010101" charset="-122"/>
              </a:rPr>
              <a:t>的有几项？</a:t>
            </a:r>
            <a:endParaRPr lang="zh-CN" altLang="en-US" sz="2000" dirty="0">
              <a:cs typeface="楷体" panose="02010609060101010101" charset="-122"/>
            </a:endParaRPr>
          </a:p>
          <a:p>
            <a:pPr indent="0" fontAlgn="auto">
              <a:lnSpc>
                <a:spcPct val="110000"/>
              </a:lnSpc>
            </a:pPr>
            <a:r>
              <a:rPr lang="en-US" altLang="zh-CN" sz="2000" dirty="0">
                <a:cs typeface="楷体" panose="02010609060101010101" charset="-122"/>
              </a:rPr>
              <a:t>A.1</a:t>
            </a:r>
            <a:r>
              <a:rPr lang="zh-CN" altLang="en-US" sz="2000" dirty="0">
                <a:cs typeface="楷体" panose="02010609060101010101" charset="-122"/>
              </a:rPr>
              <a:t>项</a:t>
            </a:r>
            <a:r>
              <a:rPr lang="en-US" altLang="zh-CN" sz="2000" dirty="0">
                <a:cs typeface="楷体" panose="02010609060101010101" charset="-122"/>
              </a:rPr>
              <a:t>		B.2</a:t>
            </a:r>
            <a:r>
              <a:rPr lang="zh-CN" altLang="en-US" sz="2000" dirty="0">
                <a:cs typeface="楷体" panose="02010609060101010101" charset="-122"/>
              </a:rPr>
              <a:t>项</a:t>
            </a:r>
            <a:endParaRPr lang="zh-CN" altLang="en-US" sz="2000" dirty="0">
              <a:cs typeface="楷体" panose="02010609060101010101" charset="-122"/>
            </a:endParaRPr>
          </a:p>
          <a:p>
            <a:pPr indent="0" fontAlgn="auto">
              <a:lnSpc>
                <a:spcPct val="110000"/>
              </a:lnSpc>
            </a:pPr>
            <a:r>
              <a:rPr lang="en-US" altLang="zh-CN" sz="2000" dirty="0">
                <a:cs typeface="楷体" panose="02010609060101010101" charset="-122"/>
              </a:rPr>
              <a:t>C.3</a:t>
            </a:r>
            <a:r>
              <a:rPr lang="zh-CN" altLang="en-US" sz="2000" dirty="0">
                <a:cs typeface="楷体" panose="02010609060101010101" charset="-122"/>
              </a:rPr>
              <a:t>项</a:t>
            </a:r>
            <a:r>
              <a:rPr lang="en-US" altLang="zh-CN" sz="2000" dirty="0">
                <a:cs typeface="楷体" panose="02010609060101010101" charset="-122"/>
              </a:rPr>
              <a:t>		D.4</a:t>
            </a:r>
            <a:r>
              <a:rPr lang="zh-CN" altLang="en-US" sz="2000" dirty="0">
                <a:cs typeface="楷体" panose="02010609060101010101" charset="-122"/>
              </a:rPr>
              <a:t>项</a:t>
            </a:r>
            <a:r>
              <a:rPr sz="2000" dirty="0">
                <a:cs typeface="楷体" panose="02010609060101010101" charset="-122"/>
              </a:rPr>
              <a:t>心</a:t>
            </a:r>
            <a:endParaRPr sz="2000" dirty="0">
              <a:cs typeface="楷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72490" y="-85725"/>
            <a:ext cx="10515600" cy="708025"/>
          </a:xfrm>
        </p:spPr>
        <p:txBody>
          <a:bodyPr/>
          <a:lstStyle/>
          <a:p>
            <a:pPr algn="ctr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  <a:sym typeface="+mn-ea"/>
              </a:rPr>
              <a:t>题</a:t>
            </a:r>
            <a:r>
              <a:rPr kumimoji="1" lang="en-US" altLang="zh-CN" sz="2800" b="1" dirty="0">
                <a:solidFill>
                  <a:srgbClr val="FF653F"/>
                </a:solidFill>
                <a:sym typeface="+mn-ea"/>
              </a:rPr>
              <a:t>16</a:t>
            </a:r>
            <a:endParaRPr kumimoji="1" lang="en-US" altLang="zh-CN" sz="2800" b="1" dirty="0">
              <a:solidFill>
                <a:srgbClr val="FF653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2915" y="161925"/>
            <a:ext cx="11460480" cy="5526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10000"/>
              </a:lnSpc>
            </a:pPr>
            <a:r>
              <a:rPr lang="zh-CN" altLang="en-US" sz="2000" dirty="0">
                <a:cs typeface="楷体" panose="02010609060101010101" charset="-122"/>
              </a:rPr>
              <a:t>根据以下材料，回答</a:t>
            </a:r>
            <a:r>
              <a:rPr lang="en-US" altLang="zh-CN" sz="2000" dirty="0">
                <a:cs typeface="楷体" panose="02010609060101010101" charset="-122"/>
              </a:rPr>
              <a:t>34</a:t>
            </a:r>
            <a:r>
              <a:rPr lang="zh-CN" altLang="en-US" sz="2000" dirty="0">
                <a:cs typeface="楷体" panose="02010609060101010101" charset="-122"/>
              </a:rPr>
              <a:t>～</a:t>
            </a:r>
            <a:r>
              <a:rPr lang="en-US" altLang="zh-CN" sz="2000" dirty="0">
                <a:cs typeface="楷体" panose="02010609060101010101" charset="-122"/>
              </a:rPr>
              <a:t>35</a:t>
            </a:r>
            <a:r>
              <a:rPr lang="zh-CN" altLang="en-US" sz="2000" dirty="0">
                <a:cs typeface="楷体" panose="02010609060101010101" charset="-122"/>
              </a:rPr>
              <a:t>题。</a:t>
            </a:r>
            <a:endParaRPr lang="zh-CN" altLang="en-US" sz="2000" dirty="0">
              <a:cs typeface="楷体" panose="02010609060101010101" charset="-122"/>
            </a:endParaRPr>
          </a:p>
          <a:p>
            <a:pPr indent="0" fontAlgn="auto">
              <a:lnSpc>
                <a:spcPct val="110000"/>
              </a:lnSpc>
            </a:pPr>
            <a:r>
              <a:rPr lang="zh-CN" altLang="en-US" sz="2000" dirty="0">
                <a:cs typeface="楷体" panose="02010609060101010101" charset="-122"/>
              </a:rPr>
              <a:t>中医是在古代朴素的唯物论和自发的辨证法思想指导下，通过长期医疗实践逐步形成并发展成的医学理论体系。中医在现代中国仍然是治疗疾病的常用手段之一。有人却提出了反中医的证据：古人的寿命比现代人短，主要原因就是中医落后，对于疾病救治能力有限。对此，网络上出现了不同的声音。</a:t>
            </a:r>
            <a:endParaRPr lang="zh-CN" altLang="en-US" sz="2000" dirty="0">
              <a:cs typeface="楷体" panose="02010609060101010101" charset="-122"/>
            </a:endParaRPr>
          </a:p>
          <a:p>
            <a:pPr indent="0" fontAlgn="auto">
              <a:lnSpc>
                <a:spcPct val="110000"/>
              </a:lnSpc>
            </a:pPr>
            <a:r>
              <a:rPr lang="zh-CN" altLang="en-US" sz="2000" dirty="0">
                <a:cs typeface="楷体" panose="02010609060101010101" charset="-122"/>
              </a:rPr>
              <a:t>网友</a:t>
            </a:r>
            <a:r>
              <a:rPr lang="en-US" altLang="zh-CN" sz="2000" dirty="0">
                <a:cs typeface="楷体" panose="02010609060101010101" charset="-122"/>
              </a:rPr>
              <a:t>1</a:t>
            </a:r>
            <a:r>
              <a:rPr lang="zh-CN" altLang="en-US" sz="2000" dirty="0">
                <a:cs typeface="楷体" panose="02010609060101010101" charset="-122"/>
              </a:rPr>
              <a:t>：调查显示，有</a:t>
            </a:r>
            <a:r>
              <a:rPr lang="en-US" altLang="zh-CN" sz="2000" dirty="0">
                <a:cs typeface="楷体" panose="02010609060101010101" charset="-122"/>
              </a:rPr>
              <a:t>42.7%</a:t>
            </a:r>
            <a:r>
              <a:rPr lang="zh-CN" altLang="en-US" sz="2000" dirty="0">
                <a:cs typeface="楷体" panose="02010609060101010101" charset="-122"/>
              </a:rPr>
              <a:t>的受访者表示首选西医，而只有</a:t>
            </a:r>
            <a:r>
              <a:rPr lang="en-US" altLang="zh-CN" sz="2000" dirty="0">
                <a:cs typeface="楷体" panose="02010609060101010101" charset="-122"/>
              </a:rPr>
              <a:t>17.7%</a:t>
            </a:r>
            <a:r>
              <a:rPr lang="zh-CN" altLang="en-US" sz="2000" dirty="0">
                <a:cs typeface="楷体" panose="02010609060101010101" charset="-122"/>
              </a:rPr>
              <a:t>的受访者表示首选中医，所以中医落后于西医。</a:t>
            </a:r>
            <a:endParaRPr lang="zh-CN" altLang="en-US" sz="2000" dirty="0">
              <a:cs typeface="楷体" panose="02010609060101010101" charset="-122"/>
            </a:endParaRPr>
          </a:p>
          <a:p>
            <a:pPr indent="0" fontAlgn="auto">
              <a:lnSpc>
                <a:spcPct val="110000"/>
              </a:lnSpc>
            </a:pPr>
            <a:r>
              <a:rPr lang="zh-CN" altLang="en-US" sz="2000" dirty="0">
                <a:cs typeface="楷体" panose="02010609060101010101" charset="-122"/>
              </a:rPr>
              <a:t>网友</a:t>
            </a:r>
            <a:r>
              <a:rPr lang="en-US" altLang="zh-CN" sz="2000" dirty="0">
                <a:cs typeface="楷体" panose="02010609060101010101" charset="-122"/>
              </a:rPr>
              <a:t>2</a:t>
            </a:r>
            <a:r>
              <a:rPr lang="zh-CN" altLang="en-US" sz="2000" dirty="0">
                <a:cs typeface="楷体" panose="02010609060101010101" charset="-122"/>
              </a:rPr>
              <a:t>：古人常年经受日晒风吹，饭都吃不饱，更别说生病之后有条件看中医了。</a:t>
            </a:r>
            <a:endParaRPr lang="zh-CN" altLang="en-US" sz="2000" dirty="0">
              <a:cs typeface="楷体" panose="02010609060101010101" charset="-122"/>
            </a:endParaRPr>
          </a:p>
          <a:p>
            <a:pPr indent="0" fontAlgn="auto">
              <a:lnSpc>
                <a:spcPct val="110000"/>
              </a:lnSpc>
            </a:pPr>
            <a:r>
              <a:rPr lang="zh-CN" altLang="en-US" sz="2000" dirty="0">
                <a:cs typeface="楷体" panose="02010609060101010101" charset="-122"/>
              </a:rPr>
              <a:t>网友</a:t>
            </a:r>
            <a:r>
              <a:rPr lang="en-US" altLang="zh-CN" sz="2000" dirty="0">
                <a:cs typeface="楷体" panose="02010609060101010101" charset="-122"/>
              </a:rPr>
              <a:t>3</a:t>
            </a:r>
            <a:r>
              <a:rPr lang="zh-CN" altLang="en-US" sz="2000" dirty="0">
                <a:cs typeface="楷体" panose="02010609060101010101" charset="-122"/>
              </a:rPr>
              <a:t>：古代自然灾害频繁，造成大量的人口死亡，平均寿命当然会低于现在。</a:t>
            </a:r>
            <a:endParaRPr lang="zh-CN" altLang="en-US" sz="2000" dirty="0">
              <a:cs typeface="楷体" panose="02010609060101010101" charset="-122"/>
            </a:endParaRPr>
          </a:p>
          <a:p>
            <a:pPr indent="0" fontAlgn="auto">
              <a:lnSpc>
                <a:spcPct val="110000"/>
              </a:lnSpc>
            </a:pPr>
            <a:r>
              <a:rPr lang="zh-CN" altLang="en-US" sz="2000" dirty="0">
                <a:cs typeface="楷体" panose="02010609060101010101" charset="-122"/>
              </a:rPr>
              <a:t>网友</a:t>
            </a:r>
            <a:r>
              <a:rPr lang="en-US" altLang="zh-CN" sz="2000" dirty="0">
                <a:cs typeface="楷体" panose="02010609060101010101" charset="-122"/>
              </a:rPr>
              <a:t>4</a:t>
            </a:r>
            <a:r>
              <a:rPr lang="zh-CN" altLang="en-US" sz="2000" dirty="0">
                <a:cs typeface="楷体" panose="02010609060101010101" charset="-122"/>
              </a:rPr>
              <a:t>：中医和西医各有所长，需要根据病症做出正确的选择。</a:t>
            </a:r>
            <a:endParaRPr lang="zh-CN" altLang="en-US" sz="2000" dirty="0">
              <a:cs typeface="楷体" panose="02010609060101010101" charset="-122"/>
            </a:endParaRPr>
          </a:p>
          <a:p>
            <a:pPr indent="0" fontAlgn="auto">
              <a:lnSpc>
                <a:spcPct val="110000"/>
              </a:lnSpc>
            </a:pPr>
            <a:r>
              <a:rPr lang="zh-CN" altLang="en-US" sz="2000" dirty="0">
                <a:cs typeface="楷体" panose="02010609060101010101" charset="-122"/>
              </a:rPr>
              <a:t>网友</a:t>
            </a:r>
            <a:r>
              <a:rPr lang="en-US" altLang="zh-CN" sz="2000" dirty="0">
                <a:cs typeface="楷体" panose="02010609060101010101" charset="-122"/>
              </a:rPr>
              <a:t>5</a:t>
            </a:r>
            <a:r>
              <a:rPr lang="zh-CN" altLang="en-US" sz="2000" dirty="0">
                <a:cs typeface="楷体" panose="02010609060101010101" charset="-122"/>
              </a:rPr>
              <a:t>：现代发达农业技术使人们摆脱了靠天吃饭的困境，大大减少了人类非正常的死亡，现代人的寿命自然就比古人长。</a:t>
            </a:r>
            <a:endParaRPr lang="zh-CN" altLang="en-US" sz="2000" dirty="0">
              <a:cs typeface="楷体" panose="02010609060101010101" charset="-122"/>
            </a:endParaRPr>
          </a:p>
          <a:p>
            <a:pPr indent="0" fontAlgn="auto">
              <a:lnSpc>
                <a:spcPct val="110000"/>
              </a:lnSpc>
            </a:pPr>
            <a:r>
              <a:rPr lang="zh-CN" altLang="en-US" sz="2000" dirty="0">
                <a:cs typeface="楷体" panose="02010609060101010101" charset="-122"/>
              </a:rPr>
              <a:t>网友</a:t>
            </a:r>
            <a:r>
              <a:rPr lang="en-US" altLang="zh-CN" sz="2000" dirty="0">
                <a:cs typeface="楷体" panose="02010609060101010101" charset="-122"/>
              </a:rPr>
              <a:t>6</a:t>
            </a:r>
            <a:r>
              <a:rPr lang="zh-CN" altLang="en-US" sz="2000" dirty="0">
                <a:cs typeface="楷体" panose="02010609060101010101" charset="-122"/>
              </a:rPr>
              <a:t>：人们常说中医是</a:t>
            </a:r>
            <a:r>
              <a:rPr lang="en-US" altLang="zh-CN" sz="2000" dirty="0">
                <a:cs typeface="楷体" panose="02010609060101010101" charset="-122"/>
              </a:rPr>
              <a:t>“</a:t>
            </a:r>
            <a:r>
              <a:rPr lang="zh-CN" altLang="en-US" sz="2000" dirty="0">
                <a:cs typeface="楷体" panose="02010609060101010101" charset="-122"/>
              </a:rPr>
              <a:t>慢郎中</a:t>
            </a:r>
            <a:r>
              <a:rPr lang="en-US" altLang="zh-CN" sz="2000" dirty="0">
                <a:cs typeface="楷体" panose="02010609060101010101" charset="-122"/>
              </a:rPr>
              <a:t>”</a:t>
            </a:r>
            <a:r>
              <a:rPr lang="zh-CN" altLang="en-US" sz="2000" dirty="0">
                <a:cs typeface="楷体" panose="02010609060101010101" charset="-122"/>
              </a:rPr>
              <a:t>，真要得了急症，还是要去看西医。</a:t>
            </a:r>
            <a:endParaRPr lang="zh-CN" altLang="en-US" sz="2000" dirty="0">
              <a:cs typeface="楷体" panose="02010609060101010101" charset="-122"/>
            </a:endParaRPr>
          </a:p>
          <a:p>
            <a:pPr indent="0" fontAlgn="auto">
              <a:lnSpc>
                <a:spcPct val="110000"/>
              </a:lnSpc>
            </a:pPr>
            <a:r>
              <a:rPr lang="zh-CN" altLang="en-US" sz="2000" dirty="0">
                <a:cs typeface="楷体" panose="02010609060101010101" charset="-122"/>
              </a:rPr>
              <a:t>网友</a:t>
            </a:r>
            <a:r>
              <a:rPr lang="en-US" altLang="zh-CN" sz="2000" dirty="0">
                <a:cs typeface="楷体" panose="02010609060101010101" charset="-122"/>
              </a:rPr>
              <a:t>7</a:t>
            </a:r>
            <a:r>
              <a:rPr lang="zh-CN" altLang="en-US" sz="2000" dirty="0">
                <a:cs typeface="楷体" panose="02010609060101010101" charset="-122"/>
              </a:rPr>
              <a:t>：只有看过中医的人才会知道中医的好处。</a:t>
            </a:r>
            <a:endParaRPr lang="zh-CN" altLang="en-US" sz="2000" dirty="0">
              <a:cs typeface="楷体" panose="02010609060101010101" charset="-122"/>
            </a:endParaRPr>
          </a:p>
          <a:p>
            <a:pPr indent="0" fontAlgn="auto">
              <a:lnSpc>
                <a:spcPct val="110000"/>
              </a:lnSpc>
            </a:pPr>
            <a:r>
              <a:rPr lang="en-US" altLang="zh-CN" sz="2000" dirty="0">
                <a:cs typeface="楷体" panose="02010609060101010101" charset="-122"/>
              </a:rPr>
              <a:t>35.</a:t>
            </a:r>
            <a:r>
              <a:rPr lang="zh-CN" altLang="en-US" sz="2000" dirty="0">
                <a:cs typeface="楷体" panose="02010609060101010101" charset="-122"/>
              </a:rPr>
              <a:t>以下哪项表述最为准确地指出了网友</a:t>
            </a:r>
            <a:r>
              <a:rPr lang="en-US" altLang="zh-CN" sz="2000" dirty="0">
                <a:cs typeface="楷体" panose="02010609060101010101" charset="-122"/>
              </a:rPr>
              <a:t>1</a:t>
            </a:r>
            <a:r>
              <a:rPr lang="zh-CN" altLang="en-US" sz="2000" dirty="0">
                <a:cs typeface="楷体" panose="02010609060101010101" charset="-122"/>
              </a:rPr>
              <a:t>的论证错误？（</a:t>
            </a:r>
            <a:r>
              <a:rPr lang="en-US" altLang="zh-CN" sz="2000" dirty="0">
                <a:cs typeface="楷体" panose="02010609060101010101" charset="-122"/>
              </a:rPr>
              <a:t>  </a:t>
            </a:r>
            <a:r>
              <a:rPr lang="zh-CN" altLang="en-US" sz="2000" dirty="0">
                <a:cs typeface="楷体" panose="02010609060101010101" charset="-122"/>
              </a:rPr>
              <a:t>）</a:t>
            </a:r>
            <a:endParaRPr lang="zh-CN" altLang="en-US" sz="2000" dirty="0">
              <a:cs typeface="楷体" panose="02010609060101010101" charset="-122"/>
            </a:endParaRPr>
          </a:p>
          <a:p>
            <a:pPr indent="0" fontAlgn="auto">
              <a:lnSpc>
                <a:spcPct val="110000"/>
              </a:lnSpc>
            </a:pPr>
            <a:r>
              <a:rPr lang="en-US" altLang="zh-CN" sz="2000" dirty="0">
                <a:cs typeface="楷体" panose="02010609060101010101" charset="-122"/>
              </a:rPr>
              <a:t>A.</a:t>
            </a:r>
            <a:r>
              <a:rPr lang="zh-CN" altLang="en-US" sz="2000" dirty="0">
                <a:cs typeface="楷体" panose="02010609060101010101" charset="-122"/>
              </a:rPr>
              <a:t>西医医院和科室远多于中医，所以西医要先进于中医</a:t>
            </a:r>
            <a:endParaRPr lang="zh-CN" altLang="en-US" sz="2000" dirty="0">
              <a:cs typeface="楷体" panose="02010609060101010101" charset="-122"/>
            </a:endParaRPr>
          </a:p>
          <a:p>
            <a:pPr indent="0" fontAlgn="auto">
              <a:lnSpc>
                <a:spcPct val="110000"/>
              </a:lnSpc>
            </a:pPr>
            <a:r>
              <a:rPr lang="en-US" altLang="zh-CN" sz="2000" dirty="0">
                <a:cs typeface="楷体" panose="02010609060101010101" charset="-122"/>
              </a:rPr>
              <a:t>B.</a:t>
            </a:r>
            <a:r>
              <a:rPr lang="zh-CN" altLang="en-US" sz="2000" dirty="0">
                <a:cs typeface="楷体" panose="02010609060101010101" charset="-122"/>
              </a:rPr>
              <a:t>首选西医的受访者在西医治疗无效后或许也会选择中医</a:t>
            </a:r>
            <a:endParaRPr lang="zh-CN" altLang="en-US" sz="2000" dirty="0">
              <a:cs typeface="楷体" panose="02010609060101010101" charset="-122"/>
            </a:endParaRPr>
          </a:p>
          <a:p>
            <a:pPr indent="0" fontAlgn="auto">
              <a:lnSpc>
                <a:spcPct val="110000"/>
              </a:lnSpc>
            </a:pPr>
            <a:r>
              <a:rPr lang="en-US" altLang="zh-CN" sz="2000" dirty="0">
                <a:cs typeface="楷体" panose="02010609060101010101" charset="-122"/>
              </a:rPr>
              <a:t>C.</a:t>
            </a:r>
            <a:r>
              <a:rPr lang="zh-CN" altLang="en-US" sz="2000" dirty="0">
                <a:cs typeface="楷体" panose="02010609060101010101" charset="-122"/>
              </a:rPr>
              <a:t>不知道其余受访者选择的是什么，所以不能说中医落后于西医</a:t>
            </a:r>
            <a:endParaRPr lang="zh-CN" altLang="en-US" sz="2000" dirty="0">
              <a:cs typeface="楷体" panose="02010609060101010101" charset="-122"/>
            </a:endParaRPr>
          </a:p>
          <a:p>
            <a:pPr indent="0" fontAlgn="auto">
              <a:lnSpc>
                <a:spcPct val="110000"/>
              </a:lnSpc>
            </a:pPr>
            <a:r>
              <a:rPr lang="en-US" altLang="zh-CN" sz="2000" dirty="0">
                <a:cs typeface="楷体" panose="02010609060101010101" charset="-122"/>
              </a:rPr>
              <a:t>D.</a:t>
            </a:r>
            <a:r>
              <a:rPr lang="zh-CN" altLang="en-US" sz="2000" dirty="0">
                <a:cs typeface="楷体" panose="02010609060101010101" charset="-122"/>
              </a:rPr>
              <a:t>首选西医或者中医只代表受访者的认知和选择，不能证明中医落后</a:t>
            </a:r>
            <a:endParaRPr lang="zh-CN" altLang="en-US" sz="2000" dirty="0">
              <a:cs typeface="楷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徽标&#10;&#10;AI 生成的内容可能不正确。"/>
          <p:cNvPicPr>
            <a:picLocks noChangeAspect="1"/>
          </p:cNvPicPr>
          <p:nvPr/>
        </p:nvPicPr>
        <p:blipFill>
          <a:blip r:embed="rId1"/>
          <a:srcRect t="9991" b="18252"/>
          <a:stretch>
            <a:fillRect/>
          </a:stretch>
        </p:blipFill>
        <p:spPr>
          <a:xfrm>
            <a:off x="4437879" y="883627"/>
            <a:ext cx="2976453" cy="95043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844561" y="2711751"/>
            <a:ext cx="27959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400" b="1" dirty="0">
                <a:solidFill>
                  <a:srgbClr val="DC5037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感谢收看！</a:t>
            </a:r>
            <a:endParaRPr kumimoji="1" lang="zh-CN" altLang="en-US" sz="4400" b="1" dirty="0">
              <a:solidFill>
                <a:srgbClr val="DC5037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4.xml><?xml version="1.0" encoding="utf-8"?>
<p:tagLst xmlns:p="http://schemas.openxmlformats.org/presentationml/2006/main">
  <p:tag name="KSO_WM_SLIDE_ID" val="custom20231288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1288"/>
  <p:tag name="KSO_WM_SLIDE_TYPE" val="endPage"/>
  <p:tag name="KSO_WM_SLIDE_SUBTYPE" val="pureTxt"/>
  <p:tag name="KSO_WM_SLIDE_LAYOUT" val="a_f"/>
  <p:tag name="KSO_WM_SLIDE_LAYOUT_CNT" val="1_1"/>
  <p:tag name="resource_record_key" val="{&quot;13&quot;:[4705195,19965465,19971662],&quot;65&quot;:[20231288]}"/>
</p:tagLst>
</file>

<file path=ppt/tags/tag5.xml><?xml version="1.0" encoding="utf-8"?>
<p:tagLst xmlns:p="http://schemas.openxmlformats.org/presentationml/2006/main">
  <p:tag name="resource_record_key" val="{&quot;13&quot;:[20481828,4364903,4364924],&quot;65&quot;:[20205081]}"/>
</p:tagLst>
</file>

<file path=ppt/theme/theme1.xml><?xml version="1.0" encoding="utf-8"?>
<a:theme xmlns:a="http://schemas.openxmlformats.org/drawingml/2006/main" name="自定义设计方案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楷体"/>
        <a:ea typeface="楷体"/>
        <a:cs typeface=""/>
      </a:majorFont>
      <a:minorFont>
        <a:latin typeface="楷体"/>
        <a:ea typeface="楷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楷体"/>
        <a:ea typeface=""/>
        <a:cs typeface=""/>
        <a:font script="Jpan" typeface="ＭＳ Ｐゴシック"/>
        <a:font script="Hang" typeface="맑은 고딕"/>
        <a:font script="Hans" typeface="楷体"/>
        <a:font script="Hant" typeface="新細明體"/>
        <a:font script="Arab" typeface="楷体"/>
        <a:font script="Hebr" typeface="楷体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楷体"/>
        <a:font script="Uigh" typeface="Microsoft Uighur"/>
        <a:font script="Geor" typeface="Sylfaen"/>
      </a:majorFont>
      <a:minorFont>
        <a:latin typeface="楷体"/>
        <a:ea typeface=""/>
        <a:cs typeface=""/>
        <a:font script="Jpan" typeface="ＭＳ Ｐゴシック"/>
        <a:font script="Hang" typeface="맑은 고딕"/>
        <a:font script="Hans" typeface="楷体"/>
        <a:font script="Hant" typeface="新細明體"/>
        <a:font script="Arab" typeface="楷体"/>
        <a:font script="Hebr" typeface="楷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楷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楷体"/>
        <a:ea typeface=""/>
        <a:cs typeface=""/>
        <a:font script="Jpan" typeface="ＭＳ Ｐゴシック"/>
        <a:font script="Hang" typeface="맑은 고딕"/>
        <a:font script="Hans" typeface="楷体"/>
        <a:font script="Hant" typeface="新細明體"/>
        <a:font script="Arab" typeface="楷体"/>
        <a:font script="Hebr" typeface="楷体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楷体"/>
        <a:font script="Uigh" typeface="Microsoft Uighur"/>
        <a:font script="Geor" typeface="Sylfaen"/>
      </a:majorFont>
      <a:minorFont>
        <a:latin typeface="楷体"/>
        <a:ea typeface=""/>
        <a:cs typeface=""/>
        <a:font script="Jpan" typeface="ＭＳ Ｐゴシック"/>
        <a:font script="Hang" typeface="맑은 고딕"/>
        <a:font script="Hans" typeface="楷体"/>
        <a:font script="Hant" typeface="新細明體"/>
        <a:font script="Arab" typeface="楷体"/>
        <a:font script="Hebr" typeface="楷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楷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3116</Words>
  <Application>WPS 演示</Application>
  <PresentationFormat>宽屏</PresentationFormat>
  <Paragraphs>156</Paragraphs>
  <Slides>18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Arial</vt:lpstr>
      <vt:lpstr>宋体</vt:lpstr>
      <vt:lpstr>Wingdings</vt:lpstr>
      <vt:lpstr>楷体</vt:lpstr>
      <vt:lpstr>Wingdings</vt:lpstr>
      <vt:lpstr>微软雅黑</vt:lpstr>
      <vt:lpstr>Arial Unicode MS</vt:lpstr>
      <vt:lpstr>自定义设计方案</vt:lpstr>
      <vt:lpstr>PowerPoint 演示文稿</vt:lpstr>
      <vt:lpstr>题1</vt:lpstr>
      <vt:lpstr>题2</vt:lpstr>
      <vt:lpstr>题9</vt:lpstr>
      <vt:lpstr>题12</vt:lpstr>
      <vt:lpstr>题13</vt:lpstr>
      <vt:lpstr>题21</vt:lpstr>
      <vt:lpstr>题22</vt:lpstr>
      <vt:lpstr>题24</vt:lpstr>
      <vt:lpstr>题25</vt:lpstr>
      <vt:lpstr>题29</vt:lpstr>
      <vt:lpstr>题30</vt:lpstr>
      <vt:lpstr>题31</vt:lpstr>
      <vt:lpstr>题32</vt:lpstr>
      <vt:lpstr>题33</vt:lpstr>
      <vt:lpstr>题34</vt:lpstr>
      <vt:lpstr>题35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桑桑</cp:lastModifiedBy>
  <cp:revision>225</cp:revision>
  <dcterms:created xsi:type="dcterms:W3CDTF">2019-06-19T02:08:00Z</dcterms:created>
  <dcterms:modified xsi:type="dcterms:W3CDTF">2026-01-13T02:25:54Z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7E0F0589F6D94CFE8A4BC2AEA01394FF_11</vt:lpwstr>
  </property>
</Properties>
</file>