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1"/>
  </p:handoutMasterIdLst>
  <p:sldIdLst>
    <p:sldId id="1621" r:id="rId3"/>
    <p:sldId id="1582" r:id="rId5"/>
    <p:sldId id="1583" r:id="rId6"/>
    <p:sldId id="1584" r:id="rId7"/>
    <p:sldId id="1585" r:id="rId8"/>
    <p:sldId id="1586" r:id="rId9"/>
    <p:sldId id="1588" r:id="rId10"/>
    <p:sldId id="1589" r:id="rId11"/>
    <p:sldId id="1590" r:id="rId12"/>
    <p:sldId id="1591" r:id="rId13"/>
    <p:sldId id="1592" r:id="rId14"/>
    <p:sldId id="1593" r:id="rId15"/>
    <p:sldId id="1594" r:id="rId16"/>
    <p:sldId id="1595" r:id="rId17"/>
    <p:sldId id="1596" r:id="rId18"/>
    <p:sldId id="1597" r:id="rId19"/>
    <p:sldId id="1598" r:id="rId20"/>
    <p:sldId id="1599" r:id="rId21"/>
    <p:sldId id="1600" r:id="rId22"/>
    <p:sldId id="1601" r:id="rId23"/>
    <p:sldId id="1602" r:id="rId24"/>
    <p:sldId id="1603" r:id="rId25"/>
    <p:sldId id="1604" r:id="rId26"/>
    <p:sldId id="1605" r:id="rId27"/>
    <p:sldId id="1606" r:id="rId28"/>
    <p:sldId id="1607" r:id="rId29"/>
    <p:sldId id="1608" r:id="rId30"/>
    <p:sldId id="1609" r:id="rId31"/>
    <p:sldId id="1610" r:id="rId32"/>
    <p:sldId id="1611" r:id="rId33"/>
    <p:sldId id="1612" r:id="rId34"/>
    <p:sldId id="1613" r:id="rId35"/>
    <p:sldId id="1614" r:id="rId36"/>
    <p:sldId id="1615" r:id="rId37"/>
    <p:sldId id="1619" r:id="rId38"/>
    <p:sldId id="1620" r:id="rId39"/>
    <p:sldId id="1622" r:id="rId40"/>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6" userDrawn="1">
          <p15:clr>
            <a:srgbClr val="A4A3A4"/>
          </p15:clr>
        </p15:guide>
        <p15:guide id="2" pos="3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6"/>
        <p:guide pos="380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5.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解析：本题属于数量类，主要考查线数量。</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题干图形中黑色图形的边数依次为</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条，依次递增，故？处应选择黑色图形边数为</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条的图形，只有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解析：方法一：本题属于样式类，主要考查样式运算。</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第一列运算规律为，白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空，黑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空，白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第二列验证符合此规律，第三列应用此规律，只有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方法二：本题属于样式类，主要考查样式运算。</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第一列图一和图二去掉不同颜色小球，保留相同颜色的小球，得到图三。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经验证，第二列满足此规律。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第三列应用此规律，故？处应选择第三列图一和图二去异求同得到的图形，只有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解析：本题属于数量类，主要考查笔画数。</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题干图形均为一笔画图形，故？处应选择一个一笔画的图形，只有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解析：本题属于位置类，主要考查线形关系。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题干中每幅图均有一个封闭图形，且图</a:t>
            </a:r>
            <a:r>
              <a:rPr lang="en-US" altLang="en-US" sz="1200" kern="1200" dirty="0">
                <a:solidFill>
                  <a:schemeClr val="tx1"/>
                </a:solidFill>
                <a:effectLst/>
                <a:latin typeface="+mn-lt"/>
                <a:sym typeface="楷体" panose="02010609060101010101" charset="-122"/>
              </a:rPr>
              <a:t>①③⑥</a:t>
            </a:r>
            <a:r>
              <a:rPr lang="zh-CN" altLang="en-US" sz="1200" kern="1200" dirty="0">
                <a:solidFill>
                  <a:schemeClr val="tx1"/>
                </a:solidFill>
                <a:effectLst/>
                <a:latin typeface="+mn-lt"/>
                <a:sym typeface="楷体" panose="02010609060101010101" charset="-122"/>
              </a:rPr>
              <a:t>中封闭图形与其余的直线相交于封闭图形的一个顶点，图</a:t>
            </a:r>
            <a:r>
              <a:rPr lang="en-US" altLang="en-US" sz="1200" kern="1200" dirty="0">
                <a:solidFill>
                  <a:schemeClr val="tx1"/>
                </a:solidFill>
                <a:effectLst/>
                <a:latin typeface="+mn-lt"/>
                <a:sym typeface="楷体" panose="02010609060101010101" charset="-122"/>
              </a:rPr>
              <a:t>②④⑤</a:t>
            </a:r>
            <a:r>
              <a:rPr lang="zh-CN" altLang="en-US" sz="1200" kern="1200" dirty="0">
                <a:solidFill>
                  <a:schemeClr val="tx1"/>
                </a:solidFill>
                <a:effectLst/>
                <a:latin typeface="+mn-lt"/>
                <a:sym typeface="楷体" panose="02010609060101010101" charset="-122"/>
              </a:rPr>
              <a:t>中封闭图形与其余的直线相交于封闭图形的一条边，如下图所示，故图</a:t>
            </a:r>
            <a:r>
              <a:rPr lang="en-US" altLang="en-US" sz="1200" kern="1200" dirty="0">
                <a:solidFill>
                  <a:schemeClr val="tx1"/>
                </a:solidFill>
                <a:effectLst/>
                <a:latin typeface="+mn-lt"/>
                <a:sym typeface="楷体" panose="02010609060101010101" charset="-122"/>
              </a:rPr>
              <a:t>①③⑥</a:t>
            </a:r>
            <a:r>
              <a:rPr lang="zh-CN" altLang="en-US" sz="1200" kern="1200" dirty="0">
                <a:solidFill>
                  <a:schemeClr val="tx1"/>
                </a:solidFill>
                <a:effectLst/>
                <a:latin typeface="+mn-lt"/>
                <a:sym typeface="楷体" panose="02010609060101010101" charset="-122"/>
              </a:rPr>
              <a:t>为一组，图</a:t>
            </a:r>
            <a:r>
              <a:rPr lang="en-US" altLang="en-US" sz="1200" kern="1200" dirty="0">
                <a:solidFill>
                  <a:schemeClr val="tx1"/>
                </a:solidFill>
                <a:effectLst/>
                <a:latin typeface="+mn-lt"/>
                <a:sym typeface="楷体" panose="02010609060101010101" charset="-122"/>
              </a:rPr>
              <a:t>②④⑤</a:t>
            </a:r>
            <a:r>
              <a:rPr lang="zh-CN" altLang="en-US" sz="1200" kern="1200" dirty="0">
                <a:solidFill>
                  <a:schemeClr val="tx1"/>
                </a:solidFill>
                <a:effectLst/>
                <a:latin typeface="+mn-lt"/>
                <a:sym typeface="楷体" panose="02010609060101010101" charset="-122"/>
              </a:rPr>
              <a:t>为一组。</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解析：本题属于重构类，主要考查六面体。</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对展开图进行编号，如下图所示：</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项：该项由面</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构成，展开图中，面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的公共边与面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中三角形挨着，但立体图中面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的公共边与面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中三角形不挨着，选项与展开图不一致，排除；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项：该项由面</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f</a:t>
            </a:r>
            <a:r>
              <a:rPr lang="zh-CN" altLang="en-US" sz="1200" kern="1200" dirty="0">
                <a:solidFill>
                  <a:schemeClr val="tx1"/>
                </a:solidFill>
                <a:effectLst/>
                <a:latin typeface="+mn-lt"/>
                <a:sym typeface="楷体" panose="02010609060101010101" charset="-122"/>
              </a:rPr>
              <a:t>构成，展开图中，面</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的公共边与面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中三角形挨着，但立体图中面</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的公共边与面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中三角形不挨着，选项与展开图不一致，排除；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项：该项由面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f</a:t>
            </a:r>
            <a:r>
              <a:rPr lang="zh-CN" altLang="en-US" sz="1200" kern="1200" dirty="0">
                <a:solidFill>
                  <a:schemeClr val="tx1"/>
                </a:solidFill>
                <a:effectLst/>
                <a:latin typeface="+mn-lt"/>
                <a:sym typeface="楷体" panose="02010609060101010101" charset="-122"/>
              </a:rPr>
              <a:t>构成，展开图中，面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的公共边与两个面中的三角形均不挨着，但立体图中面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的公共边与面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中的三角形挨着，选项与展开图不一致，排除；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项：选项与展开图一致，当选。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项：莉莉父亲赠与莉莉笔记本电脑附加了考上大学的条件，但并未体现莉莉需要承担某些义务，不符合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项：小林的叔叔赠与小林部分股权附加了满</a:t>
            </a:r>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岁的条件，但并未体现小林需要承担某些义务，不符合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项：老张将字画赠送博物馆附加了不得转赠的条件，博物馆需要承担不转赠的义务，符合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项：小郑赠送女友钻石项链并允诺与她携手一生，并没有体现出对女友附加一定条件，不符合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项：为了平息社会对公司这次重大事故的愤怒情绪，公司总经理宣布引咎辞职，并未涉及到总经理的情绪问题，不符合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项：为了推卸战争失败的责任，某国政府宣布逮捕军队数名将军，其并未涉及到具体的人的情绪，不符合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项：该项意为：项羽引兵全部渡过黄河，把船沉入河中，砸破做饭的锅，烧了住处，只带三天的干粮，用以表示一定战死，不准备再回来的决心，不符合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项：该项意为：谢安和客人下围棋，一会儿谢玄从淝水战场上派来的信使到了，谢安看完信，默不作声，又慢慢地下起棋来。客人问他战场上的胜败情况，谢安回答说：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孩子们大破贼兵。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说话间，神色、举动和平时没有两样，符合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社会性扮演：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幼儿与伙伴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在假想的情景中表现和反映现实生活体验的游戏活动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表演游戏：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幼儿按照故事（自编或依据现有故事）中的角色、情节和语言开展的角色扮演游戏活动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项：小方和伙伴们去科技馆的太空探索展区参观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嫦娥五号</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探测器模型，不涉及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假想的情景和反映现实生活体验的游戏活动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，也不涉及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按照故事中的角色扮演游戏活动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，不符合任何一个定义，排除；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项：小刚和朋友把家里的水果和蔬菜贴上标签，说明是在假想的情景中，扮演超市收银员是表现和反映现实生活体验的游戏活动，符合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幼儿与伙伴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在假想的情景中表现和反映现实生活体验的游戏活动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项：小林和几个同学分别扮演森林中的动物，一起创编新版丑小鸭的故事，不涉及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现实生活体验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，属于根据现有故事开展角色扮演游戏活动，符合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表演游戏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社会性扮演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项：小明将自己的玩具汽车摆成长长的队伍，独自逐一为这些汽车加油，不涉及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幼儿与伙伴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按照故事中的角色扮演游戏活动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，不符合任何一个定义，排除。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年某高校讲师数量与该校教师总人数之比，符合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项：某地区</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年男性新生儿与女性新生儿数量之比，其中女性新生儿数量并非</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年新生儿总量，不符合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项：某地</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年末职工人数与</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年末职工人数之比，其中</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年末职工人数并非某地</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年末职工人数的一部分，不符合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2023</a:t>
            </a:r>
            <a:r>
              <a:rPr lang="zh-CN" altLang="en-US" sz="1200" kern="1200" dirty="0">
                <a:solidFill>
                  <a:schemeClr val="tx1"/>
                </a:solidFill>
                <a:effectLst/>
                <a:latin typeface="+mn-lt"/>
                <a:sym typeface="楷体" panose="02010609060101010101" charset="-122"/>
              </a:rPr>
              <a:t>年甲地人均粮食产量与乙地人均粮食产量之比，其中</a:t>
            </a:r>
            <a:r>
              <a:rPr lang="en-US" altLang="zh-CN" sz="1200" kern="1200" dirty="0">
                <a:solidFill>
                  <a:schemeClr val="tx1"/>
                </a:solidFill>
                <a:effectLst/>
                <a:latin typeface="+mn-lt"/>
                <a:sym typeface="楷体" panose="02010609060101010101" charset="-122"/>
              </a:rPr>
              <a:t>2023</a:t>
            </a:r>
            <a:r>
              <a:rPr lang="zh-CN" altLang="en-US" sz="1200" kern="1200" dirty="0">
                <a:solidFill>
                  <a:schemeClr val="tx1"/>
                </a:solidFill>
                <a:effectLst/>
                <a:latin typeface="+mn-lt"/>
                <a:sym typeface="楷体" panose="02010609060101010101" charset="-122"/>
              </a:rPr>
              <a:t>年甲地人均粮食产量并非乙地人均粮食产量的一部分，不符合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解析：本题属于定义判断。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由常用词构成，不直接涉及商品种类、成分，功能等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以隐喻，暗示的手法提示商品的属性或某一特点，创造出一种能与该商品发生联系的想象空间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项：野豹（汽车），暗示该品牌汽车的灵活机动，奔跑速度快，符合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由常用词构成，不直接涉及商品种类、成分，功能等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以隐喻，暗示的手法提示商品的属性或某一特点，创造出一种能与该商品发生联系的想象空间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项：美木（家具），其中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是家具的常用原材料，不符合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由常用词构成，不直接涉及商品种类、成分，功能等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项：白兔（洗衣粉），暗示该品牌洗衣服的去渍效果很好，符合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由常用词构成，不直接涉及商品种类、成分，功能等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以隐喻，暗示的手法提示商品的属性或某一特点，创造出一种能与该商品发生联系的想象空间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项：万年新（电器），暗示该品牌电器经久耐用，符合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由常用词构成，不直接涉及商品种类、成分，功能等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以隐喻，暗示的手法提示商品的属性或某一特点，创造出一种能与该商品发生联系的想象空间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岁以上的人群</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已完成</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剂次的灭活疫苗全程接种，序贯加强免疫接种间隔不能短于</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个月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尚未进行第</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剂次的序贯加强免疫接种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项，小马已经完成接种</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剂次腺病毒载体疫苗，腺病毒载体疫苗并非灭活疫苗，不符合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已完成</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剂次的灭活疫苗全程接种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项，小刘</a:t>
            </a:r>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岁，符合</a:t>
            </a:r>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岁以上的人群</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个月前已完成接种</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剂次灭活疫苗，符合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已完成</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剂次的灭活疫苗全程接种，序贯加强免疫接种间隔不能短于</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个月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尚未进行第</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剂次的序贯加强免疫接种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项，小陈已完成接种重组蛋白疫苗序贯加强免疫，不符合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尚未进行第</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剂次的序贯加强免疫接种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项，小王</a:t>
            </a:r>
            <a:r>
              <a:rPr lang="en-US" altLang="zh-CN" sz="1200" kern="1200" dirty="0">
                <a:solidFill>
                  <a:schemeClr val="tx1"/>
                </a:solidFill>
                <a:effectLst/>
                <a:latin typeface="+mn-lt"/>
                <a:sym typeface="楷体" panose="02010609060101010101" charset="-122"/>
              </a:rPr>
              <a:t>16</a:t>
            </a:r>
            <a:r>
              <a:rPr lang="zh-CN" altLang="en-US" sz="1200" kern="1200" dirty="0">
                <a:solidFill>
                  <a:schemeClr val="tx1"/>
                </a:solidFill>
                <a:effectLst/>
                <a:latin typeface="+mn-lt"/>
                <a:sym typeface="楷体" panose="02010609060101010101" charset="-122"/>
              </a:rPr>
              <a:t>岁，不符合</a:t>
            </a:r>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岁以上的人群</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项：记者以旅客身份体验首班赣深高铁，但通过官媒网络直播的方式说明记者并未隐藏自己的身份，不符合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项：记者以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文物贩子</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的身份与盗墓者接触，符合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，记者拍下了文物交易的全过程，符合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项：记者以消费者身份在某制假售假的药店购买了药品，符合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，记者将假药送往专业机构检验，符合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项：记者以游客身份报名参加了一个旅游团，符合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，记者揭露了该旅游团强制消费的内幕，符合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解析：本题属于定义判断。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好不容易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的否定表达是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好容易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，二者的意思都是很难、很不容易，意思相同，符合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的否定表达是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，二者的意思都是战胜、使失败，即中国队胜利，越南队失败，意思相同，符合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聪明得过了头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通常指聪明反被聪明误、假聪明，即愚蠢，其否定表达应是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聪明得没过头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，二者的意思不相同，不符合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真了不得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的否定表达是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真了得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，二者的意思都是很了不起、很厉害，意思相同，符合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项：该选项的目的是了解产品满意度并优化产品，不符合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项：投放即将上映的电影预告片是通过宣传片的方式为电影做宣传，符合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项：网站弹出广告或展示移动的横幅广告是为了推广商品，符合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项：其他品牌商在电商平台上借机宣传自身品牌，符合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反映季节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第二类：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反映气候特征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第三类：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反映物候现象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指炎热之极，反映的是气候特征，不符合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反映季节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，属于第二类，不属于第一类，分类不准确，排除；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指炎热之极，反映的是气候特征，不符合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反映季节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，属于第二类，不属于第一类，分类不准确，排除；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指炎热之极，反映的是气候特征，不符合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反映季节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，属于第二类，不属于第一类，分类不准确，排除；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立春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秋分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中春、秋对应季节，符合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反映季节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，属于第一类；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指炎热之极，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谷雨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取自</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雨生百谷</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之意，反映降水现象，符合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反映气候特征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，属于第二类；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芒种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指此时适合种植有芒的谷类作物，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惊蛰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指此时春雷始鸣，惊醒蛰伏于地下越冬的蛰虫，符合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反映物候现象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，属于第三类，分类准确，当选。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耳塞是指小型受话器或单指可以塞在耳中的塞子，笔套是指笔帽或用线、丝织成或用笔做成的套笔的东西，耳塞是用于耳朵的塞子，笔套是用于笔的套，二者均是根据物品与其作用的对象进行命名的，同时将每个词语两个字调换位置即为该事物的功能。</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手铐是指国家专政机关使用的一种戒具，灯罩是指设在灯焰外围或灯泡上用以聚光或防风雨的罩儿，手铐作用于手，灯罩作用于灯泡，二者均是根据物品与其作用的对象进行命名的，同时将每个词语两个字调换位置即为该事物的功能，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盖头指旧式婚礼新娘蒙在头上遮住脸的红绸布，盖头作用于头部，是根据物品与其作用的对象进行命名的，但花托指花梗顶端的膨大部分，不是根据物品与其作用的对象进行命名的，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项：窗栏是指窗户上的栏杆，窗栏用于窗户，是根据物品与其作用的对象进行命名的，门禁是指门的禁止权限，是对门的戒备防范，不是根据物品与其作用的对象进行命名的，与题干逻辑关系不一致，排除；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脚镯是佩戴于脚踝处的装饰品，脚镯作用于脚腕，烟匣是指装香烟或烟丝的盒子，烟匣作用于烟，二者均是根据物品与其作用的对象进行命名的，但将每个词语两个字调换位置并不是该事物的功能，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解析：本题属于语义类，主要考查象征义关系。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柳烟是指柳树枝叶茂密似笼烟雾，云海是指从高处向下望时，像大海一样的云，二者无明显逻辑关系，考虑拆词，柳像烟一样，云像海一样，二者均为比喻象征关系。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项：书山是指书多的像山一样，书像山一样，为比喻象征关系；犬子是谦称自己的儿子或对别人儿子的鄙称，不是比喻象征关系，与题干逻辑关系不一致，排除；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项：天雷是指雷电，是一种自然现象；怒火比喻强烈的愤怒，怒是气势盛的意思，用来修饰火，两者均不是比喻象征关系，与题干逻辑关系不一致，排除；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霜剑指白亮锐利的剑，剑像霜一样，为比喻象征关系，但两字的顺序与题干相反，霜剑也可以比喻霜像剑一样摧残草木的肃杀之性，为比喻象征关系，但玉液指美酒或甘美的浆汁，为偏正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项：麦浪是指麦子像波浪般起伏的样子，麦像浪一样；花雨指落花如雨，花像雨一样，二者均为比喻象征关系，与题干逻辑关系一致，当选。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解析：本题属于映射类，主要考查功能对应关系。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书法展的功能是展示书法作品，二者为功能的对应关系。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项：九连环是中国传统民间智力玩具，以金属丝制成</a:t>
            </a:r>
            <a:r>
              <a:rPr lang="en-US" altLang="zh-CN" sz="1200" kern="1200" dirty="0">
                <a:solidFill>
                  <a:schemeClr val="tx1"/>
                </a:solidFill>
                <a:effectLst/>
                <a:latin typeface="+mn-lt"/>
                <a:sym typeface="楷体" panose="02010609060101010101" charset="-122"/>
              </a:rPr>
              <a:t>9</a:t>
            </a:r>
            <a:r>
              <a:rPr lang="zh-CN" altLang="en-US" sz="1200" kern="1200" dirty="0">
                <a:solidFill>
                  <a:schemeClr val="tx1"/>
                </a:solidFill>
                <a:effectLst/>
                <a:latin typeface="+mn-lt"/>
                <a:sym typeface="楷体" panose="02010609060101010101" charset="-122"/>
              </a:rPr>
              <a:t>个圆环，将圆环套装在横板或各式框架上，并贯以环柄。九连环的特点是环九连，二者为属性的对应关系，与题干逻辑关系不一致，排除；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项：黑板擦的功能是擦黑板，二者为功能的对应关系，与题干逻辑关系一致，当选；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项：空降兵是以伞降或机降方式投入地面作战的兵种，它的特点是兵空降，二者为属性的对应关系，与题干逻辑关系不一致，排除；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项：自行车需要人以脚踩踏板为动力前进，与车自行无明显逻辑关系，与题干逻辑关系不一致，排除。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解析：本题属于集合类，主要考查并列关系。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崇仁爱和守诚信是两种不同的传统美德，二者为并列关系。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项：尚和合和求大同是两种不同的传统美德，二者为并列关系，与题干逻辑关系一致，保留；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项：带头拼和加油干是两种不同的奋斗精神，二者为并列关系，与题干逻辑关系一致，保留；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项：动真情和办实事是两种不同的工作态度，二者为并列关系，与题干逻辑关系一致，保留；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项：兴产业是为了强经济，二者为方式目的的对应关系，与题干逻辑关系不一致，排除。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对比题干和</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项，崇仁爱、守诚信、尚和合、求大同均为动宾关系，且均是儒家文化中的核心价值观，而带头拼和加油干为偏正关系，且带头拼、加油干、动真情、办实事是对于广大党员干部服务群众的要求，</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项与题干更一致。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解析：本题属于语法类，主要考查偏正关系。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明争暗斗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指的是表面上和暗地里都在进行争斗，和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争斗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暗斗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为并列关系，并且均为偏正关系，争斗为动词。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莺歌燕舞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指的是黄莺在歌唱，小燕子在飞舞，和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歌舞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莺歌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燕舞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为并列关系，但两者均为主谓关系，且歌舞为名词，与题干逻辑关系不一致，排除；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上天入地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指的是升上天空，钻入地下，和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天地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入地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为并列关系，但两者均为动宾关系，且天地为名词，与题干逻辑关系不一致，排除；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东张西望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指的是形容这里那里地到处看，和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张望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东张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西望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为并列关系，并且两者均为偏正关系，张望为动词，与题干逻辑关系一致，当选；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以卵击石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指的是拿蛋去碰石头，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击石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不是并列关系，与题干逻辑关系不一致，排除。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解析：本题属于语义类，主要考查反义关系。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杂乱形容东西多而繁杂，凌乱不堪。井井有条形容整齐不乱，条理分明。二者为反义关系。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项：熟练指对技术精通而有经验，熟知并做来顺手。手到擒来原指作战一下子就能把敌人捉拿过来，后比喻做事有把握，不费力就做好了。二者为近义关系，与题干逻辑关系不一致，排除；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项：专一指一个人对事物和感情的一心一意。见异思迁意思是看到别的事物就想改变原来的主意；指主意不坚定，喜爱不专一。二者为反义关系，与题干逻辑关系一致，当选；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项：傲慢意思是看不起人，对人怠慢没有礼貌。颐指气使形容有权势的人指挥别人的傲慢态度。二者为近义关系，与题干逻辑关系不一致，排除；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项：犹豫指迟疑，不果断，缺少主见，对事难以做决定。一针见血比喻说话、做文章直截、简短而切中要害。二者无明显逻辑关系，与题干逻辑关系不一致，排除。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解析：本题属于映射类，主要考查地点和功能对应关系。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报社是生产报纸的地点，二者为地点产出物的对应关系；报纸具有传播功能，二者为功能对应关系。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项：高管是公司的一员，二者不是地点产出物的对应关系；高管可以获得分红，二者不是功能对应关系，与题干逻辑关系不一致，排除；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项：军营是军人居住和训练的地方，二者为地点对应关系，与题干逻辑关系不一致，排除；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项：春联贴在房门上，二者为地点的对应关系，与题干逻辑关系不一致，排除；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项：剧团是创作戏剧的地点，二者为地点产出物的对应关系；戏剧具有娱乐的功能，二者为功能对应关系，与题干逻辑关系一致，当选。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解决社会中沉疴顽疾的方法是变革，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沉疴顽疾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变革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是问题与解决手段的对应关系。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项：克服是面对生活中艰难困苦的态度，而不是解决方法，与题干逻辑关系不一致，排除；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项：良政善治是管理中的优点，而不是问题，与题干逻辑关系不一致，排除；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项：解决研究中停滞不前的方法应该是钻研，而不是投资，与题干逻辑关系不一致，排除；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项：解决规制中繁文缛节的方法是精简，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繁文缛节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精简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是问题与解决手段的对应关系，与题干逻辑关系一致，当选。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解析：本题属于映射类，主要考查成分对应关系。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项：陨石内含有矿物，二者为成分对应，饮料里有水，二者为成分对应，前后逻辑关系一致，当选；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流星是指运行在星际空间的流星体（通常包括宇宙尘埃和固体块等空间物质）接近地球时被地球引力吸引，在高速穿越地球大气层时发生电子跃迁所产生的光迹。体积较大的流星体在进入大气层时来不及全部烧为灰烬，剩余的部分就会降落到地面，成为陨石，陨石是流星，二者为种属关系，汽水是饮料，二者为种属关系，前后逻辑关系一致，但顺序反了，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项：鹅卵石是经历山洪冲击、流水搬运过程中不断的挤压、摩擦后状似鹅卵的天然石材，与陨石无明显逻辑关系；饮料是液体，二者为种属关系，前后逻辑关系不一致，排除；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项：陨石在外太空移动，二者为地点对应，易拉罐是饮料的包装形式，二者为包装对应，前后逻辑关系不一致，排除。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解析：本题属于集合类，主要考查种属关系。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项：三星堆青铜树是青铜器，二者为种属关系，儒家学说是一种思想体系，而不是一种典籍，前后逻辑关系不一致，排除；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项：三星堆青铜树产自古蜀国，二者为地点对应关系，有的典籍是春秋时期撰写的，二者为时间对应关系，前后逻辑关系不一致，排除；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项：三星堆青铜树是殷商文化的代表，二者为对应关系，关雎是《诗经》中的一首诗，与典籍无明显逻辑关系，前后逻辑关系不一致，排除；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项：三星堆青铜树是国家文物，二者为种属关系，《诗经》是典籍，二者为种属关系，前后逻辑关系一致，当选。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解析：本题属于翻译推理。</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吸纳优质的要素资源流入我国市场促进高水平的对外开放且保持外贸规模稳定；</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经济结构顺利转型升级促进高水平的对外开放且保持外贸规模稳定；</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国内经济实现高质量发展经济结构顺利转型升级；</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经济结构顺利转型升级发展数字经济；</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串联</a:t>
            </a:r>
            <a:r>
              <a:rPr lang="en-US" altLang="en-US" sz="1200" kern="1200" dirty="0">
                <a:solidFill>
                  <a:schemeClr val="tx1"/>
                </a:solidFill>
                <a:effectLst/>
                <a:latin typeface="+mn-lt"/>
                <a:sym typeface="楷体" panose="02010609060101010101" charset="-122"/>
              </a:rPr>
              <a:t>②③</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国内经济实现高质量发展经济结构顺利转型升级促进高水平的对外开放且保持外贸规模稳定；</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串联</a:t>
            </a:r>
            <a:r>
              <a:rPr lang="en-US" altLang="en-US" sz="1200" kern="1200" dirty="0">
                <a:solidFill>
                  <a:schemeClr val="tx1"/>
                </a:solidFill>
                <a:effectLst/>
                <a:latin typeface="+mn-lt"/>
                <a:sym typeface="楷体" panose="02010609060101010101" charset="-122"/>
              </a:rPr>
              <a:t>③④</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国内经济实现高质量发展经济结构顺利转型升级发展数字经济。</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项：翻译为：经济结构顺利转型升级国内经济就能实现高质量发展，是对</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的肯后，肯后无必然结论，无法推出，排除；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项：翻译为：打造均衡普惠的区域经济合作架构发展数字经济，题干不涉及二者之间的关系，无法推出，排除；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项：翻译为：国内经济实现高质量发展我国外贸规模保持稳定，国内经济实现高质量发展是对</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的肯前，肯前必肯后，可推出促进高水平的对外开放且保持外贸规模稳定，进而可推出保持外贸规模稳定，当选；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项：翻译为：未能吸纳优质的要素资源流入我国市场没有促进高水平的对外开放，是对</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的否前，否前无必然结论，无法推出，排除。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解析：本题属于归纳类，主要考查可以推出。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项：题干指出留恋校园生活以及想在学术上继续深造的考生占比分别超过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，这二者可以完全重叠，故无法得到有些留恋校园生活的考生不想在学术上继续深造，无法推出，排除；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项：题干指出留恋校园生活的考生占比超过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，想增强就业的考生占比超过</a:t>
            </a:r>
            <a:r>
              <a:rPr lang="en-US" altLang="zh-CN" sz="1200" kern="1200" dirty="0">
                <a:solidFill>
                  <a:schemeClr val="tx1"/>
                </a:solidFill>
                <a:effectLst/>
                <a:latin typeface="+mn-lt"/>
                <a:sym typeface="楷体" panose="02010609060101010101" charset="-122"/>
              </a:rPr>
              <a:t>60%</a:t>
            </a:r>
            <a:r>
              <a:rPr lang="zh-CN" altLang="en-US" sz="1200" kern="1200" dirty="0">
                <a:solidFill>
                  <a:schemeClr val="tx1"/>
                </a:solidFill>
                <a:effectLst/>
                <a:latin typeface="+mn-lt"/>
                <a:sym typeface="楷体" panose="02010609060101010101" charset="-122"/>
              </a:rPr>
              <a:t>，留恋校园生活的考生可以完全被包含在想增强就业的考生中，故无法得到有些留恋校园生活的考生没有考虑到增强就业竞争力，无法推出，排除；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题干指出为了完善自身知识结构或提高文化素养的考生占比接近五成即不是为了完善自身知识结构和提高文化素养的考生占比超过五成，且为了增强就业竞争力的考生占比超过六成，则不是为了提高文化素养的考生占比及为了增强就业竞争力的考生占比之和超过</a:t>
            </a:r>
            <a:r>
              <a:rPr lang="en-US" altLang="zh-CN" sz="1200" kern="1200" dirty="0">
                <a:solidFill>
                  <a:schemeClr val="tx1"/>
                </a:solidFill>
                <a:effectLst/>
                <a:latin typeface="+mn-lt"/>
                <a:sym typeface="楷体" panose="02010609060101010101" charset="-122"/>
              </a:rPr>
              <a:t>100%</a:t>
            </a:r>
            <a:r>
              <a:rPr lang="zh-CN" altLang="en-US" sz="1200" kern="1200" dirty="0">
                <a:solidFill>
                  <a:schemeClr val="tx1"/>
                </a:solidFill>
                <a:effectLst/>
                <a:latin typeface="+mn-lt"/>
                <a:sym typeface="楷体" panose="02010609060101010101" charset="-122"/>
              </a:rPr>
              <a:t>，可得二者存在重合，必然有些考生不是为了提高文化素养的同时为了增强就业竞争力，可以推出，当选；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项：题干指出为了完善自身知识结构或提高文化素养的考生占比接近五成，想在学术上继续深造的考生占比超过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，这二者相加不到</a:t>
            </a:r>
            <a:r>
              <a:rPr lang="en-US" altLang="zh-CN" sz="1200" kern="1200" dirty="0">
                <a:solidFill>
                  <a:schemeClr val="tx1"/>
                </a:solidFill>
                <a:effectLst/>
                <a:latin typeface="+mn-lt"/>
                <a:sym typeface="楷体" panose="02010609060101010101" charset="-122"/>
              </a:rPr>
              <a:t>100%</a:t>
            </a:r>
            <a:r>
              <a:rPr lang="zh-CN" altLang="en-US" sz="1200" kern="1200" dirty="0">
                <a:solidFill>
                  <a:schemeClr val="tx1"/>
                </a:solidFill>
                <a:effectLst/>
                <a:latin typeface="+mn-lt"/>
                <a:sym typeface="楷体" panose="02010609060101010101" charset="-122"/>
              </a:rPr>
              <a:t>，所以可以完全不重合，故无法得出有些考生不仅为了完善自身知识结构，而且想在学术上继续深造，无法推出，排除。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并不能有效驱蚊。</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项：该项说明蚊子未必不喜欢人觉得难闻的味道，但蚊子是否喜欢维生素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的味道不确定，为不明确项，不能支持，排除；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特别不稳定，喷在身上很快就挥发了，因此完全无法驱蚊，为加强项，保留；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项：该项说明有不少媒体指出维生素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无法驱蚊，但媒体的说法是否正确不确定，为不明确项，不能支持，排除；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的味道至多能干扰蚊子的感官系统，只是暂时性地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迷惑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蚊子，使其不能迅速找到人，说明维生素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无法达到最终驱蚊的目的，为加强项，保留。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对比</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项直接说明维生素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特别不稳定，根本无法达到驱蚊效果，而</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是能暂时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迷惑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蚊子的，只是无法长时间有效。因此，</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项加强力度更强，对比择优选择</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甲或乙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乙且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甲</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甲且乙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要么甲且乙，要么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甲且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由提问可知，本题为真假推理。先找矛盾关系和反对关系，但题干无矛盾关系和反对关系，所以考虑假设法。</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假设一：甲、乙均进决赛，则条件</a:t>
            </a:r>
            <a:r>
              <a:rPr lang="en-US" altLang="en-US" sz="1200" kern="1200" dirty="0">
                <a:solidFill>
                  <a:schemeClr val="tx1"/>
                </a:solidFill>
                <a:effectLst/>
                <a:latin typeface="+mn-lt"/>
                <a:sym typeface="楷体" panose="02010609060101010101" charset="-122"/>
              </a:rPr>
              <a:t>①③④</a:t>
            </a:r>
            <a:r>
              <a:rPr lang="zh-CN" altLang="en-US" sz="1200" kern="1200" dirty="0">
                <a:solidFill>
                  <a:schemeClr val="tx1"/>
                </a:solidFill>
                <a:effectLst/>
                <a:latin typeface="+mn-lt"/>
                <a:sym typeface="楷体" panose="02010609060101010101" charset="-122"/>
              </a:rPr>
              <a:t>均为真，与题干两真两假条件不符；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假设二：甲、乙均不进决赛，仅条件</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为真，与题干两真两假条件不符；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假设三：甲进、乙不进，仅条件</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为真，与题干两真两假条件不符；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假设四：乙进、甲不进，则条件</a:t>
            </a:r>
            <a:r>
              <a:rPr lang="en-US" altLang="en-US" sz="1200" kern="1200" dirty="0">
                <a:solidFill>
                  <a:schemeClr val="tx1"/>
                </a:solidFill>
                <a:effectLst/>
                <a:latin typeface="+mn-lt"/>
                <a:sym typeface="楷体" panose="02010609060101010101" charset="-122"/>
              </a:rPr>
              <a:t>①②</a:t>
            </a:r>
            <a:r>
              <a:rPr lang="zh-CN" altLang="en-US" sz="1200" kern="1200" dirty="0">
                <a:solidFill>
                  <a:schemeClr val="tx1"/>
                </a:solidFill>
                <a:effectLst/>
                <a:latin typeface="+mn-lt"/>
                <a:sym typeface="楷体" panose="02010609060101010101" charset="-122"/>
              </a:rPr>
              <a:t>为真，</a:t>
            </a:r>
            <a:r>
              <a:rPr lang="en-US" altLang="en-US" sz="1200" kern="1200" dirty="0">
                <a:solidFill>
                  <a:schemeClr val="tx1"/>
                </a:solidFill>
                <a:effectLst/>
                <a:latin typeface="+mn-lt"/>
                <a:sym typeface="楷体" panose="02010609060101010101" charset="-122"/>
              </a:rPr>
              <a:t>③④</a:t>
            </a:r>
            <a:r>
              <a:rPr lang="zh-CN" altLang="en-US" sz="1200" kern="1200" dirty="0">
                <a:solidFill>
                  <a:schemeClr val="tx1"/>
                </a:solidFill>
                <a:effectLst/>
                <a:latin typeface="+mn-lt"/>
                <a:sym typeface="楷体" panose="02010609060101010101" charset="-122"/>
              </a:rPr>
              <a:t>为假，符合题干两真两假的要求。</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所以宋、王预测正确，甲不进决赛，乙进决赛，只有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30.</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根据最大信息法，题干中出现次数最多的是丁。由（</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）可知，甲、乙、戊三人的左边均不是丁，所以丙的左边是丁，结合（</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）丁的左边不是戊，故丁的左边可能是甲或乙。假设丁的左边</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号位是甲，根据（</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）甲的左边不是乙，所以</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号位不是乙，只能</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号位是乙，此时和条件（</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）冲突，则丁的左边</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号位是乙。根据（</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）乙的左边不是丙或丁，所以</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号位可能是戊或甲，当</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号位是戊时，</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号位是甲，此时戊左边相邻的是甲，与条件（</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）冲突，故</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号位是甲，</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号位是戊，如下图所示：</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论点：动物不能拥有权利。</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论据：动物自身无法行使这些权利。猪不能亲自作为原告，猿也无法在法庭上表达意愿。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论据讨论的是动物不能行使权利，论点讨论的是动物不能拥有权利，论点论据话题不一致，加强优先考虑搭桥。</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项：该项指出动物只能拥有自身能够行使的权利，即如果不能行使权利，就不能拥有权利，在论据与论点之间建立了联系，为搭桥项，可以加强，当选；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项：该项可以翻译为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动物能够行使权利</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动物应拥有权利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动物不应拥有权利</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动物不能行使权利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，在论点与论据间建立了联系，但是搭桥方向是从论点搭向论据，搭桥方向反了，无法加强，排除；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项：该项指出不能履行相关义务，自然就不可能享有相应的权利，但并不清楚动物是否可以履行相关义务，为不明确项，无法加强，排除；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项：该项指出动物只有拥有被保护的权利，人类才能履行保护动物的义务，为条件关系，与动物能否拥有权利无关，无关项，排除。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论点：动物不能拥有权利</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论据：动物自身无法行使这些权利。猪不能亲自作为原告，猿也无法在法庭上表达意愿。</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项：该项指出人类的法律惩罚体系有些并不适用于猿猴等动物，但惩罚体系是否适用于动物与动物能否拥有权利无关，为无关项，无法削弱，当选；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项：该项指出黑猩猩等动物可以通过手语向人类表达自己的意愿，削弱论据，可以削弱，排除；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项：该项指出植物人具有可行使的权利，尽管其自身无法行使这些权利，通过植物人的例子说明即使无法行使权利也可以拥有权利，切断了论据与论点之间的联系，为拆桥项，可以削弱，排除；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项：该项提出应当赋予动物相应的权利，削弱论点，可以削弱，排除。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已成为民宿经营收益的主要贡献者。</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论据：以往的民宿消费群体，主要以</a:t>
            </a:r>
            <a:r>
              <a:rPr lang="en-US" altLang="zh-CN" sz="1200" kern="1200" dirty="0">
                <a:solidFill>
                  <a:schemeClr val="tx1"/>
                </a:solidFill>
                <a:effectLst/>
                <a:latin typeface="+mn-lt"/>
                <a:sym typeface="楷体" panose="02010609060101010101" charset="-122"/>
              </a:rPr>
              <a:t>80</a:t>
            </a:r>
            <a:r>
              <a:rPr lang="zh-CN" altLang="en-US" sz="1200" kern="1200" dirty="0">
                <a:solidFill>
                  <a:schemeClr val="tx1"/>
                </a:solidFill>
                <a:effectLst/>
                <a:latin typeface="+mn-lt"/>
                <a:sym typeface="楷体" panose="02010609060101010101" charset="-122"/>
              </a:rPr>
              <a:t>后、</a:t>
            </a:r>
            <a:r>
              <a:rPr lang="en-US" altLang="zh-CN" sz="1200" kern="1200" dirty="0">
                <a:solidFill>
                  <a:schemeClr val="tx1"/>
                </a:solidFill>
                <a:effectLst/>
                <a:latin typeface="+mn-lt"/>
                <a:sym typeface="楷体" panose="02010609060101010101" charset="-122"/>
              </a:rPr>
              <a:t>90</a:t>
            </a:r>
            <a:r>
              <a:rPr lang="zh-CN" altLang="en-US" sz="1200" kern="1200" dirty="0">
                <a:solidFill>
                  <a:schemeClr val="tx1"/>
                </a:solidFill>
                <a:effectLst/>
                <a:latin typeface="+mn-lt"/>
                <a:sym typeface="楷体" panose="02010609060101010101" charset="-122"/>
              </a:rPr>
              <a:t>初人群为主，占据总人数的</a:t>
            </a:r>
            <a:r>
              <a:rPr lang="en-US" altLang="zh-CN" sz="1200" kern="1200" dirty="0">
                <a:solidFill>
                  <a:schemeClr val="tx1"/>
                </a:solidFill>
                <a:effectLst/>
                <a:latin typeface="+mn-lt"/>
                <a:sym typeface="楷体" panose="02010609060101010101" charset="-122"/>
              </a:rPr>
              <a:t>50%</a:t>
            </a:r>
            <a:r>
              <a:rPr lang="zh-CN" altLang="en-US" sz="1200" kern="1200" dirty="0">
                <a:solidFill>
                  <a:schemeClr val="tx1"/>
                </a:solidFill>
                <a:effectLst/>
                <a:latin typeface="+mn-lt"/>
                <a:sym typeface="楷体" panose="02010609060101010101" charset="-122"/>
              </a:rPr>
              <a:t>以上，但在今年元旦假期中，</a:t>
            </a:r>
            <a:r>
              <a:rPr lang="en-US" altLang="zh-CN" sz="1200" kern="1200" dirty="0">
                <a:solidFill>
                  <a:schemeClr val="tx1"/>
                </a:solidFill>
                <a:effectLst/>
                <a:latin typeface="+mn-lt"/>
                <a:sym typeface="楷体" panose="02010609060101010101" charset="-122"/>
              </a:rPr>
              <a:t>95</a:t>
            </a:r>
            <a:r>
              <a:rPr lang="zh-CN" altLang="en-US" sz="1200" kern="1200" dirty="0">
                <a:solidFill>
                  <a:schemeClr val="tx1"/>
                </a:solidFill>
                <a:effectLst/>
                <a:latin typeface="+mn-lt"/>
                <a:sym typeface="楷体" panose="02010609060101010101" charset="-122"/>
              </a:rPr>
              <a:t>后及</a:t>
            </a:r>
            <a:r>
              <a:rPr lang="en-US" altLang="zh-CN" sz="1200" kern="1200" dirty="0">
                <a:solidFill>
                  <a:schemeClr val="tx1"/>
                </a:solidFill>
                <a:effectLst/>
                <a:latin typeface="+mn-lt"/>
                <a:sym typeface="楷体" panose="02010609060101010101" charset="-122"/>
              </a:rPr>
              <a:t>00</a:t>
            </a:r>
            <a:r>
              <a:rPr lang="zh-CN" altLang="en-US" sz="1200" kern="1200" dirty="0">
                <a:solidFill>
                  <a:schemeClr val="tx1"/>
                </a:solidFill>
                <a:effectLst/>
                <a:latin typeface="+mn-lt"/>
                <a:sym typeface="楷体" panose="02010609060101010101" charset="-122"/>
              </a:rPr>
              <a:t>后的</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年轻用户群体迅速崛起，占据总人数的</a:t>
            </a:r>
            <a:r>
              <a:rPr lang="en-US" altLang="zh-CN" sz="1200" kern="1200" dirty="0">
                <a:solidFill>
                  <a:schemeClr val="tx1"/>
                </a:solidFill>
                <a:effectLst/>
                <a:latin typeface="+mn-lt"/>
                <a:sym typeface="楷体" panose="02010609060101010101" charset="-122"/>
              </a:rPr>
              <a:t>67%</a:t>
            </a:r>
            <a:r>
              <a:rPr lang="zh-CN" altLang="en-US" sz="1200" kern="1200" dirty="0">
                <a:solidFill>
                  <a:schemeClr val="tx1"/>
                </a:solidFill>
                <a:effectLst/>
                <a:latin typeface="+mn-lt"/>
                <a:sym typeface="楷体" panose="02010609060101010101" charset="-122"/>
              </a:rPr>
              <a:t>以上。与此同时，民宿经营收益达到去年元旦假期的</a:t>
            </a:r>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项，题干只给出</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人数占比</a:t>
            </a:r>
            <a:r>
              <a:rPr lang="en-US" altLang="zh-CN" sz="1200" kern="1200" dirty="0">
                <a:solidFill>
                  <a:schemeClr val="tx1"/>
                </a:solidFill>
                <a:effectLst/>
                <a:latin typeface="+mn-lt"/>
                <a:sym typeface="楷体" panose="02010609060101010101" charset="-122"/>
              </a:rPr>
              <a:t>67%</a:t>
            </a:r>
            <a:r>
              <a:rPr lang="zh-CN" altLang="en-US" sz="1200" kern="1200" dirty="0">
                <a:solidFill>
                  <a:schemeClr val="tx1"/>
                </a:solidFill>
                <a:effectLst/>
                <a:latin typeface="+mn-lt"/>
                <a:sym typeface="楷体" panose="02010609060101010101" charset="-122"/>
              </a:rPr>
              <a:t>，未给出</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贡献的收益占比，而收益占比才是决定哪些人群是收益主要贡献者的关键因素，忽略了收益占比对结论有效性的影响，评价恰当，当选；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项，题干只是通过</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人数占比</a:t>
            </a:r>
            <a:r>
              <a:rPr lang="en-US" altLang="zh-CN" sz="1200" kern="1200" dirty="0">
                <a:solidFill>
                  <a:schemeClr val="tx1"/>
                </a:solidFill>
                <a:effectLst/>
                <a:latin typeface="+mn-lt"/>
                <a:sym typeface="楷体" panose="02010609060101010101" charset="-122"/>
              </a:rPr>
              <a:t>67%</a:t>
            </a:r>
            <a:r>
              <a:rPr lang="zh-CN" altLang="en-US" sz="1200" kern="1200" dirty="0">
                <a:solidFill>
                  <a:schemeClr val="tx1"/>
                </a:solidFill>
                <a:effectLst/>
                <a:latin typeface="+mn-lt"/>
                <a:sym typeface="楷体" panose="02010609060101010101" charset="-122"/>
              </a:rPr>
              <a:t>得出</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已成为民宿经营收益的主要贡献者，题干未涉及个体属性问题，评价不恰当，排除；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项，题干只是通过</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人数占比</a:t>
            </a:r>
            <a:r>
              <a:rPr lang="en-US" altLang="zh-CN" sz="1200" kern="1200" dirty="0">
                <a:solidFill>
                  <a:schemeClr val="tx1"/>
                </a:solidFill>
                <a:effectLst/>
                <a:latin typeface="+mn-lt"/>
                <a:sym typeface="楷体" panose="02010609060101010101" charset="-122"/>
              </a:rPr>
              <a:t>67%</a:t>
            </a:r>
            <a:r>
              <a:rPr lang="zh-CN" altLang="en-US" sz="1200" kern="1200" dirty="0">
                <a:solidFill>
                  <a:schemeClr val="tx1"/>
                </a:solidFill>
                <a:effectLst/>
                <a:latin typeface="+mn-lt"/>
                <a:sym typeface="楷体" panose="02010609060101010101" charset="-122"/>
              </a:rPr>
              <a:t>得出</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已成为民宿经营收益的主要贡献者，主体针对的都是</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人群，无需讨论其他群体，评价不恰当，排除；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项，题干只是通过</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人数占比</a:t>
            </a:r>
            <a:r>
              <a:rPr lang="en-US" altLang="zh-CN" sz="1200" kern="1200" dirty="0">
                <a:solidFill>
                  <a:schemeClr val="tx1"/>
                </a:solidFill>
                <a:effectLst/>
                <a:latin typeface="+mn-lt"/>
                <a:sym typeface="楷体" panose="02010609060101010101" charset="-122"/>
              </a:rPr>
              <a:t>67%</a:t>
            </a:r>
            <a:r>
              <a:rPr lang="zh-CN" altLang="en-US" sz="1200" kern="1200" dirty="0">
                <a:solidFill>
                  <a:schemeClr val="tx1"/>
                </a:solidFill>
                <a:effectLst/>
                <a:latin typeface="+mn-lt"/>
                <a:sym typeface="楷体" panose="02010609060101010101" charset="-122"/>
              </a:rPr>
              <a:t>得出</a:t>
            </a:r>
            <a:r>
              <a:rPr lang="en-US" altLang="zh-CN" sz="1200" kern="1200" dirty="0">
                <a:solidFill>
                  <a:schemeClr val="tx1"/>
                </a:solidFill>
                <a:effectLst/>
                <a:latin typeface="+mn-lt"/>
                <a:sym typeface="楷体" panose="02010609060101010101" charset="-122"/>
              </a:rPr>
              <a:t>“Z</a:t>
            </a:r>
            <a:r>
              <a:rPr lang="zh-CN" altLang="en-US" sz="1200" kern="1200" dirty="0">
                <a:solidFill>
                  <a:schemeClr val="tx1"/>
                </a:solidFill>
                <a:effectLst/>
                <a:latin typeface="+mn-lt"/>
                <a:sym typeface="楷体" panose="02010609060101010101" charset="-122"/>
              </a:rPr>
              <a:t>世代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已成为民宿经营收益的主要贡献者，题干未涉及因果联系，评价不恰当，排除。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论点：足不出户在民宿里过个假期成为很多人的选择。</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论据：在民宿预定平台上，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可以做饭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投影设备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等关键词成为搜索量最高的热词。</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论点论据话题不一致，加强优先考虑搭桥，即建立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在民宿预定平台上，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可以做饭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投影设备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足不出户在民宿里过个假期成为很多人的选择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之间的联系。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项，翻译为：通过平台预定</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民宿</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足不出户的消费者，论点未提及</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民宿，话题不一致，无法加强，排除；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项，翻译为：在假期里选择去民宿</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足不出户的消费者，均为论点部分，非搭桥项，无法加强，排除；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项，翻译为：需要在民宿里做饭和看投影</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足不出户的消费者，建立论据论点联系，且搭桥方向为论据搭向论点，可以加强，当选；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项，翻译为：在假期里选择民宿</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喜欢做饭和看投影的消费者，建立论据论点联系，但是搭桥方向为论点搭向论据，方向反了，无法加强，排除。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论点：在不久后到来的春节黄金周期间，郊区度假式民宿要采用低价战略，增加其在价格上的吸引力。</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论据：外地来的游客以市内旅游路线为主，市内旅游点附近民宿订单火爆，郊区度假式民宿遇冷。</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项，如果外地游客不是春节黄金周期间游客的主力军，他们可能不会以市内旅游路线为主，郊区度假式民宿也就不用采用低价战略，增加其在价格上的吸引力，可以影响</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处论证的成立，排除；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项，如果郊区度假式民宿的价格与其提供的服务质量相匹配，郊区度假式民宿采用低价战略，服务质量可能也下降，游客数量可能依然不会多，可以影响</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处论证的成立，排除；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项，如果春节黄金周期间，价格不是影响游客选择民宿时最关心的问题，那么郊区度假式民宿要采用低价战略，依然不会有吸引力，可以影响</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处论证的成立，排除；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项，除了市内旅游点附近民宿和郊区度假式民宿，是否还有其他类型民宿与论点在不久后到来的春节黄金周期间，郊区度假式民宿要采用低价战略，增加其在价格上的吸引力话题不一致，不能影响</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处论证的成立，当选。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2023</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年下半年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A</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2915" y="701675"/>
            <a:ext cx="11230610" cy="5526405"/>
          </a:xfrm>
          <a:prstGeom prst="rect">
            <a:avLst/>
          </a:prstGeom>
          <a:noFill/>
        </p:spPr>
        <p:txBody>
          <a:bodyPr wrap="square" rtlCol="0" anchor="t">
            <a:noAutofit/>
          </a:bodyPr>
          <a:p>
            <a:pPr indent="0" fontAlgn="auto">
              <a:lnSpc>
                <a:spcPct val="150000"/>
              </a:lnSpc>
            </a:pPr>
            <a:r>
              <a:rPr sz="2000" dirty="0">
                <a:cs typeface="楷体" panose="02010609060101010101" charset="-122"/>
              </a:rPr>
              <a:t>从所给的四个选项中，选择最合适的一个填在问号处，使之呈现一定的规律性（）。</a:t>
            </a:r>
            <a:endParaRPr sz="2000" dirty="0">
              <a:cs typeface="楷体" panose="02010609060101010101" charset="-122"/>
            </a:endParaRPr>
          </a:p>
        </p:txBody>
      </p:sp>
      <p:sp>
        <p:nvSpPr>
          <p:cNvPr id="6" name="标题 5"/>
          <p:cNvSpPr>
            <a:spLocks noGrp="1"/>
          </p:cNvSpPr>
          <p:nvPr>
            <p:ph type="title"/>
          </p:nvPr>
        </p:nvSpPr>
        <p:spPr>
          <a:xfrm>
            <a:off x="838200" y="0"/>
            <a:ext cx="10515600" cy="708025"/>
          </a:xfrm>
        </p:spPr>
        <p:txBody>
          <a:bodyPr/>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pic>
        <p:nvPicPr>
          <p:cNvPr id="275" name="图片 183"/>
          <p:cNvPicPr>
            <a:picLocks noChangeAspect="1"/>
          </p:cNvPicPr>
          <p:nvPr/>
        </p:nvPicPr>
        <p:blipFill>
          <a:blip r:embed="rId1"/>
          <a:stretch>
            <a:fillRect/>
          </a:stretch>
        </p:blipFill>
        <p:spPr>
          <a:xfrm>
            <a:off x="1343025" y="1719580"/>
            <a:ext cx="9470390" cy="415480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46790" cy="5526405"/>
          </a:xfrm>
          <a:prstGeom prst="rect">
            <a:avLst/>
          </a:prstGeom>
          <a:noFill/>
        </p:spPr>
        <p:txBody>
          <a:bodyPr wrap="square" rtlCol="0" anchor="t">
            <a:noAutofit/>
          </a:bodyPr>
          <a:p>
            <a:pPr indent="0" fontAlgn="auto">
              <a:lnSpc>
                <a:spcPct val="150000"/>
              </a:lnSpc>
            </a:pPr>
            <a:r>
              <a:rPr sz="2000" dirty="0">
                <a:cs typeface="楷体" panose="02010609060101010101" charset="-122"/>
                <a:sym typeface="+mn-ea"/>
              </a:rPr>
              <a:t>从所给的四个选项中，选择最合适的一个填在问号处，使之呈现一定的规律性（）。</a:t>
            </a:r>
            <a:endParaRPr sz="2000" dirty="0">
              <a:cs typeface="楷体" panose="02010609060101010101" charset="-122"/>
            </a:endParaRPr>
          </a:p>
          <a:p>
            <a:pPr indent="0" fontAlgn="auto">
              <a:lnSpc>
                <a:spcPct val="150000"/>
              </a:lnSpc>
            </a:pPr>
            <a:endParaRPr sz="2000" dirty="0">
              <a:cs typeface="楷体" panose="02010609060101010101" charset="-122"/>
            </a:endParaRPr>
          </a:p>
          <a:p>
            <a:pPr indent="0" fontAlgn="auto">
              <a:lnSpc>
                <a:spcPct val="150000"/>
              </a:lnSpc>
            </a:pPr>
            <a:endParaRPr sz="2000" dirty="0">
              <a:cs typeface="楷体" panose="02010609060101010101" charset="-122"/>
            </a:endParaRPr>
          </a:p>
          <a:p>
            <a:pPr indent="0" fontAlgn="auto">
              <a:lnSpc>
                <a:spcPct val="150000"/>
              </a:lnSpc>
            </a:pPr>
            <a:endParaRPr sz="2000" dirty="0">
              <a:cs typeface="楷体" panose="02010609060101010101" charset="-122"/>
            </a:endParaRPr>
          </a:p>
        </p:txBody>
      </p:sp>
      <p:pic>
        <p:nvPicPr>
          <p:cNvPr id="270" name="图片 184"/>
          <p:cNvPicPr>
            <a:picLocks noChangeAspect="1"/>
          </p:cNvPicPr>
          <p:nvPr/>
        </p:nvPicPr>
        <p:blipFill>
          <a:blip r:embed="rId1"/>
          <a:stretch>
            <a:fillRect/>
          </a:stretch>
        </p:blipFill>
        <p:spPr>
          <a:xfrm>
            <a:off x="3763010" y="1203960"/>
            <a:ext cx="4666615" cy="515620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sz="2000" dirty="0">
                <a:cs typeface="楷体" panose="02010609060101010101" charset="-122"/>
                <a:sym typeface="+mn-ea"/>
              </a:rPr>
              <a:t>从所给的四个选项中，选择最合适的一个填在问号处，使之呈现一定的规律性（）。</a:t>
            </a:r>
            <a:endParaRPr sz="2000" dirty="0">
              <a:cs typeface="楷体" panose="02010609060101010101" charset="-122"/>
            </a:endParaRPr>
          </a:p>
          <a:p>
            <a:pPr indent="0" fontAlgn="auto">
              <a:lnSpc>
                <a:spcPct val="150000"/>
              </a:lnSpc>
            </a:pPr>
            <a:endParaRPr sz="2000" dirty="0">
              <a:cs typeface="楷体" panose="02010609060101010101" charset="-122"/>
            </a:endParaRPr>
          </a:p>
        </p:txBody>
      </p:sp>
      <p:pic>
        <p:nvPicPr>
          <p:cNvPr id="271" name="图片 185"/>
          <p:cNvPicPr>
            <a:picLocks noChangeAspect="1"/>
          </p:cNvPicPr>
          <p:nvPr/>
        </p:nvPicPr>
        <p:blipFill>
          <a:blip r:embed="rId1"/>
          <a:stretch>
            <a:fillRect/>
          </a:stretch>
        </p:blipFill>
        <p:spPr>
          <a:xfrm>
            <a:off x="1489710" y="1550035"/>
            <a:ext cx="9130030" cy="375729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011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3499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把下面的六个图形分为两类，使每一类图形都有各自的共同特征或规律，分类正确的一项是（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①②⑥</a:t>
            </a:r>
            <a:r>
              <a:rPr lang="en-US" altLang="zh-CN" sz="2000" dirty="0">
                <a:cs typeface="楷体" panose="02010609060101010101" charset="-122"/>
              </a:rPr>
              <a:t>,</a:t>
            </a:r>
            <a:r>
              <a:rPr lang="en-US" altLang="en-US" sz="2000" dirty="0">
                <a:cs typeface="楷体" panose="02010609060101010101" charset="-122"/>
              </a:rPr>
              <a:t>③④⑤</a:t>
            </a:r>
            <a:r>
              <a:rPr lang="en-US" altLang="zh-CN" sz="2000" dirty="0">
                <a:cs typeface="楷体" panose="02010609060101010101" charset="-122"/>
              </a:rPr>
              <a:t>		B.</a:t>
            </a:r>
            <a:r>
              <a:rPr lang="en-US" altLang="en-US" sz="2000" dirty="0">
                <a:cs typeface="楷体" panose="02010609060101010101" charset="-122"/>
              </a:rPr>
              <a:t>①③④</a:t>
            </a:r>
            <a:r>
              <a:rPr lang="en-US" altLang="zh-CN" sz="2000" dirty="0">
                <a:cs typeface="楷体" panose="02010609060101010101" charset="-122"/>
              </a:rPr>
              <a:t>,</a:t>
            </a:r>
            <a:r>
              <a:rPr lang="en-US" altLang="en-US" sz="2000" dirty="0">
                <a:cs typeface="楷体" panose="02010609060101010101" charset="-122"/>
              </a:rPr>
              <a:t>②⑤⑥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①③⑥</a:t>
            </a:r>
            <a:r>
              <a:rPr lang="en-US" altLang="zh-CN" sz="2000" dirty="0">
                <a:cs typeface="楷体" panose="02010609060101010101" charset="-122"/>
              </a:rPr>
              <a:t>,</a:t>
            </a:r>
            <a:r>
              <a:rPr lang="en-US" altLang="en-US" sz="2000" dirty="0">
                <a:cs typeface="楷体" panose="02010609060101010101" charset="-122"/>
              </a:rPr>
              <a:t>②④⑤</a:t>
            </a:r>
            <a:r>
              <a:rPr lang="en-US" altLang="zh-CN" sz="2000" dirty="0">
                <a:cs typeface="楷体" panose="02010609060101010101" charset="-122"/>
              </a:rPr>
              <a:t>		D.</a:t>
            </a:r>
            <a:r>
              <a:rPr lang="en-US" altLang="en-US" sz="2000" dirty="0">
                <a:cs typeface="楷体" panose="02010609060101010101" charset="-122"/>
              </a:rPr>
              <a:t>①④⑥</a:t>
            </a:r>
            <a:r>
              <a:rPr lang="en-US" altLang="zh-CN" sz="2000" dirty="0">
                <a:cs typeface="楷体" panose="02010609060101010101" charset="-122"/>
              </a:rPr>
              <a:t>,</a:t>
            </a:r>
            <a:r>
              <a:rPr lang="en-US" altLang="en-US" sz="2000" dirty="0">
                <a:cs typeface="楷体" panose="02010609060101010101" charset="-122"/>
              </a:rPr>
              <a:t>②③⑤</a:t>
            </a:r>
            <a:endParaRPr lang="en-US" altLang="en-US" sz="2000" dirty="0">
              <a:cs typeface="楷体" panose="02010609060101010101" charset="-122"/>
            </a:endParaRPr>
          </a:p>
        </p:txBody>
      </p:sp>
      <p:pic>
        <p:nvPicPr>
          <p:cNvPr id="278" name="图片 186"/>
          <p:cNvPicPr>
            <a:picLocks noChangeAspect="1"/>
          </p:cNvPicPr>
          <p:nvPr/>
        </p:nvPicPr>
        <p:blipFill>
          <a:blip r:embed="rId1"/>
          <a:stretch>
            <a:fillRect/>
          </a:stretch>
        </p:blipFill>
        <p:spPr>
          <a:xfrm>
            <a:off x="805815" y="1517650"/>
            <a:ext cx="10664190" cy="213296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下图中是给定正方体纸盒的外表面，以下哪一项能由它折叠而成？（</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273" name="图片 187"/>
          <p:cNvPicPr>
            <a:picLocks noChangeAspect="1"/>
          </p:cNvPicPr>
          <p:nvPr/>
        </p:nvPicPr>
        <p:blipFill>
          <a:blip r:embed="rId1"/>
          <a:stretch>
            <a:fillRect/>
          </a:stretch>
        </p:blipFill>
        <p:spPr>
          <a:xfrm>
            <a:off x="760730" y="1501775"/>
            <a:ext cx="10812145" cy="332105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附义务赠与也称附负担赠与，是指赠与人对其赠与附加一定的条件，使受赠人承担一定义务的赠与。</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根据上述定义，下列属于附义务赠与的是（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莉莉父亲跟她约定，如果莉莉考上大学，就将送给她一个笔记本电脑</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小林的叔叔签订了一份赠与协议，待小林满</a:t>
            </a:r>
            <a:r>
              <a:rPr lang="en-US" altLang="zh-CN" sz="2400" dirty="0">
                <a:cs typeface="楷体" panose="02010609060101010101" charset="-122"/>
              </a:rPr>
              <a:t>25</a:t>
            </a:r>
            <a:r>
              <a:rPr lang="zh-CN" altLang="en-US" sz="2400" dirty="0">
                <a:cs typeface="楷体" panose="02010609060101010101" charset="-122"/>
              </a:rPr>
              <a:t>岁赠与其部分公司股权</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老张将自己所藏字画赠与市博物馆，但要求博物馆不得转赠，否则将收回全部藏品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小郑为哄女友开心，在女友过生日时赠与其一条价值</a:t>
            </a:r>
            <a:r>
              <a:rPr lang="en-US" altLang="zh-CN" sz="2400" dirty="0">
                <a:cs typeface="楷体" panose="02010609060101010101" charset="-122"/>
              </a:rPr>
              <a:t>5</a:t>
            </a:r>
            <a:r>
              <a:rPr lang="zh-CN" altLang="en-US" sz="2400" dirty="0">
                <a:cs typeface="楷体" panose="02010609060101010101" charset="-122"/>
              </a:rPr>
              <a:t>万元的钻石项链并允诺与她携手一生</a:t>
            </a:r>
            <a:endParaRPr lang="zh-CN" altLang="en-US" sz="2400" dirty="0">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556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情绪管理指的是在理解和完全接纳自己情绪的前提下，能够用理性去思考和控制自己的行动。</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根据上述定义，以下属于情绪管理的是（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为了平息社会对公司这次重大事故的愤怒情绪，公司总经理宣布引咎辞职</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为了推卸战争失败的责任，某国政府宣布逮捕军队数名将军，并宣判他们的叛国罪行</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项羽乃悉引兵渡河，皆沉船、破釜甑、烧庐舍，持三日粮，以示士卒必死，无一还心</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谢公与人围棋，俄而谢玄淮上信至。看书竟，默然无言，徐向局，客问淮上利害，答曰：</a:t>
            </a:r>
            <a:r>
              <a:rPr lang="en-US" altLang="zh-CN" sz="2400" dirty="0">
                <a:cs typeface="楷体" panose="02010609060101010101" charset="-122"/>
              </a:rPr>
              <a:t>“</a:t>
            </a:r>
            <a:r>
              <a:rPr lang="zh-CN" altLang="en-US" sz="2400" dirty="0">
                <a:cs typeface="楷体" panose="02010609060101010101" charset="-122"/>
              </a:rPr>
              <a:t>小儿辈大破贼。</a:t>
            </a:r>
            <a:r>
              <a:rPr lang="en-US" altLang="zh-CN" sz="2400" dirty="0">
                <a:cs typeface="楷体" panose="02010609060101010101" charset="-122"/>
              </a:rPr>
              <a:t>”</a:t>
            </a:r>
            <a:r>
              <a:rPr lang="zh-CN" altLang="en-US" sz="2400" dirty="0">
                <a:cs typeface="楷体" panose="02010609060101010101" charset="-122"/>
              </a:rPr>
              <a:t>意色举止，不异于常</a:t>
            </a:r>
            <a:endParaRPr lang="zh-CN" altLang="en-US" sz="24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社会性扮演游戏是指幼儿与伙伴在假想的情景中表现和反映现实生活体验的游戏活动。表演游戏是指幼儿按照故事（自编或依据现有故事）中的角色、情节和语言开展的角色扮演游戏活动。</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根据上述定义，下列属于社会性扮演游戏的是（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小方和伙伴们去科技馆的太空探索展区参观</a:t>
            </a:r>
            <a:r>
              <a:rPr lang="en-US" altLang="zh-CN" sz="2400" dirty="0">
                <a:cs typeface="楷体" panose="02010609060101010101" charset="-122"/>
              </a:rPr>
              <a:t>“</a:t>
            </a:r>
            <a:r>
              <a:rPr lang="zh-CN" altLang="en-US" sz="2400" dirty="0">
                <a:cs typeface="楷体" panose="02010609060101010101" charset="-122"/>
              </a:rPr>
              <a:t>嫦娥五号</a:t>
            </a:r>
            <a:r>
              <a:rPr lang="en-US" altLang="zh-CN" sz="2400" dirty="0">
                <a:cs typeface="楷体" panose="02010609060101010101" charset="-122"/>
              </a:rPr>
              <a:t>”</a:t>
            </a:r>
            <a:r>
              <a:rPr lang="zh-CN" altLang="en-US" sz="2400" dirty="0">
                <a:cs typeface="楷体" panose="02010609060101010101" charset="-122"/>
              </a:rPr>
              <a:t>探测器模型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小刚把家里的水果和蔬菜贴上标签，和其他朋友轮流扮演超市收银员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小林和几个同学分别扮演森林中的动物，一起创编新版丑小鸭的故事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小明将自己的玩具汽车摆成长长的队伍，独自逐一为这些汽车</a:t>
            </a:r>
            <a:r>
              <a:rPr lang="en-US" altLang="zh-CN" sz="2400" dirty="0">
                <a:cs typeface="楷体" panose="02010609060101010101" charset="-122"/>
              </a:rPr>
              <a:t>“</a:t>
            </a:r>
            <a:r>
              <a:rPr lang="zh-CN" altLang="en-US" sz="2400" dirty="0">
                <a:cs typeface="楷体" panose="02010609060101010101" charset="-122"/>
              </a:rPr>
              <a:t>加油</a:t>
            </a:r>
            <a:r>
              <a:rPr lang="en-US" altLang="zh-CN" sz="2400" dirty="0">
                <a:cs typeface="楷体" panose="02010609060101010101" charset="-122"/>
              </a:rPr>
              <a:t>”</a:t>
            </a:r>
            <a:endParaRPr lang="en-US" altLang="zh-CN" sz="2400" dirty="0">
              <a:cs typeface="楷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结构相对指标是指以总体总量为对比的基础，计算某一部分数量所占比重的相对指标。</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根据上述定义，下列公式属于结构相对指标的是（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A.2021</a:t>
            </a:r>
            <a:r>
              <a:rPr lang="zh-CN" altLang="en-US" sz="2400" dirty="0">
                <a:cs typeface="楷体" panose="02010609060101010101" charset="-122"/>
              </a:rPr>
              <a:t>年某高校讲师数量与该校教师总人数之比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某地区</a:t>
            </a:r>
            <a:r>
              <a:rPr lang="en-US" altLang="zh-CN" sz="2400" dirty="0">
                <a:cs typeface="楷体" panose="02010609060101010101" charset="-122"/>
              </a:rPr>
              <a:t>2022</a:t>
            </a:r>
            <a:r>
              <a:rPr lang="zh-CN" altLang="en-US" sz="2400" dirty="0">
                <a:cs typeface="楷体" panose="02010609060101010101" charset="-122"/>
              </a:rPr>
              <a:t>年男性新生儿与女性新生儿数量之比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某地</a:t>
            </a:r>
            <a:r>
              <a:rPr lang="en-US" altLang="zh-CN" sz="2400" dirty="0">
                <a:cs typeface="楷体" panose="02010609060101010101" charset="-122"/>
              </a:rPr>
              <a:t>2022</a:t>
            </a:r>
            <a:r>
              <a:rPr lang="zh-CN" altLang="en-US" sz="2400" dirty="0">
                <a:cs typeface="楷体" panose="02010609060101010101" charset="-122"/>
              </a:rPr>
              <a:t>年末职工人数与</a:t>
            </a:r>
            <a:r>
              <a:rPr lang="en-US" altLang="zh-CN" sz="2400" dirty="0">
                <a:cs typeface="楷体" panose="02010609060101010101" charset="-122"/>
              </a:rPr>
              <a:t>2021</a:t>
            </a:r>
            <a:r>
              <a:rPr lang="zh-CN" altLang="en-US" sz="2400" dirty="0">
                <a:cs typeface="楷体" panose="02010609060101010101" charset="-122"/>
              </a:rPr>
              <a:t>年末职工人数之比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D.2023</a:t>
            </a:r>
            <a:r>
              <a:rPr lang="zh-CN" altLang="en-US" sz="2400" dirty="0">
                <a:cs typeface="楷体" panose="02010609060101010101" charset="-122"/>
              </a:rPr>
              <a:t>年甲地人均粮食产量与乙地人均粮食产量之比</a:t>
            </a:r>
            <a:endParaRPr lang="zh-CN" altLang="en-US" sz="2400" dirty="0">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暗示性商标由常用词构成，它以隐喻，暗示的手法提示商品的属性或某一特点。该商标的组成要素不直接涉及商品种类、成分，功能等，但是却旨在创造出一种能与该商品发生联系的想象空间。</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根据上述定义，下列不属于暗示性商标的是（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野豹（汽车）</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美木（家具）</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白兔（洗衣粉）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万年新（电器）</a:t>
            </a:r>
            <a:endParaRPr lang="zh-CN" altLang="en-US" sz="24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8001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277495"/>
            <a:ext cx="1118362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序贯免疫是不同技术路线的疫苗按照一定的接种时间间隔、接种的剂次，为了进一步提高预防效果，同时考虑安全性，所采取的一项免疫策略。</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序贯免疫的对象要满足以下条件：</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①</a:t>
            </a:r>
            <a:r>
              <a:rPr lang="en-US" altLang="zh-CN" sz="2200" dirty="0">
                <a:cs typeface="楷体" panose="02010609060101010101" charset="-122"/>
              </a:rPr>
              <a:t>18</a:t>
            </a:r>
            <a:r>
              <a:rPr lang="zh-CN" altLang="en-US" sz="2200" dirty="0">
                <a:cs typeface="楷体" panose="02010609060101010101" charset="-122"/>
              </a:rPr>
              <a:t>岁以上的人群；</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②</a:t>
            </a:r>
            <a:r>
              <a:rPr lang="zh-CN" altLang="en-US" sz="2200" dirty="0">
                <a:cs typeface="楷体" panose="02010609060101010101" charset="-122"/>
              </a:rPr>
              <a:t>已完成</a:t>
            </a:r>
            <a:r>
              <a:rPr lang="en-US" altLang="zh-CN" sz="2200" dirty="0">
                <a:cs typeface="楷体" panose="02010609060101010101" charset="-122"/>
              </a:rPr>
              <a:t>2</a:t>
            </a:r>
            <a:r>
              <a:rPr lang="zh-CN" altLang="en-US" sz="2200" dirty="0">
                <a:cs typeface="楷体" panose="02010609060101010101" charset="-122"/>
              </a:rPr>
              <a:t>剂次的灭活疫苗全程接种，序贯加强免疫接种间隔不能短于</a:t>
            </a:r>
            <a:r>
              <a:rPr lang="en-US" altLang="zh-CN" sz="2200" dirty="0">
                <a:cs typeface="楷体" panose="02010609060101010101" charset="-122"/>
              </a:rPr>
              <a:t>6</a:t>
            </a:r>
            <a:r>
              <a:rPr lang="zh-CN" altLang="en-US" sz="2200" dirty="0">
                <a:cs typeface="楷体" panose="02010609060101010101" charset="-122"/>
              </a:rPr>
              <a:t>个月；</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③</a:t>
            </a:r>
            <a:r>
              <a:rPr lang="zh-CN" altLang="en-US" sz="2200" dirty="0">
                <a:cs typeface="楷体" panose="02010609060101010101" charset="-122"/>
              </a:rPr>
              <a:t>尚未进行第</a:t>
            </a:r>
            <a:r>
              <a:rPr lang="en-US" altLang="zh-CN" sz="2200" dirty="0">
                <a:cs typeface="楷体" panose="02010609060101010101" charset="-122"/>
              </a:rPr>
              <a:t>3</a:t>
            </a:r>
            <a:r>
              <a:rPr lang="zh-CN" altLang="en-US" sz="2200" dirty="0">
                <a:cs typeface="楷体" panose="02010609060101010101" charset="-122"/>
              </a:rPr>
              <a:t>剂次的序贯加强免疫接种。完成全程接种灭活疫苗的上述目标人群，可以选择重组蛋白疫苗或腺病毒载体疫苗进行序贯加强免疫。</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根据上述规定，下列可以进行序贯免疫的是（</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小马，</a:t>
            </a:r>
            <a:r>
              <a:rPr lang="en-US" altLang="zh-CN" sz="2200" dirty="0">
                <a:cs typeface="楷体" panose="02010609060101010101" charset="-122"/>
              </a:rPr>
              <a:t>20</a:t>
            </a:r>
            <a:r>
              <a:rPr lang="zh-CN" altLang="en-US" sz="2200" dirty="0">
                <a:cs typeface="楷体" panose="02010609060101010101" charset="-122"/>
              </a:rPr>
              <a:t>岁，</a:t>
            </a:r>
            <a:r>
              <a:rPr lang="en-US" altLang="zh-CN" sz="2200" dirty="0">
                <a:cs typeface="楷体" panose="02010609060101010101" charset="-122"/>
              </a:rPr>
              <a:t>7</a:t>
            </a:r>
            <a:r>
              <a:rPr lang="zh-CN" altLang="en-US" sz="2200" dirty="0">
                <a:cs typeface="楷体" panose="02010609060101010101" charset="-122"/>
              </a:rPr>
              <a:t>个月前已完成接种</a:t>
            </a:r>
            <a:r>
              <a:rPr lang="en-US" altLang="zh-CN" sz="2200" dirty="0">
                <a:cs typeface="楷体" panose="02010609060101010101" charset="-122"/>
              </a:rPr>
              <a:t>2</a:t>
            </a:r>
            <a:r>
              <a:rPr lang="zh-CN" altLang="en-US" sz="2200" dirty="0">
                <a:cs typeface="楷体" panose="02010609060101010101" charset="-122"/>
              </a:rPr>
              <a:t>剂次腺病毒载体疫苗</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小刘，</a:t>
            </a:r>
            <a:r>
              <a:rPr lang="en-US" altLang="zh-CN" sz="2200" dirty="0">
                <a:cs typeface="楷体" panose="02010609060101010101" charset="-122"/>
              </a:rPr>
              <a:t>19</a:t>
            </a:r>
            <a:r>
              <a:rPr lang="zh-CN" altLang="en-US" sz="2200" dirty="0">
                <a:cs typeface="楷体" panose="02010609060101010101" charset="-122"/>
              </a:rPr>
              <a:t>岁，</a:t>
            </a:r>
            <a:r>
              <a:rPr lang="en-US" altLang="zh-CN" sz="2200" dirty="0">
                <a:cs typeface="楷体" panose="02010609060101010101" charset="-122"/>
              </a:rPr>
              <a:t>6</a:t>
            </a:r>
            <a:r>
              <a:rPr lang="zh-CN" altLang="en-US" sz="2200" dirty="0">
                <a:cs typeface="楷体" panose="02010609060101010101" charset="-122"/>
              </a:rPr>
              <a:t>个月前仅已完成接种</a:t>
            </a:r>
            <a:r>
              <a:rPr lang="en-US" altLang="zh-CN" sz="2200" dirty="0">
                <a:cs typeface="楷体" panose="02010609060101010101" charset="-122"/>
              </a:rPr>
              <a:t>2</a:t>
            </a:r>
            <a:r>
              <a:rPr lang="zh-CN" altLang="en-US" sz="2200" dirty="0">
                <a:cs typeface="楷体" panose="02010609060101010101" charset="-122"/>
              </a:rPr>
              <a:t>剂次灭活疫苗</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小陈，</a:t>
            </a:r>
            <a:r>
              <a:rPr lang="en-US" altLang="zh-CN" sz="2200" dirty="0">
                <a:cs typeface="楷体" panose="02010609060101010101" charset="-122"/>
              </a:rPr>
              <a:t>8</a:t>
            </a:r>
            <a:r>
              <a:rPr lang="zh-CN" altLang="en-US" sz="2200" dirty="0">
                <a:cs typeface="楷体" panose="02010609060101010101" charset="-122"/>
              </a:rPr>
              <a:t>个月前已完成接种重组蛋白疫苗序贯加强免疫</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小王，</a:t>
            </a:r>
            <a:r>
              <a:rPr lang="en-US" altLang="zh-CN" sz="2200" dirty="0">
                <a:cs typeface="楷体" panose="02010609060101010101" charset="-122"/>
              </a:rPr>
              <a:t>16</a:t>
            </a:r>
            <a:r>
              <a:rPr lang="zh-CN" altLang="en-US" sz="2200" dirty="0">
                <a:cs typeface="楷体" panose="02010609060101010101" charset="-122"/>
              </a:rPr>
              <a:t>岁，半年内已完成接种</a:t>
            </a:r>
            <a:r>
              <a:rPr lang="en-US" altLang="zh-CN" sz="2200" dirty="0">
                <a:cs typeface="楷体" panose="02010609060101010101" charset="-122"/>
              </a:rPr>
              <a:t>2</a:t>
            </a:r>
            <a:r>
              <a:rPr lang="zh-CN" altLang="en-US" sz="2200" dirty="0">
                <a:cs typeface="楷体" panose="02010609060101010101" charset="-122"/>
              </a:rPr>
              <a:t>剂次灭活疫苗</a:t>
            </a:r>
            <a:endParaRPr lang="zh-CN" altLang="en-US" sz="2200" dirty="0">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隐性采访是指在法律和新闻道德允许的范围内，隐藏记者身份与采访目的的采访方式，目的在于减少采访障碍和干扰，获取有价值的新闻事实。一般包括以下类型：侦察型是记者在不公开身份的情况下，对某些违法犯罪行为或社会负面新闻的探访或侦察；体验型是记者隐藏记者身份，以一个被服务者的身份，感受和体验整个服务过程，以获取事实真实状态；验证型是为了探明虚实，不公开身份对正面人物或事件进行验证。</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根据上述定义，下列不属于隐性采访的是（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记者以旅客身份体验首班赣深高铁的速度和服务，并通过官媒网络直播</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记者以</a:t>
            </a:r>
            <a:r>
              <a:rPr lang="en-US" altLang="zh-CN" sz="2000" dirty="0">
                <a:cs typeface="楷体" panose="02010609060101010101" charset="-122"/>
              </a:rPr>
              <a:t>“</a:t>
            </a:r>
            <a:r>
              <a:rPr lang="zh-CN" altLang="en-US" sz="2000" dirty="0">
                <a:cs typeface="楷体" panose="02010609060101010101" charset="-122"/>
              </a:rPr>
              <a:t>文物贩子</a:t>
            </a:r>
            <a:r>
              <a:rPr lang="en-US" altLang="zh-CN" sz="2000" dirty="0">
                <a:cs typeface="楷体" panose="02010609060101010101" charset="-122"/>
              </a:rPr>
              <a:t>”</a:t>
            </a:r>
            <a:r>
              <a:rPr lang="zh-CN" altLang="en-US" sz="2000" dirty="0">
                <a:cs typeface="楷体" panose="02010609060101010101" charset="-122"/>
              </a:rPr>
              <a:t>的身份与盗墓者接触，并拍下了文物交易的全过程</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记者以消费者身份在某制假售假的药店购买了药品并将其送往专业机构检验</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记者以游客身份报名参加了一个旅游团，揭露了该旅游团强制消费的内幕</a:t>
            </a:r>
            <a:endParaRPr lang="zh-CN" altLang="en-US" sz="2000" dirty="0">
              <a:cs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81965" y="708025"/>
            <a:ext cx="1111885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反正语是汉语中具有的一种特殊的语言现象，即一个词与其否定表达是同一个意思，只是语感上稍有差别。</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根据上述定义，下列选项中不包含反正语的是（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他们好不容易说服了她</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中国队昨天大胜越南队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这个人实在是聪明得过了头</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做成了这件事，他真了不得</a:t>
            </a:r>
            <a:endParaRPr lang="zh-CN" altLang="en-US" sz="2400" dirty="0">
              <a:cs typeface="楷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610235" y="701675"/>
            <a:ext cx="1119251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数字营销是使用数字传播渠道来推广产品和服务的营销方式，数字营销的方式可以是互联网，也可以是非互联网，主要目的在于以一种及时、相关、定制化和节省成本的方式谋求新市场的开拓和消费者的挖掘。</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根据上述定义，下列不符合数字营销的是（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为了解产品满意度，通过互联网搜集意见，并基于数据结果优化产品设计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某电影公司在多家</a:t>
            </a:r>
            <a:r>
              <a:rPr lang="en-US" altLang="zh-CN" sz="2400" dirty="0">
                <a:cs typeface="楷体" panose="02010609060101010101" charset="-122"/>
              </a:rPr>
              <a:t>3D</a:t>
            </a:r>
            <a:r>
              <a:rPr lang="zh-CN" altLang="en-US" sz="2400" dirty="0">
                <a:cs typeface="楷体" panose="02010609060101010101" charset="-122"/>
              </a:rPr>
              <a:t>影院放映电影之前，投放本公司即将上映的其他类型电影预告片</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点击某网站后，网站会弹出广告或展示移动的横幅广告，以吸引用户关注商品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某知名公司发布新品后，其他品牌商也在电商平台上快速抢占</a:t>
            </a:r>
            <a:r>
              <a:rPr lang="en-US" altLang="zh-CN" sz="2400" dirty="0">
                <a:cs typeface="楷体" panose="02010609060101010101" charset="-122"/>
              </a:rPr>
              <a:t>“</a:t>
            </a:r>
            <a:r>
              <a:rPr lang="zh-CN" altLang="en-US" sz="2400" dirty="0">
                <a:cs typeface="楷体" panose="02010609060101010101" charset="-122"/>
              </a:rPr>
              <a:t>热搜词条</a:t>
            </a:r>
            <a:r>
              <a:rPr lang="en-US" altLang="zh-CN" sz="2400" dirty="0">
                <a:cs typeface="楷体" panose="02010609060101010101" charset="-122"/>
              </a:rPr>
              <a:t>”</a:t>
            </a:r>
            <a:r>
              <a:rPr lang="zh-CN" altLang="en-US" sz="2400" dirty="0">
                <a:cs typeface="楷体" panose="02010609060101010101" charset="-122"/>
              </a:rPr>
              <a:t>，借机宣传自身品牌</a:t>
            </a:r>
            <a:endParaRPr lang="zh-CN" altLang="en-US" sz="2400" dirty="0">
              <a:cs typeface="楷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二十四节气是中国古代根据气候对一年进行的节令划分。大致可以分为三类：第一类是反映季节的，第二类是反映气候特征的，第三类是反映物候现象的。</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根据上述定义，对于</a:t>
            </a:r>
            <a:r>
              <a:rPr lang="en-US" altLang="zh-CN" sz="2400" dirty="0">
                <a:cs typeface="楷体" panose="02010609060101010101" charset="-122"/>
              </a:rPr>
              <a:t>“</a:t>
            </a:r>
            <a:r>
              <a:rPr lang="zh-CN" altLang="en-US" sz="2400" dirty="0">
                <a:cs typeface="楷体" panose="02010609060101010101" charset="-122"/>
              </a:rPr>
              <a:t>立春、大暑、秋分、芒种、谷雨、惊蛰</a:t>
            </a:r>
            <a:r>
              <a:rPr lang="en-US" altLang="zh-CN" sz="2400" dirty="0">
                <a:cs typeface="楷体" panose="02010609060101010101" charset="-122"/>
              </a:rPr>
              <a:t>”6</a:t>
            </a:r>
            <a:r>
              <a:rPr lang="zh-CN" altLang="en-US" sz="2400" dirty="0">
                <a:cs typeface="楷体" panose="02010609060101010101" charset="-122"/>
              </a:rPr>
              <a:t>个节气分类准确的是（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第一类：大暑、秋分；第二类：芒种、谷雨；第三类：立春、惊蛰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第一类：立春、大暑；第二类：秋分、惊蛰；第三类：谷雨、芒种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第一类：立春、大暑；第二类：谷雨、秋分；第三类：芒种、惊蛰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第一类：立春、秋分；第二类：大暑、谷雨；第三类：芒种、惊蛰</a:t>
            </a:r>
            <a:endParaRPr lang="zh-CN" altLang="en-US" sz="2400" dirty="0">
              <a:cs typeface="楷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121094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耳塞：笔套</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手铐：灯罩</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盖头：花托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窗栏：门禁</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脚镯：烟匣</a:t>
            </a:r>
            <a:endParaRPr lang="zh-CN" altLang="en-US" sz="2400" dirty="0">
              <a:cs typeface="楷体" panose="02010609060101010101" charset="-122"/>
            </a:endParaRPr>
          </a:p>
          <a:p>
            <a:pPr indent="0" fontAlgn="auto">
              <a:lnSpc>
                <a:spcPct val="150000"/>
              </a:lnSpc>
            </a:pPr>
            <a:endParaRPr lang="zh-CN" altLang="en-US" sz="2400" dirty="0">
              <a:cs typeface="楷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1127125"/>
            <a:ext cx="8601710" cy="510095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柳烟：云海</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书山：犬子</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天雷：怒火</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霜剑：玉液</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麦浪：花雨</a:t>
            </a:r>
            <a:endParaRPr lang="zh-CN" altLang="en-US" sz="2400" dirty="0">
              <a:cs typeface="楷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1040765"/>
            <a:ext cx="8601710" cy="519366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书法展：展书法</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九连环：环九连</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黑板擦：擦黑板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空降兵：兵空降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自行车：车自行</a:t>
            </a:r>
            <a:endParaRPr lang="zh-CN" altLang="en-US" sz="2400" dirty="0">
              <a:cs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1071245"/>
            <a:ext cx="8601710" cy="51568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崇仁爱：守诚信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尚和合：求大同</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带头拼：加油干</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动真情：办实事</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兴产业：强经济</a:t>
            </a:r>
            <a:endParaRPr lang="zh-CN" altLang="en-US" sz="2400" dirty="0">
              <a:cs typeface="楷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1080135"/>
            <a:ext cx="8601710" cy="514794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明争暗斗：争斗</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莺歌燕舞：歌舞</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上天入地：天地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东张西望：张望</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以卵击石：卵石</a:t>
            </a:r>
            <a:endParaRPr lang="zh-CN" altLang="en-US" sz="2400" dirty="0">
              <a:cs typeface="楷体"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1188720"/>
            <a:ext cx="8601710" cy="504571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杂乱：井井有条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熟练：手到擒来</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专一：见异思迁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傲慢：颐指气使</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犹豫：一针见血</a:t>
            </a:r>
            <a:endParaRPr lang="zh-CN" altLang="en-US" sz="2400" dirty="0">
              <a:cs typeface="楷体" panose="0201060906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121729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报社：报纸：传播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公司：高管：分红</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军营：军人：救援</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房门：春联：祈福</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剧团：戏剧：娱乐</a:t>
            </a:r>
            <a:endParaRPr lang="zh-CN" altLang="en-US" sz="2400" dirty="0">
              <a:cs typeface="楷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1293495"/>
            <a:ext cx="8601710" cy="493458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社会：沉疴顽疾：变革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生活：艰难困苦：克服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管理：良政善治：发扬</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研究：停滞不前：投资</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规制：繁文缛节：精简</a:t>
            </a:r>
            <a:endParaRPr lang="zh-CN" altLang="en-US" sz="2400" dirty="0">
              <a:cs typeface="楷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1192530"/>
            <a:ext cx="8601710" cy="503555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陨石对于（</a:t>
            </a:r>
            <a:r>
              <a:rPr lang="en-US" altLang="zh-CN" sz="2400" dirty="0">
                <a:cs typeface="楷体" panose="02010609060101010101" charset="-122"/>
              </a:rPr>
              <a:t>  </a:t>
            </a:r>
            <a:r>
              <a:rPr lang="zh-CN" altLang="en-US" sz="2400" dirty="0">
                <a:cs typeface="楷体" panose="02010609060101010101" charset="-122"/>
              </a:rPr>
              <a:t>）相当于饮料对于（</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矿物；水</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流星；汽水</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鹅卵石；液体</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外太空；易拉罐</a:t>
            </a:r>
            <a:endParaRPr lang="zh-CN" altLang="en-US" sz="2400" dirty="0">
              <a:cs typeface="楷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1318895"/>
            <a:ext cx="8601710" cy="49155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三星堆青铜树对于（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）对于典籍。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青铜器；儒家学说</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古蜀国；春秋时期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殷商文化；关雎</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国家文物；《诗经》</a:t>
            </a:r>
            <a:endParaRPr lang="zh-CN" altLang="en-US" sz="2400" dirty="0">
              <a:cs typeface="楷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499745"/>
            <a:ext cx="11210925" cy="5712460"/>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共建</a:t>
            </a:r>
            <a:r>
              <a:rPr lang="en-US" altLang="zh-CN" sz="2000" dirty="0">
                <a:cs typeface="楷体" panose="02010609060101010101" charset="-122"/>
              </a:rPr>
              <a:t>“</a:t>
            </a:r>
            <a:r>
              <a:rPr lang="zh-CN" altLang="en-US" sz="2000" dirty="0">
                <a:cs typeface="楷体" panose="02010609060101010101" charset="-122"/>
              </a:rPr>
              <a:t>一带一路</a:t>
            </a:r>
            <a:r>
              <a:rPr lang="en-US" altLang="zh-CN" sz="2000" dirty="0">
                <a:cs typeface="楷体" panose="02010609060101010101" charset="-122"/>
              </a:rPr>
              <a:t>”</a:t>
            </a:r>
            <a:r>
              <a:rPr lang="zh-CN" altLang="en-US" sz="2000" dirty="0">
                <a:cs typeface="楷体" panose="02010609060101010101" charset="-122"/>
              </a:rPr>
              <a:t>致力于打造开放包容、均衡普惠的区域经济合作架构，有助于促进我国实现高水平的对外开放。只有促进高水平的对外开放并且保持外贸规模稳定，才能吸纳优质的要素资源流入我国市场，才能推动国内经济结构顺利转型升级。只有经济结构顺利转型升级，国内经济才能实现高质量发展，这其中只有发展数字经济才能实现经济结构顺利转型升级。</a:t>
            </a: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由此可以推出（</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只要经济结构顺利转型升级，国内经济就能实现高质量发展</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只有发展数字经济，才能打造均衡普惠的区域经济合作架构</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如果国内经济实现高质量发展，就说明我国外贸规模保持稳定</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如果未能吸纳优质的要素资源流入我国市场，就说明没有促进高水平的对外开放</a:t>
            </a:r>
            <a:endParaRPr lang="zh-CN" altLang="en-US" sz="2000" dirty="0">
              <a:cs typeface="楷体" panose="02010609060101010101" charset="-122"/>
            </a:endParaRPr>
          </a:p>
        </p:txBody>
      </p:sp>
      <p:sp>
        <p:nvSpPr>
          <p:cNvPr id="4" name="文本框 3"/>
          <p:cNvSpPr txBox="1"/>
          <p:nvPr/>
        </p:nvSpPr>
        <p:spPr>
          <a:xfrm>
            <a:off x="5187315" y="2338070"/>
            <a:ext cx="6801485" cy="132207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000" dirty="0">
                <a:solidFill>
                  <a:srgbClr val="FF0000"/>
                </a:solidFill>
                <a:cs typeface="楷体" panose="02010609060101010101" charset="-122"/>
              </a:rPr>
              <a:t>1.吸纳优质要素资源→促进对外开放且保持外贸稳定</a:t>
            </a:r>
            <a:endParaRPr lang="zh-CN" altLang="en-US" sz="2000" dirty="0">
              <a:solidFill>
                <a:srgbClr val="FF0000"/>
              </a:solidFill>
              <a:cs typeface="楷体" panose="02010609060101010101" charset="-122"/>
            </a:endParaRPr>
          </a:p>
          <a:p>
            <a:pPr algn="l"/>
            <a:r>
              <a:rPr lang="en-US" altLang="zh-CN" sz="2000" dirty="0">
                <a:solidFill>
                  <a:srgbClr val="FF0000"/>
                </a:solidFill>
                <a:cs typeface="楷体" panose="02010609060101010101" charset="-122"/>
              </a:rPr>
              <a:t>2.</a:t>
            </a:r>
            <a:r>
              <a:rPr lang="zh-CN" altLang="en-US" sz="2000" dirty="0">
                <a:solidFill>
                  <a:srgbClr val="FF0000"/>
                </a:solidFill>
                <a:cs typeface="楷体" panose="02010609060101010101" charset="-122"/>
              </a:rPr>
              <a:t>推动经济转型升级</a:t>
            </a:r>
            <a:r>
              <a:rPr lang="en-US" altLang="zh-CN" sz="2000" dirty="0">
                <a:solidFill>
                  <a:srgbClr val="FF0000"/>
                </a:solidFill>
                <a:cs typeface="楷体" panose="02010609060101010101" charset="-122"/>
              </a:rPr>
              <a:t>→</a:t>
            </a:r>
            <a:r>
              <a:rPr lang="zh-CN" altLang="en-US" sz="2000" dirty="0">
                <a:solidFill>
                  <a:srgbClr val="FF0000"/>
                </a:solidFill>
                <a:cs typeface="楷体" panose="02010609060101010101" charset="-122"/>
                <a:sym typeface="+mn-ea"/>
              </a:rPr>
              <a:t>促进对外开放且保持外贸稳定</a:t>
            </a:r>
            <a:endParaRPr lang="zh-CN" altLang="en-US" sz="2000" dirty="0">
              <a:solidFill>
                <a:srgbClr val="FF0000"/>
              </a:solidFill>
              <a:cs typeface="楷体" panose="02010609060101010101" charset="-122"/>
            </a:endParaRPr>
          </a:p>
          <a:p>
            <a:pPr algn="l"/>
            <a:r>
              <a:rPr lang="en-US" altLang="zh-CN" sz="2000" dirty="0">
                <a:solidFill>
                  <a:srgbClr val="FF0000"/>
                </a:solidFill>
                <a:cs typeface="楷体" panose="02010609060101010101" charset="-122"/>
              </a:rPr>
              <a:t>3.</a:t>
            </a:r>
            <a:r>
              <a:rPr lang="zh-CN" altLang="en-US" sz="2000" dirty="0">
                <a:solidFill>
                  <a:srgbClr val="FF0000"/>
                </a:solidFill>
                <a:cs typeface="楷体" panose="02010609060101010101" charset="-122"/>
              </a:rPr>
              <a:t>国内经济高质量发展</a:t>
            </a:r>
            <a:r>
              <a:rPr lang="en-US" altLang="zh-CN" sz="2000" dirty="0">
                <a:solidFill>
                  <a:srgbClr val="FF0000"/>
                </a:solidFill>
                <a:cs typeface="楷体" panose="02010609060101010101" charset="-122"/>
              </a:rPr>
              <a:t>→</a:t>
            </a:r>
            <a:r>
              <a:rPr lang="zh-CN" altLang="en-US" sz="2000" dirty="0">
                <a:solidFill>
                  <a:srgbClr val="FF0000"/>
                </a:solidFill>
                <a:cs typeface="楷体" panose="02010609060101010101" charset="-122"/>
                <a:sym typeface="+mn-ea"/>
              </a:rPr>
              <a:t>推动经济转型升级</a:t>
            </a:r>
            <a:endParaRPr lang="zh-CN" altLang="en-US" sz="2000" dirty="0">
              <a:solidFill>
                <a:srgbClr val="FF0000"/>
              </a:solidFill>
              <a:cs typeface="楷体" panose="02010609060101010101" charset="-122"/>
              <a:sym typeface="+mn-ea"/>
            </a:endParaRPr>
          </a:p>
          <a:p>
            <a:pPr algn="l"/>
            <a:r>
              <a:rPr lang="en-US" altLang="zh-CN" sz="2000" dirty="0">
                <a:solidFill>
                  <a:srgbClr val="FF0000"/>
                </a:solidFill>
                <a:cs typeface="楷体" panose="02010609060101010101" charset="-122"/>
              </a:rPr>
              <a:t>4.</a:t>
            </a:r>
            <a:r>
              <a:rPr lang="zh-CN" altLang="en-US" sz="2000" dirty="0">
                <a:solidFill>
                  <a:srgbClr val="FF0000"/>
                </a:solidFill>
                <a:cs typeface="楷体" panose="02010609060101010101" charset="-122"/>
              </a:rPr>
              <a:t>经济</a:t>
            </a:r>
            <a:r>
              <a:rPr lang="zh-CN" altLang="en-US" sz="2000" dirty="0">
                <a:solidFill>
                  <a:srgbClr val="FF0000"/>
                </a:solidFill>
                <a:cs typeface="楷体" panose="02010609060101010101" charset="-122"/>
                <a:sym typeface="+mn-ea"/>
              </a:rPr>
              <a:t>经济转型升级</a:t>
            </a:r>
            <a:r>
              <a:rPr lang="en-US" altLang="zh-CN" sz="2000" dirty="0">
                <a:solidFill>
                  <a:srgbClr val="FF0000"/>
                </a:solidFill>
                <a:cs typeface="楷体" panose="02010609060101010101" charset="-122"/>
                <a:sym typeface="+mn-ea"/>
              </a:rPr>
              <a:t>→</a:t>
            </a:r>
            <a:r>
              <a:rPr lang="zh-CN" altLang="en-US" sz="2000" dirty="0">
                <a:solidFill>
                  <a:srgbClr val="FF0000"/>
                </a:solidFill>
                <a:cs typeface="楷体" panose="02010609060101010101" charset="-122"/>
                <a:sym typeface="+mn-ea"/>
              </a:rPr>
              <a:t>发展数字经济</a:t>
            </a:r>
            <a:endParaRPr lang="zh-CN" altLang="en-US" sz="2000" dirty="0">
              <a:solidFill>
                <a:srgbClr val="FF0000"/>
              </a:solidFill>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978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472440"/>
            <a:ext cx="1114869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随着我国高等教育的普及和发展，越来越多的本科高校发展为升学导向，其本科教学则更加趋于通识教育，毕业生将会更大比例地选择继续升学深造。根据相关调查数据显示：超六成的研究生考生想增强就业竞争力而选择考研；接近五成考生是为了完善自身知识结构或提高文化素养；留恋校园生活以及想在学术上继续深造的考生占比分别超过</a:t>
            </a:r>
            <a:r>
              <a:rPr lang="en-US" altLang="zh-CN" sz="2400" dirty="0">
                <a:cs typeface="楷体" panose="02010609060101010101" charset="-122"/>
              </a:rPr>
              <a:t>40%</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根据上述信息，关于研究生考生，一定可以得出以下哪项？（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有些考生留恋校园生活，但不想在学术上继续深造</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有些留恋校园生活的考生没有考虑到要增强就业竞争力</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有些考生不是为了提高文化素养，而是为了增强就业竞争力</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有些考生不仅为了完善自身知识结构，而且想在学术上继续深造</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95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8025"/>
            <a:ext cx="111556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维生素</a:t>
            </a:r>
            <a:r>
              <a:rPr lang="en-US" altLang="zh-CN" sz="2400" dirty="0">
                <a:cs typeface="楷体" panose="02010609060101010101" charset="-122"/>
              </a:rPr>
              <a:t>B1</a:t>
            </a:r>
            <a:r>
              <a:rPr lang="zh-CN" altLang="en-US" sz="2400" dirty="0">
                <a:cs typeface="楷体" panose="02010609060101010101" charset="-122"/>
              </a:rPr>
              <a:t>能驱蚊这个</a:t>
            </a:r>
            <a:r>
              <a:rPr lang="en-US" altLang="zh-CN" sz="2400" dirty="0">
                <a:cs typeface="楷体" panose="02010609060101010101" charset="-122"/>
              </a:rPr>
              <a:t>“</a:t>
            </a:r>
            <a:r>
              <a:rPr lang="zh-CN" altLang="en-US" sz="2400" dirty="0">
                <a:cs typeface="楷体" panose="02010609060101010101" charset="-122"/>
              </a:rPr>
              <a:t>偏方</a:t>
            </a:r>
            <a:r>
              <a:rPr lang="en-US" altLang="zh-CN" sz="2400" dirty="0">
                <a:cs typeface="楷体" panose="02010609060101010101" charset="-122"/>
              </a:rPr>
              <a:t>”</a:t>
            </a:r>
            <a:r>
              <a:rPr lang="zh-CN" altLang="en-US" sz="2400" dirty="0">
                <a:cs typeface="楷体" panose="02010609060101010101" charset="-122"/>
              </a:rPr>
              <a:t>，在网上和民间流传很久。据说，因为维生素</a:t>
            </a:r>
            <a:r>
              <a:rPr lang="en-US" altLang="zh-CN" sz="2400" dirty="0">
                <a:cs typeface="楷体" panose="02010609060101010101" charset="-122"/>
              </a:rPr>
              <a:t>B1</a:t>
            </a:r>
            <a:r>
              <a:rPr lang="zh-CN" altLang="en-US" sz="2400" dirty="0">
                <a:cs typeface="楷体" panose="02010609060101010101" charset="-122"/>
              </a:rPr>
              <a:t>很臭，很多人甚至觉得它的味道很恶心，如果身上带有维生素的</a:t>
            </a:r>
            <a:r>
              <a:rPr lang="en-US" altLang="zh-CN" sz="2400" dirty="0">
                <a:cs typeface="楷体" panose="02010609060101010101" charset="-122"/>
              </a:rPr>
              <a:t>B1</a:t>
            </a:r>
            <a:r>
              <a:rPr lang="zh-CN" altLang="en-US" sz="2400" dirty="0">
                <a:cs typeface="楷体" panose="02010609060101010101" charset="-122"/>
              </a:rPr>
              <a:t>味道，蚊子会被熏跑。可是，有专家指出，维生素</a:t>
            </a:r>
            <a:r>
              <a:rPr lang="en-US" altLang="zh-CN" sz="2400" dirty="0">
                <a:cs typeface="楷体" panose="02010609060101010101" charset="-122"/>
              </a:rPr>
              <a:t>B1</a:t>
            </a:r>
            <a:r>
              <a:rPr lang="zh-CN" altLang="en-US" sz="2400" dirty="0">
                <a:cs typeface="楷体" panose="02010609060101010101" charset="-122"/>
              </a:rPr>
              <a:t>并不能有效驱蚊。</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以下哪项如果为真，最能支持专家的观点？（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人觉得难闻的味道，蚊子未必不喜欢</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维生素</a:t>
            </a:r>
            <a:r>
              <a:rPr lang="en-US" altLang="zh-CN" sz="2400" dirty="0">
                <a:cs typeface="楷体" panose="02010609060101010101" charset="-122"/>
              </a:rPr>
              <a:t>B1</a:t>
            </a:r>
            <a:r>
              <a:rPr lang="zh-CN" altLang="en-US" sz="2400" dirty="0">
                <a:cs typeface="楷体" panose="02010609060101010101" charset="-122"/>
              </a:rPr>
              <a:t>特别不稳定，怕光、怕热，喷在身上，很快就挥发了</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有不少媒体专门辟谣：维生素</a:t>
            </a:r>
            <a:r>
              <a:rPr lang="en-US" altLang="zh-CN" sz="2400" dirty="0">
                <a:cs typeface="楷体" panose="02010609060101010101" charset="-122"/>
              </a:rPr>
              <a:t>B1</a:t>
            </a:r>
            <a:r>
              <a:rPr lang="zh-CN" altLang="en-US" sz="2400" dirty="0">
                <a:cs typeface="楷体" panose="02010609060101010101" charset="-122"/>
              </a:rPr>
              <a:t>驱蚊无科学依据，并不能保证安全和有效</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维生素</a:t>
            </a:r>
            <a:r>
              <a:rPr lang="en-US" altLang="zh-CN" sz="2400" dirty="0">
                <a:cs typeface="楷体" panose="02010609060101010101" charset="-122"/>
              </a:rPr>
              <a:t>B1</a:t>
            </a:r>
            <a:r>
              <a:rPr lang="zh-CN" altLang="en-US" sz="2400" dirty="0">
                <a:cs typeface="楷体" panose="02010609060101010101" charset="-122"/>
              </a:rPr>
              <a:t>的味道至多能干扰蚊子的感官系统，暂时性地</a:t>
            </a:r>
            <a:r>
              <a:rPr lang="en-US" altLang="zh-CN" sz="2400" dirty="0">
                <a:cs typeface="楷体" panose="02010609060101010101" charset="-122"/>
              </a:rPr>
              <a:t>“</a:t>
            </a:r>
            <a:r>
              <a:rPr lang="zh-CN" altLang="en-US" sz="2400" dirty="0">
                <a:cs typeface="楷体" panose="02010609060101010101" charset="-122"/>
              </a:rPr>
              <a:t>迷惑</a:t>
            </a:r>
            <a:r>
              <a:rPr lang="en-US" altLang="zh-CN" sz="2400" dirty="0">
                <a:cs typeface="楷体" panose="02010609060101010101" charset="-122"/>
              </a:rPr>
              <a:t>”</a:t>
            </a:r>
            <a:r>
              <a:rPr lang="zh-CN" altLang="en-US" sz="2400" dirty="0">
                <a:cs typeface="楷体" panose="02010609060101010101" charset="-122"/>
              </a:rPr>
              <a:t>蚊子，使其不能迅速找到人</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392430"/>
            <a:ext cx="1113726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在某次足球比赛中，对于甲、乙两支球队哪个队能进入决赛，宋、王、李、孔</a:t>
            </a:r>
            <a:r>
              <a:rPr lang="en-US" altLang="zh-CN" sz="2000" dirty="0">
                <a:cs typeface="楷体" panose="02010609060101010101" charset="-122"/>
              </a:rPr>
              <a:t>4</a:t>
            </a:r>
            <a:r>
              <a:rPr lang="zh-CN" altLang="en-US" sz="2000" dirty="0">
                <a:cs typeface="楷体" panose="02010609060101010101" charset="-122"/>
              </a:rPr>
              <a:t>位球迷进行了预测：</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宋：甲、乙两队至少有一队进入决赛；</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王：乙队进入决赛，而甲队未进入决赛；</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李：甲、乙两队都进入决赛；</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孔：甲、乙两队要么同时进入决赛，要么都未进入决赛</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比赛结束后，恰好有</a:t>
            </a:r>
            <a:r>
              <a:rPr lang="en-US" altLang="zh-CN" sz="2000" dirty="0">
                <a:cs typeface="楷体" panose="02010609060101010101" charset="-122"/>
              </a:rPr>
              <a:t>2</a:t>
            </a:r>
            <a:r>
              <a:rPr lang="zh-CN" altLang="en-US" sz="2000" dirty="0">
                <a:cs typeface="楷体" panose="02010609060101010101" charset="-122"/>
              </a:rPr>
              <a:t>人预测正确、</a:t>
            </a:r>
            <a:r>
              <a:rPr lang="en-US" altLang="zh-CN" sz="2000" dirty="0">
                <a:cs typeface="楷体" panose="02010609060101010101" charset="-122"/>
              </a:rPr>
              <a:t>2</a:t>
            </a:r>
            <a:r>
              <a:rPr lang="zh-CN" altLang="en-US" sz="2000" dirty="0">
                <a:cs typeface="楷体" panose="02010609060101010101" charset="-122"/>
              </a:rPr>
              <a:t>人预测错误。</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根据上述信息，可以得出以下哪项？（</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宋预测正确，乙进入了决赛</a:t>
            </a:r>
            <a:r>
              <a:rPr lang="en-US" altLang="zh-CN" sz="2000" dirty="0">
                <a:cs typeface="楷体" panose="02010609060101010101" charset="-122"/>
              </a:rPr>
              <a:t>	</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王预测错误，甲进入了决赛</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李预测正确，乙进入了决赛</a:t>
            </a:r>
            <a:r>
              <a:rPr lang="en-US" altLang="zh-CN" sz="2000" dirty="0">
                <a:cs typeface="楷体" panose="02010609060101010101" charset="-122"/>
              </a:rPr>
              <a:t>	</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孔预测错误，甲进入了决赛</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057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701675"/>
            <a:ext cx="1109154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sym typeface="+mn-ea"/>
              </a:rPr>
              <a:t>甲、乙、丙、丁、戊</a:t>
            </a:r>
            <a:r>
              <a:rPr lang="en-US" altLang="zh-CN" sz="2000" dirty="0">
                <a:cs typeface="楷体" panose="02010609060101010101" charset="-122"/>
                <a:sym typeface="+mn-ea"/>
              </a:rPr>
              <a:t>5</a:t>
            </a:r>
            <a:r>
              <a:rPr lang="zh-CN" altLang="en-US" sz="2000" dirty="0">
                <a:cs typeface="楷体" panose="02010609060101010101" charset="-122"/>
                <a:sym typeface="+mn-ea"/>
              </a:rPr>
              <a:t>人围坐在一张圆桌前，已知：</a:t>
            </a:r>
            <a:endParaRPr lang="zh-CN" altLang="en-US" sz="2000" dirty="0">
              <a:cs typeface="楷体" panose="02010609060101010101" charset="-122"/>
              <a:sym typeface="+mn-ea"/>
            </a:endParaRPr>
          </a:p>
          <a:p>
            <a:pPr indent="0" fontAlgn="auto">
              <a:lnSpc>
                <a:spcPct val="150000"/>
              </a:lnSpc>
            </a:pPr>
            <a:r>
              <a:rPr lang="zh-CN" altLang="en-US" sz="2000" dirty="0">
                <a:cs typeface="楷体" panose="02010609060101010101" charset="-122"/>
                <a:sym typeface="+mn-ea"/>
              </a:rPr>
              <a:t>（</a:t>
            </a:r>
            <a:r>
              <a:rPr lang="en-US" altLang="zh-CN" sz="2000" dirty="0">
                <a:cs typeface="楷体" panose="02010609060101010101" charset="-122"/>
                <a:sym typeface="+mn-ea"/>
              </a:rPr>
              <a:t>1</a:t>
            </a:r>
            <a:r>
              <a:rPr lang="zh-CN" altLang="en-US" sz="2000" dirty="0">
                <a:cs typeface="楷体" panose="02010609060101010101" charset="-122"/>
                <a:sym typeface="+mn-ea"/>
              </a:rPr>
              <a:t>）甲左边相邻的人不是乙或丁；</a:t>
            </a:r>
            <a:endParaRPr lang="zh-CN" altLang="en-US" sz="2000" dirty="0">
              <a:cs typeface="楷体" panose="02010609060101010101" charset="-122"/>
              <a:sym typeface="+mn-ea"/>
            </a:endParaRPr>
          </a:p>
          <a:p>
            <a:pPr indent="0" fontAlgn="auto">
              <a:lnSpc>
                <a:spcPct val="150000"/>
              </a:lnSpc>
            </a:pPr>
            <a:r>
              <a:rPr lang="zh-CN" altLang="en-US" sz="2000" dirty="0">
                <a:cs typeface="楷体" panose="02010609060101010101" charset="-122"/>
                <a:sym typeface="+mn-ea"/>
              </a:rPr>
              <a:t>（</a:t>
            </a:r>
            <a:r>
              <a:rPr lang="en-US" altLang="zh-CN" sz="2000" dirty="0">
                <a:cs typeface="楷体" panose="02010609060101010101" charset="-122"/>
                <a:sym typeface="+mn-ea"/>
              </a:rPr>
              <a:t>2</a:t>
            </a:r>
            <a:r>
              <a:rPr lang="zh-CN" altLang="en-US" sz="2000" dirty="0">
                <a:cs typeface="楷体" panose="02010609060101010101" charset="-122"/>
                <a:sym typeface="+mn-ea"/>
              </a:rPr>
              <a:t>）乙左边相邻的人不是丙或丁；</a:t>
            </a:r>
            <a:endParaRPr lang="zh-CN" altLang="en-US" sz="2000" dirty="0">
              <a:cs typeface="楷体" panose="02010609060101010101" charset="-122"/>
              <a:sym typeface="+mn-ea"/>
            </a:endParaRPr>
          </a:p>
          <a:p>
            <a:pPr indent="0" fontAlgn="auto">
              <a:lnSpc>
                <a:spcPct val="150000"/>
              </a:lnSpc>
            </a:pPr>
            <a:r>
              <a:rPr lang="zh-CN" altLang="en-US" sz="2000" dirty="0">
                <a:cs typeface="楷体" panose="02010609060101010101" charset="-122"/>
                <a:sym typeface="+mn-ea"/>
              </a:rPr>
              <a:t>（</a:t>
            </a:r>
            <a:r>
              <a:rPr lang="en-US" altLang="zh-CN" sz="2000" dirty="0">
                <a:cs typeface="楷体" panose="02010609060101010101" charset="-122"/>
                <a:sym typeface="+mn-ea"/>
              </a:rPr>
              <a:t>3</a:t>
            </a:r>
            <a:r>
              <a:rPr lang="zh-CN" altLang="en-US" sz="2000" dirty="0">
                <a:cs typeface="楷体" panose="02010609060101010101" charset="-122"/>
                <a:sym typeface="+mn-ea"/>
              </a:rPr>
              <a:t>）丙左边相邻的人不是乙或戊；</a:t>
            </a:r>
            <a:endParaRPr lang="zh-CN" altLang="en-US" sz="2000" dirty="0">
              <a:cs typeface="楷体" panose="02010609060101010101" charset="-122"/>
              <a:sym typeface="+mn-ea"/>
            </a:endParaRPr>
          </a:p>
          <a:p>
            <a:pPr indent="0" fontAlgn="auto">
              <a:lnSpc>
                <a:spcPct val="150000"/>
              </a:lnSpc>
            </a:pPr>
            <a:r>
              <a:rPr lang="zh-CN" altLang="en-US" sz="2000" dirty="0">
                <a:cs typeface="楷体" panose="02010609060101010101" charset="-122"/>
                <a:sym typeface="+mn-ea"/>
              </a:rPr>
              <a:t>（</a:t>
            </a:r>
            <a:r>
              <a:rPr lang="en-US" altLang="zh-CN" sz="2000" dirty="0">
                <a:cs typeface="楷体" panose="02010609060101010101" charset="-122"/>
                <a:sym typeface="+mn-ea"/>
              </a:rPr>
              <a:t>4</a:t>
            </a:r>
            <a:r>
              <a:rPr lang="zh-CN" altLang="en-US" sz="2000" dirty="0">
                <a:cs typeface="楷体" panose="02010609060101010101" charset="-122"/>
                <a:sym typeface="+mn-ea"/>
              </a:rPr>
              <a:t>）丁左边相邻的人不是丙或戊；</a:t>
            </a:r>
            <a:endParaRPr lang="zh-CN" altLang="en-US" sz="2000" dirty="0">
              <a:cs typeface="楷体" panose="02010609060101010101" charset="-122"/>
              <a:sym typeface="+mn-ea"/>
            </a:endParaRPr>
          </a:p>
          <a:p>
            <a:pPr indent="0" fontAlgn="auto">
              <a:lnSpc>
                <a:spcPct val="150000"/>
              </a:lnSpc>
            </a:pPr>
            <a:r>
              <a:rPr lang="zh-CN" altLang="en-US" sz="2000" dirty="0">
                <a:cs typeface="楷体" panose="02010609060101010101" charset="-122"/>
                <a:sym typeface="+mn-ea"/>
              </a:rPr>
              <a:t>（</a:t>
            </a:r>
            <a:r>
              <a:rPr lang="en-US" altLang="zh-CN" sz="2000" dirty="0">
                <a:cs typeface="楷体" panose="02010609060101010101" charset="-122"/>
                <a:sym typeface="+mn-ea"/>
              </a:rPr>
              <a:t>5</a:t>
            </a:r>
            <a:r>
              <a:rPr lang="zh-CN" altLang="en-US" sz="2000" dirty="0">
                <a:cs typeface="楷体" panose="02010609060101010101" charset="-122"/>
                <a:sym typeface="+mn-ea"/>
              </a:rPr>
              <a:t>）戊左边相邻的人不是甲或丁。</a:t>
            </a:r>
            <a:endParaRPr lang="zh-CN" altLang="en-US" sz="2000" dirty="0">
              <a:cs typeface="楷体" panose="02010609060101010101" charset="-122"/>
              <a:sym typeface="+mn-ea"/>
            </a:endParaRPr>
          </a:p>
          <a:p>
            <a:pPr indent="0" fontAlgn="auto">
              <a:lnSpc>
                <a:spcPct val="150000"/>
              </a:lnSpc>
            </a:pPr>
            <a:r>
              <a:rPr lang="zh-CN" altLang="en-US" sz="2000" dirty="0">
                <a:cs typeface="楷体" panose="02010609060101010101" charset="-122"/>
                <a:sym typeface="+mn-ea"/>
              </a:rPr>
              <a:t>根据以上信息，可以得出以下哪项？（</a:t>
            </a:r>
            <a:r>
              <a:rPr lang="en-US" altLang="zh-CN" sz="2000" dirty="0">
                <a:cs typeface="楷体" panose="02010609060101010101" charset="-122"/>
                <a:sym typeface="+mn-ea"/>
              </a:rPr>
              <a:t>  </a:t>
            </a:r>
            <a:r>
              <a:rPr lang="zh-CN" altLang="en-US" sz="2000" dirty="0">
                <a:cs typeface="楷体" panose="02010609060101010101" charset="-122"/>
                <a:sym typeface="+mn-ea"/>
              </a:rPr>
              <a:t>）</a:t>
            </a:r>
            <a:endParaRPr lang="zh-CN" altLang="en-US"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A.</a:t>
            </a:r>
            <a:r>
              <a:rPr lang="zh-CN" altLang="en-US" sz="2000" dirty="0">
                <a:cs typeface="楷体" panose="02010609060101010101" charset="-122"/>
                <a:sym typeface="+mn-ea"/>
              </a:rPr>
              <a:t>丁左边相邻的是乙</a:t>
            </a:r>
            <a:r>
              <a:rPr lang="en-US" altLang="zh-CN" sz="2000" dirty="0">
                <a:cs typeface="楷体" panose="02010609060101010101" charset="-122"/>
                <a:sym typeface="+mn-ea"/>
              </a:rPr>
              <a:t>	</a:t>
            </a:r>
            <a:endParaRPr lang="en-US" altLang="zh-CN"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B.</a:t>
            </a:r>
            <a:r>
              <a:rPr lang="zh-CN" altLang="en-US" sz="2000" dirty="0">
                <a:cs typeface="楷体" panose="02010609060101010101" charset="-122"/>
                <a:sym typeface="+mn-ea"/>
              </a:rPr>
              <a:t>甲左边相邻的是丙</a:t>
            </a:r>
            <a:endParaRPr lang="zh-CN" altLang="en-US"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C.</a:t>
            </a:r>
            <a:r>
              <a:rPr lang="zh-CN" altLang="en-US" sz="2000" dirty="0">
                <a:cs typeface="楷体" panose="02010609060101010101" charset="-122"/>
                <a:sym typeface="+mn-ea"/>
              </a:rPr>
              <a:t>乙左边相邻的是戊</a:t>
            </a:r>
            <a:r>
              <a:rPr lang="en-US" altLang="zh-CN" sz="2000" dirty="0">
                <a:cs typeface="楷体" panose="02010609060101010101" charset="-122"/>
                <a:sym typeface="+mn-ea"/>
              </a:rPr>
              <a:t>	</a:t>
            </a:r>
            <a:endParaRPr lang="en-US" altLang="zh-CN"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D.</a:t>
            </a:r>
            <a:r>
              <a:rPr lang="zh-CN" altLang="en-US" sz="2000" dirty="0">
                <a:cs typeface="楷体" panose="02010609060101010101" charset="-122"/>
                <a:sym typeface="+mn-ea"/>
              </a:rPr>
              <a:t>戊左边相邻的是乙</a:t>
            </a:r>
            <a:endParaRPr lang="zh-CN" altLang="en-US" sz="2000" dirty="0">
              <a:cs typeface="楷体" panose="02010609060101010101"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541655"/>
            <a:ext cx="11137265" cy="5526405"/>
          </a:xfrm>
          <a:prstGeom prst="rect">
            <a:avLst/>
          </a:prstGeom>
          <a:noFill/>
        </p:spPr>
        <p:txBody>
          <a:bodyPr wrap="square" rtlCol="0" anchor="t">
            <a:noAutofit/>
          </a:bodyPr>
          <a:p>
            <a:pPr indent="0" fontAlgn="auto">
              <a:lnSpc>
                <a:spcPct val="150000"/>
              </a:lnSpc>
            </a:pPr>
            <a:r>
              <a:rPr sz="2400" dirty="0">
                <a:cs typeface="楷体" panose="02010609060101010101" charset="-122"/>
              </a:rPr>
              <a:t>【材料】根据以下材料回答</a:t>
            </a:r>
            <a:r>
              <a:rPr lang="en-US" sz="2400" dirty="0">
                <a:cs typeface="楷体" panose="02010609060101010101" charset="-122"/>
                <a:sym typeface="+mn-ea"/>
              </a:rPr>
              <a:t>3</a:t>
            </a:r>
            <a:r>
              <a:rPr sz="2400" dirty="0">
                <a:cs typeface="楷体" panose="02010609060101010101" charset="-122"/>
                <a:sym typeface="+mn-ea"/>
              </a:rPr>
              <a:t>1-</a:t>
            </a:r>
            <a:r>
              <a:rPr lang="en-US" sz="2400" dirty="0">
                <a:cs typeface="楷体" panose="02010609060101010101" charset="-122"/>
                <a:sym typeface="+mn-ea"/>
              </a:rPr>
              <a:t>3</a:t>
            </a:r>
            <a:r>
              <a:rPr sz="2400" dirty="0">
                <a:cs typeface="楷体" panose="02010609060101010101" charset="-122"/>
                <a:sym typeface="+mn-ea"/>
              </a:rPr>
              <a:t>2</a:t>
            </a:r>
            <a:r>
              <a:rPr sz="2400" dirty="0">
                <a:cs typeface="楷体" panose="02010609060101010101" charset="-122"/>
              </a:rPr>
              <a:t>题</a:t>
            </a:r>
            <a:endParaRPr sz="2400" dirty="0">
              <a:cs typeface="楷体" panose="02010609060101010101" charset="-122"/>
            </a:endParaRPr>
          </a:p>
          <a:p>
            <a:pPr indent="0" fontAlgn="auto">
              <a:lnSpc>
                <a:spcPct val="150000"/>
              </a:lnSpc>
            </a:pPr>
            <a:r>
              <a:rPr lang="zh-CN" altLang="en-US" sz="2400" dirty="0">
                <a:cs typeface="楷体" panose="02010609060101010101" charset="-122"/>
              </a:rPr>
              <a:t>如何利用法律才能达到保护动物的最好效果？目前，在有些国家，对这个问题的回答是要求人类履行保护动物的义务。然而，另一方面，法律是否要赋予动物权利呢？对于该问题，反对者认为，动物不能拥有权利，因为它们自身无法行使这些权利。猪不能亲自作为原告，猿也无法在法庭上表达意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31.</a:t>
            </a:r>
            <a:r>
              <a:rPr lang="zh-CN" altLang="en-US" sz="2400" dirty="0">
                <a:cs typeface="楷体" panose="02010609060101010101" charset="-122"/>
              </a:rPr>
              <a:t>以下哪项如果为真，最能支持反对者的观点？（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动物只能拥有自身能够行使的权利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凡是动物能够行使的权利动物均应拥有</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不能履行相关义务，自然就不可能享有相应的权利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动物只有拥有被保护的权利，人类才能履行保护动物的义务</a:t>
            </a:r>
            <a:endParaRPr lang="zh-CN" altLang="en-US" sz="2400" dirty="0">
              <a:cs typeface="楷体"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390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43865" y="588010"/>
            <a:ext cx="11155680" cy="5526405"/>
          </a:xfrm>
          <a:prstGeom prst="rect">
            <a:avLst/>
          </a:prstGeom>
          <a:noFill/>
        </p:spPr>
        <p:txBody>
          <a:bodyPr wrap="square" rtlCol="0" anchor="t">
            <a:noAutofit/>
          </a:bodyPr>
          <a:p>
            <a:pPr indent="0" fontAlgn="auto">
              <a:lnSpc>
                <a:spcPct val="150000"/>
              </a:lnSpc>
            </a:pPr>
            <a:r>
              <a:rPr lang="en-US" altLang="zh-CN" sz="2000" dirty="0">
                <a:cs typeface="楷体" panose="02010609060101010101" charset="-122"/>
              </a:rPr>
              <a:t> </a:t>
            </a:r>
            <a:r>
              <a:rPr sz="2400" dirty="0">
                <a:cs typeface="楷体" panose="02010609060101010101" charset="-122"/>
                <a:sym typeface="+mn-ea"/>
              </a:rPr>
              <a:t>【材料】根据以下材料回答</a:t>
            </a:r>
            <a:r>
              <a:rPr lang="en-US" sz="2400" dirty="0">
                <a:cs typeface="楷体" panose="02010609060101010101" charset="-122"/>
                <a:sym typeface="+mn-ea"/>
              </a:rPr>
              <a:t>3</a:t>
            </a:r>
            <a:r>
              <a:rPr sz="2400" dirty="0">
                <a:cs typeface="楷体" panose="02010609060101010101" charset="-122"/>
                <a:sym typeface="+mn-ea"/>
              </a:rPr>
              <a:t>1-</a:t>
            </a:r>
            <a:r>
              <a:rPr lang="en-US" sz="2400" dirty="0">
                <a:cs typeface="楷体" panose="02010609060101010101" charset="-122"/>
                <a:sym typeface="+mn-ea"/>
              </a:rPr>
              <a:t>3</a:t>
            </a:r>
            <a:r>
              <a:rPr sz="2400" dirty="0">
                <a:cs typeface="楷体" panose="02010609060101010101" charset="-122"/>
                <a:sym typeface="+mn-ea"/>
              </a:rPr>
              <a:t>2题</a:t>
            </a:r>
            <a:endParaRPr sz="2400" dirty="0">
              <a:cs typeface="楷体" panose="02010609060101010101" charset="-122"/>
            </a:endParaRPr>
          </a:p>
          <a:p>
            <a:pPr indent="0" fontAlgn="auto">
              <a:lnSpc>
                <a:spcPct val="150000"/>
              </a:lnSpc>
            </a:pPr>
            <a:r>
              <a:rPr lang="zh-CN" altLang="en-US" sz="2400" dirty="0">
                <a:cs typeface="楷体" panose="02010609060101010101" charset="-122"/>
              </a:rPr>
              <a:t>如何利用法律才能达到保护动物的最好效果？目前，在有些国家，对这个问题的回答是要求人类履行保护动物的义务。然而，另一方面，法律是否要赋予动物权利呢？对于该问题，反对者认为，动物不能拥有权利，因为它们自身无法行使这些权利。猪不能亲自作为原告，猿也无法在法庭上表达意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32.</a:t>
            </a:r>
            <a:r>
              <a:rPr lang="zh-CN" altLang="en-US" sz="2400" dirty="0">
                <a:cs typeface="楷体" panose="02010609060101010101" charset="-122"/>
              </a:rPr>
              <a:t>以下各项如果为真，除哪项外均能质疑上述反对者的观点？（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人类的法律惩罚体系有些并不适用于猿猴等动物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黑猩猩等动物可以通过手语向人类表达自己的意愿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植物人具有可行使的权利，尽管其自身无法行使这些权利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既然要求动物有造福人类的义务，也应当赋予它们相应的权利</a:t>
            </a:r>
            <a:endParaRPr lang="zh-CN" altLang="en-US" sz="2400" dirty="0">
              <a:cs typeface="楷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586740" y="165735"/>
            <a:ext cx="11321415" cy="5526405"/>
          </a:xfrm>
          <a:prstGeom prst="rect">
            <a:avLst/>
          </a:prstGeom>
          <a:noFill/>
        </p:spPr>
        <p:txBody>
          <a:bodyPr wrap="square" rtlCol="0" anchor="t">
            <a:noAutofit/>
          </a:bodyPr>
          <a:p>
            <a:pPr indent="0" fontAlgn="auto">
              <a:lnSpc>
                <a:spcPct val="120000"/>
              </a:lnSpc>
            </a:pPr>
            <a:r>
              <a:rPr sz="2000" dirty="0">
                <a:cs typeface="楷体" panose="02010609060101010101" charset="-122"/>
              </a:rPr>
              <a:t>【材料】根据以下材料回答</a:t>
            </a:r>
            <a:r>
              <a:rPr lang="en-US" sz="2000" dirty="0">
                <a:cs typeface="楷体" panose="02010609060101010101" charset="-122"/>
                <a:sym typeface="+mn-ea"/>
              </a:rPr>
              <a:t>3</a:t>
            </a:r>
            <a:r>
              <a:rPr sz="2000" dirty="0">
                <a:cs typeface="楷体" panose="02010609060101010101" charset="-122"/>
                <a:sym typeface="+mn-ea"/>
              </a:rPr>
              <a:t>3-</a:t>
            </a:r>
            <a:r>
              <a:rPr lang="en-US" sz="2000" dirty="0">
                <a:cs typeface="楷体" panose="02010609060101010101" charset="-122"/>
                <a:sym typeface="+mn-ea"/>
              </a:rPr>
              <a:t>3</a:t>
            </a:r>
            <a:r>
              <a:rPr sz="2000" dirty="0">
                <a:cs typeface="楷体" panose="02010609060101010101" charset="-122"/>
                <a:sym typeface="+mn-ea"/>
              </a:rPr>
              <a:t>5</a:t>
            </a:r>
            <a:r>
              <a:rPr sz="2000" dirty="0">
                <a:cs typeface="楷体" panose="02010609060101010101" charset="-122"/>
              </a:rPr>
              <a:t>题</a:t>
            </a:r>
            <a:endParaRPr sz="2000" dirty="0">
              <a:cs typeface="楷体" panose="02010609060101010101" charset="-122"/>
            </a:endParaRPr>
          </a:p>
          <a:p>
            <a:pPr indent="0" fontAlgn="auto">
              <a:lnSpc>
                <a:spcPct val="120000"/>
              </a:lnSpc>
            </a:pPr>
            <a:r>
              <a:rPr lang="zh-CN" altLang="en-US" sz="2000" dirty="0">
                <a:cs typeface="楷体" panose="02010609060101010101" charset="-122"/>
              </a:rPr>
              <a:t>近期，民宿预定平台发布了今年元旦民宿大数据分析报告。数据显示，</a:t>
            </a:r>
            <a:r>
              <a:rPr lang="en-US" altLang="zh-CN" sz="2000" dirty="0">
                <a:cs typeface="楷体" panose="02010609060101010101" charset="-122"/>
              </a:rPr>
              <a:t>12</a:t>
            </a:r>
            <a:r>
              <a:rPr lang="zh-CN" altLang="en-US" sz="2000" dirty="0">
                <a:cs typeface="楷体" panose="02010609060101010101" charset="-122"/>
              </a:rPr>
              <a:t>月</a:t>
            </a:r>
            <a:r>
              <a:rPr lang="en-US" altLang="zh-CN" sz="2000" dirty="0">
                <a:cs typeface="楷体" panose="02010609060101010101" charset="-122"/>
              </a:rPr>
              <a:t>31</a:t>
            </a:r>
            <a:r>
              <a:rPr lang="zh-CN" altLang="en-US" sz="2000" dirty="0">
                <a:cs typeface="楷体" panose="02010609060101010101" charset="-122"/>
              </a:rPr>
              <a:t>日迎来元旦民宿入住高峰期，民宿平均价格同比下降</a:t>
            </a:r>
            <a:r>
              <a:rPr lang="en-US" altLang="zh-CN" sz="2000" dirty="0">
                <a:cs typeface="楷体" panose="02010609060101010101" charset="-122"/>
              </a:rPr>
              <a:t>7%</a:t>
            </a:r>
            <a:r>
              <a:rPr lang="zh-CN" altLang="en-US" sz="2000" dirty="0">
                <a:cs typeface="楷体" panose="02010609060101010101" charset="-122"/>
              </a:rPr>
              <a:t>，更具性价比，但部分地区民宿均价上涨七成，部分高端民宿更是一房难求。值得注意的是：</a:t>
            </a:r>
            <a:r>
              <a:rPr lang="en-US" altLang="en-US" sz="2000" dirty="0">
                <a:cs typeface="楷体" panose="02010609060101010101" charset="-122"/>
              </a:rPr>
              <a:t>①</a:t>
            </a:r>
            <a:r>
              <a:rPr lang="zh-CN" altLang="en-US" sz="2000" dirty="0">
                <a:cs typeface="楷体" panose="02010609060101010101" charset="-122"/>
              </a:rPr>
              <a:t>以往的民宿消费群体，主要以</a:t>
            </a:r>
            <a:r>
              <a:rPr lang="en-US" altLang="zh-CN" sz="2000" dirty="0">
                <a:cs typeface="楷体" panose="02010609060101010101" charset="-122"/>
              </a:rPr>
              <a:t>80</a:t>
            </a:r>
            <a:r>
              <a:rPr lang="zh-CN" altLang="en-US" sz="2000" dirty="0">
                <a:cs typeface="楷体" panose="02010609060101010101" charset="-122"/>
              </a:rPr>
              <a:t>后、</a:t>
            </a:r>
            <a:r>
              <a:rPr lang="en-US" altLang="zh-CN" sz="2000" dirty="0">
                <a:cs typeface="楷体" panose="02010609060101010101" charset="-122"/>
              </a:rPr>
              <a:t>90</a:t>
            </a:r>
            <a:r>
              <a:rPr lang="zh-CN" altLang="en-US" sz="2000" dirty="0">
                <a:cs typeface="楷体" panose="02010609060101010101" charset="-122"/>
              </a:rPr>
              <a:t>初人群为主，占据总人数的</a:t>
            </a:r>
            <a:r>
              <a:rPr lang="en-US" altLang="zh-CN" sz="2000" dirty="0">
                <a:cs typeface="楷体" panose="02010609060101010101" charset="-122"/>
              </a:rPr>
              <a:t>50%</a:t>
            </a:r>
            <a:r>
              <a:rPr lang="zh-CN" altLang="en-US" sz="2000" dirty="0">
                <a:cs typeface="楷体" panose="02010609060101010101" charset="-122"/>
              </a:rPr>
              <a:t>以上，但在今年元旦假期中，</a:t>
            </a:r>
            <a:r>
              <a:rPr lang="en-US" altLang="zh-CN" sz="2000" dirty="0">
                <a:cs typeface="楷体" panose="02010609060101010101" charset="-122"/>
              </a:rPr>
              <a:t>95</a:t>
            </a:r>
            <a:r>
              <a:rPr lang="zh-CN" altLang="en-US" sz="2000" dirty="0">
                <a:cs typeface="楷体" panose="02010609060101010101" charset="-122"/>
              </a:rPr>
              <a:t>后及</a:t>
            </a:r>
            <a:r>
              <a:rPr lang="en-US" altLang="zh-CN" sz="2000" dirty="0">
                <a:cs typeface="楷体" panose="02010609060101010101" charset="-122"/>
              </a:rPr>
              <a:t>00</a:t>
            </a:r>
            <a:r>
              <a:rPr lang="zh-CN" altLang="en-US" sz="2000" dirty="0">
                <a:cs typeface="楷体" panose="02010609060101010101" charset="-122"/>
              </a:rPr>
              <a:t>后的</a:t>
            </a:r>
            <a:r>
              <a:rPr lang="en-US" altLang="zh-CN" sz="2000" dirty="0">
                <a:cs typeface="楷体" panose="02010609060101010101" charset="-122"/>
              </a:rPr>
              <a:t>“Z</a:t>
            </a:r>
            <a:r>
              <a:rPr lang="zh-CN" altLang="en-US" sz="2000" dirty="0">
                <a:cs typeface="楷体" panose="02010609060101010101" charset="-122"/>
              </a:rPr>
              <a:t>世代</a:t>
            </a:r>
            <a:r>
              <a:rPr lang="en-US" altLang="zh-CN" sz="2000" dirty="0">
                <a:cs typeface="楷体" panose="02010609060101010101" charset="-122"/>
              </a:rPr>
              <a:t>”</a:t>
            </a:r>
            <a:r>
              <a:rPr lang="zh-CN" altLang="en-US" sz="2000" dirty="0">
                <a:cs typeface="楷体" panose="02010609060101010101" charset="-122"/>
              </a:rPr>
              <a:t>年轻用户群体迅速崛起，占据总人数的</a:t>
            </a:r>
            <a:r>
              <a:rPr lang="en-US" altLang="zh-CN" sz="2000" dirty="0">
                <a:cs typeface="楷体" panose="02010609060101010101" charset="-122"/>
              </a:rPr>
              <a:t>67%</a:t>
            </a:r>
            <a:r>
              <a:rPr lang="zh-CN" altLang="en-US" sz="2000" dirty="0">
                <a:cs typeface="楷体" panose="02010609060101010101" charset="-122"/>
              </a:rPr>
              <a:t>以上。与此同时，民宿经营收益达到去年元旦假期的</a:t>
            </a:r>
            <a:r>
              <a:rPr lang="en-US" altLang="zh-CN" sz="2000" dirty="0">
                <a:cs typeface="楷体" panose="02010609060101010101" charset="-122"/>
              </a:rPr>
              <a:t>1.8</a:t>
            </a:r>
            <a:r>
              <a:rPr lang="zh-CN" altLang="en-US" sz="2000" dirty="0">
                <a:cs typeface="楷体" panose="02010609060101010101" charset="-122"/>
              </a:rPr>
              <a:t>倍。</a:t>
            </a:r>
            <a:r>
              <a:rPr lang="en-US" altLang="zh-CN" sz="2000" dirty="0">
                <a:cs typeface="楷体" panose="02010609060101010101" charset="-122"/>
              </a:rPr>
              <a:t>“Z</a:t>
            </a:r>
            <a:r>
              <a:rPr lang="zh-CN" altLang="en-US" sz="2000" dirty="0">
                <a:cs typeface="楷体" panose="02010609060101010101" charset="-122"/>
              </a:rPr>
              <a:t>世代</a:t>
            </a:r>
            <a:r>
              <a:rPr lang="en-US" altLang="zh-CN" sz="2000" dirty="0">
                <a:cs typeface="楷体" panose="02010609060101010101" charset="-122"/>
              </a:rPr>
              <a:t>”</a:t>
            </a:r>
            <a:r>
              <a:rPr lang="zh-CN" altLang="en-US" sz="2000" dirty="0">
                <a:cs typeface="楷体" panose="02010609060101010101" charset="-122"/>
              </a:rPr>
              <a:t>已成为民宿经营收益的主要贡献者。</a:t>
            </a:r>
            <a:r>
              <a:rPr lang="en-US" altLang="en-US" sz="2000" dirty="0">
                <a:cs typeface="楷体" panose="02010609060101010101" charset="-122"/>
              </a:rPr>
              <a:t>②</a:t>
            </a:r>
            <a:r>
              <a:rPr lang="zh-CN" altLang="en-US" sz="2000" dirty="0">
                <a:cs typeface="楷体" panose="02010609060101010101" charset="-122"/>
              </a:rPr>
              <a:t>在民宿预定平台上，</a:t>
            </a:r>
            <a:r>
              <a:rPr lang="en-US" altLang="zh-CN" sz="2000" dirty="0">
                <a:cs typeface="楷体" panose="02010609060101010101" charset="-122"/>
              </a:rPr>
              <a:t>“</a:t>
            </a:r>
            <a:r>
              <a:rPr lang="zh-CN" altLang="en-US" sz="2000" dirty="0">
                <a:cs typeface="楷体" panose="02010609060101010101" charset="-122"/>
              </a:rPr>
              <a:t>可以做饭</a:t>
            </a:r>
            <a:r>
              <a:rPr lang="en-US" altLang="zh-CN" sz="2000" dirty="0">
                <a:cs typeface="楷体" panose="02010609060101010101" charset="-122"/>
              </a:rPr>
              <a:t>”“</a:t>
            </a:r>
            <a:r>
              <a:rPr lang="zh-CN" altLang="en-US" sz="2000" dirty="0">
                <a:cs typeface="楷体" panose="02010609060101010101" charset="-122"/>
              </a:rPr>
              <a:t>投影设备</a:t>
            </a:r>
            <a:r>
              <a:rPr lang="en-US" altLang="zh-CN" sz="2000" dirty="0">
                <a:cs typeface="楷体" panose="02010609060101010101" charset="-122"/>
              </a:rPr>
              <a:t>”</a:t>
            </a:r>
            <a:r>
              <a:rPr lang="zh-CN" altLang="en-US" sz="2000" dirty="0">
                <a:cs typeface="楷体" panose="02010609060101010101" charset="-122"/>
              </a:rPr>
              <a:t>等关键词成为搜索量最高的热词。可见，足不出户在民宿里过个假期成为很多人的选择。数据显示，元旦期间民宿订单中，跨省游和跨市游的订单占比超过八成。</a:t>
            </a:r>
            <a:r>
              <a:rPr lang="en-US" altLang="en-US" sz="2000" dirty="0">
                <a:cs typeface="楷体" panose="02010609060101010101" charset="-122"/>
              </a:rPr>
              <a:t>③</a:t>
            </a:r>
            <a:r>
              <a:rPr lang="zh-CN" altLang="en-US" sz="2000" dirty="0">
                <a:cs typeface="楷体" panose="02010609060101010101" charset="-122"/>
              </a:rPr>
              <a:t>外地来的游客以市内旅游路线为主，因此市内旅游点附近民宿订单火爆，郊区度假式民宿遇冷。这意味着，在不久后到来的春节黄金周期间，郊区度假式民宿要采用低价战略，增加其在价格上的吸引力。</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33.</a:t>
            </a:r>
            <a:r>
              <a:rPr lang="zh-CN" altLang="en-US" sz="2000" dirty="0">
                <a:cs typeface="楷体" panose="02010609060101010101" charset="-122"/>
              </a:rPr>
              <a:t>对</a:t>
            </a:r>
            <a:r>
              <a:rPr lang="en-US" altLang="en-US" sz="2000" dirty="0">
                <a:cs typeface="楷体" panose="02010609060101010101" charset="-122"/>
              </a:rPr>
              <a:t>①</a:t>
            </a:r>
            <a:r>
              <a:rPr lang="zh-CN" altLang="en-US" sz="2000" dirty="0">
                <a:cs typeface="楷体" panose="02010609060101010101" charset="-122"/>
              </a:rPr>
              <a:t>处论证错误的评价最恰当的是（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A.</a:t>
            </a:r>
            <a:r>
              <a:rPr lang="zh-CN" altLang="en-US" sz="2000" dirty="0">
                <a:cs typeface="楷体" panose="02010609060101010101" charset="-122"/>
              </a:rPr>
              <a:t>忽略了其他的因素对结论有效性的影响</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B.</a:t>
            </a:r>
            <a:r>
              <a:rPr lang="zh-CN" altLang="en-US" sz="2000" dirty="0">
                <a:cs typeface="楷体" panose="02010609060101010101" charset="-122"/>
              </a:rPr>
              <a:t>将某些个体所具有的属性当作群体属性</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C.</a:t>
            </a:r>
            <a:r>
              <a:rPr lang="zh-CN" altLang="en-US" sz="2000" dirty="0">
                <a:cs typeface="楷体" panose="02010609060101010101" charset="-122"/>
              </a:rPr>
              <a:t>缺少其他群体对应数据就草率得出结论</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D.</a:t>
            </a:r>
            <a:r>
              <a:rPr lang="zh-CN" altLang="en-US" sz="2000" dirty="0">
                <a:cs typeface="楷体" panose="02010609060101010101" charset="-122"/>
              </a:rPr>
              <a:t>认为随机的客观现象之间具有因果关系</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34</a:t>
            </a:r>
            <a:endParaRPr kumimoji="1" lang="en-US" altLang="zh-CN" sz="2800" b="1" dirty="0">
              <a:solidFill>
                <a:srgbClr val="FF653F"/>
              </a:solidFill>
            </a:endParaRPr>
          </a:p>
        </p:txBody>
      </p:sp>
      <p:sp>
        <p:nvSpPr>
          <p:cNvPr id="3" name="文本框 2"/>
          <p:cNvSpPr txBox="1"/>
          <p:nvPr/>
        </p:nvSpPr>
        <p:spPr>
          <a:xfrm>
            <a:off x="462915" y="113665"/>
            <a:ext cx="11321415" cy="5526405"/>
          </a:xfrm>
          <a:prstGeom prst="rect">
            <a:avLst/>
          </a:prstGeom>
          <a:noFill/>
        </p:spPr>
        <p:txBody>
          <a:bodyPr wrap="square" rtlCol="0" anchor="t">
            <a:noAutofit/>
          </a:bodyPr>
          <a:p>
            <a:pPr indent="0" fontAlgn="auto">
              <a:lnSpc>
                <a:spcPct val="120000"/>
              </a:lnSpc>
            </a:pPr>
            <a:r>
              <a:rPr sz="2000" dirty="0">
                <a:cs typeface="楷体" panose="02010609060101010101" charset="-122"/>
              </a:rPr>
              <a:t>【材料】根据以下材料回答</a:t>
            </a:r>
            <a:r>
              <a:rPr lang="en-US" sz="2000" dirty="0">
                <a:cs typeface="楷体" panose="02010609060101010101" charset="-122"/>
                <a:sym typeface="+mn-ea"/>
              </a:rPr>
              <a:t>3</a:t>
            </a:r>
            <a:r>
              <a:rPr sz="2000" dirty="0">
                <a:cs typeface="楷体" panose="02010609060101010101" charset="-122"/>
                <a:sym typeface="+mn-ea"/>
              </a:rPr>
              <a:t>3-</a:t>
            </a:r>
            <a:r>
              <a:rPr lang="en-US" sz="2000" dirty="0">
                <a:cs typeface="楷体" panose="02010609060101010101" charset="-122"/>
                <a:sym typeface="+mn-ea"/>
              </a:rPr>
              <a:t>3</a:t>
            </a:r>
            <a:r>
              <a:rPr sz="2000" dirty="0">
                <a:cs typeface="楷体" panose="02010609060101010101" charset="-122"/>
                <a:sym typeface="+mn-ea"/>
              </a:rPr>
              <a:t>5</a:t>
            </a:r>
            <a:r>
              <a:rPr sz="2000" dirty="0">
                <a:cs typeface="楷体" panose="02010609060101010101" charset="-122"/>
              </a:rPr>
              <a:t>题</a:t>
            </a:r>
            <a:endParaRPr sz="2000" dirty="0">
              <a:cs typeface="楷体" panose="02010609060101010101" charset="-122"/>
            </a:endParaRPr>
          </a:p>
          <a:p>
            <a:pPr indent="0" fontAlgn="auto">
              <a:lnSpc>
                <a:spcPct val="120000"/>
              </a:lnSpc>
            </a:pPr>
            <a:r>
              <a:rPr lang="zh-CN" altLang="en-US" sz="2000" dirty="0">
                <a:cs typeface="楷体" panose="02010609060101010101" charset="-122"/>
              </a:rPr>
              <a:t>近期，民宿预定平台发布了今年元旦民宿大数据分析报告。数据显示，</a:t>
            </a:r>
            <a:r>
              <a:rPr lang="en-US" altLang="zh-CN" sz="2000" dirty="0">
                <a:cs typeface="楷体" panose="02010609060101010101" charset="-122"/>
              </a:rPr>
              <a:t>12</a:t>
            </a:r>
            <a:r>
              <a:rPr lang="zh-CN" altLang="en-US" sz="2000" dirty="0">
                <a:cs typeface="楷体" panose="02010609060101010101" charset="-122"/>
              </a:rPr>
              <a:t>月</a:t>
            </a:r>
            <a:r>
              <a:rPr lang="en-US" altLang="zh-CN" sz="2000" dirty="0">
                <a:cs typeface="楷体" panose="02010609060101010101" charset="-122"/>
              </a:rPr>
              <a:t>31</a:t>
            </a:r>
            <a:r>
              <a:rPr lang="zh-CN" altLang="en-US" sz="2000" dirty="0">
                <a:cs typeface="楷体" panose="02010609060101010101" charset="-122"/>
              </a:rPr>
              <a:t>日迎来元旦民宿入住高峰期，民宿平均价格同比下降</a:t>
            </a:r>
            <a:r>
              <a:rPr lang="en-US" altLang="zh-CN" sz="2000" dirty="0">
                <a:cs typeface="楷体" panose="02010609060101010101" charset="-122"/>
              </a:rPr>
              <a:t>7%</a:t>
            </a:r>
            <a:r>
              <a:rPr lang="zh-CN" altLang="en-US" sz="2000" dirty="0">
                <a:cs typeface="楷体" panose="02010609060101010101" charset="-122"/>
              </a:rPr>
              <a:t>，更具性价比，但部分地区民宿均价上涨七成，部分高端民宿更是一房难求。值得注意的是：</a:t>
            </a:r>
            <a:r>
              <a:rPr lang="en-US" altLang="en-US" sz="2000" dirty="0">
                <a:cs typeface="楷体" panose="02010609060101010101" charset="-122"/>
              </a:rPr>
              <a:t>①</a:t>
            </a:r>
            <a:r>
              <a:rPr lang="zh-CN" altLang="en-US" sz="2000" dirty="0">
                <a:cs typeface="楷体" panose="02010609060101010101" charset="-122"/>
              </a:rPr>
              <a:t>以往的民宿消费群体，主要以</a:t>
            </a:r>
            <a:r>
              <a:rPr lang="en-US" altLang="zh-CN" sz="2000" dirty="0">
                <a:cs typeface="楷体" panose="02010609060101010101" charset="-122"/>
              </a:rPr>
              <a:t>80</a:t>
            </a:r>
            <a:r>
              <a:rPr lang="zh-CN" altLang="en-US" sz="2000" dirty="0">
                <a:cs typeface="楷体" panose="02010609060101010101" charset="-122"/>
              </a:rPr>
              <a:t>后、</a:t>
            </a:r>
            <a:r>
              <a:rPr lang="en-US" altLang="zh-CN" sz="2000" dirty="0">
                <a:cs typeface="楷体" panose="02010609060101010101" charset="-122"/>
              </a:rPr>
              <a:t>90</a:t>
            </a:r>
            <a:r>
              <a:rPr lang="zh-CN" altLang="en-US" sz="2000" dirty="0">
                <a:cs typeface="楷体" panose="02010609060101010101" charset="-122"/>
              </a:rPr>
              <a:t>初人群为主，占据总人数的</a:t>
            </a:r>
            <a:r>
              <a:rPr lang="en-US" altLang="zh-CN" sz="2000" dirty="0">
                <a:cs typeface="楷体" panose="02010609060101010101" charset="-122"/>
              </a:rPr>
              <a:t>50%</a:t>
            </a:r>
            <a:r>
              <a:rPr lang="zh-CN" altLang="en-US" sz="2000" dirty="0">
                <a:cs typeface="楷体" panose="02010609060101010101" charset="-122"/>
              </a:rPr>
              <a:t>以上，但在今年元旦假期中，</a:t>
            </a:r>
            <a:r>
              <a:rPr lang="en-US" altLang="zh-CN" sz="2000" dirty="0">
                <a:cs typeface="楷体" panose="02010609060101010101" charset="-122"/>
              </a:rPr>
              <a:t>95</a:t>
            </a:r>
            <a:r>
              <a:rPr lang="zh-CN" altLang="en-US" sz="2000" dirty="0">
                <a:cs typeface="楷体" panose="02010609060101010101" charset="-122"/>
              </a:rPr>
              <a:t>后及</a:t>
            </a:r>
            <a:r>
              <a:rPr lang="en-US" altLang="zh-CN" sz="2000" dirty="0">
                <a:cs typeface="楷体" panose="02010609060101010101" charset="-122"/>
              </a:rPr>
              <a:t>00</a:t>
            </a:r>
            <a:r>
              <a:rPr lang="zh-CN" altLang="en-US" sz="2000" dirty="0">
                <a:cs typeface="楷体" panose="02010609060101010101" charset="-122"/>
              </a:rPr>
              <a:t>后的</a:t>
            </a:r>
            <a:r>
              <a:rPr lang="en-US" altLang="zh-CN" sz="2000" dirty="0">
                <a:cs typeface="楷体" panose="02010609060101010101" charset="-122"/>
              </a:rPr>
              <a:t>“Z</a:t>
            </a:r>
            <a:r>
              <a:rPr lang="zh-CN" altLang="en-US" sz="2000" dirty="0">
                <a:cs typeface="楷体" panose="02010609060101010101" charset="-122"/>
              </a:rPr>
              <a:t>世代</a:t>
            </a:r>
            <a:r>
              <a:rPr lang="en-US" altLang="zh-CN" sz="2000" dirty="0">
                <a:cs typeface="楷体" panose="02010609060101010101" charset="-122"/>
              </a:rPr>
              <a:t>”</a:t>
            </a:r>
            <a:r>
              <a:rPr lang="zh-CN" altLang="en-US" sz="2000" dirty="0">
                <a:cs typeface="楷体" panose="02010609060101010101" charset="-122"/>
              </a:rPr>
              <a:t>年轻用户群体迅速崛起，占据总人数的</a:t>
            </a:r>
            <a:r>
              <a:rPr lang="en-US" altLang="zh-CN" sz="2000" dirty="0">
                <a:cs typeface="楷体" panose="02010609060101010101" charset="-122"/>
              </a:rPr>
              <a:t>67%</a:t>
            </a:r>
            <a:r>
              <a:rPr lang="zh-CN" altLang="en-US" sz="2000" dirty="0">
                <a:cs typeface="楷体" panose="02010609060101010101" charset="-122"/>
              </a:rPr>
              <a:t>以上。与此同时，民宿经营收益达到去年元旦假期的</a:t>
            </a:r>
            <a:r>
              <a:rPr lang="en-US" altLang="zh-CN" sz="2000" dirty="0">
                <a:cs typeface="楷体" panose="02010609060101010101" charset="-122"/>
              </a:rPr>
              <a:t>1.8</a:t>
            </a:r>
            <a:r>
              <a:rPr lang="zh-CN" altLang="en-US" sz="2000" dirty="0">
                <a:cs typeface="楷体" panose="02010609060101010101" charset="-122"/>
              </a:rPr>
              <a:t>倍。</a:t>
            </a:r>
            <a:r>
              <a:rPr lang="en-US" altLang="zh-CN" sz="2000" dirty="0">
                <a:cs typeface="楷体" panose="02010609060101010101" charset="-122"/>
              </a:rPr>
              <a:t>“Z</a:t>
            </a:r>
            <a:r>
              <a:rPr lang="zh-CN" altLang="en-US" sz="2000" dirty="0">
                <a:cs typeface="楷体" panose="02010609060101010101" charset="-122"/>
              </a:rPr>
              <a:t>世代</a:t>
            </a:r>
            <a:r>
              <a:rPr lang="en-US" altLang="zh-CN" sz="2000" dirty="0">
                <a:cs typeface="楷体" panose="02010609060101010101" charset="-122"/>
              </a:rPr>
              <a:t>”</a:t>
            </a:r>
            <a:r>
              <a:rPr lang="zh-CN" altLang="en-US" sz="2000" dirty="0">
                <a:cs typeface="楷体" panose="02010609060101010101" charset="-122"/>
              </a:rPr>
              <a:t>已成为民宿经营收益的主要贡献者。</a:t>
            </a:r>
            <a:r>
              <a:rPr lang="en-US" altLang="en-US" sz="2000" dirty="0">
                <a:cs typeface="楷体" panose="02010609060101010101" charset="-122"/>
              </a:rPr>
              <a:t>②</a:t>
            </a:r>
            <a:r>
              <a:rPr lang="zh-CN" altLang="en-US" sz="2000" dirty="0">
                <a:cs typeface="楷体" panose="02010609060101010101" charset="-122"/>
              </a:rPr>
              <a:t>在民宿预定平台上，</a:t>
            </a:r>
            <a:r>
              <a:rPr lang="en-US" altLang="zh-CN" sz="2000" dirty="0">
                <a:cs typeface="楷体" panose="02010609060101010101" charset="-122"/>
              </a:rPr>
              <a:t>“</a:t>
            </a:r>
            <a:r>
              <a:rPr lang="zh-CN" altLang="en-US" sz="2000" dirty="0">
                <a:cs typeface="楷体" panose="02010609060101010101" charset="-122"/>
              </a:rPr>
              <a:t>可以做饭</a:t>
            </a:r>
            <a:r>
              <a:rPr lang="en-US" altLang="zh-CN" sz="2000" dirty="0">
                <a:cs typeface="楷体" panose="02010609060101010101" charset="-122"/>
              </a:rPr>
              <a:t>”“</a:t>
            </a:r>
            <a:r>
              <a:rPr lang="zh-CN" altLang="en-US" sz="2000" dirty="0">
                <a:cs typeface="楷体" panose="02010609060101010101" charset="-122"/>
              </a:rPr>
              <a:t>投影设备</a:t>
            </a:r>
            <a:r>
              <a:rPr lang="en-US" altLang="zh-CN" sz="2000" dirty="0">
                <a:cs typeface="楷体" panose="02010609060101010101" charset="-122"/>
              </a:rPr>
              <a:t>”</a:t>
            </a:r>
            <a:r>
              <a:rPr lang="zh-CN" altLang="en-US" sz="2000" dirty="0">
                <a:cs typeface="楷体" panose="02010609060101010101" charset="-122"/>
              </a:rPr>
              <a:t>等关键词成为搜索量最高的热词。可见，足不出户在民宿里过个假期成为很多人的选择。数据显示，元旦期间民宿订单中，跨省游和跨市游的订单占比超过八成。</a:t>
            </a:r>
            <a:r>
              <a:rPr lang="en-US" altLang="en-US" sz="2000" dirty="0">
                <a:cs typeface="楷体" panose="02010609060101010101" charset="-122"/>
              </a:rPr>
              <a:t>③</a:t>
            </a:r>
            <a:r>
              <a:rPr lang="zh-CN" altLang="en-US" sz="2000" dirty="0">
                <a:cs typeface="楷体" panose="02010609060101010101" charset="-122"/>
              </a:rPr>
              <a:t>外地来的游客以市内旅游路线为主，因此市内旅游点附近民宿订单火爆，郊区度假式民宿遇冷。这意味着，在不久后到来的春节黄金周期间，郊区度假式民宿要采用低价战略，增加其在价格上的吸引力。</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34.</a:t>
            </a:r>
            <a:r>
              <a:rPr lang="zh-CN" altLang="en-US" sz="2000" dirty="0">
                <a:cs typeface="楷体" panose="02010609060101010101" charset="-122"/>
              </a:rPr>
              <a:t>以下哪项最可能是</a:t>
            </a:r>
            <a:r>
              <a:rPr lang="en-US" altLang="en-US" sz="2000" dirty="0">
                <a:cs typeface="楷体" panose="02010609060101010101" charset="-122"/>
              </a:rPr>
              <a:t>②</a:t>
            </a:r>
            <a:r>
              <a:rPr lang="zh-CN" altLang="en-US" sz="2000" dirty="0">
                <a:cs typeface="楷体" panose="02010609060101010101" charset="-122"/>
              </a:rPr>
              <a:t>处论证需要补充的前提？（</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A.</a:t>
            </a:r>
            <a:r>
              <a:rPr lang="zh-CN" altLang="en-US" sz="2000" dirty="0">
                <a:cs typeface="楷体" panose="02010609060101010101" charset="-122"/>
              </a:rPr>
              <a:t>只有足不出户的消费者才会通过平台预定</a:t>
            </a:r>
            <a:r>
              <a:rPr lang="en-US" altLang="zh-CN" sz="2000" dirty="0">
                <a:cs typeface="楷体" panose="02010609060101010101" charset="-122"/>
              </a:rPr>
              <a:t>A</a:t>
            </a:r>
            <a:r>
              <a:rPr lang="zh-CN" altLang="en-US" sz="2000" dirty="0">
                <a:cs typeface="楷体" panose="02010609060101010101" charset="-122"/>
              </a:rPr>
              <a:t>民宿</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B.</a:t>
            </a:r>
            <a:r>
              <a:rPr lang="zh-CN" altLang="en-US" sz="2000" dirty="0">
                <a:cs typeface="楷体" panose="02010609060101010101" charset="-122"/>
              </a:rPr>
              <a:t>只有足不出户的消费者才会在假期里选择去民宿</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C.</a:t>
            </a:r>
            <a:r>
              <a:rPr lang="zh-CN" altLang="en-US" sz="2000" dirty="0">
                <a:cs typeface="楷体" panose="02010609060101010101" charset="-122"/>
              </a:rPr>
              <a:t>只有足不出户的消费者才需要在民宿里做饭和看投影</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D.</a:t>
            </a:r>
            <a:r>
              <a:rPr lang="zh-CN" altLang="en-US" sz="2000" dirty="0">
                <a:cs typeface="楷体" panose="02010609060101010101" charset="-122"/>
              </a:rPr>
              <a:t>只有喜欢做饭和看投影的消费者才会在假期里选择民宿</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35</a:t>
            </a:r>
            <a:endParaRPr kumimoji="1" lang="en-US" altLang="zh-CN" sz="2800" b="1" dirty="0">
              <a:solidFill>
                <a:srgbClr val="FF653F"/>
              </a:solidFill>
            </a:endParaRPr>
          </a:p>
        </p:txBody>
      </p:sp>
      <p:sp>
        <p:nvSpPr>
          <p:cNvPr id="3" name="文本框 2"/>
          <p:cNvSpPr txBox="1"/>
          <p:nvPr/>
        </p:nvSpPr>
        <p:spPr>
          <a:xfrm>
            <a:off x="551180" y="104140"/>
            <a:ext cx="11321415" cy="5526405"/>
          </a:xfrm>
          <a:prstGeom prst="rect">
            <a:avLst/>
          </a:prstGeom>
          <a:noFill/>
        </p:spPr>
        <p:txBody>
          <a:bodyPr wrap="square" rtlCol="0" anchor="t">
            <a:noAutofit/>
          </a:bodyPr>
          <a:p>
            <a:pPr indent="0" fontAlgn="auto">
              <a:lnSpc>
                <a:spcPct val="130000"/>
              </a:lnSpc>
            </a:pPr>
            <a:r>
              <a:rPr dirty="0">
                <a:cs typeface="楷体" panose="02010609060101010101" charset="-122"/>
              </a:rPr>
              <a:t>【材料】根据以下材料回答</a:t>
            </a:r>
            <a:r>
              <a:rPr lang="en-US" dirty="0">
                <a:cs typeface="楷体" panose="02010609060101010101" charset="-122"/>
                <a:sym typeface="+mn-ea"/>
              </a:rPr>
              <a:t>3</a:t>
            </a:r>
            <a:r>
              <a:rPr dirty="0">
                <a:cs typeface="楷体" panose="02010609060101010101" charset="-122"/>
                <a:sym typeface="+mn-ea"/>
              </a:rPr>
              <a:t>3-</a:t>
            </a:r>
            <a:r>
              <a:rPr lang="en-US" dirty="0">
                <a:cs typeface="楷体" panose="02010609060101010101" charset="-122"/>
                <a:sym typeface="+mn-ea"/>
              </a:rPr>
              <a:t>3</a:t>
            </a:r>
            <a:r>
              <a:rPr dirty="0">
                <a:cs typeface="楷体" panose="02010609060101010101" charset="-122"/>
                <a:sym typeface="+mn-ea"/>
              </a:rPr>
              <a:t>5</a:t>
            </a:r>
            <a:r>
              <a:rPr dirty="0">
                <a:cs typeface="楷体" panose="02010609060101010101" charset="-122"/>
              </a:rPr>
              <a:t>题</a:t>
            </a:r>
            <a:endParaRPr dirty="0">
              <a:cs typeface="楷体" panose="02010609060101010101" charset="-122"/>
            </a:endParaRPr>
          </a:p>
          <a:p>
            <a:pPr indent="0" fontAlgn="auto">
              <a:lnSpc>
                <a:spcPct val="130000"/>
              </a:lnSpc>
            </a:pPr>
            <a:r>
              <a:rPr lang="zh-CN" altLang="en-US" dirty="0">
                <a:cs typeface="楷体" panose="02010609060101010101" charset="-122"/>
              </a:rPr>
              <a:t>近期，民宿预定平台发布了今年元旦民宿大数据分析报告。数据显示，</a:t>
            </a:r>
            <a:r>
              <a:rPr lang="en-US" altLang="zh-CN" dirty="0">
                <a:cs typeface="楷体" panose="02010609060101010101" charset="-122"/>
              </a:rPr>
              <a:t>12</a:t>
            </a:r>
            <a:r>
              <a:rPr lang="zh-CN" altLang="en-US" dirty="0">
                <a:cs typeface="楷体" panose="02010609060101010101" charset="-122"/>
              </a:rPr>
              <a:t>月</a:t>
            </a:r>
            <a:r>
              <a:rPr lang="en-US" altLang="zh-CN" dirty="0">
                <a:cs typeface="楷体" panose="02010609060101010101" charset="-122"/>
              </a:rPr>
              <a:t>31</a:t>
            </a:r>
            <a:r>
              <a:rPr lang="zh-CN" altLang="en-US" dirty="0">
                <a:cs typeface="楷体" panose="02010609060101010101" charset="-122"/>
              </a:rPr>
              <a:t>日迎来元旦民宿入住高峰期，民宿平均价格同比下降</a:t>
            </a:r>
            <a:r>
              <a:rPr lang="en-US" altLang="zh-CN" dirty="0">
                <a:cs typeface="楷体" panose="02010609060101010101" charset="-122"/>
              </a:rPr>
              <a:t>7%</a:t>
            </a:r>
            <a:r>
              <a:rPr lang="zh-CN" altLang="en-US" dirty="0">
                <a:cs typeface="楷体" panose="02010609060101010101" charset="-122"/>
              </a:rPr>
              <a:t>，更具性价比，但部分地区民宿均价上涨七成，部分高端民宿更是一房难求。值得注意的是：</a:t>
            </a:r>
            <a:r>
              <a:rPr lang="en-US" altLang="en-US" dirty="0">
                <a:cs typeface="楷体" panose="02010609060101010101" charset="-122"/>
              </a:rPr>
              <a:t>①</a:t>
            </a:r>
            <a:r>
              <a:rPr lang="zh-CN" altLang="en-US" dirty="0">
                <a:cs typeface="楷体" panose="02010609060101010101" charset="-122"/>
              </a:rPr>
              <a:t>以往的民宿消费群体，主要以</a:t>
            </a:r>
            <a:r>
              <a:rPr lang="en-US" altLang="zh-CN" dirty="0">
                <a:cs typeface="楷体" panose="02010609060101010101" charset="-122"/>
              </a:rPr>
              <a:t>80</a:t>
            </a:r>
            <a:r>
              <a:rPr lang="zh-CN" altLang="en-US" dirty="0">
                <a:cs typeface="楷体" panose="02010609060101010101" charset="-122"/>
              </a:rPr>
              <a:t>后、</a:t>
            </a:r>
            <a:r>
              <a:rPr lang="en-US" altLang="zh-CN" dirty="0">
                <a:cs typeface="楷体" panose="02010609060101010101" charset="-122"/>
              </a:rPr>
              <a:t>90</a:t>
            </a:r>
            <a:r>
              <a:rPr lang="zh-CN" altLang="en-US" dirty="0">
                <a:cs typeface="楷体" panose="02010609060101010101" charset="-122"/>
              </a:rPr>
              <a:t>初人群为主，占据总人数的</a:t>
            </a:r>
            <a:r>
              <a:rPr lang="en-US" altLang="zh-CN" dirty="0">
                <a:cs typeface="楷体" panose="02010609060101010101" charset="-122"/>
              </a:rPr>
              <a:t>50%</a:t>
            </a:r>
            <a:r>
              <a:rPr lang="zh-CN" altLang="en-US" dirty="0">
                <a:cs typeface="楷体" panose="02010609060101010101" charset="-122"/>
              </a:rPr>
              <a:t>以上，但在今年元旦假期中，</a:t>
            </a:r>
            <a:r>
              <a:rPr lang="en-US" altLang="zh-CN" dirty="0">
                <a:cs typeface="楷体" panose="02010609060101010101" charset="-122"/>
              </a:rPr>
              <a:t>95</a:t>
            </a:r>
            <a:r>
              <a:rPr lang="zh-CN" altLang="en-US" dirty="0">
                <a:cs typeface="楷体" panose="02010609060101010101" charset="-122"/>
              </a:rPr>
              <a:t>后及</a:t>
            </a:r>
            <a:r>
              <a:rPr lang="en-US" altLang="zh-CN" dirty="0">
                <a:cs typeface="楷体" panose="02010609060101010101" charset="-122"/>
              </a:rPr>
              <a:t>00</a:t>
            </a:r>
            <a:r>
              <a:rPr lang="zh-CN" altLang="en-US" dirty="0">
                <a:cs typeface="楷体" panose="02010609060101010101" charset="-122"/>
              </a:rPr>
              <a:t>后的</a:t>
            </a:r>
            <a:r>
              <a:rPr lang="en-US" altLang="zh-CN" dirty="0">
                <a:cs typeface="楷体" panose="02010609060101010101" charset="-122"/>
              </a:rPr>
              <a:t>“Z</a:t>
            </a:r>
            <a:r>
              <a:rPr lang="zh-CN" altLang="en-US" dirty="0">
                <a:cs typeface="楷体" panose="02010609060101010101" charset="-122"/>
              </a:rPr>
              <a:t>世代</a:t>
            </a:r>
            <a:r>
              <a:rPr lang="en-US" altLang="zh-CN" dirty="0">
                <a:cs typeface="楷体" panose="02010609060101010101" charset="-122"/>
              </a:rPr>
              <a:t>”</a:t>
            </a:r>
            <a:r>
              <a:rPr lang="zh-CN" altLang="en-US" dirty="0">
                <a:cs typeface="楷体" panose="02010609060101010101" charset="-122"/>
              </a:rPr>
              <a:t>年轻用户群体迅速崛起，占据总人数的</a:t>
            </a:r>
            <a:r>
              <a:rPr lang="en-US" altLang="zh-CN" dirty="0">
                <a:cs typeface="楷体" panose="02010609060101010101" charset="-122"/>
              </a:rPr>
              <a:t>67%</a:t>
            </a:r>
            <a:r>
              <a:rPr lang="zh-CN" altLang="en-US" dirty="0">
                <a:cs typeface="楷体" panose="02010609060101010101" charset="-122"/>
              </a:rPr>
              <a:t>以上。与此同时，民宿经营收益达到去年元旦假期的</a:t>
            </a:r>
            <a:r>
              <a:rPr lang="en-US" altLang="zh-CN" dirty="0">
                <a:cs typeface="楷体" panose="02010609060101010101" charset="-122"/>
              </a:rPr>
              <a:t>1.8</a:t>
            </a:r>
            <a:r>
              <a:rPr lang="zh-CN" altLang="en-US" dirty="0">
                <a:cs typeface="楷体" panose="02010609060101010101" charset="-122"/>
              </a:rPr>
              <a:t>倍。</a:t>
            </a:r>
            <a:r>
              <a:rPr lang="en-US" altLang="zh-CN" dirty="0">
                <a:cs typeface="楷体" panose="02010609060101010101" charset="-122"/>
              </a:rPr>
              <a:t>“Z</a:t>
            </a:r>
            <a:r>
              <a:rPr lang="zh-CN" altLang="en-US" dirty="0">
                <a:cs typeface="楷体" panose="02010609060101010101" charset="-122"/>
              </a:rPr>
              <a:t>世代</a:t>
            </a:r>
            <a:r>
              <a:rPr lang="en-US" altLang="zh-CN" dirty="0">
                <a:cs typeface="楷体" panose="02010609060101010101" charset="-122"/>
              </a:rPr>
              <a:t>”</a:t>
            </a:r>
            <a:r>
              <a:rPr lang="zh-CN" altLang="en-US" dirty="0">
                <a:cs typeface="楷体" panose="02010609060101010101" charset="-122"/>
              </a:rPr>
              <a:t>已成为民宿经营收益的主要贡献者。</a:t>
            </a:r>
            <a:r>
              <a:rPr lang="en-US" altLang="en-US" dirty="0">
                <a:cs typeface="楷体" panose="02010609060101010101" charset="-122"/>
              </a:rPr>
              <a:t>②</a:t>
            </a:r>
            <a:r>
              <a:rPr lang="zh-CN" altLang="en-US" dirty="0">
                <a:cs typeface="楷体" panose="02010609060101010101" charset="-122"/>
              </a:rPr>
              <a:t>在民宿预定平台上，</a:t>
            </a:r>
            <a:r>
              <a:rPr lang="en-US" altLang="zh-CN" dirty="0">
                <a:cs typeface="楷体" panose="02010609060101010101" charset="-122"/>
              </a:rPr>
              <a:t>“</a:t>
            </a:r>
            <a:r>
              <a:rPr lang="zh-CN" altLang="en-US" dirty="0">
                <a:cs typeface="楷体" panose="02010609060101010101" charset="-122"/>
              </a:rPr>
              <a:t>可以做饭</a:t>
            </a:r>
            <a:r>
              <a:rPr lang="en-US" altLang="zh-CN" dirty="0">
                <a:cs typeface="楷体" panose="02010609060101010101" charset="-122"/>
              </a:rPr>
              <a:t>”“</a:t>
            </a:r>
            <a:r>
              <a:rPr lang="zh-CN" altLang="en-US" dirty="0">
                <a:cs typeface="楷体" panose="02010609060101010101" charset="-122"/>
              </a:rPr>
              <a:t>投影设备</a:t>
            </a:r>
            <a:r>
              <a:rPr lang="en-US" altLang="zh-CN" dirty="0">
                <a:cs typeface="楷体" panose="02010609060101010101" charset="-122"/>
              </a:rPr>
              <a:t>”</a:t>
            </a:r>
            <a:r>
              <a:rPr lang="zh-CN" altLang="en-US" dirty="0">
                <a:cs typeface="楷体" panose="02010609060101010101" charset="-122"/>
              </a:rPr>
              <a:t>等关键词成为搜索量最高的热词。可见，足不出户在民宿里过个假期成为很多人的选择。数据显示，元旦期间民宿订单中，跨省游和跨市游的订单占比超过八成。</a:t>
            </a:r>
            <a:r>
              <a:rPr lang="en-US" altLang="en-US" dirty="0">
                <a:cs typeface="楷体" panose="02010609060101010101" charset="-122"/>
              </a:rPr>
              <a:t>③</a:t>
            </a:r>
            <a:r>
              <a:rPr lang="zh-CN" altLang="en-US" dirty="0">
                <a:cs typeface="楷体" panose="02010609060101010101" charset="-122"/>
              </a:rPr>
              <a:t>外地来的游客以市内旅游路线为主，因此市内旅游点附近民宿订单火爆，郊区度假式民宿遇冷。这意味着，在不久后到来的春节黄金周期间，郊区度假式民宿要采用低价战略，增加其在价格上的吸引力。</a:t>
            </a:r>
            <a:endParaRPr lang="zh-CN" altLang="en-US" dirty="0">
              <a:cs typeface="楷体" panose="02010609060101010101" charset="-122"/>
            </a:endParaRPr>
          </a:p>
          <a:p>
            <a:pPr indent="0" fontAlgn="auto">
              <a:lnSpc>
                <a:spcPct val="130000"/>
              </a:lnSpc>
            </a:pPr>
            <a:r>
              <a:rPr lang="en-US" altLang="zh-CN" dirty="0">
                <a:cs typeface="楷体" panose="02010609060101010101" charset="-122"/>
              </a:rPr>
              <a:t>35.</a:t>
            </a:r>
            <a:r>
              <a:rPr lang="zh-CN" altLang="en-US" dirty="0">
                <a:cs typeface="楷体" panose="02010609060101010101" charset="-122"/>
              </a:rPr>
              <a:t>下列哪一问题，不影响</a:t>
            </a:r>
            <a:r>
              <a:rPr lang="en-US" altLang="en-US" dirty="0">
                <a:cs typeface="楷体" panose="02010609060101010101" charset="-122"/>
              </a:rPr>
              <a:t>③</a:t>
            </a:r>
            <a:r>
              <a:rPr lang="zh-CN" altLang="en-US" dirty="0">
                <a:cs typeface="楷体" panose="02010609060101010101" charset="-122"/>
              </a:rPr>
              <a:t>处论证的成立？（</a:t>
            </a:r>
            <a:r>
              <a:rPr lang="en-US" altLang="zh-CN" dirty="0">
                <a:cs typeface="楷体" panose="02010609060101010101" charset="-122"/>
              </a:rPr>
              <a:t>  </a:t>
            </a:r>
            <a:r>
              <a:rPr lang="zh-CN" altLang="en-US" dirty="0">
                <a:cs typeface="楷体" panose="02010609060101010101" charset="-122"/>
              </a:rPr>
              <a:t>）</a:t>
            </a:r>
            <a:endParaRPr lang="zh-CN" altLang="en-US" dirty="0">
              <a:cs typeface="楷体" panose="02010609060101010101" charset="-122"/>
            </a:endParaRPr>
          </a:p>
          <a:p>
            <a:pPr indent="0" fontAlgn="auto">
              <a:lnSpc>
                <a:spcPct val="130000"/>
              </a:lnSpc>
            </a:pPr>
            <a:r>
              <a:rPr lang="en-US" altLang="zh-CN" dirty="0">
                <a:cs typeface="楷体" panose="02010609060101010101" charset="-122"/>
              </a:rPr>
              <a:t>A.</a:t>
            </a:r>
            <a:r>
              <a:rPr lang="zh-CN" altLang="en-US" dirty="0">
                <a:cs typeface="楷体" panose="02010609060101010101" charset="-122"/>
              </a:rPr>
              <a:t>外地游客是否仍然是春节黄金周期间游客的主力军？</a:t>
            </a:r>
            <a:endParaRPr lang="zh-CN" altLang="en-US" dirty="0">
              <a:cs typeface="楷体" panose="02010609060101010101" charset="-122"/>
            </a:endParaRPr>
          </a:p>
          <a:p>
            <a:pPr indent="0" fontAlgn="auto">
              <a:lnSpc>
                <a:spcPct val="130000"/>
              </a:lnSpc>
            </a:pPr>
            <a:r>
              <a:rPr lang="en-US" altLang="zh-CN" dirty="0">
                <a:cs typeface="楷体" panose="02010609060101010101" charset="-122"/>
              </a:rPr>
              <a:t>B.</a:t>
            </a:r>
            <a:r>
              <a:rPr lang="zh-CN" altLang="en-US" dirty="0">
                <a:cs typeface="楷体" panose="02010609060101010101" charset="-122"/>
              </a:rPr>
              <a:t>郊区度假式民宿的价格，是否与其提供的服务质量相匹配？</a:t>
            </a:r>
            <a:endParaRPr lang="zh-CN" altLang="en-US" dirty="0">
              <a:cs typeface="楷体" panose="02010609060101010101" charset="-122"/>
            </a:endParaRPr>
          </a:p>
          <a:p>
            <a:pPr indent="0" fontAlgn="auto">
              <a:lnSpc>
                <a:spcPct val="130000"/>
              </a:lnSpc>
            </a:pPr>
            <a:r>
              <a:rPr lang="en-US" altLang="zh-CN" dirty="0">
                <a:cs typeface="楷体" panose="02010609060101010101" charset="-122"/>
              </a:rPr>
              <a:t>C.</a:t>
            </a:r>
            <a:r>
              <a:rPr lang="zh-CN" altLang="en-US" dirty="0">
                <a:cs typeface="楷体" panose="02010609060101010101" charset="-122"/>
              </a:rPr>
              <a:t>春节黄金周期间，价格是否影响游客选择民宿时最关心的问题？</a:t>
            </a:r>
            <a:endParaRPr lang="zh-CN" altLang="en-US" dirty="0">
              <a:cs typeface="楷体" panose="02010609060101010101" charset="-122"/>
            </a:endParaRPr>
          </a:p>
          <a:p>
            <a:pPr indent="0" fontAlgn="auto">
              <a:lnSpc>
                <a:spcPct val="130000"/>
              </a:lnSpc>
            </a:pPr>
            <a:r>
              <a:rPr lang="en-US" altLang="zh-CN" dirty="0">
                <a:cs typeface="楷体" panose="02010609060101010101" charset="-122"/>
              </a:rPr>
              <a:t>D.</a:t>
            </a:r>
            <a:r>
              <a:rPr lang="zh-CN" altLang="en-US" dirty="0">
                <a:cs typeface="楷体" panose="02010609060101010101" charset="-122"/>
              </a:rPr>
              <a:t>除了市内旅游点附近民宿和郊区度假式民宿，是否还有其他类型民宿？</a:t>
            </a:r>
            <a:endParaRPr lang="zh-CN" altLang="en-US" dirty="0">
              <a:cs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5.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6637</Words>
  <Application>WPS 演示</Application>
  <PresentationFormat>宽屏</PresentationFormat>
  <Paragraphs>330</Paragraphs>
  <Slides>37</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Arial</vt:lpstr>
      <vt:lpstr>宋体</vt:lpstr>
      <vt:lpstr>Wingdings</vt:lpstr>
      <vt:lpstr>楷体</vt:lpstr>
      <vt:lpstr>MiSans Bold</vt:lpstr>
      <vt:lpstr>微软雅黑</vt:lpstr>
      <vt:lpstr>Arial Unicode MS</vt:lpstr>
      <vt:lpstr>Wingdings</vt:lpstr>
      <vt:lpstr>自定义设计方案</vt:lpstr>
      <vt:lpstr>PowerPoint 演示文稿</vt:lpstr>
      <vt:lpstr>题1</vt:lpstr>
      <vt:lpstr>题2</vt:lpstr>
      <vt:lpstr>题3</vt:lpstr>
      <vt:lpstr>题4</vt:lpstr>
      <vt:lpstr>题5</vt:lpstr>
      <vt:lpstr>题6</vt:lpstr>
      <vt:lpstr>题7</vt:lpstr>
      <vt:lpstr>题8</vt:lpstr>
      <vt:lpstr>题9</vt:lpstr>
      <vt:lpstr>题10</vt:lpstr>
      <vt:lpstr>题11</vt:lpstr>
      <vt:lpstr>题12</vt:lpstr>
      <vt:lpstr>题13</vt:lpstr>
      <vt:lpstr>题14</vt:lpstr>
      <vt:lpstr>题15</vt:lpstr>
      <vt:lpstr>题16</vt:lpstr>
      <vt:lpstr>题17</vt:lpstr>
      <vt:lpstr>题18</vt:lpstr>
      <vt:lpstr>题19</vt:lpstr>
      <vt:lpstr>题20</vt:lpstr>
      <vt:lpstr>题21</vt:lpstr>
      <vt:lpstr>题22</vt:lpstr>
      <vt:lpstr>题23</vt:lpstr>
      <vt:lpstr>题24</vt:lpstr>
      <vt:lpstr>题25</vt:lpstr>
      <vt:lpstr>题26</vt:lpstr>
      <vt:lpstr>题27</vt:lpstr>
      <vt:lpstr>题28</vt:lpstr>
      <vt:lpstr>题29</vt:lpstr>
      <vt:lpstr>题30</vt:lpstr>
      <vt:lpstr>题31</vt:lpstr>
      <vt:lpstr>题32</vt:lpstr>
      <vt:lpstr>题33</vt:lpstr>
      <vt:lpstr>题34</vt:lpstr>
      <vt:lpstr>题35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222</cp:revision>
  <dcterms:created xsi:type="dcterms:W3CDTF">2019-06-19T02:08:00Z</dcterms:created>
  <dcterms:modified xsi:type="dcterms:W3CDTF">2026-01-12T12:27:27Z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