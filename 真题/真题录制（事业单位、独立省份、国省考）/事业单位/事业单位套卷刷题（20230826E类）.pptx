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
  </p:handoutMasterIdLst>
  <p:sldIdLst>
    <p:sldId id="1620" r:id="rId3"/>
    <p:sldId id="1584" r:id="rId5"/>
    <p:sldId id="1585" r:id="rId6"/>
    <p:sldId id="1586" r:id="rId7"/>
    <p:sldId id="1589" r:id="rId8"/>
    <p:sldId id="1590" r:id="rId9"/>
    <p:sldId id="1621" r:id="rId10"/>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5.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解析：元素组成相同，优先考虑位置规律。观察发现，每个元素的位置明显发生变化，优先考虑平移。第一组图形中图</a:t>
            </a:r>
            <a:r>
              <a:rPr lang="en-US" altLang="zh-CN" sz="1200" kern="1200" dirty="0">
                <a:solidFill>
                  <a:schemeClr val="tx1"/>
                </a:solidFill>
                <a:effectLst/>
                <a:latin typeface="+mn-lt"/>
                <a:sym typeface="楷体" panose="02010609060101010101" charset="-122"/>
              </a:rPr>
              <a:t>1</a:t>
            </a:r>
            <a:r>
              <a:rPr lang="zh-CN" altLang="en-US" sz="1200" kern="1200" dirty="0">
                <a:solidFill>
                  <a:schemeClr val="tx1"/>
                </a:solidFill>
                <a:effectLst/>
                <a:latin typeface="+mn-lt"/>
                <a:sym typeface="楷体" panose="02010609060101010101" charset="-122"/>
              </a:rPr>
              <a:t>和图</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每列元素相同，优先考虑按列走，每列元素均往下平移</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格（到头时循环走）；图</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到图</a:t>
            </a:r>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每行元素相同，优先考虑按行走，每行元素均往左平移</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格（到头时循环走）。第二组应用此规律，故？处应选择由第二幅图的元素均往左平移</a:t>
            </a:r>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格（到头时循环走）的图形，只有</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项符合。</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项：根据题干公式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补吸气量与潮气量之和称为吸气容量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，可知：补吸气量吸气容量潮气量，即补吸气量，该项无法推出，排除；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项：根据题干公式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余气量与补呼气量之和称为机能性余气量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，可知：补呼气量机能性余气量余气量，即补呼气量，因为潮气量、补吸气量、补呼气量三者之和称为肺活量，由</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项可知补吸气量为</a:t>
            </a:r>
            <a:r>
              <a:rPr lang="en-US" altLang="zh-CN" sz="1200" kern="1200" dirty="0">
                <a:solidFill>
                  <a:schemeClr val="tx1"/>
                </a:solidFill>
                <a:effectLst/>
                <a:latin typeface="+mn-lt"/>
                <a:sym typeface="楷体" panose="02010609060101010101" charset="-122"/>
              </a:rPr>
              <a:t>1300ml</a:t>
            </a:r>
            <a:r>
              <a:rPr lang="zh-CN" altLang="en-US" sz="1200" kern="1200" dirty="0">
                <a:solidFill>
                  <a:schemeClr val="tx1"/>
                </a:solidFill>
                <a:effectLst/>
                <a:latin typeface="+mn-lt"/>
                <a:sym typeface="楷体" panose="02010609060101010101" charset="-122"/>
              </a:rPr>
              <a:t>，即肺活量，比吸气容量</a:t>
            </a:r>
            <a:r>
              <a:rPr lang="en-US" altLang="zh-CN" sz="1200" kern="1200" dirty="0">
                <a:solidFill>
                  <a:schemeClr val="tx1"/>
                </a:solidFill>
                <a:effectLst/>
                <a:latin typeface="+mn-lt"/>
                <a:sym typeface="楷体" panose="02010609060101010101" charset="-122"/>
              </a:rPr>
              <a:t>1800ml</a:t>
            </a:r>
            <a:r>
              <a:rPr lang="zh-CN" altLang="en-US" sz="1200" kern="1200" dirty="0">
                <a:solidFill>
                  <a:schemeClr val="tx1"/>
                </a:solidFill>
                <a:effectLst/>
                <a:latin typeface="+mn-lt"/>
                <a:sym typeface="楷体" panose="02010609060101010101" charset="-122"/>
              </a:rPr>
              <a:t>多</a:t>
            </a:r>
            <a:r>
              <a:rPr lang="en-US" altLang="zh-CN" sz="1200" kern="1200" dirty="0">
                <a:solidFill>
                  <a:schemeClr val="tx1"/>
                </a:solidFill>
                <a:effectLst/>
                <a:latin typeface="+mn-lt"/>
                <a:sym typeface="楷体" panose="02010609060101010101" charset="-122"/>
              </a:rPr>
              <a:t>1400ml</a:t>
            </a:r>
            <a:r>
              <a:rPr lang="zh-CN" altLang="en-US" sz="1200" kern="1200" dirty="0">
                <a:solidFill>
                  <a:schemeClr val="tx1"/>
                </a:solidFill>
                <a:effectLst/>
                <a:latin typeface="+mn-lt"/>
                <a:sym typeface="楷体" panose="02010609060101010101" charset="-122"/>
              </a:rPr>
              <a:t>，该项无法推出，排除；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项：根据题干公式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余气量与肺活量之和称为肺总容量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潮气量、补吸气量、补呼气量三者之和称为肺活量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，即肺总容量潮气量补吸气量补呼气量余气量。由于题干指出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补吸气量与潮气量之和称为吸气容量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余气量与补呼气量之和称为机能性余气量</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，所以吸气容量与机能性余气量之和即为肺总容量，该项可以推出，当选；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项：由题干可知机能性余气量为</a:t>
            </a:r>
            <a:r>
              <a:rPr lang="en-US" altLang="zh-CN" sz="1200" kern="1200" dirty="0">
                <a:solidFill>
                  <a:schemeClr val="tx1"/>
                </a:solidFill>
                <a:effectLst/>
                <a:latin typeface="+mn-lt"/>
                <a:sym typeface="楷体" panose="02010609060101010101" charset="-122"/>
              </a:rPr>
              <a:t>2400ml</a:t>
            </a:r>
            <a:r>
              <a:rPr lang="zh-CN" altLang="en-US" sz="1200" kern="1200" dirty="0">
                <a:solidFill>
                  <a:schemeClr val="tx1"/>
                </a:solidFill>
                <a:effectLst/>
                <a:latin typeface="+mn-lt"/>
                <a:sym typeface="楷体" panose="02010609060101010101" charset="-122"/>
              </a:rPr>
              <a:t>，由</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项可知肺活量为</a:t>
            </a:r>
            <a:r>
              <a:rPr lang="en-US" altLang="zh-CN" sz="1200" kern="1200" dirty="0">
                <a:solidFill>
                  <a:schemeClr val="tx1"/>
                </a:solidFill>
                <a:effectLst/>
                <a:latin typeface="+mn-lt"/>
                <a:sym typeface="楷体" panose="02010609060101010101" charset="-122"/>
              </a:rPr>
              <a:t>3200ml</a:t>
            </a:r>
            <a:r>
              <a:rPr lang="zh-CN" altLang="en-US" sz="1200" kern="1200" dirty="0">
                <a:solidFill>
                  <a:schemeClr val="tx1"/>
                </a:solidFill>
                <a:effectLst/>
                <a:latin typeface="+mn-lt"/>
                <a:sym typeface="楷体" panose="02010609060101010101" charset="-122"/>
              </a:rPr>
              <a:t>，则肺活量与机能性余气量的差值为</a:t>
            </a:r>
            <a:r>
              <a:rPr lang="en-US" altLang="zh-CN" sz="1200" kern="1200" dirty="0">
                <a:solidFill>
                  <a:schemeClr val="tx1"/>
                </a:solidFill>
                <a:effectLst/>
                <a:latin typeface="+mn-lt"/>
                <a:sym typeface="楷体" panose="02010609060101010101" charset="-122"/>
              </a:rPr>
              <a:t>800ml</a:t>
            </a:r>
            <a:r>
              <a:rPr lang="zh-CN" altLang="en-US" sz="1200" kern="1200" dirty="0">
                <a:solidFill>
                  <a:schemeClr val="tx1"/>
                </a:solidFill>
                <a:effectLst/>
                <a:latin typeface="+mn-lt"/>
                <a:sym typeface="楷体" panose="02010609060101010101" charset="-122"/>
              </a:rPr>
              <a:t>，但吸气容量为</a:t>
            </a:r>
            <a:r>
              <a:rPr lang="en-US" altLang="zh-CN" sz="1200" kern="1200" dirty="0">
                <a:solidFill>
                  <a:schemeClr val="tx1"/>
                </a:solidFill>
                <a:effectLst/>
                <a:latin typeface="+mn-lt"/>
                <a:sym typeface="楷体" panose="02010609060101010101" charset="-122"/>
              </a:rPr>
              <a:t>1800ml</a:t>
            </a:r>
            <a:r>
              <a:rPr lang="zh-CN" altLang="en-US" sz="1200" kern="1200" dirty="0">
                <a:solidFill>
                  <a:schemeClr val="tx1"/>
                </a:solidFill>
                <a:effectLst/>
                <a:latin typeface="+mn-lt"/>
                <a:sym typeface="楷体" panose="02010609060101010101" charset="-122"/>
              </a:rPr>
              <a:t>，所以肺活量与机能性余气量的差值小于吸气容量，该项无法推出，排除。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解析：论点：我们无需闻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色变，这些胶属于食品添加剂中的增稠剂，加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追求的是口感，安全是有保障的。</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论据：无。</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项：选项说明添加了食用胶的小零食的口感好，但论点讨论的是添加胶的食品安全性问题，话题不一致，无法加强，排除；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项：选项讨论的是添加胶的含量是否符合标准，但论点讨论的是添加胶的食品安全性问题，话题不一致，无法加强，排除；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项：选项讨论的是添加增稠剂制成的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老酸奶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和普通酸奶的营养成分差别不大，但论点讨论的是添加胶的食品安全性问题，话题不一致，无法加强，排除；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项：选项说明食用胶</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般都是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天然产物</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，是从有益菌或可食植物等提取而来的，解释了添加的胶安全有保障的原因，补充论据，可以加强，当选。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有些有敬业精神的员工优秀员工</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优秀员工有团队精神的员工</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有敬业精神的员工参加表彰会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执行力弱参加表彰会</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项：翻译为：有些执行力强参加表彰会，根据</a:t>
            </a:r>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逆否可知：参加表彰会执行力弱，但执行力弱执行力强；题干中未涉及</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执行能力强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的概念（执行能力弱执行能力强），无法推出，排除；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项：翻译为：有些参加表彰会有团队精神的员工，由</a:t>
            </a:r>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串联可知有些有敬业精神的员工优秀员工有团队精神的员工，换位可得，有些有团队精神的员工有敬业精神的员工，再与</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串联可知：有些有团队精神的员工有敬业精神的员工参加表彰会，即有些有团队精神的员工参加表彰会，换位可知：有些参加表彰会有团队精神的员工，可以推出，当选；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项：翻译为：参加表彰会有敬业精神的员工，根据题干中</a:t>
            </a:r>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可知：有敬业精神的员工参加表彰会，肯后无法推出确定结果，无法推出，排除；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项：翻译为：有团队精神的员工优秀员工，根据题干中</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可知：优秀员工有团队精神的员工，肯后无法推出确定结果，无法推出，排除。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D</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有些有敬业精神的员工优秀员工</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优秀员工有团队精神的员工</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a:t>
            </a:r>
            <a:r>
              <a:rPr lang="zh-CN" altLang="en-US" sz="1200" kern="1200" dirty="0">
                <a:solidFill>
                  <a:schemeClr val="tx1"/>
                </a:solidFill>
                <a:effectLst/>
                <a:latin typeface="+mn-lt"/>
                <a:sym typeface="楷体" panose="02010609060101010101" charset="-122"/>
              </a:rPr>
              <a:t>有敬业精神的员工参加表彰会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④</a:t>
            </a:r>
            <a:r>
              <a:rPr lang="zh-CN" altLang="en-US" sz="1200" kern="1200" dirty="0">
                <a:solidFill>
                  <a:schemeClr val="tx1"/>
                </a:solidFill>
                <a:effectLst/>
                <a:latin typeface="+mn-lt"/>
                <a:sym typeface="楷体" panose="02010609060101010101" charset="-122"/>
              </a:rPr>
              <a:t>执行力弱参加表彰会</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①②</a:t>
            </a:r>
            <a:r>
              <a:rPr lang="zh-CN" altLang="en-US" sz="1200" kern="1200" dirty="0">
                <a:solidFill>
                  <a:schemeClr val="tx1"/>
                </a:solidFill>
                <a:effectLst/>
                <a:latin typeface="+mn-lt"/>
                <a:sym typeface="楷体" panose="02010609060101010101" charset="-122"/>
              </a:rPr>
              <a:t>串联可得：</a:t>
            </a:r>
            <a:r>
              <a:rPr lang="en-US" altLang="en-US" sz="1200" kern="1200" dirty="0">
                <a:solidFill>
                  <a:schemeClr val="tx1"/>
                </a:solidFill>
                <a:effectLst/>
                <a:latin typeface="+mn-lt"/>
                <a:sym typeface="楷体" panose="02010609060101010101" charset="-122"/>
              </a:rPr>
              <a:t>⑤</a:t>
            </a:r>
            <a:r>
              <a:rPr lang="zh-CN" altLang="en-US" sz="1200" kern="1200" dirty="0">
                <a:solidFill>
                  <a:schemeClr val="tx1"/>
                </a:solidFill>
                <a:effectLst/>
                <a:latin typeface="+mn-lt"/>
                <a:sym typeface="楷体" panose="02010609060101010101" charset="-122"/>
              </a:rPr>
              <a:t>有些有敬业精神的员工优秀员工有团队精神的员工，换位可知，</a:t>
            </a:r>
            <a:r>
              <a:rPr lang="en-US" altLang="en-US" sz="1200" kern="1200" dirty="0">
                <a:solidFill>
                  <a:schemeClr val="tx1"/>
                </a:solidFill>
                <a:effectLst/>
                <a:latin typeface="+mn-lt"/>
                <a:sym typeface="楷体" panose="02010609060101010101" charset="-122"/>
              </a:rPr>
              <a:t>⑥</a:t>
            </a:r>
            <a:r>
              <a:rPr lang="zh-CN" altLang="en-US" sz="1200" kern="1200" dirty="0">
                <a:solidFill>
                  <a:schemeClr val="tx1"/>
                </a:solidFill>
                <a:effectLst/>
                <a:latin typeface="+mn-lt"/>
                <a:sym typeface="楷体" panose="02010609060101010101" charset="-122"/>
              </a:rPr>
              <a:t>有些有团队精神的员工有敬业精神的员工</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③④</a:t>
            </a:r>
            <a:r>
              <a:rPr lang="zh-CN" altLang="en-US" sz="1200" kern="1200" dirty="0">
                <a:solidFill>
                  <a:schemeClr val="tx1"/>
                </a:solidFill>
                <a:effectLst/>
                <a:latin typeface="+mn-lt"/>
                <a:sym typeface="楷体" panose="02010609060101010101" charset="-122"/>
              </a:rPr>
              <a:t>串联可得：</a:t>
            </a:r>
            <a:r>
              <a:rPr lang="en-US" altLang="en-US" sz="1200" kern="1200" dirty="0">
                <a:solidFill>
                  <a:schemeClr val="tx1"/>
                </a:solidFill>
                <a:effectLst/>
                <a:latin typeface="+mn-lt"/>
                <a:sym typeface="楷体" panose="02010609060101010101" charset="-122"/>
              </a:rPr>
              <a:t>⑦</a:t>
            </a:r>
            <a:r>
              <a:rPr lang="zh-CN" altLang="en-US" sz="1200" kern="1200" dirty="0">
                <a:solidFill>
                  <a:schemeClr val="tx1"/>
                </a:solidFill>
                <a:effectLst/>
                <a:latin typeface="+mn-lt"/>
                <a:sym typeface="楷体" panose="02010609060101010101" charset="-122"/>
              </a:rPr>
              <a:t>有敬业精神的员工参加表彰会执行力弱</a:t>
            </a:r>
            <a:endParaRPr lang="zh-CN" altLang="en-US" sz="1200" kern="1200" dirty="0">
              <a:solidFill>
                <a:schemeClr val="tx1"/>
              </a:solidFill>
              <a:effectLst/>
              <a:latin typeface="+mn-lt"/>
              <a:sym typeface="楷体" panose="02010609060101010101" charset="-122"/>
            </a:endParaRPr>
          </a:p>
          <a:p>
            <a:r>
              <a:rPr lang="en-US" altLang="en-US" sz="1200" kern="1200" dirty="0">
                <a:solidFill>
                  <a:schemeClr val="tx1"/>
                </a:solidFill>
                <a:effectLst/>
                <a:latin typeface="+mn-lt"/>
                <a:sym typeface="楷体" panose="02010609060101010101" charset="-122"/>
              </a:rPr>
              <a:t>⑥⑦</a:t>
            </a:r>
            <a:r>
              <a:rPr lang="zh-CN" altLang="en-US" sz="1200" kern="1200" dirty="0">
                <a:solidFill>
                  <a:schemeClr val="tx1"/>
                </a:solidFill>
                <a:effectLst/>
                <a:latin typeface="+mn-lt"/>
                <a:sym typeface="楷体" panose="02010609060101010101" charset="-122"/>
              </a:rPr>
              <a:t>串联可得：</a:t>
            </a:r>
            <a:r>
              <a:rPr lang="en-US" altLang="en-US" sz="1200" kern="1200" dirty="0">
                <a:solidFill>
                  <a:schemeClr val="tx1"/>
                </a:solidFill>
                <a:effectLst/>
                <a:latin typeface="+mn-lt"/>
                <a:sym typeface="楷体" panose="02010609060101010101" charset="-122"/>
              </a:rPr>
              <a:t>⑧</a:t>
            </a:r>
            <a:r>
              <a:rPr lang="zh-CN" altLang="en-US" sz="1200" kern="1200" dirty="0">
                <a:solidFill>
                  <a:schemeClr val="tx1"/>
                </a:solidFill>
                <a:effectLst/>
                <a:latin typeface="+mn-lt"/>
                <a:sym typeface="楷体" panose="02010609060101010101" charset="-122"/>
              </a:rPr>
              <a:t>有些有团队精神的员工有敬业精神的员工参加表彰会执行力弱</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项：翻译为：执行力弱有敬业精神的员工，由</a:t>
            </a:r>
            <a:r>
              <a:rPr lang="en-US" altLang="en-US" sz="1200" kern="1200" dirty="0">
                <a:solidFill>
                  <a:schemeClr val="tx1"/>
                </a:solidFill>
                <a:effectLst/>
                <a:latin typeface="+mn-lt"/>
                <a:sym typeface="楷体" panose="02010609060101010101" charset="-122"/>
              </a:rPr>
              <a:t>⑧</a:t>
            </a:r>
            <a:r>
              <a:rPr lang="zh-CN" altLang="en-US" sz="1200" kern="1200" dirty="0">
                <a:solidFill>
                  <a:schemeClr val="tx1"/>
                </a:solidFill>
                <a:effectLst/>
                <a:latin typeface="+mn-lt"/>
                <a:sym typeface="楷体" panose="02010609060101010101" charset="-122"/>
              </a:rPr>
              <a:t>可知：有敬业精神的员工执行力弱，逆否可知，执行力弱有敬业精神的员工，可以判断该项为真，排除；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项：翻译为：有些具有团队精神的员工执行力弱，由</a:t>
            </a:r>
            <a:r>
              <a:rPr lang="en-US" altLang="en-US" sz="1200" kern="1200" dirty="0">
                <a:solidFill>
                  <a:schemeClr val="tx1"/>
                </a:solidFill>
                <a:effectLst/>
                <a:latin typeface="+mn-lt"/>
                <a:sym typeface="楷体" panose="02010609060101010101" charset="-122"/>
              </a:rPr>
              <a:t>⑧</a:t>
            </a:r>
            <a:r>
              <a:rPr lang="zh-CN" altLang="en-US" sz="1200" kern="1200" dirty="0">
                <a:solidFill>
                  <a:schemeClr val="tx1"/>
                </a:solidFill>
                <a:effectLst/>
                <a:latin typeface="+mn-lt"/>
                <a:sym typeface="楷体" panose="02010609060101010101" charset="-122"/>
              </a:rPr>
              <a:t>可知：有些有团队精神的员工敬业精神的员工参加表彰会执行力弱可以判断该项为真，排除；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项：翻译为：执行力弱没有团队精神的员工，由</a:t>
            </a:r>
            <a:r>
              <a:rPr lang="en-US" altLang="en-US" sz="1200" kern="1200" dirty="0">
                <a:solidFill>
                  <a:schemeClr val="tx1"/>
                </a:solidFill>
                <a:effectLst/>
                <a:latin typeface="+mn-lt"/>
                <a:sym typeface="楷体" panose="02010609060101010101" charset="-122"/>
              </a:rPr>
              <a:t>⑧</a:t>
            </a:r>
            <a:r>
              <a:rPr lang="zh-CN" altLang="en-US" sz="1200" kern="1200" dirty="0">
                <a:solidFill>
                  <a:schemeClr val="tx1"/>
                </a:solidFill>
                <a:effectLst/>
                <a:latin typeface="+mn-lt"/>
                <a:sym typeface="楷体" panose="02010609060101010101" charset="-122"/>
              </a:rPr>
              <a:t>可知：有些有团队精神的员工执行力弱，</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有些</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不能逆否，无法判断该项真假，排除；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项：翻译为：有团队精神的员工执行力弱，由</a:t>
            </a:r>
            <a:r>
              <a:rPr lang="en-US" altLang="en-US" sz="1200" kern="1200" dirty="0">
                <a:solidFill>
                  <a:schemeClr val="tx1"/>
                </a:solidFill>
                <a:effectLst/>
                <a:latin typeface="+mn-lt"/>
                <a:sym typeface="楷体" panose="02010609060101010101" charset="-122"/>
              </a:rPr>
              <a:t>⑧</a:t>
            </a:r>
            <a:r>
              <a:rPr lang="zh-CN" altLang="en-US" sz="1200" kern="1200" dirty="0">
                <a:solidFill>
                  <a:schemeClr val="tx1"/>
                </a:solidFill>
                <a:effectLst/>
                <a:latin typeface="+mn-lt"/>
                <a:sym typeface="楷体" panose="02010609060101010101" charset="-122"/>
              </a:rPr>
              <a:t>可知：有些有团队精神的员工执行力弱，该项与其为矛盾关系，可以判断为假，当选。</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年下半年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E</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96925"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62915" y="666115"/>
            <a:ext cx="1118362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下面给定的立体模型，以下哪个选项不可能是该立体模型的截面？（</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p:txBody>
      </p:sp>
      <p:pic>
        <p:nvPicPr>
          <p:cNvPr id="4" name="图片 2"/>
          <p:cNvPicPr>
            <a:picLocks noChangeAspect="1"/>
          </p:cNvPicPr>
          <p:nvPr/>
        </p:nvPicPr>
        <p:blipFill>
          <a:blip r:embed="rId1"/>
          <a:stretch>
            <a:fillRect/>
          </a:stretch>
        </p:blipFill>
        <p:spPr>
          <a:xfrm>
            <a:off x="1376045" y="1333500"/>
            <a:ext cx="9357360" cy="3688080"/>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011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3" name="文本框 2"/>
          <p:cNvSpPr txBox="1"/>
          <p:nvPr/>
        </p:nvSpPr>
        <p:spPr>
          <a:xfrm>
            <a:off x="462915" y="701675"/>
            <a:ext cx="1134999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平静呼吸时每次吸入或呼出的气体量，称为潮气量。平静吸气终了后，再尽力吸入的最大空气量，称为补吸气量。在平静呼气之后，再尽力呼的最大气量，称为补呼气量。潮气量、补吸气量、补呼气量三者之和称为肺活量。最大的呼气也不能把肺内的气体全部呼出，此时残留在肺里的气量称为余气量。余气量与补呼气量之和称为机能性余气量。余气量与肺活量之和称为肺总容量。补吸气量与潮气量之和称为吸气容量。已知某人潮气量为</a:t>
            </a:r>
            <a:r>
              <a:rPr lang="en-US" altLang="zh-CN" sz="2000" dirty="0">
                <a:cs typeface="楷体" panose="02010609060101010101" charset="-122"/>
              </a:rPr>
              <a:t>500ml</a:t>
            </a:r>
            <a:r>
              <a:rPr lang="zh-CN" altLang="en-US" sz="2000" dirty="0">
                <a:cs typeface="楷体" panose="02010609060101010101" charset="-122"/>
              </a:rPr>
              <a:t>，余气量为</a:t>
            </a:r>
            <a:r>
              <a:rPr lang="en-US" altLang="zh-CN" sz="2000" dirty="0">
                <a:cs typeface="楷体" panose="02010609060101010101" charset="-122"/>
              </a:rPr>
              <a:t>1000ml</a:t>
            </a:r>
            <a:r>
              <a:rPr lang="zh-CN" altLang="en-US" sz="2000" dirty="0">
                <a:cs typeface="楷体" panose="02010609060101010101" charset="-122"/>
              </a:rPr>
              <a:t>，机能性余气量为</a:t>
            </a:r>
            <a:r>
              <a:rPr lang="en-US" altLang="zh-CN" sz="2000" dirty="0">
                <a:cs typeface="楷体" panose="02010609060101010101" charset="-122"/>
              </a:rPr>
              <a:t>2400ml</a:t>
            </a:r>
            <a:r>
              <a:rPr lang="zh-CN" altLang="en-US" sz="2000" dirty="0">
                <a:cs typeface="楷体" panose="02010609060101010101" charset="-122"/>
              </a:rPr>
              <a:t>，吸气容量为</a:t>
            </a:r>
            <a:r>
              <a:rPr lang="en-US" altLang="zh-CN" sz="2000" dirty="0">
                <a:cs typeface="楷体" panose="02010609060101010101" charset="-122"/>
              </a:rPr>
              <a:t>1800ml</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根据上述定义，下列说法正确的是（</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该人补吸气量为</a:t>
            </a:r>
            <a:r>
              <a:rPr lang="en-US" altLang="zh-CN" sz="2000" dirty="0">
                <a:cs typeface="楷体" panose="02010609060101010101" charset="-122"/>
              </a:rPr>
              <a:t>1200ml</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该人肺活量比吸气容量多</a:t>
            </a:r>
            <a:r>
              <a:rPr lang="en-US" altLang="zh-CN" sz="2000" dirty="0">
                <a:cs typeface="楷体" panose="02010609060101010101" charset="-122"/>
              </a:rPr>
              <a:t>1200ml</a:t>
            </a:r>
            <a:endParaRPr lang="en-US" altLang="zh-CN"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吸气容量与机能性余气量之和即为肺总容量</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肺活量与机能性余气量的差值大于吸气容量</a:t>
            </a:r>
            <a:endParaRPr lang="zh-CN" altLang="en-US" sz="2000" dirty="0">
              <a:cs typeface="楷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0095" y="0"/>
            <a:ext cx="10515600" cy="708025"/>
          </a:xfrm>
        </p:spPr>
        <p:txBody>
          <a:bodyPr>
            <a:normAutofit/>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3" name="文本框 2"/>
          <p:cNvSpPr txBox="1"/>
          <p:nvPr/>
        </p:nvSpPr>
        <p:spPr>
          <a:xfrm>
            <a:off x="462915" y="701675"/>
            <a:ext cx="11109960" cy="5526405"/>
          </a:xfrm>
          <a:prstGeom prst="rect">
            <a:avLst/>
          </a:prstGeom>
          <a:noFill/>
        </p:spPr>
        <p:txBody>
          <a:bodyPr wrap="square" rtlCol="0" anchor="t">
            <a:noAutofit/>
          </a:bodyPr>
          <a:p>
            <a:pPr indent="0" fontAlgn="auto">
              <a:lnSpc>
                <a:spcPct val="150000"/>
              </a:lnSpc>
            </a:pPr>
            <a:r>
              <a:rPr lang="zh-CN" altLang="en-US" sz="2000" dirty="0">
                <a:cs typeface="楷体" panose="02010609060101010101" charset="-122"/>
              </a:rPr>
              <a:t>很多人在购物时，一看到其中有</a:t>
            </a:r>
            <a:r>
              <a:rPr lang="en-US" altLang="zh-CN" sz="2000" dirty="0">
                <a:cs typeface="楷体" panose="02010609060101010101" charset="-122"/>
              </a:rPr>
              <a:t>“</a:t>
            </a:r>
            <a:r>
              <a:rPr lang="zh-CN" altLang="en-US" sz="2000" dirty="0">
                <a:cs typeface="楷体" panose="02010609060101010101" charset="-122"/>
              </a:rPr>
              <a:t>卡拉胶</a:t>
            </a:r>
            <a:r>
              <a:rPr lang="en-US" altLang="zh-CN" sz="2000" dirty="0">
                <a:cs typeface="楷体" panose="02010609060101010101" charset="-122"/>
              </a:rPr>
              <a:t>”“</a:t>
            </a:r>
            <a:r>
              <a:rPr lang="zh-CN" altLang="en-US" sz="2000" dirty="0">
                <a:cs typeface="楷体" panose="02010609060101010101" charset="-122"/>
              </a:rPr>
              <a:t>瓜尔豆胶</a:t>
            </a:r>
            <a:r>
              <a:rPr lang="en-US" altLang="zh-CN" sz="2000" dirty="0">
                <a:cs typeface="楷体" panose="02010609060101010101" charset="-122"/>
              </a:rPr>
              <a:t>”“</a:t>
            </a:r>
            <a:r>
              <a:rPr lang="zh-CN" altLang="en-US" sz="2000" dirty="0">
                <a:cs typeface="楷体" panose="02010609060101010101" charset="-122"/>
              </a:rPr>
              <a:t>果胶</a:t>
            </a:r>
            <a:r>
              <a:rPr lang="en-US" altLang="zh-CN" sz="2000" dirty="0">
                <a:cs typeface="楷体" panose="02010609060101010101" charset="-122"/>
              </a:rPr>
              <a:t>”</a:t>
            </a:r>
            <a:r>
              <a:rPr lang="zh-CN" altLang="en-US" sz="2000" dirty="0">
                <a:cs typeface="楷体" panose="02010609060101010101" charset="-122"/>
              </a:rPr>
              <a:t>等字样就会担心其安全性。其实，我们无需闻</a:t>
            </a:r>
            <a:r>
              <a:rPr lang="en-US" altLang="zh-CN" sz="2000" dirty="0">
                <a:cs typeface="楷体" panose="02010609060101010101" charset="-122"/>
              </a:rPr>
              <a:t>“</a:t>
            </a:r>
            <a:r>
              <a:rPr lang="zh-CN" altLang="en-US" sz="2000" dirty="0">
                <a:cs typeface="楷体" panose="02010609060101010101" charset="-122"/>
              </a:rPr>
              <a:t>胶</a:t>
            </a:r>
            <a:r>
              <a:rPr lang="en-US" altLang="zh-CN" sz="2000" dirty="0">
                <a:cs typeface="楷体" panose="02010609060101010101" charset="-122"/>
              </a:rPr>
              <a:t>”</a:t>
            </a:r>
            <a:r>
              <a:rPr lang="zh-CN" altLang="en-US" sz="2000" dirty="0">
                <a:cs typeface="楷体" panose="02010609060101010101" charset="-122"/>
              </a:rPr>
              <a:t>色变，这些胶属于食品添加剂中的增稠剂，加</a:t>
            </a:r>
            <a:r>
              <a:rPr lang="en-US" altLang="zh-CN" sz="2000" dirty="0">
                <a:cs typeface="楷体" panose="02010609060101010101" charset="-122"/>
              </a:rPr>
              <a:t>“</a:t>
            </a:r>
            <a:r>
              <a:rPr lang="zh-CN" altLang="en-US" sz="2000" dirty="0">
                <a:cs typeface="楷体" panose="02010609060101010101" charset="-122"/>
              </a:rPr>
              <a:t>胶</a:t>
            </a:r>
            <a:r>
              <a:rPr lang="en-US" altLang="zh-CN" sz="2000" dirty="0">
                <a:cs typeface="楷体" panose="02010609060101010101" charset="-122"/>
              </a:rPr>
              <a:t>”</a:t>
            </a:r>
            <a:r>
              <a:rPr lang="zh-CN" altLang="en-US" sz="2000" dirty="0">
                <a:cs typeface="楷体" panose="02010609060101010101" charset="-122"/>
              </a:rPr>
              <a:t>追求的是口感，安全是有保障的。平常炒菜勾芡时用到的</a:t>
            </a:r>
            <a:r>
              <a:rPr lang="en-US" altLang="zh-CN" sz="2000" dirty="0">
                <a:cs typeface="楷体" panose="02010609060101010101" charset="-122"/>
              </a:rPr>
              <a:t>“</a:t>
            </a:r>
            <a:r>
              <a:rPr lang="zh-CN" altLang="en-US" sz="2000" dirty="0">
                <a:cs typeface="楷体" panose="02010609060101010101" charset="-122"/>
              </a:rPr>
              <a:t>生粉水</a:t>
            </a:r>
            <a:r>
              <a:rPr lang="en-US" altLang="zh-CN" sz="2000" dirty="0">
                <a:cs typeface="楷体" panose="02010609060101010101" charset="-122"/>
              </a:rPr>
              <a:t>”</a:t>
            </a:r>
            <a:r>
              <a:rPr lang="zh-CN" altLang="en-US" sz="2000" dirty="0">
                <a:cs typeface="楷体" panose="02010609060101010101" charset="-122"/>
              </a:rPr>
              <a:t>，在某种意义上也属于一种增稠剂。</a:t>
            </a:r>
            <a:endParaRPr lang="zh-CN" altLang="en-US" sz="2000" dirty="0">
              <a:cs typeface="楷体" panose="02010609060101010101" charset="-122"/>
            </a:endParaRPr>
          </a:p>
          <a:p>
            <a:pPr indent="0" fontAlgn="auto">
              <a:lnSpc>
                <a:spcPct val="150000"/>
              </a:lnSpc>
            </a:pPr>
            <a:r>
              <a:rPr lang="zh-CN" altLang="en-US" sz="2000" dirty="0">
                <a:cs typeface="楷体" panose="02010609060101010101" charset="-122"/>
              </a:rPr>
              <a:t>以下哪项如果为真，最能支持以上论述？（</a:t>
            </a:r>
            <a:r>
              <a:rPr lang="en-US" altLang="zh-CN" sz="2000" dirty="0">
                <a:cs typeface="楷体" panose="02010609060101010101" charset="-122"/>
              </a:rPr>
              <a:t>    </a:t>
            </a:r>
            <a:r>
              <a:rPr lang="zh-CN" altLang="en-US" sz="2000" dirty="0">
                <a:cs typeface="楷体" panose="02010609060101010101" charset="-122"/>
              </a:rPr>
              <a:t>）</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A.</a:t>
            </a:r>
            <a:r>
              <a:rPr lang="zh-CN" altLang="en-US" sz="2000" dirty="0">
                <a:cs typeface="楷体" panose="02010609060101010101" charset="-122"/>
              </a:rPr>
              <a:t>添加了食用胶的果冻、布丁等小零食，口感更加细腻、润滑</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B.</a:t>
            </a:r>
            <a:r>
              <a:rPr lang="zh-CN" altLang="en-US" sz="2000" dirty="0">
                <a:cs typeface="楷体" panose="02010609060101010101" charset="-122"/>
              </a:rPr>
              <a:t>尽管有些食品在包装上并未标明胶含量，但一般是符合质量标准的</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C.</a:t>
            </a:r>
            <a:r>
              <a:rPr lang="zh-CN" altLang="en-US" sz="2000" dirty="0">
                <a:cs typeface="楷体" panose="02010609060101010101" charset="-122"/>
              </a:rPr>
              <a:t>通过添加增稠剂制成的</a:t>
            </a:r>
            <a:r>
              <a:rPr lang="en-US" altLang="zh-CN" sz="2000" dirty="0">
                <a:cs typeface="楷体" panose="02010609060101010101" charset="-122"/>
              </a:rPr>
              <a:t>“</a:t>
            </a:r>
            <a:r>
              <a:rPr lang="zh-CN" altLang="en-US" sz="2000" dirty="0">
                <a:cs typeface="楷体" panose="02010609060101010101" charset="-122"/>
              </a:rPr>
              <a:t>老酸奶</a:t>
            </a:r>
            <a:r>
              <a:rPr lang="en-US" altLang="zh-CN" sz="2000" dirty="0">
                <a:cs typeface="楷体" panose="02010609060101010101" charset="-122"/>
              </a:rPr>
              <a:t>”</a:t>
            </a:r>
            <a:r>
              <a:rPr lang="zh-CN" altLang="en-US" sz="2000" dirty="0">
                <a:cs typeface="楷体" panose="02010609060101010101" charset="-122"/>
              </a:rPr>
              <a:t>，其营养成分及价值与普通酸奶差别不大</a:t>
            </a:r>
            <a:endParaRPr lang="zh-CN" altLang="en-US" sz="2000" dirty="0">
              <a:cs typeface="楷体" panose="02010609060101010101" charset="-122"/>
            </a:endParaRPr>
          </a:p>
          <a:p>
            <a:pPr indent="0" fontAlgn="auto">
              <a:lnSpc>
                <a:spcPct val="150000"/>
              </a:lnSpc>
            </a:pPr>
            <a:r>
              <a:rPr lang="en-US" altLang="zh-CN" sz="2000" dirty="0">
                <a:cs typeface="楷体" panose="02010609060101010101" charset="-122"/>
              </a:rPr>
              <a:t>D.</a:t>
            </a:r>
            <a:r>
              <a:rPr lang="zh-CN" altLang="en-US" sz="2000" dirty="0">
                <a:cs typeface="楷体" panose="02010609060101010101" charset="-122"/>
              </a:rPr>
              <a:t>常用的食用胶</a:t>
            </a:r>
            <a:r>
              <a:rPr lang="en-US" altLang="zh-CN" sz="2000" dirty="0">
                <a:cs typeface="楷体" panose="02010609060101010101" charset="-122"/>
              </a:rPr>
              <a:t>—</a:t>
            </a:r>
            <a:r>
              <a:rPr lang="zh-CN" altLang="en-US" sz="2000" dirty="0">
                <a:cs typeface="楷体" panose="02010609060101010101" charset="-122"/>
              </a:rPr>
              <a:t>般都是</a:t>
            </a:r>
            <a:r>
              <a:rPr lang="en-US" altLang="zh-CN" sz="2000" dirty="0">
                <a:cs typeface="楷体" panose="02010609060101010101" charset="-122"/>
              </a:rPr>
              <a:t>“</a:t>
            </a:r>
            <a:r>
              <a:rPr lang="zh-CN" altLang="en-US" sz="2000" dirty="0">
                <a:cs typeface="楷体" panose="02010609060101010101" charset="-122"/>
              </a:rPr>
              <a:t>天然产物</a:t>
            </a:r>
            <a:r>
              <a:rPr lang="en-US" altLang="zh-CN" sz="2000" dirty="0">
                <a:cs typeface="楷体" panose="02010609060101010101" charset="-122"/>
              </a:rPr>
              <a:t>”</a:t>
            </a:r>
            <a:r>
              <a:rPr lang="zh-CN" altLang="en-US" sz="2000" dirty="0">
                <a:cs typeface="楷体" panose="02010609060101010101" charset="-122"/>
              </a:rPr>
              <a:t>，是从有益菌或可食植物等提取而来的</a:t>
            </a:r>
            <a:endParaRPr lang="zh-CN" altLang="en-US" sz="2000" dirty="0">
              <a:cs typeface="楷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3" name="文本框 2"/>
          <p:cNvSpPr txBox="1"/>
          <p:nvPr/>
        </p:nvSpPr>
        <p:spPr>
          <a:xfrm>
            <a:off x="462915" y="701675"/>
            <a:ext cx="1115568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sym typeface="+mn-ea"/>
              </a:rPr>
              <a:t>根据以下材料，回答</a:t>
            </a:r>
            <a:r>
              <a:rPr lang="en-US" altLang="zh-CN" sz="2200" dirty="0">
                <a:cs typeface="楷体" panose="02010609060101010101" charset="-122"/>
                <a:sym typeface="+mn-ea"/>
              </a:rPr>
              <a:t>2</a:t>
            </a:r>
            <a:r>
              <a:rPr lang="zh-CN" altLang="en-US" sz="2200" dirty="0">
                <a:cs typeface="楷体" panose="02010609060101010101" charset="-122"/>
                <a:sym typeface="+mn-ea"/>
              </a:rPr>
              <a:t>题。</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sym typeface="+mn-ea"/>
              </a:rPr>
              <a:t>有些具有敬业精神的员工被评为优秀员工；没有团队精神的员工不可能被评为优秀员工；具有敬业精神的员工都参加了表彰会；没有一个执行力弱的员工参加了表彰会。</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sym typeface="+mn-ea"/>
              </a:rPr>
              <a:t>4.</a:t>
            </a:r>
            <a:r>
              <a:rPr lang="zh-CN" altLang="en-US" sz="2200" dirty="0">
                <a:cs typeface="楷体" panose="02010609060101010101" charset="-122"/>
                <a:sym typeface="+mn-ea"/>
              </a:rPr>
              <a:t>由此可以推出（</a:t>
            </a:r>
            <a:r>
              <a:rPr lang="en-US" altLang="zh-CN" sz="2200" dirty="0">
                <a:cs typeface="楷体" panose="02010609060101010101" charset="-122"/>
                <a:sym typeface="+mn-ea"/>
              </a:rPr>
              <a:t>    </a:t>
            </a:r>
            <a:r>
              <a:rPr lang="zh-CN" altLang="en-US" sz="2200" dirty="0">
                <a:cs typeface="楷体" panose="02010609060101010101" charset="-122"/>
                <a:sym typeface="+mn-ea"/>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sym typeface="+mn-ea"/>
              </a:rPr>
              <a:t>A.</a:t>
            </a:r>
            <a:r>
              <a:rPr lang="zh-CN" altLang="en-US" sz="2200" dirty="0">
                <a:cs typeface="楷体" panose="02010609060101010101" charset="-122"/>
                <a:sym typeface="+mn-ea"/>
              </a:rPr>
              <a:t>有些执行力强的员工参加了表彰会</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sym typeface="+mn-ea"/>
              </a:rPr>
              <a:t>B.</a:t>
            </a:r>
            <a:r>
              <a:rPr lang="zh-CN" altLang="en-US" sz="2200" dirty="0">
                <a:cs typeface="楷体" panose="02010609060101010101" charset="-122"/>
                <a:sym typeface="+mn-ea"/>
              </a:rPr>
              <a:t>有些参加表彰会的员工具有团队精神</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sym typeface="+mn-ea"/>
              </a:rPr>
              <a:t>C.</a:t>
            </a:r>
            <a:r>
              <a:rPr lang="zh-CN" altLang="en-US" sz="2200" dirty="0">
                <a:cs typeface="楷体" panose="02010609060101010101" charset="-122"/>
                <a:sym typeface="+mn-ea"/>
              </a:rPr>
              <a:t>参加表彰会的都是具有敬业精神的员工</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sym typeface="+mn-ea"/>
              </a:rPr>
              <a:t>D.</a:t>
            </a:r>
            <a:r>
              <a:rPr lang="zh-CN" altLang="en-US" sz="2200" dirty="0">
                <a:cs typeface="楷体" panose="02010609060101010101" charset="-122"/>
                <a:sym typeface="+mn-ea"/>
              </a:rPr>
              <a:t>有团队精神的员工就能被评为优秀员工</a:t>
            </a:r>
            <a:endParaRPr lang="zh-CN" altLang="en-US" sz="2200" dirty="0">
              <a:cs typeface="楷体" panose="02010609060101010101" charset="-122"/>
            </a:endParaRPr>
          </a:p>
        </p:txBody>
      </p:sp>
      <p:sp>
        <p:nvSpPr>
          <p:cNvPr id="4" name="文本框 3"/>
          <p:cNvSpPr txBox="1"/>
          <p:nvPr/>
        </p:nvSpPr>
        <p:spPr>
          <a:xfrm>
            <a:off x="6402070" y="2318385"/>
            <a:ext cx="5495925" cy="1322070"/>
          </a:xfrm>
          <a:prstGeom prst="rect">
            <a:avLst/>
          </a:prstGeom>
          <a:noFill/>
        </p:spPr>
        <p:txBody>
          <a:bodyPr wrap="square" rtlCol="0" anchor="t">
            <a:spAutoFit/>
          </a:bodyPr>
          <a:p>
            <a:r>
              <a:rPr lang="en-US" altLang="en-US" sz="2000" dirty="0">
                <a:solidFill>
                  <a:srgbClr val="FF0000"/>
                </a:solidFill>
                <a:effectLst/>
                <a:sym typeface="楷体" panose="02010609060101010101" charset="-122"/>
              </a:rPr>
              <a:t>①</a:t>
            </a:r>
            <a:r>
              <a:rPr lang="zh-CN" altLang="en-US" sz="2000" dirty="0">
                <a:solidFill>
                  <a:srgbClr val="FF0000"/>
                </a:solidFill>
                <a:effectLst/>
                <a:sym typeface="楷体" panose="02010609060101010101" charset="-122"/>
              </a:rPr>
              <a:t>有些有敬业精神的员工</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优秀员工</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②</a:t>
            </a:r>
            <a:r>
              <a:rPr lang="zh-CN" altLang="en-US" sz="2000" dirty="0">
                <a:solidFill>
                  <a:srgbClr val="FF0000"/>
                </a:solidFill>
                <a:effectLst/>
                <a:sym typeface="楷体" panose="02010609060101010101" charset="-122"/>
              </a:rPr>
              <a:t>优秀员工</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有团队精神的员工</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③</a:t>
            </a:r>
            <a:r>
              <a:rPr lang="zh-CN" altLang="en-US" sz="2000" dirty="0">
                <a:solidFill>
                  <a:srgbClr val="FF0000"/>
                </a:solidFill>
                <a:effectLst/>
                <a:sym typeface="楷体" panose="02010609060101010101" charset="-122"/>
              </a:rPr>
              <a:t>有敬业精神的员工</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参加表彰会</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④</a:t>
            </a:r>
            <a:r>
              <a:rPr lang="zh-CN" altLang="en-US" sz="2000" dirty="0">
                <a:solidFill>
                  <a:srgbClr val="FF0000"/>
                </a:solidFill>
                <a:effectLst/>
                <a:sym typeface="楷体" panose="02010609060101010101" charset="-122"/>
              </a:rPr>
              <a:t>执行力弱</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参加表彰会</a:t>
            </a:r>
            <a:endParaRPr lang="zh-CN" altLang="en-US" sz="2000" dirty="0">
              <a:solidFill>
                <a:srgbClr val="FF0000"/>
              </a:solidFill>
              <a:effectLst/>
              <a:sym typeface="楷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74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3" name="文本框 2"/>
          <p:cNvSpPr txBox="1"/>
          <p:nvPr/>
        </p:nvSpPr>
        <p:spPr>
          <a:xfrm>
            <a:off x="462915" y="701675"/>
            <a:ext cx="11164570" cy="5526405"/>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sym typeface="+mn-ea"/>
              </a:rPr>
              <a:t>根据以下材料，回答</a:t>
            </a:r>
            <a:r>
              <a:rPr lang="en-US" altLang="zh-CN" sz="2200" dirty="0">
                <a:cs typeface="楷体" panose="02010609060101010101" charset="-122"/>
                <a:sym typeface="+mn-ea"/>
              </a:rPr>
              <a:t>2</a:t>
            </a:r>
            <a:r>
              <a:rPr lang="zh-CN" altLang="en-US" sz="2200" dirty="0">
                <a:cs typeface="楷体" panose="02010609060101010101" charset="-122"/>
                <a:sym typeface="+mn-ea"/>
              </a:rPr>
              <a:t>题。</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sym typeface="+mn-ea"/>
              </a:rPr>
              <a:t>有些具有敬业精神的员工被评为优秀员工；没有团队精神的员工不可能被评为优秀员工；具有敬业精神的员工都参加了表彰会；没有一个执行力弱的员工参加了表彰会。</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5.</a:t>
            </a:r>
            <a:r>
              <a:rPr lang="zh-CN" altLang="en-US" sz="2200" dirty="0">
                <a:cs typeface="楷体" panose="02010609060101010101" charset="-122"/>
              </a:rPr>
              <a:t>根据上述信息，下列判断一定为假的是（</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执行力弱的员工都不具有敬业精神</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些具有团队精神的员工执行力并不弱</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执行力弱的员工都是没有团队精神的员工</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具有团队精神员工都是执行力弱的员工</a:t>
            </a:r>
            <a:endParaRPr lang="zh-CN" altLang="en-US" sz="2200" dirty="0">
              <a:cs typeface="楷体" panose="02010609060101010101" charset="-122"/>
            </a:endParaRPr>
          </a:p>
          <a:p>
            <a:pPr indent="0" fontAlgn="auto">
              <a:lnSpc>
                <a:spcPct val="150000"/>
              </a:lnSpc>
            </a:pPr>
            <a:endParaRPr lang="zh-CN" altLang="en-US" sz="2200" dirty="0">
              <a:cs typeface="楷体" panose="02010609060101010101" charset="-122"/>
            </a:endParaRPr>
          </a:p>
        </p:txBody>
      </p:sp>
      <p:sp>
        <p:nvSpPr>
          <p:cNvPr id="4" name="文本框 3"/>
          <p:cNvSpPr txBox="1"/>
          <p:nvPr/>
        </p:nvSpPr>
        <p:spPr>
          <a:xfrm>
            <a:off x="6696075" y="2318385"/>
            <a:ext cx="5495925" cy="1322070"/>
          </a:xfrm>
          <a:prstGeom prst="rect">
            <a:avLst/>
          </a:prstGeom>
          <a:noFill/>
        </p:spPr>
        <p:txBody>
          <a:bodyPr wrap="square" rtlCol="0" anchor="t">
            <a:spAutoFit/>
          </a:bodyPr>
          <a:p>
            <a:r>
              <a:rPr lang="en-US" altLang="en-US" sz="2000" dirty="0">
                <a:solidFill>
                  <a:srgbClr val="FF0000"/>
                </a:solidFill>
                <a:effectLst/>
                <a:sym typeface="楷体" panose="02010609060101010101" charset="-122"/>
              </a:rPr>
              <a:t>①</a:t>
            </a:r>
            <a:r>
              <a:rPr lang="zh-CN" altLang="en-US" sz="2000" dirty="0">
                <a:solidFill>
                  <a:srgbClr val="FF0000"/>
                </a:solidFill>
                <a:effectLst/>
                <a:sym typeface="楷体" panose="02010609060101010101" charset="-122"/>
              </a:rPr>
              <a:t>有些有敬业精神的员工</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优秀员工</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②</a:t>
            </a:r>
            <a:r>
              <a:rPr lang="zh-CN" altLang="en-US" sz="2000" dirty="0">
                <a:solidFill>
                  <a:srgbClr val="FF0000"/>
                </a:solidFill>
                <a:effectLst/>
                <a:sym typeface="楷体" panose="02010609060101010101" charset="-122"/>
              </a:rPr>
              <a:t>优秀员工</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有团队精神的员工</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③</a:t>
            </a:r>
            <a:r>
              <a:rPr lang="zh-CN" altLang="en-US" sz="2000" dirty="0">
                <a:solidFill>
                  <a:srgbClr val="FF0000"/>
                </a:solidFill>
                <a:effectLst/>
                <a:sym typeface="楷体" panose="02010609060101010101" charset="-122"/>
              </a:rPr>
              <a:t>有敬业精神的员工</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参加表彰会</a:t>
            </a:r>
            <a:endParaRPr lang="zh-CN" altLang="en-US" sz="2000" kern="1200" dirty="0">
              <a:solidFill>
                <a:srgbClr val="FF0000"/>
              </a:solidFill>
              <a:effectLst/>
              <a:latin typeface="+mn-lt"/>
              <a:sym typeface="楷体" panose="02010609060101010101" charset="-122"/>
            </a:endParaRPr>
          </a:p>
          <a:p>
            <a:r>
              <a:rPr lang="en-US" altLang="en-US" sz="2000" dirty="0">
                <a:solidFill>
                  <a:srgbClr val="FF0000"/>
                </a:solidFill>
                <a:effectLst/>
                <a:sym typeface="楷体" panose="02010609060101010101" charset="-122"/>
              </a:rPr>
              <a:t>④</a:t>
            </a:r>
            <a:r>
              <a:rPr lang="zh-CN" altLang="en-US" sz="2000" dirty="0">
                <a:solidFill>
                  <a:srgbClr val="FF0000"/>
                </a:solidFill>
                <a:effectLst/>
                <a:sym typeface="楷体" panose="02010609060101010101" charset="-122"/>
              </a:rPr>
              <a:t>执行力弱</a:t>
            </a:r>
            <a:r>
              <a:rPr lang="en-US" altLang="zh-CN" sz="2000" dirty="0">
                <a:solidFill>
                  <a:srgbClr val="FF0000"/>
                </a:solidFill>
                <a:effectLst/>
                <a:sym typeface="楷体" panose="02010609060101010101" charset="-122"/>
              </a:rPr>
              <a:t>→-</a:t>
            </a:r>
            <a:r>
              <a:rPr lang="zh-CN" altLang="en-US" sz="2000" dirty="0">
                <a:solidFill>
                  <a:srgbClr val="FF0000"/>
                </a:solidFill>
                <a:effectLst/>
                <a:sym typeface="楷体" panose="02010609060101010101" charset="-122"/>
              </a:rPr>
              <a:t>参加表彰会</a:t>
            </a:r>
            <a:endParaRPr lang="zh-CN" altLang="en-US" sz="2000" dirty="0">
              <a:solidFill>
                <a:srgbClr val="FF0000"/>
              </a:solidFill>
              <a:effectLst/>
              <a:sym typeface="楷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1160</Words>
  <Application>WPS 演示</Application>
  <PresentationFormat>宽屏</PresentationFormat>
  <Paragraphs>62</Paragraphs>
  <Slides>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宋体</vt:lpstr>
      <vt:lpstr>Wingdings</vt:lpstr>
      <vt:lpstr>楷体</vt:lpstr>
      <vt:lpstr>Wingdings</vt:lpstr>
      <vt:lpstr>微软雅黑</vt:lpstr>
      <vt:lpstr>Arial Unicode MS</vt:lpstr>
      <vt:lpstr>自定义设计方案</vt:lpstr>
      <vt:lpstr>PowerPoint 演示文稿</vt:lpstr>
      <vt:lpstr>题1</vt:lpstr>
      <vt:lpstr>题2</vt:lpstr>
      <vt:lpstr>题3</vt:lpstr>
      <vt:lpstr>题4</vt:lpstr>
      <vt:lpstr>题5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227</cp:revision>
  <dcterms:created xsi:type="dcterms:W3CDTF">2019-06-19T02:08:00Z</dcterms:created>
  <dcterms:modified xsi:type="dcterms:W3CDTF">2026-01-14T11:12:39Z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