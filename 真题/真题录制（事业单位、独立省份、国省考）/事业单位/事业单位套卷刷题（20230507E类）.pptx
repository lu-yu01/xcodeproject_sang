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ink/ink1.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1650" r:id="rId3"/>
    <p:sldId id="1631" r:id="rId5"/>
    <p:sldId id="1652" r:id="rId6"/>
    <p:sldId id="1653" r:id="rId7"/>
    <p:sldId id="1654" r:id="rId8"/>
    <p:sldId id="1655" r:id="rId9"/>
    <p:sldId id="1651" r:id="rId10"/>
  </p:sldIdLst>
  <p:sldSz cx="12192000" cy="6858000"/>
  <p:notesSz cx="6858000" cy="9144000"/>
  <p:custDataLst>
    <p:tags r:id="rId1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2" userDrawn="1">
          <p15:clr>
            <a:srgbClr val="A4A3A4"/>
          </p15:clr>
        </p15:guide>
        <p15:guide id="2" pos="379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Wei" initials="2" lastIdx="9" clrIdx="0"/>
  <p:cmAuthor id="1" name="作者" initials="作" lastIdx="3" clrIdx="2"/>
  <p:cmAuthor id="2" name="许远超" initials="许" lastIdx="8" clrIdx="3"/>
  <p:cmAuthor id="3" name="Administrator" initials="A" lastIdx="1" clrIdx="2"/>
  <p:cmAuthor id="4" name="kingsoft" initials="k" lastIdx="1" clrIdx="0"/>
  <p:cmAuthor id="5" name="刘 译璟" initials="刘" lastIdx="32" clrIdx="0"/>
  <p:cmAuthor id="6" name="番茄花园" initials="番" lastIdx="1" clrIdx="0"/>
  <p:cmAuthor id="7" name="李鹏飞_6bQfzI3a" initials="李" lastIdx="0" clrIdx="0"/>
  <p:cmAuthor id="8" name="小珞_QjMfU7FR" initials="小" lastIdx="0" clrIdx="0"/>
  <p:cmAuthor id="9" name="骆倩怡_Znauj26B" initials="authorId_382814100" lastIdx="0" clrIdx="0"/>
  <p:cmAuthor id="249246244" name="桑桑" initials="桑" lastIdx="1" clrIdx="0"/>
  <p:cmAuthor id="10" name="caoyue" initials="c" lastIdx="1" clrIdx="9"/>
  <p:cmAuthor id="12" name="18309297108" initials="1" lastIdx="1" clrIdx="11"/>
  <p:cmAuthor id="13" name="xmiles" initials="x" lastIdx="1" clrIdx="12"/>
  <p:cmAuthor id="2001" name="Microsoft Office User" initials="MOU" lastIdx="1" clrIdx="2"/>
  <p:cmAuthor id="11" name="ibm" initials="i" lastIdx="5" clrIdx="10"/>
  <p:cmAuthor id="14" name="kobe" initials="k" lastIdx="1" clrIdx="13"/>
  <p:cmAuthor id="15" name="MIAI" initials="M" lastIdx="1" clrIdx="14"/>
  <p:cmAuthor id="16" name="HP" initials="H" lastIdx="1" clrIdx="15"/>
  <p:cmAuthor id="17" name="yangyaqin" initials="y" lastIdx="1" clrIdx="16"/>
  <p:cmAuthor id="18" name="ASUS" initials="A" lastIdx="1" clrIdx="1"/>
  <p:cmAuthor id="76" name="Yongqiang ZHOU" initials="YZ" lastIdx="1" clrIdx="25"/>
  <p:cmAuthor id="2000" name="Beck_jUrevum2" initials="authorId_724972424" lastIdx="0" clrIdx="0"/>
  <p:cmAuthor id="1483810881" name="WPS_1679281038" initials="W" lastIdx="1" clrIdx="2"/>
  <p:cmAuthor id="25" name="小蕊" initials="小" lastIdx="0" clrIdx="24"/>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01368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82"/>
        <p:guide pos="379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6" Type="http://schemas.openxmlformats.org/officeDocument/2006/relationships/tags" Target="tags/tag5.xml"/><Relationship Id="rId15" Type="http://schemas.openxmlformats.org/officeDocument/2006/relationships/commentAuthors" Target="commentAuthors.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楷体" panose="02010609060101010101" charset="-122"/>
              <a:ea typeface="楷体" panose="02010609060101010101" charset="-122"/>
              <a:cs typeface="楷体" panose="02010609060101010101"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楷体" panose="02010609060101010101" charset="-122"/>
                <a:ea typeface="楷体" panose="02010609060101010101" charset="-122"/>
                <a:cs typeface="楷体" panose="02010609060101010101" charset="-122"/>
              </a:rPr>
            </a:fld>
            <a:endParaRPr lang="zh-CN" altLang="en-US">
              <a:latin typeface="楷体" panose="02010609060101010101" charset="-122"/>
              <a:ea typeface="楷体" panose="02010609060101010101" charset="-122"/>
              <a:cs typeface="楷体" panose="02010609060101010101" charset="-122"/>
            </a:endParaRPr>
          </a:p>
        </p:txBody>
      </p:sp>
    </p:spTree>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181.000 126.000,'0.020'0.000,"0.030"0.000,0.034 0.000,0.033 0.000,0.030 0.000,0.026 0.000,0.021 0.000,0.016 0.000,0.012 0.000,0.008 0.000,0.005 0.000,0.003 0.000,0.001 0.000,-0.055 0.000,0.050 0.000,0.174-0.030,0.108-0.048,0.257-0.043,0.218-0.013,-0.240-0.025,0.598-0.203,0.349-0.137,0.945-0.314,0.396-0.135,-1.112 0.347,0.123-0.036,0.135-0.038,0.141-0.038,1.026-0.305,0.186-0.047,0.131 0.017,0.085 0.061,0.049 0.019,0.020-0.011,1.212-0.185,0.051 0.013,-0.084-0.017,-1.106 0.234,-0.094-0.003,-0.519 0.113,-0.007-0.009,-0.439 0.136,0.067 0.032,1.136-0.216,0.141-0.026,0.639-0.082,0.030 0.080,-1.096 0.231,-0.005 0.010,-0.545 0.119,0.001 0.033,1.621-0.259,-0.066-0.044,-1.166 0.193,-0.121 0.031,0.356-0.097,-0.139-0.047,-0.996 0.185,-0.050 0.015,1.195-0.269,-0.195-0.012,-0.949 0.206,-0.129 0.040,0.599-0.139,-0.100-0.001,0.252-0.027,-0.785 0.204,-0.135 0.065,-0.115-0.002,-0.095-0.050,-0.124-0.011,-0.138 0.017,-0.548 0.149,-0.049 0.026,0.383-0.085,-0.053 0.017,-0.069 0.031,-0.077 0.040,0.218-0.015,-0.193 0.070,-0.674 0.136,0.458-0.035,-0.099 0.053,-0.424 0.059,-0.054 0.018,0.283 0.010,-0.156 0.027,-0.150 0.017,-0.133 0.010,-0.135 0.004,-0.106 0.001,-0.089-0.001,-0.070-0.002,-0.053-0.003,-0.038-0.003,-0.026-0.003,-0.016-0.002,-0.009-0.002,-0.003-0.002,0.000-0.001,0.002-0.001,0.003-0.001,0.004-0.000,0.004-0.000,0.003-0.000,0.003 0.000,0.002 0.000,0.002 0.000,0.001 0.000,0.001 0.000,0.001 0.000,0.000 0.000,0.000 0.000,0.000 0.000,-0.000 0.000,-0.000 0.000,-0.000 0.000,-0.005 0.134,-0.010 0.202,0.059 0.267,-0.008-0.149,0.054 0.100,0.145 0.392,0.074 0.197,0.151 0.342,0.098 0.135,-0.086-0.309,0.056 0.045,0.057 0.057,0.055 0.064,0.069 0.030,0.078 0.004,0.497 0.654,0.057-0.045,-0.549-0.862,0.029 0.009,0.039 0.013,0.046 0.016,0.600 0.689,0.071-0.002,-0.360-0.477,-0.006-0.045,0.371 0.364,-0.005-0.056,0.131 0.167,-0.437-0.467,-0.098-0.103,-0.081-0.090,-0.065-0.077,-0.098-0.088,-0.117-0.092,-0.277-0.319,-0.047-0.069,0.093 0.109,-0.096-0.084,-1.180 0.438</inkml:trace>
</inkml:ink>
</file>

<file path=ppt/ink/ink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427.000 40.000,'-0.047'0.024,"-0.072"0.036,-0.082 0.041,-0.081 0.041,-0.074 0.037,-0.064 0.032,-0.052 0.026,0.048 0.011,-0.098 0.108,-0.163 0.131,-0.202 0.141,-0.243 0.189,-0.261 0.214,-1.061 0.760,-0.419 0.245,-0.178 0.008,1.187-0.813,0.010-0.016,-11.111 6.968</inkml:trace>
</inkml:ink>
</file>

<file path=ppt/ink/ink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399.000 61.000,'0.064'0.021,"0.103"0.034,0.122 0.041,-0.051-0.013,0.061 0.028,0.194 0.118,0.068 0.094,0.022 0.099,-0.012 0.098,-0.035 0.116,-0.050 0.123,-0.128-0.121,0.012 0.077,0.184 0.540,-0.034 0.138,-0.148-0.249,-0.038 0.058,0.029 0.403,-0.067 0.004,-0.118 0.285,-0.107-0.188,-0.064-0.041,-0.053 0.053,-0.031-0.187,-0.014-0.208,-1.390-2.981</inkml:trace>
</inkml:ink>
</file>

<file path=ppt/ink/ink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410.000 64.000,'0.063'-0.031,"0.105"-0.052,0.129-0.065,0.149-0.039,0.156-0.019,0.153-0.051,0.144-0.071,0.107-0.035,0.076-0.008,-0.242 0.100,0.026 0.012,0.332-0.057,0.021 0.036,-0.019 0.039,-0.046 0.039,-0.087 0.061,-0.113 0.074,0.117 0.070,-0.234 0.134,-0.136 0.172,-0.134 0.158,-0.124 0.138,-0.220-0.063,-0.153 0.070,-0.136-0.012,-0.136 0.096,-0.262 0.265,-0.245 0.149,-1.016 0.945,-0.438 0.138,0.921-1.016,-0.055-0.034,-0.022-0.057,0.004-0.073,-0.717 0.392,0.157-0.236,0.203-0.234,0.219-0.216,0.215-0.190,0.551-0.274,0.087-0.079,-0.050-0.108,0.137-0.169,0.082-0.301,0.249-0.167,0.255-0.139,0.237-0.110,0.050 0.153,0.081 0.043,-0.063 0.178,0.031 0.046,0.116 0.007,0.063 0.064,-0.124 0.130,0.019 0.056,0.120 0.041,0.043 0.052,0.260 0.083,0.056 0.094,-0.075 0.030,0.028 0.024,-0.215-0.040,0.018 0.000,0.503 0.157,-0.038 0.092,-0.487-0.145,-0.003 0.002,0.211 0.074,-0.042-0.021,-0.055-0.029,-0.424-0.131,0.325 0.143,-0.053-0.010,0.108 0.049,-0.143-0.070,-0.141-0.077,-0.128-0.074,-0.108-0.066,-0.087-0.056,-0.067-0.044,-0.243-0.478</inkml:trace>
</inkml:ink>
</file>

<file path=ppt/ink/ink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430.000 58.000,'0.092'0.074,"0.144"0.115,0.167 0.134,0.169 0.135,-0.025-0.011,0.085 0.084,0.353 0.297,0.200 0.155,-0.407-0.344,0.085 0.062,1.140 0.844,0.122 0.038,0.240 0.125,0.825 0.488,0.164 0.003,-0.102-0.213,-1.300-0.824,-0.012-0.027,0.586 0.311,-0.115-0.093,0.334 0.135,-0.337-0.240,-1.104-0.561,-0.146-0.040,0.324 0.250,-0.343-0.165,-0.302-0.171,-0.254-0.164,-0.206-0.148,-0.204-0.165,-0.054-0.084,-0.042-0.144,-0.049-0.157,-0.870-4.745</inkml:trace>
</inkml:ink>
</file>

<file path=ppt/ink/ink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464.000 53.000,'-0.049'0.098,"-0.077"0.154,-0.089 0.178,-0.409 0.377,-0.232 0.216,-0.267 0.288,0.091-0.130,-0.172 0.168,-0.604 0.632,-0.187 0.168,-0.378 0.441,0.001 0.013,0.102-0.110,0.966-1.075,0.053-0.086,-0.537 0.492,0.199-0.282,0.213-0.286,0.313-0.376,0.189-0.270,0.178-0.260,0.160-0.239,0.077-2.697</inkml:trace>
</inkml:ink>
</file>

<file path=ppt/ink/ink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444.000 47.000,'0.032'0.000,"0.051"0.000,0.061 0.000,0.063 0.000,0.061 0.000,0.055 0.000,0.041 0.044,-0.015 0.069,-0.035 0.080,-0.046 0.081,-0.049 0.076,0.207 1.673</inkml:trace>
</inkml:ink>
</file>

<file path=ppt/ink/ink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533.000 79.000,'0.034'0.000,"0.054"0.000,0.064 0.000,0.066 0.000,0.062 0.000,0.056 0.000,0.026 0.049,-0.018 0.077,-0.037 0.089,-0.046 0.090,-0.049 0.084,-0.047 0.074,-0.084 0.010,-0.063 0.145,-0.074 0.034,-0.087 0.114,-0.193 0.302,-0.202 0.205,-5.255 8.325</inkml:trace>
</inkml:ink>
</file>

<file path=ppt/ink/ink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529.000 101.000,'0.055'-0.018,"0.090"-0.030,0.109-0.036,0.080-0.105,0.102-0.165,0.099-0.101,0.092-0.050,0.361-0.292,-0.137 0.106,0.026-0.029,0.141-0.074,0.020 0.059,3.792-1.863</inkml:trace>
</inkml:ink>
</file>

<file path=ppt/ink/ink1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528.000 108.000,'0.030'0.020,"0.047"0.031,0.055 0.037,0.056 0.038,0.053 0.036,0.048 0.032,0.041 0.027,-0.056-0.014,-0.011 0.032,0.082 0.111,-0.018-0.018,-0.018-0.040,-0.016-0.050,-0.044-0.126,-0.017-0.136,-0.016-0.147,-0.014-0.143,-0.011-0.130,-0.009-0.112,-0.010-0.100,-0.028-0.012,-0.029 0.021,0.003 0.199,0.064 0.048,0.124 0.005,0.085 0.073,0.074 0.069,0.105 0.078,0.053 0.099,0.037 0.093,0.036 0.117,-0.080 0.102,-0.103 0.085,-0.108 0.067,-0.120 0.019,-0.074 0.054,-0.063 0.049,-0.062-0.082,-0.027 0.017,-0.093 0.039,-0.135 0.052,-0.082-0.040,-0.104 0.020,-0.119 0.033,-0.126 0.041,-5.621 3.781</inkml:trace>
</inkml:ink>
</file>

<file path=ppt/ink/ink1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515.000 126.000,'0.050'0.033,"0.079"0.053,0.093 0.062,0.097 0.064,0.113 0.067,0.079 0.040,0.062 0.026,-0.003 0.065,-0.044 0.085,-0.067 0.092,-0.056 0.085,-0.087-0.000,-0.080-0.029,0.018 1.451</inkml:trace>
</inkml:ink>
</file>

<file path=ppt/ink/ink1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527.000 119.000,'0.054'0.000,"0.093"0.000,0.053-0.027,0.079-0.047,0.175-0.059,0.134-0.030,0.387-0.104,0.180-0.053,-0.170 0.061,0.083 0.002,0.096-0.025,0.102-0.045,0.268-0.075,0.037-0.001,0.494-0.102,-0.135 0.062,-0.189 0.076,-1.100 0.241,0.658-0.037,-0.024 0.143,-0.054 0.173,-0.096 0.187,-0.121 0.188,-0.133 0.203,-0.136 0.205,-0.257-0.137,-0.071 0.095,0.018 0.458,-0.104 0.121,-0.108-0.117,-0.058 0.055,-0.038 0.507,-0.062 0.075,-0.123 0.358,-0.056-0.245,-0.035-0.072,0.007-0.337,-0.001-0.135,0.007-0.325,-0.022-0.142,-0.146 0.265,-0.023-0.338,-0.006-0.295,0.005-0.243,0.087-0.232,-0.016-0.083,-0.001-0.090,-0.052-0.073,-0.129-0.141,-0.085-0.165,-0.014-0.132,-0.095-0.201,-0.521-0.717,-0.218-0.369,0.435 0.570,-0.898-1.089,-0.106-0.188,0.588 0.703,0.014-0.011,-0.318-0.466,0.116 0.092,0.039-0.076,0.406 0.491,0.183 0.177,0.176 0.177,0.162 0.167,0.137 0.100,0.180 0.212,0.158 0.196,0.195 0.151,0.197 0.165,0.253 0.131,0.106 0.103,0.129 0.062,0.284 0.123,-0.065 0.086,-0.032 0.083,-0.078 0.072,-0.105 0.060,-0.242-0.017,-0.072 0.090,-0.022 0.369,-0.220-0.104,-0.128 0.032,-0.127 0.019,-0.120 0.009,-0.109 0.002,-0.136-0.035,-0.148-0.060,-0.447 0.113,-0.145-0.155,0.040-0.190,0.103-0.177,0.148-0.163,0.164-0.141,0.159-0.115,0.143-0.089,0.121-0.066,0.097-0.046,0.152 0.104,2.128-3.090</inkml:trace>
</inkml:ink>
</file>

<file path=ppt/ink/ink1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571.000 112.000,'0.050'0.033,"0.079"0.053,0.093 0.062,0.097 0.064,0.081 0.014,0.102 0.004,-0.034-0.058,0.095-0.011,0.335-0.007,0.153-0.075,0.609-0.060,0.451-0.119,0.391-0.142,-0.871 0.071,0.164-0.016,1.230-0.111,0.193 0.006,-0.218 0.050,0.832-0.024,-0.082 0.043,-1.232 0.089,-0.117 0.021,0.748-0.008,-0.338 0.035,-0.372 0.028,-0.497 0.024,-0.478 0.018,-0.428 0.013,-0.364 0.008,-0.294 0.005,-0.245-0.048,-0.152-0.078,-0.138-0.097,-0.107-0.090,-0.079-0.081,-0.056-0.071,-2.489-2.955</inkml:trace>
</inkml:ink>
</file>

<file path=ppt/ink/ink14.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614.000 99.000,'0.035'0.024,"0.054"0.036,0.061 0.041,0.061 0.041,0.056 0.037,0.048 0.032,0.039 0.026,-0.086-0.027,0.052 0.086,0.128 0.159,0.085 0.109,0.059 0.075,0.038 0.047,-0.045-0.067,0.040 0.010,-0.057-0.074,0.037 0.024,0.361 0.296,0.012-0.047,-0.050-0.021,-0.089-0.003,-0.328-0.276,-0.052-0.008,0.158 0.438,-0.234-0.045,-0.199 0.039,-0.182-0.082,-0.162 0.023,-0.226 0.045,-0.260 0.059,-0.005-0.212,-0.193 0.048,-0.892 0.540,-0.392 0.092,0.010-0.112,-0.179 0.043,0.236-0.165,0.000-0.001,-10.275 6.093</inkml:trace>
</inkml:ink>
</file>

<file path=ppt/ink/ink15.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660.000 82.000,'-0.052'0.052,"-0.079"0.079,-0.088 0.088,-0.087 0.087,-0.078 0.078,-0.066 0.066,-0.180 0.180,-0.067 0.044,-0.136 0.096,-0.326 0.197,-0.230 0.070,0.377-0.312,-0.093 0.047,-9.539 6.120</inkml:trace>
</inkml:ink>
</file>

<file path=ppt/ink/ink16.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640.000 100.000,'0.063'0.047,"0.105"0.078,0.129 0.097,0.041 0.053,0.064 0.087,0.101 0.190,0.007 0.143,0.172 0.429,0.052 0.228,-0.160-0.052,-0.037 0.188,-0.051 0.158,-0.059 0.153,-0.062 0.142,-0.111-0.145,-0.076 0.098,-0.057 0.325,-0.064-0.019,-0.048-0.070,-0.035-0.103,-0.037 0.151,-0.017-0.221,-0.006-0.230,0.003-0.293,0.006-0.281,0.009-0.272,0.010-0.249,0.011-0.219,0.035-0.234,0.036-0.144,0.038-0.184,0.022-0.175,0.035-0.133,0.065-0.204,2.268-7.522</inkml:trace>
</inkml:ink>
</file>

<file path=ppt/ink/ink17.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674.000 85.000,'-0.023'0.046,"-0.036"0.073,-0.043 0.085,-0.044 0.087,-0.041 0.083,-0.037 0.074,-0.015-0.042,-0.074 0.030,0.017-0.082,-0.080 0.038,-0.395 0.300,-0.184 0.088,0.117-0.129,-0.095 0.046,-0.477 0.273,-0.208 0.052,-7.903 4.099</inkml:trace>
</inkml:ink>
</file>

<file path=ppt/ink/ink18.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655.000 99.000,'0.072'0.036,"0.124"0.062,0.332 0.276,0.157 0.159,0.087 0.099,-0.232-0.145,-0.020 0.052,0.152 0.275,0.022 0.123,0.045 0.359,-0.135 0.044,-0.077 0.157,-0.084 0.106,-0.083 0.066,-0.168-0.554,-0.056-0.001,-0.043 0.741,-0.099-0.231,-0.061-0.288,-0.032-0.300,-0.012-0.283,0.002-0.249,0.010-0.207,-0.183-0.784</inkml:trace>
</inkml:ink>
</file>

<file path=ppt/ink/ink19.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669.000 104.000,'0.074'-0.025,"0.115"-0.038,0.134-0.045,-0.094-0.004,0.035-0.074,0.195-0.227,0.125-0.169,0.109-0.116,0.092-0.073,-0.040 0.066,0.052-0.015,0.047-0.022,0.041-0.025,0.124-0.122,-0.049 0.010,-0.057 0.048,-0.059 0.073,0.029-0.028,-0.130 0.094,-0.134 0.086,-0.184 0.081,-0.232 0.103,-0.234 0.096,-0.218 0.085,-0.193 0.072,-0.164 0.058,-0.164 0.119,-0.107 0.151,0.327-0.007,-0.033 0.067,-0.320 0.305,0.039 0.190,-0.001 0.333,0.190 0.053,0.110 0.131,0.194-0.193,0.063 0.095,0.065 0.553,0.181 0.233,0.249 0.103,0.373 0.857,0.244 0.159,-0.002-0.545,0.169 0.069,0.009-0.303,0.134 0.003,-0.073-0.342,0.078-0.026,0.746 0.850,0.138-0.171,-0.404-0.735,0.026-0.188,0.203-0.026,-0.082-0.263,-0.499-0.482,-0.071-0.134,0.634 0.130,-0.319-0.407,-0.320-0.346,-0.391-0.208,-0.188-0.152,-0.135-0.283,-0.175-0.080,-0.104-0.083,-0.140 0.143,-0.132 0.013,-0.306-0.194,-0.282-0.075,0.085 0.264,-0.178 0.013,-10.081-2.812</inkml:trace>
</inkml:ink>
</file>

<file path=ppt/ink/ink20.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671.000 136.000,'0.046'0.034,"0.073"0.054,0.085 0.064,0.087 0.065,0.083 0.062,0.074 0.056,0.083 0.026,0.053-0.018,0.040-0.037,-0.017-0.039,0.020-0.008,0.016-0.001,-0.052-0.010,-0.055-0.001,-0.069-0.000,-0.075-0.000,0.508 0.850</inkml:trace>
</inkml:ink>
</file>

<file path=ppt/ink/ink21.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287.000 220.000,'0.012'0.000,"0.019"0.000,0.022 0.000,0.021 0.000,0.019 0.000,0.017 0.000,0.014 0.000,0.011 0.000,0.008 0.000,0.005 0.000,0.004 0.000,0.002 0.000,0.001 0.000,0.000 0.000,-0.000 0.000,-0.001 0.000,-0.001 0.000,-0.001 0.000,-0.001 0.000,-0.001 0.000,0.127 0.000,0.086 0.000,0.115 0.000,-0.041 0.000,0.069 0.000,0.260 0.000,0.092 0.000,-0.040 0.000,0.048 0.000,-0.194 0.000,0.027 0.000,0.308 0.000,0.076 0.000,0.074 0.000,0.069 0.000,-0.106 0.000,0.049 0.000,0.049 0.000,0.047 0.000,0.667 0.000,0.085 0.000,0.200 0.000,0.112 0.000,0.048 0.000,0.223 0.000,-0.750 0.000,0.010 0.000,0.552 0.000,-0.011 0.000,-0.031 0.000,-0.043 0.000,-0.203 0.000,0.034-0.024,0.017-0.039,0.822-0.071,-0.085-0.017,-1.095 0.056,-0.002 0.004,0.862-0.172,-0.557 0.010,-0.044-0.018,-0.035-0.000,-0.027 0.013,-0.528 0.076,-0.019 0.014,0.441-0.028,-0.077 0.029,-0.071 0.028,-0.063 0.027,0.114 0.017,-0.115 0.027,-0.449 0.029,-0.063 0.011,-0.209 0.011,-0.030 0.006,0.299 0.005,0.000 0.007,0.141 0.006,-0.033 0.004,-0.327-0.001,-0.021 0.001,-0.169-0.001,-0.028-0.000,0.216 0.002,-0.063-0.001,-0.043-0.001,-0.027-0.001,0.087-0.000,-0.083-0.001,-0.091-0.001,-0.059-0.001,-0.117-0.001,-0.109-0.001,-0.096-0.001,-0.080-0.000,-0.064-0.000,-0.037-0.000,-0.017-0.000,-0.003 0.000,0.006 0.000,0.012 0.000,0.014 0.000,0.015 0.000,0.014 0.000,0.013 0.000,0.008 0.000,-0.012 0.000,-0.017 0.000,-0.019 0.000,-0.019 0.000,-0.018 0.000,0.004 0.000,0.019 0.000,0.027 0.000,0.029 0.000,0.028 0.000,0.026-0.000,0.022 0.000,-0.091 0.000,0.048 0.000,0.164 0.000,0.047 0.000,-0.037 0.000,0.016 0.000,0.034 0.000,0.045 0.000,-0.135 0.000,0.013 0.000,0.264 0.000,0.002 0.000,-0.173 0.000,-0.009 0.000,0.204 0.000,0.026 0.000,0.031 0.000,0.070 0.008,-0.100 0.013,-0.127 0.014,-0.134 0.014,-0.127 0.013,-0.112 0.011,-0.093 0.009,-0.074 0.007,-0.056 0.005,-0.041 0.004,-0.041 0.033,-0.036 0.045,-0.030 0.049,-0.024 0.048,-0.018 0.042,-0.013 0.036,-0.009 0.028,-0.007 0.006,-0.025 0.044,-0.028 0.045,0.039-0.075,0.006 0.019,-0.081 0.145,-0.036-0.057,0.126-0.174,-0.064 0.274,0.020 0.067,0.058-0.128,0.016 0.014,-0.020 0.027,-0.046 0.035,-0.028 0.040,-0.013 0.042,-0.034 0.155,0.011 0.046,-0.032 0.358,0.031-0.043,-0.013 0.073,0.007 0.032,0.020 0.002,0.069-0.305,0.018-0.009,0.019 0.011,0.019 0.026,0.018 0.035,0.017 0.042,0.009 0.243,0.017 0.088,0.017-0.114,0.010 0.074,0.007 0.501,0.010 0.041,0.005-0.652,0.002 0.005,0.003 0.231,0.002 0.008,0.004 0.449,0.001-0.025,-0.004-0.691,-0.000-0.034,0.002 0.358,-0.001-0.070,-0.001-0.075,-0.001-0.075,-0.001-0.246,-0.001-0.078,-0.001-0.060,-0.001-0.045,-0.000 0.131,-0.001-0.083,-0.000-0.084,-0.000-0.081,-0.000 0.064,-0.000-0.136,-0.000-0.127,-0.000-0.110,0.000-0.114,0.000-0.075,0.000-0.061,0.000-0.047,0.000-0.035,0.000-0.025,0.000 0.004,0.000 0.049,0.000 0.064,0.000 0.071,0.000 0.164,0.000 0.049,-0.012-0.097,-0.020-0.019,-0.024-0.029,-0.025-0.034,-0.024-0.035,-0.015-0.020,0.001-0.033,0.009-0.029,0.013-0.024,0.015-0.020,0.017 0.009,0.014 0.038,0.012 0.050,-0.034-0.015,-0.072 0.032,-0.044 0.053,-0.023 0.066,-0.006 0.072,0.006 0.073,-0.016 0.176,0.027 0.042,0.031 0.017,0.047-0.129,0.022-0.016,0.011 0.099,0.024-0.020,0.020-0.021,0.018-0.131,0.010-0.022,0.008 0.179,0.009-0.024,0.005-0.023,0.012-0.075,0.015-0.130,0.015-0.140,0.014-0.133,0.012-0.118,0.010-0.098,0.008-0.077,0.006-0.058,0.004-0.041,0.003-0.027,0.001-0.017,0.001-0.009,0.000-0.003,-0.000 0.001,-0.000 0.003,-0.000 0.004,-0.000 0.004,-0.000 0.004,-0.000 0.004,0.027 0.002,0.049-0.010,0.057-0.012,0.056-0.013,0.019 0.011,0.003 0.020,-0.010 0.026,-0.017 0.027,-0.021 0.026,-0.021 0.024,-0.005-0.005,0.032-0.029,0.043-0.039,0.047-0.043,0.047-0.043,-0.141 0.080,0.017-0.000,0.130-0.042,0.028 0.014,0.046-0.006,0.057-0.019,-0.116 0.047,0.018 0.002,0.202-0.040,0.053 0.016,0.051-0.027,0.048-0.057,0.043-0.029,0.038-0.007,-0.204 0.078,0.023 0.010,0.171-0.017,0.062 0.021,0.349-0.019,0.037 0.039,-0.143 0.049,-0.005 0.027,-0.156 0.014,-0.008-0.014,-0.149 0.010,0.000-0.001,0.440-0.045,-0.013 0.011,-0.140 0.026,0.019 0.013,0.374-0.001,0.012 0.021,-0.033 0.019,-0.486 0.024,-0.023 0.007,0.122 0.005,-0.023 0.006,-0.022 0.005,-0.020 0.004,-0.147 0.003,-0.007 0.002,0.016-0.035,0.032-0.061,0.171-0.069,0.017-0.032,-0.285 0.041,0.006-0.002,0.454-0.072,-0.008 0.018,-0.308 0.043,-0.011-0.014,0.302-0.059,0.022 0.009,-0.279 0.063,0.028 0.015,-0.127 0.007,0.036-0.034,0.401-0.098,0.058-0.015,0.044 0.003,0.032 0.016,0.524-0.030,-0.191 0.068,-0.042 0.039,-0.448 0.048,-0.048-0.009,0.297-0.046,-0.089 0.011,0.130 0.002,-0.224 0.042,-0.065 0.024,-0.203 0.032,-0.045 0.018,-0.150 0.021,0.012 0.011,0.010 0.010,0.008 0.008,0.150 0.006,-0.001 0.007,-0.008 0.006,-0.012 0.004,-0.289 0.001,-0.002 0.001,0.563 0.005,-0.024 0.001,-0.564-0.030,-0.007-0.047,0.400-0.112,-0.012-0.042,-0.418 0.067,-0.024-0.001,0.203-0.046,-0.054 0.014,-0.243 0.058,-0.005 0.012,0.305-0.032,-0.039 0.028,0.083 0.014,-0.109 0.032,-0.113 0.026,-0.112 0.020,-0.134 0.016,-0.120 0.011,-0.102 0.007,-0.081 0.004,-0.062 0.002,-0.045 0.000,-0.030-0.001,-0.019-0.001,-0.010-0.001,-0.004-0.001,-0.000-0.001,0.003-0.001,0.009-0.001,0.010-0.001,0.010-0.000,0.009-0.000,0.008-0.000,0.007-0.000,0.005-0.000,0.004-0.000,0.003 0.000,0.002 0.000,0.001 0.000,0.001 0.000,0.000 0.000,-0.000 0.000,-0.000 0.000,1.336 0.000</inkml:trace>
</inkml:ink>
</file>

<file path=ppt/ink/ink22.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65.000 235.000,'0.010'-0.002,"0.015"-0.003,0.017-0.003,0.017-0.003,0.015-0.003,0.013-0.003,0.010-0.002,0.008-0.002,0.006-0.001,0.004-0.001,0.002-0.000,0.001-0.000,0.001-0.000,0.000-0.000,-0.000 0.000,-0.000 0.000,-0.001 0.000,-0.001 0.000,-0.000 0.000,-0.000 0.000,-0.000 0.000,-0.000 0.000,-0.000 0.000,-0.000 0.000,-0.000 0.000,-0.000 0.000,-0.000 0.000,0.000 0.000,0.000 0.000,0.000 0.000,0.000-0.000,0.000 0.000,0.000 0.000,0.000 0.000,0.000 0.000,0.000 0.000,0.000 0.000,0.000-0.000,0.000 0.000,0.000 0.000,0.000 0.000,0.000 0.000,0.000 0.000,0.000 0.000,0.032 0.053,0.064 0.079,0.075 0.092,-0.072-0.021,0.002 0.041,0.070 0.061,0.062 0.008,0.028 0.015,0.002 0.020,0.086 0.039,0.059-0.023,-0.051 0.028,0.126 0.084,0.100-0.002,-0.010 0.022,0.063 0.123,-0.155-0.103,0.036 0.037,0.277 0.251,0.052 0.062,0.039 0.052,0.028 0.042,0.066 0.056,0.090 0.064,0.079 0.043,0.067 0.026,-0.287-0.261,0.061 0.033,0.651 0.483,0.023-0.030,-0.413-0.325,-0.027-0.019,-0.014-0.033,-0.004-0.042,-0.172-0.154,0.035-0.011,0.671 0.379,0.034-0.012,-0.419-0.280,0.001-0.034,0.670 0.314,0.016-0.034,0.073 0.044,-0.007-0.019,-0.057-0.058,-0.882-0.442,0.005-0.002,0.995 0.512,-0.203-0.101,-0.017-0.023,-0.264-0.125,-0.039-0.004,-0.250-0.126,-0.023-0.021,-0.237-0.136,-0.026-0.040,0.550 0.264,-0.086 0.030,-0.434-0.190,-0.054-0.006,0.379 0.224,-0.164-0.102,-0.415-0.187,0.063 0.070,-0.159-0.099,-0.121-0.081,-0.188-0.127,-0.166-0.114,-0.138-0.097,-0.109-0.078,-0.081-0.059,-0.058-0.043,-0.038-0.029,-0.023-0.018,-0.012-0.010,-0.004-0.004,0.001-0.000,0.004 0.002,0.006 0.003,-0.009-0.012,-0.026-0.052,-0.033-0.064,-0.041-0.040,-0.049-0.030,-0.051-0.019,-0.049-0.010,-0.044-0.033,-0.026-0.036,-0.017-0.040,-0.130-0.143,-0.017 0.011,-0.009 0.034,-0.002 0.045,-1.320-0.865</inkml:trace>
</inkml:ink>
</file>

<file path=ppt/ink/ink23.xml><?xml version="1.0" encoding="utf-8"?>
<inkml:ink xmlns:inkml="http://www.w3.org/2003/InkML">
  <inkml:definitions>
    <inkml:context xml:id="ctx0">
      <inkml:inkSource xml:id="inkSrc0">
        <inkml:traceFormat>
          <inkml:channel name="X" type="integer" units="cm"/>
          <inkml:channel name="Y" type="integer" units="cm"/>
        </inkml:traceFormat>
        <inkml:channelProperties>
          <inkml:channelProperty channel="X" name="resolution" value="28.3464566929134" units="1/cm"/>
          <inkml:channelProperty channel="Y" name="resolution" value="28.3464566929134" units="1/cm"/>
        </inkml:channelProperties>
      </inkml:inkSource>
      <inkml:timestamp xml:id="ts0" timeString="2026-01-14T12:37:02"/>
    </inkml:context>
    <inkml:brush xml:id="br0">
      <inkml:brushProperty name="width" value="0.09701" units="cm"/>
      <inkml:brushProperty name="height" value="0.09701" units="cm"/>
      <inkml:brushProperty name="color" value="#ff0000"/>
      <inkml:brushProperty name="ignorePressure" value="0"/>
    </inkml:brush>
  </inkml:definitions>
  <inkml:trace contextRef="#ctx0" brushRef="#br0">142.000 235.000,'-0.049'0.074,"-0.077"0.115,-0.089 0.134,-0.043 0.032,-0.043 0.013,-0.031-0.015,-0.072 0.012,-0.050-0.011,-0.048-0.008,0.017-0.050,-0.001-0.037,0.009-0.041,0.059-0.054,0.021-0.033,0.022-0.030,0.022-0.026,-0.064-0.017,-0.020-0.024,-0.030-0.018,0.129-0.011,-0.014-0.005,-0.094 0.042,-0.058 0.075,-0.041 0.095,-0.027 0.105,-0.352 0.246,-0.176 0.176,-0.143 0.168,0.130-0.085,-0.149 0.101,0.013-0.022,-0.171 0.110,0.053-0.045,-0.174 0.119,-1.914 1.344,-0.386 0.271,-0.224-0.015,0.604-0.475,-0.150 0.034,0.858-0.554,-0.041 0.014,-0.499 0.274,0.004-0.043,-0.828 0.444,0.231-0.156,0.691-0.435,0.288-0.218,0.892-0.495,0.157-0.082,-0.454 0.258,0.318-0.148,0.300-0.135,0.272-0.118,0.158-0.070,0.257-0.152,0.214-0.141,0.174-0.116,0.122-0.083,0.088-0.061,0.059-0.042,0.037-0.027,-0.646 0.222</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楷体" panose="02010609060101010101" charset="-122"/>
                <a:ea typeface="楷体" panose="02010609060101010101" charset="-122"/>
                <a:cs typeface="楷体" panose="02010609060101010101" charset="-122"/>
              </a:defRPr>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楷体" panose="02010609060101010101" charset="-122"/>
                <a:ea typeface="楷体" panose="02010609060101010101" charset="-122"/>
                <a:cs typeface="楷体" panose="02010609060101010101"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楷体" panose="02010609060101010101" charset="-122"/>
                <a:ea typeface="楷体" panose="02010609060101010101" charset="-122"/>
                <a:cs typeface="楷体" panose="02010609060101010101" charset="-122"/>
              </a:defRPr>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1pPr>
    <a:lvl2pPr marL="4572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2pPr>
    <a:lvl3pPr marL="9144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3pPr>
    <a:lvl4pPr marL="13716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4pPr>
    <a:lvl5pPr marL="1828800" algn="l" defTabSz="914400" rtl="0" eaLnBrk="1" latinLnBrk="0" hangingPunct="1">
      <a:defRPr sz="1200" kern="1200">
        <a:solidFill>
          <a:schemeClr val="tx1"/>
        </a:solidFill>
        <a:latin typeface="楷体" panose="02010609060101010101" charset="-122"/>
        <a:ea typeface="楷体" panose="02010609060101010101" charset="-122"/>
        <a:cs typeface="楷体" panose="02010609060101010101"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mn-ea"/>
              </a:rPr>
              <a:t>1.</a:t>
            </a:r>
            <a:r>
              <a:rPr lang="zh-CN" altLang="en-US" sz="1200" kern="1200" dirty="0">
                <a:solidFill>
                  <a:schemeClr val="tx1"/>
                </a:solidFill>
                <a:effectLst/>
                <a:latin typeface="+mn-lt"/>
                <a:sym typeface="+mn-ea"/>
              </a:rPr>
              <a:t>答案：</a:t>
            </a:r>
            <a:r>
              <a:rPr lang="en-US" altLang="zh-CN" sz="1200" kern="1200" dirty="0">
                <a:solidFill>
                  <a:schemeClr val="tx1"/>
                </a:solidFill>
                <a:effectLst/>
                <a:latin typeface="+mn-lt"/>
                <a:sym typeface="+mn-ea"/>
              </a:rPr>
              <a:t>C</a:t>
            </a:r>
            <a:endParaRPr lang="en-US" altLang="zh-CN"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解析：高傲和谦逊是反义词。高傲、平和、谦逊均是形容人的态度，三者有层次变化。</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a:t>
            </a:r>
            <a:r>
              <a:rPr lang="zh-CN" altLang="en-US" sz="1200" kern="1200" dirty="0">
                <a:solidFill>
                  <a:schemeClr val="tx1"/>
                </a:solidFill>
                <a:effectLst/>
                <a:latin typeface="+mn-lt"/>
                <a:sym typeface="+mn-ea"/>
              </a:rPr>
              <a:t>项：烦躁和镇定是反义词。烦躁、悠然、镇定三者有层次变化，但是悠然、镇定顺序相反，与题干逻辑关系不一致，排除；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a:t>
            </a:r>
            <a:r>
              <a:rPr lang="zh-CN" altLang="en-US" sz="1200" kern="1200" dirty="0">
                <a:solidFill>
                  <a:schemeClr val="tx1"/>
                </a:solidFill>
                <a:effectLst/>
                <a:latin typeface="+mn-lt"/>
                <a:sym typeface="+mn-ea"/>
              </a:rPr>
              <a:t>项：疾走的反义词是缓行，踟蹰表示犹豫不决，与踟蹰不是反义词，与题干逻辑关系不一致，排除；</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项：凌驾与屈从是反义词。凌驾、对等、屈从三者有层次变化，与题干逻辑关系一致，当选；</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a:t>
            </a:r>
            <a:r>
              <a:rPr lang="zh-CN" altLang="en-US" sz="1200" kern="1200" dirty="0">
                <a:solidFill>
                  <a:schemeClr val="tx1"/>
                </a:solidFill>
                <a:effectLst/>
                <a:latin typeface="+mn-lt"/>
                <a:sym typeface="+mn-ea"/>
              </a:rPr>
              <a:t>项：正职和副职是职务不同的职员，第一词和第三词与第二词为种属关系，与题干逻辑关系不一致，排除。</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故正确答案为</a:t>
            </a:r>
            <a:r>
              <a:rPr lang="en-US" altLang="zh-CN" sz="1200" kern="1200" dirty="0">
                <a:solidFill>
                  <a:schemeClr val="tx1"/>
                </a:solidFill>
                <a:effectLst/>
                <a:latin typeface="+mn-lt"/>
                <a:sym typeface="+mn-ea"/>
              </a:rPr>
              <a:t>C</a:t>
            </a:r>
            <a:r>
              <a:rPr lang="zh-CN" altLang="en-US" sz="1200" kern="1200" dirty="0">
                <a:solidFill>
                  <a:schemeClr val="tx1"/>
                </a:solidFill>
                <a:effectLst/>
                <a:latin typeface="+mn-lt"/>
                <a:sym typeface="+mn-ea"/>
              </a:rPr>
              <a:t>。</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题干中</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高傲、平和、谦逊</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是一组态度层面的递进关系，且呈现</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程度从高到低</a:t>
            </a:r>
            <a:r>
              <a:rPr lang="en-US" altLang="zh-CN" sz="1200" kern="1200" dirty="0">
                <a:solidFill>
                  <a:schemeClr val="tx1"/>
                </a:solidFill>
                <a:effectLst/>
                <a:latin typeface="+mn-lt"/>
                <a:sym typeface="+mn-ea"/>
              </a:rPr>
              <a:t> </a:t>
            </a:r>
            <a:r>
              <a:rPr lang="zh-CN" altLang="en-US" sz="1200" kern="1200" dirty="0">
                <a:solidFill>
                  <a:schemeClr val="tx1"/>
                </a:solidFill>
                <a:effectLst/>
                <a:latin typeface="+mn-lt"/>
                <a:sym typeface="+mn-ea"/>
              </a:rPr>
              <a:t>的变化：</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高傲：极端自高自大，态度傲慢；</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平和：不偏激、不极端，态度中性；</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谦逊：虚心不自满，态度谦和。</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三者是同一维度下程度递减的并列关系。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A </a:t>
            </a:r>
            <a:r>
              <a:rPr lang="zh-CN" altLang="en-US" sz="1200" kern="1200" dirty="0">
                <a:solidFill>
                  <a:schemeClr val="tx1"/>
                </a:solidFill>
                <a:effectLst/>
                <a:latin typeface="+mn-lt"/>
                <a:sym typeface="+mn-ea"/>
              </a:rPr>
              <a:t>选项：烦躁（焦躁不安）和镇定（沉着冷静）是反义关系，悠然（闲适自在）与前两者并非同一维度的程度递进，逻辑不符。</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B </a:t>
            </a:r>
            <a:r>
              <a:rPr lang="zh-CN" altLang="en-US" sz="1200" kern="1200" dirty="0">
                <a:solidFill>
                  <a:schemeClr val="tx1"/>
                </a:solidFill>
                <a:effectLst/>
                <a:latin typeface="+mn-lt"/>
                <a:sym typeface="+mn-ea"/>
              </a:rPr>
              <a:t>选项：疾走（快速走）、健步（稳健有力地走）侧重走路的速度</a:t>
            </a:r>
            <a:r>
              <a:rPr lang="en-US" altLang="zh-CN" sz="1200" kern="1200" dirty="0">
                <a:solidFill>
                  <a:schemeClr val="tx1"/>
                </a:solidFill>
                <a:effectLst/>
                <a:latin typeface="+mn-lt"/>
                <a:sym typeface="+mn-ea"/>
              </a:rPr>
              <a:t> / </a:t>
            </a:r>
            <a:r>
              <a:rPr lang="zh-CN" altLang="en-US" sz="1200" kern="1200" dirty="0">
                <a:solidFill>
                  <a:schemeClr val="tx1"/>
                </a:solidFill>
                <a:effectLst/>
                <a:latin typeface="+mn-lt"/>
                <a:sym typeface="+mn-ea"/>
              </a:rPr>
              <a:t>状态，踟蹰（犹豫不前）侧重走路的心态，三者维度不同，无递进关系。</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C </a:t>
            </a:r>
            <a:r>
              <a:rPr lang="zh-CN" altLang="en-US" sz="1200" kern="1200" dirty="0">
                <a:solidFill>
                  <a:schemeClr val="tx1"/>
                </a:solidFill>
                <a:effectLst/>
                <a:latin typeface="+mn-lt"/>
                <a:sym typeface="+mn-ea"/>
              </a:rPr>
              <a:t>选项：凌驾：超越、高出对方，处于优势地位；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对等：双方地位平等，处于中性地位；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屈从：屈服于对方，处于劣势地位。</a:t>
            </a:r>
            <a:endParaRPr lang="zh-CN" altLang="en-US" sz="1200" kern="1200" dirty="0">
              <a:solidFill>
                <a:schemeClr val="tx1"/>
              </a:solidFill>
              <a:effectLst/>
              <a:latin typeface="+mn-lt"/>
              <a:sym typeface="+mn-ea"/>
            </a:endParaRPr>
          </a:p>
          <a:p>
            <a:r>
              <a:rPr lang="zh-CN" altLang="en-US" sz="1200" kern="1200" dirty="0">
                <a:solidFill>
                  <a:schemeClr val="tx1"/>
                </a:solidFill>
                <a:effectLst/>
                <a:latin typeface="+mn-lt"/>
                <a:sym typeface="+mn-ea"/>
              </a:rPr>
              <a:t>三者是地位关系维度下程度递减的并列关系，与题干逻辑完全一致。</a:t>
            </a:r>
            <a:endParaRPr lang="zh-CN" altLang="en-US" sz="1200" kern="1200" dirty="0">
              <a:solidFill>
                <a:schemeClr val="tx1"/>
              </a:solidFill>
              <a:effectLst/>
              <a:latin typeface="+mn-lt"/>
              <a:sym typeface="+mn-ea"/>
            </a:endParaRPr>
          </a:p>
          <a:p>
            <a:r>
              <a:rPr lang="en-US" altLang="zh-CN" sz="1200" kern="1200" dirty="0">
                <a:solidFill>
                  <a:schemeClr val="tx1"/>
                </a:solidFill>
                <a:effectLst/>
                <a:latin typeface="+mn-lt"/>
                <a:sym typeface="+mn-ea"/>
              </a:rPr>
              <a:t>D </a:t>
            </a:r>
            <a:r>
              <a:rPr lang="zh-CN" altLang="en-US" sz="1200" kern="1200" dirty="0">
                <a:solidFill>
                  <a:schemeClr val="tx1"/>
                </a:solidFill>
                <a:effectLst/>
                <a:latin typeface="+mn-lt"/>
                <a:sym typeface="+mn-ea"/>
              </a:rPr>
              <a:t>选项：正职和副职是并列关系，职员是对职场人员的统称，包含正职、副职，属于包含关系，与题干逻辑不符。</a:t>
            </a:r>
            <a:endParaRPr lang="zh-CN" altLang="en-US" sz="1200" kern="1200" dirty="0">
              <a:solidFill>
                <a:schemeClr val="tx1"/>
              </a:solidFill>
              <a:effectLst/>
              <a:latin typeface="+mn-lt"/>
              <a:sym typeface="+mn-ea"/>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2.</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解析：论点：在海水中，肥皂不起清洁作用。</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论据：海水中的钠和肥皂中的钠原子实际上都是以离子的形式存在的，由于离子间的平衡，海水中的钠离子会阻止肥皂中的钠离子在水中充分溶解。</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论点讨论的是肥皂在海水中能否起清洁作用，论据讨论的是海水中的钠离子会阻止肥皂中的钠离子在水中充分溶解，论点论据话题不一致，问前提，优先考虑搭桥。</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项：该项说明肥皂中的钠要先溶解才能发挥清洁作用，说明如果不能溶解就无法发挥清洁的作用，建立的论点和论据之间的联系，为加强项，保留；</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项：该项说明海水中的钠离子可以从海水中分离出来，与肥皂在海水中能否起清洁作用无关，不能作为假设前提，排除；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项：该项说明肥皂要与水共同使用才能发挥清洁作用，但是与肥皂中的钠离子是否能在海水中充分溶解无关，不能作为假设前提，排除；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项：该项说明肥皂分子结构中的钠离子是不溶于水的，与肥皂在海水中能否起清洁作用无关，不能作为假设前提，排除。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3.</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C</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解析：论点：社会审美取向的影响几乎可以忽略不计，</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的成熟才是促使花瓣形素髹漆器产生的原因。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只有论点无论据，优先考虑否论点。</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项：该项说明宋代金银器锤揲技法为其他材质材质器物起到花瓣示范作用，论点讨论的是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的成熟是否为促使花瓣形素髹漆器产生的原因，话题不一致，无法削弱，排除；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的起源兴衰年代，论点讨论的是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的成熟是否为促使花瓣形素髹漆器产生的原因，话题不一致，无法削弱，排除；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项：该项说明是为了要满足人们的审美，所以素髹漆器的制作工艺不断进步，所以社会审美取向的影响不能忽略，满足人们的审美需求才是促使花瓣形素髹漆器产生的原因。否定了论点，当选；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项：该项说明宋代在其他漆器上也体现了对花瓣形态的钟爱，论点讨论的是</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的成熟是否为促使花瓣形素髹漆器产生的原因，话题不一致，无法削弱，排除。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原观点（隐含）：宋朝</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极简风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的审美取向促使花瓣形素髹漆器产生。</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反对者观点：社会审美取向影响可忽略，</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的成熟才是花瓣形素髹漆器产生的原因。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削弱目标：证明工艺成熟不是根本原因，或审美取向才是关键影响因素，或指出工艺与审美存在因果倒置。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选项宋代金银器锤揲技法为花瓣造型起示范作用。</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该选项提到的是金银器工艺的示范作用，与反对者强调的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和</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审美取向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均无直接关联，无法削弱反对者观点，排除。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选项</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唐代已产生，元代后消失。</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反对者的观点是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工艺成熟促使花瓣形漆器产生</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，而该选项仅说明工艺的存在时间，未涉及工艺成熟与漆器产生的因果关系，也未提及审美取向，无法削弱，排除。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选项宋人对花瓣形态的钟爱（审美取向），促使素髹漆器制作工艺不断进步。</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该选项直接指出：审美取向是工艺进步的原因，而非反对者所说的</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工艺成熟是漆器产生的原因</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。本质上是因果倒置</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不是工艺自发成熟催生漆器，而是审美需求推动工艺进步，最终才产生花瓣形漆器。这直接否定了反对者</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审美影响可忽略</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的核心前提，削弱力度最强。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选项对花瓣形态的钟爱体现在多种宋代漆器上。</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该选项仅证明审美取向的普遍性，但未明确关联</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审美取向</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圈叠胎工艺</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花瓣形素髹漆器产生</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的因果关系，无法直接削弱反对者的观点，排除。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4.</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B</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解析：论点：细胞端粒长度决定一个人的面部年龄，那些面部年龄比同龄人年轻的人更长寿。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论据：细胞端粒被认为是与寿命相关的指标，端粒会随着细胞分裂而不断变短，端粒越短说明细胞分裂次数越多，细胞分裂次数越多人越容易衰老，也越容易出现与衰老相关的一系列疾病。</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论点和论据讨论的都是细胞端粒长度与面部年龄、寿命的关系，话题一致，加强优先考虑补充论据。</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项：该项说明面部年龄比同龄人年轻的人，其体内细胞的活力更强，细胞活力强与长寿无明显关系，无法加强，排除；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项：该项说明双胞胎中面部年龄较小的受试者比面部年龄大的细胞端粒更长，举例加强细胞端粒长度决定一个人的面部年龄，可以加强，当选；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项：该项说明那些细胞端粒天生较短的人往往在年轻时就会出现各种疾病，但出现疾病并不意味着就不长寿，无法加强，排除；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项：该项说明当细胞端粒无法再变短时，细胞会停止分裂，不可逆地凋亡，但是细胞凋亡并不代表人的寿命结束，无法加强，排除。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a:t>
            </a:r>
            <a:r>
              <a:rPr lang="en-US" altLang="en-US" sz="1200" kern="1200" dirty="0">
                <a:solidFill>
                  <a:schemeClr val="tx1"/>
                </a:solidFill>
                <a:effectLst/>
                <a:latin typeface="+mn-lt"/>
                <a:sym typeface="楷体" panose="02010609060101010101" charset="-122"/>
              </a:rPr>
              <a:t>①</a:t>
            </a:r>
            <a:r>
              <a:rPr lang="zh-CN" altLang="en-US" sz="1200" kern="1200" dirty="0">
                <a:solidFill>
                  <a:schemeClr val="tx1"/>
                </a:solidFill>
                <a:effectLst/>
                <a:latin typeface="+mn-lt"/>
                <a:sym typeface="楷体" panose="02010609060101010101" charset="-122"/>
              </a:rPr>
              <a:t>端粒越短</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细胞分裂次数越多</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越易衰老、患衰老相关疾病；</a:t>
            </a:r>
            <a:r>
              <a:rPr lang="en-US" altLang="en-US" sz="1200" kern="1200" dirty="0">
                <a:solidFill>
                  <a:schemeClr val="tx1"/>
                </a:solidFill>
                <a:effectLst/>
                <a:latin typeface="+mn-lt"/>
                <a:sym typeface="楷体" panose="02010609060101010101" charset="-122"/>
              </a:rPr>
              <a:t>②</a:t>
            </a:r>
            <a:r>
              <a:rPr lang="zh-CN" altLang="en-US" sz="1200" kern="1200" dirty="0">
                <a:solidFill>
                  <a:schemeClr val="tx1"/>
                </a:solidFill>
                <a:effectLst/>
                <a:latin typeface="+mn-lt"/>
                <a:sym typeface="楷体" panose="02010609060101010101" charset="-122"/>
              </a:rPr>
              <a:t>研究人员对</a:t>
            </a:r>
            <a:r>
              <a:rPr lang="en-US" altLang="zh-CN" sz="1200" kern="1200" dirty="0">
                <a:solidFill>
                  <a:schemeClr val="tx1"/>
                </a:solidFill>
                <a:effectLst/>
                <a:latin typeface="+mn-lt"/>
                <a:sym typeface="楷体" panose="02010609060101010101" charset="-122"/>
              </a:rPr>
              <a:t> 1826 </a:t>
            </a:r>
            <a:r>
              <a:rPr lang="zh-CN" altLang="en-US" sz="1200" kern="1200" dirty="0">
                <a:solidFill>
                  <a:schemeClr val="tx1"/>
                </a:solidFill>
                <a:effectLst/>
                <a:latin typeface="+mn-lt"/>
                <a:sym typeface="楷体" panose="02010609060101010101" charset="-122"/>
              </a:rPr>
              <a:t>对</a:t>
            </a:r>
            <a:r>
              <a:rPr lang="en-US" altLang="zh-CN" sz="1200" kern="1200" dirty="0">
                <a:solidFill>
                  <a:schemeClr val="tx1"/>
                </a:solidFill>
                <a:effectLst/>
                <a:latin typeface="+mn-lt"/>
                <a:sym typeface="楷体" panose="02010609060101010101" charset="-122"/>
              </a:rPr>
              <a:t> 70 </a:t>
            </a:r>
            <a:r>
              <a:rPr lang="zh-CN" altLang="en-US" sz="1200" kern="1200" dirty="0">
                <a:solidFill>
                  <a:schemeClr val="tx1"/>
                </a:solidFill>
                <a:effectLst/>
                <a:latin typeface="+mn-lt"/>
                <a:sym typeface="楷体" panose="02010609060101010101" charset="-122"/>
              </a:rPr>
              <a:t>岁以上双胞胎的端粒长度、面部年龄与寿命进行了</a:t>
            </a:r>
            <a:r>
              <a:rPr lang="en-US" altLang="zh-CN" sz="1200" kern="1200" dirty="0">
                <a:solidFill>
                  <a:schemeClr val="tx1"/>
                </a:solidFill>
                <a:effectLst/>
                <a:latin typeface="+mn-lt"/>
                <a:sym typeface="楷体" panose="02010609060101010101" charset="-122"/>
              </a:rPr>
              <a:t> 7 </a:t>
            </a:r>
            <a:r>
              <a:rPr lang="zh-CN" altLang="en-US" sz="1200" kern="1200" dirty="0">
                <a:solidFill>
                  <a:schemeClr val="tx1"/>
                </a:solidFill>
                <a:effectLst/>
                <a:latin typeface="+mn-lt"/>
                <a:sym typeface="楷体" panose="02010609060101010101" charset="-122"/>
              </a:rPr>
              <a:t>年跟踪分析。</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核心结论：细胞端粒长度决定一个人的面部年龄，且面部年龄比同龄人年轻的人更长寿。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加强目标：建立端粒长度</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面部年龄</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寿命三者之间的必然关联，或直接佐证结论的合理性。</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选项面部年龄更年轻的人体内细胞活力更强。</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该选项仅指出</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面部年龄年轻</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细胞活力</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的关系，但未提及端粒长度和寿命，与题干论证的核心逻辑链无关，无法加强，排除。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选项双胞胎中面部年龄较小的受试者，细胞端粒更长。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题干结论的第一层是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端粒长度决定面部年龄</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。双胞胎的基因背景高度相似，排除了基因差异的干扰，该选项直接建立了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端粒更长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面部年龄更小</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的对应关系，精准佐证了结论的核心前提；同时结合论据中</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端粒长</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细胞分裂次数少</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不易衰老、更长寿</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的逻辑，进一步支撑了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面部年轻的人更长寿</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的结论，加强力度最强。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选项端粒天生较短的人年轻时易患病。</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该选项仅说明端粒短与</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年轻时患病</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的关系，但未涉及面部年龄，与题干结论的逻辑链脱节，无法加强，排除。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选项端粒无法再缩短时细胞会凋亡。</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该选项解释了端粒与细胞分裂的最终状态，但未关联面部年龄和寿命，属于无关选项，排除。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kern="1200" dirty="0">
                <a:solidFill>
                  <a:schemeClr val="tx1"/>
                </a:solidFill>
                <a:effectLst/>
                <a:latin typeface="+mn-lt"/>
                <a:sym typeface="楷体" panose="02010609060101010101" charset="-122"/>
              </a:rPr>
              <a:t>5.</a:t>
            </a:r>
            <a:r>
              <a:rPr lang="zh-CN" altLang="en-US" sz="1200" kern="1200" dirty="0">
                <a:solidFill>
                  <a:schemeClr val="tx1"/>
                </a:solidFill>
                <a:effectLst/>
                <a:latin typeface="+mn-lt"/>
                <a:sym typeface="楷体" panose="02010609060101010101" charset="-122"/>
              </a:rPr>
              <a:t>答案：</a:t>
            </a:r>
            <a:r>
              <a:rPr lang="en-US" altLang="zh-CN" sz="1200" kern="1200" dirty="0">
                <a:solidFill>
                  <a:schemeClr val="tx1"/>
                </a:solidFill>
                <a:effectLst/>
                <a:latin typeface="+mn-lt"/>
                <a:sym typeface="楷体" panose="02010609060101010101" charset="-122"/>
              </a:rPr>
              <a:t>A</a:t>
            </a:r>
            <a:endParaRPr lang="en-US" altLang="zh-CN"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解析：论点：细胞端粒长度决定一个人的面部年龄，那些面部年龄比同龄人年轻的人更长寿。</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论据：细胞端粒被认为是与寿命相关的指标，端粒会随着细胞分裂而不断变短，端粒越短说明细胞分裂次数越多，细胞分裂次数越多人越容易衰老，也越容易出现与衰老相关的一系列疾病。</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论点讨论是因为细胞端粒长度不同导致面部年龄不同，所以寿命不同。论点包含因果关系，削弱可以优先考虑因果倒置或者他因削弱。</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项：该项说明面部年龄较小的受试者性格，性格通常比较乐观，所以寿命更长，说明乐观的性格是寿命长的其他原因，他因削弱，可以削弱，当选；</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a:t>
            </a:r>
            <a:r>
              <a:rPr lang="zh-CN" altLang="en-US" sz="1200" kern="1200" dirty="0">
                <a:solidFill>
                  <a:schemeClr val="tx1"/>
                </a:solidFill>
                <a:effectLst/>
                <a:latin typeface="+mn-lt"/>
                <a:sym typeface="楷体" panose="02010609060101010101" charset="-122"/>
              </a:rPr>
              <a:t>项：该项说明面部年龄小的人更容易吸引他人与之交往，其人际关系也更和谐，与论点讨论的寿命无关，无法削弱，排除；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a:t>
            </a:r>
            <a:r>
              <a:rPr lang="zh-CN" altLang="en-US" sz="1200" kern="1200" dirty="0">
                <a:solidFill>
                  <a:schemeClr val="tx1"/>
                </a:solidFill>
                <a:effectLst/>
                <a:latin typeface="+mn-lt"/>
                <a:sym typeface="楷体" panose="02010609060101010101" charset="-122"/>
              </a:rPr>
              <a:t>项：该项说明双胞胎的性别及其所从事的职业对寿命的长短并无明显影响，与论点讨论的面部年龄与寿命的关系无关，无法削弱，排除；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a:t>
            </a:r>
            <a:r>
              <a:rPr lang="zh-CN" altLang="en-US" sz="1200" kern="1200" dirty="0">
                <a:solidFill>
                  <a:schemeClr val="tx1"/>
                </a:solidFill>
                <a:effectLst/>
                <a:latin typeface="+mn-lt"/>
                <a:sym typeface="楷体" panose="02010609060101010101" charset="-122"/>
              </a:rPr>
              <a:t>项：面部年龄不仅是医生用来了解病人健康状况的窗口，也是一个人老化的生物标记，说明面部年龄与衰老有关，可以加强，排除。</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故正确答案为</a:t>
            </a:r>
            <a:r>
              <a:rPr lang="en-US" altLang="zh-CN" sz="1200" kern="1200" dirty="0">
                <a:solidFill>
                  <a:schemeClr val="tx1"/>
                </a:solidFill>
                <a:effectLst/>
                <a:latin typeface="+mn-lt"/>
                <a:sym typeface="楷体" panose="02010609060101010101" charset="-122"/>
              </a:rPr>
              <a:t>A</a:t>
            </a:r>
            <a:r>
              <a:rPr lang="zh-CN" altLang="en-US" sz="1200" kern="1200" dirty="0">
                <a:solidFill>
                  <a:schemeClr val="tx1"/>
                </a:solidFill>
                <a:effectLst/>
                <a:latin typeface="+mn-lt"/>
                <a:sym typeface="楷体" panose="02010609060101010101" charset="-122"/>
              </a:rPr>
              <a:t>。</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A </a:t>
            </a:r>
            <a:r>
              <a:rPr lang="zh-CN" altLang="en-US" sz="1200" kern="1200" dirty="0">
                <a:solidFill>
                  <a:schemeClr val="tx1"/>
                </a:solidFill>
                <a:effectLst/>
                <a:latin typeface="+mn-lt"/>
                <a:sym typeface="楷体" panose="02010609060101010101" charset="-122"/>
              </a:rPr>
              <a:t>选项面部年龄小的受试者，性格乐观才是寿命更长的原因。</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该选项直接指出，长寿的核心因素不是</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面部年龄年轻</a:t>
            </a:r>
            <a:r>
              <a:rPr lang="en-US" altLang="zh-CN"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，而是性格乐观这一他因，切断了</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面部年龄年轻</a:t>
            </a:r>
            <a:r>
              <a:rPr lang="en-US" altLang="en-US" sz="1200" kern="1200" dirty="0">
                <a:solidFill>
                  <a:schemeClr val="tx1"/>
                </a:solidFill>
                <a:effectLst/>
                <a:latin typeface="+mn-lt"/>
                <a:sym typeface="楷体" panose="02010609060101010101" charset="-122"/>
              </a:rPr>
              <a:t>→</a:t>
            </a:r>
            <a:r>
              <a:rPr lang="zh-CN" altLang="en-US" sz="1200" kern="1200" dirty="0">
                <a:solidFill>
                  <a:schemeClr val="tx1"/>
                </a:solidFill>
                <a:effectLst/>
                <a:latin typeface="+mn-lt"/>
                <a:sym typeface="楷体" panose="02010609060101010101" charset="-122"/>
              </a:rPr>
              <a:t>长寿</a:t>
            </a:r>
            <a:r>
              <a:rPr lang="en-US" altLang="zh-CN" sz="1200" kern="1200" dirty="0">
                <a:solidFill>
                  <a:schemeClr val="tx1"/>
                </a:solidFill>
                <a:effectLst/>
                <a:latin typeface="+mn-lt"/>
                <a:sym typeface="楷体" panose="02010609060101010101" charset="-122"/>
              </a:rPr>
              <a:t>” </a:t>
            </a:r>
            <a:r>
              <a:rPr lang="zh-CN" altLang="en-US" sz="1200" kern="1200" dirty="0">
                <a:solidFill>
                  <a:schemeClr val="tx1"/>
                </a:solidFill>
                <a:effectLst/>
                <a:latin typeface="+mn-lt"/>
                <a:sym typeface="楷体" panose="02010609060101010101" charset="-122"/>
              </a:rPr>
              <a:t>的因果链，同时弱化了题干结论的逻辑，削弱力度最强。</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B </a:t>
            </a:r>
            <a:r>
              <a:rPr lang="zh-CN" altLang="en-US" sz="1200" kern="1200" dirty="0">
                <a:solidFill>
                  <a:schemeClr val="tx1"/>
                </a:solidFill>
                <a:effectLst/>
                <a:latin typeface="+mn-lt"/>
                <a:sym typeface="楷体" panose="02010609060101010101" charset="-122"/>
              </a:rPr>
              <a:t>选项面部年龄小的人人际关系更和谐。</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选项仅说明面部年龄小带来的人际关系优势，但未提及人际关系与寿命的关联，无法确定其对结论的影响，属于无关选项，排除。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C </a:t>
            </a:r>
            <a:r>
              <a:rPr lang="zh-CN" altLang="en-US" sz="1200" kern="1200" dirty="0">
                <a:solidFill>
                  <a:schemeClr val="tx1"/>
                </a:solidFill>
                <a:effectLst/>
                <a:latin typeface="+mn-lt"/>
                <a:sym typeface="楷体" panose="02010609060101010101" charset="-122"/>
              </a:rPr>
              <a:t>选项双胞胎的性别、职业对寿命无明显影响。</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该选项排除了性别、职业这两个干扰因素，反而强化了研究的严谨性，对结论有一定支持作用，而非削弱，排除。</a:t>
            </a:r>
            <a:endParaRPr lang="zh-CN" altLang="en-US" sz="1200" kern="1200" dirty="0">
              <a:solidFill>
                <a:schemeClr val="tx1"/>
              </a:solidFill>
              <a:effectLst/>
              <a:latin typeface="+mn-lt"/>
              <a:sym typeface="楷体" panose="02010609060101010101" charset="-122"/>
            </a:endParaRPr>
          </a:p>
          <a:p>
            <a:r>
              <a:rPr lang="en-US" altLang="zh-CN" sz="1200" kern="1200" dirty="0">
                <a:solidFill>
                  <a:schemeClr val="tx1"/>
                </a:solidFill>
                <a:effectLst/>
                <a:latin typeface="+mn-lt"/>
                <a:sym typeface="楷体" panose="02010609060101010101" charset="-122"/>
              </a:rPr>
              <a:t>D </a:t>
            </a:r>
            <a:r>
              <a:rPr lang="zh-CN" altLang="en-US" sz="1200" kern="1200" dirty="0">
                <a:solidFill>
                  <a:schemeClr val="tx1"/>
                </a:solidFill>
                <a:effectLst/>
                <a:latin typeface="+mn-lt"/>
                <a:sym typeface="楷体" panose="02010609060101010101" charset="-122"/>
              </a:rPr>
              <a:t>选项面部年龄是老化的生物标记、了解健康的窗口。</a:t>
            </a:r>
            <a:endParaRPr lang="zh-CN" altLang="en-US" sz="1200" kern="1200" dirty="0">
              <a:solidFill>
                <a:schemeClr val="tx1"/>
              </a:solidFill>
              <a:effectLst/>
              <a:latin typeface="+mn-lt"/>
              <a:sym typeface="楷体" panose="02010609060101010101" charset="-122"/>
            </a:endParaRPr>
          </a:p>
          <a:p>
            <a:r>
              <a:rPr lang="zh-CN" altLang="en-US" sz="1200" kern="1200" dirty="0">
                <a:solidFill>
                  <a:schemeClr val="tx1"/>
                </a:solidFill>
                <a:effectLst/>
                <a:latin typeface="+mn-lt"/>
                <a:sym typeface="楷体" panose="02010609060101010101" charset="-122"/>
              </a:rPr>
              <a:t>该选项肯定了面部年龄与老化</a:t>
            </a:r>
            <a:r>
              <a:rPr lang="en-US" altLang="zh-CN" sz="1200" kern="1200" dirty="0">
                <a:solidFill>
                  <a:schemeClr val="tx1"/>
                </a:solidFill>
                <a:effectLst/>
                <a:latin typeface="+mn-lt"/>
                <a:sym typeface="楷体" panose="02010609060101010101" charset="-122"/>
              </a:rPr>
              <a:t> / </a:t>
            </a:r>
            <a:r>
              <a:rPr lang="zh-CN" altLang="en-US" sz="1200" kern="1200" dirty="0">
                <a:solidFill>
                  <a:schemeClr val="tx1"/>
                </a:solidFill>
                <a:effectLst/>
                <a:latin typeface="+mn-lt"/>
                <a:sym typeface="楷体" panose="02010609060101010101" charset="-122"/>
              </a:rPr>
              <a:t>健康的关联，与题干结论的逻辑方向一致，属于支持项，排除。</a:t>
            </a:r>
            <a:endParaRPr lang="zh-CN" altLang="en-US" sz="1200" kern="1200" dirty="0">
              <a:solidFill>
                <a:schemeClr val="tx1"/>
              </a:solidFill>
              <a:effectLst/>
              <a:latin typeface="+mn-lt"/>
              <a:sym typeface="楷体" panose="02010609060101010101" charset="-122"/>
            </a:endParaRPr>
          </a:p>
        </p:txBody>
      </p:sp>
      <p:sp>
        <p:nvSpPr>
          <p:cNvPr id="4" name="灯片编号占位符 3"/>
          <p:cNvSpPr>
            <a:spLocks noGrp="1"/>
          </p:cNvSpPr>
          <p:nvPr>
            <p:ph type="sldNum" sz="quarter" idx="10"/>
          </p:nvPr>
        </p:nvSpPr>
        <p:spPr/>
        <p:txBody>
          <a:bodyPr/>
          <a:lstStyle/>
          <a:p>
            <a:fld id="{2F4EDBF1-BC4B-4E2F-80A7-5C0BFC3DEFB4}"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9A5F825-9C29-43CC-BB96-80A60E9689F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矩形 3"/>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5" name="图片 4"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7" name="文本框 6"/>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7" name="矩形 6"/>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8" name="图片 7"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11" name="文本框 10"/>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bg>
      <p:bgPr>
        <a:blipFill rotWithShape="1">
          <a:blip r:embed="rId2"/>
          <a:stretch>
            <a:fillRect/>
          </a:stretch>
        </a:blipFill>
        <a:effectLst/>
      </p:bgPr>
    </p:bg>
    <p:spTree>
      <p:nvGrpSpPr>
        <p:cNvPr id="1" name=""/>
        <p:cNvGrpSpPr/>
        <p:nvPr/>
      </p:nvGrpSpPr>
      <p:grpSpPr>
        <a:xfrm>
          <a:off x="0" y="0"/>
          <a:ext cx="0" cy="0"/>
          <a:chOff x="0" y="0"/>
          <a:chExt cx="0" cy="0"/>
        </a:xfrm>
      </p:grpSpPr>
      <p:sp>
        <p:nvSpPr>
          <p:cNvPr id="10" name="文本框 9"/>
          <p:cNvSpPr txBox="1"/>
          <p:nvPr userDrawn="1"/>
        </p:nvSpPr>
        <p:spPr>
          <a:xfrm>
            <a:off x="545123" y="-1028700"/>
            <a:ext cx="184731" cy="369332"/>
          </a:xfrm>
          <a:prstGeom prst="rect">
            <a:avLst/>
          </a:prstGeom>
          <a:noFill/>
        </p:spPr>
        <p:txBody>
          <a:bodyPr wrap="none" rtlCol="0">
            <a:spAutoFit/>
          </a:bodyPr>
          <a:lstStyle/>
          <a:p>
            <a:endParaRPr kumimoji="1" lang="zh-CN" altLang="en-US" dirty="0">
              <a:cs typeface="楷体" panose="02010609060101010101"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
        <p:nvSpPr>
          <p:cNvPr id="6" name="矩形 5"/>
          <p:cNvSpPr/>
          <p:nvPr userDrawn="1"/>
        </p:nvSpPr>
        <p:spPr>
          <a:xfrm>
            <a:off x="0" y="6345182"/>
            <a:ext cx="12192000" cy="524107"/>
          </a:xfrm>
          <a:prstGeom prst="rect">
            <a:avLst/>
          </a:prstGeom>
          <a:gradFill flip="none" rotWithShape="1">
            <a:gsLst>
              <a:gs pos="18000">
                <a:srgbClr val="DC5037">
                  <a:alpha val="84000"/>
                </a:srgbClr>
              </a:gs>
              <a:gs pos="51024">
                <a:srgbClr val="DC5037">
                  <a:alpha val="59000"/>
                </a:srgbClr>
              </a:gs>
              <a:gs pos="83000">
                <a:srgbClr val="DC5037">
                  <a:alpha val="10000"/>
                </a:srgb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cs typeface="楷体" panose="02010609060101010101" charset="-122"/>
            </a:endParaRPr>
          </a:p>
        </p:txBody>
      </p:sp>
      <p:pic>
        <p:nvPicPr>
          <p:cNvPr id="7" name="图片 6" descr="徽标&#10;&#10;AI 生成的内容可能不正确。"/>
          <p:cNvPicPr>
            <a:picLocks noChangeAspect="1"/>
          </p:cNvPicPr>
          <p:nvPr userDrawn="1"/>
        </p:nvPicPr>
        <p:blipFill>
          <a:blip r:embed="rId2"/>
          <a:srcRect t="9991" b="18252"/>
          <a:stretch>
            <a:fillRect/>
          </a:stretch>
        </p:blipFill>
        <p:spPr>
          <a:xfrm>
            <a:off x="10610080" y="6382356"/>
            <a:ext cx="1408500" cy="449757"/>
          </a:xfrm>
          <a:prstGeom prst="rect">
            <a:avLst/>
          </a:prstGeom>
        </p:spPr>
      </p:pic>
      <p:sp>
        <p:nvSpPr>
          <p:cNvPr id="8" name="文本框 7"/>
          <p:cNvSpPr txBox="1"/>
          <p:nvPr userDrawn="1"/>
        </p:nvSpPr>
        <p:spPr>
          <a:xfrm>
            <a:off x="5644594" y="6453345"/>
            <a:ext cx="894080" cy="306705"/>
          </a:xfrm>
          <a:prstGeom prst="rect">
            <a:avLst/>
          </a:prstGeom>
          <a:noFill/>
        </p:spPr>
        <p:txBody>
          <a:bodyPr wrap="none" rtlCol="0">
            <a:spAutoFit/>
          </a:bodyPr>
          <a:lstStyle/>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陆羽老师</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
        <p:nvSpPr>
          <p:cNvPr id="13" name="文本框 12"/>
          <p:cNvSpPr txBox="1"/>
          <p:nvPr userDrawn="1"/>
        </p:nvSpPr>
        <p:spPr>
          <a:xfrm>
            <a:off x="479425" y="6453345"/>
            <a:ext cx="894080" cy="306705"/>
          </a:xfrm>
          <a:prstGeom prst="rect">
            <a:avLst/>
          </a:prstGeom>
          <a:noFill/>
        </p:spPr>
        <p:txBody>
          <a:bodyPr wrap="none" rtlCol="0">
            <a:spAutoFit/>
          </a:bodyPr>
          <a:p>
            <a:r>
              <a:rPr kumimoji="1" lang="zh-CN" altLang="en-US" sz="1400" b="0" i="0" dirty="0">
                <a:solidFill>
                  <a:schemeClr val="bg1"/>
                </a:solidFill>
                <a:latin typeface="楷体" panose="02010609060101010101" charset="-122"/>
                <a:ea typeface="楷体" panose="02010609060101010101" charset="-122"/>
                <a:cs typeface="楷体" panose="02010609060101010101" charset="-122"/>
              </a:rPr>
              <a:t>判断推理</a:t>
            </a:r>
            <a:endParaRPr kumimoji="1" lang="zh-CN" altLang="en-US" sz="1400" b="0" i="0" dirty="0">
              <a:solidFill>
                <a:schemeClr val="bg1"/>
              </a:solidFill>
              <a:latin typeface="楷体" panose="02010609060101010101" charset="-122"/>
              <a:ea typeface="楷体" panose="02010609060101010101" charset="-122"/>
              <a:cs typeface="楷体" panose="02010609060101010101" charset="-122"/>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tags" Target="../tags/tag3.xml"/><Relationship Id="rId7" Type="http://schemas.openxmlformats.org/officeDocument/2006/relationships/tags" Target="../tags/tag2.xml"/><Relationship Id="rId6" Type="http://schemas.openxmlformats.org/officeDocument/2006/relationships/tags" Target="../tags/tag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6"/>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7"/>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ustDataLst>
      <p:tags r:id="rId8"/>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楷体" panose="02010609060101010101" charset="-122"/>
          <a:ea typeface="楷体" panose="02010609060101010101" charset="-122"/>
          <a:cs typeface="楷体" panose="02010609060101010101" charset="-122"/>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楷体" panose="02010609060101010101" charset="-122"/>
          <a:ea typeface="楷体" panose="02010609060101010101" charset="-122"/>
          <a:cs typeface="楷体" panose="02010609060101010101"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4.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9" Type="http://schemas.openxmlformats.org/officeDocument/2006/relationships/customXml" Target="../ink/ink5.xml"/><Relationship Id="rId8" Type="http://schemas.openxmlformats.org/officeDocument/2006/relationships/image" Target="../media/image6.png"/><Relationship Id="rId7" Type="http://schemas.openxmlformats.org/officeDocument/2006/relationships/customXml" Target="../ink/ink4.xml"/><Relationship Id="rId6" Type="http://schemas.openxmlformats.org/officeDocument/2006/relationships/image" Target="../media/image5.png"/><Relationship Id="rId5" Type="http://schemas.openxmlformats.org/officeDocument/2006/relationships/customXml" Target="../ink/ink3.xml"/><Relationship Id="rId48" Type="http://schemas.openxmlformats.org/officeDocument/2006/relationships/notesSlide" Target="../notesSlides/notesSlide2.xml"/><Relationship Id="rId47" Type="http://schemas.openxmlformats.org/officeDocument/2006/relationships/slideLayout" Target="../slideLayouts/slideLayout5.xml"/><Relationship Id="rId46" Type="http://schemas.openxmlformats.org/officeDocument/2006/relationships/image" Target="../media/image25.png"/><Relationship Id="rId45" Type="http://schemas.openxmlformats.org/officeDocument/2006/relationships/customXml" Target="../ink/ink23.xml"/><Relationship Id="rId44" Type="http://schemas.openxmlformats.org/officeDocument/2006/relationships/image" Target="../media/image24.png"/><Relationship Id="rId43" Type="http://schemas.openxmlformats.org/officeDocument/2006/relationships/customXml" Target="../ink/ink22.xml"/><Relationship Id="rId42" Type="http://schemas.openxmlformats.org/officeDocument/2006/relationships/image" Target="../media/image23.png"/><Relationship Id="rId41" Type="http://schemas.openxmlformats.org/officeDocument/2006/relationships/customXml" Target="../ink/ink21.xml"/><Relationship Id="rId40" Type="http://schemas.openxmlformats.org/officeDocument/2006/relationships/image" Target="../media/image22.png"/><Relationship Id="rId4" Type="http://schemas.openxmlformats.org/officeDocument/2006/relationships/image" Target="../media/image4.png"/><Relationship Id="rId39" Type="http://schemas.openxmlformats.org/officeDocument/2006/relationships/customXml" Target="../ink/ink20.xml"/><Relationship Id="rId38" Type="http://schemas.openxmlformats.org/officeDocument/2006/relationships/image" Target="../media/image21.png"/><Relationship Id="rId37" Type="http://schemas.openxmlformats.org/officeDocument/2006/relationships/customXml" Target="../ink/ink19.xml"/><Relationship Id="rId36" Type="http://schemas.openxmlformats.org/officeDocument/2006/relationships/image" Target="../media/image20.png"/><Relationship Id="rId35" Type="http://schemas.openxmlformats.org/officeDocument/2006/relationships/customXml" Target="../ink/ink18.xml"/><Relationship Id="rId34" Type="http://schemas.openxmlformats.org/officeDocument/2006/relationships/image" Target="../media/image19.png"/><Relationship Id="rId33" Type="http://schemas.openxmlformats.org/officeDocument/2006/relationships/customXml" Target="../ink/ink17.xml"/><Relationship Id="rId32" Type="http://schemas.openxmlformats.org/officeDocument/2006/relationships/image" Target="../media/image18.png"/><Relationship Id="rId31" Type="http://schemas.openxmlformats.org/officeDocument/2006/relationships/customXml" Target="../ink/ink16.xml"/><Relationship Id="rId30" Type="http://schemas.openxmlformats.org/officeDocument/2006/relationships/image" Target="../media/image17.png"/><Relationship Id="rId3" Type="http://schemas.openxmlformats.org/officeDocument/2006/relationships/customXml" Target="../ink/ink2.xml"/><Relationship Id="rId29" Type="http://schemas.openxmlformats.org/officeDocument/2006/relationships/customXml" Target="../ink/ink15.xml"/><Relationship Id="rId28" Type="http://schemas.openxmlformats.org/officeDocument/2006/relationships/image" Target="../media/image16.png"/><Relationship Id="rId27" Type="http://schemas.openxmlformats.org/officeDocument/2006/relationships/customXml" Target="../ink/ink14.xml"/><Relationship Id="rId26" Type="http://schemas.openxmlformats.org/officeDocument/2006/relationships/image" Target="../media/image15.png"/><Relationship Id="rId25" Type="http://schemas.openxmlformats.org/officeDocument/2006/relationships/customXml" Target="../ink/ink13.xml"/><Relationship Id="rId24" Type="http://schemas.openxmlformats.org/officeDocument/2006/relationships/image" Target="../media/image14.png"/><Relationship Id="rId23" Type="http://schemas.openxmlformats.org/officeDocument/2006/relationships/customXml" Target="../ink/ink12.xml"/><Relationship Id="rId22" Type="http://schemas.openxmlformats.org/officeDocument/2006/relationships/image" Target="../media/image13.png"/><Relationship Id="rId21" Type="http://schemas.openxmlformats.org/officeDocument/2006/relationships/customXml" Target="../ink/ink11.xml"/><Relationship Id="rId20" Type="http://schemas.openxmlformats.org/officeDocument/2006/relationships/image" Target="../media/image12.png"/><Relationship Id="rId2" Type="http://schemas.openxmlformats.org/officeDocument/2006/relationships/image" Target="../media/image3.png"/><Relationship Id="rId19" Type="http://schemas.openxmlformats.org/officeDocument/2006/relationships/customXml" Target="../ink/ink10.xml"/><Relationship Id="rId18" Type="http://schemas.openxmlformats.org/officeDocument/2006/relationships/image" Target="../media/image11.png"/><Relationship Id="rId17" Type="http://schemas.openxmlformats.org/officeDocument/2006/relationships/customXml" Target="../ink/ink9.xml"/><Relationship Id="rId16" Type="http://schemas.openxmlformats.org/officeDocument/2006/relationships/image" Target="../media/image10.png"/><Relationship Id="rId15" Type="http://schemas.openxmlformats.org/officeDocument/2006/relationships/customXml" Target="../ink/ink8.xml"/><Relationship Id="rId14" Type="http://schemas.openxmlformats.org/officeDocument/2006/relationships/image" Target="../media/image9.png"/><Relationship Id="rId13" Type="http://schemas.openxmlformats.org/officeDocument/2006/relationships/customXml" Target="../ink/ink7.xml"/><Relationship Id="rId12" Type="http://schemas.openxmlformats.org/officeDocument/2006/relationships/image" Target="../media/image8.png"/><Relationship Id="rId11" Type="http://schemas.openxmlformats.org/officeDocument/2006/relationships/customXml" Target="../ink/ink6.xml"/><Relationship Id="rId10" Type="http://schemas.openxmlformats.org/officeDocument/2006/relationships/image" Target="../media/image7.png"/><Relationship Id="rId1" Type="http://schemas.openxmlformats.org/officeDocument/2006/relationships/customXml" Target="../ink/ink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tags" Target="../tags/tag4.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4" name="文本框 3"/>
          <p:cNvSpPr txBox="1"/>
          <p:nvPr/>
        </p:nvSpPr>
        <p:spPr>
          <a:xfrm>
            <a:off x="2807628" y="2367459"/>
            <a:ext cx="6576647" cy="2799715"/>
          </a:xfrm>
          <a:prstGeom prst="rect">
            <a:avLst/>
          </a:prstGeom>
          <a:noFill/>
        </p:spPr>
        <p:txBody>
          <a:bodyPr wrap="square" rtlCol="0">
            <a:spAutoFit/>
          </a:bodyPr>
          <a:lstStyle/>
          <a:p>
            <a:pPr algn="ctr">
              <a:lnSpc>
                <a:spcPct val="100000"/>
              </a:lnSpc>
              <a:spcBef>
                <a:spcPts val="0"/>
              </a:spcBef>
              <a:spcAft>
                <a:spcPts val="0"/>
              </a:spcAft>
            </a:pP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2023</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年上半年</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事业单位联考</a:t>
            </a:r>
            <a:r>
              <a:rPr kumimoji="1" lang="en-US" altLang="zh-CN" sz="4400" b="1" dirty="0">
                <a:solidFill>
                  <a:srgbClr val="DC5037"/>
                </a:solidFill>
                <a:latin typeface="楷体" panose="02010609060101010101" charset="-122"/>
                <a:ea typeface="楷体" panose="02010609060101010101" charset="-122"/>
                <a:cs typeface="楷体" panose="02010609060101010101" charset="-122"/>
              </a:rPr>
              <a:t>E</a:t>
            </a: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类</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r>
              <a:rPr kumimoji="1" lang="zh-CN" altLang="en-US" sz="4400" b="1" dirty="0">
                <a:solidFill>
                  <a:srgbClr val="DC5037"/>
                </a:solidFill>
                <a:latin typeface="楷体" panose="02010609060101010101" charset="-122"/>
                <a:ea typeface="楷体" panose="02010609060101010101" charset="-122"/>
                <a:cs typeface="楷体" panose="02010609060101010101" charset="-122"/>
              </a:rPr>
              <a:t>真题解析</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a:p>
            <a:pPr algn="ctr">
              <a:lnSpc>
                <a:spcPct val="100000"/>
              </a:lnSpc>
              <a:spcBef>
                <a:spcPts val="0"/>
              </a:spcBef>
              <a:spcAft>
                <a:spcPts val="0"/>
              </a:spcAft>
            </a:pP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
        <p:nvSpPr>
          <p:cNvPr id="6" name="文本框 5"/>
          <p:cNvSpPr txBox="1"/>
          <p:nvPr/>
        </p:nvSpPr>
        <p:spPr>
          <a:xfrm>
            <a:off x="4675016" y="4612428"/>
            <a:ext cx="2502877" cy="398780"/>
          </a:xfrm>
          <a:prstGeom prst="rect">
            <a:avLst/>
          </a:prstGeom>
          <a:noFill/>
        </p:spPr>
        <p:txBody>
          <a:bodyPr wrap="square" rtlCol="0">
            <a:spAutoFit/>
          </a:bodyPr>
          <a:lstStyle/>
          <a:p>
            <a:r>
              <a:rPr kumimoji="1" lang="zh-CN" altLang="en-US" sz="2000" dirty="0">
                <a:solidFill>
                  <a:srgbClr val="DC5037"/>
                </a:solidFill>
                <a:latin typeface="楷体" panose="02010609060101010101" charset="-122"/>
                <a:ea typeface="楷体" panose="02010609060101010101" charset="-122"/>
                <a:cs typeface="楷体" panose="02010609060101010101" charset="-122"/>
              </a:rPr>
              <a:t>主讲老师：陆羽老师</a:t>
            </a:r>
            <a:endParaRPr kumimoji="1" lang="zh-CN" altLang="en-US" sz="2000" dirty="0">
              <a:solidFill>
                <a:srgbClr val="DC5037"/>
              </a:solidFill>
              <a:latin typeface="楷体" panose="02010609060101010101" charset="-122"/>
              <a:ea typeface="楷体" panose="02010609060101010101" charset="-122"/>
              <a:cs typeface="楷体" panose="02010609060101010101"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1</a:t>
            </a:r>
            <a:endParaRPr kumimoji="1" lang="en-US" altLang="zh-CN" sz="2800" b="1" dirty="0">
              <a:solidFill>
                <a:srgbClr val="FF653F"/>
              </a:solidFill>
            </a:endParaRPr>
          </a:p>
        </p:txBody>
      </p:sp>
      <p:sp>
        <p:nvSpPr>
          <p:cNvPr id="3" name="文本框 2"/>
          <p:cNvSpPr txBox="1"/>
          <p:nvPr/>
        </p:nvSpPr>
        <p:spPr>
          <a:xfrm>
            <a:off x="481965" y="708025"/>
            <a:ext cx="11118850" cy="5526405"/>
          </a:xfrm>
          <a:prstGeom prst="rect">
            <a:avLst/>
          </a:prstGeom>
          <a:noFill/>
        </p:spPr>
        <p:txBody>
          <a:bodyPr wrap="square" rtlCol="0" anchor="t">
            <a:noAutofit/>
          </a:bodyPr>
          <a:p>
            <a:pPr indent="0" fontAlgn="auto">
              <a:lnSpc>
                <a:spcPct val="150000"/>
              </a:lnSpc>
            </a:pPr>
            <a:r>
              <a:rPr lang="zh-CN" altLang="en-US" sz="2400" dirty="0">
                <a:cs typeface="楷体" panose="02010609060101010101" charset="-122"/>
              </a:rPr>
              <a:t>高傲：平和：谦逊</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A.</a:t>
            </a:r>
            <a:r>
              <a:rPr lang="zh-CN" altLang="en-US" sz="2400" dirty="0">
                <a:cs typeface="楷体" panose="02010609060101010101" charset="-122"/>
              </a:rPr>
              <a:t>烦躁：悠然：镇定</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B.</a:t>
            </a:r>
            <a:r>
              <a:rPr lang="zh-CN" altLang="en-US" sz="2400" dirty="0">
                <a:cs typeface="楷体" panose="02010609060101010101" charset="-122"/>
              </a:rPr>
              <a:t>疾走：健步：踟蹰</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C.</a:t>
            </a:r>
            <a:r>
              <a:rPr lang="zh-CN" altLang="en-US" sz="2400" dirty="0">
                <a:cs typeface="楷体" panose="02010609060101010101" charset="-122"/>
              </a:rPr>
              <a:t>凌驾：对等：屈从</a:t>
            </a:r>
            <a:endParaRPr lang="zh-CN" altLang="en-US" sz="2400" dirty="0">
              <a:cs typeface="楷体" panose="02010609060101010101" charset="-122"/>
            </a:endParaRPr>
          </a:p>
          <a:p>
            <a:pPr indent="0" fontAlgn="auto">
              <a:lnSpc>
                <a:spcPct val="150000"/>
              </a:lnSpc>
            </a:pPr>
            <a:r>
              <a:rPr lang="en-US" altLang="zh-CN" sz="2400" dirty="0">
                <a:cs typeface="楷体" panose="02010609060101010101" charset="-122"/>
              </a:rPr>
              <a:t>D.</a:t>
            </a:r>
            <a:r>
              <a:rPr lang="zh-CN" altLang="en-US" sz="2400" dirty="0">
                <a:cs typeface="楷体" panose="02010609060101010101" charset="-122"/>
              </a:rPr>
              <a:t>正职：职员：副职</a:t>
            </a:r>
            <a:endParaRPr lang="zh-CN" altLang="en-US" sz="2400" dirty="0">
              <a:cs typeface="楷体" panose="02010609060101010101" charset="-122"/>
            </a:endParaRPr>
          </a:p>
        </p:txBody>
      </p:sp>
      <mc:AlternateContent xmlns:mc="http://schemas.openxmlformats.org/markup-compatibility/2006" xmlns:p14="http://schemas.microsoft.com/office/powerpoint/2010/main">
        <mc:Choice Requires="p14">
          <p:contentPart r:id="rId1" p14:bwMode="auto">
            <p14:nvContentPartPr>
              <p14:cNvPr id="4" name="墨迹 3"/>
              <p14:cNvContentPartPr/>
              <p14:nvPr/>
            </p14:nvContentPartPr>
            <p14:xfrm>
              <a:off x="1149350" y="520700"/>
              <a:ext cx="1479550" cy="317500"/>
            </p14:xfrm>
          </p:contentPart>
        </mc:Choice>
        <mc:Fallback xmlns="">
          <p:pic>
            <p:nvPicPr>
              <p:cNvPr id="4" name="墨迹 3"/>
            </p:nvPicPr>
            <p:blipFill>
              <a:blip r:embed="rId2"/>
            </p:blipFill>
            <p:spPr>
              <a:xfrm>
                <a:off x="1149350" y="520700"/>
                <a:ext cx="1479550" cy="317500"/>
              </a:xfrm>
              <a:prstGeom prst="rect"/>
            </p:spPr>
          </p:pic>
        </mc:Fallback>
      </mc:AlternateContent>
      <mc:AlternateContent xmlns:mc="http://schemas.openxmlformats.org/markup-compatibility/2006" xmlns:p14="http://schemas.microsoft.com/office/powerpoint/2010/main">
        <mc:Choice Requires="p14">
          <p:contentPart r:id="rId3" p14:bwMode="auto">
            <p14:nvContentPartPr>
              <p14:cNvPr id="5" name="墨迹 4"/>
              <p14:cNvContentPartPr/>
              <p14:nvPr/>
            </p14:nvContentPartPr>
            <p14:xfrm>
              <a:off x="2508250" y="254000"/>
              <a:ext cx="203200" cy="133350"/>
            </p14:xfrm>
          </p:contentPart>
        </mc:Choice>
        <mc:Fallback xmlns="">
          <p:pic>
            <p:nvPicPr>
              <p:cNvPr id="5" name="墨迹 4"/>
            </p:nvPicPr>
            <p:blipFill>
              <a:blip r:embed="rId4"/>
            </p:blipFill>
            <p:spPr>
              <a:xfrm>
                <a:off x="2508250" y="254000"/>
                <a:ext cx="203200" cy="133350"/>
              </a:xfrm>
              <a:prstGeom prst="rect"/>
            </p:spPr>
          </p:pic>
        </mc:Fallback>
      </mc:AlternateContent>
      <mc:AlternateContent xmlns:mc="http://schemas.openxmlformats.org/markup-compatibility/2006" xmlns:p14="http://schemas.microsoft.com/office/powerpoint/2010/main">
        <mc:Choice Requires="p14">
          <p:contentPart r:id="rId5" p14:bwMode="auto">
            <p14:nvContentPartPr>
              <p14:cNvPr id="6" name="墨迹 5"/>
              <p14:cNvContentPartPr/>
              <p14:nvPr/>
            </p14:nvContentPartPr>
            <p14:xfrm>
              <a:off x="2533650" y="387350"/>
              <a:ext cx="44450" cy="139700"/>
            </p14:xfrm>
          </p:contentPart>
        </mc:Choice>
        <mc:Fallback xmlns="">
          <p:pic>
            <p:nvPicPr>
              <p:cNvPr id="6" name="墨迹 5"/>
            </p:nvPicPr>
            <p:blipFill>
              <a:blip r:embed="rId6"/>
            </p:blipFill>
            <p:spPr>
              <a:xfrm>
                <a:off x="2533650" y="387350"/>
                <a:ext cx="44450" cy="139700"/>
              </a:xfrm>
              <a:prstGeom prst="rect"/>
            </p:spPr>
          </p:pic>
        </mc:Fallback>
      </mc:AlternateContent>
      <mc:AlternateContent xmlns:mc="http://schemas.openxmlformats.org/markup-compatibility/2006" xmlns:p14="http://schemas.microsoft.com/office/powerpoint/2010/main">
        <mc:Choice Requires="p14">
          <p:contentPart r:id="rId7" p14:bwMode="auto">
            <p14:nvContentPartPr>
              <p14:cNvPr id="7" name="墨迹 6"/>
              <p14:cNvContentPartPr/>
              <p14:nvPr/>
            </p14:nvContentPartPr>
            <p14:xfrm>
              <a:off x="2571750" y="381000"/>
              <a:ext cx="139700" cy="127000"/>
            </p14:xfrm>
          </p:contentPart>
        </mc:Choice>
        <mc:Fallback xmlns="">
          <p:pic>
            <p:nvPicPr>
              <p:cNvPr id="7" name="墨迹 6"/>
            </p:nvPicPr>
            <p:blipFill>
              <a:blip r:embed="rId8"/>
            </p:blipFill>
            <p:spPr>
              <a:xfrm>
                <a:off x="2571750" y="381000"/>
                <a:ext cx="139700" cy="127000"/>
              </a:xfrm>
              <a:prstGeom prst="rect"/>
            </p:spPr>
          </p:pic>
        </mc:Fallback>
      </mc:AlternateContent>
      <mc:AlternateContent xmlns:mc="http://schemas.openxmlformats.org/markup-compatibility/2006" xmlns:p14="http://schemas.microsoft.com/office/powerpoint/2010/main">
        <mc:Choice Requires="p14">
          <p:contentPart r:id="rId9" p14:bwMode="auto">
            <p14:nvContentPartPr>
              <p14:cNvPr id="8" name="墨迹 7"/>
              <p14:cNvContentPartPr/>
              <p14:nvPr/>
            </p14:nvContentPartPr>
            <p14:xfrm>
              <a:off x="2730500" y="368300"/>
              <a:ext cx="273050" cy="177800"/>
            </p14:xfrm>
          </p:contentPart>
        </mc:Choice>
        <mc:Fallback xmlns="">
          <p:pic>
            <p:nvPicPr>
              <p:cNvPr id="8" name="墨迹 7"/>
            </p:nvPicPr>
            <p:blipFill>
              <a:blip r:embed="rId10"/>
            </p:blipFill>
            <p:spPr>
              <a:xfrm>
                <a:off x="2730500" y="368300"/>
                <a:ext cx="273050" cy="177800"/>
              </a:xfrm>
              <a:prstGeom prst="rect"/>
            </p:spPr>
          </p:pic>
        </mc:Fallback>
      </mc:AlternateContent>
      <mc:AlternateContent xmlns:mc="http://schemas.openxmlformats.org/markup-compatibility/2006" xmlns:p14="http://schemas.microsoft.com/office/powerpoint/2010/main">
        <mc:Choice Requires="p14">
          <p:contentPart r:id="rId11" p14:bwMode="auto">
            <p14:nvContentPartPr>
              <p14:cNvPr id="9" name="墨迹 8"/>
              <p14:cNvContentPartPr/>
              <p14:nvPr/>
            </p14:nvContentPartPr>
            <p14:xfrm>
              <a:off x="2774950" y="336550"/>
              <a:ext cx="171450" cy="171450"/>
            </p14:xfrm>
          </p:contentPart>
        </mc:Choice>
        <mc:Fallback xmlns="">
          <p:pic>
            <p:nvPicPr>
              <p:cNvPr id="9" name="墨迹 8"/>
            </p:nvPicPr>
            <p:blipFill>
              <a:blip r:embed="rId12"/>
            </p:blipFill>
            <p:spPr>
              <a:xfrm>
                <a:off x="2774950" y="336550"/>
                <a:ext cx="171450" cy="171450"/>
              </a:xfrm>
              <a:prstGeom prst="rect"/>
            </p:spPr>
          </p:pic>
        </mc:Fallback>
      </mc:AlternateContent>
      <mc:AlternateContent xmlns:mc="http://schemas.openxmlformats.org/markup-compatibility/2006" xmlns:p14="http://schemas.microsoft.com/office/powerpoint/2010/main">
        <mc:Choice Requires="p14">
          <p:contentPart r:id="rId13" p14:bwMode="auto">
            <p14:nvContentPartPr>
              <p14:cNvPr id="10" name="墨迹 9"/>
              <p14:cNvContentPartPr/>
              <p14:nvPr/>
            </p14:nvContentPartPr>
            <p14:xfrm>
              <a:off x="2819400" y="298450"/>
              <a:ext cx="19050" cy="19050"/>
            </p14:xfrm>
          </p:contentPart>
        </mc:Choice>
        <mc:Fallback xmlns="">
          <p:pic>
            <p:nvPicPr>
              <p:cNvPr id="10" name="墨迹 9"/>
            </p:nvPicPr>
            <p:blipFill>
              <a:blip r:embed="rId14"/>
            </p:blipFill>
            <p:spPr>
              <a:xfrm>
                <a:off x="2819400" y="298450"/>
                <a:ext cx="19050" cy="19050"/>
              </a:xfrm>
              <a:prstGeom prst="rect"/>
            </p:spPr>
          </p:pic>
        </mc:Fallback>
      </mc:AlternateContent>
      <mc:AlternateContent xmlns:mc="http://schemas.openxmlformats.org/markup-compatibility/2006" xmlns:p14="http://schemas.microsoft.com/office/powerpoint/2010/main">
        <mc:Choice Requires="p14">
          <p:contentPart r:id="rId15" p14:bwMode="auto">
            <p14:nvContentPartPr>
              <p14:cNvPr id="11" name="墨迹 10"/>
              <p14:cNvContentPartPr/>
              <p14:nvPr/>
            </p14:nvContentPartPr>
            <p14:xfrm>
              <a:off x="3359150" y="501650"/>
              <a:ext cx="38100" cy="101600"/>
            </p14:xfrm>
          </p:contentPart>
        </mc:Choice>
        <mc:Fallback xmlns="">
          <p:pic>
            <p:nvPicPr>
              <p:cNvPr id="11" name="墨迹 10"/>
            </p:nvPicPr>
            <p:blipFill>
              <a:blip r:embed="rId16"/>
            </p:blipFill>
            <p:spPr>
              <a:xfrm>
                <a:off x="3359150" y="501650"/>
                <a:ext cx="38100" cy="101600"/>
              </a:xfrm>
              <a:prstGeom prst="rect"/>
            </p:spPr>
          </p:pic>
        </mc:Fallback>
      </mc:AlternateContent>
      <mc:AlternateContent xmlns:mc="http://schemas.openxmlformats.org/markup-compatibility/2006" xmlns:p14="http://schemas.microsoft.com/office/powerpoint/2010/main">
        <mc:Choice Requires="p14">
          <p:contentPart r:id="rId17" p14:bwMode="auto">
            <p14:nvContentPartPr>
              <p14:cNvPr id="12" name="墨迹 11"/>
              <p14:cNvContentPartPr/>
              <p14:nvPr/>
            </p14:nvContentPartPr>
            <p14:xfrm>
              <a:off x="3359150" y="590550"/>
              <a:ext cx="76200" cy="50800"/>
            </p14:xfrm>
          </p:contentPart>
        </mc:Choice>
        <mc:Fallback xmlns="">
          <p:pic>
            <p:nvPicPr>
              <p:cNvPr id="12" name="墨迹 11"/>
            </p:nvPicPr>
            <p:blipFill>
              <a:blip r:embed="rId18"/>
            </p:blipFill>
            <p:spPr>
              <a:xfrm>
                <a:off x="3359150" y="590550"/>
                <a:ext cx="76200" cy="50800"/>
              </a:xfrm>
              <a:prstGeom prst="rect"/>
            </p:spPr>
          </p:pic>
        </mc:Fallback>
      </mc:AlternateContent>
      <mc:AlternateContent xmlns:mc="http://schemas.openxmlformats.org/markup-compatibility/2006" xmlns:p14="http://schemas.microsoft.com/office/powerpoint/2010/main">
        <mc:Choice Requires="p14">
          <p:contentPart r:id="rId19" p14:bwMode="auto">
            <p14:nvContentPartPr>
              <p14:cNvPr id="13" name="墨迹 12"/>
              <p14:cNvContentPartPr/>
              <p14:nvPr/>
            </p14:nvContentPartPr>
            <p14:xfrm>
              <a:off x="3352800" y="666750"/>
              <a:ext cx="69850" cy="69850"/>
            </p14:xfrm>
          </p:contentPart>
        </mc:Choice>
        <mc:Fallback xmlns="">
          <p:pic>
            <p:nvPicPr>
              <p:cNvPr id="13" name="墨迹 12"/>
            </p:nvPicPr>
            <p:blipFill>
              <a:blip r:embed="rId20"/>
            </p:blipFill>
            <p:spPr>
              <a:xfrm>
                <a:off x="3352800" y="666750"/>
                <a:ext cx="69850" cy="69850"/>
              </a:xfrm>
              <a:prstGeom prst="rect"/>
            </p:spPr>
          </p:pic>
        </mc:Fallback>
      </mc:AlternateContent>
      <mc:AlternateContent xmlns:mc="http://schemas.openxmlformats.org/markup-compatibility/2006" xmlns:p14="http://schemas.microsoft.com/office/powerpoint/2010/main">
        <mc:Choice Requires="p14">
          <p:contentPart r:id="rId21" p14:bwMode="auto">
            <p14:nvContentPartPr>
              <p14:cNvPr id="14" name="墨迹 13"/>
              <p14:cNvContentPartPr/>
              <p14:nvPr/>
            </p14:nvContentPartPr>
            <p14:xfrm>
              <a:off x="3270250" y="800100"/>
              <a:ext cx="31750" cy="44450"/>
            </p14:xfrm>
          </p:contentPart>
        </mc:Choice>
        <mc:Fallback xmlns="">
          <p:pic>
            <p:nvPicPr>
              <p:cNvPr id="14" name="墨迹 13"/>
            </p:nvPicPr>
            <p:blipFill>
              <a:blip r:embed="rId22"/>
            </p:blipFill>
            <p:spPr>
              <a:xfrm>
                <a:off x="3270250" y="800100"/>
                <a:ext cx="31750" cy="44450"/>
              </a:xfrm>
              <a:prstGeom prst="rect"/>
            </p:spPr>
          </p:pic>
        </mc:Fallback>
      </mc:AlternateContent>
      <mc:AlternateContent xmlns:mc="http://schemas.openxmlformats.org/markup-compatibility/2006" xmlns:p14="http://schemas.microsoft.com/office/powerpoint/2010/main">
        <mc:Choice Requires="p14">
          <p:contentPart r:id="rId23" p14:bwMode="auto">
            <p14:nvContentPartPr>
              <p14:cNvPr id="15" name="墨迹 14"/>
              <p14:cNvContentPartPr/>
              <p14:nvPr/>
            </p14:nvContentPartPr>
            <p14:xfrm>
              <a:off x="3346450" y="723900"/>
              <a:ext cx="171450" cy="190500"/>
            </p14:xfrm>
          </p:contentPart>
        </mc:Choice>
        <mc:Fallback xmlns="">
          <p:pic>
            <p:nvPicPr>
              <p:cNvPr id="15" name="墨迹 14"/>
            </p:nvPicPr>
            <p:blipFill>
              <a:blip r:embed="rId24"/>
            </p:blipFill>
            <p:spPr>
              <a:xfrm>
                <a:off x="3346450" y="723900"/>
                <a:ext cx="171450" cy="190500"/>
              </a:xfrm>
              <a:prstGeom prst="rect"/>
            </p:spPr>
          </p:pic>
        </mc:Fallback>
      </mc:AlternateContent>
      <mc:AlternateContent xmlns:mc="http://schemas.openxmlformats.org/markup-compatibility/2006" xmlns:p14="http://schemas.microsoft.com/office/powerpoint/2010/main">
        <mc:Choice Requires="p14">
          <p:contentPart r:id="rId25" p14:bwMode="auto">
            <p14:nvContentPartPr>
              <p14:cNvPr id="16" name="墨迹 15"/>
              <p14:cNvContentPartPr/>
              <p14:nvPr/>
            </p14:nvContentPartPr>
            <p14:xfrm>
              <a:off x="3625850" y="673100"/>
              <a:ext cx="317500" cy="44450"/>
            </p14:xfrm>
          </p:contentPart>
        </mc:Choice>
        <mc:Fallback xmlns="">
          <p:pic>
            <p:nvPicPr>
              <p:cNvPr id="16" name="墨迹 15"/>
            </p:nvPicPr>
            <p:blipFill>
              <a:blip r:embed="rId26"/>
            </p:blipFill>
            <p:spPr>
              <a:xfrm>
                <a:off x="3625850" y="673100"/>
                <a:ext cx="317500" cy="44450"/>
              </a:xfrm>
              <a:prstGeom prst="rect"/>
            </p:spPr>
          </p:pic>
        </mc:Fallback>
      </mc:AlternateContent>
      <mc:AlternateContent xmlns:mc="http://schemas.openxmlformats.org/markup-compatibility/2006" xmlns:p14="http://schemas.microsoft.com/office/powerpoint/2010/main">
        <mc:Choice Requires="p14">
          <p:contentPart r:id="rId27" p14:bwMode="auto">
            <p14:nvContentPartPr>
              <p14:cNvPr id="17" name="墨迹 16"/>
              <p14:cNvContentPartPr/>
              <p14:nvPr/>
            </p14:nvContentPartPr>
            <p14:xfrm>
              <a:off x="3803650" y="628650"/>
              <a:ext cx="171450" cy="215900"/>
            </p14:xfrm>
          </p:contentPart>
        </mc:Choice>
        <mc:Fallback xmlns="">
          <p:pic>
            <p:nvPicPr>
              <p:cNvPr id="17" name="墨迹 16"/>
            </p:nvPicPr>
            <p:blipFill>
              <a:blip r:embed="rId28"/>
            </p:blipFill>
            <p:spPr>
              <a:xfrm>
                <a:off x="3803650" y="628650"/>
                <a:ext cx="171450" cy="215900"/>
              </a:xfrm>
              <a:prstGeom prst="rect"/>
            </p:spPr>
          </p:pic>
        </mc:Fallback>
      </mc:AlternateContent>
      <mc:AlternateContent xmlns:mc="http://schemas.openxmlformats.org/markup-compatibility/2006" xmlns:p14="http://schemas.microsoft.com/office/powerpoint/2010/main">
        <mc:Choice Requires="p14">
          <p:contentPart r:id="rId29" p14:bwMode="auto">
            <p14:nvContentPartPr>
              <p14:cNvPr id="18" name="墨迹 17"/>
              <p14:cNvContentPartPr/>
              <p14:nvPr/>
            </p14:nvContentPartPr>
            <p14:xfrm>
              <a:off x="4070350" y="520700"/>
              <a:ext cx="120650" cy="88900"/>
            </p14:xfrm>
          </p:contentPart>
        </mc:Choice>
        <mc:Fallback xmlns="">
          <p:pic>
            <p:nvPicPr>
              <p:cNvPr id="18" name="墨迹 17"/>
            </p:nvPicPr>
            <p:blipFill>
              <a:blip r:embed="rId30"/>
            </p:blipFill>
            <p:spPr>
              <a:xfrm>
                <a:off x="4070350" y="520700"/>
                <a:ext cx="120650" cy="88900"/>
              </a:xfrm>
              <a:prstGeom prst="rect"/>
            </p:spPr>
          </p:pic>
        </mc:Fallback>
      </mc:AlternateContent>
      <mc:AlternateContent xmlns:mc="http://schemas.openxmlformats.org/markup-compatibility/2006" xmlns:p14="http://schemas.microsoft.com/office/powerpoint/2010/main">
        <mc:Choice Requires="p14">
          <p:contentPart r:id="rId31" p14:bwMode="auto">
            <p14:nvContentPartPr>
              <p14:cNvPr id="19" name="墨迹 18"/>
              <p14:cNvContentPartPr/>
              <p14:nvPr/>
            </p14:nvContentPartPr>
            <p14:xfrm>
              <a:off x="4064000" y="635000"/>
              <a:ext cx="57150" cy="222250"/>
            </p14:xfrm>
          </p:contentPart>
        </mc:Choice>
        <mc:Fallback xmlns="">
          <p:pic>
            <p:nvPicPr>
              <p:cNvPr id="19" name="墨迹 18"/>
            </p:nvPicPr>
            <p:blipFill>
              <a:blip r:embed="rId32"/>
            </p:blipFill>
            <p:spPr>
              <a:xfrm>
                <a:off x="4064000" y="635000"/>
                <a:ext cx="57150" cy="222250"/>
              </a:xfrm>
              <a:prstGeom prst="rect"/>
            </p:spPr>
          </p:pic>
        </mc:Fallback>
      </mc:AlternateContent>
      <mc:AlternateContent xmlns:mc="http://schemas.openxmlformats.org/markup-compatibility/2006" xmlns:p14="http://schemas.microsoft.com/office/powerpoint/2010/main">
        <mc:Choice Requires="p14">
          <p:contentPart r:id="rId33" p14:bwMode="auto">
            <p14:nvContentPartPr>
              <p14:cNvPr id="20" name="墨迹 19"/>
              <p14:cNvContentPartPr/>
              <p14:nvPr/>
            </p14:nvContentPartPr>
            <p14:xfrm>
              <a:off x="4165600" y="539750"/>
              <a:ext cx="114300" cy="82550"/>
            </p14:xfrm>
          </p:contentPart>
        </mc:Choice>
        <mc:Fallback xmlns="">
          <p:pic>
            <p:nvPicPr>
              <p:cNvPr id="20" name="墨迹 19"/>
            </p:nvPicPr>
            <p:blipFill>
              <a:blip r:embed="rId34"/>
            </p:blipFill>
            <p:spPr>
              <a:xfrm>
                <a:off x="4165600" y="539750"/>
                <a:ext cx="114300" cy="82550"/>
              </a:xfrm>
              <a:prstGeom prst="rect"/>
            </p:spPr>
          </p:pic>
        </mc:Fallback>
      </mc:AlternateContent>
      <mc:AlternateContent xmlns:mc="http://schemas.openxmlformats.org/markup-compatibility/2006" xmlns:p14="http://schemas.microsoft.com/office/powerpoint/2010/main">
        <mc:Choice Requires="p14">
          <p:contentPart r:id="rId35" p14:bwMode="auto">
            <p14:nvContentPartPr>
              <p14:cNvPr id="21" name="墨迹 20"/>
              <p14:cNvContentPartPr/>
              <p14:nvPr/>
            </p14:nvContentPartPr>
            <p14:xfrm>
              <a:off x="4159250" y="628650"/>
              <a:ext cx="44450" cy="133350"/>
            </p14:xfrm>
          </p:contentPart>
        </mc:Choice>
        <mc:Fallback xmlns="">
          <p:pic>
            <p:nvPicPr>
              <p:cNvPr id="21" name="墨迹 20"/>
            </p:nvPicPr>
            <p:blipFill>
              <a:blip r:embed="rId36"/>
            </p:blipFill>
            <p:spPr>
              <a:xfrm>
                <a:off x="4159250" y="628650"/>
                <a:ext cx="44450" cy="133350"/>
              </a:xfrm>
              <a:prstGeom prst="rect"/>
            </p:spPr>
          </p:pic>
        </mc:Fallback>
      </mc:AlternateContent>
      <mc:AlternateContent xmlns:mc="http://schemas.openxmlformats.org/markup-compatibility/2006" xmlns:p14="http://schemas.microsoft.com/office/powerpoint/2010/main">
        <mc:Choice Requires="p14">
          <p:contentPart r:id="rId37" p14:bwMode="auto">
            <p14:nvContentPartPr>
              <p14:cNvPr id="22" name="墨迹 21"/>
              <p14:cNvContentPartPr/>
              <p14:nvPr/>
            </p14:nvContentPartPr>
            <p14:xfrm>
              <a:off x="4248150" y="571500"/>
              <a:ext cx="196850" cy="304800"/>
            </p14:xfrm>
          </p:contentPart>
        </mc:Choice>
        <mc:Fallback xmlns="">
          <p:pic>
            <p:nvPicPr>
              <p:cNvPr id="22" name="墨迹 21"/>
            </p:nvPicPr>
            <p:blipFill>
              <a:blip r:embed="rId38"/>
            </p:blipFill>
            <p:spPr>
              <a:xfrm>
                <a:off x="4248150" y="571500"/>
                <a:ext cx="196850" cy="304800"/>
              </a:xfrm>
              <a:prstGeom prst="rect"/>
            </p:spPr>
          </p:pic>
        </mc:Fallback>
      </mc:AlternateContent>
      <mc:AlternateContent xmlns:mc="http://schemas.openxmlformats.org/markup-compatibility/2006" xmlns:p14="http://schemas.microsoft.com/office/powerpoint/2010/main">
        <mc:Choice Requires="p14">
          <p:contentPart r:id="rId39" p14:bwMode="auto">
            <p14:nvContentPartPr>
              <p14:cNvPr id="23" name="墨迹 22"/>
              <p14:cNvContentPartPr/>
              <p14:nvPr/>
            </p14:nvContentPartPr>
            <p14:xfrm>
              <a:off x="4260850" y="863600"/>
              <a:ext cx="50800" cy="31750"/>
            </p14:xfrm>
          </p:contentPart>
        </mc:Choice>
        <mc:Fallback xmlns="">
          <p:pic>
            <p:nvPicPr>
              <p:cNvPr id="23" name="墨迹 22"/>
            </p:nvPicPr>
            <p:blipFill>
              <a:blip r:embed="rId40"/>
            </p:blipFill>
            <p:spPr>
              <a:xfrm>
                <a:off x="4260850" y="863600"/>
                <a:ext cx="50800" cy="31750"/>
              </a:xfrm>
              <a:prstGeom prst="rect"/>
            </p:spPr>
          </p:pic>
        </mc:Fallback>
      </mc:AlternateContent>
      <mc:AlternateContent xmlns:mc="http://schemas.openxmlformats.org/markup-compatibility/2006" xmlns:p14="http://schemas.microsoft.com/office/powerpoint/2010/main">
        <mc:Choice Requires="p14">
          <p:contentPart r:id="rId41" p14:bwMode="auto">
            <p14:nvContentPartPr>
              <p14:cNvPr id="24" name="墨迹 23"/>
              <p14:cNvContentPartPr/>
              <p14:nvPr/>
            </p14:nvContentPartPr>
            <p14:xfrm>
              <a:off x="1822450" y="1371600"/>
              <a:ext cx="1498600" cy="552450"/>
            </p14:xfrm>
          </p:contentPart>
        </mc:Choice>
        <mc:Fallback xmlns="">
          <p:pic>
            <p:nvPicPr>
              <p:cNvPr id="24" name="墨迹 23"/>
            </p:nvPicPr>
            <p:blipFill>
              <a:blip r:embed="rId42"/>
            </p:blipFill>
            <p:spPr>
              <a:xfrm>
                <a:off x="1822450" y="1371600"/>
                <a:ext cx="1498600" cy="552450"/>
              </a:xfrm>
              <a:prstGeom prst="rect"/>
            </p:spPr>
          </p:pic>
        </mc:Fallback>
      </mc:AlternateContent>
      <mc:AlternateContent xmlns:mc="http://schemas.openxmlformats.org/markup-compatibility/2006" xmlns:p14="http://schemas.microsoft.com/office/powerpoint/2010/main">
        <mc:Choice Requires="p14">
          <p:contentPart r:id="rId43" p14:bwMode="auto">
            <p14:nvContentPartPr>
              <p14:cNvPr id="25" name="墨迹 24"/>
              <p14:cNvContentPartPr/>
              <p14:nvPr/>
            </p14:nvContentPartPr>
            <p14:xfrm>
              <a:off x="412750" y="1485900"/>
              <a:ext cx="533400" cy="311150"/>
            </p14:xfrm>
          </p:contentPart>
        </mc:Choice>
        <mc:Fallback xmlns="">
          <p:pic>
            <p:nvPicPr>
              <p:cNvPr id="25" name="墨迹 24"/>
            </p:nvPicPr>
            <p:blipFill>
              <a:blip r:embed="rId44"/>
            </p:blipFill>
            <p:spPr>
              <a:xfrm>
                <a:off x="412750" y="1485900"/>
                <a:ext cx="533400" cy="311150"/>
              </a:xfrm>
              <a:prstGeom prst="rect"/>
            </p:spPr>
          </p:pic>
        </mc:Fallback>
      </mc:AlternateContent>
      <mc:AlternateContent xmlns:mc="http://schemas.openxmlformats.org/markup-compatibility/2006" xmlns:p14="http://schemas.microsoft.com/office/powerpoint/2010/main">
        <mc:Choice Requires="p14">
          <p:contentPart r:id="rId45" p14:bwMode="auto">
            <p14:nvContentPartPr>
              <p14:cNvPr id="26" name="墨迹 25"/>
              <p14:cNvContentPartPr/>
              <p14:nvPr/>
            </p14:nvContentPartPr>
            <p14:xfrm>
              <a:off x="374650" y="1492250"/>
              <a:ext cx="527050" cy="317500"/>
            </p14:xfrm>
          </p:contentPart>
        </mc:Choice>
        <mc:Fallback xmlns="">
          <p:pic>
            <p:nvPicPr>
              <p:cNvPr id="26" name="墨迹 25"/>
            </p:nvPicPr>
            <p:blipFill>
              <a:blip r:embed="rId46"/>
            </p:blipFill>
            <p:spPr>
              <a:xfrm>
                <a:off x="374650" y="1492250"/>
                <a:ext cx="527050" cy="317500"/>
              </a:xfrm>
              <a:prstGeom prst="rect"/>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2</a:t>
            </a:r>
            <a:endParaRPr kumimoji="1" lang="en-US" altLang="zh-CN" sz="2800" b="1" dirty="0">
              <a:solidFill>
                <a:srgbClr val="FF653F"/>
              </a:solidFill>
            </a:endParaRPr>
          </a:p>
        </p:txBody>
      </p:sp>
      <p:sp>
        <p:nvSpPr>
          <p:cNvPr id="4" name="文本框 3"/>
          <p:cNvSpPr txBox="1"/>
          <p:nvPr/>
        </p:nvSpPr>
        <p:spPr>
          <a:xfrm>
            <a:off x="462915" y="53530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肥皂是脂肪酸金属盐的总称，金属主要是钠或钾等碱金属。海水中的钠和肥皂中的钠原子实际上都是以离子的形式存在的，由于离子间的平衡，海水中的钠离子会阻止肥皂中的钠离子在水中充分溶解。因此，在海水中，肥皂不起清洁作用。</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以下哪项最适合作为上述论证的前提？（</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肥皂中的钠要先溶解才能发挥清洁作用</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海水中的钠离子可以从海水中分离出来</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肥皂要与水共同使用才能发挥清洁作用</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肥皂分子结构中的钠离子是不溶于水的</a:t>
            </a:r>
            <a:endParaRPr lang="zh-CN" altLang="en-US" sz="2200" dirty="0">
              <a:cs typeface="楷体" panose="02010609060101010101" charset="-122"/>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3</a:t>
            </a:r>
            <a:endParaRPr kumimoji="1" lang="en-US" altLang="zh-CN" sz="2800" b="1" dirty="0">
              <a:solidFill>
                <a:srgbClr val="FF653F"/>
              </a:solidFill>
            </a:endParaRPr>
          </a:p>
        </p:txBody>
      </p:sp>
      <p:sp>
        <p:nvSpPr>
          <p:cNvPr id="4" name="文本框 3"/>
          <p:cNvSpPr txBox="1"/>
          <p:nvPr/>
        </p:nvSpPr>
        <p:spPr>
          <a:xfrm>
            <a:off x="462915" y="53530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素髹</a:t>
            </a:r>
            <a:r>
              <a:rPr lang="en-US" altLang="zh-CN" sz="2200" dirty="0">
                <a:cs typeface="楷体" panose="02010609060101010101" charset="-122"/>
              </a:rPr>
              <a:t>xi</a:t>
            </a:r>
            <a:r>
              <a:rPr lang="en-US" altLang="en-US" sz="2200" dirty="0">
                <a:cs typeface="楷体" panose="02010609060101010101" charset="-122"/>
              </a:rPr>
              <a:t>ū</a:t>
            </a:r>
            <a:r>
              <a:rPr lang="zh-CN" altLang="en-US" sz="2200" dirty="0">
                <a:cs typeface="楷体" panose="02010609060101010101" charset="-122"/>
              </a:rPr>
              <a:t>漆器强调漆色之美，无纹饰之缀。从素髹漆器的身上</a:t>
            </a:r>
            <a:r>
              <a:rPr lang="en-US" altLang="zh-CN" sz="2200" dirty="0">
                <a:cs typeface="楷体" panose="02010609060101010101" charset="-122"/>
              </a:rPr>
              <a:t>,</a:t>
            </a:r>
            <a:r>
              <a:rPr lang="zh-CN" altLang="en-US" sz="2200" dirty="0">
                <a:cs typeface="楷体" panose="02010609060101010101" charset="-122"/>
              </a:rPr>
              <a:t>现代人可嗅到宋朝美学的</a:t>
            </a:r>
            <a:r>
              <a:rPr lang="en-US" altLang="zh-CN" sz="2200" dirty="0">
                <a:cs typeface="楷体" panose="02010609060101010101" charset="-122"/>
              </a:rPr>
              <a:t>“</a:t>
            </a:r>
            <a:r>
              <a:rPr lang="zh-CN" altLang="en-US" sz="2200" dirty="0">
                <a:cs typeface="楷体" panose="02010609060101010101" charset="-122"/>
              </a:rPr>
              <a:t>极简风</a:t>
            </a:r>
            <a:r>
              <a:rPr lang="en-US" altLang="zh-CN" sz="2200" dirty="0">
                <a:cs typeface="楷体" panose="02010609060101010101" charset="-122"/>
              </a:rPr>
              <a:t>”</a:t>
            </a:r>
            <a:r>
              <a:rPr lang="zh-CN" altLang="en-US" sz="2200" dirty="0">
                <a:cs typeface="楷体" panose="02010609060101010101" charset="-122"/>
              </a:rPr>
              <a:t>。但是，反对者认为社会审美取向的影响几乎可以忽略不计，</a:t>
            </a:r>
            <a:r>
              <a:rPr lang="en-US" altLang="zh-CN" sz="2200" dirty="0">
                <a:cs typeface="楷体" panose="02010609060101010101" charset="-122"/>
              </a:rPr>
              <a:t>“</a:t>
            </a:r>
            <a:r>
              <a:rPr lang="zh-CN" altLang="en-US" sz="2200" dirty="0">
                <a:cs typeface="楷体" panose="02010609060101010101" charset="-122"/>
              </a:rPr>
              <a:t>圈叠胎工艺</a:t>
            </a:r>
            <a:r>
              <a:rPr lang="en-US" altLang="zh-CN" sz="2200" dirty="0">
                <a:cs typeface="楷体" panose="02010609060101010101" charset="-122"/>
              </a:rPr>
              <a:t>”</a:t>
            </a:r>
            <a:r>
              <a:rPr lang="zh-CN" altLang="en-US" sz="2200" dirty="0">
                <a:cs typeface="楷体" panose="02010609060101010101" charset="-122"/>
              </a:rPr>
              <a:t>的成熟才是促使花瓣形素髹漆器产生的原因，工艺的进步使得表现花瓣形态的多曲造型成为可能。</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以下哪项如果为真，最能削弱反对者的观点？（</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宋代金银器锤揲技法的产生为其他材质器物的花瓣造型起到示范作用</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实际上，</a:t>
            </a:r>
            <a:r>
              <a:rPr lang="en-US" altLang="zh-CN" sz="2200" dirty="0">
                <a:cs typeface="楷体" panose="02010609060101010101" charset="-122"/>
              </a:rPr>
              <a:t>“</a:t>
            </a:r>
            <a:r>
              <a:rPr lang="zh-CN" altLang="en-US" sz="2200" dirty="0">
                <a:cs typeface="楷体" panose="02010609060101010101" charset="-122"/>
              </a:rPr>
              <a:t>圈叠胎工艺</a:t>
            </a:r>
            <a:r>
              <a:rPr lang="en-US" altLang="zh-CN" sz="2200" dirty="0">
                <a:cs typeface="楷体" panose="02010609060101010101" charset="-122"/>
              </a:rPr>
              <a:t>”</a:t>
            </a:r>
            <a:r>
              <a:rPr lang="zh-CN" altLang="en-US" sz="2200" dirty="0">
                <a:cs typeface="楷体" panose="02010609060101010101" charset="-122"/>
              </a:rPr>
              <a:t>早在唐代就开始产生，元代以后逐渐销声匿迹</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宋人对花瓣形态的钟爱使素髹漆器的制作工艺不断进步，以满足人们的审美需求</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对花瓣形态的钟爱不仅体现在素髹漆器上，在宋代雕漆和戗金漆器中也有体现</a:t>
            </a:r>
            <a:endParaRPr lang="zh-CN" altLang="en-US" sz="2200" dirty="0">
              <a:cs typeface="楷体" panose="02010609060101010101"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4</a:t>
            </a:r>
            <a:endParaRPr kumimoji="1" lang="en-US" altLang="zh-CN" sz="2800" b="1" dirty="0">
              <a:solidFill>
                <a:srgbClr val="FF653F"/>
              </a:solidFill>
            </a:endParaRPr>
          </a:p>
        </p:txBody>
      </p:sp>
      <p:sp>
        <p:nvSpPr>
          <p:cNvPr id="4" name="文本框 3"/>
          <p:cNvSpPr txBox="1"/>
          <p:nvPr/>
        </p:nvSpPr>
        <p:spPr>
          <a:xfrm>
            <a:off x="462915" y="53530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rPr>
              <a:t>根据以下材料，回答</a:t>
            </a:r>
            <a:r>
              <a:rPr lang="en-US" altLang="zh-CN" sz="2200" dirty="0">
                <a:cs typeface="楷体" panose="02010609060101010101" charset="-122"/>
              </a:rPr>
              <a:t>2</a:t>
            </a:r>
            <a:r>
              <a:rPr lang="zh-CN" altLang="en-US" sz="2200" dirty="0">
                <a:cs typeface="楷体" panose="02010609060101010101" charset="-122"/>
              </a:rPr>
              <a:t>题。</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rPr>
              <a:t>细胞端粒被认为是与寿命相关的指标，端粒会随着细胞分裂而不断变短，端粒越短说明细胞分裂次数越多，细胞分裂次数越多人越容易衰老，也越容易出现与衰老相关的一系列疾病。研究人员对</a:t>
            </a:r>
            <a:r>
              <a:rPr lang="en-US" altLang="zh-CN" sz="2200" dirty="0">
                <a:cs typeface="楷体" panose="02010609060101010101" charset="-122"/>
              </a:rPr>
              <a:t>1826</a:t>
            </a:r>
            <a:r>
              <a:rPr lang="zh-CN" altLang="en-US" sz="2200" dirty="0">
                <a:cs typeface="楷体" panose="02010609060101010101" charset="-122"/>
              </a:rPr>
              <a:t>对</a:t>
            </a:r>
            <a:r>
              <a:rPr lang="en-US" altLang="zh-CN" sz="2200" dirty="0">
                <a:cs typeface="楷体" panose="02010609060101010101" charset="-122"/>
              </a:rPr>
              <a:t>70</a:t>
            </a:r>
            <a:r>
              <a:rPr lang="zh-CN" altLang="en-US" sz="2200" dirty="0">
                <a:cs typeface="楷体" panose="02010609060101010101" charset="-122"/>
              </a:rPr>
              <a:t>岁以上的双胞胎的细胞端粒长度、面部年龄与寿命之间的相关性进行了分析。经过了</a:t>
            </a:r>
            <a:r>
              <a:rPr lang="en-US" altLang="zh-CN" sz="2200" dirty="0">
                <a:cs typeface="楷体" panose="02010609060101010101" charset="-122"/>
              </a:rPr>
              <a:t>7</a:t>
            </a:r>
            <a:r>
              <a:rPr lang="zh-CN" altLang="en-US" sz="2200" dirty="0">
                <a:cs typeface="楷体" panose="02010609060101010101" charset="-122"/>
              </a:rPr>
              <a:t>年的跟踪研究后，研究人员认为，细胞端粒长度决定一个人的面部年龄，那些面部年龄比同龄人年轻的人更长寿。</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4.</a:t>
            </a:r>
            <a:r>
              <a:rPr lang="zh-CN" altLang="en-US" sz="2200" dirty="0">
                <a:cs typeface="楷体" panose="02010609060101010101" charset="-122"/>
              </a:rPr>
              <a:t>以下哪项如果为真，最能支持上述结论？（</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那些面部年龄比同龄人年轻的人，其体内细胞的活力更强</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双胞胎中面部年龄较小的受试者比面部年龄大的细胞端粒更长</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那些细胞端粒天生较短的人往往在年轻时就会出现各种疾病</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当细胞端粒无法再变短时，细胞会停止分裂，不可逆地凋亡</a:t>
            </a:r>
            <a:endParaRPr lang="zh-CN" altLang="en-US" sz="2200" dirty="0">
              <a:cs typeface="楷体" panose="02010609060101010101"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0"/>
            <a:ext cx="10515600" cy="708025"/>
          </a:xfrm>
        </p:spPr>
        <p:txBody>
          <a:bodyPr/>
          <a:lstStyle/>
          <a:p>
            <a:pPr algn="ctr">
              <a:buClrTx/>
              <a:buSzTx/>
              <a:buFontTx/>
            </a:pPr>
            <a:r>
              <a:rPr kumimoji="1" lang="zh-CN" sz="2800" b="1" dirty="0">
                <a:solidFill>
                  <a:srgbClr val="FF653F"/>
                </a:solidFill>
                <a:sym typeface="+mn-ea"/>
              </a:rPr>
              <a:t>题</a:t>
            </a:r>
            <a:r>
              <a:rPr kumimoji="1" lang="en-US" altLang="zh-CN" sz="2800" b="1" dirty="0">
                <a:solidFill>
                  <a:srgbClr val="FF653F"/>
                </a:solidFill>
                <a:sym typeface="+mn-ea"/>
              </a:rPr>
              <a:t>5</a:t>
            </a:r>
            <a:endParaRPr kumimoji="1" lang="en-US" altLang="zh-CN" sz="2800" b="1" dirty="0">
              <a:solidFill>
                <a:srgbClr val="FF653F"/>
              </a:solidFill>
            </a:endParaRPr>
          </a:p>
        </p:txBody>
      </p:sp>
      <p:sp>
        <p:nvSpPr>
          <p:cNvPr id="4" name="文本框 3"/>
          <p:cNvSpPr txBox="1"/>
          <p:nvPr/>
        </p:nvSpPr>
        <p:spPr>
          <a:xfrm>
            <a:off x="462915" y="535305"/>
            <a:ext cx="11302365" cy="5035550"/>
          </a:xfrm>
          <a:prstGeom prst="rect">
            <a:avLst/>
          </a:prstGeom>
          <a:noFill/>
        </p:spPr>
        <p:txBody>
          <a:bodyPr wrap="square" rtlCol="0" anchor="t">
            <a:noAutofit/>
          </a:bodyPr>
          <a:p>
            <a:pPr indent="0" fontAlgn="auto">
              <a:lnSpc>
                <a:spcPct val="150000"/>
              </a:lnSpc>
            </a:pPr>
            <a:r>
              <a:rPr lang="zh-CN" altLang="en-US" sz="2200" dirty="0">
                <a:cs typeface="楷体" panose="02010609060101010101" charset="-122"/>
                <a:sym typeface="+mn-ea"/>
              </a:rPr>
              <a:t>根据以下材料，回答</a:t>
            </a:r>
            <a:r>
              <a:rPr lang="en-US" altLang="zh-CN" sz="2200" dirty="0">
                <a:cs typeface="楷体" panose="02010609060101010101" charset="-122"/>
                <a:sym typeface="+mn-ea"/>
              </a:rPr>
              <a:t>2</a:t>
            </a:r>
            <a:r>
              <a:rPr lang="zh-CN" altLang="en-US" sz="2200" dirty="0">
                <a:cs typeface="楷体" panose="02010609060101010101" charset="-122"/>
                <a:sym typeface="+mn-ea"/>
              </a:rPr>
              <a:t>题。</a:t>
            </a:r>
            <a:endParaRPr lang="zh-CN" altLang="en-US" sz="2200" dirty="0">
              <a:cs typeface="楷体" panose="02010609060101010101" charset="-122"/>
            </a:endParaRPr>
          </a:p>
          <a:p>
            <a:pPr indent="0" fontAlgn="auto">
              <a:lnSpc>
                <a:spcPct val="150000"/>
              </a:lnSpc>
            </a:pPr>
            <a:r>
              <a:rPr lang="zh-CN" altLang="en-US" sz="2200" dirty="0">
                <a:cs typeface="楷体" panose="02010609060101010101" charset="-122"/>
                <a:sym typeface="+mn-ea"/>
              </a:rPr>
              <a:t>细胞端粒被认为是与寿命相关的指标，端粒会随着细胞分裂而不断变短，端粒越短说明细胞分裂次数越多，细胞分裂次数越多人越容易衰老，也越容易出现与衰老相关的一系列疾病。研究人员对</a:t>
            </a:r>
            <a:r>
              <a:rPr lang="en-US" altLang="zh-CN" sz="2200" dirty="0">
                <a:cs typeface="楷体" panose="02010609060101010101" charset="-122"/>
                <a:sym typeface="+mn-ea"/>
              </a:rPr>
              <a:t>1826</a:t>
            </a:r>
            <a:r>
              <a:rPr lang="zh-CN" altLang="en-US" sz="2200" dirty="0">
                <a:cs typeface="楷体" panose="02010609060101010101" charset="-122"/>
                <a:sym typeface="+mn-ea"/>
              </a:rPr>
              <a:t>对</a:t>
            </a:r>
            <a:r>
              <a:rPr lang="en-US" altLang="zh-CN" sz="2200" dirty="0">
                <a:cs typeface="楷体" panose="02010609060101010101" charset="-122"/>
                <a:sym typeface="+mn-ea"/>
              </a:rPr>
              <a:t>70</a:t>
            </a:r>
            <a:r>
              <a:rPr lang="zh-CN" altLang="en-US" sz="2200" dirty="0">
                <a:cs typeface="楷体" panose="02010609060101010101" charset="-122"/>
                <a:sym typeface="+mn-ea"/>
              </a:rPr>
              <a:t>岁以上的双胞胎的细胞端粒长度、面部年龄与寿命之间的相关性进行了分析。经过了</a:t>
            </a:r>
            <a:r>
              <a:rPr lang="en-US" altLang="zh-CN" sz="2200" dirty="0">
                <a:cs typeface="楷体" panose="02010609060101010101" charset="-122"/>
                <a:sym typeface="+mn-ea"/>
              </a:rPr>
              <a:t>7</a:t>
            </a:r>
            <a:r>
              <a:rPr lang="zh-CN" altLang="en-US" sz="2200" dirty="0">
                <a:cs typeface="楷体" panose="02010609060101010101" charset="-122"/>
                <a:sym typeface="+mn-ea"/>
              </a:rPr>
              <a:t>年的跟踪研究后，研究人员认为，细胞端粒长度决定一个人的面部年龄，那些面部年龄比同龄人年轻的人更长寿。</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5.</a:t>
            </a:r>
            <a:r>
              <a:rPr lang="zh-CN" altLang="en-US" sz="2200" dirty="0">
                <a:cs typeface="楷体" panose="02010609060101010101" charset="-122"/>
              </a:rPr>
              <a:t>以下哪项如果为真，最能削弱上述结论？（</a:t>
            </a:r>
            <a:r>
              <a:rPr lang="en-US" altLang="zh-CN" sz="2200" dirty="0">
                <a:cs typeface="楷体" panose="02010609060101010101" charset="-122"/>
              </a:rPr>
              <a:t>    </a:t>
            </a:r>
            <a:r>
              <a:rPr lang="zh-CN" altLang="en-US" sz="2200" dirty="0">
                <a:cs typeface="楷体" panose="02010609060101010101" charset="-122"/>
              </a:rPr>
              <a:t>）</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A.</a:t>
            </a:r>
            <a:r>
              <a:rPr lang="zh-CN" altLang="en-US" sz="2200" dirty="0">
                <a:cs typeface="楷体" panose="02010609060101010101" charset="-122"/>
              </a:rPr>
              <a:t>面部年龄小的受试者，性格通常比较乐观，所以寿命更长</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B.</a:t>
            </a:r>
            <a:r>
              <a:rPr lang="zh-CN" altLang="en-US" sz="2200" dirty="0">
                <a:cs typeface="楷体" panose="02010609060101010101" charset="-122"/>
              </a:rPr>
              <a:t>面部年龄小的人更容易吸引他人与之交往，其人际关系也更和谐</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C.</a:t>
            </a:r>
            <a:r>
              <a:rPr lang="zh-CN" altLang="en-US" sz="2200" dirty="0">
                <a:cs typeface="楷体" panose="02010609060101010101" charset="-122"/>
              </a:rPr>
              <a:t>研究中发现，双胞胎的性别及其所从事的职业对寿命的长短并无明显影响</a:t>
            </a:r>
            <a:endParaRPr lang="zh-CN" altLang="en-US" sz="2200" dirty="0">
              <a:cs typeface="楷体" panose="02010609060101010101" charset="-122"/>
            </a:endParaRPr>
          </a:p>
          <a:p>
            <a:pPr indent="0" fontAlgn="auto">
              <a:lnSpc>
                <a:spcPct val="150000"/>
              </a:lnSpc>
            </a:pPr>
            <a:r>
              <a:rPr lang="en-US" altLang="zh-CN" sz="2200" dirty="0">
                <a:cs typeface="楷体" panose="02010609060101010101" charset="-122"/>
              </a:rPr>
              <a:t>D.</a:t>
            </a:r>
            <a:r>
              <a:rPr lang="zh-CN" altLang="en-US" sz="2200" dirty="0">
                <a:cs typeface="楷体" panose="02010609060101010101" charset="-122"/>
              </a:rPr>
              <a:t>面部年龄不仅是医生用来了解病人健康状况的窗口，也是一个人老化的生物标记</a:t>
            </a:r>
            <a:endParaRPr lang="zh-CN" altLang="en-US" sz="2200" dirty="0">
              <a:cs typeface="楷体" panose="02010609060101010101"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descr="徽标&#10;&#10;AI 生成的内容可能不正确。"/>
          <p:cNvPicPr>
            <a:picLocks noChangeAspect="1"/>
          </p:cNvPicPr>
          <p:nvPr/>
        </p:nvPicPr>
        <p:blipFill>
          <a:blip r:embed="rId1"/>
          <a:srcRect t="9991" b="18252"/>
          <a:stretch>
            <a:fillRect/>
          </a:stretch>
        </p:blipFill>
        <p:spPr>
          <a:xfrm>
            <a:off x="4437879" y="883627"/>
            <a:ext cx="2976453" cy="950430"/>
          </a:xfrm>
          <a:prstGeom prst="rect">
            <a:avLst/>
          </a:prstGeom>
        </p:spPr>
      </p:pic>
      <p:sp>
        <p:nvSpPr>
          <p:cNvPr id="5" name="文本框 4"/>
          <p:cNvSpPr txBox="1"/>
          <p:nvPr/>
        </p:nvSpPr>
        <p:spPr>
          <a:xfrm>
            <a:off x="4844561" y="2711751"/>
            <a:ext cx="2795954" cy="769441"/>
          </a:xfrm>
          <a:prstGeom prst="rect">
            <a:avLst/>
          </a:prstGeom>
          <a:noFill/>
        </p:spPr>
        <p:txBody>
          <a:bodyPr wrap="square" rtlCol="0">
            <a:spAutoFit/>
          </a:bodyPr>
          <a:lstStyle/>
          <a:p>
            <a:r>
              <a:rPr kumimoji="1" lang="zh-CN" altLang="en-US" sz="4400" b="1" dirty="0">
                <a:solidFill>
                  <a:srgbClr val="DC5037"/>
                </a:solidFill>
                <a:latin typeface="楷体" panose="02010609060101010101" charset="-122"/>
                <a:ea typeface="楷体" panose="02010609060101010101" charset="-122"/>
                <a:cs typeface="楷体" panose="02010609060101010101" charset="-122"/>
              </a:rPr>
              <a:t>感谢收看！</a:t>
            </a:r>
            <a:endParaRPr kumimoji="1" lang="zh-CN" altLang="en-US" sz="4400" b="1" dirty="0">
              <a:solidFill>
                <a:srgbClr val="DC5037"/>
              </a:solidFill>
              <a:latin typeface="楷体" panose="02010609060101010101" charset="-122"/>
              <a:ea typeface="楷体" panose="02010609060101010101" charset="-122"/>
              <a:cs typeface="楷体" panose="02010609060101010101" charset="-122"/>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4.xml><?xml version="1.0" encoding="utf-8"?>
<p:tagLst xmlns:p="http://schemas.openxmlformats.org/presentationml/2006/main">
  <p:tag name="KSO_WM_SLIDE_ID" val="custom20231288_9"/>
  <p:tag name="KSO_WM_TEMPLATE_SUBCATEGORY" val="29"/>
  <p:tag name="KSO_WM_TEMPLATE_MASTER_TYPE" val="0"/>
  <p:tag name="KSO_WM_TEMPLATE_COLOR_TYPE" val="0"/>
  <p:tag name="KSO_WM_SLIDE_ITEM_CNT" val="0"/>
  <p:tag name="KSO_WM_SLIDE_INDEX" val="9"/>
  <p:tag name="KSO_WM_TAG_VERSION" val="3.0"/>
  <p:tag name="KSO_WM_BEAUTIFY_FLAG" val="#wm#"/>
  <p:tag name="KSO_WM_TEMPLATE_CATEGORY" val="custom"/>
  <p:tag name="KSO_WM_TEMPLATE_INDEX" val="20231288"/>
  <p:tag name="KSO_WM_SLIDE_TYPE" val="endPage"/>
  <p:tag name="KSO_WM_SLIDE_SUBTYPE" val="pureTxt"/>
  <p:tag name="KSO_WM_SLIDE_LAYOUT" val="a_f"/>
  <p:tag name="KSO_WM_SLIDE_LAYOUT_CNT" val="1_1"/>
  <p:tag name="resource_record_key" val="{&quot;13&quot;:[4705195,19965465,19971662],&quot;65&quot;:[20231288]}"/>
</p:tagLst>
</file>

<file path=ppt/tags/tag5.xml><?xml version="1.0" encoding="utf-8"?>
<p:tagLst xmlns:p="http://schemas.openxmlformats.org/presentationml/2006/main">
  <p:tag name="resource_record_key" val="{&quot;13&quot;:[20481828,4364903,4364924],&quot;65&quot;:[20205081]}"/>
</p:tagLst>
</file>

<file path=ppt/theme/theme1.xml><?xml version="1.0" encoding="utf-8"?>
<a:theme xmlns:a="http://schemas.openxmlformats.org/drawingml/2006/main" name="自定义设计方案">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楷体"/>
        <a:ea typeface="楷体"/>
        <a:cs typeface=""/>
      </a:majorFont>
      <a:minorFont>
        <a:latin typeface="楷体"/>
        <a:ea typeface="楷体"/>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ajorFont>
      <a:minorFont>
        <a:latin typeface="楷体"/>
        <a:ea typeface=""/>
        <a:cs typeface=""/>
        <a:font script="Jpan" typeface="ＭＳ Ｐゴシック"/>
        <a:font script="Hang" typeface="맑은 고딕"/>
        <a:font script="Hans" typeface="楷体"/>
        <a:font script="Hant" typeface="新細明體"/>
        <a:font script="Arab" typeface="楷体"/>
        <a:font script="Hebr" typeface="楷体"/>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楷体"/>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1258</Words>
  <Application>WPS 演示</Application>
  <PresentationFormat>宽屏</PresentationFormat>
  <Paragraphs>55</Paragraphs>
  <Slides>7</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宋体</vt:lpstr>
      <vt:lpstr>Wingdings</vt:lpstr>
      <vt:lpstr>楷体</vt:lpstr>
      <vt:lpstr>Wingdings</vt:lpstr>
      <vt:lpstr>微软雅黑</vt:lpstr>
      <vt:lpstr>Arial Unicode MS</vt:lpstr>
      <vt:lpstr>自定义设计方案</vt:lpstr>
      <vt:lpstr>PowerPoint 演示文稿</vt:lpstr>
      <vt:lpstr>题1</vt:lpstr>
      <vt:lpstr>题2</vt:lpstr>
      <vt:lpstr>题3</vt:lpstr>
      <vt:lpstr>题4</vt:lpstr>
      <vt:lpstr>题5</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桑桑</cp:lastModifiedBy>
  <cp:revision>227</cp:revision>
  <dcterms:created xsi:type="dcterms:W3CDTF">2019-06-19T02:08:00Z</dcterms:created>
  <dcterms:modified xsi:type="dcterms:W3CDTF">2026-01-14T04:37:02Z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2052-12.1.0.24034</vt:lpwstr>
  </property>
  <property fmtid="{D5CDD505-2E9C-101B-9397-08002B2CF9AE}" pid="3" name="ICV">
    <vt:lpwstr>7E0F0589F6D94CFE8A4BC2AEA01394FF_11</vt:lpwstr>
  </property>
</Properties>
</file>