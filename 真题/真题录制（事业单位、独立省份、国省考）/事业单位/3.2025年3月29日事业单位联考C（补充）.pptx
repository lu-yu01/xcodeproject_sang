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21"/>
  </p:handoutMasterIdLst>
  <p:sldIdLst>
    <p:sldId id="629" r:id="rId4"/>
    <p:sldId id="424" r:id="rId6"/>
    <p:sldId id="1362" r:id="rId7"/>
    <p:sldId id="1363" r:id="rId8"/>
    <p:sldId id="1364" r:id="rId9"/>
    <p:sldId id="1365" r:id="rId10"/>
    <p:sldId id="1366" r:id="rId11"/>
    <p:sldId id="1367" r:id="rId12"/>
    <p:sldId id="1368" r:id="rId13"/>
    <p:sldId id="1369" r:id="rId14"/>
    <p:sldId id="1370" r:id="rId15"/>
    <p:sldId id="1371" r:id="rId16"/>
    <p:sldId id="1372" r:id="rId17"/>
    <p:sldId id="1378" r:id="rId18"/>
    <p:sldId id="1379" r:id="rId19"/>
    <p:sldId id="992" r:id="rId20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6"/>
        <p:guide pos="379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3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观察发现，第一行图形中，图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和图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去同求异后，再将图形旋转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180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°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得到图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；经验证，第二行满足此规律；第三行应用此规律，故？处应选择由前两个图形去同存异后旋转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180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°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得到的图形，只有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项符合。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【解析】本题考查三视图。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根据题干给出的左视图和主视图，该多面体可能如下图所示：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只有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项可能满足该多面体的俯视图。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【解析】本题考查立体拼合。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如下图所示，题干立体图形可以由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、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②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以及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项拼合而成。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故正确答案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【解析】捕食性天敌定义的关键信息：直接吃掉害虫的一部分或全部，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或刺入害虫体内吸食体液。寄生性天敌定义的关键信息：寄生在害虫体内或体外，或在害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虫的披盖物内取食。昆虫病原微生物定义的关键信息：对害虫具有致病性的微生物。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项，畸螯螨捕获红蜘蛛后，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口器刺入其体内吸食体液致红蜘蛛死亡，符合捕食性天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敌的定义，对应正确。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项，幼虫期草蛉并没有寄生于白粉虱体内或体外，而是用自己的消化液溶解白粉虱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并吃掉，不属于寄生性天敌，对应错误。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白僵菌侵入茶小绿叶蝉体内繁殖并释放毒素，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白僵菌是致病性的真菌，符合昆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虫病原微生物的定义，对应错误。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项，刻绒茧蜂幼虫并不是对害虫具有致病性的微生物，不属于昆虫病原微生物，其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寄生在毛毛虫体内发育，最终导致宿主死亡，属于寄生性天敌，对应错误。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【解析】换药台是治疗室使用的工具，治疗室是医院的组成部分。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电话是前台使用的工具，前台是宾馆的组成部分，与题干关系一致。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项，食堂和教室是并列关系，二者均是学校的组成部分，与题干关系不一致。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项，高铁在站台停靠，二者是位置关系；站台是火车站的组成部分，与题干关系不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一致。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项，观众在博物馆参观，二者是位置关系；展厅是博物馆的组成部分，与题干关系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不一致。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【解析】速度增量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=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末速度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-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初速度。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项，落差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=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高点高度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-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低点高度，与深度无关，与题干关系不一致。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项，等高线是地图上表示相同海拔的点连成的线；坡度是水平面与斜坡之间的角度；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等高距是相邻两条等高线之间的高度差。三者不存在数量关系，与题干关系不一致。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项，收缩压与舒张压为并列关系，均与血压构成包含关系，与题干关系不一致。收缩压是高压，舒张压是低压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项，径流量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=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降水量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-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蒸发量，与题干关系一致。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【解析】代入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项，黄金是一种财富，二者为包含关系；知识和理想无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明显关系，前后关系不一致。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代入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项，勤劳可以创造财富，二者为因果关系；高尚和知识无明显关系，前后关系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不一致。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代入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项，无形的财富，二者属于偏正结构；有形与知识无明显关系，前后关系不一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致。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代入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项，财富可以消除贫穷，知识可以消除愚昧，前后关系一致。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【解析】题干结论：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Alka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味觉受体会使野生型果蝇产生回避碱性食物的行为。题干论据：由于果蝇舌头上含有一个名为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Alka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的味觉受体，其在碱性条件下会激活味觉受体神经元上的氯离子通道，使氯离子由细胞内流至细胞外。论据说的是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氯离子由细胞内流至细胞外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，结论说的是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产生回避行为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，二者之间存在跳跃，补充的前提要能在二者之间建立联系。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项，指出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pH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值能衡量食物的酸度或碱度，与野生型果蝇产生回避碱性食物的原因无关，不是需要补充的前提。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项，指出氯离子的流动将诱发果蝇产生回避行为，在结论和论据之间建立了联系，是需要补充的前提。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项，说的是回避碱性食物的作用，与野生型果蝇产生回避碱性食物的原因无关，不是需要补充的前提。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项，说的是其他动物的情况，与野生型果蝇产生回避碱性食物的原因无关，不是需要补充的前提。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【解析】题干结果：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588.7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万患者在此期间的总体治疗依从率为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54.4%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，但在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14.9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万名医生及其亲友这一人群中，对应数值却要低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3.8%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，尤其是在抗生素的治疗依从率上，二者差距达到了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5.2%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项，指出普通患者无法判断医生水平，只能严格地按照治疗方案用药，只能说明为什么普通患者治疗依从率高，无法解释为什么医生及其亲友这一人群治疗依从率低，不能解释题干结果。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项，指出医生对自己是否使用抗生素心存疑虑，但不意味着就一定会导致治疗依从率降低，不能解释题干结果。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项，指出医生的治疗方案经常受到一部分患者的质疑，导致治疗依从率整体不高，但不明确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一部分患者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是否包括医生及其亲友这一群体，不能解释题干结果。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项，指出医生会根据自身和亲友的病情变化及时地调整治疗方案，因此医生及其亲友这一人群治疗依从率比普通患者低，可以解释题干结果。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【解析】题干观点：该地区居民对于游戏的需求正日渐增加，对于社交通信的需求则有所减少。题干论据：与去年同期相比，今年一季度居民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App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下载量明显增加，游戏类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App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下载量增幅最大，下载量占当季全部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App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下载总量的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30%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，社交通信类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App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下载量增幅最小，下载量占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5%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项，指出当地居民一季度使用社交通信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App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的时长及其增幅高于游戏，说明该区居民对社交通信的需求并没有减少，能削弱题干观点。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项，指出一些游戏类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App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也具有社交通信功能，并不代表下载游戏类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App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是为了社交，且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一些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并不具有代表性，不能削弱题干观点。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项，指出今年一季度该地区上线的手机应用程序总量同比减少了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10%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，与该地区居民对于游戏和社交通信的需求情况无关，不能削弱题干观点。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项，指出游戏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App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和社交通信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App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覆盖的群体不同，与该地区居民对于游戏和社交通信的需求变化无关，不能削弱题干观点。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【解析】题干由高二（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）班学生参加的项目都获得了奖牌，得出该班参加了这次运动会的学生晓佳也获得了奖牌，是由整体具有某种属性推出整体中部分也具有该属性，犯了分解谬误。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项，由居民要遵守社会公德且小区广场是公共场所，得出结论小陈不该在小区广场遛狗，并没有由整体具有某种属性推出整体中部分也具有该属性，与题干论证错误不一致。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项，由某微信群的氛围很和谐，得出群里的两个个体平时聊得一定很愉快，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氛围和谐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聊天愉快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并不是同一属性，与题干论证错误不一致。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项，由整体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苏东县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具有盛产杨梅这一属性，得出整体中部分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东山镇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也具有该属性，与题干论证错误一致。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项，由该项论证只能得出小刘也达到了市重点高中分数线的结论，但达到分数线不代表一定能被录取，因此不能得出小刘将被市重点高中录取。该项属于过度推断，与题干论证错误不一致。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【解析】甲公司销售经理的预测：未来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N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国烘焙食品行业市场规模将持续增长，整个行业的利润也将持续增长，甲公司利润必将随之水涨船高。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年甲公司的利润是否逐季度上升与甲公司销售经理预测的未来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N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国烘焙食品行业市场规模、利润及甲公司利润无关，对评价甲公司销售经理的预测不重要。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项，如果行业市场规模增长必然带来利润增长，那么由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N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国烘焙食品行业市场规模持续增长可以推出整个行业利润持续增长，甲公司利润也可能水涨船高，则该销售经理预测成立；反之则不成立。该项对评价甲公司销售经理的预测重要。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项，如果整个行业发展趋势可以代表其中个体的发展趋势，那么由整个行业规模及利润增长可以推出甲公司利润增长，则该销售经理预测成立；反之则不成立。该项对评价甲公司销售经理的预测重要。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项，如果分析师对于烘焙市场规模的预测是可靠的，那么基于此做出的关于行业和甲公司利润增长的预测就是可靠的，则该销售经理预测成立；反之则不一定成立。该项对评价甲公司销售经理的预测重要。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【解析】题干要支持的观点：未来五年内，乙公司仍是一家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N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国规模领先的烘焙类食品企业。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项，营收利润率是指净利润与营收的比率，反映的是企业的盈利能力，与规模没有必然关系，不能支持题干观点。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项，营收增速是衡量企业成长性和市场竞争力的重要指标，该项指标高于同类企业，意味着其营收增长比竞争对手更快。乙公司当前已经是一家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N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国规模领先的企业，且未来营收增速持续高于同行，则其领先地位将更加稳固或扩大，能支持题干观点。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项，指出未来五年内，乙公司烘焙业务营收占主营业务的比重提高，公司内部业务结构调整与公司规模在整个行业中的地位无关，不能支持题干观点。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项，指出未来五年内，乙公司将开设自主电商平台以提高产品销量，但实际提升销量的效果并不确定，不能支持题干观点。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【解析】题干结论：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年前三季度，甲公司的平均每笔成交金额高于乙公司。论据：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年前三季度，甲公司实现营收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50.66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亿元，乙公司实现营收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45.82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亿元。平均每笔成交金额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=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营收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÷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销售笔数，已知两个公司的营收，要求平均每笔成交金额，需要知道两个公司的销售笔数。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项，指出甲公司的销售笔数少于乙公司，结合论据甲公司的营收高于乙公司，则可以得到甲公司的平均每笔成交金额高于乙公司，能推出题干结论。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项，由单价无法推出两个公司的销售笔数，不能推出题干结论。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项，门店所在位置与销售笔数无关，不能推出题干结论。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项，食材成本与成交笔数无关，不能推出题干结论。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7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8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3" name="图片 12" descr="徽标&#10;&#10;AI 生成的内容可能不正确。"/>
          <p:cNvPicPr>
            <a:picLocks noChangeAspect="1"/>
          </p:cNvPicPr>
          <p:nvPr userDrawn="1"/>
        </p:nvPicPr>
        <p:blipFill>
          <a:blip r:embed="rId10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117600" y="8475133"/>
            <a:ext cx="3657600" cy="486833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385632" y="6176859"/>
            <a:ext cx="351972" cy="35898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DEE0B-E009-AE44-A6AE-F10FE1D5839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D480-A6AF-3D48-9E05-C49B5442FA82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0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9" Type="http://schemas.openxmlformats.org/officeDocument/2006/relationships/tags" Target="../tags/tag30.xml"/><Relationship Id="rId28" Type="http://schemas.openxmlformats.org/officeDocument/2006/relationships/tags" Target="../tags/tag29.xml"/><Relationship Id="rId27" Type="http://schemas.openxmlformats.org/officeDocument/2006/relationships/tags" Target="../tags/tag28.xml"/><Relationship Id="rId26" Type="http://schemas.openxmlformats.org/officeDocument/2006/relationships/tags" Target="../tags/tag27.xml"/><Relationship Id="rId25" Type="http://schemas.openxmlformats.org/officeDocument/2006/relationships/tags" Target="../tags/tag26.xml"/><Relationship Id="rId24" Type="http://schemas.openxmlformats.org/officeDocument/2006/relationships/tags" Target="../tags/tag25.xml"/><Relationship Id="rId23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DC5037">
                <a:alpha val="42000"/>
              </a:srgbClr>
            </a:gs>
            <a:gs pos="67000">
              <a:srgbClr val="DC5037">
                <a:alpha val="1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43188" y="2364919"/>
            <a:ext cx="657664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事业单位联考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（补充）</a:t>
            </a:r>
            <a:b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4561" y="425301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000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主讲老师：桑桑老师</a:t>
            </a:r>
            <a:endParaRPr kumimoji="1" lang="zh-CN" altLang="en-US" sz="2000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61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从所给的四个选项中，选择最合适的一个填在问号处，使之呈现一定的规律性（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  <p:pic>
        <p:nvPicPr>
          <p:cNvPr id="17" name="图片 5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7430" y="1440180"/>
            <a:ext cx="4401185" cy="4759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63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用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12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个相同的白色正方体和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个相同的黑色正方体搭建成一个多面体，其左视图和主视图如下所示，问以下哪项可能是其正确的俯视图？（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  <p:pic>
        <p:nvPicPr>
          <p:cNvPr id="18" name="图片 6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915" y="2061845"/>
            <a:ext cx="11704955" cy="20237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" name="图片 7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185" y="4249420"/>
            <a:ext cx="3966845" cy="19786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65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下图中，左边的多面体由相同大小的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15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个白色和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个灰色正方体组合而成，其可以拆分为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①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、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②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和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③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，问以下哪项能填入问号处？（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  <p:pic>
        <p:nvPicPr>
          <p:cNvPr id="24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465" y="1904365"/>
            <a:ext cx="7848600" cy="3935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图片 13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4625" y="3143250"/>
            <a:ext cx="2620010" cy="24930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70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82777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2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害虫的天敌可抑制其繁殖。目前，用于生物防治（利用一种生物对付另一种生物的方法）的生物按其消灭害虫方式的不同可分为三类。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）捕食性天敌：以某种害虫为食的昆虫，其可以直接蚕食虫体的一部分或全部，也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可刺入害虫体内吸食害虫体液致其死亡；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）寄生性天敌：寄生于害虫体内或体外，或在害虫所造成的披盖物内取食，抑制害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虫繁殖；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）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昆虫病原微生物：对害虫具有致病性的微生物，包括细菌、病毒、真菌等。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根据上述定义，下列对应正确的是：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畸螯螨捕获害虫红蜘蛛后，会立即将口器插入红蜘蛛体内，吸食其体液直至抽干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——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）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幼虫期的草蛉捕获害虫白粉虱后，会将自己的消化液流到白粉虱身上，溶解并食用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它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——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）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白僵菌可侵入害虫茶小绿叶蝉体内大量繁殖，产生白僵素、卵孢霉素等引起害虫中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毒死亡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——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）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刻绒茧蜂的幼虫会在毛毛虫体内发育，以其身体组织为食，在发育成熟后钻出体外，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毛毛虫最终因饥饿而亡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——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）</a:t>
            </a:r>
            <a:endParaRPr lang="zh-CN" altLang="en-US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74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换药台：治疗室：医院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电话：前台：宾馆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食堂：教室：学校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站台：高铁：火车站</a:t>
            </a:r>
            <a:endParaRPr lang="en-US" altLang="zh-CN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观众：展厅：博物馆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75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末速度：速度增量：初速度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高度：落差：深度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等高线：坡度：等高距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收缩压：血压：舒张压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降水量：径流量：蒸发量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79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财富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对于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   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相当于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知识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对于（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黄金；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理想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勤劳；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高尚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无形；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有形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贫穷；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愚昧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82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味觉感受影响动物的摄食决策。某研究团队发现，在为野生型果蝇同时提供中性和碱性食物时，它们绝大多数选择中性食物，而回避对身体有害的碱性食物。由于果蝇舌头上含有一个名为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Alka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的味觉受体，其在碱性条件下会激活味觉受体神经元上的氯离子通道，使氯离子由细胞内流至细胞外。因此，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Alka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味觉受体会使野生型果蝇产生回避碱性食物的行为。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得出上述结论需要补充的前提是：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A.pH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值能衡量食物的酸度或碱度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氯离子的流动将诱发果蝇产生回避行为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回避碱性食物可帮助果蝇避免摄入其中的病原体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其他动物也存在类似的味觉受体，也会选择食物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82745" y="3073400"/>
            <a:ext cx="7805420" cy="11703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论点：</a:t>
            </a:r>
            <a:r>
              <a:rPr lang="en-US" altLang="zh-CN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Alka</a:t>
            </a:r>
            <a:r>
              <a:rPr lang="zh-CN" altLang="en-US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味觉受体会使野生型果蝇产生回避碱性食物的行为。</a:t>
            </a:r>
            <a:endParaRPr lang="zh-CN" altLang="en-US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论据：果蝇舌头上含有一个名为</a:t>
            </a:r>
            <a:r>
              <a:rPr lang="en-US" altLang="zh-CN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Alka</a:t>
            </a:r>
            <a:r>
              <a:rPr lang="zh-CN" altLang="en-US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的味觉受体，其在碱性条件下会激活味觉受体神经元上的氯离子通道，使氯离子由细胞内流至细胞外。</a:t>
            </a:r>
            <a:endParaRPr lang="zh-CN" altLang="en-US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83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研究者收集了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2005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～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2016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年间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R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国全民用药记录，并与相关治疗方案进行了对照分析。结果表明，尽管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588.7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万患者在此期间的总体治疗依从率为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54.4%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，但在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14.9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万名医生及其亲友这一人群中，对应数值却要低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3.8%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，尤其是在抗生素的治疗依从率上，二者差距达到了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5.2%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以下哪项如果为真，最能解释上述结果？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医生的水平有差异，普通患者无法判断，只能严格地按照治疗方案用药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滥用抗生素会降低人体的免疫力，医生对自己是否使用抗生素心存疑虑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医生的治疗方案经常受到一部分患者的质疑，导致治疗依从率整体不高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医生对自身和亲友的病情变化有更具体的了解，会及时地调整治疗方案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52795" y="2675890"/>
            <a:ext cx="5706745" cy="450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30000"/>
              </a:lnSpc>
            </a:pPr>
            <a:r>
              <a:rPr lang="zh-CN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医生及其亲友的治疗依从率低于总体治疗依从率</a:t>
            </a:r>
            <a:endParaRPr lang="zh-CN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85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某地区对居民手机应用程序（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App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）的下载情况进行调查统计。与去年同期相比，今年一季度居民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App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下载量明显增加，游戏类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App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下载量增幅最大，下载量占当季全部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App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下载总量的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30%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，社交通信类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App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下载量增幅最小，下载量占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5%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。有人据此认为：该地区居民对于游戏的需求正日渐增加，对于社交通信的需求则有所减少。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以下哪项如果为真，最能削弱上述观点？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当地居民一季度使用社交通信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App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的时长及其增幅高于游戏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一些游戏类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App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会内嵌社交通信功能，满足居民多样化需求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今年一季度该地区上线的手机应用程序总量同比减少了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10%</a:t>
            </a:r>
            <a:endParaRPr lang="en-US" altLang="zh-CN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游戏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App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下载量集中在年轻群体，社交通信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App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覆盖群体更广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26635" y="2675890"/>
            <a:ext cx="7293610" cy="810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30000"/>
              </a:lnSpc>
            </a:pPr>
            <a:r>
              <a:rPr lang="zh-CN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论点：</a:t>
            </a:r>
            <a:r>
              <a:rPr lang="zh-CN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该地区居民对游戏的需求增加，对社交通信的需求减少。</a:t>
            </a:r>
            <a:endParaRPr lang="zh-CN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  <a:p>
            <a:pPr indent="0" fontAlgn="auto">
              <a:lnSpc>
                <a:spcPct val="130000"/>
              </a:lnSpc>
            </a:pPr>
            <a:r>
              <a:rPr lang="zh-CN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论据：游戏类</a:t>
            </a:r>
            <a:r>
              <a:rPr lang="en-US" altLang="zh-CN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App</a:t>
            </a:r>
            <a:r>
              <a:rPr lang="zh-CN" altLang="en-US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下载量增幅大，社交通信类</a:t>
            </a:r>
            <a:r>
              <a:rPr lang="en-US" altLang="zh-CN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App</a:t>
            </a:r>
            <a:r>
              <a:rPr lang="zh-CN" altLang="en-US" dirty="0">
                <a:solidFill>
                  <a:srgbClr val="FF0000"/>
                </a:solidFill>
                <a:effectLst/>
                <a:cs typeface="楷体" panose="02010609060101010101" charset="-122"/>
                <a:sym typeface="+mn-ea"/>
              </a:rPr>
              <a:t>下载量增幅小</a:t>
            </a:r>
            <a:endParaRPr lang="zh-CN" altLang="en-US" dirty="0">
              <a:solidFill>
                <a:srgbClr val="FF0000"/>
              </a:solidFill>
              <a:effectLst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87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这次运动会高二（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）班学生参加的项目都获得了奖牌，晓佳是高二（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）班的学生，并且参加了这次运动会，所以晓佳获得了奖牌。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以下哪项与上述论证的错误最为类似？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居民要遵守社会公德，小区广场是公共场所，所以小陈不该在小区广场遛狗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某微信群的氛围很和谐，小刘和小陈都在群中，所以他们平时聊得一定很愉快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苏东县是全国闻名的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杨梅之乡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，东山镇是苏东县的，所以东山镇一定盛产杨梅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初三（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）班的学生都达到了市重点高中分数线，小刘是初三（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）班的，所以他将被市重点高中录取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88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根据以下材料，回答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88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～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90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题。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资料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：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2023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年烘焙食品行业总体市场规模达到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4287.8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亿美元，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年市场规模进一步增长。有分析师预测，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2025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年将超过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4500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亿美元。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资料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：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2023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N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国烘焙食品行业市场规模达到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2874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亿元，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年市场规模进一步增长。有分析师预测，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2025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年将超过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3300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亿元。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资料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：甲公司是一家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N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国知名面包企业，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年前三季度，甲公司实现营收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50.66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亿元，同比增长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0.77%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；主营业务方面，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年上半年，面包及糕点业务实现营收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31.54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亿元，占比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98.38%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资料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：乙公司是一家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N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国规模领先的烘焙类食品企业。公司连续多年位列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N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国主流电商渠道烘焙类月销量第一。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年前三季度，乙公司实现营收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45.82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亿元，同比增长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14.07%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；主营业务方面，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年上半年，乙公司的烘焙业务实现营收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4.386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亿元，占比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17.53%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88.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根据上述资料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～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，甲公司销售经理预测，未来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5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N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国烘焙食品行业市场规模将持续增长，整个行业的利润也将持续增长，甲公司利润必将随之水涨船高。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以下哪项的回答对评价甲公司销售经理的预测最不重要？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A.2025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年，甲公司的利润是否会逐季度上升？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行业市场规模的增长是否必然带来利润的增长？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整个行业的发展趋势，其中的个体一定符合吗？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分析师对于烘焙市场规模的预测，是可靠的吗？</a:t>
            </a:r>
            <a:endParaRPr lang="zh-CN" altLang="en-US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89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根据以下材料，回答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88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～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90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题。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资料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：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2023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年烘焙食品行业总体市场规模达到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4287.8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亿美元，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年市场规模进一步增长。有分析师预测，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2025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年将超过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4500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亿美元。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资料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：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2023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N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国烘焙食品行业市场规模达到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2874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亿元，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年市场规模进一步增长。有分析师预测，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2025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年将超过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3300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亿元。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资料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：甲公司是一家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N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国知名面包企业，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年前三季度，甲公司实现营收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50.66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亿元，同比增长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0.77%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；主营业务方面，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年上半年，面包及糕点业务实现营收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31.54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亿元，占比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98.38%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资料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：乙公司是一家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N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国规模领先的烘焙类食品企业。公司连续多年位列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N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国主流电商渠道烘焙类月销量第一。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年前三季度，乙公司实现营收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45.82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亿元，同比增长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14.07%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；主营业务方面，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年上半年，乙公司的烘焙业务实现营收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4.386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亿元，占比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17.53%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89.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以下哪项如果为真，最能支持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“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未来五年内，乙公司仍是一家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N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国规模领先的烘焙类食品企业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”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？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未来五年内，乙公司烘焙类食品营收利润率保持行业第一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未来五年内，乙公司烘焙类食品营收增速均高于同类企业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未来五年内，乙公司烘焙业务营收占主营业务的比重将持续提高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未来五年内，乙公司将开设自主电商平台以进一步提高产品销量</a:t>
            </a:r>
            <a:endParaRPr lang="zh-CN" altLang="en-US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90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根据以下材料，回答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88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～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90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题。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资料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：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2023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年烘焙食品行业总体市场规模达到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4287.8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亿美元，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年市场规模进一步增长。有分析师预测，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2025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年将超过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4500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亿美元。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资料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：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2023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N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国烘焙食品行业市场规模达到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2874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亿元，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年市场规模进一步增长。有分析师预测，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2025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年将超过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3300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亿元。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资料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：甲公司是一家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N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国知名面包企业，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年前三季度，甲公司实现营收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50.66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亿元，同比增长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0.77%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；主营业务方面，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年上半年，面包及糕点业务实现营收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31.54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亿元，占比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98.38%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dirty="0">
                <a:cs typeface="微软雅黑" panose="020B0503020204020204" charset="-122"/>
                <a:sym typeface="+mn-ea"/>
              </a:rPr>
              <a:t>资料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：乙公司是一家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N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国规模领先的烘焙类食品企业。公司连续多年位列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N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国主流电商渠道烘焙类月销量第一。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年前三季度，乙公司实现营收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45.82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亿元，同比增长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14.07%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；主营业务方面，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2024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年上半年，乙公司的烘焙业务实现营收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4.386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亿元，占比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17.53%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。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90.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以下哪项如果为真，能够推出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“2024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年前三季度，甲公司的平均每笔成交金额高于乙公司</a:t>
            </a:r>
            <a:r>
              <a:rPr lang="en-US" altLang="zh-CN" dirty="0">
                <a:cs typeface="微软雅黑" panose="020B0503020204020204" charset="-122"/>
                <a:sym typeface="+mn-ea"/>
              </a:rPr>
              <a:t>”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？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甲公司的销售笔数少于乙公司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甲公司产品的单价高于乙公司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甲公司的门店更多地开在高档社区</a:t>
            </a:r>
            <a:endParaRPr lang="zh-CN" altLang="en-US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dirty="0">
                <a:cs typeface="微软雅黑" panose="020B0503020204020204" charset="-122"/>
                <a:sym typeface="+mn-ea"/>
              </a:rPr>
              <a:t>甲公司产品的食材成本高于乙公司</a:t>
            </a:r>
            <a:endParaRPr lang="zh-CN" altLang="en-US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1.xml><?xml version="1.0" encoding="utf-8"?>
<p:tagLst xmlns:p="http://schemas.openxmlformats.org/presentationml/2006/main">
  <p:tag name="resource_record_key" val="{&quot;13&quot;:[20481828,4364903,4364924],&quot;65&quot;:[20205081]}"/>
  <p:tag name="COMMONDATA" val="eyJoZGlkIjoiYzg3MDM0ZWQ4YjU1N2M3YWUwMzk3ZjZkYThmOGJjZ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3635</Words>
  <Application>WPS 演示</Application>
  <PresentationFormat>宽屏</PresentationFormat>
  <Paragraphs>141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微软雅黑 Light</vt:lpstr>
      <vt:lpstr>Wingdings</vt:lpstr>
      <vt:lpstr>Arial Unicode MS</vt:lpstr>
      <vt:lpstr>楷体</vt:lpstr>
      <vt:lpstr>Office 主题​​</vt:lpstr>
      <vt:lpstr>WPS</vt:lpstr>
      <vt:lpstr>PowerPoint 演示文稿</vt:lpstr>
      <vt:lpstr>题61</vt:lpstr>
      <vt:lpstr>题63</vt:lpstr>
      <vt:lpstr>题65</vt:lpstr>
      <vt:lpstr>题70</vt:lpstr>
      <vt:lpstr>题74</vt:lpstr>
      <vt:lpstr>题75</vt:lpstr>
      <vt:lpstr>题79</vt:lpstr>
      <vt:lpstr>题82</vt:lpstr>
      <vt:lpstr>题83</vt:lpstr>
      <vt:lpstr>题85</vt:lpstr>
      <vt:lpstr>题87</vt:lpstr>
      <vt:lpstr>题88</vt:lpstr>
      <vt:lpstr>题89</vt:lpstr>
      <vt:lpstr>题90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196</cp:revision>
  <dcterms:created xsi:type="dcterms:W3CDTF">2019-06-19T02:08:00Z</dcterms:created>
  <dcterms:modified xsi:type="dcterms:W3CDTF">2025-08-05T03:50:28Z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7E0F0589F6D94CFE8A4BC2AEA01394FF_11</vt:lpwstr>
  </property>
</Properties>
</file>