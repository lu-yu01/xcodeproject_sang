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24"/>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9" r:id="rId19"/>
    <p:sldId id="1380" r:id="rId20"/>
    <p:sldId id="1381" r:id="rId21"/>
    <p:sldId id="1382" r:id="rId22"/>
    <p:sldId id="992" r:id="rId23"/>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gs" Target="tags/tag3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观察发现，题干图形均由三个白块和一个黑块拼接而成，考虑图形间关系。观察发现，题干图形中黑块与图形外框均相交于</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条边，而且相交边的位置从左至右每次按照逆时针方向平移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条边，故？处应选择由黑块与图形外框相交于</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条边且相交边在外框右侧的图形，只有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题干图形中黑块以从左上往右下的斜线方向进行平移，依次沿斜线下移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格，按照循环的平移路径进行，故？处应选择由前一幅图形中黑块继续沿从左上往右下的斜线平移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格，循环走的图形，只有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基于互联网的相关服务的增加、使用和自主交互模式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通过互联网来提供动态易扩展且经常是虚拟化的资源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项：某网络搜索公司提供海量风景图片，可以供用户下载，用户仅仅可以下载图片，无法完成自主交互，不符合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基于互联网的相关服务的增加、使用和自主交互模式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项：某平台为付费客户提供文件的网络备份、同步和分享服务，实现了客户的信息交互，符合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基于互联网的相关服务的增加、使用和自主交互模式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项：某照相馆将合成的云彩图片投放到电子幕墙上供客户拍摄使用，并非通过互联网，不符合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通过互联网来提供动态易扩展且经常是虚拟化的资源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项：某图书馆在馆内终端设备上提供数字化文献供研究人员查询、浏览，研究人员仅仅可以查询、浏览数字化文献，不符合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基于互联网的相关服务的增加、使用和自主交互模式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在生产活动发生变化前，超前出现的指标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因为它先于生产活动而发生变化，可用于判断短期内生产活动的景气状况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项：就业合同履约率与生产活动无关，它主要受用人单位和劳动者的双方面、多因素影响，无法用于判断生产活动的景气情况，不符合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在生产活动发生变化前，超前出现的指标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因为它先于生产活动而发生变化，可用于判断短期内生产活动的景气状况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项：消费者信心指数，是出现在生产活动发生变化之前的指标，且通过消费者信心指数可以判断短期内生产活动的景气状况，符合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在生产活动发生变化前，超前出现的指标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因为它先于生产活动而发生变化，可用于判断短期内生产活动的景气状况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项：新开工项目计划总投资，是出现在项目生产活动发生变化之前的，且可以将计划总投资用于判断短期内项目生产活动的景气状况，符合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在生产活动发生变化前，超前出现的指标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因为它先于生产活动而发生变化，可用于判断短期内生产活动的景气状况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项：房屋建造许可证的批准数量，是出现在房屋建造生产活动发生变化之前的，且可以将房屋建造许可证的批准数量用于判断短期内房屋建造生产活动的景气状况，符合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在生产活动发生变化前，超前出现的指标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因为它先于生产活动而发生变化，可用于判断短期内生产活动的景气状况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运用科学的方法，针对科学技术和现代生产发展等产生的种种社会现象及其发展趋势所进行的分析、预见和设想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利用社会发展的规律，控制社会发展的趋势，预防社会发展中的不良后果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回归分析方法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是科学的方法，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人口变化趋势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是社会现象，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研究人口数量、经济社会变量对人口变化趋势的影响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是对社会现象的发展趋势进行分析，符合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运用科学的方法，针对科学技术和现代生产发展等产生的种种社会现象及其发展趋势所进行的分析、预见和设想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利用社会发展的规律，控制社会发展的趋势，预防社会发展中的不良后果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分析预测经济转折的动向指标和警戒指标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是科学的方法，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经济形势变化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是社会现象，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研究未来经济形势变化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是对社会现象的发展趋势进行预见，符合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运用科学的方法，针对科学技术和现代生产发展等产生的种种社会现象及其发展趋势所进行的分析、预见和设想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利用社会发展的规律，控制社会发展的趋势，预防社会发展中的不良后果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某一地区气象灾害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是自然现象而非社会现象，不符合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运用科学的方法，针对科学技术和现代生产发展等产生的种种社会现象及其发展趋势所进行的分析、预见和设想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对文化产业结构中各个元素的经济基础、技术发展等进行综合评估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是科学的方法，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文化市场形态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是社会现象，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判断未来文化市场形态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是对社会现象的发展趋势进行预见，符合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运用科学的方法，针对科学技术和现代生产发展等产生的种种社会现象及其发展趋势所进行的分析、预见和设想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利用社会发展的规律，控制社会发展的趋势，预防社会发展中的不良后果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【解析】信息基础设施：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基于新一代信息技术演化生成的基础设施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融合基础设施：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深度应用互联网、大数据、人工智能等技术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支撑传统基础设施转型升级而形成的基础设施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创新基础设施：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支撑科学研究、技术开发、产品研制的具有公益属性的基础设施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项：能源基础设施（电网系统、油气管道系统、发电设施）是传统基础设置，未体现互联网、大数据、人工智能技术的应用，不符合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深度应用互联网、大数据、人工智能等技术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，不符合融合基础设施定义，排除；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项：科教基础设施（科技基础设施、科教基础设施、产业技术创新基础设施）是具有公益属性的基础设施，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支撑科学研究、技术开发、产品研制的具有公益属性的基础设施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，符合创新基础设施，未体现互联网、大数据、人工只能能技术的应用符合，不符合融合基础设施定义，排除；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智慧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体现了互联网、大数据、人工智能技术的应用，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交通基础设施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是传统基础设施，智慧交通基础设施符合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深度应用互联网、大数据、人工智能等技术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支撑传统基础设施转型升级而形成的基础设施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，符合重合基础设施定义，当选；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项：通信网络基础设符合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基于新一代信息技术演化生成的基础设施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，符合信息基础设施定义，不符合融合基础设施定义，排除。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【解析】供应短缺可能导致价格上升，二者为因果对应关系。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项：经济发展和时间流逝，二者没有明显的逻辑关系，与题干逻辑关系不一致，排除；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项：油耗增加和制动迟缓是两种不同的汽车问题，二者为并列关系，与题干逻辑关系不一致，排除；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项：自我陶醉是过于自信的意思，和自信缺乏，二者是反义关系，与题干逻辑关系不一致，排除；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项：信息泄露可能导致财产损失，二者为因果对应关系，与题干逻辑关系一致，当选。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【解析】蜡染是用蜡刀蘸熔蜡绘花于布后以蓝靛浸染，既染去蜡，布面就呈现出蓝底白花或白底蓝花的多种图案。蜡染是一种制作印花的工艺，经过蜡染可以得到花布，三者为对应关系。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项：描金指在漆器表面，用金色描绘花纹的装饰方法。描金是一种制作花纹的工艺，经过描金可以得到漆器，三者为对应关系，与题干逻辑关系一致，当选；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用漆涂在各种器物的表面上所制成的日常器具及工艺品、美术品等，一般称为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漆器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项：浇铸是将熔融的金属倒入模具中来制造产品的一种工艺，经过浇铸得到的是钢管而不是模具，与题干逻辑关系不一致，排除；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项：使用平刀通过切削将材料制作成雕塑，三者为成品、工艺、工具的对应关系，与题干逻辑关系不一致，排除；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项：提纯是指将混合物中的杂质分离出来以此提高其纯度，提纯是去除杂质的工艺而不是制作杂质的工艺，与题干逻辑关系不一致，排除。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【解析】司机通过考试获得驾照，三者为主体、方式、目的对应关系。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项：猎人打猎，二者为主谓关系，猎人使用猎枪，二者为工具对应关系，与题干逻辑关系不一致，排除；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项：老师上课，二者为主谓关系，上课是一种培训方式，二者为种属关系，与题干逻辑关系不一致，排除；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项：专家通过接受咨询获得报酬，三者为主体、方式、目的对应关系，与题干逻辑关系一致，当选；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项：保安工作，二者为主谓关系，保安在银行工作，二者为地点对应关系，与题干逻辑关系不一致，排除。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【解析】论点：边角料零食低廉的价格迎合了当代年轻人追求性价比的消费观。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论据：据统计，仅</a:t>
            </a:r>
            <a:r>
              <a:rPr lang="en-US" altLang="zh-CN" sz="1200" kern="1200" dirty="0">
                <a:solidFill>
                  <a:schemeClr val="tx1"/>
                </a:solidFill>
                <a:effectLst/>
                <a:latin typeface="+mn-lt"/>
                <a:sym typeface="+mn-ea"/>
              </a:rPr>
              <a:t>2022</a:t>
            </a:r>
            <a:r>
              <a:rPr lang="zh-CN" altLang="en-US" sz="1200" kern="1200" dirty="0">
                <a:solidFill>
                  <a:schemeClr val="tx1"/>
                </a:solidFill>
                <a:effectLst/>
                <a:latin typeface="+mn-lt"/>
                <a:sym typeface="+mn-ea"/>
              </a:rPr>
              <a:t>年一季度，某头部电商平台边角料零食销售额就超过</a:t>
            </a:r>
            <a:r>
              <a:rPr lang="en-US" altLang="zh-CN" sz="1200" kern="1200" dirty="0">
                <a:solidFill>
                  <a:schemeClr val="tx1"/>
                </a:solidFill>
                <a:effectLst/>
                <a:latin typeface="+mn-lt"/>
                <a:sym typeface="+mn-ea"/>
              </a:rPr>
              <a:t>2000</a:t>
            </a:r>
            <a:r>
              <a:rPr lang="zh-CN" altLang="en-US" sz="1200" kern="1200" dirty="0">
                <a:solidFill>
                  <a:schemeClr val="tx1"/>
                </a:solidFill>
                <a:effectLst/>
                <a:latin typeface="+mn-lt"/>
                <a:sym typeface="+mn-ea"/>
              </a:rPr>
              <a:t>万元，同比增长</a:t>
            </a:r>
            <a:r>
              <a:rPr lang="en-US" altLang="zh-CN" sz="1200" kern="1200" dirty="0">
                <a:solidFill>
                  <a:schemeClr val="tx1"/>
                </a:solidFill>
                <a:effectLst/>
                <a:latin typeface="+mn-lt"/>
                <a:sym typeface="+mn-ea"/>
              </a:rPr>
              <a:t>1749.23%</a:t>
            </a:r>
            <a:r>
              <a:rPr lang="zh-CN" altLang="en-US" sz="1200" kern="1200" dirty="0">
                <a:solidFill>
                  <a:schemeClr val="tx1"/>
                </a:solidFill>
                <a:effectLst/>
                <a:latin typeface="+mn-lt"/>
                <a:sym typeface="+mn-ea"/>
              </a:rPr>
              <a:t>。在正规渠道销售卖的边角料零食食品生产许可证号、执行标准、厂家信息完整，消费者可放心购买。不仅如此，边角料零食价格便宜，其价格通常仅为正常零食的一半。</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项：该项说明不少年轻人购买边角料零食是觉得新鲜、好奇，提出了年轻人购买边角料是因为新鲜和好奇，即年轻人购买边角料零食不是因为追求性价比的消费观，否定论点，可以削弱，排除；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项：该项说明会过日子又很时髦是当代很多年轻人的生活方式，这种生活方式与是否购买边角料零食无关，不能削弱，当选；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项：该项说明很多年轻人在购买边角料零食时并没有比对价格，即年轻人购买边角料零食不是因为追求性价比的消费观，否定论点，可以削弱，排除；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项：该项说明不少年轻人购买边角料零食是为了在社交平台上展示，即年轻人购买边角料零食不是因为追求性价比的消费观，否定论点，可以削弱，排除。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【解析】论点：他们的数感不好。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论据：做简单的数学运算还需要数手指。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题干的提问方式是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最能缓解上述老师的担忧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，说明需要在选项中找出削弱项，本题论点论据话题不一致，削弱优先考虑拆桥，即需说明数学运算需要数手指与数感不好没有必然联系。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项：该项说明数感的培养离不开工具的使用，手指恰是计算时方便好用的工具，即用手指做数学运算是培养数感的表现，为拆桥项，可以削弱，当选；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项：该项说明人类早期开始计数就在使用一切方便易得的工具帮助计算数量，但与数学运算用到手指和数感之间的关系无关，不能削弱，排除；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项：该项说明孩童时期手指是用的越熟练，将来手部的精细动作会发展得越好，但与数感无关，不能削弱，排除；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项：该项说明孩子们计算时即便没有数手指，也会在大脑中想象出手指的形象，但不明确想象手指计算与数感好坏是否有关，不能削弱，排除。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庚党参且庚当归</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庚黄精戊当归</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己三七或辛三七戊党参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可知，庚斗柜中装的应是黄精或三七，由于题干信息不确定，考虑采用假设法。假设庚黄精，根据条件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肯前必肯后得到戊当归。戊当归是对条件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否后，否后必否前，可知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己三七且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辛三七。由于庚黄精、戊当归且每个斗柜只装一味中药，此时三七没有可以装的斗柜，则该假设与题干矛盾，所以该假设不成立，故庚斗柜中装的只能是三七。</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【解析】论点：故上元节要燃灯。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论据：道教以农历正月十五日为上元节，七月十五日为中元节，十月十五日为下元节。主管三元的分别为天、地、人三官，天官喜乐。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论据为天官主管上元节且喜乐，论点为上元节要燃灯，论点论据话题不一致，加强优先考虑搭桥，即建立喜乐和燃灯之间的联系。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项：选项指出元宵节张灯结彩是为了显示喜庆，建立了喜乐和燃灯之间的联系，为搭桥项，可以支持，当选；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项：选项指出元宵节灯火通明是因为观佛舍利，是佛教起源说，无法支持道教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项：选项指出元宵节当天花灯夜放星月同辉，与天官喜乐故要燃灯无关，为无关项，无法支持道教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项：选项指出元宵节点燃万家灯火，（皇帝）与民同乐，是汉文帝诛乱说，无法支持道教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）佛教起源说指出元宵赏灯习俗始于东汉明帝时期皇宫和寺庙点灯敬佛，（</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）道教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说指出上元节要燃灯，讨论话题不一致，二者不构成矛盾，排除；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）佛教起源说指出元宵赏灯习俗始于东汉明帝时期皇宫和寺庙点灯敬佛，此后元宵节成为民间盛大的节日，（</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）祀太一神之俗指出汉武帝在正月上旬的辛日举行祭祀典礼，在汉武帝创建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太初历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时，元宵节已被确定为重大节日，东汉明帝在公元</a:t>
            </a:r>
            <a:r>
              <a:rPr lang="en-US" altLang="zh-CN" sz="1200" kern="1200" dirty="0">
                <a:solidFill>
                  <a:schemeClr val="tx1"/>
                </a:solidFill>
                <a:effectLst/>
                <a:latin typeface="+mn-lt"/>
                <a:sym typeface="+mn-ea"/>
              </a:rPr>
              <a:t>57</a:t>
            </a:r>
            <a:r>
              <a:rPr lang="zh-CN" altLang="en-US" sz="1200" kern="1200" dirty="0">
                <a:solidFill>
                  <a:schemeClr val="tx1"/>
                </a:solidFill>
                <a:effectLst/>
                <a:latin typeface="+mn-lt"/>
                <a:sym typeface="+mn-ea"/>
              </a:rPr>
              <a:t>年</a:t>
            </a:r>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年在位，而汉武帝在公元前</a:t>
            </a:r>
            <a:r>
              <a:rPr lang="en-US" altLang="zh-CN" sz="1200" kern="1200" dirty="0">
                <a:solidFill>
                  <a:schemeClr val="tx1"/>
                </a:solidFill>
                <a:effectLst/>
                <a:latin typeface="+mn-lt"/>
                <a:sym typeface="+mn-ea"/>
              </a:rPr>
              <a:t>141</a:t>
            </a:r>
            <a:r>
              <a:rPr lang="zh-CN" altLang="en-US" sz="1200" kern="1200" dirty="0">
                <a:solidFill>
                  <a:schemeClr val="tx1"/>
                </a:solidFill>
                <a:effectLst/>
                <a:latin typeface="+mn-lt"/>
                <a:sym typeface="+mn-ea"/>
              </a:rPr>
              <a:t>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a:t>
            </a:r>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年在位，时间冲突，二者构成矛盾，当选；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）道教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说指出上元节燃灯习俗的由来是因为天官喜乐，燃灯显示喜庆，（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）汉文帝诛乱说指出元宵节当夜皇帝会出宫游玩，与民同乐，起源说法一为宗教，一为历史事件，二者不构成矛盾，排除；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）汉文帝诛乱说指出元宵节当夜皇帝会出宫游玩，与民同乐，（</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）祀太一神之俗指出汉代会在上元节当夜祭祀太一神，起源说法一为历史事件，一为神话，二者不构成矛盾，排除。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【解析】由（</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）文段描述可知，元宵节已经有了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的叫法，且由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是夜放官女数千人观灯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从正月十四至十六日三夜均放灯，后增至五夜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元宵节不仅灯火辉煌，且有歌舞百戏填充街巷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，可知其描述的上元节的风俗主要有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放灯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歌舞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，节日当天是非常喜庆欢乐的。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项：佛教起源说中的主要风俗是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，节日氛围应该是庄严神圣的，而（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）中节日氛围是喜庆欢乐的，也不涉及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，且佛教起源说没有提到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这一叫法，因此（</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）不能支持佛教起源说，排除；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项：祀太一神之俗中的主要风俗是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昏时夜祠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僮男僮女七十人俱歌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祭祀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唱歌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，节日氛围应该是庄严神圣的，而（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）中节日氛围是喜庆欢乐的，也不涉及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祭祀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，且祀太一神之俗没有提到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这一叫法，因此（</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）不能支持祀太一神之俗，排除；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项：汉文帝诛乱说主要是汉文帝为庆祝平乱而在元宵节出宫游玩，与民同乐，没有涉及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点灯、歌舞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的习俗，且（</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）中不涉及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平乱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）不能支持汉文帝诛乱说，排除；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项：道教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说提到了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道教以农历正月十五日为上元节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天官喜乐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上元节要燃灯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的叫法、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放灯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的习俗、喜庆欢乐的节日氛围都是匹配的，因此（</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）补充论据，能支持道教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【解析】论点：元宵节不应放假。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论据：元宵节不属于国家法定假日。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本题的论点是在讨论元宵节不应该放假，论据是在讨论元宵节不是国家法定假日。论点和论据的话题不一致，加强优先考虑搭桥，且搭桥方向为论据指向论点，即不是法定的事不应该做的事。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项：说明法律允许的都是应该的，建立了法律允许的事和应该做的事之间的联系，但搭桥方向反了，排除；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项：只有法律规定的才是应该的，建立了法律规定的事和应该做的事之间的联系，为搭桥项，且搭桥方向正确，当选；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项：只有法律禁止的才是不应该的，建立了法律规定的事和应该做的事之间的联系，但搭桥方向反了，排除；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项：说明有些不应该的事情法律并未禁止，话题不一致，无法加强，排除。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【解析】论点：元宵节应该放假。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论据：如果放假一天，人们就有更多的时间去参与元宵节活动，感受中华传统文化的魅力从而增强文化认同和文化自信。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本题的论点是在讨论元宵节应该放假，论据是在讨论放假可以参加元宵节活动从而增强文化认同和文化自信。论点和论据的话题不一致，加强优先考虑搭桥，即建立增强文化认同和文化自信和放假之间的联系。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项：说明不放假人们很难有时间参加元宵节活动，但没时间参加活动与增强文化认同和文化自信无关，无法加强，排除；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项：说明放假一天可延长春节团聚的时间，但延长春节团聚的时间与增强文化认同和文化自信无关，无法加强，排除；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项：说明有利于增强文化认同和文化自信的日子都应该放假，建立了论据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元宵节能增强文化认同和文化自信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与论点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元宵节应该放假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项：清明节、中秋节都放假了，但元宵节与这两个节日不同，是否应该放假是不明确的，无法加强，排除。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B</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（补充）</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11</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43" name="图片 43" descr="IMG_256"/>
          <p:cNvPicPr>
            <a:picLocks noChangeAspect="1"/>
          </p:cNvPicPr>
          <p:nvPr/>
        </p:nvPicPr>
        <p:blipFill>
          <a:blip r:embed="rId1"/>
          <a:stretch>
            <a:fillRect/>
          </a:stretch>
        </p:blipFill>
        <p:spPr>
          <a:xfrm>
            <a:off x="956310" y="1965960"/>
            <a:ext cx="9427210" cy="413512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44" name="图片 44" descr="IMG_256"/>
          <p:cNvPicPr>
            <a:picLocks noChangeAspect="1"/>
          </p:cNvPicPr>
          <p:nvPr/>
        </p:nvPicPr>
        <p:blipFill>
          <a:blip r:embed="rId1"/>
          <a:stretch>
            <a:fillRect/>
          </a:stretch>
        </p:blipFill>
        <p:spPr>
          <a:xfrm>
            <a:off x="1617980" y="1294130"/>
            <a:ext cx="7446645" cy="3361690"/>
          </a:xfrm>
          <a:prstGeom prst="rect">
            <a:avLst/>
          </a:prstGeom>
          <a:noFill/>
          <a:ln w="9525">
            <a:noFill/>
          </a:ln>
        </p:spPr>
      </p:pic>
      <p:pic>
        <p:nvPicPr>
          <p:cNvPr id="45" name="图片 45" descr="IMG_256"/>
          <p:cNvPicPr>
            <a:picLocks noChangeAspect="1"/>
          </p:cNvPicPr>
          <p:nvPr/>
        </p:nvPicPr>
        <p:blipFill>
          <a:blip r:embed="rId2"/>
          <a:stretch>
            <a:fillRect/>
          </a:stretch>
        </p:blipFill>
        <p:spPr>
          <a:xfrm>
            <a:off x="1550670" y="4655820"/>
            <a:ext cx="7351395" cy="13754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云服务指的是基于互联网的相关服务的增加、使用和自主交互模式，通常涉及通过互联网来提供动态易扩展且经常是虚拟化的资源。</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根据上述定义，下列属于云服务的是（）。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某网络搜索公司提供海量风景图片，供用户免费下载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某平台为付费客户提供文件的网络备份、同步和分享服务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某照相馆将合成的云彩图片投放到电子幕墙上供客户拍摄使用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某图书馆在馆内终端设备上提供数字化文献供研究人员查询、浏览</a:t>
            </a:r>
            <a:endParaRPr lang="zh-CN" altLang="en-US" sz="2000" dirty="0">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先行指标是指在生产活动发生变化前，超前出现的指标，因为它先于生产活动而发生变化，可用于判断短期内生产活动的景气状况。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根据上述定义，下列不属于先行指标的是（</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就业合同履约率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消费者信心指数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新开工项目计划总投资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房屋建造许可证的批准数量</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社会预测是指运用科学的方法，针对科学技术和现代生产发展等产生的种种社会现象及其发展趋势所进行的分析、预见和设想，目的在于利用社会发展的规律，控制社会发展的趋势，预防社会发展中的不良后果。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根据上述定义，下列没有体现社会预测的是（）。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通过回归分析方法研究人口数量、经济社会变量对人口变化趋势的影响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通过分析预测经济转折的动向指标和警戒指标，研究未来经济形势变化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使用现代科学技术对未来某一地区气象灾害进行预测，提醒人们预先采取防灾减灾措施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对文化产业结构中各个元素的经济基础、技术发展等进行综合评估，判断未来文化市场形态</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新型基础设施建设是以新发展理念为引领，以技术创新为驱动，以信息网络为基础，面向高质量发展需要，提供数字转型，智能升级、融合创新等服务的基础设施体系，主要包括以下三个方面：一是信息基础设施，主要指基于新一代信息技术演化生成的基础设施；二是融合基础设施，主要指深度应用互联网、大数据、人工智能等技术，支撑传统基础设施转型升级而形成的基础设施；三是创新基础设施，主要指支撑科学研究、技术开发、产品研制的具有公益属性的基础设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根据上述定义，下列属于融合基础设施的是（）。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能源基础设施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科教基础设施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智慧交通基础设施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通信网络基础设施</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供应短缺：价格上升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经济发展：时间流逝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油耗增加：制动迟缓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自我陶醉：自信缺乏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信息泄露：财产损失</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花布：蜡染：印花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漆器：描金：花纹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模具：浇铸：钢管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雕塑：切削：平刀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食盐：提纯：杂质</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考试：司机：驾照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打猎：猎人：猎枪</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上课：老师：培训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咨询：专家：报酬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工作：保安：银行</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近年来，一种被称为</a:t>
            </a:r>
            <a:r>
              <a:rPr lang="en-US" altLang="zh-CN" sz="2000" dirty="0">
                <a:cs typeface="微软雅黑" panose="020B0503020204020204" charset="-122"/>
                <a:sym typeface="+mn-ea"/>
              </a:rPr>
              <a:t>“</a:t>
            </a:r>
            <a:r>
              <a:rPr lang="zh-CN" altLang="en-US" sz="2000" dirty="0">
                <a:cs typeface="微软雅黑" panose="020B0503020204020204" charset="-122"/>
                <a:sym typeface="+mn-ea"/>
              </a:rPr>
              <a:t>边角料</a:t>
            </a:r>
            <a:r>
              <a:rPr lang="en-US" altLang="zh-CN" sz="2000" dirty="0">
                <a:cs typeface="微软雅黑" panose="020B0503020204020204" charset="-122"/>
                <a:sym typeface="+mn-ea"/>
              </a:rPr>
              <a:t>”</a:t>
            </a:r>
            <a:r>
              <a:rPr lang="zh-CN" altLang="en-US" sz="2000" dirty="0">
                <a:cs typeface="微软雅黑" panose="020B0503020204020204" charset="-122"/>
                <a:sym typeface="+mn-ea"/>
              </a:rPr>
              <a:t>的零食成为年轻人的新宠。据统计，仅</a:t>
            </a:r>
            <a:r>
              <a:rPr lang="en-US" altLang="zh-CN" sz="2000" dirty="0">
                <a:cs typeface="微软雅黑" panose="020B0503020204020204" charset="-122"/>
                <a:sym typeface="+mn-ea"/>
              </a:rPr>
              <a:t>2022</a:t>
            </a:r>
            <a:r>
              <a:rPr lang="zh-CN" altLang="en-US" sz="2000" dirty="0">
                <a:cs typeface="微软雅黑" panose="020B0503020204020204" charset="-122"/>
                <a:sym typeface="+mn-ea"/>
              </a:rPr>
              <a:t>年一季度，某头部电商平台边角料零食销售额就超过</a:t>
            </a:r>
            <a:r>
              <a:rPr lang="en-US" altLang="zh-CN" sz="2000" dirty="0">
                <a:cs typeface="微软雅黑" panose="020B0503020204020204" charset="-122"/>
                <a:sym typeface="+mn-ea"/>
              </a:rPr>
              <a:t>2000</a:t>
            </a:r>
            <a:r>
              <a:rPr lang="zh-CN" altLang="en-US" sz="2000" dirty="0">
                <a:cs typeface="微软雅黑" panose="020B0503020204020204" charset="-122"/>
                <a:sym typeface="+mn-ea"/>
              </a:rPr>
              <a:t>万元，同比增长</a:t>
            </a:r>
            <a:r>
              <a:rPr lang="en-US" altLang="zh-CN" sz="2000" dirty="0">
                <a:cs typeface="微软雅黑" panose="020B0503020204020204" charset="-122"/>
                <a:sym typeface="+mn-ea"/>
              </a:rPr>
              <a:t>1749.23%</a:t>
            </a:r>
            <a:r>
              <a:rPr lang="zh-CN" altLang="en-US" sz="2000" dirty="0">
                <a:cs typeface="微软雅黑" panose="020B0503020204020204" charset="-122"/>
                <a:sym typeface="+mn-ea"/>
              </a:rPr>
              <a:t>。在正规渠道销售卖的边角料零食食品生产许可证号、执行标准、厂家信息完整，消费者可放心购买。不仅如此，边角料零食价格便宜，其价格通常仅为正常零食的一半。有人认为，边角料零食低廉的价格迎合了当代年轻人追求性价比的消费观。</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以下哪项如果为真，不能削弱上述结论？（）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不少年轻人购买边角料零食是觉得新鲜、好奇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会过日子又很时髦是当代很多年轻人的生活方式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很多年轻人在购买边角料零食时并没有比对价格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不少年轻人购买边角料零食是为了在社交平台上展示</a:t>
            </a:r>
            <a:endParaRPr lang="zh-CN" altLang="en-US" sz="2000" dirty="0">
              <a:cs typeface="微软雅黑" panose="020B0503020204020204" charset="-122"/>
              <a:sym typeface="+mn-ea"/>
            </a:endParaRPr>
          </a:p>
        </p:txBody>
      </p:sp>
      <p:sp>
        <p:nvSpPr>
          <p:cNvPr id="5" name="文本框 4"/>
          <p:cNvSpPr txBox="1"/>
          <p:nvPr/>
        </p:nvSpPr>
        <p:spPr>
          <a:xfrm>
            <a:off x="4545330" y="2998470"/>
            <a:ext cx="7149465" cy="810260"/>
          </a:xfrm>
          <a:prstGeom prst="rect">
            <a:avLst/>
          </a:prstGeom>
          <a:noFill/>
        </p:spPr>
        <p:txBody>
          <a:bodyPr wrap="square" rtlCol="0" anchor="t">
            <a:spAutoFit/>
          </a:bodyPr>
          <a:p>
            <a:pPr indent="0" fontAlgn="auto">
              <a:lnSpc>
                <a:spcPct val="130000"/>
              </a:lnSpc>
            </a:pPr>
            <a:r>
              <a:rPr lang="zh-CN" dirty="0">
                <a:solidFill>
                  <a:srgbClr val="FF0000"/>
                </a:solidFill>
                <a:effectLst/>
                <a:cs typeface="楷体" panose="02010609060101010101" charset="-122"/>
                <a:sym typeface="+mn-ea"/>
              </a:rPr>
              <a:t>论点：</a:t>
            </a:r>
            <a:r>
              <a:rPr lang="zh-CN" altLang="en-US" dirty="0">
                <a:solidFill>
                  <a:srgbClr val="FF0000"/>
                </a:solidFill>
                <a:effectLst/>
                <a:cs typeface="楷体" panose="02010609060101010101" charset="-122"/>
                <a:sym typeface="+mn-ea"/>
              </a:rPr>
              <a:t>边角料零食低廉的价格迎合了当代年轻人追求性价比的消费观论据：边角料零食销售额增加，生产证件完整，价格低廉</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在一次数学游戏中，老师让小学一年级的学生计算</a:t>
            </a:r>
            <a:r>
              <a:rPr lang="en-US" altLang="zh-CN" sz="2000" dirty="0">
                <a:cs typeface="微软雅黑" panose="020B0503020204020204" charset="-122"/>
                <a:sym typeface="+mn-ea"/>
              </a:rPr>
              <a:t>6+7</a:t>
            </a:r>
            <a:r>
              <a:rPr lang="zh-CN" altLang="en-US" sz="2000" dirty="0">
                <a:cs typeface="微软雅黑" panose="020B0503020204020204" charset="-122"/>
                <a:sym typeface="+mn-ea"/>
              </a:rPr>
              <a:t>。在运算过程中，大部分孩子都在数手指，甚至还有孩子脱掉鞋袜从手指数到脚趾。面对这一情况，有的老师对孩子们的数学学习忧心忡忡，做简单的数学运算还需要数手指，说明他们的数感不好。</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以下哪项如果为真，最能缓解上述老师的担忧？（）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数感的培养离不开工具的使用，手指恰是计算时方便好用的工具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人类早期开始计数就在使用一切方便易得的工具帮助计算数量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孩童时期手指用的越熟练，将来手部的精细动作会发展得越好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孩子们计算时即便没有数手指，也会在大脑中想象出手指的形象</a:t>
            </a:r>
            <a:endParaRPr lang="zh-CN" altLang="en-US" sz="2000" dirty="0">
              <a:cs typeface="微软雅黑" panose="020B0503020204020204" charset="-122"/>
              <a:sym typeface="+mn-ea"/>
            </a:endParaRPr>
          </a:p>
        </p:txBody>
      </p:sp>
      <p:sp>
        <p:nvSpPr>
          <p:cNvPr id="5" name="文本框 4"/>
          <p:cNvSpPr txBox="1"/>
          <p:nvPr/>
        </p:nvSpPr>
        <p:spPr>
          <a:xfrm>
            <a:off x="4416425" y="2380615"/>
            <a:ext cx="7149465" cy="810260"/>
          </a:xfrm>
          <a:prstGeom prst="rect">
            <a:avLst/>
          </a:prstGeom>
          <a:noFill/>
        </p:spPr>
        <p:txBody>
          <a:bodyPr wrap="square" rtlCol="0" anchor="t">
            <a:spAutoFit/>
          </a:bodyPr>
          <a:p>
            <a:pPr indent="0" fontAlgn="auto">
              <a:lnSpc>
                <a:spcPct val="130000"/>
              </a:lnSpc>
            </a:pPr>
            <a:r>
              <a:rPr lang="zh-CN" dirty="0">
                <a:solidFill>
                  <a:srgbClr val="FF0000"/>
                </a:solidFill>
                <a:effectLst/>
                <a:cs typeface="楷体" panose="02010609060101010101" charset="-122"/>
                <a:sym typeface="+mn-ea"/>
              </a:rPr>
              <a:t>论点：</a:t>
            </a:r>
            <a:r>
              <a:rPr lang="zh-CN" altLang="en-US" dirty="0">
                <a:solidFill>
                  <a:srgbClr val="FF0000"/>
                </a:solidFill>
                <a:effectLst/>
                <a:cs typeface="楷体" panose="02010609060101010101" charset="-122"/>
                <a:sym typeface="+mn-ea"/>
              </a:rPr>
              <a:t>他们的数感不好</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论据：做简单的数学运算还需要数手指</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戊、己、庚、辛</a:t>
            </a:r>
            <a:r>
              <a:rPr lang="en-US" altLang="zh-CN" sz="2000" dirty="0">
                <a:cs typeface="微软雅黑" panose="020B0503020204020204" charset="-122"/>
                <a:sym typeface="+mn-ea"/>
              </a:rPr>
              <a:t>4</a:t>
            </a:r>
            <a:r>
              <a:rPr lang="zh-CN" altLang="en-US" sz="2000" dirty="0">
                <a:cs typeface="微软雅黑" panose="020B0503020204020204" charset="-122"/>
                <a:sym typeface="+mn-ea"/>
              </a:rPr>
              <a:t>个斗柜中装着三七、黄精、党参、当归</a:t>
            </a:r>
            <a:r>
              <a:rPr lang="en-US" altLang="zh-CN" sz="2000" dirty="0">
                <a:cs typeface="微软雅黑" panose="020B0503020204020204" charset="-122"/>
                <a:sym typeface="+mn-ea"/>
              </a:rPr>
              <a:t>4</a:t>
            </a:r>
            <a:r>
              <a:rPr lang="zh-CN" altLang="en-US" sz="2000" dirty="0">
                <a:cs typeface="微软雅黑" panose="020B0503020204020204" charset="-122"/>
                <a:sym typeface="+mn-ea"/>
              </a:rPr>
              <a:t>味中药，每个斗柜只装着其中一味中药。已知：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(1)“</a:t>
            </a:r>
            <a:r>
              <a:rPr lang="zh-CN" altLang="en-US" sz="2000" dirty="0">
                <a:cs typeface="微软雅黑" panose="020B0503020204020204" charset="-122"/>
                <a:sym typeface="+mn-ea"/>
              </a:rPr>
              <a:t>庚</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字斗柜中装的不是党参和当归；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(2)</a:t>
            </a:r>
            <a:r>
              <a:rPr lang="zh-CN" altLang="en-US" sz="2000" dirty="0">
                <a:cs typeface="微软雅黑" panose="020B0503020204020204" charset="-122"/>
                <a:sym typeface="+mn-ea"/>
              </a:rPr>
              <a:t>若</a:t>
            </a:r>
            <a:r>
              <a:rPr lang="en-US" altLang="zh-CN" sz="2000" dirty="0">
                <a:cs typeface="微软雅黑" panose="020B0503020204020204" charset="-122"/>
                <a:sym typeface="+mn-ea"/>
              </a:rPr>
              <a:t>“</a:t>
            </a:r>
            <a:r>
              <a:rPr lang="zh-CN" altLang="en-US" sz="2000" dirty="0">
                <a:cs typeface="微软雅黑" panose="020B0503020204020204" charset="-122"/>
                <a:sym typeface="+mn-ea"/>
              </a:rPr>
              <a:t>庚</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字斗柜中装的是黄精，则</a:t>
            </a:r>
            <a:r>
              <a:rPr lang="en-US" altLang="zh-CN" sz="2000" dirty="0">
                <a:cs typeface="微软雅黑" panose="020B0503020204020204" charset="-122"/>
                <a:sym typeface="+mn-ea"/>
              </a:rPr>
              <a:t>“</a:t>
            </a:r>
            <a:r>
              <a:rPr lang="zh-CN" altLang="en-US" sz="2000" dirty="0">
                <a:cs typeface="微软雅黑" panose="020B0503020204020204" charset="-122"/>
                <a:sym typeface="+mn-ea"/>
              </a:rPr>
              <a:t>戊</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字斗柜中装的是当归；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(3)</a:t>
            </a:r>
            <a:r>
              <a:rPr lang="zh-CN" altLang="en-US" sz="2000" dirty="0">
                <a:cs typeface="微软雅黑" panose="020B0503020204020204" charset="-122"/>
                <a:sym typeface="+mn-ea"/>
              </a:rPr>
              <a:t>若三七装在</a:t>
            </a:r>
            <a:r>
              <a:rPr lang="en-US" altLang="zh-CN" sz="2000" dirty="0">
                <a:cs typeface="微软雅黑" panose="020B0503020204020204" charset="-122"/>
                <a:sym typeface="+mn-ea"/>
              </a:rPr>
              <a:t>“</a:t>
            </a:r>
            <a:r>
              <a:rPr lang="zh-CN" altLang="en-US" sz="2000" dirty="0">
                <a:cs typeface="微软雅黑" panose="020B0503020204020204" charset="-122"/>
                <a:sym typeface="+mn-ea"/>
              </a:rPr>
              <a:t>已</a:t>
            </a:r>
            <a:r>
              <a:rPr lang="en-US" altLang="zh-CN" sz="2000" dirty="0">
                <a:cs typeface="微软雅黑" panose="020B0503020204020204" charset="-122"/>
                <a:sym typeface="+mn-ea"/>
              </a:rPr>
              <a:t>”</a:t>
            </a:r>
            <a:r>
              <a:rPr lang="zh-CN" altLang="en-US" sz="2000" dirty="0">
                <a:cs typeface="微软雅黑" panose="020B0503020204020204" charset="-122"/>
                <a:sym typeface="+mn-ea"/>
              </a:rPr>
              <a:t>或</a:t>
            </a:r>
            <a:r>
              <a:rPr lang="en-US" altLang="zh-CN" sz="2000" dirty="0">
                <a:cs typeface="微软雅黑" panose="020B0503020204020204" charset="-122"/>
                <a:sym typeface="+mn-ea"/>
              </a:rPr>
              <a:t>“</a:t>
            </a:r>
            <a:r>
              <a:rPr lang="zh-CN" altLang="en-US" sz="2000" dirty="0">
                <a:cs typeface="微软雅黑" panose="020B0503020204020204" charset="-122"/>
                <a:sym typeface="+mn-ea"/>
              </a:rPr>
              <a:t>辛</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字斗柜中，则党参装在</a:t>
            </a:r>
            <a:r>
              <a:rPr lang="en-US" altLang="zh-CN" sz="2000" dirty="0">
                <a:cs typeface="微软雅黑" panose="020B0503020204020204" charset="-122"/>
                <a:sym typeface="+mn-ea"/>
              </a:rPr>
              <a:t>“</a:t>
            </a:r>
            <a:r>
              <a:rPr lang="zh-CN" altLang="en-US" sz="2000" dirty="0">
                <a:cs typeface="微软雅黑" panose="020B0503020204020204" charset="-122"/>
                <a:sym typeface="+mn-ea"/>
              </a:rPr>
              <a:t>戊</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根据上述信息，可以得出以下哪项？（）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党参装在</a:t>
            </a:r>
            <a:r>
              <a:rPr lang="en-US" altLang="zh-CN" sz="2000" dirty="0">
                <a:cs typeface="微软雅黑" panose="020B0503020204020204" charset="-122"/>
                <a:sym typeface="+mn-ea"/>
              </a:rPr>
              <a:t>“</a:t>
            </a:r>
            <a:r>
              <a:rPr lang="zh-CN" altLang="en-US" sz="2000" dirty="0">
                <a:cs typeface="微软雅黑" panose="020B0503020204020204" charset="-122"/>
                <a:sym typeface="+mn-ea"/>
              </a:rPr>
              <a:t>戊</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黄精装在</a:t>
            </a:r>
            <a:r>
              <a:rPr lang="en-US" altLang="zh-CN" sz="2000" dirty="0">
                <a:cs typeface="微软雅黑" panose="020B0503020204020204" charset="-122"/>
                <a:sym typeface="+mn-ea"/>
              </a:rPr>
              <a:t>“</a:t>
            </a:r>
            <a:r>
              <a:rPr lang="zh-CN" altLang="en-US" sz="2000" dirty="0">
                <a:cs typeface="微软雅黑" panose="020B0503020204020204" charset="-122"/>
                <a:sym typeface="+mn-ea"/>
              </a:rPr>
              <a:t>庚</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三七装在</a:t>
            </a:r>
            <a:r>
              <a:rPr lang="en-US" altLang="zh-CN" sz="2000" dirty="0">
                <a:cs typeface="微软雅黑" panose="020B0503020204020204" charset="-122"/>
                <a:sym typeface="+mn-ea"/>
              </a:rPr>
              <a:t>“</a:t>
            </a:r>
            <a:r>
              <a:rPr lang="zh-CN" altLang="en-US" sz="2000" dirty="0">
                <a:cs typeface="微软雅黑" panose="020B0503020204020204" charset="-122"/>
                <a:sym typeface="+mn-ea"/>
              </a:rPr>
              <a:t>庚</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当归装在</a:t>
            </a:r>
            <a:r>
              <a:rPr lang="en-US" altLang="zh-CN" sz="2000" dirty="0">
                <a:cs typeface="微软雅黑" panose="020B0503020204020204" charset="-122"/>
                <a:sym typeface="+mn-ea"/>
              </a:rPr>
              <a:t>“</a:t>
            </a:r>
            <a:r>
              <a:rPr lang="zh-CN" altLang="en-US" sz="2000" dirty="0">
                <a:cs typeface="微软雅黑" panose="020B0503020204020204" charset="-122"/>
                <a:sym typeface="+mn-ea"/>
              </a:rPr>
              <a:t>戊</a:t>
            </a:r>
            <a:r>
              <a:rPr lang="en-US" altLang="zh-CN" sz="2000" dirty="0">
                <a:cs typeface="微软雅黑" panose="020B0503020204020204" charset="-122"/>
                <a:sym typeface="+mn-ea"/>
              </a:rPr>
              <a:t>”</a:t>
            </a:r>
            <a:r>
              <a:rPr lang="zh-CN" altLang="en-US" sz="2000" dirty="0">
                <a:cs typeface="微软雅黑" panose="020B0503020204020204" charset="-122"/>
                <a:sym typeface="+mn-ea"/>
              </a:rPr>
              <a:t>字斗柜中</a:t>
            </a:r>
            <a:endParaRPr lang="zh-CN" altLang="en-US" sz="2000" dirty="0">
              <a:cs typeface="微软雅黑" panose="020B0503020204020204" charset="-122"/>
              <a:sym typeface="+mn-ea"/>
            </a:endParaRPr>
          </a:p>
        </p:txBody>
      </p:sp>
      <p:sp>
        <p:nvSpPr>
          <p:cNvPr id="5" name="文本框 4"/>
          <p:cNvSpPr txBox="1"/>
          <p:nvPr/>
        </p:nvSpPr>
        <p:spPr>
          <a:xfrm>
            <a:off x="8314055" y="1783715"/>
            <a:ext cx="3251835" cy="1170305"/>
          </a:xfrm>
          <a:prstGeom prst="rect">
            <a:avLst/>
          </a:prstGeom>
          <a:noFill/>
        </p:spPr>
        <p:txBody>
          <a:bodyPr wrap="square" rtlCol="0" anchor="t">
            <a:spAutoFit/>
          </a:bodyPr>
          <a:p>
            <a:pPr indent="0" fontAlgn="auto">
              <a:lnSpc>
                <a:spcPct val="130000"/>
              </a:lnSpc>
            </a:pPr>
            <a:r>
              <a:rPr lang="zh-CN"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1</a:t>
            </a:r>
            <a:r>
              <a:rPr lang="zh-CN" altLang="en-US" dirty="0">
                <a:solidFill>
                  <a:srgbClr val="FF0000"/>
                </a:solidFill>
                <a:effectLst/>
                <a:cs typeface="楷体" panose="02010609060101010101" charset="-122"/>
                <a:sym typeface="+mn-ea"/>
              </a:rPr>
              <a:t>）庚</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党参和当归</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2</a:t>
            </a:r>
            <a:r>
              <a:rPr lang="zh-CN" altLang="en-US" dirty="0">
                <a:solidFill>
                  <a:srgbClr val="FF0000"/>
                </a:solidFill>
                <a:effectLst/>
                <a:cs typeface="楷体" panose="02010609060101010101" charset="-122"/>
                <a:sym typeface="+mn-ea"/>
              </a:rPr>
              <a:t>）庚黄精</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戊当归</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3</a:t>
            </a:r>
            <a:r>
              <a:rPr lang="zh-CN" altLang="en-US" dirty="0">
                <a:solidFill>
                  <a:srgbClr val="FF0000"/>
                </a:solidFill>
                <a:effectLst/>
                <a:cs typeface="楷体" panose="02010609060101010101" charset="-122"/>
                <a:sym typeface="+mn-ea"/>
              </a:rPr>
              <a:t>）己或辛三七</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戊党参</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286385" y="812165"/>
            <a:ext cx="11669395" cy="5526405"/>
          </a:xfrm>
          <a:prstGeom prst="rect">
            <a:avLst/>
          </a:prstGeom>
          <a:noFill/>
        </p:spPr>
        <p:txBody>
          <a:bodyPr wrap="square" rtlCol="0" anchor="t">
            <a:noAutofit/>
          </a:bodyPr>
          <a:p>
            <a:pPr indent="0" fontAlgn="auto">
              <a:lnSpc>
                <a:spcPct val="100000"/>
              </a:lnSpc>
            </a:pP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91</a:t>
            </a:r>
            <a:r>
              <a:rPr lang="zh-CN" altLang="en-US" sz="1600" dirty="0">
                <a:cs typeface="微软雅黑" panose="020B0503020204020204" charset="-122"/>
                <a:sym typeface="+mn-ea"/>
              </a:rPr>
              <a:t>～</a:t>
            </a:r>
            <a:r>
              <a:rPr lang="en-US" altLang="zh-CN" sz="1600" dirty="0">
                <a:cs typeface="微软雅黑" panose="020B0503020204020204" charset="-122"/>
                <a:sym typeface="+mn-ea"/>
              </a:rPr>
              <a:t>95</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元宵节是中国的传统节日之一。正月是农历的元月，古人称</a:t>
            </a:r>
            <a:r>
              <a:rPr lang="en-US" altLang="zh-CN" sz="1600" dirty="0">
                <a:cs typeface="微软雅黑" panose="020B0503020204020204" charset="-122"/>
                <a:sym typeface="+mn-ea"/>
              </a:rPr>
              <a:t>“</a:t>
            </a:r>
            <a:r>
              <a:rPr lang="zh-CN" altLang="en-US" sz="1600" dirty="0">
                <a:cs typeface="微软雅黑" panose="020B0503020204020204" charset="-122"/>
                <a:sym typeface="+mn-ea"/>
              </a:rPr>
              <a:t>夜</a:t>
            </a:r>
            <a:r>
              <a:rPr lang="en-US" altLang="zh-CN" sz="1600" dirty="0">
                <a:cs typeface="微软雅黑" panose="020B0503020204020204" charset="-122"/>
                <a:sym typeface="+mn-ea"/>
              </a:rPr>
              <a:t>”</a:t>
            </a:r>
            <a:r>
              <a:rPr lang="zh-CN" altLang="en-US" sz="1600" dirty="0">
                <a:cs typeface="微软雅黑" panose="020B0503020204020204" charset="-122"/>
                <a:sym typeface="+mn-ea"/>
              </a:rPr>
              <a:t>为</a:t>
            </a:r>
            <a:r>
              <a:rPr lang="en-US" altLang="zh-CN" sz="1600" dirty="0">
                <a:cs typeface="微软雅黑" panose="020B0503020204020204" charset="-122"/>
                <a:sym typeface="+mn-ea"/>
              </a:rPr>
              <a:t>“</a:t>
            </a:r>
            <a:r>
              <a:rPr lang="zh-CN" altLang="en-US" sz="1600" dirty="0">
                <a:cs typeface="微软雅黑" panose="020B0503020204020204" charset="-122"/>
                <a:sym typeface="+mn-ea"/>
              </a:rPr>
              <a:t>宵</a:t>
            </a:r>
            <a:r>
              <a:rPr lang="en-US" altLang="zh-CN" sz="1600" dirty="0">
                <a:cs typeface="微软雅黑" panose="020B0503020204020204" charset="-122"/>
                <a:sym typeface="+mn-ea"/>
              </a:rPr>
              <a:t>”</a:t>
            </a:r>
            <a:r>
              <a:rPr lang="zh-CN" altLang="en-US" sz="1600" dirty="0">
                <a:cs typeface="微软雅黑" panose="020B0503020204020204" charset="-122"/>
                <a:sym typeface="+mn-ea"/>
              </a:rPr>
              <a:t>，正月十五是一年中</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第一个月圆之夜，所以称正月十五为</a:t>
            </a:r>
            <a:r>
              <a:rPr lang="en-US" altLang="zh-CN" sz="1600" dirty="0">
                <a:cs typeface="微软雅黑" panose="020B0503020204020204" charset="-122"/>
                <a:sym typeface="+mn-ea"/>
              </a:rPr>
              <a:t>“</a:t>
            </a:r>
            <a:r>
              <a:rPr lang="zh-CN" altLang="en-US" sz="1600" dirty="0">
                <a:cs typeface="微软雅黑" panose="020B0503020204020204" charset="-122"/>
                <a:sym typeface="+mn-ea"/>
              </a:rPr>
              <a:t>元宵节</a:t>
            </a:r>
            <a:r>
              <a:rPr lang="en-US" altLang="zh-CN" sz="1600" dirty="0">
                <a:cs typeface="微软雅黑" panose="020B0503020204020204" charset="-122"/>
                <a:sym typeface="+mn-ea"/>
              </a:rPr>
              <a:t>”</a:t>
            </a:r>
            <a:r>
              <a:rPr lang="zh-CN" altLang="en-US" sz="1600" dirty="0">
                <a:cs typeface="微软雅黑" panose="020B0503020204020204" charset="-122"/>
                <a:sym typeface="+mn-ea"/>
              </a:rPr>
              <a:t>，又称上元节、小正月、元夕、灯节。关于元宵节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的来源、习俗以及是否应该放假，存在若干说法。</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佛教起源说。元宵赏灯始于东汉明帝时期，明帝提倡佛教，听说佛教有正月十五日僧人观佛舍利、点灯敬佛的做法，就命令这一天夜晚在皇官和寺庙里点灯敬佛，令士族庶民都挂灯。以后这种佛教礼仪节日逐渐成为民间盛大的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）道教</a:t>
            </a:r>
            <a:r>
              <a:rPr lang="en-US" altLang="zh-CN" sz="1600" dirty="0">
                <a:cs typeface="微软雅黑" panose="020B0503020204020204" charset="-122"/>
                <a:sym typeface="+mn-ea"/>
              </a:rPr>
              <a:t>“</a:t>
            </a:r>
            <a:r>
              <a:rPr lang="zh-CN" altLang="en-US" sz="1600" dirty="0">
                <a:cs typeface="微软雅黑" panose="020B0503020204020204" charset="-122"/>
                <a:sym typeface="+mn-ea"/>
              </a:rPr>
              <a:t>三元</a:t>
            </a:r>
            <a:r>
              <a:rPr lang="en-US" altLang="zh-CN" sz="1600" dirty="0">
                <a:cs typeface="微软雅黑" panose="020B0503020204020204" charset="-122"/>
                <a:sym typeface="+mn-ea"/>
              </a:rPr>
              <a:t>”</a:t>
            </a:r>
            <a:r>
              <a:rPr lang="zh-CN" altLang="en-US" sz="1600" dirty="0">
                <a:cs typeface="微软雅黑" panose="020B0503020204020204" charset="-122"/>
                <a:sym typeface="+mn-ea"/>
              </a:rPr>
              <a:t>说。道教以农历正月十五日为上元节，七月十五日为中元节，十月十五日为下元节。主管三元的分别为天、地、人三官，天官喜乐，故上元节要燃灯。</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）汉文帝诛乱说。相传，汉文帝为庆祝周勃于正月十五平定诸吕之乱，每逢此夜，必出宫游玩，与民同乐，并将正月十五定为元宵节。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4</a:t>
            </a:r>
            <a:r>
              <a:rPr lang="zh-CN" altLang="en-US" sz="1600" dirty="0">
                <a:cs typeface="微软雅黑" panose="020B0503020204020204" charset="-122"/>
                <a:sym typeface="+mn-ea"/>
              </a:rPr>
              <a:t>）祀太一神之俗。《史记</a:t>
            </a:r>
            <a:r>
              <a:rPr lang="en-US" altLang="zh-CN" sz="1600" dirty="0">
                <a:cs typeface="微软雅黑" panose="020B0503020204020204" charset="-122"/>
                <a:sym typeface="+mn-ea"/>
              </a:rPr>
              <a:t>·</a:t>
            </a:r>
            <a:r>
              <a:rPr lang="zh-CN" altLang="en-US" sz="1600" dirty="0">
                <a:cs typeface="微软雅黑" panose="020B0503020204020204" charset="-122"/>
                <a:sym typeface="+mn-ea"/>
              </a:rPr>
              <a:t>乐书》云：</a:t>
            </a:r>
            <a:r>
              <a:rPr lang="en-US" altLang="zh-CN" sz="1600" dirty="0">
                <a:cs typeface="微软雅黑" panose="020B0503020204020204" charset="-122"/>
                <a:sym typeface="+mn-ea"/>
              </a:rPr>
              <a:t>“</a:t>
            </a:r>
            <a:r>
              <a:rPr lang="zh-CN" altLang="en-US" sz="1600" dirty="0">
                <a:cs typeface="微软雅黑" panose="020B0503020204020204" charset="-122"/>
                <a:sym typeface="+mn-ea"/>
              </a:rPr>
              <a:t>汉家常以正月上辛祠太一甘泉，以昏时夜祠，到明而终。常有流星经于祠坛上。使僮男僮女七十人俱歌。</a:t>
            </a:r>
            <a:r>
              <a:rPr lang="en-US" altLang="zh-CN" sz="1600" dirty="0">
                <a:cs typeface="微软雅黑" panose="020B0503020204020204" charset="-122"/>
                <a:sym typeface="+mn-ea"/>
              </a:rPr>
              <a:t>”</a:t>
            </a:r>
            <a:r>
              <a:rPr lang="zh-CN" altLang="en-US" sz="1600" dirty="0">
                <a:cs typeface="微软雅黑" panose="020B0503020204020204" charset="-122"/>
                <a:sym typeface="+mn-ea"/>
              </a:rPr>
              <a:t>南宋学者洪迈在《容斋三笔》一文引此说。此后，明代王三聘的《古今事物考》沿用了这种成说。汉武帝朝创建</a:t>
            </a:r>
            <a:r>
              <a:rPr lang="en-US" altLang="zh-CN" sz="1600" dirty="0">
                <a:cs typeface="微软雅黑" panose="020B0503020204020204" charset="-122"/>
                <a:sym typeface="+mn-ea"/>
              </a:rPr>
              <a:t>“</a:t>
            </a:r>
            <a:r>
              <a:rPr lang="zh-CN" altLang="en-US" sz="1600" dirty="0">
                <a:cs typeface="微软雅黑" panose="020B0503020204020204" charset="-122"/>
                <a:sym typeface="+mn-ea"/>
              </a:rPr>
              <a:t>太初历</a:t>
            </a:r>
            <a:r>
              <a:rPr lang="en-US" altLang="zh-CN" sz="1600" dirty="0">
                <a:cs typeface="微软雅黑" panose="020B0503020204020204" charset="-122"/>
                <a:sym typeface="+mn-ea"/>
              </a:rPr>
              <a:t>”</a:t>
            </a:r>
            <a:r>
              <a:rPr lang="zh-CN" altLang="en-US" sz="1600" dirty="0">
                <a:cs typeface="微软雅黑" panose="020B0503020204020204" charset="-122"/>
                <a:sym typeface="+mn-ea"/>
              </a:rPr>
              <a:t>时，元宵节已被确定为重大节日。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5</a:t>
            </a:r>
            <a:r>
              <a:rPr lang="zh-CN" altLang="en-US" sz="1600" dirty="0">
                <a:cs typeface="微软雅黑" panose="020B0503020204020204" charset="-122"/>
                <a:sym typeface="+mn-ea"/>
              </a:rPr>
              <a:t>）上元节古文献有明确记载的是在</a:t>
            </a:r>
            <a:r>
              <a:rPr lang="en-US" altLang="zh-CN" sz="1600" dirty="0">
                <a:cs typeface="微软雅黑" panose="020B0503020204020204" charset="-122"/>
                <a:sym typeface="+mn-ea"/>
              </a:rPr>
              <a:t>7</a:t>
            </a:r>
            <a:r>
              <a:rPr lang="zh-CN" altLang="en-US" sz="1600" dirty="0">
                <a:cs typeface="微软雅黑" panose="020B0503020204020204" charset="-122"/>
                <a:sym typeface="+mn-ea"/>
              </a:rPr>
              <a:t>世纪初开始的唐代。唐景龙四年当时正月</a:t>
            </a:r>
            <a:r>
              <a:rPr lang="en-US" altLang="zh-CN" sz="1600" dirty="0">
                <a:cs typeface="微软雅黑" panose="020B0503020204020204" charset="-122"/>
                <a:sym typeface="+mn-ea"/>
              </a:rPr>
              <a:t>“</a:t>
            </a:r>
            <a:r>
              <a:rPr lang="zh-CN" altLang="en-US" sz="1600" dirty="0">
                <a:cs typeface="微软雅黑" panose="020B0503020204020204" charset="-122"/>
                <a:sym typeface="+mn-ea"/>
              </a:rPr>
              <a:t>丙寅夜，帝与皇后微行观灯</a:t>
            </a:r>
            <a:r>
              <a:rPr lang="en-US" altLang="zh-CN" sz="1600" dirty="0">
                <a:cs typeface="微软雅黑" panose="020B0503020204020204" charset="-122"/>
                <a:sym typeface="+mn-ea"/>
              </a:rPr>
              <a:t>”</a:t>
            </a:r>
            <a:r>
              <a:rPr lang="zh-CN" altLang="en-US" sz="1600" dirty="0">
                <a:cs typeface="微软雅黑" panose="020B0503020204020204" charset="-122"/>
                <a:sym typeface="+mn-ea"/>
              </a:rPr>
              <a:t>，是夜放官女数千人观灯。认为上元夜天神下降，故从正月十四至十六日三夜均放灯，后增至五夜。到宋代，元宵节不仅灯火辉煌，且有歌舞百戏填充街巷，</a:t>
            </a:r>
            <a:r>
              <a:rPr lang="en-US" altLang="zh-CN" sz="1600" dirty="0">
                <a:cs typeface="微软雅黑" panose="020B0503020204020204" charset="-122"/>
                <a:sym typeface="+mn-ea"/>
              </a:rPr>
              <a:t>“</a:t>
            </a:r>
            <a:r>
              <a:rPr lang="zh-CN" altLang="en-US" sz="1600" dirty="0">
                <a:cs typeface="微软雅黑" panose="020B0503020204020204" charset="-122"/>
                <a:sym typeface="+mn-ea"/>
              </a:rPr>
              <a:t>乐声嘈杂十余里</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6</a:t>
            </a:r>
            <a:r>
              <a:rPr lang="zh-CN" altLang="en-US" sz="1600" dirty="0">
                <a:cs typeface="微软雅黑" panose="020B0503020204020204" charset="-122"/>
                <a:sym typeface="+mn-ea"/>
              </a:rPr>
              <a:t>）元宵节是否应该放假？张某认为，元宵节不属于国家法定假日，所以不应放假。而陈某认为，元宵节是中华传统文化的重要组成部分，有丰富多彩的习俗，如吃元宵、赏花灯、猜灯谜等，这些都是中华传统文化的瑰宝，如果放假一天，人们就有更多的时间去参与这些活动，感受中华传统文化的魅力从而增强文化认同和文化自信。</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91.</a:t>
            </a:r>
            <a:r>
              <a:rPr lang="zh-CN" altLang="en-US" sz="1600" dirty="0">
                <a:cs typeface="微软雅黑" panose="020B0503020204020204" charset="-122"/>
                <a:sym typeface="+mn-ea"/>
              </a:rPr>
              <a:t>以下哪项如果为真，最能支持道教</a:t>
            </a:r>
            <a:r>
              <a:rPr lang="en-US" altLang="zh-CN" sz="1600" dirty="0">
                <a:cs typeface="微软雅黑" panose="020B0503020204020204" charset="-122"/>
                <a:sym typeface="+mn-ea"/>
              </a:rPr>
              <a:t>“</a:t>
            </a:r>
            <a:r>
              <a:rPr lang="zh-CN" altLang="en-US" sz="1600" dirty="0">
                <a:cs typeface="微软雅黑" panose="020B0503020204020204" charset="-122"/>
                <a:sym typeface="+mn-ea"/>
              </a:rPr>
              <a:t>三元</a:t>
            </a:r>
            <a:r>
              <a:rPr lang="en-US" altLang="zh-CN" sz="1600" dirty="0">
                <a:cs typeface="微软雅黑" panose="020B0503020204020204" charset="-122"/>
                <a:sym typeface="+mn-ea"/>
              </a:rPr>
              <a:t>”</a:t>
            </a:r>
            <a:r>
              <a:rPr lang="zh-CN" altLang="en-US" sz="1600" dirty="0">
                <a:cs typeface="微软雅黑" panose="020B0503020204020204" charset="-122"/>
                <a:sym typeface="+mn-ea"/>
              </a:rPr>
              <a:t>说？（）</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张灯结彩显示喜庆</a:t>
            </a:r>
            <a:r>
              <a:rPr lang="en-US" altLang="zh-CN" sz="1600" dirty="0">
                <a:cs typeface="微软雅黑" panose="020B0503020204020204" charset="-122"/>
                <a:sym typeface="+mn-ea"/>
              </a:rPr>
              <a:t>			B.</a:t>
            </a:r>
            <a:r>
              <a:rPr lang="zh-CN" altLang="en-US" sz="1600" dirty="0">
                <a:cs typeface="微软雅黑" panose="020B0503020204020204" charset="-122"/>
                <a:sym typeface="+mn-ea"/>
              </a:rPr>
              <a:t>灯火通明观佛舍利</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花灯夜放星月同辉</a:t>
            </a:r>
            <a:r>
              <a:rPr lang="en-US" altLang="zh-CN" sz="1600" dirty="0">
                <a:cs typeface="微软雅黑" panose="020B0503020204020204" charset="-122"/>
                <a:sym typeface="+mn-ea"/>
              </a:rPr>
              <a:t>			D.</a:t>
            </a:r>
            <a:r>
              <a:rPr lang="zh-CN" altLang="en-US" sz="1600" dirty="0">
                <a:cs typeface="微软雅黑" panose="020B0503020204020204" charset="-122"/>
                <a:sym typeface="+mn-ea"/>
              </a:rPr>
              <a:t>万家灯火与民同乐</a:t>
            </a:r>
            <a:endParaRPr lang="zh-CN" altLang="en-US" sz="1600" dirty="0">
              <a:cs typeface="微软雅黑" panose="020B0503020204020204" charset="-122"/>
              <a:sym typeface="+mn-ea"/>
            </a:endParaRPr>
          </a:p>
        </p:txBody>
      </p:sp>
      <p:sp>
        <p:nvSpPr>
          <p:cNvPr id="5" name="文本框 4"/>
          <p:cNvSpPr txBox="1"/>
          <p:nvPr/>
        </p:nvSpPr>
        <p:spPr>
          <a:xfrm>
            <a:off x="6095365" y="5513705"/>
            <a:ext cx="6096000" cy="1076325"/>
          </a:xfrm>
          <a:prstGeom prst="rect">
            <a:avLst/>
          </a:prstGeom>
          <a:noFill/>
        </p:spPr>
        <p:txBody>
          <a:bodyPr wrap="square" rtlCol="0" anchor="t">
            <a:spAutoFit/>
          </a:bodyPr>
          <a:p>
            <a:pPr indent="0" fontAlgn="auto">
              <a:lnSpc>
                <a:spcPct val="100000"/>
              </a:lnSpc>
            </a:pPr>
            <a:r>
              <a:rPr lang="zh-CN" altLang="en-US" sz="1600" dirty="0">
                <a:solidFill>
                  <a:srgbClr val="FF0000"/>
                </a:solidFill>
                <a:effectLst/>
                <a:cs typeface="楷体" panose="02010609060101010101" charset="-122"/>
                <a:sym typeface="+mn-ea"/>
              </a:rPr>
              <a:t>论点：上元节要燃灯。</a:t>
            </a:r>
            <a:endParaRPr lang="zh-CN" altLang="en-US" sz="1600" dirty="0">
              <a:solidFill>
                <a:srgbClr val="FF0000"/>
              </a:solidFill>
              <a:effectLst/>
              <a:cs typeface="楷体" panose="02010609060101010101" charset="-122"/>
              <a:sym typeface="+mn-ea"/>
            </a:endParaRPr>
          </a:p>
          <a:p>
            <a:pPr indent="0" fontAlgn="auto">
              <a:lnSpc>
                <a:spcPct val="100000"/>
              </a:lnSpc>
            </a:pPr>
            <a:r>
              <a:rPr lang="zh-CN" altLang="en-US" sz="1600" dirty="0">
                <a:solidFill>
                  <a:srgbClr val="FF0000"/>
                </a:solidFill>
                <a:effectLst/>
                <a:cs typeface="楷体" panose="02010609060101010101" charset="-122"/>
                <a:sym typeface="+mn-ea"/>
              </a:rPr>
              <a:t>论据：道教以农历正月十五日为上元节，七月十五日为中元节，十月十五日为下元节。主管三元的分别为天、地、人三官，天官喜乐。</a:t>
            </a:r>
            <a:endParaRPr lang="zh-CN" altLang="en-US" sz="1600" dirty="0">
              <a:solidFill>
                <a:srgbClr val="FF0000"/>
              </a:solidFill>
              <a:effectLst/>
              <a:cs typeface="楷体" panose="02010609060101010101" charset="-122"/>
              <a:sym typeface="+mn-ea"/>
            </a:endParaRPr>
          </a:p>
          <a:p>
            <a:pPr indent="0" fontAlgn="auto">
              <a:lnSpc>
                <a:spcPct val="100000"/>
              </a:lnSpc>
            </a:pPr>
            <a:endParaRPr lang="zh-CN" altLang="en-US" sz="16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286385" y="812165"/>
            <a:ext cx="11669395" cy="5526405"/>
          </a:xfrm>
          <a:prstGeom prst="rect">
            <a:avLst/>
          </a:prstGeom>
          <a:noFill/>
        </p:spPr>
        <p:txBody>
          <a:bodyPr wrap="square" rtlCol="0" anchor="t">
            <a:noAutofit/>
          </a:bodyPr>
          <a:p>
            <a:pPr indent="0" fontAlgn="auto">
              <a:lnSpc>
                <a:spcPct val="100000"/>
              </a:lnSpc>
            </a:pP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91</a:t>
            </a:r>
            <a:r>
              <a:rPr lang="zh-CN" altLang="en-US" sz="1600" dirty="0">
                <a:cs typeface="微软雅黑" panose="020B0503020204020204" charset="-122"/>
                <a:sym typeface="+mn-ea"/>
              </a:rPr>
              <a:t>～</a:t>
            </a:r>
            <a:r>
              <a:rPr lang="en-US" altLang="zh-CN" sz="1600" dirty="0">
                <a:cs typeface="微软雅黑" panose="020B0503020204020204" charset="-122"/>
                <a:sym typeface="+mn-ea"/>
              </a:rPr>
              <a:t>95</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元宵节是中国的传统节日之一。正月是农历的元月，古人称</a:t>
            </a:r>
            <a:r>
              <a:rPr lang="en-US" altLang="zh-CN" sz="1600" dirty="0">
                <a:cs typeface="微软雅黑" panose="020B0503020204020204" charset="-122"/>
                <a:sym typeface="+mn-ea"/>
              </a:rPr>
              <a:t>“</a:t>
            </a:r>
            <a:r>
              <a:rPr lang="zh-CN" altLang="en-US" sz="1600" dirty="0">
                <a:cs typeface="微软雅黑" panose="020B0503020204020204" charset="-122"/>
                <a:sym typeface="+mn-ea"/>
              </a:rPr>
              <a:t>夜</a:t>
            </a:r>
            <a:r>
              <a:rPr lang="en-US" altLang="zh-CN" sz="1600" dirty="0">
                <a:cs typeface="微软雅黑" panose="020B0503020204020204" charset="-122"/>
                <a:sym typeface="+mn-ea"/>
              </a:rPr>
              <a:t>”</a:t>
            </a:r>
            <a:r>
              <a:rPr lang="zh-CN" altLang="en-US" sz="1600" dirty="0">
                <a:cs typeface="微软雅黑" panose="020B0503020204020204" charset="-122"/>
                <a:sym typeface="+mn-ea"/>
              </a:rPr>
              <a:t>为</a:t>
            </a:r>
            <a:r>
              <a:rPr lang="en-US" altLang="zh-CN" sz="1600" dirty="0">
                <a:cs typeface="微软雅黑" panose="020B0503020204020204" charset="-122"/>
                <a:sym typeface="+mn-ea"/>
              </a:rPr>
              <a:t>“</a:t>
            </a:r>
            <a:r>
              <a:rPr lang="zh-CN" altLang="en-US" sz="1600" dirty="0">
                <a:cs typeface="微软雅黑" panose="020B0503020204020204" charset="-122"/>
                <a:sym typeface="+mn-ea"/>
              </a:rPr>
              <a:t>宵</a:t>
            </a:r>
            <a:r>
              <a:rPr lang="en-US" altLang="zh-CN" sz="1600" dirty="0">
                <a:cs typeface="微软雅黑" panose="020B0503020204020204" charset="-122"/>
                <a:sym typeface="+mn-ea"/>
              </a:rPr>
              <a:t>”</a:t>
            </a:r>
            <a:r>
              <a:rPr lang="zh-CN" altLang="en-US" sz="1600" dirty="0">
                <a:cs typeface="微软雅黑" panose="020B0503020204020204" charset="-122"/>
                <a:sym typeface="+mn-ea"/>
              </a:rPr>
              <a:t>，正月十五是一年中</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第一个月圆之夜，所以称正月十五为</a:t>
            </a:r>
            <a:r>
              <a:rPr lang="en-US" altLang="zh-CN" sz="1600" dirty="0">
                <a:cs typeface="微软雅黑" panose="020B0503020204020204" charset="-122"/>
                <a:sym typeface="+mn-ea"/>
              </a:rPr>
              <a:t>“</a:t>
            </a:r>
            <a:r>
              <a:rPr lang="zh-CN" altLang="en-US" sz="1600" dirty="0">
                <a:cs typeface="微软雅黑" panose="020B0503020204020204" charset="-122"/>
                <a:sym typeface="+mn-ea"/>
              </a:rPr>
              <a:t>元宵节</a:t>
            </a:r>
            <a:r>
              <a:rPr lang="en-US" altLang="zh-CN" sz="1600" dirty="0">
                <a:cs typeface="微软雅黑" panose="020B0503020204020204" charset="-122"/>
                <a:sym typeface="+mn-ea"/>
              </a:rPr>
              <a:t>”</a:t>
            </a:r>
            <a:r>
              <a:rPr lang="zh-CN" altLang="en-US" sz="1600" dirty="0">
                <a:cs typeface="微软雅黑" panose="020B0503020204020204" charset="-122"/>
                <a:sym typeface="+mn-ea"/>
              </a:rPr>
              <a:t>，又称上元节、小正月、元夕、灯节。关于元宵节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的来源、习俗以及是否应该放假，存在若干说法。</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佛教起源说。元宵赏灯始于东汉明帝时期，明帝提倡佛教，听说佛教有正月十五日僧人观佛舍利、点灯敬佛的做法，就命令这一天夜晚在皇官和寺庙里点灯敬佛，令士族庶民都挂灯。以后这种佛教礼仪节日逐渐成为民间盛大的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）道教</a:t>
            </a:r>
            <a:r>
              <a:rPr lang="en-US" altLang="zh-CN" sz="1600" dirty="0">
                <a:cs typeface="微软雅黑" panose="020B0503020204020204" charset="-122"/>
                <a:sym typeface="+mn-ea"/>
              </a:rPr>
              <a:t>“</a:t>
            </a:r>
            <a:r>
              <a:rPr lang="zh-CN" altLang="en-US" sz="1600" dirty="0">
                <a:cs typeface="微软雅黑" panose="020B0503020204020204" charset="-122"/>
                <a:sym typeface="+mn-ea"/>
              </a:rPr>
              <a:t>三元</a:t>
            </a:r>
            <a:r>
              <a:rPr lang="en-US" altLang="zh-CN" sz="1600" dirty="0">
                <a:cs typeface="微软雅黑" panose="020B0503020204020204" charset="-122"/>
                <a:sym typeface="+mn-ea"/>
              </a:rPr>
              <a:t>”</a:t>
            </a:r>
            <a:r>
              <a:rPr lang="zh-CN" altLang="en-US" sz="1600" dirty="0">
                <a:cs typeface="微软雅黑" panose="020B0503020204020204" charset="-122"/>
                <a:sym typeface="+mn-ea"/>
              </a:rPr>
              <a:t>说。道教以农历正月十五日为上元节，七月十五日为中元节，十月十五日为下元节。主管三元的分别为天、地、人三官，天官喜乐，故上元节要燃灯。</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）汉文帝诛乱说。相传，汉文帝为庆祝周勃于正月十五平定诸吕之乱，每逢此夜，必出宫游玩，与民同乐，并将正月十五定为元宵节。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4</a:t>
            </a:r>
            <a:r>
              <a:rPr lang="zh-CN" altLang="en-US" sz="1600" dirty="0">
                <a:cs typeface="微软雅黑" panose="020B0503020204020204" charset="-122"/>
                <a:sym typeface="+mn-ea"/>
              </a:rPr>
              <a:t>）祀太一神之俗。《史记</a:t>
            </a:r>
            <a:r>
              <a:rPr lang="en-US" altLang="zh-CN" sz="1600" dirty="0">
                <a:cs typeface="微软雅黑" panose="020B0503020204020204" charset="-122"/>
                <a:sym typeface="+mn-ea"/>
              </a:rPr>
              <a:t>·</a:t>
            </a:r>
            <a:r>
              <a:rPr lang="zh-CN" altLang="en-US" sz="1600" dirty="0">
                <a:cs typeface="微软雅黑" panose="020B0503020204020204" charset="-122"/>
                <a:sym typeface="+mn-ea"/>
              </a:rPr>
              <a:t>乐书》云：</a:t>
            </a:r>
            <a:r>
              <a:rPr lang="en-US" altLang="zh-CN" sz="1600" dirty="0">
                <a:cs typeface="微软雅黑" panose="020B0503020204020204" charset="-122"/>
                <a:sym typeface="+mn-ea"/>
              </a:rPr>
              <a:t>“</a:t>
            </a:r>
            <a:r>
              <a:rPr lang="zh-CN" altLang="en-US" sz="1600" dirty="0">
                <a:cs typeface="微软雅黑" panose="020B0503020204020204" charset="-122"/>
                <a:sym typeface="+mn-ea"/>
              </a:rPr>
              <a:t>汉家常以正月上辛祠太一甘泉，以昏时夜祠，到明而终。常有流星经于祠坛上。使僮男僮女七十人俱歌。</a:t>
            </a:r>
            <a:r>
              <a:rPr lang="en-US" altLang="zh-CN" sz="1600" dirty="0">
                <a:cs typeface="微软雅黑" panose="020B0503020204020204" charset="-122"/>
                <a:sym typeface="+mn-ea"/>
              </a:rPr>
              <a:t>”</a:t>
            </a:r>
            <a:r>
              <a:rPr lang="zh-CN" altLang="en-US" sz="1600" dirty="0">
                <a:cs typeface="微软雅黑" panose="020B0503020204020204" charset="-122"/>
                <a:sym typeface="+mn-ea"/>
              </a:rPr>
              <a:t>南宋学者洪迈在《容斋三笔》一文引此说。此后，明代王三聘的《古今事物考》沿用了这种成说。汉武帝朝创建</a:t>
            </a:r>
            <a:r>
              <a:rPr lang="en-US" altLang="zh-CN" sz="1600" dirty="0">
                <a:cs typeface="微软雅黑" panose="020B0503020204020204" charset="-122"/>
                <a:sym typeface="+mn-ea"/>
              </a:rPr>
              <a:t>“</a:t>
            </a:r>
            <a:r>
              <a:rPr lang="zh-CN" altLang="en-US" sz="1600" dirty="0">
                <a:cs typeface="微软雅黑" panose="020B0503020204020204" charset="-122"/>
                <a:sym typeface="+mn-ea"/>
              </a:rPr>
              <a:t>太初历</a:t>
            </a:r>
            <a:r>
              <a:rPr lang="en-US" altLang="zh-CN" sz="1600" dirty="0">
                <a:cs typeface="微软雅黑" panose="020B0503020204020204" charset="-122"/>
                <a:sym typeface="+mn-ea"/>
              </a:rPr>
              <a:t>”</a:t>
            </a:r>
            <a:r>
              <a:rPr lang="zh-CN" altLang="en-US" sz="1600" dirty="0">
                <a:cs typeface="微软雅黑" panose="020B0503020204020204" charset="-122"/>
                <a:sym typeface="+mn-ea"/>
              </a:rPr>
              <a:t>时，元宵节已被确定为重大节日。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5</a:t>
            </a:r>
            <a:r>
              <a:rPr lang="zh-CN" altLang="en-US" sz="1600" dirty="0">
                <a:cs typeface="微软雅黑" panose="020B0503020204020204" charset="-122"/>
                <a:sym typeface="+mn-ea"/>
              </a:rPr>
              <a:t>）上元节古文献有明确记载的是在</a:t>
            </a:r>
            <a:r>
              <a:rPr lang="en-US" altLang="zh-CN" sz="1600" dirty="0">
                <a:cs typeface="微软雅黑" panose="020B0503020204020204" charset="-122"/>
                <a:sym typeface="+mn-ea"/>
              </a:rPr>
              <a:t>7</a:t>
            </a:r>
            <a:r>
              <a:rPr lang="zh-CN" altLang="en-US" sz="1600" dirty="0">
                <a:cs typeface="微软雅黑" panose="020B0503020204020204" charset="-122"/>
                <a:sym typeface="+mn-ea"/>
              </a:rPr>
              <a:t>世纪初开始的唐代。唐景龙四年当时正月</a:t>
            </a:r>
            <a:r>
              <a:rPr lang="en-US" altLang="zh-CN" sz="1600" dirty="0">
                <a:cs typeface="微软雅黑" panose="020B0503020204020204" charset="-122"/>
                <a:sym typeface="+mn-ea"/>
              </a:rPr>
              <a:t>“</a:t>
            </a:r>
            <a:r>
              <a:rPr lang="zh-CN" altLang="en-US" sz="1600" dirty="0">
                <a:cs typeface="微软雅黑" panose="020B0503020204020204" charset="-122"/>
                <a:sym typeface="+mn-ea"/>
              </a:rPr>
              <a:t>丙寅夜，帝与皇后微行观灯</a:t>
            </a:r>
            <a:r>
              <a:rPr lang="en-US" altLang="zh-CN" sz="1600" dirty="0">
                <a:cs typeface="微软雅黑" panose="020B0503020204020204" charset="-122"/>
                <a:sym typeface="+mn-ea"/>
              </a:rPr>
              <a:t>”</a:t>
            </a:r>
            <a:r>
              <a:rPr lang="zh-CN" altLang="en-US" sz="1600" dirty="0">
                <a:cs typeface="微软雅黑" panose="020B0503020204020204" charset="-122"/>
                <a:sym typeface="+mn-ea"/>
              </a:rPr>
              <a:t>，是夜放官女数千人观灯。认为上元夜天神下降，故从正月十四至十六日三夜均放灯，后增至五夜。到宋代，元宵节不仅灯火辉煌，且有歌舞百戏填充街巷，</a:t>
            </a:r>
            <a:r>
              <a:rPr lang="en-US" altLang="zh-CN" sz="1600" dirty="0">
                <a:cs typeface="微软雅黑" panose="020B0503020204020204" charset="-122"/>
                <a:sym typeface="+mn-ea"/>
              </a:rPr>
              <a:t>“</a:t>
            </a:r>
            <a:r>
              <a:rPr lang="zh-CN" altLang="en-US" sz="1600" dirty="0">
                <a:cs typeface="微软雅黑" panose="020B0503020204020204" charset="-122"/>
                <a:sym typeface="+mn-ea"/>
              </a:rPr>
              <a:t>乐声嘈杂十余里</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6</a:t>
            </a:r>
            <a:r>
              <a:rPr lang="zh-CN" altLang="en-US" sz="1600" dirty="0">
                <a:cs typeface="微软雅黑" panose="020B0503020204020204" charset="-122"/>
                <a:sym typeface="+mn-ea"/>
              </a:rPr>
              <a:t>）元宵节是否应该放假？张某认为，元宵节不属于国家法定假日，所以不应放假。而陈某认为，元宵节是中华传统文化的重要组成部分，有丰富多彩的习俗，如吃元宵、赏花灯、猜灯谜等，这些都是中华传统文化的瑰宝，如果放假一天，人们就有更多的时间去参与这些活动，感受中华传统文化的魅力从而增强文化认同和文化自信。</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92.</a:t>
            </a:r>
            <a:r>
              <a:rPr lang="zh-CN" altLang="en-US" sz="1600" dirty="0">
                <a:cs typeface="微软雅黑" panose="020B0503020204020204" charset="-122"/>
                <a:sym typeface="+mn-ea"/>
              </a:rPr>
              <a:t>关于元宵节来源的不同说法，以下哪项评价是正确的？（）</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）相互矛盾</a:t>
            </a:r>
            <a:r>
              <a:rPr lang="en-US" altLang="zh-CN" sz="1600" dirty="0">
                <a:cs typeface="微软雅黑" panose="020B0503020204020204" charset="-122"/>
                <a:sym typeface="+mn-ea"/>
              </a:rPr>
              <a:t>		B.</a:t>
            </a: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a:t>
            </a:r>
            <a:r>
              <a:rPr lang="en-US" altLang="zh-CN" sz="1600" dirty="0">
                <a:cs typeface="微软雅黑" panose="020B0503020204020204" charset="-122"/>
                <a:sym typeface="+mn-ea"/>
              </a:rPr>
              <a:t>4</a:t>
            </a:r>
            <a:r>
              <a:rPr lang="zh-CN" altLang="en-US" sz="1600" dirty="0">
                <a:cs typeface="微软雅黑" panose="020B0503020204020204" charset="-122"/>
                <a:sym typeface="+mn-ea"/>
              </a:rPr>
              <a:t>）相互矛盾</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）相互矛盾</a:t>
            </a:r>
            <a:r>
              <a:rPr lang="en-US" altLang="zh-CN" sz="1600" dirty="0">
                <a:cs typeface="微软雅黑" panose="020B0503020204020204" charset="-122"/>
                <a:sym typeface="+mn-ea"/>
              </a:rPr>
              <a:t>		D.</a:t>
            </a: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a:t>
            </a:r>
            <a:r>
              <a:rPr lang="en-US" altLang="zh-CN" sz="1600" dirty="0">
                <a:cs typeface="微软雅黑" panose="020B0503020204020204" charset="-122"/>
                <a:sym typeface="+mn-ea"/>
              </a:rPr>
              <a:t>4</a:t>
            </a:r>
            <a:r>
              <a:rPr lang="zh-CN" altLang="en-US" sz="1600" dirty="0">
                <a:cs typeface="微软雅黑" panose="020B0503020204020204" charset="-122"/>
                <a:sym typeface="+mn-ea"/>
              </a:rPr>
              <a:t>）相互矛盾</a:t>
            </a:r>
            <a:endParaRPr lang="zh-CN" altLang="en-US" sz="16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286385" y="812165"/>
            <a:ext cx="11669395" cy="5526405"/>
          </a:xfrm>
          <a:prstGeom prst="rect">
            <a:avLst/>
          </a:prstGeom>
          <a:noFill/>
        </p:spPr>
        <p:txBody>
          <a:bodyPr wrap="square" rtlCol="0" anchor="t">
            <a:noAutofit/>
          </a:bodyPr>
          <a:p>
            <a:pPr indent="0" fontAlgn="auto">
              <a:lnSpc>
                <a:spcPct val="100000"/>
              </a:lnSpc>
            </a:pP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91</a:t>
            </a:r>
            <a:r>
              <a:rPr lang="zh-CN" altLang="en-US" sz="1600" dirty="0">
                <a:cs typeface="微软雅黑" panose="020B0503020204020204" charset="-122"/>
                <a:sym typeface="+mn-ea"/>
              </a:rPr>
              <a:t>～</a:t>
            </a:r>
            <a:r>
              <a:rPr lang="en-US" altLang="zh-CN" sz="1600" dirty="0">
                <a:cs typeface="微软雅黑" panose="020B0503020204020204" charset="-122"/>
                <a:sym typeface="+mn-ea"/>
              </a:rPr>
              <a:t>95</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元宵节是中国的传统节日之一。正月是农历的元月，古人称</a:t>
            </a:r>
            <a:r>
              <a:rPr lang="en-US" altLang="zh-CN" sz="1600" dirty="0">
                <a:cs typeface="微软雅黑" panose="020B0503020204020204" charset="-122"/>
                <a:sym typeface="+mn-ea"/>
              </a:rPr>
              <a:t>“</a:t>
            </a:r>
            <a:r>
              <a:rPr lang="zh-CN" altLang="en-US" sz="1600" dirty="0">
                <a:cs typeface="微软雅黑" panose="020B0503020204020204" charset="-122"/>
                <a:sym typeface="+mn-ea"/>
              </a:rPr>
              <a:t>夜</a:t>
            </a:r>
            <a:r>
              <a:rPr lang="en-US" altLang="zh-CN" sz="1600" dirty="0">
                <a:cs typeface="微软雅黑" panose="020B0503020204020204" charset="-122"/>
                <a:sym typeface="+mn-ea"/>
              </a:rPr>
              <a:t>”</a:t>
            </a:r>
            <a:r>
              <a:rPr lang="zh-CN" altLang="en-US" sz="1600" dirty="0">
                <a:cs typeface="微软雅黑" panose="020B0503020204020204" charset="-122"/>
                <a:sym typeface="+mn-ea"/>
              </a:rPr>
              <a:t>为</a:t>
            </a:r>
            <a:r>
              <a:rPr lang="en-US" altLang="zh-CN" sz="1600" dirty="0">
                <a:cs typeface="微软雅黑" panose="020B0503020204020204" charset="-122"/>
                <a:sym typeface="+mn-ea"/>
              </a:rPr>
              <a:t>“</a:t>
            </a:r>
            <a:r>
              <a:rPr lang="zh-CN" altLang="en-US" sz="1600" dirty="0">
                <a:cs typeface="微软雅黑" panose="020B0503020204020204" charset="-122"/>
                <a:sym typeface="+mn-ea"/>
              </a:rPr>
              <a:t>宵</a:t>
            </a:r>
            <a:r>
              <a:rPr lang="en-US" altLang="zh-CN" sz="1600" dirty="0">
                <a:cs typeface="微软雅黑" panose="020B0503020204020204" charset="-122"/>
                <a:sym typeface="+mn-ea"/>
              </a:rPr>
              <a:t>”</a:t>
            </a:r>
            <a:r>
              <a:rPr lang="zh-CN" altLang="en-US" sz="1600" dirty="0">
                <a:cs typeface="微软雅黑" panose="020B0503020204020204" charset="-122"/>
                <a:sym typeface="+mn-ea"/>
              </a:rPr>
              <a:t>，正月十五是一年中</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第一个月圆之夜，所以称正月十五为</a:t>
            </a:r>
            <a:r>
              <a:rPr lang="en-US" altLang="zh-CN" sz="1600" dirty="0">
                <a:cs typeface="微软雅黑" panose="020B0503020204020204" charset="-122"/>
                <a:sym typeface="+mn-ea"/>
              </a:rPr>
              <a:t>“</a:t>
            </a:r>
            <a:r>
              <a:rPr lang="zh-CN" altLang="en-US" sz="1600" dirty="0">
                <a:cs typeface="微软雅黑" panose="020B0503020204020204" charset="-122"/>
                <a:sym typeface="+mn-ea"/>
              </a:rPr>
              <a:t>元宵节</a:t>
            </a:r>
            <a:r>
              <a:rPr lang="en-US" altLang="zh-CN" sz="1600" dirty="0">
                <a:cs typeface="微软雅黑" panose="020B0503020204020204" charset="-122"/>
                <a:sym typeface="+mn-ea"/>
              </a:rPr>
              <a:t>”</a:t>
            </a:r>
            <a:r>
              <a:rPr lang="zh-CN" altLang="en-US" sz="1600" dirty="0">
                <a:cs typeface="微软雅黑" panose="020B0503020204020204" charset="-122"/>
                <a:sym typeface="+mn-ea"/>
              </a:rPr>
              <a:t>，又称上元节、小正月、元夕、灯节。关于元宵节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的来源、习俗以及是否应该放假，存在若干说法。</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佛教起源说。元宵赏灯始于东汉明帝时期，明帝提倡佛教，听说佛教有正月十五日僧人观佛舍利、点灯敬佛的做法，就命令这一天夜晚在皇官和寺庙里点灯敬佛，令士族庶民都挂灯。以后这种佛教礼仪节日逐渐成为民间盛大的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）道教</a:t>
            </a:r>
            <a:r>
              <a:rPr lang="en-US" altLang="zh-CN" sz="1600" dirty="0">
                <a:cs typeface="微软雅黑" panose="020B0503020204020204" charset="-122"/>
                <a:sym typeface="+mn-ea"/>
              </a:rPr>
              <a:t>“</a:t>
            </a:r>
            <a:r>
              <a:rPr lang="zh-CN" altLang="en-US" sz="1600" dirty="0">
                <a:cs typeface="微软雅黑" panose="020B0503020204020204" charset="-122"/>
                <a:sym typeface="+mn-ea"/>
              </a:rPr>
              <a:t>三元</a:t>
            </a:r>
            <a:r>
              <a:rPr lang="en-US" altLang="zh-CN" sz="1600" dirty="0">
                <a:cs typeface="微软雅黑" panose="020B0503020204020204" charset="-122"/>
                <a:sym typeface="+mn-ea"/>
              </a:rPr>
              <a:t>”</a:t>
            </a:r>
            <a:r>
              <a:rPr lang="zh-CN" altLang="en-US" sz="1600" dirty="0">
                <a:cs typeface="微软雅黑" panose="020B0503020204020204" charset="-122"/>
                <a:sym typeface="+mn-ea"/>
              </a:rPr>
              <a:t>说。道教以农历正月十五日为上元节，七月十五日为中元节，十月十五日为下元节。主管三元的分别为天、地、人三官，天官喜乐，故上元节要燃灯。</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）汉文帝诛乱说。相传，汉文帝为庆祝周勃于正月十五平定诸吕之乱，每逢此夜，必出宫游玩，与民同乐，并将正月十五定为元宵节。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4</a:t>
            </a:r>
            <a:r>
              <a:rPr lang="zh-CN" altLang="en-US" sz="1600" dirty="0">
                <a:cs typeface="微软雅黑" panose="020B0503020204020204" charset="-122"/>
                <a:sym typeface="+mn-ea"/>
              </a:rPr>
              <a:t>）祀太一神之俗。《史记</a:t>
            </a:r>
            <a:r>
              <a:rPr lang="en-US" altLang="zh-CN" sz="1600" dirty="0">
                <a:cs typeface="微软雅黑" panose="020B0503020204020204" charset="-122"/>
                <a:sym typeface="+mn-ea"/>
              </a:rPr>
              <a:t>·</a:t>
            </a:r>
            <a:r>
              <a:rPr lang="zh-CN" altLang="en-US" sz="1600" dirty="0">
                <a:cs typeface="微软雅黑" panose="020B0503020204020204" charset="-122"/>
                <a:sym typeface="+mn-ea"/>
              </a:rPr>
              <a:t>乐书》云：</a:t>
            </a:r>
            <a:r>
              <a:rPr lang="en-US" altLang="zh-CN" sz="1600" dirty="0">
                <a:cs typeface="微软雅黑" panose="020B0503020204020204" charset="-122"/>
                <a:sym typeface="+mn-ea"/>
              </a:rPr>
              <a:t>“</a:t>
            </a:r>
            <a:r>
              <a:rPr lang="zh-CN" altLang="en-US" sz="1600" dirty="0">
                <a:cs typeface="微软雅黑" panose="020B0503020204020204" charset="-122"/>
                <a:sym typeface="+mn-ea"/>
              </a:rPr>
              <a:t>汉家常以正月上辛祠太一甘泉，以昏时夜祠，到明而终。常有流星经于祠坛上。使僮男僮女七十人俱歌。</a:t>
            </a:r>
            <a:r>
              <a:rPr lang="en-US" altLang="zh-CN" sz="1600" dirty="0">
                <a:cs typeface="微软雅黑" panose="020B0503020204020204" charset="-122"/>
                <a:sym typeface="+mn-ea"/>
              </a:rPr>
              <a:t>”</a:t>
            </a:r>
            <a:r>
              <a:rPr lang="zh-CN" altLang="en-US" sz="1600" dirty="0">
                <a:cs typeface="微软雅黑" panose="020B0503020204020204" charset="-122"/>
                <a:sym typeface="+mn-ea"/>
              </a:rPr>
              <a:t>南宋学者洪迈在《容斋三笔》一文引此说。此后，明代王三聘的《古今事物考》沿用了这种成说。汉武帝朝创建</a:t>
            </a:r>
            <a:r>
              <a:rPr lang="en-US" altLang="zh-CN" sz="1600" dirty="0">
                <a:cs typeface="微软雅黑" panose="020B0503020204020204" charset="-122"/>
                <a:sym typeface="+mn-ea"/>
              </a:rPr>
              <a:t>“</a:t>
            </a:r>
            <a:r>
              <a:rPr lang="zh-CN" altLang="en-US" sz="1600" dirty="0">
                <a:cs typeface="微软雅黑" panose="020B0503020204020204" charset="-122"/>
                <a:sym typeface="+mn-ea"/>
              </a:rPr>
              <a:t>太初历</a:t>
            </a:r>
            <a:r>
              <a:rPr lang="en-US" altLang="zh-CN" sz="1600" dirty="0">
                <a:cs typeface="微软雅黑" panose="020B0503020204020204" charset="-122"/>
                <a:sym typeface="+mn-ea"/>
              </a:rPr>
              <a:t>”</a:t>
            </a:r>
            <a:r>
              <a:rPr lang="zh-CN" altLang="en-US" sz="1600" dirty="0">
                <a:cs typeface="微软雅黑" panose="020B0503020204020204" charset="-122"/>
                <a:sym typeface="+mn-ea"/>
              </a:rPr>
              <a:t>时，元宵节已被确定为重大节日。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5</a:t>
            </a:r>
            <a:r>
              <a:rPr lang="zh-CN" altLang="en-US" sz="1600" dirty="0">
                <a:cs typeface="微软雅黑" panose="020B0503020204020204" charset="-122"/>
                <a:sym typeface="+mn-ea"/>
              </a:rPr>
              <a:t>）上元节古文献有明确记载的是在</a:t>
            </a:r>
            <a:r>
              <a:rPr lang="en-US" altLang="zh-CN" sz="1600" dirty="0">
                <a:cs typeface="微软雅黑" panose="020B0503020204020204" charset="-122"/>
                <a:sym typeface="+mn-ea"/>
              </a:rPr>
              <a:t>7</a:t>
            </a:r>
            <a:r>
              <a:rPr lang="zh-CN" altLang="en-US" sz="1600" dirty="0">
                <a:cs typeface="微软雅黑" panose="020B0503020204020204" charset="-122"/>
                <a:sym typeface="+mn-ea"/>
              </a:rPr>
              <a:t>世纪初开始的唐代。唐景龙四年当时正月</a:t>
            </a:r>
            <a:r>
              <a:rPr lang="en-US" altLang="zh-CN" sz="1600" dirty="0">
                <a:cs typeface="微软雅黑" panose="020B0503020204020204" charset="-122"/>
                <a:sym typeface="+mn-ea"/>
              </a:rPr>
              <a:t>“</a:t>
            </a:r>
            <a:r>
              <a:rPr lang="zh-CN" altLang="en-US" sz="1600" dirty="0">
                <a:cs typeface="微软雅黑" panose="020B0503020204020204" charset="-122"/>
                <a:sym typeface="+mn-ea"/>
              </a:rPr>
              <a:t>丙寅夜，帝与皇后微行观灯</a:t>
            </a:r>
            <a:r>
              <a:rPr lang="en-US" altLang="zh-CN" sz="1600" dirty="0">
                <a:cs typeface="微软雅黑" panose="020B0503020204020204" charset="-122"/>
                <a:sym typeface="+mn-ea"/>
              </a:rPr>
              <a:t>”</a:t>
            </a:r>
            <a:r>
              <a:rPr lang="zh-CN" altLang="en-US" sz="1600" dirty="0">
                <a:cs typeface="微软雅黑" panose="020B0503020204020204" charset="-122"/>
                <a:sym typeface="+mn-ea"/>
              </a:rPr>
              <a:t>，是夜放官女数千人观灯。认为上元夜天神下降，故从正月十四至十六日三夜均放灯，后增至五夜。到宋代，元宵节不仅灯火辉煌，且有歌舞百戏填充街巷，</a:t>
            </a:r>
            <a:r>
              <a:rPr lang="en-US" altLang="zh-CN" sz="1600" dirty="0">
                <a:cs typeface="微软雅黑" panose="020B0503020204020204" charset="-122"/>
                <a:sym typeface="+mn-ea"/>
              </a:rPr>
              <a:t>“</a:t>
            </a:r>
            <a:r>
              <a:rPr lang="zh-CN" altLang="en-US" sz="1600" dirty="0">
                <a:cs typeface="微软雅黑" panose="020B0503020204020204" charset="-122"/>
                <a:sym typeface="+mn-ea"/>
              </a:rPr>
              <a:t>乐声嘈杂十余里</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6</a:t>
            </a:r>
            <a:r>
              <a:rPr lang="zh-CN" altLang="en-US" sz="1600" dirty="0">
                <a:cs typeface="微软雅黑" panose="020B0503020204020204" charset="-122"/>
                <a:sym typeface="+mn-ea"/>
              </a:rPr>
              <a:t>）元宵节是否应该放假？张某认为，元宵节不属于国家法定假日，所以不应放假。而陈某认为，元宵节是中华传统文化的重要组成部分，有丰富多彩的习俗，如吃元宵、赏花灯、猜灯谜等，这些都是中华传统文化的瑰宝，如果放假一天，人们就有更多的时间去参与这些活动，感受中华传统文化的魅力从而增强文化认同和文化自信。</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93.</a:t>
            </a:r>
            <a:r>
              <a:rPr lang="zh-CN" altLang="en-US" sz="1600" dirty="0">
                <a:cs typeface="微软雅黑" panose="020B0503020204020204" charset="-122"/>
                <a:sym typeface="+mn-ea"/>
              </a:rPr>
              <a:t>关于元宵节的来源，（</a:t>
            </a:r>
            <a:r>
              <a:rPr lang="en-US" altLang="zh-CN" sz="1600" dirty="0">
                <a:cs typeface="微软雅黑" panose="020B0503020204020204" charset="-122"/>
                <a:sym typeface="+mn-ea"/>
              </a:rPr>
              <a:t>5</a:t>
            </a:r>
            <a:r>
              <a:rPr lang="zh-CN" altLang="en-US" sz="1600" dirty="0">
                <a:cs typeface="微软雅黑" panose="020B0503020204020204" charset="-122"/>
                <a:sym typeface="+mn-ea"/>
              </a:rPr>
              <a:t>）最能支持的是（）。</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佛教起源说</a:t>
            </a:r>
            <a:r>
              <a:rPr lang="en-US" altLang="zh-CN" sz="1600" dirty="0">
                <a:cs typeface="微软雅黑" panose="020B0503020204020204" charset="-122"/>
                <a:sym typeface="+mn-ea"/>
              </a:rPr>
              <a:t>		B.</a:t>
            </a:r>
            <a:r>
              <a:rPr lang="zh-CN" altLang="en-US" sz="1600" dirty="0">
                <a:cs typeface="微软雅黑" panose="020B0503020204020204" charset="-122"/>
                <a:sym typeface="+mn-ea"/>
              </a:rPr>
              <a:t>祀太一神之俗</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汉文帝诛乱说</a:t>
            </a:r>
            <a:r>
              <a:rPr lang="en-US" altLang="zh-CN" sz="1600" dirty="0">
                <a:cs typeface="微软雅黑" panose="020B0503020204020204" charset="-122"/>
                <a:sym typeface="+mn-ea"/>
              </a:rPr>
              <a:t>		D.</a:t>
            </a:r>
            <a:r>
              <a:rPr lang="zh-CN" altLang="en-US" sz="1600" dirty="0">
                <a:cs typeface="微软雅黑" panose="020B0503020204020204" charset="-122"/>
                <a:sym typeface="+mn-ea"/>
              </a:rPr>
              <a:t>道教</a:t>
            </a:r>
            <a:r>
              <a:rPr lang="en-US" altLang="zh-CN" sz="1600" dirty="0">
                <a:cs typeface="微软雅黑" panose="020B0503020204020204" charset="-122"/>
                <a:sym typeface="+mn-ea"/>
              </a:rPr>
              <a:t>“</a:t>
            </a:r>
            <a:r>
              <a:rPr lang="zh-CN" altLang="en-US" sz="1600" dirty="0">
                <a:cs typeface="微软雅黑" panose="020B0503020204020204" charset="-122"/>
                <a:sym typeface="+mn-ea"/>
              </a:rPr>
              <a:t>三元</a:t>
            </a:r>
            <a:r>
              <a:rPr lang="en-US" altLang="zh-CN" sz="1600" dirty="0">
                <a:cs typeface="微软雅黑" panose="020B0503020204020204" charset="-122"/>
                <a:sym typeface="+mn-ea"/>
              </a:rPr>
              <a:t>”</a:t>
            </a:r>
            <a:r>
              <a:rPr lang="zh-CN" altLang="en-US" sz="1600" dirty="0">
                <a:cs typeface="微软雅黑" panose="020B0503020204020204" charset="-122"/>
                <a:sym typeface="+mn-ea"/>
              </a:rPr>
              <a:t>说</a:t>
            </a:r>
            <a:endParaRPr lang="zh-CN" altLang="en-US" sz="16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286385" y="812165"/>
            <a:ext cx="11669395" cy="5526405"/>
          </a:xfrm>
          <a:prstGeom prst="rect">
            <a:avLst/>
          </a:prstGeom>
          <a:noFill/>
        </p:spPr>
        <p:txBody>
          <a:bodyPr wrap="square" rtlCol="0" anchor="t">
            <a:noAutofit/>
          </a:bodyPr>
          <a:p>
            <a:pPr indent="0" fontAlgn="auto">
              <a:lnSpc>
                <a:spcPct val="100000"/>
              </a:lnSpc>
            </a:pP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91</a:t>
            </a:r>
            <a:r>
              <a:rPr lang="zh-CN" altLang="en-US" sz="1600" dirty="0">
                <a:cs typeface="微软雅黑" panose="020B0503020204020204" charset="-122"/>
                <a:sym typeface="+mn-ea"/>
              </a:rPr>
              <a:t>～</a:t>
            </a:r>
            <a:r>
              <a:rPr lang="en-US" altLang="zh-CN" sz="1600" dirty="0">
                <a:cs typeface="微软雅黑" panose="020B0503020204020204" charset="-122"/>
                <a:sym typeface="+mn-ea"/>
              </a:rPr>
              <a:t>95</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元宵节是中国的传统节日之一。正月是农历的元月，古人称</a:t>
            </a:r>
            <a:r>
              <a:rPr lang="en-US" altLang="zh-CN" sz="1600" dirty="0">
                <a:cs typeface="微软雅黑" panose="020B0503020204020204" charset="-122"/>
                <a:sym typeface="+mn-ea"/>
              </a:rPr>
              <a:t>“</a:t>
            </a:r>
            <a:r>
              <a:rPr lang="zh-CN" altLang="en-US" sz="1600" dirty="0">
                <a:cs typeface="微软雅黑" panose="020B0503020204020204" charset="-122"/>
                <a:sym typeface="+mn-ea"/>
              </a:rPr>
              <a:t>夜</a:t>
            </a:r>
            <a:r>
              <a:rPr lang="en-US" altLang="zh-CN" sz="1600" dirty="0">
                <a:cs typeface="微软雅黑" panose="020B0503020204020204" charset="-122"/>
                <a:sym typeface="+mn-ea"/>
              </a:rPr>
              <a:t>”</a:t>
            </a:r>
            <a:r>
              <a:rPr lang="zh-CN" altLang="en-US" sz="1600" dirty="0">
                <a:cs typeface="微软雅黑" panose="020B0503020204020204" charset="-122"/>
                <a:sym typeface="+mn-ea"/>
              </a:rPr>
              <a:t>为</a:t>
            </a:r>
            <a:r>
              <a:rPr lang="en-US" altLang="zh-CN" sz="1600" dirty="0">
                <a:cs typeface="微软雅黑" panose="020B0503020204020204" charset="-122"/>
                <a:sym typeface="+mn-ea"/>
              </a:rPr>
              <a:t>“</a:t>
            </a:r>
            <a:r>
              <a:rPr lang="zh-CN" altLang="en-US" sz="1600" dirty="0">
                <a:cs typeface="微软雅黑" panose="020B0503020204020204" charset="-122"/>
                <a:sym typeface="+mn-ea"/>
              </a:rPr>
              <a:t>宵</a:t>
            </a:r>
            <a:r>
              <a:rPr lang="en-US" altLang="zh-CN" sz="1600" dirty="0">
                <a:cs typeface="微软雅黑" panose="020B0503020204020204" charset="-122"/>
                <a:sym typeface="+mn-ea"/>
              </a:rPr>
              <a:t>”</a:t>
            </a:r>
            <a:r>
              <a:rPr lang="zh-CN" altLang="en-US" sz="1600" dirty="0">
                <a:cs typeface="微软雅黑" panose="020B0503020204020204" charset="-122"/>
                <a:sym typeface="+mn-ea"/>
              </a:rPr>
              <a:t>，正月十五是一年中</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第一个月圆之夜，所以称正月十五为</a:t>
            </a:r>
            <a:r>
              <a:rPr lang="en-US" altLang="zh-CN" sz="1600" dirty="0">
                <a:cs typeface="微软雅黑" panose="020B0503020204020204" charset="-122"/>
                <a:sym typeface="+mn-ea"/>
              </a:rPr>
              <a:t>“</a:t>
            </a:r>
            <a:r>
              <a:rPr lang="zh-CN" altLang="en-US" sz="1600" dirty="0">
                <a:cs typeface="微软雅黑" panose="020B0503020204020204" charset="-122"/>
                <a:sym typeface="+mn-ea"/>
              </a:rPr>
              <a:t>元宵节</a:t>
            </a:r>
            <a:r>
              <a:rPr lang="en-US" altLang="zh-CN" sz="1600" dirty="0">
                <a:cs typeface="微软雅黑" panose="020B0503020204020204" charset="-122"/>
                <a:sym typeface="+mn-ea"/>
              </a:rPr>
              <a:t>”</a:t>
            </a:r>
            <a:r>
              <a:rPr lang="zh-CN" altLang="en-US" sz="1600" dirty="0">
                <a:cs typeface="微软雅黑" panose="020B0503020204020204" charset="-122"/>
                <a:sym typeface="+mn-ea"/>
              </a:rPr>
              <a:t>，又称上元节、小正月、元夕、灯节。关于元宵节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的来源、习俗以及是否应该放假，存在若干说法。</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佛教起源说。元宵赏灯始于东汉明帝时期，明帝提倡佛教，听说佛教有正月十五日僧人观佛舍利、点灯敬佛的做法，就命令这一天夜晚在皇官和寺庙里点灯敬佛，令士族庶民都挂灯。以后这种佛教礼仪节日逐渐成为民间盛大的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）道教</a:t>
            </a:r>
            <a:r>
              <a:rPr lang="en-US" altLang="zh-CN" sz="1600" dirty="0">
                <a:cs typeface="微软雅黑" panose="020B0503020204020204" charset="-122"/>
                <a:sym typeface="+mn-ea"/>
              </a:rPr>
              <a:t>“</a:t>
            </a:r>
            <a:r>
              <a:rPr lang="zh-CN" altLang="en-US" sz="1600" dirty="0">
                <a:cs typeface="微软雅黑" panose="020B0503020204020204" charset="-122"/>
                <a:sym typeface="+mn-ea"/>
              </a:rPr>
              <a:t>三元</a:t>
            </a:r>
            <a:r>
              <a:rPr lang="en-US" altLang="zh-CN" sz="1600" dirty="0">
                <a:cs typeface="微软雅黑" panose="020B0503020204020204" charset="-122"/>
                <a:sym typeface="+mn-ea"/>
              </a:rPr>
              <a:t>”</a:t>
            </a:r>
            <a:r>
              <a:rPr lang="zh-CN" altLang="en-US" sz="1600" dirty="0">
                <a:cs typeface="微软雅黑" panose="020B0503020204020204" charset="-122"/>
                <a:sym typeface="+mn-ea"/>
              </a:rPr>
              <a:t>说。道教以农历正月十五日为上元节，七月十五日为中元节，十月十五日为下元节。主管三元的分别为天、地、人三官，天官喜乐，故上元节要燃灯。</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）汉文帝诛乱说。相传，汉文帝为庆祝周勃于正月十五平定诸吕之乱，每逢此夜，必出宫游玩，与民同乐，并将正月十五定为元宵节。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4</a:t>
            </a:r>
            <a:r>
              <a:rPr lang="zh-CN" altLang="en-US" sz="1600" dirty="0">
                <a:cs typeface="微软雅黑" panose="020B0503020204020204" charset="-122"/>
                <a:sym typeface="+mn-ea"/>
              </a:rPr>
              <a:t>）祀太一神之俗。《史记</a:t>
            </a:r>
            <a:r>
              <a:rPr lang="en-US" altLang="zh-CN" sz="1600" dirty="0">
                <a:cs typeface="微软雅黑" panose="020B0503020204020204" charset="-122"/>
                <a:sym typeface="+mn-ea"/>
              </a:rPr>
              <a:t>·</a:t>
            </a:r>
            <a:r>
              <a:rPr lang="zh-CN" altLang="en-US" sz="1600" dirty="0">
                <a:cs typeface="微软雅黑" panose="020B0503020204020204" charset="-122"/>
                <a:sym typeface="+mn-ea"/>
              </a:rPr>
              <a:t>乐书》云：</a:t>
            </a:r>
            <a:r>
              <a:rPr lang="en-US" altLang="zh-CN" sz="1600" dirty="0">
                <a:cs typeface="微软雅黑" panose="020B0503020204020204" charset="-122"/>
                <a:sym typeface="+mn-ea"/>
              </a:rPr>
              <a:t>“</a:t>
            </a:r>
            <a:r>
              <a:rPr lang="zh-CN" altLang="en-US" sz="1600" dirty="0">
                <a:cs typeface="微软雅黑" panose="020B0503020204020204" charset="-122"/>
                <a:sym typeface="+mn-ea"/>
              </a:rPr>
              <a:t>汉家常以正月上辛祠太一甘泉，以昏时夜祠，到明而终。常有流星经于祠坛上。使僮男僮女七十人俱歌。</a:t>
            </a:r>
            <a:r>
              <a:rPr lang="en-US" altLang="zh-CN" sz="1600" dirty="0">
                <a:cs typeface="微软雅黑" panose="020B0503020204020204" charset="-122"/>
                <a:sym typeface="+mn-ea"/>
              </a:rPr>
              <a:t>”</a:t>
            </a:r>
            <a:r>
              <a:rPr lang="zh-CN" altLang="en-US" sz="1600" dirty="0">
                <a:cs typeface="微软雅黑" panose="020B0503020204020204" charset="-122"/>
                <a:sym typeface="+mn-ea"/>
              </a:rPr>
              <a:t>南宋学者洪迈在《容斋三笔》一文引此说。此后，明代王三聘的《古今事物考》沿用了这种成说。汉武帝朝创建</a:t>
            </a:r>
            <a:r>
              <a:rPr lang="en-US" altLang="zh-CN" sz="1600" dirty="0">
                <a:cs typeface="微软雅黑" panose="020B0503020204020204" charset="-122"/>
                <a:sym typeface="+mn-ea"/>
              </a:rPr>
              <a:t>“</a:t>
            </a:r>
            <a:r>
              <a:rPr lang="zh-CN" altLang="en-US" sz="1600" dirty="0">
                <a:cs typeface="微软雅黑" panose="020B0503020204020204" charset="-122"/>
                <a:sym typeface="+mn-ea"/>
              </a:rPr>
              <a:t>太初历</a:t>
            </a:r>
            <a:r>
              <a:rPr lang="en-US" altLang="zh-CN" sz="1600" dirty="0">
                <a:cs typeface="微软雅黑" panose="020B0503020204020204" charset="-122"/>
                <a:sym typeface="+mn-ea"/>
              </a:rPr>
              <a:t>”</a:t>
            </a:r>
            <a:r>
              <a:rPr lang="zh-CN" altLang="en-US" sz="1600" dirty="0">
                <a:cs typeface="微软雅黑" panose="020B0503020204020204" charset="-122"/>
                <a:sym typeface="+mn-ea"/>
              </a:rPr>
              <a:t>时，元宵节已被确定为重大节日。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5</a:t>
            </a:r>
            <a:r>
              <a:rPr lang="zh-CN" altLang="en-US" sz="1600" dirty="0">
                <a:cs typeface="微软雅黑" panose="020B0503020204020204" charset="-122"/>
                <a:sym typeface="+mn-ea"/>
              </a:rPr>
              <a:t>）上元节古文献有明确记载的是在</a:t>
            </a:r>
            <a:r>
              <a:rPr lang="en-US" altLang="zh-CN" sz="1600" dirty="0">
                <a:cs typeface="微软雅黑" panose="020B0503020204020204" charset="-122"/>
                <a:sym typeface="+mn-ea"/>
              </a:rPr>
              <a:t>7</a:t>
            </a:r>
            <a:r>
              <a:rPr lang="zh-CN" altLang="en-US" sz="1600" dirty="0">
                <a:cs typeface="微软雅黑" panose="020B0503020204020204" charset="-122"/>
                <a:sym typeface="+mn-ea"/>
              </a:rPr>
              <a:t>世纪初开始的唐代。唐景龙四年当时正月</a:t>
            </a:r>
            <a:r>
              <a:rPr lang="en-US" altLang="zh-CN" sz="1600" dirty="0">
                <a:cs typeface="微软雅黑" panose="020B0503020204020204" charset="-122"/>
                <a:sym typeface="+mn-ea"/>
              </a:rPr>
              <a:t>“</a:t>
            </a:r>
            <a:r>
              <a:rPr lang="zh-CN" altLang="en-US" sz="1600" dirty="0">
                <a:cs typeface="微软雅黑" panose="020B0503020204020204" charset="-122"/>
                <a:sym typeface="+mn-ea"/>
              </a:rPr>
              <a:t>丙寅夜，帝与皇后微行观灯</a:t>
            </a:r>
            <a:r>
              <a:rPr lang="en-US" altLang="zh-CN" sz="1600" dirty="0">
                <a:cs typeface="微软雅黑" panose="020B0503020204020204" charset="-122"/>
                <a:sym typeface="+mn-ea"/>
              </a:rPr>
              <a:t>”</a:t>
            </a:r>
            <a:r>
              <a:rPr lang="zh-CN" altLang="en-US" sz="1600" dirty="0">
                <a:cs typeface="微软雅黑" panose="020B0503020204020204" charset="-122"/>
                <a:sym typeface="+mn-ea"/>
              </a:rPr>
              <a:t>，是夜放官女数千人观灯。认为上元夜天神下降，故从正月十四至十六日三夜均放灯，后增至五夜。到宋代，元宵节不仅灯火辉煌，且有歌舞百戏填充街巷，</a:t>
            </a:r>
            <a:r>
              <a:rPr lang="en-US" altLang="zh-CN" sz="1600" dirty="0">
                <a:cs typeface="微软雅黑" panose="020B0503020204020204" charset="-122"/>
                <a:sym typeface="+mn-ea"/>
              </a:rPr>
              <a:t>“</a:t>
            </a:r>
            <a:r>
              <a:rPr lang="zh-CN" altLang="en-US" sz="1600" dirty="0">
                <a:cs typeface="微软雅黑" panose="020B0503020204020204" charset="-122"/>
                <a:sym typeface="+mn-ea"/>
              </a:rPr>
              <a:t>乐声嘈杂十余里</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6</a:t>
            </a:r>
            <a:r>
              <a:rPr lang="zh-CN" altLang="en-US" sz="1600" dirty="0">
                <a:cs typeface="微软雅黑" panose="020B0503020204020204" charset="-122"/>
                <a:sym typeface="+mn-ea"/>
              </a:rPr>
              <a:t>）元宵节是否应该放假？张某认为，元宵节不属于国家法定假日，所以不应放假。而陈某认为，元宵节是中华传统文化的重要组成部分，有丰富多彩的习俗，如吃元宵、赏花灯、猜灯谜等，这些都是中华传统文化的瑰宝，如果放假一天，人们就有更多的时间去参与这些活动，感受中华传统文化的魅力从而增强文化认同和文化自信。</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94.</a:t>
            </a:r>
            <a:r>
              <a:rPr lang="zh-CN" altLang="en-US" sz="1600" dirty="0">
                <a:cs typeface="微软雅黑" panose="020B0503020204020204" charset="-122"/>
                <a:sym typeface="+mn-ea"/>
              </a:rPr>
              <a:t>以下哪项如果为真，最能支持（</a:t>
            </a:r>
            <a:r>
              <a:rPr lang="en-US" altLang="zh-CN" sz="1600" dirty="0">
                <a:cs typeface="微软雅黑" panose="020B0503020204020204" charset="-122"/>
                <a:sym typeface="+mn-ea"/>
              </a:rPr>
              <a:t>6</a:t>
            </a:r>
            <a:r>
              <a:rPr lang="zh-CN" altLang="en-US" sz="1600" dirty="0">
                <a:cs typeface="微软雅黑" panose="020B0503020204020204" charset="-122"/>
                <a:sym typeface="+mn-ea"/>
              </a:rPr>
              <a:t>）中张某的观点？（）</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法律允许的都是应该的</a:t>
            </a:r>
            <a:r>
              <a:rPr lang="en-US" altLang="zh-CN" sz="1600" dirty="0">
                <a:cs typeface="微软雅黑" panose="020B0503020204020204" charset="-122"/>
                <a:sym typeface="+mn-ea"/>
              </a:rPr>
              <a:t>			B.</a:t>
            </a:r>
            <a:r>
              <a:rPr lang="zh-CN" altLang="en-US" sz="1600" dirty="0">
                <a:cs typeface="微软雅黑" panose="020B0503020204020204" charset="-122"/>
                <a:sym typeface="+mn-ea"/>
              </a:rPr>
              <a:t>只有法律规定的才是应该的</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只有法律禁止的才是不应该的</a:t>
            </a:r>
            <a:r>
              <a:rPr lang="en-US" altLang="zh-CN" sz="1600" dirty="0">
                <a:cs typeface="微软雅黑" panose="020B0503020204020204" charset="-122"/>
                <a:sym typeface="+mn-ea"/>
              </a:rPr>
              <a:t>		D.</a:t>
            </a:r>
            <a:r>
              <a:rPr lang="zh-CN" altLang="en-US" sz="1600" dirty="0">
                <a:cs typeface="微软雅黑" panose="020B0503020204020204" charset="-122"/>
                <a:sym typeface="+mn-ea"/>
              </a:rPr>
              <a:t>有些事情是不应该的但是法律并未禁止</a:t>
            </a:r>
            <a:endParaRPr lang="zh-CN" altLang="en-US" sz="16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286385" y="812165"/>
            <a:ext cx="11669395" cy="5526405"/>
          </a:xfrm>
          <a:prstGeom prst="rect">
            <a:avLst/>
          </a:prstGeom>
          <a:noFill/>
        </p:spPr>
        <p:txBody>
          <a:bodyPr wrap="square" rtlCol="0" anchor="t">
            <a:noAutofit/>
          </a:bodyPr>
          <a:p>
            <a:pPr indent="0" fontAlgn="auto">
              <a:lnSpc>
                <a:spcPct val="100000"/>
              </a:lnSpc>
            </a:pPr>
            <a:r>
              <a:rPr lang="zh-CN" altLang="en-US" sz="1600" dirty="0">
                <a:cs typeface="微软雅黑" panose="020B0503020204020204" charset="-122"/>
                <a:sym typeface="+mn-ea"/>
              </a:rPr>
              <a:t>根据以下材料，回答</a:t>
            </a:r>
            <a:r>
              <a:rPr lang="en-US" altLang="zh-CN" sz="1600" dirty="0">
                <a:cs typeface="微软雅黑" panose="020B0503020204020204" charset="-122"/>
                <a:sym typeface="+mn-ea"/>
              </a:rPr>
              <a:t>91</a:t>
            </a:r>
            <a:r>
              <a:rPr lang="zh-CN" altLang="en-US" sz="1600" dirty="0">
                <a:cs typeface="微软雅黑" panose="020B0503020204020204" charset="-122"/>
                <a:sym typeface="+mn-ea"/>
              </a:rPr>
              <a:t>～</a:t>
            </a:r>
            <a:r>
              <a:rPr lang="en-US" altLang="zh-CN" sz="1600" dirty="0">
                <a:cs typeface="微软雅黑" panose="020B0503020204020204" charset="-122"/>
                <a:sym typeface="+mn-ea"/>
              </a:rPr>
              <a:t>95</a:t>
            </a:r>
            <a:r>
              <a:rPr lang="zh-CN" altLang="en-US" sz="1600" dirty="0">
                <a:cs typeface="微软雅黑" panose="020B0503020204020204" charset="-122"/>
                <a:sym typeface="+mn-ea"/>
              </a:rPr>
              <a:t>题。</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元宵节是中国的传统节日之一。正月是农历的元月，古人称</a:t>
            </a:r>
            <a:r>
              <a:rPr lang="en-US" altLang="zh-CN" sz="1600" dirty="0">
                <a:cs typeface="微软雅黑" panose="020B0503020204020204" charset="-122"/>
                <a:sym typeface="+mn-ea"/>
              </a:rPr>
              <a:t>“</a:t>
            </a:r>
            <a:r>
              <a:rPr lang="zh-CN" altLang="en-US" sz="1600" dirty="0">
                <a:cs typeface="微软雅黑" panose="020B0503020204020204" charset="-122"/>
                <a:sym typeface="+mn-ea"/>
              </a:rPr>
              <a:t>夜</a:t>
            </a:r>
            <a:r>
              <a:rPr lang="en-US" altLang="zh-CN" sz="1600" dirty="0">
                <a:cs typeface="微软雅黑" panose="020B0503020204020204" charset="-122"/>
                <a:sym typeface="+mn-ea"/>
              </a:rPr>
              <a:t>”</a:t>
            </a:r>
            <a:r>
              <a:rPr lang="zh-CN" altLang="en-US" sz="1600" dirty="0">
                <a:cs typeface="微软雅黑" panose="020B0503020204020204" charset="-122"/>
                <a:sym typeface="+mn-ea"/>
              </a:rPr>
              <a:t>为</a:t>
            </a:r>
            <a:r>
              <a:rPr lang="en-US" altLang="zh-CN" sz="1600" dirty="0">
                <a:cs typeface="微软雅黑" panose="020B0503020204020204" charset="-122"/>
                <a:sym typeface="+mn-ea"/>
              </a:rPr>
              <a:t>“</a:t>
            </a:r>
            <a:r>
              <a:rPr lang="zh-CN" altLang="en-US" sz="1600" dirty="0">
                <a:cs typeface="微软雅黑" panose="020B0503020204020204" charset="-122"/>
                <a:sym typeface="+mn-ea"/>
              </a:rPr>
              <a:t>宵</a:t>
            </a:r>
            <a:r>
              <a:rPr lang="en-US" altLang="zh-CN" sz="1600" dirty="0">
                <a:cs typeface="微软雅黑" panose="020B0503020204020204" charset="-122"/>
                <a:sym typeface="+mn-ea"/>
              </a:rPr>
              <a:t>”</a:t>
            </a:r>
            <a:r>
              <a:rPr lang="zh-CN" altLang="en-US" sz="1600" dirty="0">
                <a:cs typeface="微软雅黑" panose="020B0503020204020204" charset="-122"/>
                <a:sym typeface="+mn-ea"/>
              </a:rPr>
              <a:t>，正月十五是一年中</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第一个月圆之夜，所以称正月十五为</a:t>
            </a:r>
            <a:r>
              <a:rPr lang="en-US" altLang="zh-CN" sz="1600" dirty="0">
                <a:cs typeface="微软雅黑" panose="020B0503020204020204" charset="-122"/>
                <a:sym typeface="+mn-ea"/>
              </a:rPr>
              <a:t>“</a:t>
            </a:r>
            <a:r>
              <a:rPr lang="zh-CN" altLang="en-US" sz="1600" dirty="0">
                <a:cs typeface="微软雅黑" panose="020B0503020204020204" charset="-122"/>
                <a:sym typeface="+mn-ea"/>
              </a:rPr>
              <a:t>元宵节</a:t>
            </a:r>
            <a:r>
              <a:rPr lang="en-US" altLang="zh-CN" sz="1600" dirty="0">
                <a:cs typeface="微软雅黑" panose="020B0503020204020204" charset="-122"/>
                <a:sym typeface="+mn-ea"/>
              </a:rPr>
              <a:t>”</a:t>
            </a:r>
            <a:r>
              <a:rPr lang="zh-CN" altLang="en-US" sz="1600" dirty="0">
                <a:cs typeface="微软雅黑" panose="020B0503020204020204" charset="-122"/>
                <a:sym typeface="+mn-ea"/>
              </a:rPr>
              <a:t>，又称上元节、小正月、元夕、灯节。关于元宵节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的来源、习俗以及是否应该放假，存在若干说法。</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1</a:t>
            </a:r>
            <a:r>
              <a:rPr lang="zh-CN" altLang="en-US" sz="1600" dirty="0">
                <a:cs typeface="微软雅黑" panose="020B0503020204020204" charset="-122"/>
                <a:sym typeface="+mn-ea"/>
              </a:rPr>
              <a:t>）佛教起源说。元宵赏灯始于东汉明帝时期，明帝提倡佛教，听说佛教有正月十五日僧人观佛舍利、点灯敬佛的做法，就命令这一天夜晚在皇官和寺庙里点灯敬佛，令士族庶民都挂灯。以后这种佛教礼仪节日逐渐成为民间盛大的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2</a:t>
            </a:r>
            <a:r>
              <a:rPr lang="zh-CN" altLang="en-US" sz="1600" dirty="0">
                <a:cs typeface="微软雅黑" panose="020B0503020204020204" charset="-122"/>
                <a:sym typeface="+mn-ea"/>
              </a:rPr>
              <a:t>）道教</a:t>
            </a:r>
            <a:r>
              <a:rPr lang="en-US" altLang="zh-CN" sz="1600" dirty="0">
                <a:cs typeface="微软雅黑" panose="020B0503020204020204" charset="-122"/>
                <a:sym typeface="+mn-ea"/>
              </a:rPr>
              <a:t>“</a:t>
            </a:r>
            <a:r>
              <a:rPr lang="zh-CN" altLang="en-US" sz="1600" dirty="0">
                <a:cs typeface="微软雅黑" panose="020B0503020204020204" charset="-122"/>
                <a:sym typeface="+mn-ea"/>
              </a:rPr>
              <a:t>三元</a:t>
            </a:r>
            <a:r>
              <a:rPr lang="en-US" altLang="zh-CN" sz="1600" dirty="0">
                <a:cs typeface="微软雅黑" panose="020B0503020204020204" charset="-122"/>
                <a:sym typeface="+mn-ea"/>
              </a:rPr>
              <a:t>”</a:t>
            </a:r>
            <a:r>
              <a:rPr lang="zh-CN" altLang="en-US" sz="1600" dirty="0">
                <a:cs typeface="微软雅黑" panose="020B0503020204020204" charset="-122"/>
                <a:sym typeface="+mn-ea"/>
              </a:rPr>
              <a:t>说。道教以农历正月十五日为上元节，七月十五日为中元节，十月十五日为下元节。主管三元的分别为天、地、人三官，天官喜乐，故上元节要燃灯。</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3</a:t>
            </a:r>
            <a:r>
              <a:rPr lang="zh-CN" altLang="en-US" sz="1600" dirty="0">
                <a:cs typeface="微软雅黑" panose="020B0503020204020204" charset="-122"/>
                <a:sym typeface="+mn-ea"/>
              </a:rPr>
              <a:t>）汉文帝诛乱说。相传，汉文帝为庆祝周勃于正月十五平定诸吕之乱，每逢此夜，必出宫游玩，与民同乐，并将正月十五定为元宵节。</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4</a:t>
            </a:r>
            <a:r>
              <a:rPr lang="zh-CN" altLang="en-US" sz="1600" dirty="0">
                <a:cs typeface="微软雅黑" panose="020B0503020204020204" charset="-122"/>
                <a:sym typeface="+mn-ea"/>
              </a:rPr>
              <a:t>）祀太一神之俗。《史记</a:t>
            </a:r>
            <a:r>
              <a:rPr lang="en-US" altLang="zh-CN" sz="1600" dirty="0">
                <a:cs typeface="微软雅黑" panose="020B0503020204020204" charset="-122"/>
                <a:sym typeface="+mn-ea"/>
              </a:rPr>
              <a:t>·</a:t>
            </a:r>
            <a:r>
              <a:rPr lang="zh-CN" altLang="en-US" sz="1600" dirty="0">
                <a:cs typeface="微软雅黑" panose="020B0503020204020204" charset="-122"/>
                <a:sym typeface="+mn-ea"/>
              </a:rPr>
              <a:t>乐书》云：</a:t>
            </a:r>
            <a:r>
              <a:rPr lang="en-US" altLang="zh-CN" sz="1600" dirty="0">
                <a:cs typeface="微软雅黑" panose="020B0503020204020204" charset="-122"/>
                <a:sym typeface="+mn-ea"/>
              </a:rPr>
              <a:t>“</a:t>
            </a:r>
            <a:r>
              <a:rPr lang="zh-CN" altLang="en-US" sz="1600" dirty="0">
                <a:cs typeface="微软雅黑" panose="020B0503020204020204" charset="-122"/>
                <a:sym typeface="+mn-ea"/>
              </a:rPr>
              <a:t>汉家常以正月上辛祠太一甘泉，以昏时夜祠，到明而终。常有流星经于祠坛上。使僮男僮女七十人俱歌。</a:t>
            </a:r>
            <a:r>
              <a:rPr lang="en-US" altLang="zh-CN" sz="1600" dirty="0">
                <a:cs typeface="微软雅黑" panose="020B0503020204020204" charset="-122"/>
                <a:sym typeface="+mn-ea"/>
              </a:rPr>
              <a:t>”</a:t>
            </a:r>
            <a:r>
              <a:rPr lang="zh-CN" altLang="en-US" sz="1600" dirty="0">
                <a:cs typeface="微软雅黑" panose="020B0503020204020204" charset="-122"/>
                <a:sym typeface="+mn-ea"/>
              </a:rPr>
              <a:t>南宋学者洪迈在《容斋三笔》一文引此说。此后，明代王三聘的《古今事物考》沿用了这种成说。汉武帝朝创建</a:t>
            </a:r>
            <a:r>
              <a:rPr lang="en-US" altLang="zh-CN" sz="1600" dirty="0">
                <a:cs typeface="微软雅黑" panose="020B0503020204020204" charset="-122"/>
                <a:sym typeface="+mn-ea"/>
              </a:rPr>
              <a:t>“</a:t>
            </a:r>
            <a:r>
              <a:rPr lang="zh-CN" altLang="en-US" sz="1600" dirty="0">
                <a:cs typeface="微软雅黑" panose="020B0503020204020204" charset="-122"/>
                <a:sym typeface="+mn-ea"/>
              </a:rPr>
              <a:t>太初历</a:t>
            </a:r>
            <a:r>
              <a:rPr lang="en-US" altLang="zh-CN" sz="1600" dirty="0">
                <a:cs typeface="微软雅黑" panose="020B0503020204020204" charset="-122"/>
                <a:sym typeface="+mn-ea"/>
              </a:rPr>
              <a:t>”</a:t>
            </a:r>
            <a:r>
              <a:rPr lang="zh-CN" altLang="en-US" sz="1600" dirty="0">
                <a:cs typeface="微软雅黑" panose="020B0503020204020204" charset="-122"/>
                <a:sym typeface="+mn-ea"/>
              </a:rPr>
              <a:t>时，元宵节已被确定为重大节日。</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5</a:t>
            </a:r>
            <a:r>
              <a:rPr lang="zh-CN" altLang="en-US" sz="1600" dirty="0">
                <a:cs typeface="微软雅黑" panose="020B0503020204020204" charset="-122"/>
                <a:sym typeface="+mn-ea"/>
              </a:rPr>
              <a:t>）上元节古文献有明确记载的是在</a:t>
            </a:r>
            <a:r>
              <a:rPr lang="en-US" altLang="zh-CN" sz="1600" dirty="0">
                <a:cs typeface="微软雅黑" panose="020B0503020204020204" charset="-122"/>
                <a:sym typeface="+mn-ea"/>
              </a:rPr>
              <a:t>7</a:t>
            </a:r>
            <a:r>
              <a:rPr lang="zh-CN" altLang="en-US" sz="1600" dirty="0">
                <a:cs typeface="微软雅黑" panose="020B0503020204020204" charset="-122"/>
                <a:sym typeface="+mn-ea"/>
              </a:rPr>
              <a:t>世纪初开始的唐代。唐景龙四年当时正月</a:t>
            </a:r>
            <a:r>
              <a:rPr lang="en-US" altLang="zh-CN" sz="1600" dirty="0">
                <a:cs typeface="微软雅黑" panose="020B0503020204020204" charset="-122"/>
                <a:sym typeface="+mn-ea"/>
              </a:rPr>
              <a:t>“</a:t>
            </a:r>
            <a:r>
              <a:rPr lang="zh-CN" altLang="en-US" sz="1600" dirty="0">
                <a:cs typeface="微软雅黑" panose="020B0503020204020204" charset="-122"/>
                <a:sym typeface="+mn-ea"/>
              </a:rPr>
              <a:t>丙寅夜，帝与皇后微行观灯</a:t>
            </a:r>
            <a:r>
              <a:rPr lang="en-US" altLang="zh-CN" sz="1600" dirty="0">
                <a:cs typeface="微软雅黑" panose="020B0503020204020204" charset="-122"/>
                <a:sym typeface="+mn-ea"/>
              </a:rPr>
              <a:t>”</a:t>
            </a:r>
            <a:r>
              <a:rPr lang="zh-CN" altLang="en-US" sz="1600" dirty="0">
                <a:cs typeface="微软雅黑" panose="020B0503020204020204" charset="-122"/>
                <a:sym typeface="+mn-ea"/>
              </a:rPr>
              <a:t>，是夜放官女数千人观灯。认为上元夜天神下降，故从正月十四至十六日三夜均放灯，后增至五夜。到宋代，元宵节不仅灯火辉煌，且有歌舞百戏填充街巷，</a:t>
            </a:r>
            <a:r>
              <a:rPr lang="en-US" altLang="zh-CN" sz="1600" dirty="0">
                <a:cs typeface="微软雅黑" panose="020B0503020204020204" charset="-122"/>
                <a:sym typeface="+mn-ea"/>
              </a:rPr>
              <a:t>“</a:t>
            </a:r>
            <a:r>
              <a:rPr lang="zh-CN" altLang="en-US" sz="1600" dirty="0">
                <a:cs typeface="微软雅黑" panose="020B0503020204020204" charset="-122"/>
                <a:sym typeface="+mn-ea"/>
              </a:rPr>
              <a:t>乐声嘈杂十余里</a:t>
            </a:r>
            <a:r>
              <a:rPr lang="en-US" altLang="zh-CN" sz="1600" dirty="0">
                <a:cs typeface="微软雅黑" panose="020B0503020204020204" charset="-122"/>
                <a:sym typeface="+mn-ea"/>
              </a:rPr>
              <a:t>”</a:t>
            </a:r>
            <a:r>
              <a:rPr lang="zh-CN" altLang="en-US" sz="1600" dirty="0">
                <a:cs typeface="微软雅黑" panose="020B0503020204020204" charset="-122"/>
                <a:sym typeface="+mn-ea"/>
              </a:rPr>
              <a:t>。</a:t>
            </a:r>
            <a:endParaRPr lang="zh-CN" altLang="en-US" sz="1600" dirty="0">
              <a:cs typeface="微软雅黑" panose="020B0503020204020204" charset="-122"/>
              <a:sym typeface="+mn-ea"/>
            </a:endParaRPr>
          </a:p>
          <a:p>
            <a:pPr indent="0" fontAlgn="auto">
              <a:lnSpc>
                <a:spcPct val="100000"/>
              </a:lnSpc>
            </a:pPr>
            <a:r>
              <a:rPr lang="zh-CN" altLang="en-US" sz="1600" dirty="0">
                <a:cs typeface="微软雅黑" panose="020B0503020204020204" charset="-122"/>
                <a:sym typeface="+mn-ea"/>
              </a:rPr>
              <a:t>（</a:t>
            </a:r>
            <a:r>
              <a:rPr lang="en-US" altLang="zh-CN" sz="1600" dirty="0">
                <a:cs typeface="微软雅黑" panose="020B0503020204020204" charset="-122"/>
                <a:sym typeface="+mn-ea"/>
              </a:rPr>
              <a:t>6</a:t>
            </a:r>
            <a:r>
              <a:rPr lang="zh-CN" altLang="en-US" sz="1600" dirty="0">
                <a:cs typeface="微软雅黑" panose="020B0503020204020204" charset="-122"/>
                <a:sym typeface="+mn-ea"/>
              </a:rPr>
              <a:t>）元宵节是否应该放假？张某认为，元宵节不属于国家法定假日，所以不应放假。而陈某认为，元宵节是中华传统文化的重要组成部分，有丰富多彩的习俗，如吃元宵、赏花灯、猜灯谜等，这些都是中华传统文化的瑰宝，如果放假一天，人们就有更多的时间去参与这些活动，感受中华传统文化的魅力从而增强文化认同和文化自信。</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95.</a:t>
            </a:r>
            <a:r>
              <a:rPr lang="zh-CN" altLang="en-US" sz="1600" dirty="0">
                <a:cs typeface="微软雅黑" panose="020B0503020204020204" charset="-122"/>
                <a:sym typeface="+mn-ea"/>
              </a:rPr>
              <a:t>以下哪项如果为真，最能支持（</a:t>
            </a:r>
            <a:r>
              <a:rPr lang="en-US" altLang="zh-CN" sz="1600" dirty="0">
                <a:cs typeface="微软雅黑" panose="020B0503020204020204" charset="-122"/>
                <a:sym typeface="+mn-ea"/>
              </a:rPr>
              <a:t>6</a:t>
            </a:r>
            <a:r>
              <a:rPr lang="zh-CN" altLang="en-US" sz="1600" dirty="0">
                <a:cs typeface="微软雅黑" panose="020B0503020204020204" charset="-122"/>
                <a:sym typeface="+mn-ea"/>
              </a:rPr>
              <a:t>）中陈某的论证？（）</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A.</a:t>
            </a:r>
            <a:r>
              <a:rPr lang="zh-CN" altLang="en-US" sz="1600" dirty="0">
                <a:cs typeface="微软雅黑" panose="020B0503020204020204" charset="-122"/>
                <a:sym typeface="+mn-ea"/>
              </a:rPr>
              <a:t>不放假，人们就很难有时间参加猜灯谜等活动</a:t>
            </a:r>
            <a:r>
              <a:rPr lang="en-US" altLang="zh-CN" sz="1600" dirty="0">
                <a:cs typeface="微软雅黑" panose="020B0503020204020204" charset="-122"/>
                <a:sym typeface="+mn-ea"/>
              </a:rPr>
              <a:t>			B.</a:t>
            </a:r>
            <a:r>
              <a:rPr lang="zh-CN" altLang="en-US" sz="1600" dirty="0">
                <a:cs typeface="微软雅黑" panose="020B0503020204020204" charset="-122"/>
                <a:sym typeface="+mn-ea"/>
              </a:rPr>
              <a:t>放假一天可延长春节团聚的时间，元宵节应该放假</a:t>
            </a:r>
            <a:endParaRPr lang="zh-CN" altLang="en-US" sz="1600" dirty="0">
              <a:cs typeface="微软雅黑" panose="020B0503020204020204" charset="-122"/>
              <a:sym typeface="+mn-ea"/>
            </a:endParaRPr>
          </a:p>
          <a:p>
            <a:pPr indent="0" fontAlgn="auto">
              <a:lnSpc>
                <a:spcPct val="100000"/>
              </a:lnSpc>
            </a:pPr>
            <a:r>
              <a:rPr lang="en-US" altLang="zh-CN" sz="1600" dirty="0">
                <a:cs typeface="微软雅黑" panose="020B0503020204020204" charset="-122"/>
                <a:sym typeface="+mn-ea"/>
              </a:rPr>
              <a:t>C.</a:t>
            </a:r>
            <a:r>
              <a:rPr lang="zh-CN" altLang="en-US" sz="1600" dirty="0">
                <a:cs typeface="微软雅黑" panose="020B0503020204020204" charset="-122"/>
                <a:sym typeface="+mn-ea"/>
              </a:rPr>
              <a:t>有利于增强文化认同和文化自信的日子都应该放假</a:t>
            </a:r>
            <a:r>
              <a:rPr lang="en-US" altLang="zh-CN" sz="1600" dirty="0">
                <a:cs typeface="微软雅黑" panose="020B0503020204020204" charset="-122"/>
                <a:sym typeface="+mn-ea"/>
              </a:rPr>
              <a:t>		D.</a:t>
            </a:r>
            <a:r>
              <a:rPr lang="zh-CN" altLang="en-US" sz="1600" dirty="0">
                <a:cs typeface="微软雅黑" panose="020B0503020204020204" charset="-122"/>
                <a:sym typeface="+mn-ea"/>
              </a:rPr>
              <a:t>清明节、中秋节都放假了，元宵节同样也应该放假</a:t>
            </a:r>
            <a:endParaRPr lang="zh-CN" altLang="en-US" sz="16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6407</Words>
  <Application>WPS 演示</Application>
  <PresentationFormat>宽屏</PresentationFormat>
  <Paragraphs>200</Paragraphs>
  <Slides>19</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19</vt:i4>
      </vt:variant>
    </vt:vector>
  </HeadingPairs>
  <TitlesOfParts>
    <vt:vector size="29" baseType="lpstr">
      <vt:lpstr>Arial</vt:lpstr>
      <vt:lpstr>宋体</vt:lpstr>
      <vt:lpstr>Wingdings</vt:lpstr>
      <vt:lpstr>微软雅黑</vt:lpstr>
      <vt:lpstr>微软雅黑 Light</vt:lpstr>
      <vt:lpstr>Wingdings</vt:lpstr>
      <vt:lpstr>Arial Unicode MS</vt:lpstr>
      <vt:lpstr>楷体</vt:lpstr>
      <vt:lpstr>Office 主题​​</vt:lpstr>
      <vt:lpstr>WPS</vt:lpstr>
      <vt:lpstr>PowerPoint 演示文稿</vt:lpstr>
      <vt:lpstr>题64</vt:lpstr>
      <vt:lpstr>题65</vt:lpstr>
      <vt:lpstr>题67</vt:lpstr>
      <vt:lpstr>题69</vt:lpstr>
      <vt:lpstr>题70</vt:lpstr>
      <vt:lpstr>题73</vt:lpstr>
      <vt:lpstr>题77</vt:lpstr>
      <vt:lpstr>题80</vt:lpstr>
      <vt:lpstr>题81</vt:lpstr>
      <vt:lpstr>题88</vt:lpstr>
      <vt:lpstr>题89</vt:lpstr>
      <vt:lpstr>题90</vt:lpstr>
      <vt:lpstr>题91</vt:lpstr>
      <vt:lpstr>题92</vt:lpstr>
      <vt:lpstr>题93</vt:lpstr>
      <vt:lpstr>题94</vt:lpstr>
      <vt:lpstr>题95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197</cp:revision>
  <dcterms:created xsi:type="dcterms:W3CDTF">2019-06-19T02:08:00Z</dcterms:created>
  <dcterms:modified xsi:type="dcterms:W3CDTF">2025-08-07T07:34:17Z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