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629" r:id="rId3"/>
    <p:sldId id="1582" r:id="rId5"/>
    <p:sldId id="1583" r:id="rId6"/>
    <p:sldId id="1584" r:id="rId7"/>
    <p:sldId id="1585" r:id="rId8"/>
    <p:sldId id="1586" r:id="rId9"/>
    <p:sldId id="1588" r:id="rId10"/>
    <p:sldId id="1589" r:id="rId11"/>
    <p:sldId id="1590" r:id="rId12"/>
    <p:sldId id="1591" r:id="rId13"/>
    <p:sldId id="1592" r:id="rId14"/>
    <p:sldId id="1593" r:id="rId15"/>
    <p:sldId id="1594" r:id="rId16"/>
    <p:sldId id="1595" r:id="rId17"/>
    <p:sldId id="1596" r:id="rId18"/>
    <p:sldId id="1597" r:id="rId19"/>
    <p:sldId id="1598" r:id="rId20"/>
    <p:sldId id="1599" r:id="rId21"/>
    <p:sldId id="1600" r:id="rId22"/>
    <p:sldId id="1601" r:id="rId23"/>
    <p:sldId id="1602" r:id="rId24"/>
    <p:sldId id="1603" r:id="rId25"/>
    <p:sldId id="1604" r:id="rId26"/>
    <p:sldId id="1605" r:id="rId27"/>
    <p:sldId id="1606" r:id="rId28"/>
    <p:sldId id="1607" r:id="rId29"/>
    <p:sldId id="1608" r:id="rId30"/>
    <p:sldId id="1609" r:id="rId31"/>
    <p:sldId id="1610" r:id="rId32"/>
    <p:sldId id="1611" r:id="rId33"/>
    <p:sldId id="1612" r:id="rId34"/>
    <p:sldId id="1613" r:id="rId35"/>
    <p:sldId id="1614" r:id="rId36"/>
    <p:sldId id="1615" r:id="rId37"/>
    <p:sldId id="1616" r:id="rId38"/>
    <p:sldId id="1619" r:id="rId39"/>
    <p:sldId id="1581"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5.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元素组成不同，且无明显属性规律，考虑数量规律。观察发现，题干图形封闭区域明显，考虑数面，但题干图形均有三个面，无法分组分类。进一步观察发现，题干图形含有最大面或最小面，考虑最大面和最小面对称。图</a:t>
            </a:r>
            <a:r>
              <a:rPr lang="en-US" altLang="en-US" sz="1200" kern="1200" dirty="0">
                <a:solidFill>
                  <a:schemeClr val="tx1"/>
                </a:solidFill>
                <a:effectLst/>
                <a:latin typeface="+mn-lt"/>
                <a:sym typeface="楷体" panose="02010609060101010101" charset="-122"/>
              </a:rPr>
              <a:t>①②⑥</a:t>
            </a:r>
            <a:r>
              <a:rPr lang="zh-CN" altLang="en-US" sz="1200" kern="1200" dirty="0">
                <a:solidFill>
                  <a:schemeClr val="tx1"/>
                </a:solidFill>
                <a:effectLst/>
                <a:latin typeface="+mn-lt"/>
                <a:sym typeface="楷体" panose="02010609060101010101" charset="-122"/>
              </a:rPr>
              <a:t>最大面均为轴对称图形，图</a:t>
            </a:r>
            <a:r>
              <a:rPr lang="en-US" altLang="en-US" sz="1200" kern="1200" dirty="0">
                <a:solidFill>
                  <a:schemeClr val="tx1"/>
                </a:solidFill>
                <a:effectLst/>
                <a:latin typeface="+mn-lt"/>
                <a:sym typeface="楷体" panose="02010609060101010101" charset="-122"/>
              </a:rPr>
              <a:t>③④⑤</a:t>
            </a:r>
            <a:r>
              <a:rPr lang="zh-CN" altLang="en-US" sz="1200" kern="1200" dirty="0">
                <a:solidFill>
                  <a:schemeClr val="tx1"/>
                </a:solidFill>
                <a:effectLst/>
                <a:latin typeface="+mn-lt"/>
                <a:sym typeface="楷体" panose="02010609060101010101" charset="-122"/>
              </a:rPr>
              <a:t>最小面均为轴对称图形，即图</a:t>
            </a:r>
            <a:r>
              <a:rPr lang="en-US" altLang="en-US" sz="1200" kern="1200" dirty="0">
                <a:solidFill>
                  <a:schemeClr val="tx1"/>
                </a:solidFill>
                <a:effectLst/>
                <a:latin typeface="+mn-lt"/>
                <a:sym typeface="楷体" panose="02010609060101010101" charset="-122"/>
              </a:rPr>
              <a:t>①②⑥</a:t>
            </a:r>
            <a:r>
              <a:rPr lang="zh-CN" altLang="en-US" sz="1200" kern="1200" dirty="0">
                <a:solidFill>
                  <a:schemeClr val="tx1"/>
                </a:solidFill>
                <a:effectLst/>
                <a:latin typeface="+mn-lt"/>
                <a:sym typeface="楷体" panose="02010609060101010101" charset="-122"/>
              </a:rPr>
              <a:t>为一组，图</a:t>
            </a:r>
            <a:r>
              <a:rPr lang="en-US" altLang="en-US" sz="1200" kern="1200" dirty="0">
                <a:solidFill>
                  <a:schemeClr val="tx1"/>
                </a:solidFill>
                <a:effectLst/>
                <a:latin typeface="+mn-lt"/>
                <a:sym typeface="楷体" panose="02010609060101010101" charset="-122"/>
              </a:rPr>
              <a:t>③④⑤</a:t>
            </a:r>
            <a:r>
              <a:rPr lang="zh-CN" altLang="en-US" sz="1200" kern="1200" dirty="0">
                <a:solidFill>
                  <a:schemeClr val="tx1"/>
                </a:solidFill>
                <a:effectLst/>
                <a:latin typeface="+mn-lt"/>
                <a:sym typeface="楷体" panose="02010609060101010101" charset="-122"/>
              </a:rPr>
              <a:t>为另一组，只有</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元素组成相同，优先考虑位置规律。观察发现，每个小黑球的位置明显发生变化，优先考虑平移。图一到图二每列黑球数量不变，黑球每列向上平移一个单位（到头时循环走），图二到图三每行数量不变，黑球每行向左平移一个单位（到头时循环走），图三到图四黑球按列向上平移一个单位（到头时循环走），图四到图五黑球按行向左平移一个单位（到头时循环走），相邻两幅图按列向上和按行向左依次交替平移，故？处应选择在图五基础上按列向上平移一个单位的图形，只有</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元素组成不同，且无明显属性规律，优先考虑数量规律。观察发现，题干图形中出现圆相切变形图、一线牵图形、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字变形图，考虑笔画数。观察发现，题干图形均为一笔画图形，故？处应选择一笔画的图形，只有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本题考查平面拼合，可以采用平行线条等长相消的方式。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消去平行等长的线段后进行组合得到轮廓图，即为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项。平行等长消去方式如下图所示：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本题为空间重构题。</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对展开图进行编号，如下图所示：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项：选项正面为面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、右面为面</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、顶面为面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，选项和展开图一致，排除；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项：选项正面为面</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、右面为面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、顶面为面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，选项和展开图一致，排除；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项：选项正面为面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、右面为面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、顶面为面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，选项中面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的公共边（红线标记）挨着面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黑色长方形的短边和面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黑色长方形的长边，但展开图中面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和面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的公共边（红线标记）均挨着黑色长方形短边，选项与展开图不一致，当选；</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项：选项正面为面</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、右面为面</a:t>
            </a:r>
            <a:r>
              <a:rPr lang="en-US" altLang="zh-CN" sz="1200" kern="1200" dirty="0">
                <a:solidFill>
                  <a:schemeClr val="tx1"/>
                </a:solidFill>
                <a:effectLst/>
                <a:latin typeface="+mn-lt"/>
                <a:sym typeface="楷体" panose="02010609060101010101" charset="-122"/>
              </a:rPr>
              <a:t>e</a:t>
            </a:r>
            <a:r>
              <a:rPr lang="zh-CN" altLang="en-US" sz="1200" kern="1200" dirty="0">
                <a:solidFill>
                  <a:schemeClr val="tx1"/>
                </a:solidFill>
                <a:effectLst/>
                <a:latin typeface="+mn-lt"/>
                <a:sym typeface="楷体" panose="02010609060101010101" charset="-122"/>
              </a:rPr>
              <a:t>、顶面为面</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，选项和展开图一致，排除。本题为选非题，故正确答案为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6.D</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在复杂系统中，个体遵循简单规则相互作用，自发形成宏观层面具有新特性或功能的现象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整体行为无法通过个体行为直接推导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项：计算机程序是单一执行主体，不符合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在复杂系统中，个体遵循简单规则相互作用，自发形成宏观层面具有新特性或功能的现象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，且生成图形是对预设算法的直接执行，整体行为（分形图形）可通过个体行为（算法步骤）直接推导，不符合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整体行为无法通过个体行为直接推导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项：官兵的行为受到防汛指挥部的统一外部指挥，并非个体自发遵循简单规则，不符合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在复杂系统中，个体遵循简单规则相互作用，自发形成宏观层面具有新特性或功能的现象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项：乐手的演奏节奏、音准等受到乐队指挥的实时协调，并非个体自发遵循简单规则，不符合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在复杂系统中，个体遵循简单规则相互作用，自发形成宏观层面具有新特性或功能的现象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项：鸟群是由多只鸟组成的复杂系统，每只鸟仅遵循保持间距、对齐方向、靠近群体三个简单规则，无外部统一指挥，自发与其他鸟相互作用，符合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在复杂系统中，个体遵循简单规则相互作用，自发形成宏观层面具有新特性或功能的现象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，且通过单只鸟的规则无法预判鸟群整体呈现旋涡状，符合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整体行为无法通过个体行为直接推导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主体：复杂系统中的个体；</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行为：个体遵循简单规则相互作用，无统一外部指挥；</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结果：宏观层面形成个体行为无法直接推导的新特性</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功能。</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选项计算机程序是单一主体，并非</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复杂系统中的多个个体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；生成分形图形是算法预设的结果，可通过程序代码直接推导，不符合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整体行为无法通过个体行为直接推导</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的特征。排除。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选项千名官兵堆叠沙包是防汛指挥部统筹调派的结果，属于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外部统一指挥下的行为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，而非</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个体遵循简单规则自发相互作用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；构筑堤坝的结果可通过官兵的个体堆叠行为直接推导。排除。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选项乐手演奏交响乐是依据指挥的乐谱协调配合，属于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外部指令引导下的行为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，而非</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个体自发相互作用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；交响乐的和谐效果可通过乐谱和乐手的个体演奏行为推导。排除。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选项鸟群是复杂系统，每只鸟是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个体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，遵循的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保持间距、对齐方向、靠近群体</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是简单规则；鸟群整体呈现的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复杂旋涡状迁飞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，是个体间相互作用的自发结果，无法通过单只鸟的行为直接推导（单只鸟的规则中没有</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形成旋涡</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的指令），符合涌现的全部定义要素。当选。</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7.B</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瞄准人们渴望改善现状的心理诉求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采用收费方式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通过监督或激励等手段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激发人们的内在驱动力或自我掌控力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商业行为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项：学校自习室提供了</a:t>
            </a:r>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小时自助学习场地，未涉及收费、监督或激励手段，不符合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采用收费方式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通过监督或激励等手段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商业行为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项：某读书</a:t>
            </a:r>
            <a:r>
              <a:rPr lang="en-US" altLang="zh-CN" sz="1200" kern="1200" dirty="0">
                <a:solidFill>
                  <a:schemeClr val="tx1"/>
                </a:solidFill>
                <a:effectLst/>
                <a:latin typeface="+mn-lt"/>
                <a:sym typeface="楷体" panose="02010609060101010101" charset="-122"/>
              </a:rPr>
              <a:t>APP</a:t>
            </a:r>
            <a:r>
              <a:rPr lang="zh-CN" altLang="en-US" sz="1200" kern="1200" dirty="0">
                <a:solidFill>
                  <a:schemeClr val="tx1"/>
                </a:solidFill>
                <a:effectLst/>
                <a:latin typeface="+mn-lt"/>
                <a:sym typeface="楷体" panose="02010609060101010101" charset="-122"/>
              </a:rPr>
              <a:t>采用先付费，符合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采用收费方式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，完成线上阅读任务后返还费用的模式，以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费用返还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为激励手段，推动用户完成阅读，激发自律性，且</a:t>
            </a:r>
            <a:r>
              <a:rPr lang="en-US" altLang="zh-CN" sz="1200" kern="1200" dirty="0">
                <a:solidFill>
                  <a:schemeClr val="tx1"/>
                </a:solidFill>
                <a:effectLst/>
                <a:latin typeface="+mn-lt"/>
                <a:sym typeface="楷体" panose="02010609060101010101" charset="-122"/>
              </a:rPr>
              <a:t>APP</a:t>
            </a:r>
            <a:r>
              <a:rPr lang="zh-CN" altLang="en-US" sz="1200" kern="1200" dirty="0">
                <a:solidFill>
                  <a:schemeClr val="tx1"/>
                </a:solidFill>
                <a:effectLst/>
                <a:latin typeface="+mn-lt"/>
                <a:sym typeface="楷体" panose="02010609060101010101" charset="-122"/>
              </a:rPr>
              <a:t>是商业产品，属于商业行为，符合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瞄准人们渴望改善现状的心理诉求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采用收费方式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通过监督或激励等手段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激发人们的内在驱动力或自我掌控力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商业行为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项：某单位为鼓励员工健身，规定每天走够</a:t>
            </a:r>
            <a:r>
              <a:rPr lang="en-US" altLang="zh-CN" sz="1200" kern="1200" dirty="0">
                <a:solidFill>
                  <a:schemeClr val="tx1"/>
                </a:solidFill>
                <a:effectLst/>
                <a:latin typeface="+mn-lt"/>
                <a:sym typeface="楷体" panose="02010609060101010101" charset="-122"/>
              </a:rPr>
              <a:t>8000</a:t>
            </a:r>
            <a:r>
              <a:rPr lang="zh-CN" altLang="en-US" sz="1200" kern="1200" dirty="0">
                <a:solidFill>
                  <a:schemeClr val="tx1"/>
                </a:solidFill>
                <a:effectLst/>
                <a:latin typeface="+mn-lt"/>
                <a:sym typeface="楷体" panose="02010609060101010101" charset="-122"/>
              </a:rPr>
              <a:t>步即可兑换购物券，属于内部员工福利，不属于商业行为，并且没有涉及收费，不符合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采用收费方式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商业行为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项：某同学为提高钢琴技艺，让朋友每日定时监督自己的练习情况，是个人之间的互助，不属于商业行为，并且没有涉及收费，不符合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采用收费方式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商业行为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主体是学校，属于公益或教学服务，并非商业行为；且未提及</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收费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主体是</a:t>
            </a:r>
            <a:r>
              <a:rPr lang="en-US" altLang="zh-CN" sz="1200" kern="1200" dirty="0">
                <a:solidFill>
                  <a:schemeClr val="tx1"/>
                </a:solidFill>
                <a:effectLst/>
                <a:latin typeface="+mn-lt"/>
                <a:sym typeface="楷体" panose="02010609060101010101" charset="-122"/>
              </a:rPr>
              <a:t>APP </a:t>
            </a:r>
            <a:r>
              <a:rPr lang="zh-CN" altLang="en-US" sz="1200" kern="1200" dirty="0">
                <a:solidFill>
                  <a:schemeClr val="tx1"/>
                </a:solidFill>
                <a:effectLst/>
                <a:latin typeface="+mn-lt"/>
                <a:sym typeface="楷体" panose="02010609060101010101" charset="-122"/>
              </a:rPr>
              <a:t>运营方，属于商业行为；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先付费</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符合收费方式；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完成阅读任务返还费用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是激励手段，目的是激发用户坚持阅读的内在驱动力（满足改善阅读习惯、提升知识储备的诉求），完全符合定义。当选。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主体是单位，属于企业内部福利或管理措施，并非商业行为；且未涉及</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收费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主体是个人之间的互助，属于私人行为，并非商业行为；且无</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收费</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环节，不符合定义。排除。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8.B</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行政机关作出影响行政相对人权益的决定时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须履行法定步骤（如告知、听证、说明理由等）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保障当事人知情权与参与权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项：该项中是某协会电话通知企业法定代表人参加听证会，协会属于社会组织和团体，并非行政机关，不符合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行政机关作出影响行政相对人权益的决定时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项：生态环境局属于行政机关，在处罚排污企业前，出具检测报告并召开公开听证会，符合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行政机关作出影响行政相对人权益的决定时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须履行法定步骤（如告知、听证、说明理由等）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保障当事人知情权与参与权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项：交警对违停车辆开具罚单前，全程录像并标注违法行为时间地点，主要是记录违法行为，是执法记录，属于行政机关行使司法职能产生的行为，而非保障当事人的知情权与参与权，不符合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行政机关作出影响行政相对人权益的决定时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保障当事人知情权与参与权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项：市场监管局因工作需要搬迁地址，发布正式公告告知商户及公众，搬迁地址是行政机关自身事务调整，没有对商户或公众的权益产生直接影响，不符合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行政机关作出影响行政相对人权益的决定时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9.A</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同一思维过程中，把两个不具有同一关系的概念当作具有同一关系的概念来使用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项：许多人都违规了，但为什么只处罚我一个人，这里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许多人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指的是一个群体，而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是群体中的一个个体，前后分别讨论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违规人数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处罚对象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，未把两个不具有同一关系的概念当作具有同一关系的概念来使用，不符合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是指在同一思维过程中，把两个不具有同一关系的概念当作具有同一关系的概念来使用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项：运动有益健康，但我每天跑步为什么还会生病，这里把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运动有益健康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等同与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运动就不会生病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来使用，但是有益健康，并不代表完全不生病，两者并不是同一概念，符合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是指在同一思维过程中，把两个不具有同一关系的概念当作具有同一关系的概念来使用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项：既然过道是业主的，我是业主，为什么不能在此放东西，</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过道是业主的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中的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业主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是集体概念，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我是业主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中的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业主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是个体概念，这里将集体概念的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业主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个体概念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业主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当作同一关系的概念来使用，符合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是指在同一思维过程中，把两个不具有同一关系的概念当作具有同一关系的概念来使用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项：宣传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买一送一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，为什么买一罐茶叶只送了一把勺子，这里将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买一送一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理解为买一件商品送一件相同的商品，而实际商家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买一送一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的意思是买一件商品送一件（非茶叶）赠品，将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送一件相同的商品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送一件（非茶叶）赠品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两个不具有同一关系的概念当作同一关系的概念来使用，符合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是指在同一思维过程中，把两个不具有同一关系的概念当作具有同一关系的概念来使用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生物进化是一个长期而缓慢的渐变过程，漫长的时间足以使微小的渐变逐渐积累，产生惊人的效果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项：某些昆虫的翅膀长度在一代代的繁衍中逐渐发生微小的改变从短翅膀变为长翅膀，体现了翅膀从短到长的进化是随着漫长的时间由微小变化逐渐积累产生的，是长期缓慢的渐变过程，符合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生物进化是一个长期而缓慢的渐变过程，漫长的时间足以使微小的渐变逐渐积累，产生惊人的效果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项：对生物生存有利的变异经过生存斗争得到保存并逐渐积累，最终形成新物种，体现了生物经过变异最终进化形成新物种是逐渐积累产生的，是长期缓慢的渐变过程，符合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生物进化是一个长期而缓慢的渐变过程，漫长的时间足以使微小的渐变逐渐积累，产生惊人的效果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项：新种化石在较短的地质年代中集中出现，体现了生物进化可能存在某种快速的变化，而不是一个长期缓慢的渐变过程，不符合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生物进化是一个长期而缓慢的渐变过程，漫长的时间足以使微小的渐变逐渐积累，产生惊人的效果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项：新种由祖先种经过缓慢、持续的过程转变形成，体现了生物进化成新种是逐渐积累产生的，是长期缓慢的渐变过程，符合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生物进化是一个长期而缓慢的渐变过程，漫长的时间足以使微小的渐变逐渐积累，产生惊人的效果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节能、节材以及延长部件或系统的寿命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清除或减少部件或系统对生态环境及人类健康的有害影响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研究自然生态系统和自然灾害中的摩擦学问题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为可再生能源和清洁能源发电装备提供技术支撑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项：研发全水基润滑剂，使钢材长久耐用，符合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节能、节材以及延长部件或系统的寿命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），对应正确，当选；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项：风力发电系统中，使用摩擦发电机提高发电效率，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风力发电系统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为可再生能源和清洁能源发电装备，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使用摩擦发电机提高发电效率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是为其提供技术支撑，符合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为可再生能源和清洁能源发电装备提供技术支撑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）而不是（</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项：研究人工关节中金属磨屑的腐蚀机制，是为了减少人工关节的磨损或为了减少人工关节这一部件对人类健康的有害影响，符合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节能、节材以及延长部件或系统的寿命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或者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清除或减少部件或系统对生态环境及人类健康的有害影响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）或者（</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），不是对应（</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项：研究控制地球板块运动的方法，避免板块黏滑，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地球板块运动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属于自然生态系统中的摩擦学问题，符合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研究自然生态系统和自然灾害中的摩擦学问题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）而不是（</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全水基润滑剂涂抹后让钢材长久耐用，直接对应领域（</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延长部件寿命</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核心要点，匹配完全正确。</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风力发电属于可再生能源，该技术是为清洁能源发电装备提供支撑，应对应领域（</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），而非（</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）。领域（</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）的核心是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减少环境</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健康危害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，与选项无关。对应错误。</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人工关节是人工医疗部件，不属于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自然生态系统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或</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自然灾害</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范畴，领域（</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）的核心是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自然相关的摩擦学问题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，与选项无关。对应错误。</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地球板块运动属于自然灾害相关的自然现象，应对应领域（</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），而非（</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）。领域（</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）的核心是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可再生</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清洁能源装备技术支撑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，与板块运动无关。对应错误。</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）经营类文书：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企业生产经营和财务活动中处理经济业务时使用的文书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）管理类文书：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企业在制订规章制度时使用的文书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）信息交流类文书：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用于传播或反馈经济信息，报道经济活动时使用的文书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）科技类文书：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企业在科学技术和经济规律研究时所使用的文书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）经济诉讼类文书：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企业之间或企业和职工之间在经济活动中发生民事或刑事纠纷时使用的文书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项：企业间签订的购销合同，是企业在生产经营中处理经济业务（商品买卖）时使用的文书，符合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企业生产经营和财务活动中处理经济业务时使用的文书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），对应正确，当选；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项：企业广告宣传方案，是企业用于推广产品或者宣传品牌而制作的文书，是营销策略，属于企业生产经营中处理经济业务（宣传推广）时使用的文书，符合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企业生产经营和财务活动中处理经济业务时使用的文书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）而不是（</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项：企业员工培训办法，是企业为了规范员工培训活动制定的规章制度，符合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企业在制订规章制度时使用的文书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）而不是（</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项：企业的产品技术鉴定书，是用于评估企业产品技术的文书，符合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企业在科学技术和经济规律研究时所使用的文书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，对应（</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）而不是（</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购销合同是企业在生产经营活动中，处理商品买卖这一具体经济业务的直接依据，完全符合经营类文书的定义。该选项对应正确。</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广告宣传方案的核心是企业内部策划宣传活动的文件，并非直接用于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传播</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反馈经济信息、报道经济活动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的文书（如经济新闻稿、市场调研报告才属于信息交流类）。该选项对应错误。</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员工培训办法是企业规范员工培训的规章制度，属于管理类文书，与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科学技术、经济规律研究</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无关。该选项对应错误。</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产品技术鉴定书是针对产品技术性能、质量标准的鉴定文件，属于科技类文书，与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经济活动纠纷</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无关联。该选项对应错误。</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调查表：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在统计中用于搜集和登记原始统计资料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汇总表：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在统计资料整理过程中使用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分析表：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在统计分析过程中对统计整理资料进行定量分析使用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：该表是关于不同年份的退休人数、招聘人数和离职人数的表格。可用于整理汇总不同年份的退休总人数、招聘总人数和离职总人数，符合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在统计资料整理过程中使用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汇总表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：该表是关于人员的单位、最高学历等相关信息的表格，可用于搜集个体的详细信息，是对原始统计资料的搜集和登记，符合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在统计中用于搜集和登记原始统计资料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调查表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：该表是关于不同部门在不同季度的营业额以及环比和同比数据的表格。可用于对不同部门的营业情况进行定量分析，符合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在统计分析过程中对统计整理资料进行定量分析使用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分析表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）洪灾：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暴雨、融冰、融雪或水库、堤坝决口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引起地表水漫流和淹没土地等造成的灾害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）涝灾：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长期降雨或暴雨不能及时排入河道沟渠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形成地表积水造成的灾害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）渍灾：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土壤中水分过多不能及时排出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影响农作物生长造成的灾害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）潮灾：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由强烈天气系统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形成超常潮水引起的灾害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项：大雨不止致使某城区积水深达数尺，城市设施受损，是长期降雨形成地表积水造成的灾害，符合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长期降雨或暴雨不能及时排入河道沟渠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形成地表积水造成的灾害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涝灾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洪灾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定义，即不属于（</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项：某山区谷地地势低下，两侧山地的地下水侵入会导致土壤水分过多，符合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土壤中水分过多不能及时排出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；致使薯类作物根系因浸泡缺氧，出现叶片早枯等现象，即影响了农作物生长，符合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影响农作物生长造成的灾害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渍灾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涝灾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定义，即不属于（</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项：大水淹没高速公路沿线的车辆，阻塞道路是堤坝决口引起地表水漫流导致的灾害，符合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暴雨、融冰、融雪或水库、堤坝决口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引起地表水漫流和淹没土地等造成的灾害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洪灾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渍灾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定义，即不属于（</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项：强台风引起的特大风暴潮致使某省</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万亩农田被淹，台风是强烈天气系统，特大风暴潮是由台风引起的超常潮水，符合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由强烈天气系统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形成超常潮水引起的灾害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潮灾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定义，即属于（</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江淮流域大雨不止致城区积水、设施受损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成因是大雨导致积水无法及时排放，符合涝灾（</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的定义；洪灾（</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）的核心是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地表水漫流</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淹没</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或</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堤坝决口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，该选项无此特征。对应错误。</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山区地下水侵入致薯类作物根系浸泡、叶片早枯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后果是土壤水分过多影响农作物生长，符合渍灾（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的定义；涝灾（</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）的核心是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地表积水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，与农作物根系浸泡无关。对应错误。</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堤坝决口致大水淹没车辆、阻塞道路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成因是堤坝决口，符合洪灾（</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的定义；渍灾（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）的核心是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土壤水分过多</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，与该选项无关。对应错误。</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强台风引发特大风暴潮致</a:t>
            </a:r>
            <a:r>
              <a:rPr lang="en-US" altLang="zh-CN" sz="1200" kern="1200" dirty="0">
                <a:solidFill>
                  <a:schemeClr val="tx1"/>
                </a:solidFill>
                <a:effectLst/>
                <a:latin typeface="+mn-lt"/>
                <a:sym typeface="楷体" panose="02010609060101010101" charset="-122"/>
              </a:rPr>
              <a:t> 40 </a:t>
            </a:r>
            <a:r>
              <a:rPr lang="zh-CN" altLang="en-US" sz="1200" kern="1200" dirty="0">
                <a:solidFill>
                  <a:schemeClr val="tx1"/>
                </a:solidFill>
                <a:effectLst/>
                <a:latin typeface="+mn-lt"/>
                <a:sym typeface="楷体" panose="02010609060101010101" charset="-122"/>
              </a:rPr>
              <a:t>万亩农田被淹</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成因是强台风（强烈天气系统）引发风暴潮（超常潮水），完全符合潮灾（</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的定义。对应正确。</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旅游总收入：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一定时期内，旅游目的地国家或地区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向国内外游客提供旅游产品、购物品和其他劳务所获得的货币收入的总额</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人均旅游收入：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某一时期旅游总收入与旅游总人次之比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旅游收汇率：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一定时期内，旅游外汇纯收入与旅游外汇总收入的比率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旅游换汇率：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旅游接待国或地区提供单位货币的旅游商品所换得的外汇数量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项：题干未提到其他商品出口的换汇率，故无法推出发展中国家的旅游换汇率要低于其他商品出口的换汇率，该项说法错误，排除；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项：旅游者在旅游过程中支付的物品邮寄、导游讲解等费用均是旅游目的地国家或地区向国内外游客提供的旅游服务所获得的货币收入，符合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一定时期内，旅游目的地国家或地区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向国内外游客提供旅游产品、购物品和其他劳务所获得的货币收入的总额</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旅游总收入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定义，该项说法正确，当选；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项：人均旅游收入是某一时期旅游总收入与旅游总人次之比，可以表示一段时期内每旅游人次的平均支出额，无法表述每个旅游者日均支出额，该项说法错误，排除；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项：旅游收汇率是一定时期内，旅游外汇纯收入与旅游外汇总收入的比率，即旅游收汇率率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（旅游外汇纯收入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旅游外汇总收入）</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100%=2/9</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100%=22.2222%,,</a:t>
            </a:r>
            <a:r>
              <a:rPr lang="zh-CN" altLang="en-US" sz="1200" kern="1200" dirty="0">
                <a:solidFill>
                  <a:schemeClr val="tx1"/>
                </a:solidFill>
                <a:effectLst/>
                <a:latin typeface="+mn-lt"/>
                <a:sym typeface="楷体" panose="02010609060101010101" charset="-122"/>
              </a:rPr>
              <a:t>小于</a:t>
            </a:r>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，该项说法错误，排除。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增量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增速</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基期，当基期值固定时，增量和增速成正比关系，二者为正比的对应关系。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项：等比数列是指从第二项起，每一项与它的前一项的比值等于同一个常数的数列；等差数列是相邻两项之差为常数的数列。二者是数列的两种不同类型，为并列关系，与题干逻辑关系不一致，排除；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项：分数是数学中表示整体等分后部分量的数值，形式为</a:t>
            </a:r>
            <a:r>
              <a:rPr lang="en-US" altLang="zh-CN" sz="1200" kern="1200" dirty="0">
                <a:solidFill>
                  <a:schemeClr val="tx1"/>
                </a:solidFill>
                <a:effectLst/>
                <a:latin typeface="+mn-lt"/>
                <a:sym typeface="楷体" panose="02010609060101010101" charset="-122"/>
              </a:rPr>
              <a:t>a/b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为整数且</a:t>
            </a:r>
            <a:r>
              <a:rPr lang="en-US" altLang="zh-CN" sz="1200" kern="1200" dirty="0">
                <a:solidFill>
                  <a:schemeClr val="tx1"/>
                </a:solidFill>
                <a:effectLst/>
                <a:latin typeface="+mn-lt"/>
                <a:sym typeface="楷体" panose="02010609060101010101" charset="-122"/>
              </a:rPr>
              <a:t>b≠0</a:t>
            </a:r>
            <a:r>
              <a:rPr lang="zh-CN" altLang="en-US" sz="1200" kern="1200" dirty="0">
                <a:solidFill>
                  <a:schemeClr val="tx1"/>
                </a:solidFill>
                <a:effectLst/>
                <a:latin typeface="+mn-lt"/>
                <a:sym typeface="楷体" panose="02010609060101010101" charset="-122"/>
              </a:rPr>
              <a:t>）；小数是数学中用于表示整数无法完整度量的数值的记数方式，所有的分数都可以用小数表示，二者不为正比的对应关系，与题干逻辑关系不一致，排除；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项：利润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单价</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销量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成本，当销量固定时，利润不仅与单价有关，还与成本有关，单价和利润不是正比的对应关系，与题干逻辑关系不一致，排除；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项：税额</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税率</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税基，当税基值固定时，税额和税率成正比关系，二者为正比的对应关系，与题干逻辑关系一致，当选。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千难和万险都形容困难和危险极多，二者为近义关系。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项：寸积和铢累都形容通过持续小量积累达成质变的过程，二者为近义关系，与题干逻辑关系一致，当选；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项：口口声声用以描述说话者频繁重复某种言论的行为，通过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才能发出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，二者为工具和效果的对应关系，与题干逻辑关系不一致，排除；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项：一落千丈用来形容声誉、地位或经济状况急剧下降，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千丈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用于修饰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一落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，二者为偏正关系，与题干逻辑关系不一致，排除；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项：杯水车薪的原义是用一杯水去扑灭一车燃烧的柴草，比喻力量太小，无济于事，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杯水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指的是一杯水，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车薪</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指的是一车燃烧的柴草，二者无明显逻辑关系，与题干逻辑关系不一致，排除。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千难</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万险</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是并列关系，且</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万</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为数量词，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险</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为近义名词，二者共同形容困难和危险极多。</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寸积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指一寸一寸地积累，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铢累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指一铢一铢地累积，二者是并列关系；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寸</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铢</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为微小的数量词，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为近义动词，形容积累的不易。逻辑关系与题干一致。铢是中国古代的重量单位，</a:t>
            </a:r>
            <a:r>
              <a:rPr lang="en-US" altLang="zh-CN" sz="1200" kern="1200" dirty="0">
                <a:solidFill>
                  <a:schemeClr val="tx1"/>
                </a:solidFill>
                <a:effectLst/>
                <a:latin typeface="+mn-lt"/>
                <a:sym typeface="楷体" panose="02010609060101010101" charset="-122"/>
              </a:rPr>
              <a:t>1</a:t>
            </a:r>
            <a:r>
              <a:rPr lang="en-US" altLang="en-US"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斤</a:t>
            </a:r>
            <a:r>
              <a:rPr lang="en-US" altLang="zh-CN" sz="1200" kern="1200" dirty="0">
                <a:solidFill>
                  <a:schemeClr val="tx1"/>
                </a:solidFill>
                <a:effectLst/>
                <a:latin typeface="+mn-lt"/>
                <a:sym typeface="楷体" panose="02010609060101010101" charset="-122"/>
              </a:rPr>
              <a:t>=16</a:t>
            </a:r>
            <a:r>
              <a:rPr lang="en-US" altLang="en-US"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两，</a:t>
            </a:r>
            <a:r>
              <a:rPr lang="en-US" altLang="zh-CN" sz="1200" kern="1200" dirty="0">
                <a:solidFill>
                  <a:schemeClr val="tx1"/>
                </a:solidFill>
                <a:effectLst/>
                <a:latin typeface="+mn-lt"/>
                <a:sym typeface="楷体" panose="02010609060101010101" charset="-122"/>
              </a:rPr>
              <a:t>1</a:t>
            </a:r>
            <a:r>
              <a:rPr lang="en-US" altLang="en-US"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两</a:t>
            </a:r>
            <a:r>
              <a:rPr lang="en-US" altLang="zh-CN" sz="1200" kern="1200" dirty="0">
                <a:solidFill>
                  <a:schemeClr val="tx1"/>
                </a:solidFill>
                <a:effectLst/>
                <a:latin typeface="+mn-lt"/>
                <a:sym typeface="楷体" panose="02010609060101010101" charset="-122"/>
              </a:rPr>
              <a:t>=24</a:t>
            </a:r>
            <a:r>
              <a:rPr lang="en-US" altLang="en-US"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寸</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是中国传统的长度单位</a:t>
            </a:r>
            <a:r>
              <a:rPr lang="en-US" altLang="zh-CN" sz="1200" kern="1200" dirty="0">
                <a:solidFill>
                  <a:schemeClr val="tx1"/>
                </a:solidFill>
                <a:effectLst/>
                <a:latin typeface="+mn-lt"/>
                <a:sym typeface="楷体" panose="02010609060101010101" charset="-122"/>
              </a:rPr>
              <a:t>1 </a:t>
            </a:r>
            <a:r>
              <a:rPr lang="zh-CN" altLang="en-US" sz="1200" kern="1200" dirty="0">
                <a:solidFill>
                  <a:schemeClr val="tx1"/>
                </a:solidFill>
                <a:effectLst/>
                <a:latin typeface="+mn-lt"/>
                <a:sym typeface="楷体" panose="02010609060101010101" charset="-122"/>
              </a:rPr>
              <a:t>米</a:t>
            </a:r>
            <a:r>
              <a:rPr lang="en-US" altLang="zh-CN" sz="1200" kern="1200" dirty="0">
                <a:solidFill>
                  <a:schemeClr val="tx1"/>
                </a:solidFill>
                <a:effectLst/>
                <a:latin typeface="+mn-lt"/>
                <a:sym typeface="楷体" panose="02010609060101010101" charset="-122"/>
              </a:rPr>
              <a:t> = 3 </a:t>
            </a:r>
            <a:r>
              <a:rPr lang="zh-CN" altLang="en-US" sz="1200" kern="1200" dirty="0">
                <a:solidFill>
                  <a:schemeClr val="tx1"/>
                </a:solidFill>
                <a:effectLst/>
                <a:latin typeface="+mn-lt"/>
                <a:sym typeface="楷体" panose="02010609060101010101" charset="-122"/>
              </a:rPr>
              <a:t>尺，</a:t>
            </a:r>
            <a:r>
              <a:rPr lang="en-US" altLang="zh-CN" sz="1200" kern="1200" dirty="0">
                <a:solidFill>
                  <a:schemeClr val="tx1"/>
                </a:solidFill>
                <a:effectLst/>
                <a:latin typeface="+mn-lt"/>
                <a:sym typeface="楷体" panose="02010609060101010101" charset="-122"/>
              </a:rPr>
              <a:t>1 </a:t>
            </a:r>
            <a:r>
              <a:rPr lang="zh-CN" altLang="en-US" sz="1200" kern="1200" dirty="0">
                <a:solidFill>
                  <a:schemeClr val="tx1"/>
                </a:solidFill>
                <a:effectLst/>
                <a:latin typeface="+mn-lt"/>
                <a:sym typeface="楷体" panose="02010609060101010101" charset="-122"/>
              </a:rPr>
              <a:t>尺</a:t>
            </a:r>
            <a:r>
              <a:rPr lang="en-US" altLang="zh-CN" sz="1200" kern="1200" dirty="0">
                <a:solidFill>
                  <a:schemeClr val="tx1"/>
                </a:solidFill>
                <a:effectLst/>
                <a:latin typeface="+mn-lt"/>
                <a:sym typeface="楷体" panose="02010609060101010101" charset="-122"/>
              </a:rPr>
              <a:t> = 10 </a:t>
            </a:r>
            <a:r>
              <a:rPr lang="zh-CN" altLang="en-US" sz="1200" kern="1200" dirty="0">
                <a:solidFill>
                  <a:schemeClr val="tx1"/>
                </a:solidFill>
                <a:effectLst/>
                <a:latin typeface="+mn-lt"/>
                <a:sym typeface="楷体" panose="02010609060101010101" charset="-122"/>
              </a:rPr>
              <a:t>寸</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口口声声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是叠词结构，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口口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声声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虽为并列，但无明确数量词的对应，且</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口</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并非近义关系，与题干逻辑不符。排除。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一落千丈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是偏正关系，指下降得又快又猛，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一落</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是动作，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千丈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是程度，并非并列关系，与题干逻辑不符。排除。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杯水车薪</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指用一杯水去救一车着火的柴草，比喻力量太小无济于事。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杯水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车薪</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是并列关系，但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车</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是容器</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工具量词，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薪</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并非近义关系，与题干逻辑不符。排除。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活性炭具有吸附性，二者为属性对应关系，且吸附性是活性炭自身就具有的属性。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项：石墨是一种导体，不是绝缘体，因此石墨不具有绝缘性，二者为反向属性关系，与题干逻辑关系不一致，排除；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项：氨水为气体氨的水溶液，氨具有挥发性，因此氨水也容易蒸发，具有挥发性，二者为属性对应关系，且挥发性是氨水自身就具有的属性，与题干逻辑关系一致，当选；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项：铁锈是铁被氧化的产物，虽然铁锈也具有一定的氧化性，但铁锈的氧化性通常需在特定条件下（如高温或酸性环境）才能体现，其自身不具有氧化性，与题干逻辑关系不一致，排除；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项：铜绿是铜被腐蚀后的氧化物，虽然铜绿也有一定的还原性，但铜绿的还原性通常需要特定条件（如高温、酸碱环境）才能触发，其自身不具有还原性，与题干逻辑关系不一致，排除。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题干中，活性炭具有吸附性，二者是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物质与自身固有属性</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的对应关系，且吸附性是活性炭的核心特性之一。</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石墨的核心固有属性是导电性（可作电极材料），而非绝缘性。属性对应错误，排除。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氨水（）具有挥发性，会挥发出氨气（），这是氨水的固有化学属性。二者是物质与固有属性的对应关系，与题干逻辑一致。</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铁锈的主要成分是氧化铁（），铁元素为</a:t>
            </a:r>
            <a:r>
              <a:rPr lang="en-US" altLang="zh-CN" sz="1200" kern="1200" dirty="0">
                <a:solidFill>
                  <a:schemeClr val="tx1"/>
                </a:solidFill>
                <a:effectLst/>
                <a:latin typeface="+mn-lt"/>
                <a:sym typeface="楷体" panose="02010609060101010101" charset="-122"/>
              </a:rPr>
              <a:t> + 3 </a:t>
            </a:r>
            <a:r>
              <a:rPr lang="zh-CN" altLang="en-US" sz="1200" kern="1200" dirty="0">
                <a:solidFill>
                  <a:schemeClr val="tx1"/>
                </a:solidFill>
                <a:effectLst/>
                <a:latin typeface="+mn-lt"/>
                <a:sym typeface="楷体" panose="02010609060101010101" charset="-122"/>
              </a:rPr>
              <a:t>价，虽有一定氧化性，但氧化性并非铁锈的核心固有属性；且铁锈的主要特征是疏松易脱落，与题干逻辑不符，排除。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铜绿的主要成分是碱式碳酸铜（），铜元素为</a:t>
            </a:r>
            <a:r>
              <a:rPr lang="en-US" altLang="zh-CN" sz="1200" kern="1200" dirty="0">
                <a:solidFill>
                  <a:schemeClr val="tx1"/>
                </a:solidFill>
                <a:effectLst/>
                <a:latin typeface="+mn-lt"/>
                <a:sym typeface="楷体" panose="02010609060101010101" charset="-122"/>
              </a:rPr>
              <a:t> + 2 </a:t>
            </a:r>
            <a:r>
              <a:rPr lang="zh-CN" altLang="en-US" sz="1200" kern="1200" dirty="0">
                <a:solidFill>
                  <a:schemeClr val="tx1"/>
                </a:solidFill>
                <a:effectLst/>
                <a:latin typeface="+mn-lt"/>
                <a:sym typeface="楷体" panose="02010609060101010101" charset="-122"/>
              </a:rPr>
              <a:t>价，还原性极弱，还原性不是铜绿的固有属性。属性对应错误，排除。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英勇无畏的意思是非常勇敢，不畏艰险，胆小懦弱的意思是胆怯、不勇敢，二者为反义关系。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项：才疏学浅指才能粗疏，学识肤浅，仁智双全指仁爱和智慧都具备，二者无明显逻辑关系，与题干逻辑关系不一致，排除；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项：有目共睹形容人人都可以看到，极其明显，目不识丁形容一个字也不认识，二者无明显逻辑关系，与题干逻辑关系不一致，排除；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项：左邻右舍指居住左右的邻居，也比喻关系比较接近的其他单位，天南海北形容相距遥远，也指相隔很远的不同地区，二者为反义关系，与题干逻辑关系一致，保留；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项：胸怀坦荡指心胸宽广，正直无私，心怀叵测指存心险恶，不可推测，二者为反义关系，与题干逻辑关系一致，保留。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项，题干与</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项都是对品格的形容，且第一个词是褒义词，第二个词是贬义词，而</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项是对距离的形容，且两词都是中性词，</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项与题干逻辑关系更为一致。</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英勇无畏</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指勇敢且无所畏惧，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胆小懦弱</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指胆怯软弱，二者是意思完全相反的反义词，且均为褒贬对立的成语（前者褒义，后者贬义）。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才疏学浅</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指学识浅薄，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仁智双全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指仁爱与智慧兼备。二者并非直接反义词（前者针对学识，后者针对品德与智慧），逻辑不符，排除。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有目共睹</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指事情非常明显，人人都能看见；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目不识丁</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指人不识字，文化水平低。二者无反义关系（前者描述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可见性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，后者描述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识字能力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左邻右舍</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指附近的邻居，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天南海北</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指距离遥远的不同地方。二者无直接反义关系（前者侧重</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邻近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，后者侧重</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遥远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，但语义范畴不同），排除。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胸怀坦荡</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指心地正直、心胸开阔（褒义），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心怀叵测</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指心里藏着不可告人的坏念头（贬义）。二者是直接反义词，且褒贬对立，与题干逻辑关系完全一致。</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诗句出自李白的《夏景》，意思是：门帘外暖风轻拂，燕子的叫声清脆悦耳；庭院前绿树成荫，蝉鸣声声如歌。两句诗都是地点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景象的结构，其中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帘外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庭前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是地点对仗，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熏风燕语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绿树蝉鸣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是景象对仗。</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项：诗句意思是：乌云散去，天气放晴雨已停止；雪消融了，寒谷的春意萌生，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云散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雪消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是天气状态对仗而非地点对仗，与题干逻辑关系不一致，排除；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项：诗句出自王维的《田园乐七首（其五）》，意思是：山脚下稀疏的炊烟升起在远方村落；天际边一棵孤树矗立在高高的原野上。两句诗都是地点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景象的结构，其中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是地点对仗，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孤烟远村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独树高原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是景象对仗，与题干逻辑关系一致，当选；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项：诗句出自刘长卿的《谪仙怨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晴川落日初低》，意思是：愿白云将自己的思念带给千里万里之外的友人；愿那一轮明月载着我的愁思随着溪水带到友人的身边。其中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是景物对仗而非地点对仗，与题干逻辑关系不一致，排除；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项：诗句意思是：细雨迷蒙中，湖面水波轻轻荡漾；山色在空灵朦胧的雨雾中显得格外奇妙、富有诗意。其中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烟雨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空濛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是景象对仗而非地点对仗，与题干逻辑关系不一致，排除。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改锥和扳手是修车时需要用到的工具，后两个词和第一个词之间是工具的对应关系。改锥，学名螺丝刀</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项：车间和船台是造船的场所，后两个词和第一个词之间是场所的对应关系，与题干逻辑关系不一致，排除；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项：竹尺和墨斗都可以用来测量，前两个词和第三个词之间是功能的对应关系，与题干逻辑关系不一致，排除；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项：纺轮和纺锤是纺纱时需要用到的工具，后两个词和第一个词之间是工具的对应关系，与题干逻辑关系一致，当选；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项：养蚕是为了得到蚕茧，二者是方式目的的对应关系，与题干逻辑关系不一致，排除。故正确答案为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动作与工具的对应关系：修车</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是一项操作行为，改锥和扳手是完成该行为的两种并列工具；工具属性：改锥、扳手均为人工操作的器械，功能上辅助修车，二者无包含关系，属于并列范畴。</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车间和船台是造船的场地</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场所，并非工具；题干是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动作</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工具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，选项是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动作</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场地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，逻辑不符。排除。船台是造船厂用于船舶建造、装配和下水的专用场地，属于造船工艺中的核心基础设施；在造船（或其他工业生产）场景中，车间是工厂内用于完成生产加工核心工序的室内或半封闭建筑空间</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竹尺和墨斗是工具，测量是动作，但顺序为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工具</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工具</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动作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，与题干</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动作</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工具</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工具</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的顺序完全相反。排除。墨斗是传统木工行业的核心划线工具，主要用于在木材表面弹出笔直的墨线，方便木工按线切割、刨削，保证加工精度。</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纺纱是操作行为，纺轮和纺锤是完成纺纱的两种并列工具，二者均为纺纱时的器械，功能上辅助纺纱，与题干</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动作</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并列工具</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的逻辑完全一致。符合。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纺轮（纺纱的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动力部件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纺锤（纺纱的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握持</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缠绕部件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蚕茧是蚕的产物，桑叶是蚕的食物，二者均不是养蚕的工具，而是养蚕过程中的相关物品，与题干逻辑不符。排除。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实体店和虚拟店是店铺的不同形式，店铺除了实体店就是虚拟店，二者为矛盾关系，注册实体店、注册虚拟店，二者与注册之间均为动宾关系。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项：应届生和往届生是毕业生的不同身份，毕业生除了应届生就是往届生，二者为矛盾关系，招聘应届生、招聘往届生，二者与招聘之间均为动宾关系，与题干逻辑关系一致，当选；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项：家属楼是一种居民楼，二者为种属关系，与题干逻辑关系不一致，排除；商品房、保障性住房包含：经济适用房、限价房、公租房、廉租房、共有产权房等。单位集资房</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房改房，回迁房</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安置房等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项：候诊区和治疗区是医院的不同区域，除了候诊区和治疗区还有后勤支持区等其他区域，二者为反对关系，且就诊和后两词之间不是动宾关系，与题干逻辑关系不一致，排除；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项：有机质和无机质是物质的不同形式，除了有机质就是无机质，二者为矛盾关系，土壤中含有有机质和无机质，后两词与土壤之间为组成关系，与题干逻辑关系不一致，排除。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弹道导弹通过制导系统来控制飞行，其中制导系统是组成弹道导弹的一部分，二者为组成关系，制导系统的功能是控制弹道导弹的飞行，后两者为功能的对应关系。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项：隐形材料是隐形战机的原材料，二者为为原材料的对应关系，隐形材料的功能是实现隐身，并非打击目标，二者无明显逻辑关系，与题干逻辑关系不一致，排除；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项：汉语词典通过部首目录来分类检索，其中部首目录是组成汉语词典的一部分，二者为组成关系，部首目录的功能就是用于分类检索，后两者为功能的对应关系，与题干逻辑关系一致，当选；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项：电动叉车的功能是搬运货物，二者为功能的对应关系，但电动叉车应用于机械工程领域，二者为工具领域的对应关系，与题干逻辑关系不一致，排除；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项：歌词作者是流行歌曲的创作者，而非流行歌曲的组成部分，与题干逻辑关系不一致，排除。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功能对应：制导系统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弹道导弹</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的核心组成部件；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部件作用：制导系统的专属功能是帮助弹道导弹</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控制飞行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轨迹，三者为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主体</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核心功能</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实现功能的部件</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隐形材料是隐形战机的组成部件，但其功能是实现隐身，而非</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打击目标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；打击目标是隐形战机的整体功能，并非隐形材料的作用。功能与部件不匹配。</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部首目录是汉语词典的核心组成部分；部首目录的专属功能是帮助使用者对词典内容进行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分类检索，完全契合题干</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主体</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核心功能</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实现功能的部件</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的逻辑关系。</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电动叉车是机械工程领域的应用设备，并非机械工程的组成部件；三者是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学科领域</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功能</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应用设备</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的关系，与题干逻辑不同。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歌词作者是创作歌词的主体，并非流行歌曲的组成部件；三者是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成品</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创作环节</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创作者</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的关系，与题干</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主体</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功能</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部件</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的结构完全不符。</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24.C</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项：三峡大坝能实现水力发电，二者为功能的对应关系，岩浆活动是活火山喷发的动力来源，二者为动力来源的对应关系，前后逻辑关系不一致，排除；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项：水利发电属于资源开发的一种，二者为种属关系，活火山属于地质景观的一种，二者为种属关系，前后逻辑关系一致，但词语前后顺序相反，排除；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项：水力发电与核能发电是不同类型的发电方式，二者为并列关系，活火山与休眠火山是不同状态的火山，二者为并列关系，前后逻辑关系一致，当选；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项：水力发电能促进经济发展，二者为功能对应关系，活火山活动时会有物质喷发，二者为喷发方式对应关系，前后逻辑关系不一致，排除。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前半部分：三峡大坝</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是实现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水力发电</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的具体工程设施，属于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功能与载体</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后半部分：岩浆活动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活火山</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的本质特征</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活动形式，属于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特征与主体</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前半部分：水力发电</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资源开发</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的一种类型，是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种属关系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后半部分：活火山</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地质景观</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的一种类型，但顺序为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主体与种属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（与前半部分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种属与大类</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顺序相反）；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前半部分：水力发电</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核能发电</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并列关系（均为发电方式，能量来源不同）；</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后半部分：休眠火山</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活火山</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并列关系（均为火山类型，活动状态不同）；</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前半部分：水力发电</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能促进</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经济发展，是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手段与目的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后半部分：物质喷发</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活火山</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的活动表现，是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现象与主体</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逻辑关系不一致。排除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项：财政贴息是政府补助，二者为种属关系，军用仓库是军事设施，二者为种属关系，前后逻辑关系一致，当选；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项：财政贴息的资金需纳入财政预算安排，二者为对应关系，交通设施与军事设施是不同范畴的基础设施，二者为并列关系，前后逻辑关系不一致，排除；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项：财政贴息是政策支持，二者为种属关系，军事设备（如枪支、坦克）与军事设施（如基地、仓库）是军事领域的不同装备，二者为并列关系，前后逻辑关系不一致，排除；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项：承贷企业是财政贴息的对象，二者为行为与对象的对应关系，作战军团使用军事设施，二者为主体与工具的对应关系，前后逻辑关系不一致，排除。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前半部分：财政贴息是政府补助的一种具体形式（政府为扶持特定领域，补贴企业贷款利息），二者为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种属关系；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后半部分：军用仓库是军事设施的一种（军事设施包含军用仓库、防御工事等），二者也为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种属关系；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前半部分：财政贴息是财政预算的执行内容之一，属于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预算项目与预算整体</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的组成关系；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后半部分：交通设施和军事设施是并列关系（二者功能不同，无包含关系）；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前半部分：财政贴息是政策支持的一种手段（通过贴息实现政策导向），二者为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种属关系；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后半部分：军事设备（如武器、通信器材）和军事设施（如军营、防线）是并列关系（同属军事领域，但范畴不同）；</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前半部分：财政贴息的受益对象是承贷企业，二者为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政策措施</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受益主体</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后半部分：作战军团是使用军事设施的主体，二者为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使用主体</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设施</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再深度对比</a:t>
            </a:r>
            <a:r>
              <a:rPr lang="en-US" altLang="zh-CN" sz="1200" kern="1200" dirty="0">
                <a:solidFill>
                  <a:schemeClr val="tx1"/>
                </a:solidFill>
                <a:effectLst/>
                <a:latin typeface="+mn-lt"/>
                <a:sym typeface="楷体" panose="02010609060101010101" charset="-122"/>
              </a:rPr>
              <a:t> A </a:t>
            </a:r>
            <a:r>
              <a:rPr lang="zh-CN" altLang="en-US" sz="1200" kern="1200" dirty="0">
                <a:solidFill>
                  <a:schemeClr val="tx1"/>
                </a:solidFill>
                <a:effectLst/>
                <a:latin typeface="+mn-lt"/>
                <a:sym typeface="楷体" panose="02010609060101010101" charset="-122"/>
              </a:rPr>
              <a:t>选项的严谨性</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题干中</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财政贴息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是政府补助的核心子类，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军用仓库</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是军事设施的核心子类，但还有更优逻辑验证：</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26.D</a:t>
            </a:r>
            <a:endParaRPr lang="en-US" altLang="zh-CN"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有些参加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托球跑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两人三足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蹲跳接力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蹲跳接力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有些参加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②③</a:t>
            </a:r>
            <a:r>
              <a:rPr lang="zh-CN" altLang="en-US" sz="1200" kern="1200" dirty="0">
                <a:solidFill>
                  <a:schemeClr val="tx1"/>
                </a:solidFill>
                <a:effectLst/>
                <a:latin typeface="+mn-lt"/>
                <a:sym typeface="楷体" panose="02010609060101010101" charset="-122"/>
              </a:rPr>
              <a:t>递推出</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两人三足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蹲跳接力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项：翻译为：有些参加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托球跑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比赛，根据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换位可得有些参加了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托球跑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无法进行串联递推，故无法和</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串联递推，无法推出，保留；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两人三足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比赛，是对</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的肯前，肯前必肯后，可以推出，排除；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项：翻译为：有些参加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蹲跳接力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比赛，将</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逆否可得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蹲跳接力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比赛，与</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递推，可得：有些参加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蹲跳接力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比赛，可以推出，排除；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两人三足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比赛，是对</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的肯前，肯前必肯后，得到参加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两人三足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比赛的人参加了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比赛是对</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的否后，有些不能逆否，无法推出，保留。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比较</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无法对</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进行否后，但是可以试图建立参加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两人三足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比赛的联系，而</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项表述的是参加了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两人三足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比赛与参加了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吹气球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比赛的联系，</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项和题干逻辑上关联度不高；而将</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换位后，虽然无法和</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直接串联递推，但是可以试图建立参加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托球跑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比赛和参加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比赛的联系，</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项表述的也是参加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托球跑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跳绳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比赛的联系，和题干逻辑上关联度更高。因此相比之下，</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项更加无法推出。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注：本题出题不严谨，选项对比择优即可。</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27.C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论点：当雌性小鼠的脑细胞仅依赖从母体继承的</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染色体时，大脑衰老速度会更快。</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项：该项说明雌性体内的每个细胞都会随机遗传一条</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染色体，另一条则会关闭或失活，讨论的是</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染色体遗传的随机性，与雌性小鼠的脑细胞仅依赖从母体继承的</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染色体是否会导致大脑衰老速度更快无关，不能加强，排除；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项：该项说明雌性小鼠的大脑衰老速度比雄性小鼠更快，且在认知、记忆方面的表现不如雄性小鼠，与雌性小鼠的脑细胞仅依赖从母体继承的</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染色体是否会导致大脑衰老速度更快无关，不能加强，排除；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项：该项说明在仅表达母体</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染色体的雌性小鼠的大脑中，母体</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染色体加速了海马体的衰老，表明仅依赖从母体继承的</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染色体时，大脑衰老速度会加快，补充论据，为加强项，当选；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项：该项说明激活仅表达母体</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染色体的雌性小鼠的父体</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染色体，可以提高其智力，强调父体</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染色体可以提高智力，与雌性小鼠的脑细胞仅依赖从母体继承的</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染色体是否会导致大脑衰老速度更快无关，不能加强，排除。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论点：过度自引是导致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科学家数量激增的原因。</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论据：近</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科学家（在首次发表论文后的</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年内进入高被引行列的人）从</a:t>
            </a:r>
            <a:r>
              <a:rPr lang="en-US" altLang="zh-CN" sz="1200" kern="1200" dirty="0">
                <a:solidFill>
                  <a:schemeClr val="tx1"/>
                </a:solidFill>
                <a:effectLst/>
                <a:latin typeface="+mn-lt"/>
                <a:sym typeface="楷体" panose="02010609060101010101" charset="-122"/>
              </a:rPr>
              <a:t>213</a:t>
            </a:r>
            <a:r>
              <a:rPr lang="zh-CN" altLang="en-US" sz="1200" kern="1200" dirty="0">
                <a:solidFill>
                  <a:schemeClr val="tx1"/>
                </a:solidFill>
                <a:effectLst/>
                <a:latin typeface="+mn-lt"/>
                <a:sym typeface="楷体" panose="02010609060101010101" charset="-122"/>
              </a:rPr>
              <a:t>名增加到</a:t>
            </a:r>
            <a:r>
              <a:rPr lang="en-US" altLang="zh-CN" sz="1200" kern="1200" dirty="0">
                <a:solidFill>
                  <a:schemeClr val="tx1"/>
                </a:solidFill>
                <a:effectLst/>
                <a:latin typeface="+mn-lt"/>
                <a:sym typeface="楷体" panose="02010609060101010101" charset="-122"/>
              </a:rPr>
              <a:t>469</a:t>
            </a:r>
            <a:r>
              <a:rPr lang="zh-CN" altLang="en-US" sz="1200" kern="1200" dirty="0">
                <a:solidFill>
                  <a:schemeClr val="tx1"/>
                </a:solidFill>
                <a:effectLst/>
                <a:latin typeface="+mn-lt"/>
                <a:sym typeface="楷体" panose="02010609060101010101" charset="-122"/>
              </a:rPr>
              <a:t>名。在这些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科学家中，有相当一部分人自我引用的比例显著高于平均水平。论点和论据均围绕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自我引用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科学家数量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展开讨论，话题一致，加强优先考虑补充论据。</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科学家都想进入高被引行列，指出科学家的心理想法，与过度自引是否导致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科学家数量激增无关，不能支持，排除；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项：该项说明如果排除自我引用，</a:t>
            </a:r>
            <a:r>
              <a:rPr lang="en-US" altLang="zh-CN" sz="1200" kern="1200" dirty="0">
                <a:solidFill>
                  <a:schemeClr val="tx1"/>
                </a:solidFill>
                <a:effectLst/>
                <a:latin typeface="+mn-lt"/>
                <a:sym typeface="楷体" panose="02010609060101010101" charset="-122"/>
              </a:rPr>
              <a:t>20%</a:t>
            </a:r>
            <a:r>
              <a:rPr lang="zh-CN" altLang="en-US" sz="1200" kern="1200" dirty="0">
                <a:solidFill>
                  <a:schemeClr val="tx1"/>
                </a:solidFill>
                <a:effectLst/>
                <a:latin typeface="+mn-lt"/>
                <a:sym typeface="楷体" panose="02010609060101010101" charset="-122"/>
              </a:rPr>
              <a:t>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科学家会跌出高被引行列，即自我引用使得</a:t>
            </a:r>
            <a:r>
              <a:rPr lang="en-US" altLang="zh-CN" sz="1200" kern="1200" dirty="0">
                <a:solidFill>
                  <a:schemeClr val="tx1"/>
                </a:solidFill>
                <a:effectLst/>
                <a:latin typeface="+mn-lt"/>
                <a:sym typeface="楷体" panose="02010609060101010101" charset="-122"/>
              </a:rPr>
              <a:t>20%</a:t>
            </a:r>
            <a:r>
              <a:rPr lang="zh-CN" altLang="en-US" sz="1200" kern="1200" dirty="0">
                <a:solidFill>
                  <a:schemeClr val="tx1"/>
                </a:solidFill>
                <a:effectLst/>
                <a:latin typeface="+mn-lt"/>
                <a:sym typeface="楷体" panose="02010609060101010101" charset="-122"/>
              </a:rPr>
              <a:t>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科学家进入高被引行列，证明过度自引使得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科学家数量激增，补充论据，可以支持，当选；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项：该项说明过度自我引用会引发科研诚信问题，指出过度自引的危害，与过度自引是否导致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科学家数量激增无关，不能支持，排除；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项：该项说明有些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科学家发表了大量无意义的科研论文，指出科研论文发表现状，与过度自引是否导致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科学家数量激增无关，不能支持，排除。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论点：过度自引是导致</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科学家数量激增的原因。</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论据：近</a:t>
            </a:r>
            <a:r>
              <a:rPr lang="en-US" altLang="zh-CN" sz="1200" kern="1200" dirty="0">
                <a:solidFill>
                  <a:schemeClr val="tx1"/>
                </a:solidFill>
                <a:effectLst/>
                <a:latin typeface="+mn-lt"/>
                <a:sym typeface="楷体" panose="02010609060101010101" charset="-122"/>
              </a:rPr>
              <a:t> 5 </a:t>
            </a:r>
            <a:r>
              <a:rPr lang="zh-CN" altLang="en-US" sz="1200" kern="1200" dirty="0">
                <a:solidFill>
                  <a:schemeClr val="tx1"/>
                </a:solidFill>
                <a:effectLst/>
                <a:latin typeface="+mn-lt"/>
                <a:sym typeface="楷体" panose="02010609060101010101" charset="-122"/>
              </a:rPr>
              <a:t>年</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科学家数量大幅增加，且其中相当一部分人自我引用比例显著高于平均水平。</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核心逻辑：自引比例高</a:t>
            </a:r>
            <a:r>
              <a:rPr lang="en-US" altLang="zh-CN" sz="1200" kern="1200" dirty="0">
                <a:solidFill>
                  <a:schemeClr val="tx1"/>
                </a:solidFill>
                <a:effectLst/>
                <a:latin typeface="+mn-lt"/>
                <a:sym typeface="楷体" panose="02010609060101010101" charset="-122"/>
              </a:rPr>
              <a:t> </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助力科学家快速进入高被引行列</a:t>
            </a:r>
            <a:r>
              <a:rPr lang="en-US" altLang="zh-CN" sz="1200" kern="1200" dirty="0">
                <a:solidFill>
                  <a:schemeClr val="tx1"/>
                </a:solidFill>
                <a:effectLst/>
                <a:latin typeface="+mn-lt"/>
                <a:sym typeface="楷体" panose="02010609060101010101" charset="-122"/>
              </a:rPr>
              <a:t> </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科学家数量增多。</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支持方向：需建立</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过度自引</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成为早熟科学家</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的直接因果关联，即证明自引是他们进入高被引行列的关键因素。</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科学家想进入高被引行列，仅说明他们的主观意愿，但未提及</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过度自引</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是否是实现这一意愿的手段，与论点因果关系无关。排除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排除自我引用后，</a:t>
            </a:r>
            <a:r>
              <a:rPr lang="en-US" altLang="zh-CN" sz="1200" kern="1200" dirty="0">
                <a:solidFill>
                  <a:schemeClr val="tx1"/>
                </a:solidFill>
                <a:effectLst/>
                <a:latin typeface="+mn-lt"/>
                <a:sym typeface="楷体" panose="02010609060101010101" charset="-122"/>
              </a:rPr>
              <a:t>20% </a:t>
            </a:r>
            <a:r>
              <a:rPr lang="zh-CN" altLang="en-US" sz="1200" kern="1200" dirty="0">
                <a:solidFill>
                  <a:schemeClr val="tx1"/>
                </a:solidFill>
                <a:effectLst/>
                <a:latin typeface="+mn-lt"/>
                <a:sym typeface="楷体" panose="02010609060101010101" charset="-122"/>
              </a:rPr>
              <a:t>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科学家会跌出高被引行列，这直接说明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自我引用是这些科学家进入高被引行列的核心支撑</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如果没有自引，他们就无法达到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标准。该选项通过</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反向验证</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的方式，强化了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过度自引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早熟科学家数量激增</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的因果关系，有力支持论点。保留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过度自引会引发科研诚信问题，讨论的是自引的负面影响，而非自引与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科学家数量的关系，话题不一致。排除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部分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早熟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科学家发表无意义论文，提出了另一种可能导致他们进入高被引的原因（如论文数量堆砌），属于他因削弱，而非支持。排除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论点：虽然销售额占比逐年下降，但母婴品类线下销售渠道仍然具有很强的不可替代性，尤其在婴幼儿食品销售中，线下渠道的重要性更为显著。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本题只有论点没有论据，加强优先考虑补充论据。</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项：该项说明开在医院附近的母婴用品门店线下销售渠道的销售额日益增加，仅指出线下销售渠道的销售额增加，不明确线下销售渠道是否具有不可替代性，不能支持，当选；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项：该项说明婴幼儿食品的概念和功能较为复杂，线下导购能提供更个性化的服务，指出婴幼儿食品领域线下销售更具优势，可以体现线下销售渠道的不可替代性，可以支持，排除；</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项：该项说明母婴品类线下销售渠道售后服务更直接便捷，能直接处理问题产品，指出母婴品类线下销售渠道的优势，可以体现线下销售渠道的不可替代性，可以支持，排除；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项：该项说明线下销售的母婴产品能让消费者提升购买的安心感，指出母婴品类线下销售渠道的优势，可以体现线下销售渠道的不可替代性，可以支持，排除。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论点：尾羽长度是雌鸟选择配偶的核心标准。</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论据：研究人员在观测</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个白鹇</a:t>
            </a:r>
            <a:r>
              <a:rPr lang="en-US" altLang="zh-CN" sz="1200" kern="1200" dirty="0">
                <a:solidFill>
                  <a:schemeClr val="tx1"/>
                </a:solidFill>
                <a:effectLst/>
                <a:latin typeface="+mn-lt"/>
                <a:sym typeface="楷体" panose="02010609060101010101" charset="-122"/>
              </a:rPr>
              <a:t> xi</a:t>
            </a:r>
            <a:r>
              <a:rPr lang="en-US" altLang="en-US" sz="1200" kern="1200" dirty="0">
                <a:solidFill>
                  <a:schemeClr val="tx1"/>
                </a:solidFill>
                <a:effectLst/>
                <a:latin typeface="+mn-lt"/>
                <a:sym typeface="楷体" panose="02010609060101010101" charset="-122"/>
              </a:rPr>
              <a:t>á</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种群时发现，尾羽长度排名前</a:t>
            </a:r>
            <a:r>
              <a:rPr lang="en-US" altLang="zh-CN" sz="1200" kern="1200" dirty="0">
                <a:solidFill>
                  <a:schemeClr val="tx1"/>
                </a:solidFill>
                <a:effectLst/>
                <a:latin typeface="+mn-lt"/>
                <a:sym typeface="楷体" panose="02010609060101010101" charset="-122"/>
              </a:rPr>
              <a:t>20%</a:t>
            </a:r>
            <a:r>
              <a:rPr lang="zh-CN" altLang="en-US" sz="1200" kern="1200" dirty="0">
                <a:solidFill>
                  <a:schemeClr val="tx1"/>
                </a:solidFill>
                <a:effectLst/>
                <a:latin typeface="+mn-lt"/>
                <a:sym typeface="楷体" panose="02010609060101010101" charset="-122"/>
              </a:rPr>
              <a:t>的雄鸟，其求偶成功率是群体平均值的</a:t>
            </a:r>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倍。研究人员在保护区内设置人工投食区，确保所有雄鸟食物供给均等。一年后数据显示，尾羽长度与求偶成功率仍呈强正相关。</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论点和论据均围绕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尾羽长度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雌鸟择偶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展开讨论，话题一致，削弱时优先考虑否定论点。</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项：该项说明人工投食区的设置提升了短尾雄鸟存活率，与尾羽长度是否为雌鸟选择配偶的核心标准无关，不能质疑，排除；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项：该项说明白鹇雌鸟视网膜中感知色彩的视锥细胞数比雄鸟少，即白鹇雌鸟的色彩感知能力比雄鸟差，与尾羽长度是否为雌鸟选择配偶的核心标准无关，不能质疑，排除；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项：该项说明老年雄鸟尾羽长度会逐年缩短，与尾羽长度是否为雌鸟选择配偶的核心标准无关，不能质疑，排除；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项：该项说明控制声音这一因素后，尾羽长度对雌鸟选择的影响较低，即尾羽长度并非雌鸟择偶的核心标准，而声音是雌鸟择偶的因素之一，直接否定论点，可以质疑，当选。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论点：长时间使用社交媒体易使青少年出现精神症状。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论据：与没有精神症状的人相比，有精神症状的受试者报告自己使用社交媒体的时间明显更长，其中有内化症状（抑郁或焦虑症）的受试者，他们使用社交媒体的时间最长。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论点中存在因果关系，削弱优先考虑因果倒置或他因削弱。</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项：该项说明青少年在成长发育的过程中容易出现精神症状，与长时间使用社交媒体是否易使青少年出现精神症状无关，不能质疑，排除；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项：该项说明社交媒体上也有很多正向信息，与长时间使用社交媒体是否易使青少年出现精神症状无关，不能质疑，排除；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项：该项说明出现精神症状的青少年才会花更多时间在社交媒体上，而并非长时间使用社交媒体导致青少年出现精神症状，为因果倒置项，可以质疑，当选；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项：该项说明有精神症状的青少年更倾向通过社交媒体与他人交往，但不明确这些青少年是否真的长时间使用了社交媒体，且这些青年人有精神症状的原因未知，不能质疑，排除。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32.A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）李或赵</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）张</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）王或李</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）赵</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人选派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假设选派李，是对（</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）或关系其中一项的否定，否一推一，可以得到王未被选派。该结果是对（</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）的否后，否后必否前，推出张未被选派。因</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人选派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人，故赵和陈均被选派，该假设与题干条件均无冲突，故选派李、赵和陈，不选派王和张；</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假设未选派李，是对（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）或关系其中一项的否定，否一推一，可以得到选派赵。该结果是对（</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）的肯前，肯前必肯后，推出选派陈。因</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人选派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人，若选派张，则王也要被选派，此时有</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人被选派，与条件（</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）冲突，故张不能被选派，只能选派王。该假设与题干条件均无冲突，故选派赵、陈和王，不选派李和张。</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综上，只有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项符合全部要求。</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33.B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题干根据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实施工业减排政策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交通事故发生数量升高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先后发生，就认为二者存在因果关系，属于强加因果。</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项：该项根据某河流禁渔后鸟类数量减少，认为是禁渔导致鸟类数量减少，但二者并无必然的因果关系，该项属于强加因果，与题干论证错误相同，排除；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根据推广节能灯后用电量下降，认为推广节能灯有利于环保。因节能灯会降低能耗，所以推广节能灯可以减少能耗，进而有利于环保，二者具备因果关系，该项不存在强加因果的错误，与题干论证不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项：该项根据冬季羽绒服销量上升后流感暴发，认为是羽绒服引发流感，但二者并无因果关系，属于强加因果，与题干论证错误相同，排除；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项：该项根据垃圾分类试点后盗窃案增加，认为是垃圾分类分散了治安投入，从而导致盗窃案件增加，但二者并无因果关系，属于强加因果，与题干论证错误相同，排除。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项：甲担心依赖</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学不到任何知识、乙担心完全使用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作答会错过老师有针对性的讲解，两人均对学生用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写作业的弊端表示担忧，说法正确，当选；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项：丙仅说明即使孩子借助大模型，也需要自己独立思考去理解和完善答案，并未明确提到是否支持学生适当使用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辅助完成作业，说法错误，排除；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项：戊仅说明未来教育的关键是正确对待</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，机械任务交给机器，人做机器做不到的事，并没有围绕</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帮写作业发表观点，说法错误，排除；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项：乙的观点是完全使用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作答会错过老师有针对性的讲解，而丁的观点是可以使用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作为辅助学习、拓展知识面的手段，丁并未针对是否可以完全使用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写作业表达观点，说法错误，排除。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戊论点：现在的</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本质上是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知识集合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，靠分析过去的数据运转。未来教育的关键，是要让孩子正确对待</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，机械任务交给机器，人来做机器做不到的事，让</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为我所用。</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项：该项观点是使用者的意图和目的对人工智能的使用十分关键，说明使用者如何正确对待</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和使用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至关重要，戊的观点是未来教育的关键是正确对待</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、合理使用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，该项最可能得到戊的赞同，当选；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项：该项观点是人工智能的发展须与人类的价值观和整体利益保持一致，戊的观点是未来教育的关键是正确对待</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、合理使用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，与戊的观点不同，排除；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项：该项观点是需要关注人工智能对人类文明、社会结构等的潜在影响，戊的观点是未来教育的关键是正确对待</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、合理使用</a:t>
            </a:r>
            <a:r>
              <a:rPr lang="en-US" altLang="zh-CN" sz="1200" kern="1200" dirty="0">
                <a:solidFill>
                  <a:schemeClr val="tx1"/>
                </a:solidFill>
                <a:effectLst/>
                <a:latin typeface="+mn-lt"/>
                <a:sym typeface="楷体" panose="02010609060101010101" charset="-122"/>
              </a:rPr>
              <a:t>AI</a:t>
            </a:r>
            <a:r>
              <a:rPr lang="zh-CN" altLang="en-US" sz="1200" kern="1200" dirty="0">
                <a:solidFill>
                  <a:schemeClr val="tx1"/>
                </a:solidFill>
                <a:effectLst/>
                <a:latin typeface="+mn-lt"/>
                <a:sym typeface="楷体" panose="02010609060101010101" charset="-122"/>
              </a:rPr>
              <a:t>，与戊的观点不同，排除；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项：该项观点是学会合理使用人工智能比单纯掌握知识更重要，虽强调合理使用人工智能的重要性，但是在戊的观点中没有将合理使用人工智能和单纯掌握知识谁更重要进行比较，与戊的观点不完全一致，排除。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AI </a:t>
            </a:r>
            <a:r>
              <a:rPr lang="zh-CN" altLang="en-US" sz="1200" kern="1200" dirty="0">
                <a:solidFill>
                  <a:schemeClr val="tx1"/>
                </a:solidFill>
                <a:effectLst/>
                <a:latin typeface="+mn-lt"/>
                <a:sym typeface="楷体" panose="02010609060101010101" charset="-122"/>
              </a:rPr>
              <a:t>的本质是知识集合，基于过往数据运转，其定位是工具；</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未来教育的关键是正确对待</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将机械任务交给机器，人类专注于机器无法完成的事，实现</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为我所用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核心逻辑：</a:t>
            </a:r>
            <a:r>
              <a:rPr lang="en-US" altLang="zh-CN" sz="1200" kern="1200" dirty="0">
                <a:solidFill>
                  <a:schemeClr val="tx1"/>
                </a:solidFill>
                <a:effectLst/>
                <a:latin typeface="+mn-lt"/>
                <a:sym typeface="楷体" panose="02010609060101010101" charset="-122"/>
              </a:rPr>
              <a:t>AI </a:t>
            </a:r>
            <a:r>
              <a:rPr lang="zh-CN" altLang="en-US" sz="1200" kern="1200" dirty="0">
                <a:solidFill>
                  <a:schemeClr val="tx1"/>
                </a:solidFill>
                <a:effectLst/>
                <a:latin typeface="+mn-lt"/>
                <a:sym typeface="楷体" panose="02010609060101010101" charset="-122"/>
              </a:rPr>
              <a:t>是工具，价值取决于人类如何使用，重点是学会驾驭工具而非被工具支配。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人工智能本身无好坏之分，关键是使用者的意图和目的</a:t>
            </a:r>
            <a:r>
              <a:rPr lang="en-US" altLang="zh-CN" sz="1200" kern="1200" dirty="0">
                <a:solidFill>
                  <a:schemeClr val="tx1"/>
                </a:solidFill>
                <a:effectLst/>
                <a:latin typeface="+mn-lt"/>
                <a:sym typeface="楷体" panose="02010609060101010101" charset="-122"/>
              </a:rPr>
              <a:t>”</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戊强调</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知识集合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（中性工具属性），且核心主张是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正确对待</a:t>
            </a:r>
            <a:r>
              <a:rPr lang="en-US" altLang="zh-CN" sz="1200" kern="1200" dirty="0">
                <a:solidFill>
                  <a:schemeClr val="tx1"/>
                </a:solidFill>
                <a:effectLst/>
                <a:latin typeface="+mn-lt"/>
                <a:sym typeface="楷体" panose="02010609060101010101" charset="-122"/>
              </a:rPr>
              <a:t> AI”“</a:t>
            </a:r>
            <a:r>
              <a:rPr lang="zh-CN" altLang="en-US" sz="1200" kern="1200" dirty="0">
                <a:solidFill>
                  <a:schemeClr val="tx1"/>
                </a:solidFill>
                <a:effectLst/>
                <a:latin typeface="+mn-lt"/>
                <a:sym typeface="楷体" panose="02010609060101010101" charset="-122"/>
              </a:rPr>
              <a:t>让</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为我所用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，这与</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本身无好坏，关键在使用者意图</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高度契合</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使用者的意图决定了是让</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承担机械任务、辅助人类，还是过度依赖</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放弃自主能力。符合戊的观点。</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人工智能的发展须与人类的价值观和整体利益保持一致</a:t>
            </a:r>
            <a:r>
              <a:rPr lang="en-US" altLang="zh-CN" sz="1200" kern="1200" dirty="0">
                <a:solidFill>
                  <a:schemeClr val="tx1"/>
                </a:solidFill>
                <a:effectLst/>
                <a:latin typeface="+mn-lt"/>
                <a:sym typeface="楷体" panose="02010609060101010101" charset="-122"/>
              </a:rPr>
              <a:t>”</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该选项讨论的是</a:t>
            </a:r>
            <a:r>
              <a:rPr lang="en-US" altLang="zh-CN" sz="1200" kern="1200" dirty="0">
                <a:solidFill>
                  <a:schemeClr val="tx1"/>
                </a:solidFill>
                <a:effectLst/>
                <a:latin typeface="+mn-lt"/>
                <a:sym typeface="楷体" panose="02010609060101010101" charset="-122"/>
              </a:rPr>
              <a:t>AI </a:t>
            </a:r>
            <a:r>
              <a:rPr lang="zh-CN" altLang="en-US" sz="1200" kern="1200" dirty="0">
                <a:solidFill>
                  <a:schemeClr val="tx1"/>
                </a:solidFill>
                <a:effectLst/>
                <a:latin typeface="+mn-lt"/>
                <a:sym typeface="楷体" panose="02010609060101010101" charset="-122"/>
              </a:rPr>
              <a:t>发展的方向和伦理边界，而戊的观点聚焦于教育中如何正确使用</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这一工具，未涉及</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发展与人类价值观的关系。无关，排除。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需要关注人工智能对人类文明、社会结构等的潜在影响</a:t>
            </a:r>
            <a:r>
              <a:rPr lang="en-US" altLang="zh-CN" sz="1200" kern="1200" dirty="0">
                <a:solidFill>
                  <a:schemeClr val="tx1"/>
                </a:solidFill>
                <a:effectLst/>
                <a:latin typeface="+mn-lt"/>
                <a:sym typeface="楷体" panose="02010609060101010101" charset="-122"/>
              </a:rPr>
              <a:t>”</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选项强调的是</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的宏观社会影响，但戊的论述仅限于教育领域中人类与</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的分工（机械任务交机器，人类做机器做不到的事），未提及文明、社会结构等层面。无关，排除。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学会合理使用人工智能这一工具比单纯掌握知识更重要</a:t>
            </a:r>
            <a:r>
              <a:rPr lang="en-US" altLang="zh-CN" sz="1200" kern="1200" dirty="0">
                <a:solidFill>
                  <a:schemeClr val="tx1"/>
                </a:solidFill>
                <a:effectLst/>
                <a:latin typeface="+mn-lt"/>
                <a:sym typeface="楷体" panose="02010609060101010101" charset="-122"/>
              </a:rPr>
              <a:t>”</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戊的观点是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机械任务交机器，人做机器做不到的事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，并未将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合理使用</a:t>
            </a:r>
            <a:r>
              <a:rPr lang="en-US" altLang="zh-CN" sz="1200" kern="1200" dirty="0">
                <a:solidFill>
                  <a:schemeClr val="tx1"/>
                </a:solidFill>
                <a:effectLst/>
                <a:latin typeface="+mn-lt"/>
                <a:sym typeface="楷体" panose="02010609060101010101" charset="-122"/>
              </a:rPr>
              <a:t> AI” </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单纯掌握知识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进行比较，也未主张前者比后者更重要。该选项属于过度引申，超出了戊的观点范畴。排除。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5.xml"/><Relationship Id="rId2" Type="http://schemas.openxmlformats.org/officeDocument/2006/relationships/image" Target="../media/image7.jpe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5.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2025</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年下半年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A</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①②③</a:t>
            </a:r>
            <a:r>
              <a:rPr lang="zh-CN" altLang="en-US" sz="2000" dirty="0">
                <a:cs typeface="楷体" panose="02010609060101010101" charset="-122"/>
              </a:rPr>
              <a:t>，</a:t>
            </a:r>
            <a:r>
              <a:rPr lang="en-US" altLang="en-US" sz="2000" dirty="0">
                <a:cs typeface="楷体" panose="02010609060101010101" charset="-122"/>
              </a:rPr>
              <a:t>④⑤⑥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en-US" altLang="en-US" sz="2000" dirty="0">
                <a:cs typeface="楷体" panose="02010609060101010101" charset="-122"/>
              </a:rPr>
              <a:t>①②④</a:t>
            </a:r>
            <a:r>
              <a:rPr lang="zh-CN" altLang="en-US" sz="2000" dirty="0">
                <a:cs typeface="楷体" panose="02010609060101010101" charset="-122"/>
              </a:rPr>
              <a:t>，</a:t>
            </a:r>
            <a:r>
              <a:rPr lang="en-US" altLang="en-US" sz="2000" dirty="0">
                <a:cs typeface="楷体" panose="02010609060101010101" charset="-122"/>
              </a:rPr>
              <a:t>③⑤⑥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①②⑤</a:t>
            </a:r>
            <a:r>
              <a:rPr lang="zh-CN" altLang="en-US" sz="2000" dirty="0">
                <a:cs typeface="楷体" panose="02010609060101010101" charset="-122"/>
              </a:rPr>
              <a:t>，</a:t>
            </a:r>
            <a:r>
              <a:rPr lang="en-US" altLang="en-US" sz="2000" dirty="0">
                <a:cs typeface="楷体" panose="02010609060101010101" charset="-122"/>
              </a:rPr>
              <a:t>③④⑥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en-US" altLang="en-US" sz="2000" dirty="0">
                <a:cs typeface="楷体" panose="02010609060101010101" charset="-122"/>
              </a:rPr>
              <a:t>①②⑥</a:t>
            </a:r>
            <a:r>
              <a:rPr lang="zh-CN" altLang="en-US" sz="2000" dirty="0">
                <a:cs typeface="楷体" panose="02010609060101010101" charset="-122"/>
              </a:rPr>
              <a:t>，</a:t>
            </a:r>
            <a:r>
              <a:rPr lang="en-US" altLang="en-US" sz="2000" dirty="0">
                <a:cs typeface="楷体" panose="02010609060101010101" charset="-122"/>
              </a:rPr>
              <a:t>③④⑤</a:t>
            </a:r>
            <a:endParaRPr lang="en-US" altLang="en-US"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4" name="图片 3"/>
          <p:cNvPicPr>
            <a:picLocks noChangeAspect="1"/>
          </p:cNvPicPr>
          <p:nvPr/>
        </p:nvPicPr>
        <p:blipFill>
          <a:blip r:embed="rId1"/>
          <a:stretch>
            <a:fillRect/>
          </a:stretch>
        </p:blipFill>
        <p:spPr>
          <a:xfrm>
            <a:off x="555625" y="1564640"/>
            <a:ext cx="11137900" cy="22555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endParaRPr lang="zh-CN" altLang="en-US" sz="2000" dirty="0">
              <a:cs typeface="楷体" panose="02010609060101010101" charset="-122"/>
            </a:endParaRPr>
          </a:p>
        </p:txBody>
      </p:sp>
      <p:pic>
        <p:nvPicPr>
          <p:cNvPr id="4" name="图片 4" descr="IMG_256"/>
          <p:cNvPicPr>
            <a:picLocks noChangeAspect="1"/>
          </p:cNvPicPr>
          <p:nvPr/>
        </p:nvPicPr>
        <p:blipFill>
          <a:blip r:embed="rId1"/>
          <a:stretch>
            <a:fillRect/>
          </a:stretch>
        </p:blipFill>
        <p:spPr>
          <a:xfrm>
            <a:off x="838200" y="1377315"/>
            <a:ext cx="10556240" cy="438848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endParaRPr lang="zh-CN" altLang="en-US" sz="2000" dirty="0">
              <a:cs typeface="楷体" panose="02010609060101010101" charset="-122"/>
            </a:endParaRPr>
          </a:p>
        </p:txBody>
      </p:sp>
      <p:pic>
        <p:nvPicPr>
          <p:cNvPr id="5" name="图片 5" descr="IMG_256"/>
          <p:cNvPicPr>
            <a:picLocks noChangeAspect="1"/>
          </p:cNvPicPr>
          <p:nvPr/>
        </p:nvPicPr>
        <p:blipFill>
          <a:blip r:embed="rId1"/>
          <a:stretch>
            <a:fillRect/>
          </a:stretch>
        </p:blipFill>
        <p:spPr>
          <a:xfrm>
            <a:off x="934720" y="1410970"/>
            <a:ext cx="10240010" cy="457898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以下哪个选项中的图形是由左边的四个图形拼合（只能通过上、下，左、右平移，不能旋转或翻转）而成？</a:t>
            </a:r>
            <a:r>
              <a:rPr lang="en-US" altLang="zh-CN" sz="2000" dirty="0">
                <a:cs typeface="楷体" panose="02010609060101010101" charset="-122"/>
              </a:rPr>
              <a:t>()</a:t>
            </a:r>
            <a:endParaRPr lang="en-US" altLang="zh-CN" sz="2000" dirty="0">
              <a:cs typeface="楷体" panose="02010609060101010101" charset="-122"/>
            </a:endParaRPr>
          </a:p>
        </p:txBody>
      </p:sp>
      <p:pic>
        <p:nvPicPr>
          <p:cNvPr id="10" name="IM 10"/>
          <p:cNvPicPr/>
          <p:nvPr/>
        </p:nvPicPr>
        <p:blipFill>
          <a:blip r:embed="rId1"/>
          <a:stretch>
            <a:fillRect/>
          </a:stretch>
        </p:blipFill>
        <p:spPr>
          <a:xfrm>
            <a:off x="2398395" y="1370965"/>
            <a:ext cx="7479030" cy="4984750"/>
          </a:xfrm>
          <a:prstGeom prst="rect">
            <a:avLst/>
          </a:prstGeom>
        </p:spPr>
      </p:pic>
      <p:pic>
        <p:nvPicPr>
          <p:cNvPr id="32" name="IM 32"/>
          <p:cNvPicPr/>
          <p:nvPr/>
        </p:nvPicPr>
        <p:blipFill>
          <a:blip r:embed="rId2"/>
          <a:stretch>
            <a:fillRect/>
          </a:stretch>
        </p:blipFill>
        <p:spPr>
          <a:xfrm>
            <a:off x="2356485" y="1370965"/>
            <a:ext cx="7479030" cy="4984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下面给定的是纸盒的外表面，哪一项不能由它折叠而成？</a:t>
            </a:r>
            <a:r>
              <a:rPr lang="en-US" altLang="zh-CN" sz="2000" dirty="0">
                <a:cs typeface="楷体" panose="02010609060101010101" charset="-122"/>
              </a:rPr>
              <a:t>()</a:t>
            </a:r>
            <a:endParaRPr lang="en-US" altLang="zh-CN" sz="2000" dirty="0">
              <a:cs typeface="楷体" panose="02010609060101010101" charset="-122"/>
            </a:endParaRPr>
          </a:p>
        </p:txBody>
      </p:sp>
      <p:pic>
        <p:nvPicPr>
          <p:cNvPr id="12" name="IM 12"/>
          <p:cNvPicPr/>
          <p:nvPr/>
        </p:nvPicPr>
        <p:blipFill>
          <a:blip r:embed="rId1"/>
          <a:stretch>
            <a:fillRect/>
          </a:stretch>
        </p:blipFill>
        <p:spPr>
          <a:xfrm>
            <a:off x="760095" y="1693545"/>
            <a:ext cx="10515600" cy="31616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涌现是指在复杂系统中，个体遵循简单规则相互作用，自发形成宏观层面具有新特性或功能的现象，其特征是整体行为无法通过个体行为直接推导。</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根据上述定义，下列属于涌现的是（）。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某计算机程序仅按照预设的简单算法，就生成了一种非常复杂的分形几何图形</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防汛指挥部统筹调派千名官兵在指定位置堆叠沙包，构筑防洪堤坝抵御洪水侵袭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乐队指挥依据乐谱协调各位乐手的演奏，献给听众一场和谐悦耳、荡气回肠的交响乐</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每只鸟遵循</a:t>
            </a:r>
            <a:r>
              <a:rPr lang="en-US" altLang="zh-CN" sz="2400" dirty="0">
                <a:cs typeface="楷体" panose="02010609060101010101" charset="-122"/>
              </a:rPr>
              <a:t>“</a:t>
            </a:r>
            <a:r>
              <a:rPr lang="zh-CN" altLang="en-US" sz="2400" dirty="0">
                <a:cs typeface="楷体" panose="02010609060101010101" charset="-122"/>
              </a:rPr>
              <a:t>保持间距、对齐方向、靠近群体</a:t>
            </a:r>
            <a:r>
              <a:rPr lang="en-US" altLang="zh-CN" sz="2400" dirty="0">
                <a:cs typeface="楷体" panose="02010609060101010101" charset="-122"/>
              </a:rPr>
              <a:t>”</a:t>
            </a:r>
            <a:r>
              <a:rPr lang="zh-CN" altLang="en-US" sz="2400" dirty="0">
                <a:cs typeface="楷体" panose="02010609060101010101" charset="-122"/>
              </a:rPr>
              <a:t>三原则，鸟群整体呈现复杂旋涡状迁飞</a:t>
            </a:r>
            <a:endParaRPr lang="zh-CN" altLang="en-US" sz="24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自律经济是瞄准人们渴望改善现状的心理诉求，采用收费方式，通过监督或激励等手段，激发人们的内在驱动力或自我掌控力的一种商业行为。</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根据上述定义，下列涉及自律经济的是（）。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某学校自习室提供了</a:t>
            </a:r>
            <a:r>
              <a:rPr lang="en-US" altLang="zh-CN" sz="2400" dirty="0">
                <a:cs typeface="楷体" panose="02010609060101010101" charset="-122"/>
              </a:rPr>
              <a:t>24</a:t>
            </a:r>
            <a:r>
              <a:rPr lang="zh-CN" altLang="en-US" sz="2400" dirty="0">
                <a:cs typeface="楷体" panose="02010609060101010101" charset="-122"/>
              </a:rPr>
              <a:t>小时自助学习场地，以便在校学生使用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某读书</a:t>
            </a:r>
            <a:r>
              <a:rPr lang="en-US" altLang="zh-CN" sz="2400" dirty="0">
                <a:cs typeface="楷体" panose="02010609060101010101" charset="-122"/>
              </a:rPr>
              <a:t>APP</a:t>
            </a:r>
            <a:r>
              <a:rPr lang="zh-CN" altLang="en-US" sz="2400" dirty="0">
                <a:cs typeface="楷体" panose="02010609060101010101" charset="-122"/>
              </a:rPr>
              <a:t>采用先付费、完成线上阅读任务后返还费用的模式</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某单位为鼓励员工健身，规定每天走够</a:t>
            </a:r>
            <a:r>
              <a:rPr lang="en-US" altLang="zh-CN" sz="2400" dirty="0">
                <a:cs typeface="楷体" panose="02010609060101010101" charset="-122"/>
              </a:rPr>
              <a:t>8000</a:t>
            </a:r>
            <a:r>
              <a:rPr lang="zh-CN" altLang="en-US" sz="2400" dirty="0">
                <a:cs typeface="楷体" panose="02010609060101010101" charset="-122"/>
              </a:rPr>
              <a:t>步即可兑换购物券</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某同学为提高钢琴技艺，让朋友每日定时监督自己的练习情况</a:t>
            </a:r>
            <a:endParaRPr lang="zh-CN" altLang="en-US" sz="24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行政程序正当性原则指行政机关作出影响行政相对人权益的决定时，必须履行法定步骤（如告知、听证、说明理由等），保障当事人知情权与参与权。</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根据上述定义，下列最能体现行政程序正当性原则的是（）。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某协会电话通知企业法定代表人参加听证会，并且留存通话记录</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生态环境局在处罚排污企业前，出具检测报告并召开公开听证会</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交警对违停车辆开具罚单前，全程录像并标注违法行为时间地点</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市场监管局因工作需要搬迁地址，发布正式公告告知商户及公众</a:t>
            </a:r>
            <a:endParaRPr lang="zh-CN" altLang="en-US"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混淆概念是指在同一思维过程中，把两个不具有同一关系的概念当作具有同一关系的概念来使用，因而违反同一律要求的逻辑错误。</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根据上述定义，下列不涉及混淆概念的是（）。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许多人都违规了，你为什么只处罚我一个人？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你说运动有益健康，我每天跑步为什么还会生病？</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既然过道是业主的，我是业主，为什么不能在此放东西？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你们宣传</a:t>
            </a:r>
            <a:r>
              <a:rPr lang="en-US" altLang="zh-CN" sz="2400" dirty="0">
                <a:cs typeface="楷体" panose="02010609060101010101" charset="-122"/>
              </a:rPr>
              <a:t>“</a:t>
            </a:r>
            <a:r>
              <a:rPr lang="zh-CN" altLang="en-US" sz="2400" dirty="0">
                <a:cs typeface="楷体" panose="02010609060101010101" charset="-122"/>
              </a:rPr>
              <a:t>买一送一</a:t>
            </a:r>
            <a:r>
              <a:rPr lang="en-US" altLang="zh-CN" sz="2400" dirty="0">
                <a:cs typeface="楷体" panose="02010609060101010101" charset="-122"/>
              </a:rPr>
              <a:t>”</a:t>
            </a:r>
            <a:r>
              <a:rPr lang="zh-CN" altLang="en-US" sz="2400" dirty="0">
                <a:cs typeface="楷体" panose="02010609060101010101" charset="-122"/>
              </a:rPr>
              <a:t>，为什么买一罐茶叶只送了一把勺子？</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30162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渐变论是关于生物进化的一种学说。此学说认为生物进化是一个长期而缓慢的渐变过程，漫长的时间足以使微小的渐变逐渐积累，产生惊人的效果。</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根据上述定义，下列不符合渐变论观点的是（）。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某些昆虫的翅膀长度在一代代的繁衍中逐渐发生微小的改变，从短翅膀逐渐演变为长翅膀</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对生物生存有利的变异在生存斗争中保存了下来，经过生存斗争，变异得到逐渐积累，新物种得以形成</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化石研究发现，在进化史上，相当长的时间内新种化石很少，有时大量的新种化石集中出现在较短的地质年代</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新种是由其祖先种转变成的，这种转变是缓慢的、持续的过程，且发生于祖先种地理分布的整个范围或大部分地区</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绿色摩擦学是摩擦学的分支学科，研究涉及生态平衡以及环境与生物影响的各种摩擦学问题。绿色摩擦学的研究领域包括四个方面：</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a:t>
            </a:r>
            <a:r>
              <a:rPr lang="en-US" altLang="zh-CN" sz="2200" dirty="0">
                <a:cs typeface="楷体" panose="02010609060101010101" charset="-122"/>
              </a:rPr>
              <a:t>1</a:t>
            </a:r>
            <a:r>
              <a:rPr lang="zh-CN" altLang="en-US" sz="2200" dirty="0">
                <a:cs typeface="楷体" panose="02010609060101010101" charset="-122"/>
              </a:rPr>
              <a:t>）节能、节材以及延长部件或系统的寿命；</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a:t>
            </a:r>
            <a:r>
              <a:rPr lang="en-US" altLang="zh-CN" sz="2200" dirty="0">
                <a:cs typeface="楷体" panose="02010609060101010101" charset="-122"/>
              </a:rPr>
              <a:t>2</a:t>
            </a:r>
            <a:r>
              <a:rPr lang="zh-CN" altLang="en-US" sz="2200" dirty="0">
                <a:cs typeface="楷体" panose="02010609060101010101" charset="-122"/>
              </a:rPr>
              <a:t>）清除或减少部件或系统对生态环境及人类健康的有害影响；</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a:t>
            </a:r>
            <a:r>
              <a:rPr lang="en-US" altLang="zh-CN" sz="2200" dirty="0">
                <a:cs typeface="楷体" panose="02010609060101010101" charset="-122"/>
              </a:rPr>
              <a:t>3</a:t>
            </a:r>
            <a:r>
              <a:rPr lang="zh-CN" altLang="en-US" sz="2200" dirty="0">
                <a:cs typeface="楷体" panose="02010609060101010101" charset="-122"/>
              </a:rPr>
              <a:t>）研究自然生态系统和自然灾害中的摩擦学问题；</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a:t>
            </a:r>
            <a:r>
              <a:rPr lang="en-US" altLang="zh-CN" sz="2200" dirty="0">
                <a:cs typeface="楷体" panose="02010609060101010101" charset="-122"/>
              </a:rPr>
              <a:t>4</a:t>
            </a:r>
            <a:r>
              <a:rPr lang="zh-CN" altLang="en-US" sz="2200" dirty="0">
                <a:cs typeface="楷体" panose="02010609060101010101" charset="-122"/>
              </a:rPr>
              <a:t>）为可再生能源和清洁能源发电装备提供技术支撑。</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根据上述定义，下列内容与绿色摩擦学的研究领域对应正确的是（）。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研发全水基润滑剂，涂抹在钢材表面，使其长久耐用</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1</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在风力发电系统中，使用摩擦发电机提高发电效率</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2</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研究人工关节中金属磨屑的腐蚀机制</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3</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研究控制地球板块运动的方法，避免板块黏滑</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4</a:t>
            </a:r>
            <a:r>
              <a:rPr lang="zh-CN" altLang="en-US" sz="2200" dirty="0">
                <a:cs typeface="楷体" panose="02010609060101010101" charset="-122"/>
              </a:rPr>
              <a:t>）</a:t>
            </a:r>
            <a:endParaRPr lang="zh-CN" altLang="en-US" sz="22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358775"/>
            <a:ext cx="1116457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经济文书是经济管理部门或企事业单位制作和使用的与经济活动相关的具有实用价值和固定格式的文书。按性质分为：</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1</a:t>
            </a:r>
            <a:r>
              <a:rPr lang="zh-CN" altLang="en-US" sz="2000" dirty="0">
                <a:cs typeface="楷体" panose="02010609060101010101" charset="-122"/>
              </a:rPr>
              <a:t>）经营类文书是企业生产经营和财务活动中处理经济业务时使用的文书；</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2</a:t>
            </a:r>
            <a:r>
              <a:rPr lang="zh-CN" altLang="en-US" sz="2000" dirty="0">
                <a:cs typeface="楷体" panose="02010609060101010101" charset="-122"/>
              </a:rPr>
              <a:t>）管理类文书是企业在制订规章制度时使用的文书；</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3</a:t>
            </a:r>
            <a:r>
              <a:rPr lang="zh-CN" altLang="en-US" sz="2000" dirty="0">
                <a:cs typeface="楷体" panose="02010609060101010101" charset="-122"/>
              </a:rPr>
              <a:t>）信息交流类文书是用于传播或反馈经济信息，报道经济活动时使用的文书；</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4</a:t>
            </a:r>
            <a:r>
              <a:rPr lang="zh-CN" altLang="en-US" sz="2000" dirty="0">
                <a:cs typeface="楷体" panose="02010609060101010101" charset="-122"/>
              </a:rPr>
              <a:t>）科技类文书是企业在科学技术和经济规律研究时所使用的文书；</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5</a:t>
            </a:r>
            <a:r>
              <a:rPr lang="zh-CN" altLang="en-US" sz="2000" dirty="0">
                <a:cs typeface="楷体" panose="02010609060101010101" charset="-122"/>
              </a:rPr>
              <a:t>）经济诉讼类文书是企业之间或企业和职工之间在经济活动中发生民事或刑事纠纷时使用的文书。</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根据上述定义，下列文书与其性质对应正确的是（）。</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企业间签订的购销合同</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1</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企业广告宣传方案</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3</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企业员工培训办法</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4</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企业的产品技术鉴定书</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5</a:t>
            </a:r>
            <a:r>
              <a:rPr lang="zh-CN" altLang="en-US" sz="2000" dirty="0">
                <a:cs typeface="楷体" panose="02010609060101010101" charset="-122"/>
              </a:rPr>
              <a:t>）</a:t>
            </a:r>
            <a:endParaRPr lang="zh-CN" altLang="en-US" sz="20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365125"/>
            <a:ext cx="1111885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统计表格通常有三种：在统计中用于搜集和登记原始统计资料的调查表；在统计资料整理过程中使用的汇总表；在统计分析过程中对统计整理资料进行定量分析使用的分析表。根据上述定义，对表</a:t>
            </a:r>
            <a:r>
              <a:rPr lang="en-US" altLang="zh-CN" sz="2000" dirty="0">
                <a:cs typeface="楷体" panose="02010609060101010101" charset="-122"/>
              </a:rPr>
              <a:t>1</a:t>
            </a:r>
            <a:r>
              <a:rPr lang="zh-CN" altLang="en-US" sz="2000" dirty="0">
                <a:cs typeface="楷体" panose="02010609060101010101" charset="-122"/>
              </a:rPr>
              <a:t>、表</a:t>
            </a:r>
            <a:r>
              <a:rPr lang="en-US" altLang="zh-CN" sz="2000" dirty="0">
                <a:cs typeface="楷体" panose="02010609060101010101" charset="-122"/>
              </a:rPr>
              <a:t>2</a:t>
            </a:r>
            <a:r>
              <a:rPr lang="zh-CN" altLang="en-US" sz="2000" dirty="0">
                <a:cs typeface="楷体" panose="02010609060101010101" charset="-122"/>
              </a:rPr>
              <a:t>、表</a:t>
            </a:r>
            <a:r>
              <a:rPr lang="en-US" altLang="zh-CN" sz="2000" dirty="0">
                <a:cs typeface="楷体" panose="02010609060101010101" charset="-122"/>
              </a:rPr>
              <a:t>3</a:t>
            </a:r>
            <a:r>
              <a:rPr lang="zh-CN" altLang="en-US" sz="2000" dirty="0">
                <a:cs typeface="楷体" panose="02010609060101010101" charset="-122"/>
              </a:rPr>
              <a:t>依次归类正确的是（）。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调查表、汇总表、分析表</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调查表、分析表、汇总表</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汇总表、调查表、分析表</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汇总表、分析表、调查表</a:t>
            </a:r>
            <a:endParaRPr lang="zh-CN" altLang="en-US" sz="2000" dirty="0">
              <a:cs typeface="楷体" panose="02010609060101010101" charset="-122"/>
            </a:endParaRPr>
          </a:p>
        </p:txBody>
      </p:sp>
      <p:pic>
        <p:nvPicPr>
          <p:cNvPr id="14" name="IM 14"/>
          <p:cNvPicPr/>
          <p:nvPr/>
        </p:nvPicPr>
        <p:blipFill>
          <a:blip r:embed="rId1"/>
          <a:stretch>
            <a:fillRect/>
          </a:stretch>
        </p:blipFill>
        <p:spPr>
          <a:xfrm>
            <a:off x="4731385" y="1339850"/>
            <a:ext cx="6752590" cy="4895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水灾泛指洪水泛滥、暴雨积水和土壤水分过多对人类社会造成的灾害，可分为以下几种：（</a:t>
            </a:r>
            <a:r>
              <a:rPr lang="en-US" altLang="zh-CN" sz="2000" dirty="0">
                <a:cs typeface="楷体" panose="02010609060101010101" charset="-122"/>
              </a:rPr>
              <a:t>1</a:t>
            </a:r>
            <a:r>
              <a:rPr lang="zh-CN" altLang="en-US" sz="2000" dirty="0">
                <a:cs typeface="楷体" panose="02010609060101010101" charset="-122"/>
              </a:rPr>
              <a:t>）洪灾指暴雨、融冰、融雪或水库、堤坝决口引起地表水漫流和淹没土地等造成的灾害；（</a:t>
            </a:r>
            <a:r>
              <a:rPr lang="en-US" altLang="zh-CN" sz="2000" dirty="0">
                <a:cs typeface="楷体" panose="02010609060101010101" charset="-122"/>
              </a:rPr>
              <a:t>2</a:t>
            </a:r>
            <a:r>
              <a:rPr lang="zh-CN" altLang="en-US" sz="2000" dirty="0">
                <a:cs typeface="楷体" panose="02010609060101010101" charset="-122"/>
              </a:rPr>
              <a:t>）涝灾指长期降雨或暴雨不能及时排入河道沟渠形成地表积水造成的灾害；</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3</a:t>
            </a:r>
            <a:r>
              <a:rPr lang="zh-CN" altLang="en-US" sz="2000" dirty="0">
                <a:cs typeface="楷体" panose="02010609060101010101" charset="-122"/>
              </a:rPr>
              <a:t>）渍灾指土壤中水分过多不能及时排出，影响农作物生长造成的灾害；</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a:t>
            </a:r>
            <a:r>
              <a:rPr lang="en-US" altLang="zh-CN" sz="2000" dirty="0">
                <a:cs typeface="楷体" panose="02010609060101010101" charset="-122"/>
              </a:rPr>
              <a:t>4</a:t>
            </a:r>
            <a:r>
              <a:rPr lang="zh-CN" altLang="en-US" sz="2000" dirty="0">
                <a:cs typeface="楷体" panose="02010609060101010101" charset="-122"/>
              </a:rPr>
              <a:t>）潮灾指由强烈天气系统形成超常潮水引起的灾害。</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根据上述定义，下列水灾与其种类对应正确的是（）。</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夏秋之交，江淮流域大雨不止致使某城区积水深达数尺，城市设施受损</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1</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某山区谷地地势低下，两侧山地的地下水侵入，致使薯类作物根系因浸泡缺氧，出现叶片早枯等现象</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2</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某地因堤坝决口，大水淹没高速公路沿线的车辆，阻塞道路</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3</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强台风引起的特大风暴潮致使某省</a:t>
            </a:r>
            <a:r>
              <a:rPr lang="en-US" altLang="zh-CN" sz="2000" dirty="0">
                <a:cs typeface="楷体" panose="02010609060101010101" charset="-122"/>
              </a:rPr>
              <a:t>40</a:t>
            </a:r>
            <a:r>
              <a:rPr lang="zh-CN" altLang="en-US" sz="2000" dirty="0">
                <a:cs typeface="楷体" panose="02010609060101010101" charset="-122"/>
              </a:rPr>
              <a:t>万亩农田被淹</a:t>
            </a:r>
            <a:r>
              <a:rPr lang="en-US" altLang="zh-CN" sz="2000" dirty="0">
                <a:cs typeface="楷体" panose="02010609060101010101" charset="-122"/>
              </a:rPr>
              <a:t>——</a:t>
            </a:r>
            <a:r>
              <a:rPr lang="zh-CN" altLang="en-US" sz="2000" dirty="0">
                <a:cs typeface="楷体" panose="02010609060101010101" charset="-122"/>
              </a:rPr>
              <a:t>（</a:t>
            </a:r>
            <a:r>
              <a:rPr lang="en-US" altLang="zh-CN" sz="2000" dirty="0">
                <a:cs typeface="楷体" panose="02010609060101010101" charset="-122"/>
              </a:rPr>
              <a:t>4</a:t>
            </a:r>
            <a:r>
              <a:rPr lang="zh-CN" altLang="en-US" sz="2000" dirty="0">
                <a:cs typeface="楷体" panose="02010609060101010101" charset="-122"/>
              </a:rPr>
              <a:t>）</a:t>
            </a:r>
            <a:endParaRPr lang="zh-CN" altLang="en-US" sz="20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旅游总收入是指一定时期内，旅游目的地国家或地区向国内外游客提供旅游产品、购物品和其他劳务所获得的货币收入的总额。人均旅游收入是某一时期旅游总收入与旅游总人次之比，旅游收汇率是一定时期内，旅游外汇纯收入与旅游外汇总收入的比率，旅游换汇率是旅游接待国或地区提供单位货币的旅游商品所换得的外汇数量。</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根据上述定义，下列说法正确的是（）。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通常来讲，发展中国家的旅游换汇率要低于其他商品出口的换汇率</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旅游者在旅游过程中支付的物品邮寄、导游讲解等费用属于旅游总收入</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人均旅游收入反映了一定时期内每个旅游者在旅游目的地国家或地区的日均支出额</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若某年甲地旅游外汇纯收入为</a:t>
            </a:r>
            <a:r>
              <a:rPr lang="en-US" altLang="zh-CN" sz="2200" dirty="0">
                <a:cs typeface="楷体" panose="02010609060101010101" charset="-122"/>
              </a:rPr>
              <a:t>2</a:t>
            </a:r>
            <a:r>
              <a:rPr lang="zh-CN" altLang="en-US" sz="2200" dirty="0">
                <a:cs typeface="楷体" panose="02010609060101010101" charset="-122"/>
              </a:rPr>
              <a:t>亿元，旅游外汇总收入为</a:t>
            </a:r>
            <a:r>
              <a:rPr lang="en-US" altLang="zh-CN" sz="2200" dirty="0">
                <a:cs typeface="楷体" panose="02010609060101010101" charset="-122"/>
              </a:rPr>
              <a:t>9</a:t>
            </a:r>
            <a:r>
              <a:rPr lang="zh-CN" altLang="en-US" sz="2200" dirty="0">
                <a:cs typeface="楷体" panose="02010609060101010101" charset="-122"/>
              </a:rPr>
              <a:t>亿元，则旅游收汇率超过</a:t>
            </a:r>
            <a:r>
              <a:rPr lang="en-US" altLang="zh-CN" sz="2200" dirty="0">
                <a:cs typeface="楷体" panose="02010609060101010101" charset="-122"/>
              </a:rPr>
              <a:t>25%</a:t>
            </a:r>
            <a:endParaRPr lang="en-US" altLang="zh-CN" sz="2200" dirty="0">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05346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增量：增速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等比：等差</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分数：小数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单价：利润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税额：税率</a:t>
            </a: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千难：万险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寸积：铢累</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口口：声声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一落：千丈</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杯水：车薪</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活性炭：吸附性</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石墨：绝缘性</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氨水：挥发性</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铁锈：氧化性</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铜绿：还原性</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860171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英勇无畏：胆小懦弱</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才疏学浅：仁智双全</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有目共睹：目不识丁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左邻右舍：天南海北</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胸怀坦荡：心怀叵测</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帘外熏风燕语：庭前绿树蝉鸣</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云散长空雨过：雪消寒谷春生</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山下孤烟远村：天边独树高原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白云千里万里：明月前溪后溪</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烟雨湖光软漾：空濛山色生奇</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修车：改锥：扳手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造船：车间：船台</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竹尺：墨斗：测量</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纺纱：纺轮：纺锤</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养蚕：蚕茧：桑叶</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pic>
        <p:nvPicPr>
          <p:cNvPr id="4" name="图片 3"/>
          <p:cNvPicPr>
            <a:picLocks noChangeAspect="1"/>
          </p:cNvPicPr>
          <p:nvPr/>
        </p:nvPicPr>
        <p:blipFill>
          <a:blip r:embed="rId1"/>
          <a:stretch>
            <a:fillRect/>
          </a:stretch>
        </p:blipFill>
        <p:spPr>
          <a:xfrm>
            <a:off x="4257040" y="891540"/>
            <a:ext cx="1555750" cy="2068195"/>
          </a:xfrm>
          <a:prstGeom prst="rect">
            <a:avLst/>
          </a:prstGeom>
        </p:spPr>
      </p:pic>
      <p:pic>
        <p:nvPicPr>
          <p:cNvPr id="5" name="图片 4"/>
          <p:cNvPicPr>
            <a:picLocks noChangeAspect="1"/>
          </p:cNvPicPr>
          <p:nvPr/>
        </p:nvPicPr>
        <p:blipFill>
          <a:blip r:embed="rId2"/>
          <a:stretch>
            <a:fillRect/>
          </a:stretch>
        </p:blipFill>
        <p:spPr>
          <a:xfrm>
            <a:off x="6240145" y="891540"/>
            <a:ext cx="1102995" cy="2070100"/>
          </a:xfrm>
          <a:prstGeom prst="rect">
            <a:avLst/>
          </a:prstGeom>
        </p:spPr>
      </p:pic>
      <p:pic>
        <p:nvPicPr>
          <p:cNvPr id="6" name="图片 5"/>
          <p:cNvPicPr>
            <a:picLocks noChangeAspect="1"/>
          </p:cNvPicPr>
          <p:nvPr/>
        </p:nvPicPr>
        <p:blipFill>
          <a:blip r:embed="rId3"/>
          <a:stretch>
            <a:fillRect/>
          </a:stretch>
        </p:blipFill>
        <p:spPr>
          <a:xfrm>
            <a:off x="4303395" y="3535680"/>
            <a:ext cx="1936750" cy="14268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121729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注册：实体店：虚拟店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招聘：应届生：往届生</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装修：家属楼：居民楼</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就诊：候诊区：治疗区</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土壤：有机质：无机质</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1293495"/>
            <a:ext cx="8601710"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弹道导弹：控制飞行：制导系统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隐形战机：打击目标：隐形材料</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汉语词典：分类检索：部首目录</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机械工程：搬运货物：电动叉车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流行歌曲：创作歌词：歌词作者</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水力发电对于（）相当于（）对于活火山</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三峡大坝；岩浆活动</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资源开发；地质景观</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核能发电；休眠火山</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经济发展；物质喷发</a:t>
            </a:r>
            <a:endParaRPr lang="zh-CN" altLang="en-US" sz="24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1318895"/>
            <a:ext cx="8601710" cy="49155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财政贴息对于（）相当于（）对于军事设施</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政府补助；军用仓库</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财政预算；交通设施</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政策支持；军事设备</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承贷企业；作战军团</a:t>
            </a:r>
            <a:endParaRPr lang="zh-CN" altLang="en-US" sz="24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622300"/>
            <a:ext cx="11210925" cy="571246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某单位举办趣味运动会，一些参加</a:t>
            </a:r>
            <a:r>
              <a:rPr lang="en-US" altLang="zh-CN" sz="2400" dirty="0">
                <a:cs typeface="楷体" panose="02010609060101010101" charset="-122"/>
              </a:rPr>
              <a:t>“</a:t>
            </a:r>
            <a:r>
              <a:rPr lang="zh-CN" altLang="en-US" sz="2400" dirty="0">
                <a:cs typeface="楷体" panose="02010609060101010101" charset="-122"/>
              </a:rPr>
              <a:t>吹气球</a:t>
            </a:r>
            <a:r>
              <a:rPr lang="en-US" altLang="zh-CN" sz="2400" dirty="0">
                <a:cs typeface="楷体" panose="02010609060101010101" charset="-122"/>
              </a:rPr>
              <a:t>”</a:t>
            </a:r>
            <a:r>
              <a:rPr lang="zh-CN" altLang="en-US" sz="2400" dirty="0">
                <a:cs typeface="楷体" panose="02010609060101010101" charset="-122"/>
              </a:rPr>
              <a:t>比赛的人参加了</a:t>
            </a:r>
            <a:r>
              <a:rPr lang="en-US" altLang="zh-CN" sz="2400" dirty="0">
                <a:cs typeface="楷体" panose="02010609060101010101" charset="-122"/>
              </a:rPr>
              <a:t>“</a:t>
            </a:r>
            <a:r>
              <a:rPr lang="zh-CN" altLang="en-US" sz="2400" dirty="0">
                <a:cs typeface="楷体" panose="02010609060101010101" charset="-122"/>
              </a:rPr>
              <a:t>托球跑</a:t>
            </a:r>
            <a:r>
              <a:rPr lang="en-US" altLang="zh-CN" sz="2400" dirty="0">
                <a:cs typeface="楷体" panose="02010609060101010101" charset="-122"/>
              </a:rPr>
              <a:t>”</a:t>
            </a:r>
            <a:r>
              <a:rPr lang="zh-CN" altLang="en-US" sz="2400" dirty="0">
                <a:cs typeface="楷体" panose="02010609060101010101" charset="-122"/>
              </a:rPr>
              <a:t>比赛，所有参加</a:t>
            </a:r>
            <a:r>
              <a:rPr lang="en-US" altLang="zh-CN" sz="2400" dirty="0">
                <a:cs typeface="楷体" panose="02010609060101010101" charset="-122"/>
              </a:rPr>
              <a:t>“</a:t>
            </a:r>
            <a:r>
              <a:rPr lang="zh-CN" altLang="en-US" sz="2400" dirty="0">
                <a:cs typeface="楷体" panose="02010609060101010101" charset="-122"/>
              </a:rPr>
              <a:t>两人三足</a:t>
            </a:r>
            <a:r>
              <a:rPr lang="en-US" altLang="zh-CN" sz="2400" dirty="0">
                <a:cs typeface="楷体" panose="02010609060101010101" charset="-122"/>
              </a:rPr>
              <a:t>”</a:t>
            </a:r>
            <a:r>
              <a:rPr lang="zh-CN" altLang="en-US" sz="2400" dirty="0">
                <a:cs typeface="楷体" panose="02010609060101010101" charset="-122"/>
              </a:rPr>
              <a:t>比赛的人都参加了</a:t>
            </a:r>
            <a:r>
              <a:rPr lang="en-US" altLang="zh-CN" sz="2400" dirty="0">
                <a:cs typeface="楷体" panose="02010609060101010101" charset="-122"/>
              </a:rPr>
              <a:t>“</a:t>
            </a:r>
            <a:r>
              <a:rPr lang="zh-CN" altLang="en-US" sz="2400" dirty="0">
                <a:cs typeface="楷体" panose="02010609060101010101" charset="-122"/>
              </a:rPr>
              <a:t>蹲跳接力</a:t>
            </a:r>
            <a:r>
              <a:rPr lang="en-US" altLang="zh-CN" sz="2400" dirty="0">
                <a:cs typeface="楷体" panose="02010609060101010101" charset="-122"/>
              </a:rPr>
              <a:t>”</a:t>
            </a:r>
            <a:r>
              <a:rPr lang="zh-CN" altLang="en-US" sz="2400" dirty="0">
                <a:cs typeface="楷体" panose="02010609060101010101" charset="-122"/>
              </a:rPr>
              <a:t>比赛，所有参加</a:t>
            </a:r>
            <a:r>
              <a:rPr lang="en-US" altLang="zh-CN" sz="2400" dirty="0">
                <a:cs typeface="楷体" panose="02010609060101010101" charset="-122"/>
              </a:rPr>
              <a:t>“</a:t>
            </a:r>
            <a:r>
              <a:rPr lang="zh-CN" altLang="en-US" sz="2400" dirty="0">
                <a:cs typeface="楷体" panose="02010609060101010101" charset="-122"/>
              </a:rPr>
              <a:t>蹲跳接力</a:t>
            </a:r>
            <a:r>
              <a:rPr lang="en-US" altLang="zh-CN" sz="2400" dirty="0">
                <a:cs typeface="楷体" panose="02010609060101010101" charset="-122"/>
              </a:rPr>
              <a:t>”</a:t>
            </a:r>
            <a:r>
              <a:rPr lang="zh-CN" altLang="en-US" sz="2400" dirty="0">
                <a:cs typeface="楷体" panose="02010609060101010101" charset="-122"/>
              </a:rPr>
              <a:t>比赛的人都参加了</a:t>
            </a:r>
            <a:r>
              <a:rPr lang="en-US" altLang="zh-CN" sz="2400" dirty="0">
                <a:cs typeface="楷体" panose="02010609060101010101" charset="-122"/>
              </a:rPr>
              <a:t>“</a:t>
            </a:r>
            <a:r>
              <a:rPr lang="zh-CN" altLang="en-US" sz="2400" dirty="0">
                <a:cs typeface="楷体" panose="02010609060101010101" charset="-122"/>
              </a:rPr>
              <a:t>跳绳</a:t>
            </a:r>
            <a:r>
              <a:rPr lang="en-US" altLang="zh-CN" sz="2400" dirty="0">
                <a:cs typeface="楷体" panose="02010609060101010101" charset="-122"/>
              </a:rPr>
              <a:t>”</a:t>
            </a:r>
            <a:r>
              <a:rPr lang="zh-CN" altLang="en-US" sz="2400" dirty="0">
                <a:cs typeface="楷体" panose="02010609060101010101" charset="-122"/>
              </a:rPr>
              <a:t>比赛，一些参加</a:t>
            </a:r>
            <a:r>
              <a:rPr lang="en-US" altLang="zh-CN" sz="2400" dirty="0">
                <a:cs typeface="楷体" panose="02010609060101010101" charset="-122"/>
              </a:rPr>
              <a:t>“</a:t>
            </a:r>
            <a:r>
              <a:rPr lang="zh-CN" altLang="en-US" sz="2400" dirty="0">
                <a:cs typeface="楷体" panose="02010609060101010101" charset="-122"/>
              </a:rPr>
              <a:t>吹气球</a:t>
            </a:r>
            <a:r>
              <a:rPr lang="en-US" altLang="zh-CN" sz="2400" dirty="0">
                <a:cs typeface="楷体" panose="02010609060101010101" charset="-122"/>
              </a:rPr>
              <a:t>”</a:t>
            </a:r>
            <a:r>
              <a:rPr lang="zh-CN" altLang="en-US" sz="2400" dirty="0">
                <a:cs typeface="楷体" panose="02010609060101010101" charset="-122"/>
              </a:rPr>
              <a:t>比赛的人没有参加</a:t>
            </a:r>
            <a:r>
              <a:rPr lang="en-US" altLang="zh-CN" sz="2400" dirty="0">
                <a:cs typeface="楷体" panose="02010609060101010101" charset="-122"/>
              </a:rPr>
              <a:t>“</a:t>
            </a:r>
            <a:r>
              <a:rPr lang="zh-CN" altLang="en-US" sz="2400" dirty="0">
                <a:cs typeface="楷体" panose="02010609060101010101" charset="-122"/>
              </a:rPr>
              <a:t>跳绳</a:t>
            </a:r>
            <a:r>
              <a:rPr lang="en-US" altLang="zh-CN" sz="2400" dirty="0">
                <a:cs typeface="楷体" panose="02010609060101010101" charset="-122"/>
              </a:rPr>
              <a:t>”</a:t>
            </a:r>
            <a:r>
              <a:rPr lang="zh-CN" altLang="en-US" sz="2400" dirty="0">
                <a:cs typeface="楷体" panose="02010609060101010101" charset="-122"/>
              </a:rPr>
              <a:t>比赛。由此不能推出（）。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一些参加</a:t>
            </a:r>
            <a:r>
              <a:rPr lang="en-US" altLang="zh-CN" sz="2400" dirty="0">
                <a:cs typeface="楷体" panose="02010609060101010101" charset="-122"/>
              </a:rPr>
              <a:t>“</a:t>
            </a:r>
            <a:r>
              <a:rPr lang="zh-CN" altLang="en-US" sz="2400" dirty="0">
                <a:cs typeface="楷体" panose="02010609060101010101" charset="-122"/>
              </a:rPr>
              <a:t>托球跑</a:t>
            </a:r>
            <a:r>
              <a:rPr lang="en-US" altLang="zh-CN" sz="2400" dirty="0">
                <a:cs typeface="楷体" panose="02010609060101010101" charset="-122"/>
              </a:rPr>
              <a:t>”</a:t>
            </a:r>
            <a:r>
              <a:rPr lang="zh-CN" altLang="en-US" sz="2400" dirty="0">
                <a:cs typeface="楷体" panose="02010609060101010101" charset="-122"/>
              </a:rPr>
              <a:t>比赛的人没有参加</a:t>
            </a:r>
            <a:r>
              <a:rPr lang="en-US" altLang="zh-CN" sz="2400" dirty="0">
                <a:cs typeface="楷体" panose="02010609060101010101" charset="-122"/>
              </a:rPr>
              <a:t>“</a:t>
            </a:r>
            <a:r>
              <a:rPr lang="zh-CN" altLang="en-US" sz="2400" dirty="0">
                <a:cs typeface="楷体" panose="02010609060101010101" charset="-122"/>
              </a:rPr>
              <a:t>跳绳</a:t>
            </a:r>
            <a:r>
              <a:rPr lang="en-US" altLang="zh-CN" sz="2400" dirty="0">
                <a:cs typeface="楷体" panose="02010609060101010101" charset="-122"/>
              </a:rPr>
              <a:t>”</a:t>
            </a:r>
            <a:r>
              <a:rPr lang="zh-CN" altLang="en-US" sz="2400" dirty="0">
                <a:cs typeface="楷体" panose="02010609060101010101" charset="-122"/>
              </a:rPr>
              <a:t>比赛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所有参加</a:t>
            </a:r>
            <a:r>
              <a:rPr lang="en-US" altLang="zh-CN" sz="2400" dirty="0">
                <a:cs typeface="楷体" panose="02010609060101010101" charset="-122"/>
              </a:rPr>
              <a:t>“</a:t>
            </a:r>
            <a:r>
              <a:rPr lang="zh-CN" altLang="en-US" sz="2400" dirty="0">
                <a:cs typeface="楷体" panose="02010609060101010101" charset="-122"/>
              </a:rPr>
              <a:t>两人三足</a:t>
            </a:r>
            <a:r>
              <a:rPr lang="en-US" altLang="zh-CN" sz="2400" dirty="0">
                <a:cs typeface="楷体" panose="02010609060101010101" charset="-122"/>
              </a:rPr>
              <a:t>”</a:t>
            </a:r>
            <a:r>
              <a:rPr lang="zh-CN" altLang="en-US" sz="2400" dirty="0">
                <a:cs typeface="楷体" panose="02010609060101010101" charset="-122"/>
              </a:rPr>
              <a:t>比赛的人都参加了</a:t>
            </a:r>
            <a:r>
              <a:rPr lang="en-US" altLang="zh-CN" sz="2400" dirty="0">
                <a:cs typeface="楷体" panose="02010609060101010101" charset="-122"/>
              </a:rPr>
              <a:t>“</a:t>
            </a:r>
            <a:r>
              <a:rPr lang="zh-CN" altLang="en-US" sz="2400" dirty="0">
                <a:cs typeface="楷体" panose="02010609060101010101" charset="-122"/>
              </a:rPr>
              <a:t>跳绳</a:t>
            </a:r>
            <a:r>
              <a:rPr lang="en-US" altLang="zh-CN" sz="2400" dirty="0">
                <a:cs typeface="楷体" panose="02010609060101010101" charset="-122"/>
              </a:rPr>
              <a:t>”</a:t>
            </a:r>
            <a:r>
              <a:rPr lang="zh-CN" altLang="en-US" sz="2400" dirty="0">
                <a:cs typeface="楷体" panose="02010609060101010101" charset="-122"/>
              </a:rPr>
              <a:t>比赛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一些参加</a:t>
            </a:r>
            <a:r>
              <a:rPr lang="en-US" altLang="zh-CN" sz="2400" dirty="0">
                <a:cs typeface="楷体" panose="02010609060101010101" charset="-122"/>
              </a:rPr>
              <a:t>“</a:t>
            </a:r>
            <a:r>
              <a:rPr lang="zh-CN" altLang="en-US" sz="2400" dirty="0">
                <a:cs typeface="楷体" panose="02010609060101010101" charset="-122"/>
              </a:rPr>
              <a:t>吹气球</a:t>
            </a:r>
            <a:r>
              <a:rPr lang="en-US" altLang="zh-CN" sz="2400" dirty="0">
                <a:cs typeface="楷体" panose="02010609060101010101" charset="-122"/>
              </a:rPr>
              <a:t>”</a:t>
            </a:r>
            <a:r>
              <a:rPr lang="zh-CN" altLang="en-US" sz="2400" dirty="0">
                <a:cs typeface="楷体" panose="02010609060101010101" charset="-122"/>
              </a:rPr>
              <a:t>比赛的人没有参加</a:t>
            </a:r>
            <a:r>
              <a:rPr lang="en-US" altLang="zh-CN" sz="2400" dirty="0">
                <a:cs typeface="楷体" panose="02010609060101010101" charset="-122"/>
              </a:rPr>
              <a:t>“</a:t>
            </a:r>
            <a:r>
              <a:rPr lang="zh-CN" altLang="en-US" sz="2400" dirty="0">
                <a:cs typeface="楷体" panose="02010609060101010101" charset="-122"/>
              </a:rPr>
              <a:t>蹲跳接力</a:t>
            </a:r>
            <a:r>
              <a:rPr lang="en-US" altLang="zh-CN" sz="2400" dirty="0">
                <a:cs typeface="楷体" panose="02010609060101010101" charset="-122"/>
              </a:rPr>
              <a:t>”</a:t>
            </a:r>
            <a:r>
              <a:rPr lang="zh-CN" altLang="en-US" sz="2400" dirty="0">
                <a:cs typeface="楷体" panose="02010609060101010101" charset="-122"/>
              </a:rPr>
              <a:t>比赛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所有参加</a:t>
            </a:r>
            <a:r>
              <a:rPr lang="en-US" altLang="zh-CN" sz="2400" dirty="0">
                <a:cs typeface="楷体" panose="02010609060101010101" charset="-122"/>
              </a:rPr>
              <a:t>“</a:t>
            </a:r>
            <a:r>
              <a:rPr lang="zh-CN" altLang="en-US" sz="2400" dirty="0">
                <a:cs typeface="楷体" panose="02010609060101010101" charset="-122"/>
              </a:rPr>
              <a:t>两人三足</a:t>
            </a:r>
            <a:r>
              <a:rPr lang="en-US" altLang="zh-CN" sz="2400" dirty="0">
                <a:cs typeface="楷体" panose="02010609060101010101" charset="-122"/>
              </a:rPr>
              <a:t>”</a:t>
            </a:r>
            <a:r>
              <a:rPr lang="zh-CN" altLang="en-US" sz="2400" dirty="0">
                <a:cs typeface="楷体" panose="02010609060101010101" charset="-122"/>
              </a:rPr>
              <a:t>比赛的人都参加了</a:t>
            </a:r>
            <a:r>
              <a:rPr lang="en-US" altLang="zh-CN" sz="2400" dirty="0">
                <a:cs typeface="楷体" panose="02010609060101010101" charset="-122"/>
              </a:rPr>
              <a:t>“</a:t>
            </a:r>
            <a:r>
              <a:rPr lang="zh-CN" altLang="en-US" sz="2400" dirty="0">
                <a:cs typeface="楷体" panose="02010609060101010101" charset="-122"/>
              </a:rPr>
              <a:t>吹气球</a:t>
            </a:r>
            <a:r>
              <a:rPr lang="en-US" altLang="zh-CN" sz="2400" dirty="0">
                <a:cs typeface="楷体" panose="02010609060101010101" charset="-122"/>
              </a:rPr>
              <a:t>”</a:t>
            </a:r>
            <a:r>
              <a:rPr lang="zh-CN" altLang="en-US" sz="2400" dirty="0">
                <a:cs typeface="楷体" panose="02010609060101010101" charset="-122"/>
              </a:rPr>
              <a:t>比赛</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358775"/>
            <a:ext cx="1114869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雌性天生拥有两条</a:t>
            </a:r>
            <a:r>
              <a:rPr lang="en-US" altLang="zh-CN" sz="2000" dirty="0">
                <a:cs typeface="楷体" panose="02010609060101010101" charset="-122"/>
              </a:rPr>
              <a:t>X</a:t>
            </a:r>
            <a:r>
              <a:rPr lang="zh-CN" altLang="en-US" sz="2000" dirty="0">
                <a:cs typeface="楷体" panose="02010609060101010101" charset="-122"/>
              </a:rPr>
              <a:t>染色体，一条遗传自母体，一条遗传自父体。为了探究父母</a:t>
            </a:r>
            <a:r>
              <a:rPr lang="en-US" altLang="zh-CN" sz="2000" dirty="0">
                <a:cs typeface="楷体" panose="02010609060101010101" charset="-122"/>
              </a:rPr>
              <a:t>X</a:t>
            </a:r>
            <a:r>
              <a:rPr lang="zh-CN" altLang="en-US" sz="2000" dirty="0">
                <a:cs typeface="楷体" panose="02010609060101010101" charset="-122"/>
              </a:rPr>
              <a:t>染色体对雌性后代大脑的影响，研究人员培育了几只雌性小鼠，它们中有的仅表达来自母体的</a:t>
            </a:r>
            <a:r>
              <a:rPr lang="en-US" altLang="zh-CN" sz="2000" dirty="0">
                <a:cs typeface="楷体" panose="02010609060101010101" charset="-122"/>
              </a:rPr>
              <a:t>X</a:t>
            </a:r>
            <a:r>
              <a:rPr lang="zh-CN" altLang="en-US" sz="2000" dirty="0">
                <a:cs typeface="楷体" panose="02010609060101010101" charset="-122"/>
              </a:rPr>
              <a:t>染色体，有的同时表达母体和父体两者的</a:t>
            </a:r>
            <a:r>
              <a:rPr lang="en-US" altLang="zh-CN" sz="2000" dirty="0">
                <a:cs typeface="楷体" panose="02010609060101010101" charset="-122"/>
              </a:rPr>
              <a:t>X</a:t>
            </a:r>
            <a:r>
              <a:rPr lang="zh-CN" altLang="en-US" sz="2000" dirty="0">
                <a:cs typeface="楷体" panose="02010609060101010101" charset="-122"/>
              </a:rPr>
              <a:t>染色体。研究人员最终得出结论，当雌性小鼠的脑细胞仅依赖从母体继承的</a:t>
            </a:r>
            <a:r>
              <a:rPr lang="en-US" altLang="zh-CN" sz="2000" dirty="0">
                <a:cs typeface="楷体" panose="02010609060101010101" charset="-122"/>
              </a:rPr>
              <a:t>X</a:t>
            </a:r>
            <a:r>
              <a:rPr lang="zh-CN" altLang="en-US" sz="2000" dirty="0">
                <a:cs typeface="楷体" panose="02010609060101010101" charset="-122"/>
              </a:rPr>
              <a:t>染色体时，大脑衰老速度会更快。</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上述论证的成立需要补充以下哪项作为前提？</a:t>
            </a:r>
            <a:r>
              <a:rPr lang="en-US" altLang="zh-CN" sz="2000" dirty="0">
                <a:cs typeface="楷体" panose="02010609060101010101" charset="-122"/>
              </a:rPr>
              <a:t>()</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为了确保基因表达的平衡，雌性体内的每个细胞都会随机遗传一条</a:t>
            </a:r>
            <a:r>
              <a:rPr lang="en-US" altLang="zh-CN" sz="2000" dirty="0">
                <a:cs typeface="楷体" panose="02010609060101010101" charset="-122"/>
              </a:rPr>
              <a:t>X</a:t>
            </a:r>
            <a:r>
              <a:rPr lang="zh-CN" altLang="en-US" sz="2000" dirty="0">
                <a:cs typeface="楷体" panose="02010609060101010101" charset="-122"/>
              </a:rPr>
              <a:t>染色体，另一条则会关闭或失活</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在小鼠这一种群中，雌性小鼠的大脑衰老速度比雄性小鼠更快，其在认知、记忆方面的表现也不如雄性小鼠</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在仅表达母体</a:t>
            </a:r>
            <a:r>
              <a:rPr lang="en-US" altLang="zh-CN" sz="2000" dirty="0">
                <a:cs typeface="楷体" panose="02010609060101010101" charset="-122"/>
              </a:rPr>
              <a:t>X</a:t>
            </a:r>
            <a:r>
              <a:rPr lang="zh-CN" altLang="en-US" sz="2000" dirty="0">
                <a:cs typeface="楷体" panose="02010609060101010101" charset="-122"/>
              </a:rPr>
              <a:t>染色体的雌性小鼠的大脑中，母体</a:t>
            </a:r>
            <a:r>
              <a:rPr lang="en-US" altLang="zh-CN" sz="2000" dirty="0">
                <a:cs typeface="楷体" panose="02010609060101010101" charset="-122"/>
              </a:rPr>
              <a:t>X</a:t>
            </a:r>
            <a:r>
              <a:rPr lang="zh-CN" altLang="en-US" sz="2000" dirty="0">
                <a:cs typeface="楷体" panose="02010609060101010101" charset="-122"/>
              </a:rPr>
              <a:t>染色体加速了对学习和记忆有重要影响的海马体的衰老</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对仅表达母体</a:t>
            </a:r>
            <a:r>
              <a:rPr lang="en-US" altLang="zh-CN" sz="2000" dirty="0">
                <a:cs typeface="楷体" panose="02010609060101010101" charset="-122"/>
              </a:rPr>
              <a:t>X</a:t>
            </a:r>
            <a:r>
              <a:rPr lang="zh-CN" altLang="en-US" sz="2000" dirty="0">
                <a:cs typeface="楷体" panose="02010609060101010101" charset="-122"/>
              </a:rPr>
              <a:t>染色体的雌性小鼠，研究人员使用基因编辑技术激活其父体</a:t>
            </a:r>
            <a:r>
              <a:rPr lang="en-US" altLang="zh-CN" sz="2000" dirty="0">
                <a:cs typeface="楷体" panose="02010609060101010101" charset="-122"/>
              </a:rPr>
              <a:t>X</a:t>
            </a:r>
            <a:r>
              <a:rPr lang="zh-CN" altLang="en-US" sz="2000" dirty="0">
                <a:cs typeface="楷体" panose="02010609060101010101" charset="-122"/>
              </a:rPr>
              <a:t>染色体时，小鼠的智力水平得到了提高</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据统计，科学家从首次发表论文到进入高被引行列的平均时长为</a:t>
            </a:r>
            <a:r>
              <a:rPr lang="en-US" altLang="zh-CN" sz="2200" dirty="0">
                <a:cs typeface="楷体" panose="02010609060101010101" charset="-122"/>
              </a:rPr>
              <a:t>36</a:t>
            </a:r>
            <a:r>
              <a:rPr lang="zh-CN" altLang="en-US" sz="2200" dirty="0">
                <a:cs typeface="楷体" panose="02010609060101010101" charset="-122"/>
              </a:rPr>
              <a:t>年。然而最新研究发现，近</a:t>
            </a:r>
            <a:r>
              <a:rPr lang="en-US" altLang="zh-CN" sz="2200" dirty="0">
                <a:cs typeface="楷体" panose="02010609060101010101" charset="-122"/>
              </a:rPr>
              <a:t>5</a:t>
            </a:r>
            <a:r>
              <a:rPr lang="zh-CN" altLang="en-US" sz="2200" dirty="0">
                <a:cs typeface="楷体" panose="02010609060101010101" charset="-122"/>
              </a:rPr>
              <a:t>年</a:t>
            </a:r>
            <a:r>
              <a:rPr lang="en-US" altLang="zh-CN" sz="2200" dirty="0">
                <a:cs typeface="楷体" panose="02010609060101010101" charset="-122"/>
              </a:rPr>
              <a:t>“</a:t>
            </a:r>
            <a:r>
              <a:rPr lang="zh-CN" altLang="en-US" sz="2200" dirty="0">
                <a:cs typeface="楷体" panose="02010609060101010101" charset="-122"/>
              </a:rPr>
              <a:t>早熟</a:t>
            </a:r>
            <a:r>
              <a:rPr lang="en-US" altLang="zh-CN" sz="2200" dirty="0">
                <a:cs typeface="楷体" panose="02010609060101010101" charset="-122"/>
              </a:rPr>
              <a:t>”</a:t>
            </a:r>
            <a:r>
              <a:rPr lang="zh-CN" altLang="en-US" sz="2200" dirty="0">
                <a:cs typeface="楷体" panose="02010609060101010101" charset="-122"/>
              </a:rPr>
              <a:t>科学家（在首次发表论文后的</a:t>
            </a:r>
            <a:r>
              <a:rPr lang="en-US" altLang="zh-CN" sz="2200" dirty="0">
                <a:cs typeface="楷体" panose="02010609060101010101" charset="-122"/>
              </a:rPr>
              <a:t>8</a:t>
            </a:r>
            <a:r>
              <a:rPr lang="zh-CN" altLang="en-US" sz="2200" dirty="0">
                <a:cs typeface="楷体" panose="02010609060101010101" charset="-122"/>
              </a:rPr>
              <a:t>年内进入高被引行列的人）从</a:t>
            </a:r>
            <a:r>
              <a:rPr lang="en-US" altLang="zh-CN" sz="2200" dirty="0">
                <a:cs typeface="楷体" panose="02010609060101010101" charset="-122"/>
              </a:rPr>
              <a:t>213</a:t>
            </a:r>
            <a:r>
              <a:rPr lang="zh-CN" altLang="en-US" sz="2200" dirty="0">
                <a:cs typeface="楷体" panose="02010609060101010101" charset="-122"/>
              </a:rPr>
              <a:t>名增加到</a:t>
            </a:r>
            <a:r>
              <a:rPr lang="en-US" altLang="zh-CN" sz="2200" dirty="0">
                <a:cs typeface="楷体" panose="02010609060101010101" charset="-122"/>
              </a:rPr>
              <a:t>469</a:t>
            </a:r>
            <a:r>
              <a:rPr lang="zh-CN" altLang="en-US" sz="2200" dirty="0">
                <a:cs typeface="楷体" panose="02010609060101010101" charset="-122"/>
              </a:rPr>
              <a:t>名。在这些</a:t>
            </a:r>
            <a:r>
              <a:rPr lang="en-US" altLang="zh-CN" sz="2200" dirty="0">
                <a:cs typeface="楷体" panose="02010609060101010101" charset="-122"/>
              </a:rPr>
              <a:t>“</a:t>
            </a:r>
            <a:r>
              <a:rPr lang="zh-CN" altLang="en-US" sz="2200" dirty="0">
                <a:cs typeface="楷体" panose="02010609060101010101" charset="-122"/>
              </a:rPr>
              <a:t>早熟</a:t>
            </a:r>
            <a:r>
              <a:rPr lang="en-US" altLang="zh-CN" sz="2200" dirty="0">
                <a:cs typeface="楷体" panose="02010609060101010101" charset="-122"/>
              </a:rPr>
              <a:t>”</a:t>
            </a:r>
            <a:r>
              <a:rPr lang="zh-CN" altLang="en-US" sz="2200" dirty="0">
                <a:cs typeface="楷体" panose="02010609060101010101" charset="-122"/>
              </a:rPr>
              <a:t>科学家中，有相当一部分人自我引用的比例显著高于平均水平。研究人员认为，过度自引是导致</a:t>
            </a:r>
            <a:r>
              <a:rPr lang="en-US" altLang="zh-CN" sz="2200" dirty="0">
                <a:cs typeface="楷体" panose="02010609060101010101" charset="-122"/>
              </a:rPr>
              <a:t>“</a:t>
            </a:r>
            <a:r>
              <a:rPr lang="zh-CN" altLang="en-US" sz="2200" dirty="0">
                <a:cs typeface="楷体" panose="02010609060101010101" charset="-122"/>
              </a:rPr>
              <a:t>早熟</a:t>
            </a:r>
            <a:r>
              <a:rPr lang="en-US" altLang="zh-CN" sz="2200" dirty="0">
                <a:cs typeface="楷体" panose="02010609060101010101" charset="-122"/>
              </a:rPr>
              <a:t>”</a:t>
            </a:r>
            <a:r>
              <a:rPr lang="zh-CN" altLang="en-US" sz="2200" dirty="0">
                <a:cs typeface="楷体" panose="02010609060101010101" charset="-122"/>
              </a:rPr>
              <a:t>科学家数量激增的原因。</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以下哪项如果为真，最能支持上述结论？</a:t>
            </a:r>
            <a:r>
              <a:rPr lang="en-US" altLang="zh-CN" sz="2200" dirty="0">
                <a:cs typeface="楷体" panose="02010609060101010101" charset="-122"/>
              </a:rPr>
              <a:t>()</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高被引代表了学术影响力，</a:t>
            </a:r>
            <a:r>
              <a:rPr lang="en-US" altLang="zh-CN" sz="2200" dirty="0">
                <a:cs typeface="楷体" panose="02010609060101010101" charset="-122"/>
              </a:rPr>
              <a:t>“</a:t>
            </a:r>
            <a:r>
              <a:rPr lang="zh-CN" altLang="en-US" sz="2200" dirty="0">
                <a:cs typeface="楷体" panose="02010609060101010101" charset="-122"/>
              </a:rPr>
              <a:t>早熟</a:t>
            </a:r>
            <a:r>
              <a:rPr lang="en-US" altLang="zh-CN" sz="2200" dirty="0">
                <a:cs typeface="楷体" panose="02010609060101010101" charset="-122"/>
              </a:rPr>
              <a:t>”</a:t>
            </a:r>
            <a:r>
              <a:rPr lang="zh-CN" altLang="en-US" sz="2200" dirty="0">
                <a:cs typeface="楷体" panose="02010609060101010101" charset="-122"/>
              </a:rPr>
              <a:t>科学家都想进入这个行列</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如果排除自我引用，</a:t>
            </a:r>
            <a:r>
              <a:rPr lang="en-US" altLang="zh-CN" sz="2200" dirty="0">
                <a:cs typeface="楷体" panose="02010609060101010101" charset="-122"/>
              </a:rPr>
              <a:t>20%</a:t>
            </a:r>
            <a:r>
              <a:rPr lang="zh-CN" altLang="en-US" sz="2200" dirty="0">
                <a:cs typeface="楷体" panose="02010609060101010101" charset="-122"/>
              </a:rPr>
              <a:t>的</a:t>
            </a:r>
            <a:r>
              <a:rPr lang="en-US" altLang="zh-CN" sz="2200" dirty="0">
                <a:cs typeface="楷体" panose="02010609060101010101" charset="-122"/>
              </a:rPr>
              <a:t>“</a:t>
            </a:r>
            <a:r>
              <a:rPr lang="zh-CN" altLang="en-US" sz="2200" dirty="0">
                <a:cs typeface="楷体" panose="02010609060101010101" charset="-122"/>
              </a:rPr>
              <a:t>早熟</a:t>
            </a:r>
            <a:r>
              <a:rPr lang="en-US" altLang="zh-CN" sz="2200" dirty="0">
                <a:cs typeface="楷体" panose="02010609060101010101" charset="-122"/>
              </a:rPr>
              <a:t>”</a:t>
            </a:r>
            <a:r>
              <a:rPr lang="zh-CN" altLang="en-US" sz="2200" dirty="0">
                <a:cs typeface="楷体" panose="02010609060101010101" charset="-122"/>
              </a:rPr>
              <a:t>科学家会跌出高被引行列</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过度自我引用标志着不正常的发表行为，会引发科研诚信问题</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有一些</a:t>
            </a:r>
            <a:r>
              <a:rPr lang="en-US" altLang="zh-CN" sz="2200" dirty="0">
                <a:cs typeface="楷体" panose="02010609060101010101" charset="-122"/>
              </a:rPr>
              <a:t>“</a:t>
            </a:r>
            <a:r>
              <a:rPr lang="zh-CN" altLang="en-US" sz="2200" dirty="0">
                <a:cs typeface="楷体" panose="02010609060101010101" charset="-122"/>
              </a:rPr>
              <a:t>早熟</a:t>
            </a:r>
            <a:r>
              <a:rPr lang="en-US" altLang="zh-CN" sz="2200" dirty="0">
                <a:cs typeface="楷体" panose="02010609060101010101" charset="-122"/>
              </a:rPr>
              <a:t>”</a:t>
            </a:r>
            <a:r>
              <a:rPr lang="zh-CN" altLang="en-US" sz="2200" dirty="0">
                <a:cs typeface="楷体" panose="02010609060101010101" charset="-122"/>
              </a:rPr>
              <a:t>科学家发表了大量被认为是无意义的科研论文</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en-US" altLang="zh-CN" sz="2400" dirty="0">
                <a:cs typeface="楷体" panose="02010609060101010101" charset="-122"/>
              </a:rPr>
              <a:t>2022~2024</a:t>
            </a:r>
            <a:r>
              <a:rPr lang="zh-CN" altLang="en-US" sz="2400" dirty="0">
                <a:cs typeface="楷体" panose="02010609060101010101" charset="-122"/>
              </a:rPr>
              <a:t>年，母婴品类线下渠道销售额占比逐年下降，分别为</a:t>
            </a:r>
            <a:r>
              <a:rPr lang="en-US" altLang="zh-CN" sz="2400" dirty="0">
                <a:cs typeface="楷体" panose="02010609060101010101" charset="-122"/>
              </a:rPr>
              <a:t>69.4%</a:t>
            </a:r>
            <a:r>
              <a:rPr lang="zh-CN" altLang="en-US" sz="2400" dirty="0">
                <a:cs typeface="楷体" panose="02010609060101010101" charset="-122"/>
              </a:rPr>
              <a:t>、</a:t>
            </a:r>
            <a:r>
              <a:rPr lang="en-US" altLang="zh-CN" sz="2400" dirty="0">
                <a:cs typeface="楷体" panose="02010609060101010101" charset="-122"/>
              </a:rPr>
              <a:t>64.9%</a:t>
            </a:r>
            <a:r>
              <a:rPr lang="zh-CN" altLang="en-US" sz="2400" dirty="0">
                <a:cs typeface="楷体" panose="02010609060101010101" charset="-122"/>
              </a:rPr>
              <a:t>和</a:t>
            </a:r>
            <a:r>
              <a:rPr lang="en-US" altLang="zh-CN" sz="2400" dirty="0">
                <a:cs typeface="楷体" panose="02010609060101010101" charset="-122"/>
              </a:rPr>
              <a:t>59.7%</a:t>
            </a:r>
            <a:r>
              <a:rPr lang="zh-CN" altLang="en-US" sz="2400" dirty="0">
                <a:cs typeface="楷体" panose="02010609060101010101" charset="-122"/>
              </a:rPr>
              <a:t>。有业内人士认为，虽然销售额占比逐年下降，但母婴品类线下销售渠道仍然具有很强的不可替代性，尤其在婴幼儿食品销售中，线下渠道的重要性更为显著。</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以下哪项如果为真，不能支持该业内人士的观点？</a:t>
            </a:r>
            <a:r>
              <a:rPr lang="en-US" altLang="zh-CN" sz="2400" dirty="0">
                <a:cs typeface="楷体" panose="02010609060101010101" charset="-122"/>
              </a:rPr>
              <a:t>()</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开在医院附近的母婴用品门店，其线下销售渠道的销售额日益增加</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婴幼儿食品的概念和功能较为复杂，线下导购能提供更个性化的服务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母婴品类线下销售渠道，其售后服务更直接便捷，能直接处理问题产品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线下销售的母婴产品能让消费者直接看到和触摸到，提升购买的安心感</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057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701675"/>
            <a:ext cx="1109154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sym typeface="+mn-ea"/>
              </a:rPr>
              <a:t>研究人员针对白鹇的求偶行为展开研究。白鹇雄鸟羽色黑白分明、尾羽修长，求偶时伴有高频鸣叫；雌鸟羽色灰褐，无明显装饰性特征。研究人员在观测</a:t>
            </a:r>
            <a:r>
              <a:rPr lang="en-US" altLang="zh-CN" sz="2200" dirty="0">
                <a:cs typeface="楷体" panose="02010609060101010101" charset="-122"/>
                <a:sym typeface="+mn-ea"/>
              </a:rPr>
              <a:t>6</a:t>
            </a:r>
            <a:r>
              <a:rPr lang="zh-CN" altLang="en-US" sz="2200" dirty="0">
                <a:cs typeface="楷体" panose="02010609060101010101" charset="-122"/>
                <a:sym typeface="+mn-ea"/>
              </a:rPr>
              <a:t>个白鹇种群时发现，尾羽长度排名前</a:t>
            </a:r>
            <a:r>
              <a:rPr lang="en-US" altLang="zh-CN" sz="2200" dirty="0">
                <a:cs typeface="楷体" panose="02010609060101010101" charset="-122"/>
                <a:sym typeface="+mn-ea"/>
              </a:rPr>
              <a:t>20%</a:t>
            </a:r>
            <a:r>
              <a:rPr lang="zh-CN" altLang="en-US" sz="2200" dirty="0">
                <a:cs typeface="楷体" panose="02010609060101010101" charset="-122"/>
                <a:sym typeface="+mn-ea"/>
              </a:rPr>
              <a:t>的雄鸟，其求偶成功率是群体平均值的</a:t>
            </a:r>
            <a:r>
              <a:rPr lang="en-US" altLang="zh-CN" sz="2200" dirty="0">
                <a:cs typeface="楷体" panose="02010609060101010101" charset="-122"/>
                <a:sym typeface="+mn-ea"/>
              </a:rPr>
              <a:t>23</a:t>
            </a:r>
            <a:r>
              <a:rPr lang="zh-CN" altLang="en-US" sz="2200" dirty="0">
                <a:cs typeface="楷体" panose="02010609060101010101" charset="-122"/>
                <a:sym typeface="+mn-ea"/>
              </a:rPr>
              <a:t>倍。研究人员在保护区内设置人工投食区，确保所有雄鸟食物供给均等。一年后数据显示，尾羽长度与求偶成功率仍呈强正相关。研究人员据此认为，尾羽长度是雌鸟选择配偶的核心标准。</a:t>
            </a:r>
            <a:endParaRPr lang="zh-CN" altLang="en-US" sz="2200" dirty="0">
              <a:cs typeface="楷体" panose="02010609060101010101" charset="-122"/>
              <a:sym typeface="+mn-ea"/>
            </a:endParaRPr>
          </a:p>
          <a:p>
            <a:pPr indent="0" fontAlgn="auto">
              <a:lnSpc>
                <a:spcPct val="150000"/>
              </a:lnSpc>
            </a:pPr>
            <a:r>
              <a:rPr lang="zh-CN" altLang="en-US" sz="2200" dirty="0">
                <a:cs typeface="楷体" panose="02010609060101010101" charset="-122"/>
                <a:sym typeface="+mn-ea"/>
              </a:rPr>
              <a:t>以下哪项如果为真，最能质疑上述论证？</a:t>
            </a:r>
            <a:r>
              <a:rPr lang="en-US" altLang="zh-CN" sz="2200" dirty="0">
                <a:cs typeface="楷体" panose="02010609060101010101" charset="-122"/>
                <a:sym typeface="+mn-ea"/>
              </a:rPr>
              <a:t>()</a:t>
            </a:r>
            <a:endParaRPr lang="en-US" altLang="zh-CN" sz="2200" dirty="0">
              <a:cs typeface="楷体" panose="02010609060101010101" charset="-122"/>
              <a:sym typeface="+mn-ea"/>
            </a:endParaRPr>
          </a:p>
          <a:p>
            <a:pPr indent="0" fontAlgn="auto">
              <a:lnSpc>
                <a:spcPct val="150000"/>
              </a:lnSpc>
            </a:pPr>
            <a:r>
              <a:rPr lang="en-US" altLang="zh-CN" sz="2200" dirty="0">
                <a:cs typeface="楷体" panose="02010609060101010101" charset="-122"/>
                <a:sym typeface="+mn-ea"/>
              </a:rPr>
              <a:t>A.</a:t>
            </a:r>
            <a:r>
              <a:rPr lang="zh-CN" altLang="en-US" sz="2200" dirty="0">
                <a:cs typeface="楷体" panose="02010609060101010101" charset="-122"/>
                <a:sym typeface="+mn-ea"/>
              </a:rPr>
              <a:t>人工投食区的设置使短尾雄鸟存活率提升了</a:t>
            </a:r>
            <a:r>
              <a:rPr lang="en-US" altLang="zh-CN" sz="2200" dirty="0">
                <a:cs typeface="楷体" panose="02010609060101010101" charset="-122"/>
                <a:sym typeface="+mn-ea"/>
              </a:rPr>
              <a:t>25%</a:t>
            </a:r>
            <a:endParaRPr lang="en-US" altLang="zh-CN" sz="2200" dirty="0">
              <a:cs typeface="楷体" panose="02010609060101010101" charset="-122"/>
              <a:sym typeface="+mn-ea"/>
            </a:endParaRPr>
          </a:p>
          <a:p>
            <a:pPr indent="0" fontAlgn="auto">
              <a:lnSpc>
                <a:spcPct val="150000"/>
              </a:lnSpc>
            </a:pPr>
            <a:r>
              <a:rPr lang="en-US" altLang="zh-CN" sz="2200" dirty="0">
                <a:cs typeface="楷体" panose="02010609060101010101" charset="-122"/>
                <a:sym typeface="+mn-ea"/>
              </a:rPr>
              <a:t>B.</a:t>
            </a:r>
            <a:r>
              <a:rPr lang="zh-CN" altLang="en-US" sz="2200" dirty="0">
                <a:cs typeface="楷体" panose="02010609060101010101" charset="-122"/>
                <a:sym typeface="+mn-ea"/>
              </a:rPr>
              <a:t>白鹇雌鸟视网膜中感知色彩的视锥细胞数仅为雄鸟的</a:t>
            </a:r>
            <a:r>
              <a:rPr lang="en-US" altLang="zh-CN" sz="2200" dirty="0">
                <a:cs typeface="楷体" panose="02010609060101010101" charset="-122"/>
                <a:sym typeface="+mn-ea"/>
              </a:rPr>
              <a:t>60%</a:t>
            </a:r>
            <a:endParaRPr lang="en-US" altLang="zh-CN" sz="2200" dirty="0">
              <a:cs typeface="楷体" panose="02010609060101010101" charset="-122"/>
              <a:sym typeface="+mn-ea"/>
            </a:endParaRPr>
          </a:p>
          <a:p>
            <a:pPr indent="0" fontAlgn="auto">
              <a:lnSpc>
                <a:spcPct val="150000"/>
              </a:lnSpc>
            </a:pPr>
            <a:r>
              <a:rPr lang="en-US" altLang="zh-CN" sz="2200" dirty="0">
                <a:cs typeface="楷体" panose="02010609060101010101" charset="-122"/>
                <a:sym typeface="+mn-ea"/>
              </a:rPr>
              <a:t>C.</a:t>
            </a:r>
            <a:r>
              <a:rPr lang="zh-CN" altLang="en-US" sz="2200" dirty="0">
                <a:cs typeface="楷体" panose="02010609060101010101" charset="-122"/>
                <a:sym typeface="+mn-ea"/>
              </a:rPr>
              <a:t>尾羽生长需要消耗大量蛋白质，老年雄鸟尾羽长度会逐年缩短</a:t>
            </a:r>
            <a:endParaRPr lang="zh-CN" altLang="en-US" sz="2200" dirty="0">
              <a:cs typeface="楷体" panose="02010609060101010101" charset="-122"/>
              <a:sym typeface="+mn-ea"/>
            </a:endParaRPr>
          </a:p>
          <a:p>
            <a:pPr indent="0" fontAlgn="auto">
              <a:lnSpc>
                <a:spcPct val="150000"/>
              </a:lnSpc>
            </a:pPr>
            <a:r>
              <a:rPr lang="en-US" altLang="zh-CN" sz="2200" dirty="0">
                <a:cs typeface="楷体" panose="02010609060101010101" charset="-122"/>
                <a:sym typeface="+mn-ea"/>
              </a:rPr>
              <a:t>D.</a:t>
            </a:r>
            <a:r>
              <a:rPr lang="zh-CN" altLang="en-US" sz="2200" dirty="0">
                <a:cs typeface="楷体" panose="02010609060101010101" charset="-122"/>
                <a:sym typeface="+mn-ea"/>
              </a:rPr>
              <a:t>在隔绝声音的环境中，雌鸟对长尾或短尾雄鸟的偏好率相差无几</a:t>
            </a:r>
            <a:endParaRPr lang="zh-CN" altLang="en-US" sz="2200" dirty="0">
              <a:cs typeface="楷体" panose="02010609060101010101"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541655"/>
            <a:ext cx="1113726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研究人员分析了</a:t>
            </a:r>
            <a:r>
              <a:rPr lang="en-US" altLang="zh-CN" sz="2400" dirty="0">
                <a:cs typeface="楷体" panose="02010609060101010101" charset="-122"/>
              </a:rPr>
              <a:t>3340</a:t>
            </a:r>
            <a:r>
              <a:rPr lang="zh-CN" altLang="en-US" sz="2400" dirty="0">
                <a:cs typeface="楷体" panose="02010609060101010101" charset="-122"/>
              </a:rPr>
              <a:t>名青少年的调查问卷数据，发现其中</a:t>
            </a:r>
            <a:r>
              <a:rPr lang="en-US" altLang="zh-CN" sz="2400" dirty="0">
                <a:cs typeface="楷体" panose="02010609060101010101" charset="-122"/>
              </a:rPr>
              <a:t>16%</a:t>
            </a:r>
            <a:r>
              <a:rPr lang="zh-CN" altLang="en-US" sz="2400" dirty="0">
                <a:cs typeface="楷体" panose="02010609060101010101" charset="-122"/>
              </a:rPr>
              <a:t>的人至少存在一种精神症状。研究人员发现，与没有精神症状的人相比，有精神症状的受试者报告自己使用社交媒体的时间明显更长，其中有内化症状（抑郁或焦虑症）的受试者，他们使用社交媒体的时间最长。研究人员认为，长时间使用社交媒体易使青少年出现精神症状。</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以下哪项如果为真，最能质疑上述结论？</a:t>
            </a:r>
            <a:r>
              <a:rPr lang="en-US" altLang="zh-CN" sz="2400" dirty="0">
                <a:cs typeface="楷体" panose="02010609060101010101" charset="-122"/>
              </a:rPr>
              <a:t>()</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青少年在成长发育的过程中非常容易出现精神症状</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社交媒体上并非都是不良信息，也有很多正向信息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出现精神症状的青少年才会花更多时间在社交媒体上</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有精神症状的青少年更倾向通过社交媒体与他人交往</a:t>
            </a:r>
            <a:endParaRPr lang="zh-CN" altLang="en-US" sz="2400" dirty="0">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43865" y="588010"/>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某科研团队需在张、王、李、赵、陈</a:t>
            </a:r>
            <a:r>
              <a:rPr lang="en-US" altLang="zh-CN" sz="2400" dirty="0">
                <a:cs typeface="楷体" panose="02010609060101010101" charset="-122"/>
              </a:rPr>
              <a:t>5</a:t>
            </a:r>
            <a:r>
              <a:rPr lang="zh-CN" altLang="en-US" sz="2400" dirty="0">
                <a:cs typeface="楷体" panose="02010609060101010101" charset="-122"/>
              </a:rPr>
              <a:t>人中选派</a:t>
            </a:r>
            <a:r>
              <a:rPr lang="en-US" altLang="zh-CN" sz="2400" dirty="0">
                <a:cs typeface="楷体" panose="02010609060101010101" charset="-122"/>
              </a:rPr>
              <a:t>3</a:t>
            </a:r>
            <a:r>
              <a:rPr lang="zh-CN" altLang="en-US" sz="2400" dirty="0">
                <a:cs typeface="楷体" panose="02010609060101010101" charset="-122"/>
              </a:rPr>
              <a:t>人参加国际会议，选派需满足以下条件：</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1</a:t>
            </a:r>
            <a:r>
              <a:rPr lang="zh-CN" altLang="en-US" sz="2400" dirty="0">
                <a:cs typeface="楷体" panose="02010609060101010101" charset="-122"/>
              </a:rPr>
              <a:t>）李和赵至少选派一人；</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2</a:t>
            </a:r>
            <a:r>
              <a:rPr lang="zh-CN" altLang="en-US" sz="2400" dirty="0">
                <a:cs typeface="楷体" panose="02010609060101010101" charset="-122"/>
              </a:rPr>
              <a:t>）若选派张，则选派王；</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3</a:t>
            </a:r>
            <a:r>
              <a:rPr lang="zh-CN" altLang="en-US" sz="2400" dirty="0">
                <a:cs typeface="楷体" panose="02010609060101010101" charset="-122"/>
              </a:rPr>
              <a:t>）王和李不能同时选派；</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4</a:t>
            </a:r>
            <a:r>
              <a:rPr lang="zh-CN" altLang="en-US" sz="2400" dirty="0">
                <a:cs typeface="楷体" panose="02010609060101010101" charset="-122"/>
              </a:rPr>
              <a:t>）若选派赵，则选派陈。</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根据以上信息，可以推出（）。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张未被选派，赵被选派</a:t>
            </a:r>
            <a:r>
              <a:rPr lang="en-US" altLang="zh-CN" sz="2400" dirty="0">
                <a:cs typeface="楷体" panose="02010609060101010101" charset="-122"/>
              </a:rPr>
              <a:t>	B.</a:t>
            </a:r>
            <a:r>
              <a:rPr lang="zh-CN" altLang="en-US" sz="2400" dirty="0">
                <a:cs typeface="楷体" panose="02010609060101010101" charset="-122"/>
              </a:rPr>
              <a:t>王未被选派，陈被选派</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李未被选派，赵被选派</a:t>
            </a:r>
            <a:r>
              <a:rPr lang="en-US" altLang="zh-CN" sz="2400" dirty="0">
                <a:cs typeface="楷体" panose="02010609060101010101" charset="-122"/>
              </a:rPr>
              <a:t>	D.</a:t>
            </a:r>
            <a:r>
              <a:rPr lang="zh-CN" altLang="en-US" sz="2400" dirty="0">
                <a:cs typeface="楷体" panose="02010609060101010101" charset="-122"/>
              </a:rPr>
              <a:t>赵未被选派，陈被选派</a:t>
            </a:r>
            <a:endParaRPr lang="zh-CN" altLang="en-US" sz="2400" dirty="0">
              <a:cs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836930"/>
            <a:ext cx="1132141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某国实施工业减排政策后，交通事故发生数量同比上升了</a:t>
            </a:r>
            <a:r>
              <a:rPr lang="en-US" altLang="zh-CN" sz="2400" dirty="0">
                <a:cs typeface="楷体" panose="02010609060101010101" charset="-122"/>
              </a:rPr>
              <a:t>5%</a:t>
            </a:r>
            <a:r>
              <a:rPr lang="zh-CN" altLang="en-US" sz="2400" dirty="0">
                <a:cs typeface="楷体" panose="02010609060101010101" charset="-122"/>
              </a:rPr>
              <a:t>。有人据此认为，工业减排政策导致企业运输压力增大，是交通事故增多的原因。</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以下哪项论证中存在的错误与上述论证最不相同？</a:t>
            </a:r>
            <a:r>
              <a:rPr lang="en-US" altLang="zh-CN" sz="2400" dirty="0">
                <a:cs typeface="楷体" panose="02010609060101010101" charset="-122"/>
              </a:rPr>
              <a:t>()</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某河流禁渔后周边鸟类数量减少，是因为禁渔破坏了生态链</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某市推广节能灯后用电量下降，所以推广节能灯有利于环保</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去年冬季羽绒服销量上升，其后流感暴发，所以羽绒服会引发流感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某社区垃圾分类试点后盗窃案增加，因为垃圾分类分散了治安投入材料</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572135"/>
            <a:ext cx="11460480" cy="5526405"/>
          </a:xfrm>
          <a:prstGeom prst="rect">
            <a:avLst/>
          </a:prstGeom>
          <a:noFill/>
        </p:spPr>
        <p:txBody>
          <a:bodyPr wrap="square" rtlCol="0" anchor="t">
            <a:noAutofit/>
          </a:bodyPr>
          <a:p>
            <a:pPr indent="0" fontAlgn="auto">
              <a:lnSpc>
                <a:spcPct val="120000"/>
              </a:lnSpc>
            </a:pPr>
            <a:r>
              <a:rPr lang="zh-CN" altLang="en-US" dirty="0">
                <a:cs typeface="楷体" panose="02010609060101010101" charset="-122"/>
              </a:rPr>
              <a:t>近年来，人工智能大模型成了某些学生赶作业的</a:t>
            </a:r>
            <a:r>
              <a:rPr lang="en-US" altLang="zh-CN" dirty="0">
                <a:cs typeface="楷体" panose="02010609060101010101" charset="-122"/>
              </a:rPr>
              <a:t>“</a:t>
            </a:r>
            <a:r>
              <a:rPr lang="zh-CN" altLang="en-US" dirty="0">
                <a:cs typeface="楷体" panose="02010609060101010101" charset="-122"/>
              </a:rPr>
              <a:t>神器</a:t>
            </a:r>
            <a:r>
              <a:rPr lang="en-US" altLang="zh-CN" dirty="0">
                <a:cs typeface="楷体" panose="02010609060101010101" charset="-122"/>
              </a:rPr>
              <a:t>”</a:t>
            </a:r>
            <a:r>
              <a:rPr lang="zh-CN" altLang="en-US" dirty="0">
                <a:cs typeface="楷体" panose="02010609060101010101" charset="-122"/>
              </a:rPr>
              <a:t>，这一现象引发广泛热议，一些观点如下：</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甲：我发现儿子竟然在用</a:t>
            </a:r>
            <a:r>
              <a:rPr lang="en-US" altLang="zh-CN" dirty="0">
                <a:cs typeface="楷体" panose="02010609060101010101" charset="-122"/>
              </a:rPr>
              <a:t>AI</a:t>
            </a:r>
            <a:r>
              <a:rPr lang="zh-CN" altLang="en-US" dirty="0">
                <a:cs typeface="楷体" panose="02010609060101010101" charset="-122"/>
              </a:rPr>
              <a:t>写作业，老师要求每周写一篇作文，他把作文题目和需求发给</a:t>
            </a:r>
            <a:r>
              <a:rPr lang="en-US" altLang="zh-CN" dirty="0">
                <a:cs typeface="楷体" panose="02010609060101010101" charset="-122"/>
              </a:rPr>
              <a:t>AI</a:t>
            </a:r>
            <a:r>
              <a:rPr lang="zh-CN" altLang="en-US" dirty="0">
                <a:cs typeface="楷体" panose="02010609060101010101" charset="-122"/>
              </a:rPr>
              <a:t>，立马生成了作文，然后直接照抄。从前担心他无法完成作业，现在更担心他依赖</a:t>
            </a:r>
            <a:r>
              <a:rPr lang="en-US" altLang="zh-CN" dirty="0">
                <a:cs typeface="楷体" panose="02010609060101010101" charset="-122"/>
              </a:rPr>
              <a:t>AI</a:t>
            </a:r>
            <a:r>
              <a:rPr lang="zh-CN" altLang="en-US" dirty="0">
                <a:cs typeface="楷体" panose="02010609060101010101" charset="-122"/>
              </a:rPr>
              <a:t>，学不到任何知识。</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乙：比完成作业更重要的是完成作业的态度。作业本应是学生巩固知识、培养思维能力的重要环节，而不是为了应付老师布置的任务，如果完全使用</a:t>
            </a:r>
            <a:r>
              <a:rPr lang="en-US" altLang="zh-CN" dirty="0">
                <a:cs typeface="楷体" panose="02010609060101010101" charset="-122"/>
              </a:rPr>
              <a:t>AI</a:t>
            </a:r>
            <a:r>
              <a:rPr lang="zh-CN" altLang="en-US" dirty="0">
                <a:cs typeface="楷体" panose="02010609060101010101" charset="-122"/>
              </a:rPr>
              <a:t>作答，答案并不符合学生的水平，就可能错过老师有针对性的讲解。</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丙：这提醒了老师究竟该布置怎样的作业才能培养学生的能力。死记硬背的作业大模型就能完成，作业和考试可能更需要考查学生的思维能力，即使孩子借助于大模型，也需要通过自己的独立思考去理解和完善，才能完整作答。</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丁：使用</a:t>
            </a:r>
            <a:r>
              <a:rPr lang="en-US" altLang="zh-CN" dirty="0">
                <a:cs typeface="楷体" panose="02010609060101010101" charset="-122"/>
              </a:rPr>
              <a:t>AI</a:t>
            </a:r>
            <a:r>
              <a:rPr lang="zh-CN" altLang="en-US" dirty="0">
                <a:cs typeface="楷体" panose="02010609060101010101" charset="-122"/>
              </a:rPr>
              <a:t>作为辅助学习、拓展知识面的手段，是完全可以的。学生使用智能工具完成综合性的作业，在信息甄别、筛查中完成有意义的学习，这种学习方式的转变能促进学生积极探索，提升创新能力。</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戊：现在的</a:t>
            </a:r>
            <a:r>
              <a:rPr lang="en-US" altLang="zh-CN" dirty="0">
                <a:cs typeface="楷体" panose="02010609060101010101" charset="-122"/>
              </a:rPr>
              <a:t>AI</a:t>
            </a:r>
            <a:r>
              <a:rPr lang="zh-CN" altLang="en-US" dirty="0">
                <a:cs typeface="楷体" panose="02010609060101010101" charset="-122"/>
              </a:rPr>
              <a:t>本质上是</a:t>
            </a:r>
            <a:r>
              <a:rPr lang="en-US" altLang="zh-CN" dirty="0">
                <a:cs typeface="楷体" panose="02010609060101010101" charset="-122"/>
              </a:rPr>
              <a:t>“</a:t>
            </a:r>
            <a:r>
              <a:rPr lang="zh-CN" altLang="en-US" dirty="0">
                <a:cs typeface="楷体" panose="02010609060101010101" charset="-122"/>
              </a:rPr>
              <a:t>知识集合</a:t>
            </a:r>
            <a:r>
              <a:rPr lang="en-US" altLang="zh-CN" dirty="0">
                <a:cs typeface="楷体" panose="02010609060101010101" charset="-122"/>
              </a:rPr>
              <a:t>”</a:t>
            </a:r>
            <a:r>
              <a:rPr lang="zh-CN" altLang="en-US" dirty="0">
                <a:cs typeface="楷体" panose="02010609060101010101" charset="-122"/>
              </a:rPr>
              <a:t>，靠分析过去的数据运转。未来教育的关键，是要让孩子正确对待</a:t>
            </a:r>
            <a:r>
              <a:rPr lang="en-US" altLang="zh-CN" dirty="0">
                <a:cs typeface="楷体" panose="02010609060101010101" charset="-122"/>
              </a:rPr>
              <a:t>AI</a:t>
            </a:r>
            <a:r>
              <a:rPr lang="zh-CN" altLang="en-US" dirty="0">
                <a:cs typeface="楷体" panose="02010609060101010101" charset="-122"/>
              </a:rPr>
              <a:t>，机械任务交给机器，人来做机器做不到的事，让</a:t>
            </a:r>
            <a:r>
              <a:rPr lang="en-US" altLang="zh-CN" dirty="0">
                <a:cs typeface="楷体" panose="02010609060101010101" charset="-122"/>
              </a:rPr>
              <a:t>AI</a:t>
            </a:r>
            <a:r>
              <a:rPr lang="zh-CN" altLang="en-US" dirty="0">
                <a:cs typeface="楷体" panose="02010609060101010101" charset="-122"/>
              </a:rPr>
              <a:t>为我所用。</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34.</a:t>
            </a:r>
            <a:r>
              <a:rPr lang="zh-CN" altLang="en-US" dirty="0">
                <a:cs typeface="楷体" panose="02010609060101010101" charset="-122"/>
              </a:rPr>
              <a:t>下列说法正确的是（）。</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A.</a:t>
            </a:r>
            <a:r>
              <a:rPr lang="zh-CN" altLang="en-US" dirty="0">
                <a:cs typeface="楷体" panose="02010609060101010101" charset="-122"/>
              </a:rPr>
              <a:t>甲、乙均对学生用</a:t>
            </a:r>
            <a:r>
              <a:rPr lang="en-US" altLang="zh-CN" dirty="0">
                <a:cs typeface="楷体" panose="02010609060101010101" charset="-122"/>
              </a:rPr>
              <a:t>AI</a:t>
            </a:r>
            <a:r>
              <a:rPr lang="zh-CN" altLang="en-US" dirty="0">
                <a:cs typeface="楷体" panose="02010609060101010101" charset="-122"/>
              </a:rPr>
              <a:t>写作业的弊端表示担忧</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B.</a:t>
            </a:r>
            <a:r>
              <a:rPr lang="zh-CN" altLang="en-US" dirty="0">
                <a:cs typeface="楷体" panose="02010609060101010101" charset="-122"/>
              </a:rPr>
              <a:t>丙、丁均支持学生适当使用</a:t>
            </a:r>
            <a:r>
              <a:rPr lang="en-US" altLang="zh-CN" dirty="0">
                <a:cs typeface="楷体" panose="02010609060101010101" charset="-122"/>
              </a:rPr>
              <a:t>AI</a:t>
            </a:r>
            <a:r>
              <a:rPr lang="zh-CN" altLang="en-US" dirty="0">
                <a:cs typeface="楷体" panose="02010609060101010101" charset="-122"/>
              </a:rPr>
              <a:t>辅助完成作业</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C.</a:t>
            </a:r>
            <a:r>
              <a:rPr lang="zh-CN" altLang="en-US" dirty="0">
                <a:cs typeface="楷体" panose="02010609060101010101" charset="-122"/>
              </a:rPr>
              <a:t>丙、丁、戊均围绕</a:t>
            </a:r>
            <a:r>
              <a:rPr lang="en-US" altLang="zh-CN" dirty="0">
                <a:cs typeface="楷体" panose="02010609060101010101" charset="-122"/>
              </a:rPr>
              <a:t>“AI</a:t>
            </a:r>
            <a:r>
              <a:rPr lang="zh-CN" altLang="en-US" dirty="0">
                <a:cs typeface="楷体" panose="02010609060101010101" charset="-122"/>
              </a:rPr>
              <a:t>帮写作业</a:t>
            </a:r>
            <a:r>
              <a:rPr lang="en-US" altLang="zh-CN" dirty="0">
                <a:cs typeface="楷体" panose="02010609060101010101" charset="-122"/>
              </a:rPr>
              <a:t>”</a:t>
            </a:r>
            <a:r>
              <a:rPr lang="zh-CN" altLang="en-US" dirty="0">
                <a:cs typeface="楷体" panose="02010609060101010101" charset="-122"/>
              </a:rPr>
              <a:t>发表了观点</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D.</a:t>
            </a:r>
            <a:r>
              <a:rPr lang="zh-CN" altLang="en-US" dirty="0">
                <a:cs typeface="楷体" panose="02010609060101010101" charset="-122"/>
              </a:rPr>
              <a:t>在是否可用</a:t>
            </a:r>
            <a:r>
              <a:rPr lang="en-US" altLang="zh-CN" dirty="0">
                <a:cs typeface="楷体" panose="02010609060101010101" charset="-122"/>
              </a:rPr>
              <a:t>AI</a:t>
            </a:r>
            <a:r>
              <a:rPr lang="zh-CN" altLang="en-US" dirty="0">
                <a:cs typeface="楷体" panose="02010609060101010101" charset="-122"/>
              </a:rPr>
              <a:t>写作业的问题上乙和丁观点相反</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35</a:t>
            </a:r>
            <a:endParaRPr kumimoji="1" lang="en-US" altLang="zh-CN" sz="2800" b="1" dirty="0">
              <a:solidFill>
                <a:srgbClr val="FF653F"/>
              </a:solidFill>
            </a:endParaRPr>
          </a:p>
        </p:txBody>
      </p:sp>
      <p:sp>
        <p:nvSpPr>
          <p:cNvPr id="3" name="文本框 2"/>
          <p:cNvSpPr txBox="1"/>
          <p:nvPr/>
        </p:nvSpPr>
        <p:spPr>
          <a:xfrm>
            <a:off x="462915" y="553085"/>
            <a:ext cx="11460480" cy="5526405"/>
          </a:xfrm>
          <a:prstGeom prst="rect">
            <a:avLst/>
          </a:prstGeom>
          <a:noFill/>
        </p:spPr>
        <p:txBody>
          <a:bodyPr wrap="square" rtlCol="0" anchor="t">
            <a:noAutofit/>
          </a:bodyPr>
          <a:p>
            <a:pPr indent="0" fontAlgn="auto">
              <a:lnSpc>
                <a:spcPct val="120000"/>
              </a:lnSpc>
            </a:pPr>
            <a:r>
              <a:rPr lang="zh-CN" altLang="en-US" dirty="0">
                <a:cs typeface="楷体" panose="02010609060101010101" charset="-122"/>
              </a:rPr>
              <a:t>近年来，人工智能大模型成了某些学生赶作业的</a:t>
            </a:r>
            <a:r>
              <a:rPr lang="en-US" altLang="zh-CN" dirty="0">
                <a:cs typeface="楷体" panose="02010609060101010101" charset="-122"/>
              </a:rPr>
              <a:t>“</a:t>
            </a:r>
            <a:r>
              <a:rPr lang="zh-CN" altLang="en-US" dirty="0">
                <a:cs typeface="楷体" panose="02010609060101010101" charset="-122"/>
              </a:rPr>
              <a:t>神器</a:t>
            </a:r>
            <a:r>
              <a:rPr lang="en-US" altLang="zh-CN" dirty="0">
                <a:cs typeface="楷体" panose="02010609060101010101" charset="-122"/>
              </a:rPr>
              <a:t>”</a:t>
            </a:r>
            <a:r>
              <a:rPr lang="zh-CN" altLang="en-US" dirty="0">
                <a:cs typeface="楷体" panose="02010609060101010101" charset="-122"/>
              </a:rPr>
              <a:t>，这一现象引发广泛热议，一些观点如下：</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甲：我发现儿子竟然在用</a:t>
            </a:r>
            <a:r>
              <a:rPr lang="en-US" altLang="zh-CN" dirty="0">
                <a:cs typeface="楷体" panose="02010609060101010101" charset="-122"/>
              </a:rPr>
              <a:t>AI</a:t>
            </a:r>
            <a:r>
              <a:rPr lang="zh-CN" altLang="en-US" dirty="0">
                <a:cs typeface="楷体" panose="02010609060101010101" charset="-122"/>
              </a:rPr>
              <a:t>写作业，老师要求每周写一篇作文，他把作文题目和需求发给</a:t>
            </a:r>
            <a:r>
              <a:rPr lang="en-US" altLang="zh-CN" dirty="0">
                <a:cs typeface="楷体" panose="02010609060101010101" charset="-122"/>
              </a:rPr>
              <a:t>AI</a:t>
            </a:r>
            <a:r>
              <a:rPr lang="zh-CN" altLang="en-US" dirty="0">
                <a:cs typeface="楷体" panose="02010609060101010101" charset="-122"/>
              </a:rPr>
              <a:t>，立马生成了作文，然后直接照抄。从前担心他无法完成作业，现在更担心他依赖</a:t>
            </a:r>
            <a:r>
              <a:rPr lang="en-US" altLang="zh-CN" dirty="0">
                <a:cs typeface="楷体" panose="02010609060101010101" charset="-122"/>
              </a:rPr>
              <a:t>AI</a:t>
            </a:r>
            <a:r>
              <a:rPr lang="zh-CN" altLang="en-US" dirty="0">
                <a:cs typeface="楷体" panose="02010609060101010101" charset="-122"/>
              </a:rPr>
              <a:t>，学不到任何知识。</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乙：比完成作业更重要的是完成作业的态度。作业本应是学生巩固知识、培养思维能力的重要环节，而不是为了应付老师布置的任务，如果完全使用</a:t>
            </a:r>
            <a:r>
              <a:rPr lang="en-US" altLang="zh-CN" dirty="0">
                <a:cs typeface="楷体" panose="02010609060101010101" charset="-122"/>
              </a:rPr>
              <a:t>AI</a:t>
            </a:r>
            <a:r>
              <a:rPr lang="zh-CN" altLang="en-US" dirty="0">
                <a:cs typeface="楷体" panose="02010609060101010101" charset="-122"/>
              </a:rPr>
              <a:t>作答，答案并不符合学生的水平，就可能错过老师有针对性的讲解。</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丙：这提醒了老师究竟该布置怎样的作业才能培养学生的能力。死记硬背的作业大模型就能完成，作业和考试可能更需要考查学生的思维能力，即使孩子借助于大模型，也需要通过自己的独立思考去理解和完善，才能完整作答。</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丁：使用</a:t>
            </a:r>
            <a:r>
              <a:rPr lang="en-US" altLang="zh-CN" dirty="0">
                <a:cs typeface="楷体" panose="02010609060101010101" charset="-122"/>
              </a:rPr>
              <a:t>AI</a:t>
            </a:r>
            <a:r>
              <a:rPr lang="zh-CN" altLang="en-US" dirty="0">
                <a:cs typeface="楷体" panose="02010609060101010101" charset="-122"/>
              </a:rPr>
              <a:t>作为辅助学习、拓展知识面的手段，是完全可以的。学生使用智能工具完成综合性的作业，在信息甄别、筛查中完成有意义的学习，这种学习方式的转变能促进学生积极探索，提升创新能力。</a:t>
            </a:r>
            <a:endParaRPr lang="zh-CN" altLang="en-US" dirty="0">
              <a:cs typeface="楷体" panose="02010609060101010101" charset="-122"/>
            </a:endParaRPr>
          </a:p>
          <a:p>
            <a:pPr indent="0" fontAlgn="auto">
              <a:lnSpc>
                <a:spcPct val="120000"/>
              </a:lnSpc>
            </a:pPr>
            <a:r>
              <a:rPr lang="zh-CN" altLang="en-US" dirty="0">
                <a:cs typeface="楷体" panose="02010609060101010101" charset="-122"/>
              </a:rPr>
              <a:t>戊：现在的</a:t>
            </a:r>
            <a:r>
              <a:rPr lang="en-US" altLang="zh-CN" dirty="0">
                <a:cs typeface="楷体" panose="02010609060101010101" charset="-122"/>
              </a:rPr>
              <a:t>AI</a:t>
            </a:r>
            <a:r>
              <a:rPr lang="zh-CN" altLang="en-US" dirty="0">
                <a:cs typeface="楷体" panose="02010609060101010101" charset="-122"/>
              </a:rPr>
              <a:t>本质上是</a:t>
            </a:r>
            <a:r>
              <a:rPr lang="en-US" altLang="zh-CN" dirty="0">
                <a:cs typeface="楷体" panose="02010609060101010101" charset="-122"/>
              </a:rPr>
              <a:t>“</a:t>
            </a:r>
            <a:r>
              <a:rPr lang="zh-CN" altLang="en-US" dirty="0">
                <a:cs typeface="楷体" panose="02010609060101010101" charset="-122"/>
              </a:rPr>
              <a:t>知识集合</a:t>
            </a:r>
            <a:r>
              <a:rPr lang="en-US" altLang="zh-CN" dirty="0">
                <a:cs typeface="楷体" panose="02010609060101010101" charset="-122"/>
              </a:rPr>
              <a:t>”</a:t>
            </a:r>
            <a:r>
              <a:rPr lang="zh-CN" altLang="en-US" dirty="0">
                <a:cs typeface="楷体" panose="02010609060101010101" charset="-122"/>
              </a:rPr>
              <a:t>，靠分析过去的数据运转。未来教育的关键，是要让孩子正确对待</a:t>
            </a:r>
            <a:r>
              <a:rPr lang="en-US" altLang="zh-CN" dirty="0">
                <a:cs typeface="楷体" panose="02010609060101010101" charset="-122"/>
              </a:rPr>
              <a:t>AI</a:t>
            </a:r>
            <a:r>
              <a:rPr lang="zh-CN" altLang="en-US" dirty="0">
                <a:cs typeface="楷体" panose="02010609060101010101" charset="-122"/>
              </a:rPr>
              <a:t>，机械任务交给机器，人来做机器做不到的事，让</a:t>
            </a:r>
            <a:r>
              <a:rPr lang="en-US" altLang="zh-CN" dirty="0">
                <a:cs typeface="楷体" panose="02010609060101010101" charset="-122"/>
              </a:rPr>
              <a:t>AI</a:t>
            </a:r>
            <a:r>
              <a:rPr lang="zh-CN" altLang="en-US" dirty="0">
                <a:cs typeface="楷体" panose="02010609060101010101" charset="-122"/>
              </a:rPr>
              <a:t>为我所用。</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35.</a:t>
            </a:r>
            <a:r>
              <a:rPr lang="zh-CN" altLang="en-US" dirty="0">
                <a:cs typeface="楷体" panose="02010609060101010101" charset="-122"/>
              </a:rPr>
              <a:t>下列哪一观点最可能得到戊的赞同？</a:t>
            </a:r>
            <a:r>
              <a:rPr lang="en-US" altLang="zh-CN" dirty="0">
                <a:cs typeface="楷体" panose="02010609060101010101" charset="-122"/>
              </a:rPr>
              <a:t>()</a:t>
            </a:r>
            <a:endParaRPr lang="en-US" altLang="zh-CN" dirty="0">
              <a:cs typeface="楷体" panose="02010609060101010101" charset="-122"/>
            </a:endParaRPr>
          </a:p>
          <a:p>
            <a:pPr indent="0" fontAlgn="auto">
              <a:lnSpc>
                <a:spcPct val="120000"/>
              </a:lnSpc>
            </a:pPr>
            <a:r>
              <a:rPr lang="en-US" altLang="zh-CN" dirty="0">
                <a:cs typeface="楷体" panose="02010609060101010101" charset="-122"/>
              </a:rPr>
              <a:t>A.</a:t>
            </a:r>
            <a:r>
              <a:rPr lang="zh-CN" altLang="en-US" dirty="0">
                <a:cs typeface="楷体" panose="02010609060101010101" charset="-122"/>
              </a:rPr>
              <a:t>人工智能本身无好坏之分，关键是使用者的意图和目的</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B.</a:t>
            </a:r>
            <a:r>
              <a:rPr lang="zh-CN" altLang="en-US" dirty="0">
                <a:cs typeface="楷体" panose="02010609060101010101" charset="-122"/>
              </a:rPr>
              <a:t>人工智能的发展须与人类的价值观和整体利益保持一致</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C.</a:t>
            </a:r>
            <a:r>
              <a:rPr lang="zh-CN" altLang="en-US" dirty="0">
                <a:cs typeface="楷体" panose="02010609060101010101" charset="-122"/>
              </a:rPr>
              <a:t>需要关注人工智能对人类文明、社会结构等的潜在影响</a:t>
            </a:r>
            <a:endParaRPr lang="zh-CN" altLang="en-US" dirty="0">
              <a:cs typeface="楷体" panose="02010609060101010101" charset="-122"/>
            </a:endParaRPr>
          </a:p>
          <a:p>
            <a:pPr indent="0" fontAlgn="auto">
              <a:lnSpc>
                <a:spcPct val="120000"/>
              </a:lnSpc>
            </a:pPr>
            <a:r>
              <a:rPr lang="en-US" altLang="zh-CN" dirty="0">
                <a:cs typeface="楷体" panose="02010609060101010101" charset="-122"/>
              </a:rPr>
              <a:t>D.</a:t>
            </a:r>
            <a:r>
              <a:rPr lang="zh-CN" altLang="en-US" dirty="0">
                <a:cs typeface="楷体" panose="02010609060101010101" charset="-122"/>
              </a:rPr>
              <a:t>学会合理使用人工智能这一工具比单纯掌握知识更重要</a:t>
            </a:r>
            <a:endParaRPr lang="zh-CN" altLang="en-US" dirty="0">
              <a:cs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6773</Words>
  <Application>WPS 演示</Application>
  <PresentationFormat>宽屏</PresentationFormat>
  <Paragraphs>331</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宋体</vt:lpstr>
      <vt:lpstr>Wingdings</vt:lpstr>
      <vt:lpstr>楷体</vt:lpstr>
      <vt:lpstr>MiSans Bold</vt:lpstr>
      <vt:lpstr>微软雅黑</vt:lpstr>
      <vt:lpstr>Arial Unicode MS</vt:lpstr>
      <vt:lpstr>Wingdings</vt:lpstr>
      <vt:lpstr>自定义设计方案</vt:lpstr>
      <vt:lpstr>判断推理套题 2025年下半年A类</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题31</vt:lpstr>
      <vt:lpstr>题32</vt:lpstr>
      <vt:lpstr>题33</vt:lpstr>
      <vt:lpstr>题34</vt:lpstr>
      <vt:lpstr>题35</vt:lpstr>
      <vt:lpstr> 感 谢 观 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220</cp:revision>
  <dcterms:created xsi:type="dcterms:W3CDTF">2019-06-19T02:08:00Z</dcterms:created>
  <dcterms:modified xsi:type="dcterms:W3CDTF">2026-01-08T14:08:42Z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