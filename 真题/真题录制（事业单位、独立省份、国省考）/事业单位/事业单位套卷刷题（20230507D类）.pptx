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1650" r:id="rId3"/>
    <p:sldId id="1643" r:id="rId5"/>
    <p:sldId id="1652" r:id="rId6"/>
    <p:sldId id="1653" r:id="rId7"/>
    <p:sldId id="1656" r:id="rId8"/>
    <p:sldId id="1657" r:id="rId9"/>
    <p:sldId id="1651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7" name="李鹏飞_6bQfzI3a" initials="李" lastIdx="0" clrIdx="0"/>
  <p:cmAuthor id="8" name="小珞_QjMfU7FR" initials="小" lastIdx="0" clrIdx="0"/>
  <p:cmAuthor id="9" name="骆倩怡_Znauj26B" initials="authorId_382814100" lastIdx="0" clrIdx="0"/>
  <p:cmAuthor id="249246244" name="桑桑" initials="桑" lastIdx="1" clrIdx="0"/>
  <p:cmAuthor id="10" name="caoyue" initials="c" lastIdx="1" clrIdx="9"/>
  <p:cmAuthor id="12" name="18309297108" initials="1" lastIdx="1" clrIdx="11"/>
  <p:cmAuthor id="13" name="xmiles" initials="x" lastIdx="1" clrIdx="12"/>
  <p:cmAuthor id="2001" name="Microsoft Office User" initials="MOU" lastIdx="1" clrIdx="2"/>
  <p:cmAuthor id="11" name="ibm" initials="i" lastIdx="5" clrIdx="10"/>
  <p:cmAuthor id="14" name="kobe" initials="k" lastIdx="1" clrIdx="13"/>
  <p:cmAuthor id="15" name="MIAI" initials="M" lastIdx="1" clrIdx="14"/>
  <p:cmAuthor id="16" name="HP" initials="H" lastIdx="1" clrIdx="15"/>
  <p:cmAuthor id="17" name="yangyaqin" initials="y" lastIdx="1" clrIdx="16"/>
  <p:cmAuthor id="18" name="ASUS" initials="A" lastIdx="1" clrIdx="1"/>
  <p:cmAuthor id="76" name="Yongqiang ZHOU" initials="YZ" lastIdx="1" clrIdx="25"/>
  <p:cmAuthor id="2000" name="Beck_jUrevum2" initials="authorId_724972424" lastIdx="0" clrIdx="0"/>
  <p:cmAuthor id="1483810881" name="WPS_1679281038" initials="W" lastIdx="1" clrIdx="2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7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解析：论点：这样的竞争意识破坏了孩子自身的兴趣爱好。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论据：这样的竞争意识使得孩子认为自己必须超越别人才能获得荣誉。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论据讨论的是竞争意识使孩子认为必须超越别人才能获得荣誉，论点讨论的是竞争意识破坏了孩子的兴趣爱好，论点和论据话题不一致，优先考虑搭桥。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项：题干讨论的是竞争意识对兴趣爱好的影响，该项讨论的是竞争意识不利于全面发展，话题不一致，为无关项，无法加强，排除；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项：该项说明幼儿在竞争意识下确实会将注意力聚焦在能否获得荣誉上，肯定了论据，可以加强，保留；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项：该项指出幼儿为获得荣誉超越别人是培养自身兴趣爱好的障碍，建立起论点和论据之间的联系，为搭桥项，可以加强，当选；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项：题干讨论的是竞争意识对兴趣爱好的影响，该项提出竞争意识不利于自我管理和自我约束能力的培养，话题不一致，为无关项，无法加强，排除。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对比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项为肯定论据，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项为搭桥，论点和论据话题不一致时，优先搭桥。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乙二胡或丁二胡丙笛子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甲笛子乙笛子且丁笛子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乙古琴丙箫且丁箫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每人表演三种乐器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每种乐器均有三人表演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根据最大信息原则，将笛子作为突破口。若丙笛子，根据条件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，否后必否前可得：乙二胡且丁二胡，与条件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违背，假设不成立，则可得丙笛子。根据条件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，若甲笛子，可以推出乙笛子、丁笛子，再结合丙笛子，则违背条件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，故可以推出甲笛子。结合条件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可得以下表格。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结合条件继续推理，可进行假设。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假设乙古琴成立，可以推出丙箫、丁箫，在结合条件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可得以下表格。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结合以上表格可得：丙、丁分别表演古琴与二胡中的一个，但是具体表演哪一个，不确定。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继续假设，假设乙古琴不成立。在结合条件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可得以下表格。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结合以上表格可得：丙、丁分别表演箫和二胡中的一个，但是具体表演哪一个，不确定。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所以当假设乙演唱古琴或者不演唱古琴，均能得出丙、丁仅有一人表演二胡的结论，只有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解析：论点：年轻人养猫有益。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论据：无。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只有论点没有论据，加强优先考虑补充论据。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号说明去年国内有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5312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万只宠物猫，且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后和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后养猫人数占比很大，与论点讨论的年轻人养猫有益无关，不能加强；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号说明离开父母自己居住后，可以养宠物了，与论点讨论的年轻人养猫有益无关，不能加强；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号说明养猫使青年更加明晰自己作为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监护人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的责任，责任心明显增强，补充论据说明年轻人养猫有益，可以加强；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号说明猫会形成每天固定的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作息时间表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，强调的是猫的生活习性，与论点讨论的年轻人养猫有益无关，不能加强；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号说明猫无需每日都遛，强调的是猫的生活习性，与论点讨论的年轻人养猫有益无关，不能加强；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号说明猫咪自己就能玩得开心，无需主人管它，强调的是猫的生活习点，与论点讨论的年轻人养猫有益无关，不能加强；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号说明猫可以减轻年轻人的孤独感，补充论据说明年轻人养猫有益，可以加强。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号的观点把狗需要溜和猫不需要溜进行比较，二者都是家里的宠物，可以类比，但是没有得到不恰当的结论，所以不存在类比不当的错误，排除；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号说明猫咪不需要太多运动量和基础教育，自己就能玩的很好，前后不存在因果联系，因此也不存在因果倒置的错误，排除；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项：该项的假设只能说明猫癣不会传染人，但是没有这个弊端也不能说明养猫就是有益的，因此即使是修改过的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号的观点也不能支持正方的观点（年轻人养猫是有益的），排除；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号表明猫是生活规律的动物，而如果猫的规律作息会对年轻人产生正向影响，那么可得到结论养猫是有益的，评价正确，当选。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解析：论点：养猫能使年轻人受益。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论据：据统计，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市养猫的年轻人幸福指数高达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93.5%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，而不养猫的年轻人幸福指数仅为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47.2%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项：无论年轻人的年龄划分标准如何，论点讨论的都是年轻人，论据调查对象的差异点为是是否养猫，与年轻人的年龄划分标准无关，所以对该问题的回答对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号的论证不重要，当选；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项：如果幸福指数的评价指标体系带有倾向性，则说明统计结果不科学，可以削弱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号的论证；如果幸福指数的评价指标体系没有倾向性，说明统计结果是合理的，可以加强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号的论证，故对该问题的回答对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号的论证是重要的，排除；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项：如果两个调查群体在其他方面的情况不相当，也就是说在其他方面存在差异，那么幸福指数的高低可能是其他因素影响的，可以削弱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号的论证；如果两个调查群体在其他方面的情况相当，也就是说在其他方面不存在差异，那么幸福指数的高低就不是其他因素影响的，可以加强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号的论证，故对该问题的回答对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号的论证是重要的，排除；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项：如果养猫的调查群体养猫前的幸福指数就很高，说明并不是养猫提升的幸福指数，可以削弱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号的论证；如果养猫的调查群体养猫前的幸福指数很低，说明是养猫提升的幸福指数，可以加强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号的论证，故对该问题的回答对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号的论证是重要的，排除。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5" name="图片 4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8" name="图片 7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07628" y="2367459"/>
            <a:ext cx="6576647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年上半年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类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真题解析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016" y="461242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5" y="535305"/>
            <a:ext cx="11302365" cy="503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幼儿教育管理中的</a:t>
            </a:r>
            <a:r>
              <a:rPr lang="en-US" altLang="zh-CN" sz="2200" dirty="0">
                <a:cs typeface="楷体" panose="02010609060101010101" charset="-122"/>
              </a:rPr>
              <a:t>“</a:t>
            </a:r>
            <a:r>
              <a:rPr lang="zh-CN" altLang="en-US" sz="2200" dirty="0">
                <a:cs typeface="楷体" panose="02010609060101010101" charset="-122"/>
              </a:rPr>
              <a:t>第一</a:t>
            </a:r>
            <a:r>
              <a:rPr lang="en-US" altLang="zh-CN" sz="2200" dirty="0">
                <a:cs typeface="楷体" panose="02010609060101010101" charset="-122"/>
              </a:rPr>
              <a:t>”</a:t>
            </a:r>
            <a:r>
              <a:rPr lang="zh-CN" altLang="en-US" sz="2200" dirty="0">
                <a:cs typeface="楷体" panose="02010609060101010101" charset="-122"/>
              </a:rPr>
              <a:t>意识和</a:t>
            </a:r>
            <a:r>
              <a:rPr lang="en-US" altLang="zh-CN" sz="2200" dirty="0">
                <a:cs typeface="楷体" panose="02010609060101010101" charset="-122"/>
              </a:rPr>
              <a:t>“</a:t>
            </a:r>
            <a:r>
              <a:rPr lang="zh-CN" altLang="en-US" sz="2200" dirty="0">
                <a:cs typeface="楷体" panose="02010609060101010101" charset="-122"/>
              </a:rPr>
              <a:t>最好</a:t>
            </a:r>
            <a:r>
              <a:rPr lang="en-US" altLang="zh-CN" sz="2200" dirty="0">
                <a:cs typeface="楷体" panose="02010609060101010101" charset="-122"/>
              </a:rPr>
              <a:t>”</a:t>
            </a:r>
            <a:r>
              <a:rPr lang="zh-CN" altLang="en-US" sz="2200" dirty="0">
                <a:cs typeface="楷体" panose="02010609060101010101" charset="-122"/>
              </a:rPr>
              <a:t>意识不仅明确宣扬竞争，甚至还鼓励竞争，第一个入园的孩子、吃饭吃得最干净的孩子、第一个入睡的孩子永远只有一位，这样的竞争意识使得孩子认为自己必须超越别人才能获得荣誉。因此，这样的竞争意识破坏了孩子自身的兴趣爱好。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以下哪项如果为真，最能支持上述结论？（</a:t>
            </a:r>
            <a:r>
              <a:rPr lang="en-US" altLang="zh-CN" sz="2200" dirty="0">
                <a:cs typeface="楷体" panose="02010609060101010101" charset="-122"/>
              </a:rPr>
              <a:t>    </a:t>
            </a:r>
            <a:r>
              <a:rPr lang="zh-CN" altLang="en-US" sz="2200" dirty="0">
                <a:cs typeface="楷体" panose="02010609060101010101" charset="-122"/>
              </a:rPr>
              <a:t>）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A.</a:t>
            </a:r>
            <a:r>
              <a:rPr lang="zh-CN" altLang="en-US" sz="2200" dirty="0">
                <a:cs typeface="楷体" panose="02010609060101010101" charset="-122"/>
              </a:rPr>
              <a:t>幼儿竞争意识的培养不利于孩子自身的全面发展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B.</a:t>
            </a:r>
            <a:r>
              <a:rPr lang="zh-CN" altLang="en-US" sz="2200" dirty="0">
                <a:cs typeface="楷体" panose="02010609060101010101" charset="-122"/>
              </a:rPr>
              <a:t>幼儿在竞争意识下会将注意力聚焦在能否获得荣誉上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C.</a:t>
            </a:r>
            <a:r>
              <a:rPr lang="zh-CN" altLang="en-US" sz="2200" dirty="0">
                <a:cs typeface="楷体" panose="02010609060101010101" charset="-122"/>
              </a:rPr>
              <a:t>幼儿为获得荣誉超越别人是培养自身兴趣爱好的障碍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D.</a:t>
            </a:r>
            <a:r>
              <a:rPr lang="zh-CN" altLang="en-US" sz="2200" dirty="0">
                <a:cs typeface="楷体" panose="02010609060101010101" charset="-122"/>
              </a:rPr>
              <a:t>幼儿的竞争意识不利于自我管理和自我约束能力的培养</a:t>
            </a:r>
            <a:endParaRPr lang="zh-CN" altLang="en-US" sz="22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2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5" y="535305"/>
            <a:ext cx="11302365" cy="503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某单位举行联欢晚会，甲、乙、丙、丁</a:t>
            </a:r>
            <a:r>
              <a:rPr lang="en-US" altLang="zh-CN" sz="2200" dirty="0">
                <a:cs typeface="楷体" panose="02010609060101010101" charset="-122"/>
              </a:rPr>
              <a:t>4</a:t>
            </a:r>
            <a:r>
              <a:rPr lang="zh-CN" altLang="en-US" sz="2200" dirty="0">
                <a:cs typeface="楷体" panose="02010609060101010101" charset="-122"/>
              </a:rPr>
              <a:t>人每人分别表演了古琴、二胡、笛子、箫</a:t>
            </a:r>
            <a:r>
              <a:rPr lang="en-US" altLang="zh-CN" sz="2200" dirty="0">
                <a:cs typeface="楷体" panose="02010609060101010101" charset="-122"/>
              </a:rPr>
              <a:t>4</a:t>
            </a:r>
            <a:r>
              <a:rPr lang="zh-CN" altLang="en-US" sz="2200" dirty="0">
                <a:cs typeface="楷体" panose="02010609060101010101" charset="-122"/>
              </a:rPr>
              <a:t>种乐器中的</a:t>
            </a:r>
            <a:r>
              <a:rPr lang="en-US" altLang="zh-CN" sz="2200" dirty="0">
                <a:cs typeface="楷体" panose="02010609060101010101" charset="-122"/>
              </a:rPr>
              <a:t>3</a:t>
            </a:r>
            <a:r>
              <a:rPr lang="zh-CN" altLang="en-US" sz="2200" dirty="0">
                <a:cs typeface="楷体" panose="02010609060101010101" charset="-122"/>
              </a:rPr>
              <a:t>种，且每种乐器均有</a:t>
            </a:r>
            <a:r>
              <a:rPr lang="en-US" altLang="zh-CN" sz="2200" dirty="0">
                <a:cs typeface="楷体" panose="02010609060101010101" charset="-122"/>
              </a:rPr>
              <a:t>4</a:t>
            </a:r>
            <a:r>
              <a:rPr lang="zh-CN" altLang="en-US" sz="2200" dirty="0">
                <a:cs typeface="楷体" panose="02010609060101010101" charset="-122"/>
              </a:rPr>
              <a:t>人中的</a:t>
            </a:r>
            <a:r>
              <a:rPr lang="en-US" altLang="zh-CN" sz="2200" dirty="0">
                <a:cs typeface="楷体" panose="02010609060101010101" charset="-122"/>
              </a:rPr>
              <a:t>1</a:t>
            </a:r>
            <a:r>
              <a:rPr lang="zh-CN" altLang="en-US" sz="2200" dirty="0">
                <a:cs typeface="楷体" panose="02010609060101010101" charset="-122"/>
              </a:rPr>
              <a:t>人不表演。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已知：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200" dirty="0">
                <a:cs typeface="楷体" panose="02010609060101010101" charset="-122"/>
              </a:rPr>
              <a:t>①</a:t>
            </a:r>
            <a:r>
              <a:rPr lang="zh-CN" altLang="en-US" sz="2200" dirty="0">
                <a:cs typeface="楷体" panose="02010609060101010101" charset="-122"/>
              </a:rPr>
              <a:t>若乙、丁至少有</a:t>
            </a:r>
            <a:r>
              <a:rPr lang="en-US" altLang="zh-CN" sz="2200" dirty="0">
                <a:cs typeface="楷体" panose="02010609060101010101" charset="-122"/>
              </a:rPr>
              <a:t>1</a:t>
            </a:r>
            <a:r>
              <a:rPr lang="zh-CN" altLang="en-US" sz="2200" dirty="0">
                <a:cs typeface="楷体" panose="02010609060101010101" charset="-122"/>
              </a:rPr>
              <a:t>人表演了二胡，则丙表演了笛子；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200" dirty="0">
                <a:cs typeface="楷体" panose="02010609060101010101" charset="-122"/>
              </a:rPr>
              <a:t>②</a:t>
            </a:r>
            <a:r>
              <a:rPr lang="zh-CN" altLang="en-US" sz="2200" dirty="0">
                <a:cs typeface="楷体" panose="02010609060101010101" charset="-122"/>
              </a:rPr>
              <a:t>若甲表演了笛子，则乙、丁均表演了笛子；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200" dirty="0">
                <a:cs typeface="楷体" panose="02010609060101010101" charset="-122"/>
              </a:rPr>
              <a:t>③</a:t>
            </a:r>
            <a:r>
              <a:rPr lang="zh-CN" altLang="en-US" sz="2200" dirty="0">
                <a:cs typeface="楷体" panose="02010609060101010101" charset="-122"/>
              </a:rPr>
              <a:t>若乙表演了古琴，则丙、丁表演了箫。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根据上述信息，可以得出以下哪项？（</a:t>
            </a:r>
            <a:r>
              <a:rPr lang="en-US" altLang="zh-CN" sz="2200" dirty="0">
                <a:cs typeface="楷体" panose="02010609060101010101" charset="-122"/>
              </a:rPr>
              <a:t>    </a:t>
            </a:r>
            <a:r>
              <a:rPr lang="zh-CN" altLang="en-US" sz="2200" dirty="0">
                <a:cs typeface="楷体" panose="02010609060101010101" charset="-122"/>
              </a:rPr>
              <a:t>）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A.</a:t>
            </a:r>
            <a:r>
              <a:rPr lang="zh-CN" altLang="en-US" sz="2200" dirty="0">
                <a:cs typeface="楷体" panose="02010609060101010101" charset="-122"/>
              </a:rPr>
              <a:t>甲、乙中恰有</a:t>
            </a:r>
            <a:r>
              <a:rPr lang="en-US" altLang="zh-CN" sz="2200" dirty="0">
                <a:cs typeface="楷体" panose="02010609060101010101" charset="-122"/>
              </a:rPr>
              <a:t>1</a:t>
            </a:r>
            <a:r>
              <a:rPr lang="zh-CN" altLang="en-US" sz="2200" dirty="0">
                <a:cs typeface="楷体" panose="02010609060101010101" charset="-122"/>
              </a:rPr>
              <a:t>人表演古琴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B.</a:t>
            </a:r>
            <a:r>
              <a:rPr lang="zh-CN" altLang="en-US" sz="2200" dirty="0">
                <a:cs typeface="楷体" panose="02010609060101010101" charset="-122"/>
              </a:rPr>
              <a:t>甲、丁中恰有</a:t>
            </a:r>
            <a:r>
              <a:rPr lang="en-US" altLang="zh-CN" sz="2200" dirty="0">
                <a:cs typeface="楷体" panose="02010609060101010101" charset="-122"/>
              </a:rPr>
              <a:t>1</a:t>
            </a:r>
            <a:r>
              <a:rPr lang="zh-CN" altLang="en-US" sz="2200" dirty="0">
                <a:cs typeface="楷体" panose="02010609060101010101" charset="-122"/>
              </a:rPr>
              <a:t>人表演箫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C.</a:t>
            </a:r>
            <a:r>
              <a:rPr lang="zh-CN" altLang="en-US" sz="2200" dirty="0">
                <a:cs typeface="楷体" panose="02010609060101010101" charset="-122"/>
              </a:rPr>
              <a:t>乙、丙中恰有</a:t>
            </a:r>
            <a:r>
              <a:rPr lang="en-US" altLang="zh-CN" sz="2200" dirty="0">
                <a:cs typeface="楷体" panose="02010609060101010101" charset="-122"/>
              </a:rPr>
              <a:t>1</a:t>
            </a:r>
            <a:r>
              <a:rPr lang="zh-CN" altLang="en-US" sz="2200" dirty="0">
                <a:cs typeface="楷体" panose="02010609060101010101" charset="-122"/>
              </a:rPr>
              <a:t>人表演笛子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D.</a:t>
            </a:r>
            <a:r>
              <a:rPr lang="zh-CN" altLang="en-US" sz="2200" dirty="0">
                <a:cs typeface="楷体" panose="02010609060101010101" charset="-122"/>
              </a:rPr>
              <a:t>丙、丁中恰有</a:t>
            </a:r>
            <a:r>
              <a:rPr lang="en-US" altLang="zh-CN" sz="2200" dirty="0">
                <a:cs typeface="楷体" panose="02010609060101010101" charset="-122"/>
              </a:rPr>
              <a:t>1</a:t>
            </a:r>
            <a:r>
              <a:rPr lang="zh-CN" altLang="en-US" sz="2200" dirty="0">
                <a:cs typeface="楷体" panose="02010609060101010101" charset="-122"/>
              </a:rPr>
              <a:t>人表演二胡</a:t>
            </a:r>
            <a:endParaRPr lang="zh-CN" altLang="en-US" sz="2200" dirty="0"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706995" y="1216660"/>
          <a:ext cx="34671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420"/>
                <a:gridCol w="693420"/>
                <a:gridCol w="693420"/>
                <a:gridCol w="693420"/>
                <a:gridCol w="6934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古琴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二胡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笛子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箫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7706995" y="3324860"/>
          <a:ext cx="34671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420"/>
                <a:gridCol w="693420"/>
                <a:gridCol w="693420"/>
                <a:gridCol w="693420"/>
                <a:gridCol w="6934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古琴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二胡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笛子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箫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5" y="535305"/>
            <a:ext cx="11302365" cy="503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2000" dirty="0">
                <a:cs typeface="楷体" panose="02010609060101010101" charset="-122"/>
              </a:rPr>
              <a:t>根据材料，回答以下</a:t>
            </a:r>
            <a:r>
              <a:rPr lang="en-US" altLang="zh-CN" sz="2000" dirty="0">
                <a:cs typeface="楷体" panose="02010609060101010101" charset="-122"/>
              </a:rPr>
              <a:t>3</a:t>
            </a:r>
            <a:r>
              <a:rPr lang="zh-CN" altLang="en-US" sz="2000" dirty="0">
                <a:cs typeface="楷体" panose="02010609060101010101" charset="-122"/>
              </a:rPr>
              <a:t>题。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dirty="0">
                <a:cs typeface="楷体" panose="02010609060101010101" charset="-122"/>
              </a:rPr>
              <a:t>如今，打开微信朋友圈，越来越多的年轻人不再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晒娃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，而是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晒猫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，在各大短视频平台，各种风格的宠物博主层出不穷，以猫为主角的视频铺天盖地。有人认为，年轻人养猫是有益的，但也有人对此持相反态度，人们的各种观点如下：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1</a:t>
            </a:r>
            <a:r>
              <a:rPr lang="zh-CN" altLang="en-US" sz="2000" dirty="0">
                <a:cs typeface="楷体" panose="02010609060101010101" charset="-122"/>
              </a:rPr>
              <a:t>号：据统计，去年国内有</a:t>
            </a:r>
            <a:r>
              <a:rPr lang="en-US" altLang="zh-CN" sz="2000" dirty="0">
                <a:cs typeface="楷体" panose="02010609060101010101" charset="-122"/>
              </a:rPr>
              <a:t>5312</a:t>
            </a:r>
            <a:r>
              <a:rPr lang="zh-CN" altLang="en-US" sz="2000" dirty="0">
                <a:cs typeface="楷体" panose="02010609060101010101" charset="-122"/>
              </a:rPr>
              <a:t>万只宠物猫，</a:t>
            </a:r>
            <a:r>
              <a:rPr lang="en-US" altLang="zh-CN" sz="2000" dirty="0">
                <a:cs typeface="楷体" panose="02010609060101010101" charset="-122"/>
              </a:rPr>
              <a:t>90</a:t>
            </a:r>
            <a:r>
              <a:rPr lang="zh-CN" altLang="en-US" sz="2000" dirty="0">
                <a:cs typeface="楷体" panose="02010609060101010101" charset="-122"/>
              </a:rPr>
              <a:t>后占总养猫人数的</a:t>
            </a:r>
            <a:r>
              <a:rPr lang="en-US" altLang="zh-CN" sz="2000" dirty="0">
                <a:cs typeface="楷体" panose="02010609060101010101" charset="-122"/>
              </a:rPr>
              <a:t>50%</a:t>
            </a:r>
            <a:r>
              <a:rPr lang="zh-CN" altLang="en-US" sz="2000" dirty="0">
                <a:cs typeface="楷体" panose="02010609060101010101" charset="-122"/>
              </a:rPr>
              <a:t>以上，</a:t>
            </a:r>
            <a:r>
              <a:rPr lang="en-US" altLang="zh-CN" sz="2000" dirty="0">
                <a:cs typeface="楷体" panose="02010609060101010101" charset="-122"/>
              </a:rPr>
              <a:t>95</a:t>
            </a:r>
            <a:r>
              <a:rPr lang="zh-CN" altLang="en-US" sz="2000" dirty="0">
                <a:cs typeface="楷体" panose="02010609060101010101" charset="-122"/>
              </a:rPr>
              <a:t>后占</a:t>
            </a:r>
            <a:r>
              <a:rPr lang="en-US" altLang="zh-CN" sz="2000" dirty="0">
                <a:cs typeface="楷体" panose="02010609060101010101" charset="-122"/>
              </a:rPr>
              <a:t>36%</a:t>
            </a:r>
            <a:r>
              <a:rPr lang="zh-CN" altLang="en-US" sz="2000" dirty="0">
                <a:cs typeface="楷体" panose="02010609060101010101" charset="-122"/>
              </a:rPr>
              <a:t>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2</a:t>
            </a:r>
            <a:r>
              <a:rPr lang="zh-CN" altLang="en-US" sz="2000" dirty="0">
                <a:cs typeface="楷体" panose="02010609060101010101" charset="-122"/>
              </a:rPr>
              <a:t>号：我从小就喜欢小动物，以前父母不让养，现在自己住了，终于可以养宠物了。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3</a:t>
            </a:r>
            <a:r>
              <a:rPr lang="zh-CN" altLang="en-US" sz="2000" dirty="0">
                <a:cs typeface="楷体" panose="02010609060101010101" charset="-122"/>
              </a:rPr>
              <a:t>号：调查显示，养猫使青年更加明晰自己作为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监护人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的责任，责任心明显增强。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4</a:t>
            </a:r>
            <a:r>
              <a:rPr lang="zh-CN" altLang="en-US" sz="2000" dirty="0">
                <a:cs typeface="楷体" panose="02010609060101010101" charset="-122"/>
              </a:rPr>
              <a:t>号：猫是生活规律的动物，猫会形成每天固定的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作息时间表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5</a:t>
            </a:r>
            <a:r>
              <a:rPr lang="zh-CN" altLang="en-US" sz="2000" dirty="0">
                <a:cs typeface="楷体" panose="02010609060101010101" charset="-122"/>
              </a:rPr>
              <a:t>号：狗必须每天遛，但猫不用，现代年轻人上班辛苦劳累，哪里有时间和精力遛狗？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6</a:t>
            </a:r>
            <a:r>
              <a:rPr lang="zh-CN" altLang="en-US" sz="2000" dirty="0">
                <a:cs typeface="楷体" panose="02010609060101010101" charset="-122"/>
              </a:rPr>
              <a:t>号：猫咪不需要太多运动量和基础教育，甚至主人忙的时候不用管它，猫咪自己就能玩得开心。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7</a:t>
            </a:r>
            <a:r>
              <a:rPr lang="zh-CN" altLang="en-US" sz="2000" dirty="0">
                <a:cs typeface="楷体" panose="02010609060101010101" charset="-122"/>
              </a:rPr>
              <a:t>号：与父母、朋友、同事、邻里的相处过程中，年轻人难以感受到足够的社会支持，有时感到孤独，有猫陪伴可以减轻这种孤独感。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8</a:t>
            </a:r>
            <a:r>
              <a:rPr lang="zh-CN" altLang="en-US" sz="2000" dirty="0">
                <a:cs typeface="楷体" panose="02010609060101010101" charset="-122"/>
              </a:rPr>
              <a:t>号：我以前养的猫患猫癣，还传染了我，所以年轻人养猫是有害的。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9</a:t>
            </a:r>
            <a:r>
              <a:rPr lang="zh-CN" altLang="en-US" sz="2000" dirty="0">
                <a:cs typeface="楷体" panose="02010609060101010101" charset="-122"/>
              </a:rPr>
              <a:t>号：据统计，</a:t>
            </a:r>
            <a:r>
              <a:rPr lang="en-US" altLang="zh-CN" sz="2000" dirty="0">
                <a:cs typeface="楷体" panose="02010609060101010101" charset="-122"/>
              </a:rPr>
              <a:t>S</a:t>
            </a:r>
            <a:r>
              <a:rPr lang="zh-CN" altLang="en-US" sz="2000" dirty="0">
                <a:cs typeface="楷体" panose="02010609060101010101" charset="-122"/>
              </a:rPr>
              <a:t>市养猫的年轻人幸福指数高达</a:t>
            </a:r>
            <a:r>
              <a:rPr lang="en-US" altLang="zh-CN" sz="2000" dirty="0">
                <a:cs typeface="楷体" panose="02010609060101010101" charset="-122"/>
              </a:rPr>
              <a:t>93.5%</a:t>
            </a:r>
            <a:r>
              <a:rPr lang="zh-CN" altLang="en-US" sz="2000" dirty="0">
                <a:cs typeface="楷体" panose="02010609060101010101" charset="-122"/>
              </a:rPr>
              <a:t>，而不养猫的年轻人幸福指数仅为</a:t>
            </a:r>
            <a:r>
              <a:rPr lang="en-US" altLang="zh-CN" sz="2000" dirty="0">
                <a:cs typeface="楷体" panose="02010609060101010101" charset="-122"/>
              </a:rPr>
              <a:t>47.2%</a:t>
            </a:r>
            <a:r>
              <a:rPr lang="zh-CN" altLang="en-US" sz="2000" dirty="0">
                <a:cs typeface="楷体" panose="02010609060101010101" charset="-122"/>
              </a:rPr>
              <a:t>，可见养猫能使年轻人受益。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3.</a:t>
            </a:r>
            <a:r>
              <a:rPr lang="zh-CN" altLang="en-US" sz="2000" dirty="0">
                <a:cs typeface="楷体" panose="02010609060101010101" charset="-122"/>
              </a:rPr>
              <a:t>下列选项中，均能支持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年轻人养猫有益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观点的是（</a:t>
            </a:r>
            <a:r>
              <a:rPr lang="en-US" altLang="zh-CN" sz="2000" dirty="0">
                <a:cs typeface="楷体" panose="02010609060101010101" charset="-122"/>
              </a:rPr>
              <a:t>    </a:t>
            </a:r>
            <a:r>
              <a:rPr lang="zh-CN" altLang="en-US" sz="2000" dirty="0">
                <a:cs typeface="楷体" panose="02010609060101010101" charset="-122"/>
              </a:rPr>
              <a:t>）。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A.1</a:t>
            </a:r>
            <a:r>
              <a:rPr lang="zh-CN" altLang="en-US" sz="2000" dirty="0">
                <a:cs typeface="楷体" panose="02010609060101010101" charset="-122"/>
              </a:rPr>
              <a:t>号和</a:t>
            </a:r>
            <a:r>
              <a:rPr lang="en-US" altLang="zh-CN" sz="2000" dirty="0">
                <a:cs typeface="楷体" panose="02010609060101010101" charset="-122"/>
              </a:rPr>
              <a:t>4</a:t>
            </a:r>
            <a:r>
              <a:rPr lang="zh-CN" altLang="en-US" sz="2000" dirty="0">
                <a:cs typeface="楷体" panose="02010609060101010101" charset="-122"/>
              </a:rPr>
              <a:t>号</a:t>
            </a:r>
            <a:r>
              <a:rPr lang="en-US" altLang="zh-CN" sz="2000" dirty="0">
                <a:cs typeface="楷体" panose="02010609060101010101" charset="-122"/>
              </a:rPr>
              <a:t>		B.2</a:t>
            </a:r>
            <a:r>
              <a:rPr lang="zh-CN" altLang="en-US" sz="2000" dirty="0">
                <a:cs typeface="楷体" panose="02010609060101010101" charset="-122"/>
              </a:rPr>
              <a:t>号和</a:t>
            </a:r>
            <a:r>
              <a:rPr lang="en-US" altLang="zh-CN" sz="2000" dirty="0">
                <a:cs typeface="楷体" panose="02010609060101010101" charset="-122"/>
              </a:rPr>
              <a:t>5</a:t>
            </a:r>
            <a:r>
              <a:rPr lang="zh-CN" altLang="en-US" sz="2000" dirty="0">
                <a:cs typeface="楷体" panose="02010609060101010101" charset="-122"/>
              </a:rPr>
              <a:t>号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dirty="0">
                <a:cs typeface="楷体" panose="02010609060101010101" charset="-122"/>
              </a:rPr>
              <a:t>C.3</a:t>
            </a:r>
            <a:r>
              <a:rPr lang="zh-CN" altLang="en-US" sz="2000" dirty="0">
                <a:cs typeface="楷体" panose="02010609060101010101" charset="-122"/>
              </a:rPr>
              <a:t>号和</a:t>
            </a:r>
            <a:r>
              <a:rPr lang="en-US" altLang="zh-CN" sz="2000" dirty="0">
                <a:cs typeface="楷体" panose="02010609060101010101" charset="-122"/>
              </a:rPr>
              <a:t>6</a:t>
            </a:r>
            <a:r>
              <a:rPr lang="zh-CN" altLang="en-US" sz="2000" dirty="0">
                <a:cs typeface="楷体" panose="02010609060101010101" charset="-122"/>
              </a:rPr>
              <a:t>号</a:t>
            </a:r>
            <a:r>
              <a:rPr lang="en-US" altLang="zh-CN" sz="2000" dirty="0">
                <a:cs typeface="楷体" panose="02010609060101010101" charset="-122"/>
              </a:rPr>
              <a:t>		D.3</a:t>
            </a:r>
            <a:r>
              <a:rPr lang="zh-CN" altLang="en-US" sz="2000" dirty="0">
                <a:cs typeface="楷体" panose="02010609060101010101" charset="-122"/>
              </a:rPr>
              <a:t>号和</a:t>
            </a:r>
            <a:r>
              <a:rPr lang="en-US" altLang="zh-CN" sz="2000" dirty="0">
                <a:cs typeface="楷体" panose="02010609060101010101" charset="-122"/>
              </a:rPr>
              <a:t>7</a:t>
            </a:r>
            <a:r>
              <a:rPr lang="zh-CN" altLang="en-US" sz="2000" dirty="0">
                <a:cs typeface="楷体" panose="02010609060101010101" charset="-122"/>
              </a:rPr>
              <a:t>号</a:t>
            </a:r>
            <a:endParaRPr lang="zh-CN" altLang="en-US" sz="20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5" y="535305"/>
            <a:ext cx="11302365" cy="503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楷体" panose="02010609060101010101" charset="-122"/>
              </a:rPr>
              <a:t>根据材料，回答以下</a:t>
            </a:r>
            <a:r>
              <a:rPr lang="en-US" altLang="zh-CN" dirty="0">
                <a:cs typeface="楷体" panose="02010609060101010101" charset="-122"/>
              </a:rPr>
              <a:t>3</a:t>
            </a:r>
            <a:r>
              <a:rPr lang="zh-CN" altLang="en-US" dirty="0">
                <a:cs typeface="楷体" panose="02010609060101010101" charset="-122"/>
              </a:rPr>
              <a:t>题。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楷体" panose="02010609060101010101" charset="-122"/>
              </a:rPr>
              <a:t>如今，打开微信朋友圈，越来越多的年轻人不再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晒娃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，而是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晒猫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，在各大短视频平台，各种风格的宠物博主层出不穷，以猫为主角的视频铺天盖地。有人认为，年轻人养猫是有益的，但也有人对此持相反态度，人们的各种观点如下：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1</a:t>
            </a:r>
            <a:r>
              <a:rPr lang="zh-CN" altLang="en-US" dirty="0">
                <a:cs typeface="楷体" panose="02010609060101010101" charset="-122"/>
              </a:rPr>
              <a:t>号：据统计，去年国内有</a:t>
            </a:r>
            <a:r>
              <a:rPr lang="en-US" altLang="zh-CN" dirty="0">
                <a:cs typeface="楷体" panose="02010609060101010101" charset="-122"/>
              </a:rPr>
              <a:t>5312</a:t>
            </a:r>
            <a:r>
              <a:rPr lang="zh-CN" altLang="en-US" dirty="0">
                <a:cs typeface="楷体" panose="02010609060101010101" charset="-122"/>
              </a:rPr>
              <a:t>万只宠物猫，</a:t>
            </a:r>
            <a:r>
              <a:rPr lang="en-US" altLang="zh-CN" dirty="0">
                <a:cs typeface="楷体" panose="02010609060101010101" charset="-122"/>
              </a:rPr>
              <a:t>90</a:t>
            </a:r>
            <a:r>
              <a:rPr lang="zh-CN" altLang="en-US" dirty="0">
                <a:cs typeface="楷体" panose="02010609060101010101" charset="-122"/>
              </a:rPr>
              <a:t>后占总养猫人数的</a:t>
            </a:r>
            <a:r>
              <a:rPr lang="en-US" altLang="zh-CN" dirty="0">
                <a:cs typeface="楷体" panose="02010609060101010101" charset="-122"/>
              </a:rPr>
              <a:t>50%</a:t>
            </a:r>
            <a:r>
              <a:rPr lang="zh-CN" altLang="en-US" dirty="0">
                <a:cs typeface="楷体" panose="02010609060101010101" charset="-122"/>
              </a:rPr>
              <a:t>以上，</a:t>
            </a:r>
            <a:r>
              <a:rPr lang="en-US" altLang="zh-CN" dirty="0">
                <a:cs typeface="楷体" panose="02010609060101010101" charset="-122"/>
              </a:rPr>
              <a:t>95</a:t>
            </a:r>
            <a:r>
              <a:rPr lang="zh-CN" altLang="en-US" dirty="0">
                <a:cs typeface="楷体" panose="02010609060101010101" charset="-122"/>
              </a:rPr>
              <a:t>后占</a:t>
            </a:r>
            <a:r>
              <a:rPr lang="en-US" altLang="zh-CN" dirty="0">
                <a:cs typeface="楷体" panose="02010609060101010101" charset="-122"/>
              </a:rPr>
              <a:t>36%</a:t>
            </a:r>
            <a:r>
              <a:rPr lang="zh-CN" altLang="en-US" dirty="0">
                <a:cs typeface="楷体" panose="02010609060101010101" charset="-122"/>
              </a:rPr>
              <a:t>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2</a:t>
            </a:r>
            <a:r>
              <a:rPr lang="zh-CN" altLang="en-US" dirty="0">
                <a:cs typeface="楷体" panose="02010609060101010101" charset="-122"/>
              </a:rPr>
              <a:t>号：我从小就喜欢小动物，以前父母不让养，现在自己住了，终于可以养宠物了。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3</a:t>
            </a:r>
            <a:r>
              <a:rPr lang="zh-CN" altLang="en-US" dirty="0">
                <a:cs typeface="楷体" panose="02010609060101010101" charset="-122"/>
              </a:rPr>
              <a:t>号：调查显示，养猫使青年更加明晰自己作为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监护人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的责任，责任心明显增强。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4</a:t>
            </a:r>
            <a:r>
              <a:rPr lang="zh-CN" altLang="en-US" dirty="0">
                <a:cs typeface="楷体" panose="02010609060101010101" charset="-122"/>
              </a:rPr>
              <a:t>号：猫是生活规律的动物，猫会形成每天固定的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作息时间表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5</a:t>
            </a:r>
            <a:r>
              <a:rPr lang="zh-CN" altLang="en-US" dirty="0">
                <a:cs typeface="楷体" panose="02010609060101010101" charset="-122"/>
              </a:rPr>
              <a:t>号：狗必须每天遛，但猫不用，现代年轻人上班辛苦劳累，哪里有时间和精力遛狗？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6</a:t>
            </a:r>
            <a:r>
              <a:rPr lang="zh-CN" altLang="en-US" dirty="0">
                <a:cs typeface="楷体" panose="02010609060101010101" charset="-122"/>
              </a:rPr>
              <a:t>号：猫咪不需要太多运动量和基础教育，甚至主人忙的时候不用管它，猫咪自己就能玩得开心。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7</a:t>
            </a:r>
            <a:r>
              <a:rPr lang="zh-CN" altLang="en-US" dirty="0">
                <a:cs typeface="楷体" panose="02010609060101010101" charset="-122"/>
              </a:rPr>
              <a:t>号：与父母、朋友、同事、邻里的相处过程中，年轻人难以感受到足够的社会支持，有时感到孤独，有猫陪伴可以减轻这种孤独感。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8</a:t>
            </a:r>
            <a:r>
              <a:rPr lang="zh-CN" altLang="en-US" dirty="0">
                <a:cs typeface="楷体" panose="02010609060101010101" charset="-122"/>
              </a:rPr>
              <a:t>号：我以前养的猫患猫癣，还传染了我，所以年轻人养猫是有害的。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9</a:t>
            </a:r>
            <a:r>
              <a:rPr lang="zh-CN" altLang="en-US" dirty="0">
                <a:cs typeface="楷体" panose="02010609060101010101" charset="-122"/>
              </a:rPr>
              <a:t>号：据统计，</a:t>
            </a:r>
            <a:r>
              <a:rPr lang="en-US" altLang="zh-CN" dirty="0">
                <a:cs typeface="楷体" panose="02010609060101010101" charset="-122"/>
              </a:rPr>
              <a:t>S</a:t>
            </a:r>
            <a:r>
              <a:rPr lang="zh-CN" altLang="en-US" dirty="0">
                <a:cs typeface="楷体" panose="02010609060101010101" charset="-122"/>
              </a:rPr>
              <a:t>市养猫的年轻人幸福指数高达</a:t>
            </a:r>
            <a:r>
              <a:rPr lang="en-US" altLang="zh-CN" dirty="0">
                <a:cs typeface="楷体" panose="02010609060101010101" charset="-122"/>
              </a:rPr>
              <a:t>93.5%</a:t>
            </a:r>
            <a:r>
              <a:rPr lang="zh-CN" altLang="en-US" dirty="0">
                <a:cs typeface="楷体" panose="02010609060101010101" charset="-122"/>
              </a:rPr>
              <a:t>，而不养猫的年轻人幸福指数仅为</a:t>
            </a:r>
            <a:r>
              <a:rPr lang="en-US" altLang="zh-CN" dirty="0">
                <a:cs typeface="楷体" panose="02010609060101010101" charset="-122"/>
              </a:rPr>
              <a:t>47.2%</a:t>
            </a:r>
            <a:r>
              <a:rPr lang="zh-CN" altLang="en-US" dirty="0">
                <a:cs typeface="楷体" panose="02010609060101010101" charset="-122"/>
              </a:rPr>
              <a:t>，可见养猫能使年轻人受益。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4.</a:t>
            </a:r>
            <a:r>
              <a:rPr lang="zh-CN" altLang="en-US" dirty="0">
                <a:cs typeface="楷体" panose="02010609060101010101" charset="-122"/>
              </a:rPr>
              <a:t>关于年轻人养猫是否有益的讨论，下列哪项评价最为准确？（</a:t>
            </a:r>
            <a:r>
              <a:rPr lang="en-US" altLang="zh-CN" dirty="0">
                <a:cs typeface="楷体" panose="02010609060101010101" charset="-122"/>
              </a:rPr>
              <a:t>    </a:t>
            </a:r>
            <a:r>
              <a:rPr lang="zh-CN" altLang="en-US" dirty="0">
                <a:cs typeface="楷体" panose="02010609060101010101" charset="-122"/>
              </a:rPr>
              <a:t>）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A.5</a:t>
            </a:r>
            <a:r>
              <a:rPr lang="zh-CN" altLang="en-US" dirty="0">
                <a:cs typeface="楷体" panose="02010609060101010101" charset="-122"/>
              </a:rPr>
              <a:t>号的观点存在类比不当的错误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B.6</a:t>
            </a:r>
            <a:r>
              <a:rPr lang="zh-CN" altLang="en-US" dirty="0">
                <a:cs typeface="楷体" panose="02010609060101010101" charset="-122"/>
              </a:rPr>
              <a:t>号的观点存在因果倒置的错误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C.</a:t>
            </a:r>
            <a:r>
              <a:rPr lang="zh-CN" altLang="en-US" dirty="0">
                <a:cs typeface="楷体" panose="02010609060101010101" charset="-122"/>
              </a:rPr>
              <a:t>如果猫癣不会传染人，那么</a:t>
            </a:r>
            <a:r>
              <a:rPr lang="en-US" altLang="zh-CN" dirty="0">
                <a:cs typeface="楷体" panose="02010609060101010101" charset="-122"/>
              </a:rPr>
              <a:t>8</a:t>
            </a:r>
            <a:r>
              <a:rPr lang="zh-CN" altLang="en-US" dirty="0">
                <a:cs typeface="楷体" panose="02010609060101010101" charset="-122"/>
              </a:rPr>
              <a:t>号的观点就能支持正方的观点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D.</a:t>
            </a:r>
            <a:r>
              <a:rPr lang="zh-CN" altLang="en-US" dirty="0">
                <a:cs typeface="楷体" panose="02010609060101010101" charset="-122"/>
              </a:rPr>
              <a:t>如果猫的规律作息会对年轻人产生正向影响，那么</a:t>
            </a:r>
            <a:r>
              <a:rPr lang="en-US" altLang="zh-CN" dirty="0">
                <a:cs typeface="楷体" panose="02010609060101010101" charset="-122"/>
              </a:rPr>
              <a:t>4</a:t>
            </a:r>
            <a:r>
              <a:rPr lang="zh-CN" altLang="en-US" dirty="0">
                <a:cs typeface="楷体" panose="02010609060101010101" charset="-122"/>
              </a:rPr>
              <a:t>号的观点就能支持年轻人养猫有益的观点</a:t>
            </a:r>
            <a:endParaRPr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5" y="535305"/>
            <a:ext cx="11302365" cy="503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楷体" panose="02010609060101010101" charset="-122"/>
              </a:rPr>
              <a:t>根据材料，回答以下</a:t>
            </a:r>
            <a:r>
              <a:rPr lang="en-US" altLang="zh-CN" dirty="0">
                <a:cs typeface="楷体" panose="02010609060101010101" charset="-122"/>
              </a:rPr>
              <a:t>3</a:t>
            </a:r>
            <a:r>
              <a:rPr lang="zh-CN" altLang="en-US" dirty="0">
                <a:cs typeface="楷体" panose="02010609060101010101" charset="-122"/>
              </a:rPr>
              <a:t>题。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楷体" panose="02010609060101010101" charset="-122"/>
              </a:rPr>
              <a:t>如今，打开微信朋友圈，越来越多的年轻人不再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晒娃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，而是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晒猫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，在各大短视频平台，各种风格的宠物博主层出不穷，以猫为主角的视频铺天盖地。有人认为，年轻人养猫是有益的，但也有人对此持相反态度，人们的各种观点如下：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1</a:t>
            </a:r>
            <a:r>
              <a:rPr lang="zh-CN" altLang="en-US" dirty="0">
                <a:cs typeface="楷体" panose="02010609060101010101" charset="-122"/>
              </a:rPr>
              <a:t>号：据统计，去年国内有</a:t>
            </a:r>
            <a:r>
              <a:rPr lang="en-US" altLang="zh-CN" dirty="0">
                <a:cs typeface="楷体" panose="02010609060101010101" charset="-122"/>
              </a:rPr>
              <a:t>5312</a:t>
            </a:r>
            <a:r>
              <a:rPr lang="zh-CN" altLang="en-US" dirty="0">
                <a:cs typeface="楷体" panose="02010609060101010101" charset="-122"/>
              </a:rPr>
              <a:t>万只宠物猫，</a:t>
            </a:r>
            <a:r>
              <a:rPr lang="en-US" altLang="zh-CN" dirty="0">
                <a:cs typeface="楷体" panose="02010609060101010101" charset="-122"/>
              </a:rPr>
              <a:t>90</a:t>
            </a:r>
            <a:r>
              <a:rPr lang="zh-CN" altLang="en-US" dirty="0">
                <a:cs typeface="楷体" panose="02010609060101010101" charset="-122"/>
              </a:rPr>
              <a:t>后占总养猫人数的</a:t>
            </a:r>
            <a:r>
              <a:rPr lang="en-US" altLang="zh-CN" dirty="0">
                <a:cs typeface="楷体" panose="02010609060101010101" charset="-122"/>
              </a:rPr>
              <a:t>50%</a:t>
            </a:r>
            <a:r>
              <a:rPr lang="zh-CN" altLang="en-US" dirty="0">
                <a:cs typeface="楷体" panose="02010609060101010101" charset="-122"/>
              </a:rPr>
              <a:t>以上，</a:t>
            </a:r>
            <a:r>
              <a:rPr lang="en-US" altLang="zh-CN" dirty="0">
                <a:cs typeface="楷体" panose="02010609060101010101" charset="-122"/>
              </a:rPr>
              <a:t>95</a:t>
            </a:r>
            <a:r>
              <a:rPr lang="zh-CN" altLang="en-US" dirty="0">
                <a:cs typeface="楷体" panose="02010609060101010101" charset="-122"/>
              </a:rPr>
              <a:t>后占</a:t>
            </a:r>
            <a:r>
              <a:rPr lang="en-US" altLang="zh-CN" dirty="0">
                <a:cs typeface="楷体" panose="02010609060101010101" charset="-122"/>
              </a:rPr>
              <a:t>36%</a:t>
            </a:r>
            <a:r>
              <a:rPr lang="zh-CN" altLang="en-US" dirty="0">
                <a:cs typeface="楷体" panose="02010609060101010101" charset="-122"/>
              </a:rPr>
              <a:t>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2</a:t>
            </a:r>
            <a:r>
              <a:rPr lang="zh-CN" altLang="en-US" dirty="0">
                <a:cs typeface="楷体" panose="02010609060101010101" charset="-122"/>
              </a:rPr>
              <a:t>号：我从小就喜欢小动物，以前父母不让养，现在自己住了，终于可以养宠物了。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3</a:t>
            </a:r>
            <a:r>
              <a:rPr lang="zh-CN" altLang="en-US" dirty="0">
                <a:cs typeface="楷体" panose="02010609060101010101" charset="-122"/>
              </a:rPr>
              <a:t>号：调查显示，养猫使青年更加明晰自己作为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监护人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的责任，责任心明显增强。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4</a:t>
            </a:r>
            <a:r>
              <a:rPr lang="zh-CN" altLang="en-US" dirty="0">
                <a:cs typeface="楷体" panose="02010609060101010101" charset="-122"/>
              </a:rPr>
              <a:t>号：猫是生活规律的动物，猫会形成每天固定的</a:t>
            </a:r>
            <a:r>
              <a:rPr lang="en-US" altLang="zh-CN" dirty="0">
                <a:cs typeface="楷体" panose="02010609060101010101" charset="-122"/>
              </a:rPr>
              <a:t>“</a:t>
            </a:r>
            <a:r>
              <a:rPr lang="zh-CN" altLang="en-US" dirty="0">
                <a:cs typeface="楷体" panose="02010609060101010101" charset="-122"/>
              </a:rPr>
              <a:t>作息时间表</a:t>
            </a:r>
            <a:r>
              <a:rPr lang="en-US" altLang="zh-CN" dirty="0">
                <a:cs typeface="楷体" panose="02010609060101010101" charset="-122"/>
              </a:rPr>
              <a:t>”</a:t>
            </a:r>
            <a:r>
              <a:rPr lang="zh-CN" altLang="en-US" dirty="0">
                <a:cs typeface="楷体" panose="02010609060101010101" charset="-122"/>
              </a:rPr>
              <a:t>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5</a:t>
            </a:r>
            <a:r>
              <a:rPr lang="zh-CN" altLang="en-US" dirty="0">
                <a:cs typeface="楷体" panose="02010609060101010101" charset="-122"/>
              </a:rPr>
              <a:t>号：狗必须每天遛，但猫不用，现代年轻人上班辛苦劳累，哪里有时间和精力遛狗？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6</a:t>
            </a:r>
            <a:r>
              <a:rPr lang="zh-CN" altLang="en-US" dirty="0">
                <a:cs typeface="楷体" panose="02010609060101010101" charset="-122"/>
              </a:rPr>
              <a:t>号：猫咪不需要太多运动量和基础教育，甚至主人忙的时候不用管它，猫咪自己就能玩得开心。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7</a:t>
            </a:r>
            <a:r>
              <a:rPr lang="zh-CN" altLang="en-US" dirty="0">
                <a:cs typeface="楷体" panose="02010609060101010101" charset="-122"/>
              </a:rPr>
              <a:t>号：与父母、朋友、同事、邻里的相处过程中，年轻人难以感受到足够的社会支持，有时感到孤独，有猫陪伴可以减轻这种孤独感。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8</a:t>
            </a:r>
            <a:r>
              <a:rPr lang="zh-CN" altLang="en-US" dirty="0">
                <a:cs typeface="楷体" panose="02010609060101010101" charset="-122"/>
              </a:rPr>
              <a:t>号：我以前养的猫患猫癣，还传染了我，所以年轻人养猫是有害的。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9</a:t>
            </a:r>
            <a:r>
              <a:rPr lang="zh-CN" altLang="en-US" dirty="0">
                <a:cs typeface="楷体" panose="02010609060101010101" charset="-122"/>
              </a:rPr>
              <a:t>号：据统计，</a:t>
            </a:r>
            <a:r>
              <a:rPr lang="en-US" altLang="zh-CN" dirty="0">
                <a:cs typeface="楷体" panose="02010609060101010101" charset="-122"/>
              </a:rPr>
              <a:t>S</a:t>
            </a:r>
            <a:r>
              <a:rPr lang="zh-CN" altLang="en-US" dirty="0">
                <a:cs typeface="楷体" panose="02010609060101010101" charset="-122"/>
              </a:rPr>
              <a:t>市养猫的年轻人幸福指数高达</a:t>
            </a:r>
            <a:r>
              <a:rPr lang="en-US" altLang="zh-CN" dirty="0">
                <a:cs typeface="楷体" panose="02010609060101010101" charset="-122"/>
              </a:rPr>
              <a:t>93.5%</a:t>
            </a:r>
            <a:r>
              <a:rPr lang="zh-CN" altLang="en-US" dirty="0">
                <a:cs typeface="楷体" panose="02010609060101010101" charset="-122"/>
              </a:rPr>
              <a:t>，而不养猫的年轻人幸福指数仅为</a:t>
            </a:r>
            <a:r>
              <a:rPr lang="en-US" altLang="zh-CN" dirty="0">
                <a:cs typeface="楷体" panose="02010609060101010101" charset="-122"/>
              </a:rPr>
              <a:t>47.2%</a:t>
            </a:r>
            <a:r>
              <a:rPr lang="zh-CN" altLang="en-US" dirty="0">
                <a:cs typeface="楷体" panose="02010609060101010101" charset="-122"/>
              </a:rPr>
              <a:t>，可见养猫能使年轻人受益。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5.</a:t>
            </a:r>
            <a:r>
              <a:rPr lang="zh-CN" altLang="en-US" dirty="0">
                <a:cs typeface="楷体" panose="02010609060101010101" charset="-122"/>
              </a:rPr>
              <a:t>对下列问题的回答，除哪项外对</a:t>
            </a:r>
            <a:r>
              <a:rPr lang="en-US" altLang="zh-CN" dirty="0">
                <a:cs typeface="楷体" panose="02010609060101010101" charset="-122"/>
              </a:rPr>
              <a:t>9</a:t>
            </a:r>
            <a:r>
              <a:rPr lang="zh-CN" altLang="en-US" dirty="0">
                <a:cs typeface="楷体" panose="02010609060101010101" charset="-122"/>
              </a:rPr>
              <a:t>号的论证都是重要的？（</a:t>
            </a:r>
            <a:r>
              <a:rPr lang="en-US" altLang="zh-CN" dirty="0">
                <a:cs typeface="楷体" panose="02010609060101010101" charset="-122"/>
              </a:rPr>
              <a:t>    </a:t>
            </a:r>
            <a:r>
              <a:rPr lang="zh-CN" altLang="en-US" dirty="0">
                <a:cs typeface="楷体" panose="02010609060101010101" charset="-122"/>
              </a:rPr>
              <a:t>）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A.</a:t>
            </a:r>
            <a:r>
              <a:rPr lang="zh-CN" altLang="en-US" dirty="0">
                <a:cs typeface="楷体" panose="02010609060101010101" charset="-122"/>
              </a:rPr>
              <a:t>年轻人的年龄划分标准是否影响幸福指数？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B.</a:t>
            </a:r>
            <a:r>
              <a:rPr lang="zh-CN" altLang="en-US" dirty="0">
                <a:cs typeface="楷体" panose="02010609060101010101" charset="-122"/>
              </a:rPr>
              <a:t>幸福指数的评价指标体系是否带有倾向性？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C.</a:t>
            </a:r>
            <a:r>
              <a:rPr lang="zh-CN" altLang="en-US" dirty="0">
                <a:cs typeface="楷体" panose="02010609060101010101" charset="-122"/>
              </a:rPr>
              <a:t>两个调查群体在其他方面的情况是否相当？</a:t>
            </a:r>
            <a:endParaRPr lang="zh-CN" altLang="en-US" dirty="0"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楷体" panose="02010609060101010101" charset="-122"/>
              </a:rPr>
              <a:t>D.</a:t>
            </a:r>
            <a:r>
              <a:rPr lang="zh-CN" altLang="en-US" dirty="0">
                <a:cs typeface="楷体" panose="02010609060101010101" charset="-122"/>
              </a:rPr>
              <a:t>养猫的调查群体养猫前的幸福指数是多少？</a:t>
            </a:r>
            <a:endParaRPr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.xml><?xml version="1.0" encoding="utf-8"?>
<p:tagLst xmlns:p="http://schemas.openxmlformats.org/presentationml/2006/main">
  <p:tag name="TABLE_ENDDRAG_ORIGIN_RECT" val="272*127"/>
  <p:tag name="TABLE_ENDDRAG_RECT" val="555*344*272*127"/>
</p:tagLst>
</file>

<file path=ppt/tags/tag5.xml><?xml version="1.0" encoding="utf-8"?>
<p:tagLst xmlns:p="http://schemas.openxmlformats.org/presentationml/2006/main">
  <p:tag name="TABLE_ENDDRAG_ORIGIN_RECT" val="272*127"/>
  <p:tag name="TABLE_ENDDRAG_RECT" val="555*344*272*127"/>
</p:tagLst>
</file>

<file path=ppt/tags/tag6.xml><?xml version="1.0" encoding="utf-8"?>
<p:tagLst xmlns:p="http://schemas.openxmlformats.org/presentationml/2006/main">
  <p:tag name="KSO_WM_SLIDE_ID" val="custom2023128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88"/>
  <p:tag name="KSO_WM_SLIDE_TYPE" val="endPage"/>
  <p:tag name="KSO_WM_SLIDE_SUBTYPE" val="pureTxt"/>
  <p:tag name="KSO_WM_SLIDE_LAYOUT" val="a_f"/>
  <p:tag name="KSO_WM_SLIDE_LAYOUT_CNT" val="1_1"/>
  <p:tag name="resource_record_key" val="{&quot;13&quot;:[4705195,19965465,19971662],&quot;65&quot;:[20231288]}"/>
</p:tagLst>
</file>

<file path=ppt/tags/tag7.xml><?xml version="1.0" encoding="utf-8"?>
<p:tagLst xmlns:p="http://schemas.openxmlformats.org/presentationml/2006/main">
  <p:tag name="resource_record_key" val="{&quot;13&quot;:[20481828,4364903,4364924],&quot;65&quot;:[20205081]}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楷体"/>
        <a:ea typeface="楷体"/>
        <a:cs typeface=""/>
      </a:majorFont>
      <a:minorFont>
        <a:latin typeface="楷体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2332</Words>
  <Application>WPS 演示</Application>
  <PresentationFormat>宽屏</PresentationFormat>
  <Paragraphs>118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自定义设计方案</vt:lpstr>
      <vt:lpstr>PowerPoint 演示文稿</vt:lpstr>
      <vt:lpstr>题1</vt:lpstr>
      <vt:lpstr>题2</vt:lpstr>
      <vt:lpstr>题3</vt:lpstr>
      <vt:lpstr>题4</vt:lpstr>
      <vt:lpstr>题5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226</cp:revision>
  <dcterms:created xsi:type="dcterms:W3CDTF">2019-06-19T02:08:00Z</dcterms:created>
  <dcterms:modified xsi:type="dcterms:W3CDTF">2026-01-14T02:10:13Z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7E0F0589F6D94CFE8A4BC2AEA01394FF_11</vt:lpwstr>
  </property>
</Properties>
</file>