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
  </p:handoutMasterIdLst>
  <p:sldIdLst>
    <p:sldId id="1621" r:id="rId3"/>
    <p:sldId id="1583" r:id="rId5"/>
    <p:sldId id="1586" r:id="rId6"/>
    <p:sldId id="1589" r:id="rId7"/>
    <p:sldId id="1590" r:id="rId8"/>
    <p:sldId id="1593" r:id="rId9"/>
    <p:sldId id="1595" r:id="rId10"/>
    <p:sldId id="1596" r:id="rId11"/>
    <p:sldId id="1597" r:id="rId12"/>
    <p:sldId id="1600" r:id="rId13"/>
    <p:sldId id="1603" r:id="rId14"/>
    <p:sldId id="1606" r:id="rId15"/>
    <p:sldId id="1608" r:id="rId16"/>
    <p:sldId id="1609" r:id="rId17"/>
    <p:sldId id="1610" r:id="rId18"/>
    <p:sldId id="1612" r:id="rId19"/>
    <p:sldId id="1613" r:id="rId20"/>
    <p:sldId id="1616" r:id="rId21"/>
    <p:sldId id="1620" r:id="rId22"/>
    <p:sldId id="1622" r:id="rId23"/>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0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5.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解析：本题属于位置类，主要考查旋转。</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a:t>
            </a:r>
            <a:r>
              <a:rPr lang="en-US" altLang="en-US" sz="1200" kern="1200" dirty="0">
                <a:solidFill>
                  <a:schemeClr val="tx1"/>
                </a:solidFill>
                <a:effectLst/>
                <a:latin typeface="+mn-lt"/>
                <a:sym typeface="楷体" panose="02010609060101010101" charset="-122"/>
              </a:rPr>
              <a:t>①②⑤</a:t>
            </a:r>
            <a:r>
              <a:rPr lang="zh-CN" altLang="en-US" sz="1200" kern="1200" dirty="0">
                <a:solidFill>
                  <a:schemeClr val="tx1"/>
                </a:solidFill>
                <a:effectLst/>
                <a:latin typeface="+mn-lt"/>
                <a:sym typeface="楷体" panose="02010609060101010101" charset="-122"/>
              </a:rPr>
              <a:t>可由同一图形（图</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）旋转得到，图</a:t>
            </a:r>
            <a:r>
              <a:rPr lang="en-US" altLang="en-US" sz="1200" kern="1200" dirty="0">
                <a:solidFill>
                  <a:schemeClr val="tx1"/>
                </a:solidFill>
                <a:effectLst/>
                <a:latin typeface="+mn-lt"/>
                <a:sym typeface="楷体" panose="02010609060101010101" charset="-122"/>
              </a:rPr>
              <a:t>③④⑥</a:t>
            </a:r>
            <a:r>
              <a:rPr lang="zh-CN" altLang="en-US" sz="1200" kern="1200" dirty="0">
                <a:solidFill>
                  <a:schemeClr val="tx1"/>
                </a:solidFill>
                <a:effectLst/>
                <a:latin typeface="+mn-lt"/>
                <a:sym typeface="楷体" panose="02010609060101010101" charset="-122"/>
              </a:rPr>
              <a:t>可由另一个图形（图</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）旋转得到。</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解析：本题属于位置类，主要考查形形关系。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图形</a:t>
            </a:r>
            <a:r>
              <a:rPr lang="en-US" altLang="en-US" sz="1200" kern="1200" dirty="0">
                <a:solidFill>
                  <a:schemeClr val="tx1"/>
                </a:solidFill>
                <a:effectLst/>
                <a:latin typeface="+mn-lt"/>
                <a:sym typeface="楷体" panose="02010609060101010101" charset="-122"/>
              </a:rPr>
              <a:t>①③⑤</a:t>
            </a:r>
            <a:r>
              <a:rPr lang="zh-CN" altLang="en-US" sz="1200" kern="1200" dirty="0">
                <a:solidFill>
                  <a:schemeClr val="tx1"/>
                </a:solidFill>
                <a:effectLst/>
                <a:latin typeface="+mn-lt"/>
                <a:sym typeface="楷体" panose="02010609060101010101" charset="-122"/>
              </a:rPr>
              <a:t>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个面，且每个面独立存在。图形</a:t>
            </a:r>
            <a:r>
              <a:rPr lang="en-US" altLang="en-US" sz="1200" kern="1200" dirty="0">
                <a:solidFill>
                  <a:schemeClr val="tx1"/>
                </a:solidFill>
                <a:effectLst/>
                <a:latin typeface="+mn-lt"/>
                <a:sym typeface="楷体" panose="02010609060101010101" charset="-122"/>
              </a:rPr>
              <a:t>②④⑥</a:t>
            </a:r>
            <a:r>
              <a:rPr lang="zh-CN" altLang="en-US" sz="1200" kern="1200" dirty="0">
                <a:solidFill>
                  <a:schemeClr val="tx1"/>
                </a:solidFill>
                <a:effectLst/>
                <a:latin typeface="+mn-lt"/>
                <a:sym typeface="楷体" panose="02010609060101010101" charset="-122"/>
              </a:rPr>
              <a:t>有</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个面，但其中两个面是包含关系。据此将图</a:t>
            </a:r>
            <a:r>
              <a:rPr lang="en-US" altLang="en-US" sz="1200" kern="1200" dirty="0">
                <a:solidFill>
                  <a:schemeClr val="tx1"/>
                </a:solidFill>
                <a:effectLst/>
                <a:latin typeface="+mn-lt"/>
                <a:sym typeface="楷体" panose="02010609060101010101" charset="-122"/>
              </a:rPr>
              <a:t>①③⑤</a:t>
            </a:r>
            <a:r>
              <a:rPr lang="zh-CN" altLang="en-US" sz="1200" kern="1200" dirty="0">
                <a:solidFill>
                  <a:schemeClr val="tx1"/>
                </a:solidFill>
                <a:effectLst/>
                <a:latin typeface="+mn-lt"/>
                <a:sym typeface="楷体" panose="02010609060101010101" charset="-122"/>
              </a:rPr>
              <a:t>分为一组，图</a:t>
            </a:r>
            <a:r>
              <a:rPr lang="en-US" altLang="en-US" sz="1200" kern="1200" dirty="0">
                <a:solidFill>
                  <a:schemeClr val="tx1"/>
                </a:solidFill>
                <a:effectLst/>
                <a:latin typeface="+mn-lt"/>
                <a:sym typeface="楷体" panose="02010609060101010101" charset="-122"/>
              </a:rPr>
              <a:t>②④⑥</a:t>
            </a:r>
            <a:r>
              <a:rPr lang="zh-CN" altLang="en-US" sz="1200" kern="1200" dirty="0">
                <a:solidFill>
                  <a:schemeClr val="tx1"/>
                </a:solidFill>
                <a:effectLst/>
                <a:latin typeface="+mn-lt"/>
                <a:sym typeface="楷体" panose="02010609060101010101" charset="-122"/>
              </a:rPr>
              <a:t>分为一组。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解析：本题属于单定义，主要查考属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种差。</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属</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种差：追求速成、通俗、短期流行、不注重深厚积累和内在价值的文化思潮和文化现象。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项：方便面是食品，不是文化现象，不符合定义，排除；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项：抢报各种兴趣培训班，是家长的教育焦虑，不符合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五分钟看大片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在短时间内了解影视剧情，符合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追求速成、通俗、短期流行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项：学生利用思维导图的方式学习，这是学习方式，不符合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追求速成、通俗、短期流行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不注重深厚积累和内在价值的文化思潮和文化现象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解析：本题属于单定义，定义要点有：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主谓式：例如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地震</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日食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动宾式：例如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下岗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督学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并列式：例如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师生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褒贬</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偏正式：例如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飞快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绿叶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补充式：例如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提高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照亮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文具店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运用了偏正式，仅运用了一种形式，并未综合运用，当选；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运用了动宾式，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脱粒机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即辅助和指导，运用了并列式，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辅导班</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指国家经营的，运用了主谓式，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运用了偏正式，所以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国营厂</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综合运用了上述两种形式，排除。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结果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方式：由生态系统自然生产或人类社会劳动生产，或由两种生产共同作用提供。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结果：能维系生态安全、保障生态调节功能、提供良好人居环境的，满足人民日益增长的美好生活需要的产品或服务。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项：再生水是通过人类社会劳动生产得到的，但是它能够对生活污水和工业废水进行再生利用，具有保障生态调节功能的作用，同时也能提供良好人居环境，符合定义，排除；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项：可鲁克湖是自然形成的湖泊，是由生态系统自然生产的，同时它能够提供良好人居环境，符合定义，排除；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项：坎布拉国家森林公园是由人类社会劳动生产和生态系统自然生产共同作用得到的，同时它也能够提供良好人居环境，符合定义，排除；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项：汽车轮胎是由人类社会劳动生产得到的，但是它并没有维系生态安全，保障生态调节功能的作用，也不是为了提供良好人居环境而生产的，不符合定义，当选。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解析：本题属于多定义，主要考查辨析型。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电子对抗：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敌对双方为削弱、破坏对方电子设备的使用效能，保障己方电子设备发挥效能而采取的各种电子措施和行动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搜集敌方电子设备信息的侦察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电子防御：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在敌方实施电子对抗的情况下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为保障己方电子设备和电子系统发挥效能而采取的措施和行动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项：侦听雷达，识别位置，获取参数符合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项：为战机涂抹材料，使敌方雷达无法探测到，是为了规避侦察，不符合任何定义，当选；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项：受到反雷达导弹攻击，符合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在敌方实施电子对抗的情况下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，利用发射信号使导弹无法定位偏离方向，符合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电子防御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项：使用设备收集敌方设备信息，符合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搜集敌方电子设备信息的侦察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电子对抗侦察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解析：本题属于多定义，主要考查辨析型。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命令性规范：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规定人们的积极义务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人们必须或应当作出某种行为的规范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禁止性规范：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规定人们的消极义务（不作为义务）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禁止人们作出一定行为的规范</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禁止用任何方法对公民进行侮辱、诽谤和诬告陷害，是禁止人们作出一定行为的规范，符合禁止性规范；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行为人与相对人恶意串通，损害他人合法权益的民事行为无效，是对人们行为有效性的判定，不是规定人们应当作出某种行为，也不是禁止人们作出一定行为的规范，不符合命令性规范和禁止性规范；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公安机关拘留人的时候，必须出示拘留证，是对人们必须做出某种行为的规范，符合命令性规范；</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对当事人的同一个违法行为，不得给予两次以上罚款的行政处罚，是对人们不能做出某种行为的规范，符合禁止性规范。</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解析：本题属于单定义，主要考查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方式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两个要件。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方式：有关演员或摄影机活动位置的调度。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目的：起到刻画人物性格、表现人物关系、渲染场面气氛、交代时空间隔等作用。</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项：采用特殊剪辑手法是通过剪辑来实现画面的呈现，不符合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项：跟拍某演员从进门一直走到房子深处的角落，其中涉及到演员位置及摄像机位置的变化，符合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。用透视关系表现空间感，符合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起到刻画人物性格、表现人物关系、渲染场面气氛、交代时空间隔等作用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项：设置充满阳光的布景，播放欢快的音乐，不符合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项：拍摄演员两次见到某人的表情变化，是对演员表情的捕捉，不符合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有关演员或摄影机活动位置的调度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解析：本题属于映射类，主要考查属性对应关系。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泰山北斗：比喻道德高、名望重或有卓越成就为众人所敬仰的人。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德高望重是泰山北斗所具备的属性。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项：天罗地网：比喻防范布置得极为严密而无法逃脱。防范严密是天罗地网所具备的属性，与题干关系一致，当选；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项：钟鸣鼎食：形容富贵豪华，金玉满堂：形容财富极多，二者为近义关系，排除；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项：人才辈出：形容有才能的人不断地大量涌现，卧虎藏龙：是指隐藏着未被发现的人才，也指隐藏不露的人才，二者无明显关系，排除；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项：珠联璧合：比喻杰出的人才或美好的事物结合在一起；关系亲密：指亲近密切，二者无明显关系，排除。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大脑通过思考产生思想，思想是大脑的产物，三者为对应关系。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项：心脏经过跳动为血液提供动力，血液不是心脏的产出物，排除；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项：肺脏经过呼吸获得空气，空气不是肺脏的产出物，排除；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项：编程可以产生软件，但这个过程不涉及芯片，排除；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项：车床经过切割产生产品，产品是车床的产物，当选。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解析：本题属于映射类，主要考查工具对应关系。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项：铅笔和蜡笔均是并列关系；照片和相片是全同关系，前后逻辑关系不一致，排除；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项：蜡笔可以用于画图，二者为工具的对应关系；相机可以用来拍照片，二者为工具的对应关系，前后逻辑关系一致，当选；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项：蜡笔是文具，二者是种属关系；相册可以用来放照片，二者不是种属关系，前后逻辑关系不一致，排除；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代入</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项：毛笔和蜡笔是并列关系；照片是图像，二者为种属关系，前后逻辑关系不一致，排除。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观点：不仅商王陵园区存在明确规划，陵园外围也有较大段范围被划入缓冲区，禁止一般人占用。</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论据：考古人员在河南安阳洹河北岸的殷墟商王陵及周边区域新勘探发现东西两个围沟及</a:t>
            </a:r>
            <a:r>
              <a:rPr lang="en-US" altLang="zh-CN" sz="1200" kern="1200" dirty="0">
                <a:solidFill>
                  <a:schemeClr val="tx1"/>
                </a:solidFill>
                <a:effectLst/>
                <a:latin typeface="+mn-lt"/>
                <a:sym typeface="楷体" panose="02010609060101010101" charset="-122"/>
              </a:rPr>
              <a:t>400</a:t>
            </a:r>
            <a:r>
              <a:rPr lang="zh-CN" altLang="en-US" sz="1200" kern="1200" dirty="0">
                <a:solidFill>
                  <a:schemeClr val="tx1"/>
                </a:solidFill>
                <a:effectLst/>
                <a:latin typeface="+mn-lt"/>
                <a:sym typeface="楷体" panose="02010609060101010101" charset="-122"/>
              </a:rPr>
              <a:t>余座祭祀坑。这两个围沟均围绕在殷商大墓外围，相距</a:t>
            </a:r>
            <a:r>
              <a:rPr lang="en-US" altLang="zh-CN" sz="1200" kern="1200" dirty="0">
                <a:solidFill>
                  <a:schemeClr val="tx1"/>
                </a:solidFill>
                <a:effectLst/>
                <a:latin typeface="+mn-lt"/>
                <a:sym typeface="楷体" panose="02010609060101010101" charset="-122"/>
              </a:rPr>
              <a:t>40</a:t>
            </a:r>
            <a:r>
              <a:rPr lang="zh-CN" altLang="en-US" sz="1200" kern="1200" dirty="0">
                <a:solidFill>
                  <a:schemeClr val="tx1"/>
                </a:solidFill>
                <a:effectLst/>
                <a:latin typeface="+mn-lt"/>
                <a:sym typeface="楷体" panose="02010609060101010101" charset="-122"/>
              </a:rPr>
              <a:t>米，在东围沟东段以东、南段以南，存在大范围空白区域，极少发现商代晚期遗存。</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项：无关项。说的是在商王陵大墓内的情况，但题干讨论的是陵园外围的情况，为无关项，排除；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项：不能加强。在商王陵园外围区域不会发现商代晚期遗存，与题干已经内容重复，无法加强，排除；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项：加强项。说明发现了商代晚期遗存的区域是被一般人占用的，也就意味着极少发现商代晚期遗存说明可能未被一般人占用，建立了论点与论据的关系，为搭桥项，可以加强；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项：无关项。说的是发现商代晚期遗存的区域位置，但题干讨论的是陵园外围是否有较大段范围被划入缓冲区，禁止一般人占用，话题不一致，排除。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论点：自己体温始终低于正常标准，这意味着自己的免疫力也低于常人。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项：不明确选项。该项说明论据中的数据并无权威统计数据支持，但是无法证明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体温是否影响免疫力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，属于不明确选项，无法质疑，排除；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项：加强项。该项解释说明体温高可以提高免疫力的原因，属于加强项，无法质疑，排除；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项：质疑项。该项说明体温差异不会影响身体免疫力的健康，直接否定了论点，可以质疑，当选；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项：无关项。该项说明身体各个部位的体温有差异，但论点讨论的是体温是否影响免疫力，话题不一致，不能质疑，排除。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论点：咖啡果肉有助于热带雨林的生态恢复。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论据：研究人员将其中一块地均匀覆盖上近半米的咖啡果肉，另一块土地则什么也不做，任其自然。两年之后，两块地发生了迥然不同的剧变：被咖啡果肉覆盖的那块，</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已经完全消失，取而代之的是本应属于这里的热带树种的年轻树冠；而另一块地则依然被</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霸占着。</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项：支持项。该项说明覆盖咖啡果肉能够使土地更有韧性，生产恢复能力更佳，做诠释支持了题干观点，排除；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项：无关项。该项说明咖啡果的味道会吸引食草型动物前来觅食，改变周边的环境。改变周围环境对热带雨林的生态恢复有什么影响并不明确。属于无关项，无法支持，当选；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项：支持项。该项说明咖啡果肉中富含植物生长所需要的营养成分，能够为雨林修复按下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加速键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，做诠释支持了题干观点，排除；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项：支持项。该项说明咖啡果肉能够抑制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栅栏草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的生长，补充新的论据，可以支持咖啡果肉有助于热带雨林的生态恢复，排除。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解析：本题属于翻译推理，翻译题干可得：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数据财产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经济要素</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建立和完善数据要素</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明确数据财产的权属</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调动数据处理者在数据开发利用和流通中的积极性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静态的数据资源在动态流转中跃变为具有经济价值的资产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建立数据财产制度</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推动数据产业的发展</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数据资源成为具有经济价值的资产</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实现经济的数字化转型</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数据资源真正成为具有经济价值的资产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项：明确数据财产的权属</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建立和完善数据要素，是对条件</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项：跃变为具有经济价值的资产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静态的数据资源在动态流转中，在题目中不存在推出关系，无法推出，排除；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项：－数据资源真正成为具有经济价值的资产</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－实现经济的数字化转型，是对条件</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的否后，否后必否前，可以推出，当选；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项：建立数据财产制度</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调动数据处理者在数据开发利用和流通中的积极性，是对条件</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的肯后，肯后无必然结论，排除。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31.</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解析：本题属于论证类，主要考查相似结构。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题干：生吃龙虾导致细菌感染这一现象，得到启示生吃龙虾要慎重谨防细菌感染。</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项：因为我身处在庐山之中，所以辨不清庐山真正的面目。并未涉及启示，与题干形式不一致，排除；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项：接近坏人可以使人变坏，接近好人可以使人变好这一现象，得到启示年轻人交友要慎重，与题干形式一致，当选；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项：春天种下一颗种子，秋天就可以收获一万颗粮食，得到生命都是循环往复的，是由一颗种子拓展到所有生命，概念扩大，与题干论证形式不一致，排除；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项：客观分析施行仁政的君主能够战无不胜的原因，没有涉及到启示，与题干形式不一致，排除。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凭借天下人都顺从的正义力量，去攻打连亲属都背叛的不义之君，所以有道的君子要么不发动战争，一旦开战就必定会取得胜利。</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甲认为：个人所得税的起征点应该考虑到各地区收入水平的差距，因此起征点不应该是全国统一的。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乙认为：个人所得税的起征点按照行政区划区别对待会产生新的问题，因此起征点应该全国统一。</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故两个人是针对：个人所得税的起征点是否应该按照行政区划区别对待这一话题开展争论的。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解析：本题属于论证类，梳理丙的观点：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：个人所得税起征点各地不同不会是人才流动的壁垒。</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：高收入地区高起征点，低收入地区低起征点，调节分配的功能就会失效</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个人所得税起征点应该全国统一。</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甲的论据：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对比东西方的收入差距</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，丙的论证中没有指出东部和西部收入水平是否不完全相同，二者话题不一致，无法肯定甲的论据，所以排除</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项和</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乙的论据为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个人所得税的起征点按照行政区划区别对待会产生新的问题，比如，影响劳动力要素流动的市场调节机制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。但是丙的观点</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认为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个人所得税起征点各地不同不会是人才流动的壁垒</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，故丙直接反驳乙的论据，排除</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丙的观点</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认为：个人所得税起征点应该统一，这点支持了乙的结论。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B</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701675"/>
            <a:ext cx="111467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①②⑤</a:t>
            </a:r>
            <a:r>
              <a:rPr lang="en-US" altLang="zh-CN" sz="2000" dirty="0">
                <a:cs typeface="楷体" panose="02010609060101010101" charset="-122"/>
              </a:rPr>
              <a:t>,</a:t>
            </a:r>
            <a:r>
              <a:rPr lang="en-US" altLang="en-US" sz="2000" dirty="0">
                <a:cs typeface="楷体" panose="02010609060101010101" charset="-122"/>
              </a:rPr>
              <a:t>③④⑥</a:t>
            </a:r>
            <a:r>
              <a:rPr lang="en-US" altLang="zh-CN" sz="2000" dirty="0">
                <a:cs typeface="楷体" panose="02010609060101010101" charset="-122"/>
              </a:rPr>
              <a:t>	B.</a:t>
            </a:r>
            <a:r>
              <a:rPr lang="en-US" altLang="en-US" sz="2000" dirty="0">
                <a:cs typeface="楷体" panose="02010609060101010101" charset="-122"/>
              </a:rPr>
              <a:t>①②⑥</a:t>
            </a:r>
            <a:r>
              <a:rPr lang="en-US" altLang="zh-CN" sz="2000" dirty="0">
                <a:cs typeface="楷体" panose="02010609060101010101" charset="-122"/>
              </a:rPr>
              <a:t>,</a:t>
            </a:r>
            <a:r>
              <a:rPr lang="en-US" altLang="en-US" sz="2000" dirty="0">
                <a:cs typeface="楷体" panose="02010609060101010101" charset="-122"/>
              </a:rPr>
              <a:t>③④⑤</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①③④</a:t>
            </a:r>
            <a:r>
              <a:rPr lang="en-US" altLang="zh-CN" sz="2000" dirty="0">
                <a:cs typeface="楷体" panose="02010609060101010101" charset="-122"/>
              </a:rPr>
              <a:t>,</a:t>
            </a:r>
            <a:r>
              <a:rPr lang="en-US" altLang="en-US" sz="2000" dirty="0">
                <a:cs typeface="楷体" panose="02010609060101010101" charset="-122"/>
              </a:rPr>
              <a:t>②⑤⑥</a:t>
            </a:r>
            <a:r>
              <a:rPr lang="en-US" altLang="zh-CN" sz="2000" dirty="0">
                <a:cs typeface="楷体" panose="02010609060101010101" charset="-122"/>
              </a:rPr>
              <a:t>	D.</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endParaRPr lang="en-US" altLang="en-US" sz="2000" dirty="0">
              <a:cs typeface="楷体" panose="02010609060101010101" charset="-122"/>
            </a:endParaRPr>
          </a:p>
        </p:txBody>
      </p:sp>
      <p:pic>
        <p:nvPicPr>
          <p:cNvPr id="334" name="图片 88"/>
          <p:cNvPicPr>
            <a:picLocks noChangeAspect="1"/>
          </p:cNvPicPr>
          <p:nvPr/>
        </p:nvPicPr>
        <p:blipFill>
          <a:blip r:embed="rId1"/>
          <a:stretch>
            <a:fillRect/>
          </a:stretch>
        </p:blipFill>
        <p:spPr>
          <a:xfrm>
            <a:off x="579755" y="1537970"/>
            <a:ext cx="10889615" cy="33369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把下面的六个图形分为两类，使每一类图形都有各自的共同特征或规律，分类正确的一项是：</a:t>
            </a:r>
            <a:endParaRPr lang="zh-CN" altLang="en-US"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A.</a:t>
            </a:r>
            <a:r>
              <a:rPr lang="en-US" altLang="en-US" sz="2000" dirty="0">
                <a:cs typeface="楷体" panose="02010609060101010101" charset="-122"/>
              </a:rPr>
              <a:t>①②③</a:t>
            </a:r>
            <a:r>
              <a:rPr lang="en-US" altLang="zh-CN" sz="2000" dirty="0">
                <a:cs typeface="楷体" panose="02010609060101010101" charset="-122"/>
              </a:rPr>
              <a:t>,</a:t>
            </a:r>
            <a:r>
              <a:rPr lang="en-US" altLang="en-US" sz="2000" dirty="0">
                <a:cs typeface="楷体" panose="02010609060101010101" charset="-122"/>
              </a:rPr>
              <a:t>④⑤⑥</a:t>
            </a:r>
            <a:r>
              <a:rPr lang="en-US" altLang="zh-CN" sz="2000" dirty="0">
                <a:cs typeface="楷体" panose="02010609060101010101" charset="-122"/>
              </a:rPr>
              <a:t>	B.</a:t>
            </a:r>
            <a:r>
              <a:rPr lang="en-US" altLang="en-US" sz="2000" dirty="0">
                <a:cs typeface="楷体" panose="02010609060101010101" charset="-122"/>
              </a:rPr>
              <a:t>①②④</a:t>
            </a:r>
            <a:r>
              <a:rPr lang="en-US" altLang="zh-CN" sz="2000" dirty="0">
                <a:cs typeface="楷体" panose="02010609060101010101" charset="-122"/>
              </a:rPr>
              <a:t>,</a:t>
            </a:r>
            <a:r>
              <a:rPr lang="en-US" altLang="en-US" sz="2000" dirty="0">
                <a:cs typeface="楷体" panose="02010609060101010101" charset="-122"/>
              </a:rPr>
              <a:t>③⑤⑥</a:t>
            </a:r>
            <a:endParaRPr lang="en-US"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en-US" altLang="en-US" sz="2000" dirty="0">
                <a:cs typeface="楷体" panose="02010609060101010101" charset="-122"/>
              </a:rPr>
              <a:t>①③⑤</a:t>
            </a:r>
            <a:r>
              <a:rPr lang="en-US" altLang="zh-CN" sz="2000" dirty="0">
                <a:cs typeface="楷体" panose="02010609060101010101" charset="-122"/>
              </a:rPr>
              <a:t>,</a:t>
            </a:r>
            <a:r>
              <a:rPr lang="en-US" altLang="en-US" sz="2000" dirty="0">
                <a:cs typeface="楷体" panose="02010609060101010101" charset="-122"/>
              </a:rPr>
              <a:t>②④⑥</a:t>
            </a:r>
            <a:r>
              <a:rPr lang="en-US" altLang="zh-CN" sz="2000" dirty="0">
                <a:cs typeface="楷体" panose="02010609060101010101" charset="-122"/>
              </a:rPr>
              <a:t>	D.</a:t>
            </a:r>
            <a:r>
              <a:rPr lang="en-US" altLang="en-US" sz="2000" dirty="0">
                <a:cs typeface="楷体" panose="02010609060101010101" charset="-122"/>
              </a:rPr>
              <a:t>①④⑤</a:t>
            </a:r>
            <a:r>
              <a:rPr lang="en-US" altLang="zh-CN" sz="2000" dirty="0">
                <a:cs typeface="楷体" panose="02010609060101010101" charset="-122"/>
              </a:rPr>
              <a:t>,</a:t>
            </a:r>
            <a:r>
              <a:rPr lang="en-US" altLang="en-US" sz="2000" dirty="0">
                <a:cs typeface="楷体" panose="02010609060101010101" charset="-122"/>
              </a:rPr>
              <a:t>②③⑥</a:t>
            </a:r>
            <a:endParaRPr lang="en-US" altLang="en-US" sz="2000" dirty="0">
              <a:cs typeface="楷体" panose="02010609060101010101" charset="-122"/>
            </a:endParaRPr>
          </a:p>
        </p:txBody>
      </p:sp>
      <p:pic>
        <p:nvPicPr>
          <p:cNvPr id="337" name="图片 91"/>
          <p:cNvPicPr>
            <a:picLocks noChangeAspect="1"/>
          </p:cNvPicPr>
          <p:nvPr/>
        </p:nvPicPr>
        <p:blipFill>
          <a:blip r:embed="rId1"/>
          <a:stretch>
            <a:fillRect/>
          </a:stretch>
        </p:blipFill>
        <p:spPr>
          <a:xfrm>
            <a:off x="462915" y="1682750"/>
            <a:ext cx="11156315" cy="239077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快餐文化是指追求速成、通俗、短期流行，不注重深厚积累和内在价值的文化思潮和文化现象，是人们生活节奏加快的产物。</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根据上述定义，下列属于快餐文化的是：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方便面以其便宜、好吃、方便、保存时间长，而广受人们的欢迎</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家长为了自己的孩子能够赢在起跑线上，焦虑不已，抢报各种兴趣培训班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五分钟看大片</a:t>
            </a:r>
            <a:r>
              <a:rPr lang="en-US" altLang="zh-CN" sz="2400" dirty="0">
                <a:cs typeface="楷体" panose="02010609060101010101" charset="-122"/>
              </a:rPr>
              <a:t>”</a:t>
            </a:r>
            <a:r>
              <a:rPr lang="zh-CN" altLang="en-US" sz="2400" dirty="0">
                <a:cs typeface="楷体" panose="02010609060101010101" charset="-122"/>
              </a:rPr>
              <a:t>通过在短时间内让受众了解影视剧情而深受年轻人的欢迎</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学生利用思维导图的方式，可以快速掌握学科知识，提高学习的效率和效果</a:t>
            </a:r>
            <a:endParaRPr lang="zh-CN" altLang="en-US" sz="2400" dirty="0">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句法造词法是指按照造句的规则来创造新词的方法，可分为主谓式（例如</a:t>
            </a:r>
            <a:r>
              <a:rPr lang="en-US" altLang="zh-CN" sz="2400" dirty="0">
                <a:cs typeface="楷体" panose="02010609060101010101" charset="-122"/>
              </a:rPr>
              <a:t>“</a:t>
            </a:r>
            <a:r>
              <a:rPr lang="zh-CN" altLang="en-US" sz="2400" dirty="0">
                <a:cs typeface="楷体" panose="02010609060101010101" charset="-122"/>
              </a:rPr>
              <a:t>地震</a:t>
            </a:r>
            <a:r>
              <a:rPr lang="en-US" altLang="zh-CN" sz="2400" dirty="0">
                <a:cs typeface="楷体" panose="02010609060101010101" charset="-122"/>
              </a:rPr>
              <a:t>”“</a:t>
            </a:r>
            <a:r>
              <a:rPr lang="zh-CN" altLang="en-US" sz="2400" dirty="0">
                <a:cs typeface="楷体" panose="02010609060101010101" charset="-122"/>
              </a:rPr>
              <a:t>日食</a:t>
            </a:r>
            <a:r>
              <a:rPr lang="en-US" altLang="zh-CN" sz="2400" dirty="0">
                <a:cs typeface="楷体" panose="02010609060101010101" charset="-122"/>
              </a:rPr>
              <a:t>”</a:t>
            </a:r>
            <a:r>
              <a:rPr lang="zh-CN" altLang="en-US" sz="2400" dirty="0">
                <a:cs typeface="楷体" panose="02010609060101010101" charset="-122"/>
              </a:rPr>
              <a:t>）、动宾式（例如</a:t>
            </a:r>
            <a:r>
              <a:rPr lang="en-US" altLang="zh-CN" sz="2400" dirty="0">
                <a:cs typeface="楷体" panose="02010609060101010101" charset="-122"/>
              </a:rPr>
              <a:t>“</a:t>
            </a:r>
            <a:r>
              <a:rPr lang="zh-CN" altLang="en-US" sz="2400" dirty="0">
                <a:cs typeface="楷体" panose="02010609060101010101" charset="-122"/>
              </a:rPr>
              <a:t>下岗</a:t>
            </a:r>
            <a:r>
              <a:rPr lang="en-US" altLang="zh-CN" sz="2400" dirty="0">
                <a:cs typeface="楷体" panose="02010609060101010101" charset="-122"/>
              </a:rPr>
              <a:t>”“</a:t>
            </a:r>
            <a:r>
              <a:rPr lang="zh-CN" altLang="en-US" sz="2400" dirty="0">
                <a:cs typeface="楷体" panose="02010609060101010101" charset="-122"/>
              </a:rPr>
              <a:t>督学</a:t>
            </a:r>
            <a:r>
              <a:rPr lang="en-US" altLang="zh-CN" sz="2400" dirty="0">
                <a:cs typeface="楷体" panose="02010609060101010101" charset="-122"/>
              </a:rPr>
              <a:t>”</a:t>
            </a:r>
            <a:r>
              <a:rPr lang="zh-CN" altLang="en-US" sz="2400" dirty="0">
                <a:cs typeface="楷体" panose="02010609060101010101" charset="-122"/>
              </a:rPr>
              <a:t>），并列式（例如</a:t>
            </a:r>
            <a:r>
              <a:rPr lang="en-US" altLang="zh-CN" sz="2400" dirty="0">
                <a:cs typeface="楷体" panose="02010609060101010101" charset="-122"/>
              </a:rPr>
              <a:t>“</a:t>
            </a:r>
            <a:r>
              <a:rPr lang="zh-CN" altLang="en-US" sz="2400" dirty="0">
                <a:cs typeface="楷体" panose="02010609060101010101" charset="-122"/>
              </a:rPr>
              <a:t>师生</a:t>
            </a:r>
            <a:r>
              <a:rPr lang="en-US" altLang="zh-CN" sz="2400" dirty="0">
                <a:cs typeface="楷体" panose="02010609060101010101" charset="-122"/>
              </a:rPr>
              <a:t>”“</a:t>
            </a:r>
            <a:r>
              <a:rPr lang="zh-CN" altLang="en-US" sz="2400" dirty="0">
                <a:cs typeface="楷体" panose="02010609060101010101" charset="-122"/>
              </a:rPr>
              <a:t>褒贬</a:t>
            </a:r>
            <a:r>
              <a:rPr lang="en-US" altLang="zh-CN" sz="2400" dirty="0">
                <a:cs typeface="楷体" panose="02010609060101010101" charset="-122"/>
              </a:rPr>
              <a:t>”</a:t>
            </a:r>
            <a:r>
              <a:rPr lang="zh-CN" altLang="en-US" sz="2400" dirty="0">
                <a:cs typeface="楷体" panose="02010609060101010101" charset="-122"/>
              </a:rPr>
              <a:t>）、偏正式（例如</a:t>
            </a:r>
            <a:r>
              <a:rPr lang="en-US" altLang="zh-CN" sz="2400" dirty="0">
                <a:cs typeface="楷体" panose="02010609060101010101" charset="-122"/>
              </a:rPr>
              <a:t>“</a:t>
            </a:r>
            <a:r>
              <a:rPr lang="zh-CN" altLang="en-US" sz="2400" dirty="0">
                <a:cs typeface="楷体" panose="02010609060101010101" charset="-122"/>
              </a:rPr>
              <a:t>飞快</a:t>
            </a:r>
            <a:r>
              <a:rPr lang="en-US" altLang="zh-CN" sz="2400" dirty="0">
                <a:cs typeface="楷体" panose="02010609060101010101" charset="-122"/>
              </a:rPr>
              <a:t>”“</a:t>
            </a:r>
            <a:r>
              <a:rPr lang="zh-CN" altLang="en-US" sz="2400" dirty="0">
                <a:cs typeface="楷体" panose="02010609060101010101" charset="-122"/>
              </a:rPr>
              <a:t>绿叶</a:t>
            </a:r>
            <a:r>
              <a:rPr lang="en-US" altLang="zh-CN" sz="2400" dirty="0">
                <a:cs typeface="楷体" panose="02010609060101010101" charset="-122"/>
              </a:rPr>
              <a:t>”</a:t>
            </a:r>
            <a:r>
              <a:rPr lang="zh-CN" altLang="en-US" sz="2400" dirty="0">
                <a:cs typeface="楷体" panose="02010609060101010101" charset="-122"/>
              </a:rPr>
              <a:t>）和补充式（例如</a:t>
            </a:r>
            <a:r>
              <a:rPr lang="en-US" altLang="zh-CN" sz="2400" dirty="0">
                <a:cs typeface="楷体" panose="02010609060101010101" charset="-122"/>
              </a:rPr>
              <a:t>“</a:t>
            </a:r>
            <a:r>
              <a:rPr lang="zh-CN" altLang="en-US" sz="2400" dirty="0">
                <a:cs typeface="楷体" panose="02010609060101010101" charset="-122"/>
              </a:rPr>
              <a:t>提高</a:t>
            </a:r>
            <a:r>
              <a:rPr lang="en-US" altLang="zh-CN" sz="2400" dirty="0">
                <a:cs typeface="楷体" panose="02010609060101010101" charset="-122"/>
              </a:rPr>
              <a:t>”“</a:t>
            </a:r>
            <a:r>
              <a:rPr lang="zh-CN" altLang="en-US" sz="2400" dirty="0">
                <a:cs typeface="楷体" panose="02010609060101010101" charset="-122"/>
              </a:rPr>
              <a:t>照亮</a:t>
            </a:r>
            <a:r>
              <a:rPr lang="en-US" altLang="zh-CN" sz="2400" dirty="0">
                <a:cs typeface="楷体" panose="02010609060101010101" charset="-122"/>
              </a:rPr>
              <a:t>”</a:t>
            </a:r>
            <a:r>
              <a:rPr lang="zh-CN" altLang="en-US" sz="2400" dirty="0">
                <a:cs typeface="楷体" panose="02010609060101010101" charset="-122"/>
              </a:rPr>
              <a:t>）形式，有些运用句法造词法构成的词语可综合使用上述两种或两种以上形式。</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根据上述定义，下列词语没有综合运用上述形式的是：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文具店</a:t>
            </a:r>
            <a:r>
              <a:rPr lang="en-US" altLang="zh-CN" sz="2400" dirty="0">
                <a:cs typeface="楷体" panose="02010609060101010101" charset="-122"/>
              </a:rPr>
              <a:t>	B.</a:t>
            </a:r>
            <a:r>
              <a:rPr lang="zh-CN" altLang="en-US" sz="2400" dirty="0">
                <a:cs typeface="楷体" panose="02010609060101010101" charset="-122"/>
              </a:rPr>
              <a:t>脱粒机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辅导班</a:t>
            </a:r>
            <a:r>
              <a:rPr lang="en-US" altLang="zh-CN" sz="2400" dirty="0">
                <a:cs typeface="楷体" panose="02010609060101010101" charset="-122"/>
              </a:rPr>
              <a:t>	D.</a:t>
            </a:r>
            <a:r>
              <a:rPr lang="zh-CN" altLang="en-US" sz="2400" dirty="0">
                <a:cs typeface="楷体" panose="02010609060101010101" charset="-122"/>
              </a:rPr>
              <a:t>国营厂</a:t>
            </a:r>
            <a:endParaRPr lang="zh-CN" altLang="en-US" sz="2400" dirty="0">
              <a:cs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生态产品是由生态系统自然生产或人类社会劳动生产，或由两种生产共同作用提供的，能维系生态安全，保障生态调节功能。提供良好人居环境的，满足人民日益增长的美好生活需要的产品服务。</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根据上述定义，下列不属于生态产品的是：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某城市人工湿地中流淌的对生活污水和工业废水再生利用的再生水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平均水深</a:t>
            </a:r>
            <a:r>
              <a:rPr lang="en-US" altLang="zh-CN" sz="2400" dirty="0">
                <a:cs typeface="楷体" panose="02010609060101010101" charset="-122"/>
              </a:rPr>
              <a:t>7</a:t>
            </a:r>
            <a:r>
              <a:rPr lang="zh-CN" altLang="en-US" sz="2400" dirty="0">
                <a:cs typeface="楷体" panose="02010609060101010101" charset="-122"/>
              </a:rPr>
              <a:t>米多，水草繁盛候鸟成群，水色清澈、景色旖旎的可鲁克湖</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集自然景观和民族风情于一体，面积</a:t>
            </a:r>
            <a:r>
              <a:rPr lang="en-US" altLang="zh-CN" sz="2400" dirty="0">
                <a:cs typeface="楷体" panose="02010609060101010101" charset="-122"/>
              </a:rPr>
              <a:t>152</a:t>
            </a:r>
            <a:r>
              <a:rPr lang="zh-CN" altLang="en-US" sz="2400" dirty="0">
                <a:cs typeface="楷体" panose="02010609060101010101" charset="-122"/>
              </a:rPr>
              <a:t>平方公里的坎布拉国家森林公园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利用橡胶树上采集的橡胶制成的物美价廉，安全系数高的汽车专用轮胎</a:t>
            </a:r>
            <a:endParaRPr lang="zh-CN" altLang="en-US" sz="2400" dirty="0">
              <a:cs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电子对抗是指敌对双方为削弱、破坏对方电子设备的使用效能，保障己方电子设备发挥效能而采取的各种电子措施和行动，电子对抗的形式包括电子对抗侦察、电子防御等，其中电子对抗侦察是搜集敌方电子设备信息的侦察；电子防御是在敌方实施电子对抗的情况下，为保障己方电子设备和电子系统发挥效能而采取的措施和行动。</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根据上述定义，下列没有体现上述两种电子对抗形式的是：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通过无线电技术侦听敌方雷达，识别其所在位置，获取该雷达技术参数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通过为战机涂抹特殊材料，使其平面反射面积缩小，使敌方雷达无法探测到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受到反雷达导弹攻击时，利用多部雷达组网发射信号，使导弹无法定位而偏离方向</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通过水声设备对敌方声呐、声制导武器的声信号进行截收，确定目标类型和部署数量</a:t>
            </a:r>
            <a:endParaRPr lang="zh-CN" altLang="en-US" sz="22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610235" y="701675"/>
            <a:ext cx="1119251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命令性规范和禁止性规范都是义务性规范。命令性规范，是指规定人们的积极义务，即人们必须或应当作出某种行为的规范；禁止性规范，是指规定人们的消极义务（不作为义务），即禁止人们作出一定行为的规范。</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①</a:t>
            </a:r>
            <a:r>
              <a:rPr lang="zh-CN" altLang="en-US" sz="2400" dirty="0">
                <a:cs typeface="楷体" panose="02010609060101010101" charset="-122"/>
              </a:rPr>
              <a:t>禁止用任何方法对公民进行侮辱、诽谤和诬告陷害</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②</a:t>
            </a:r>
            <a:r>
              <a:rPr lang="zh-CN" altLang="en-US" sz="2400" dirty="0">
                <a:cs typeface="楷体" panose="02010609060101010101" charset="-122"/>
              </a:rPr>
              <a:t>行为人与相对人恶意串通，损害他人合法权益的民事行为无效</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③</a:t>
            </a:r>
            <a:r>
              <a:rPr lang="zh-CN" altLang="en-US" sz="2400" dirty="0">
                <a:cs typeface="楷体" panose="02010609060101010101" charset="-122"/>
              </a:rPr>
              <a:t>公安机关拘留人的时候，必须出示拘留证</a:t>
            </a:r>
            <a:endParaRPr lang="zh-CN" altLang="en-US" sz="2400" dirty="0">
              <a:cs typeface="楷体" panose="02010609060101010101" charset="-122"/>
            </a:endParaRPr>
          </a:p>
          <a:p>
            <a:pPr indent="0" fontAlgn="auto">
              <a:lnSpc>
                <a:spcPct val="150000"/>
              </a:lnSpc>
            </a:pPr>
            <a:r>
              <a:rPr lang="en-US" altLang="en-US" sz="2400" dirty="0">
                <a:cs typeface="楷体" panose="02010609060101010101" charset="-122"/>
              </a:rPr>
              <a:t>④</a:t>
            </a:r>
            <a:r>
              <a:rPr lang="zh-CN" altLang="en-US" sz="2400" dirty="0">
                <a:cs typeface="楷体" panose="02010609060101010101" charset="-122"/>
              </a:rPr>
              <a:t>对当事人的同一个违法行为，不得给予两次以上罚款的行政处罚</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根据上述定义，下列说法正确的是：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en-US" altLang="en-US" sz="2400" dirty="0">
                <a:cs typeface="楷体" panose="02010609060101010101" charset="-122"/>
              </a:rPr>
              <a:t>①④</a:t>
            </a:r>
            <a:r>
              <a:rPr lang="zh-CN" altLang="en-US" sz="2400" dirty="0">
                <a:cs typeface="楷体" panose="02010609060101010101" charset="-122"/>
              </a:rPr>
              <a:t>属于命令性规范</a:t>
            </a:r>
            <a:r>
              <a:rPr lang="en-US" altLang="zh-CN" sz="2400" dirty="0">
                <a:cs typeface="楷体" panose="02010609060101010101" charset="-122"/>
              </a:rPr>
              <a:t>	B.</a:t>
            </a:r>
            <a:r>
              <a:rPr lang="en-US" altLang="en-US" sz="2400" dirty="0">
                <a:cs typeface="楷体" panose="02010609060101010101" charset="-122"/>
              </a:rPr>
              <a:t>②③</a:t>
            </a:r>
            <a:r>
              <a:rPr lang="zh-CN" altLang="en-US" sz="2400" dirty="0">
                <a:cs typeface="楷体" panose="02010609060101010101" charset="-122"/>
              </a:rPr>
              <a:t>属于禁止性规范</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en-US" altLang="en-US" sz="2400" dirty="0">
                <a:cs typeface="楷体" panose="02010609060101010101" charset="-122"/>
              </a:rPr>
              <a:t>②④</a:t>
            </a:r>
            <a:r>
              <a:rPr lang="zh-CN" altLang="en-US" sz="2400" dirty="0">
                <a:cs typeface="楷体" panose="02010609060101010101" charset="-122"/>
              </a:rPr>
              <a:t>属于禁止性规范</a:t>
            </a:r>
            <a:r>
              <a:rPr lang="en-US" altLang="zh-CN" sz="2400" dirty="0">
                <a:cs typeface="楷体" panose="02010609060101010101" charset="-122"/>
              </a:rPr>
              <a:t>	D.</a:t>
            </a:r>
            <a:r>
              <a:rPr lang="zh-CN" altLang="en-US" sz="2400" dirty="0">
                <a:cs typeface="楷体" panose="02010609060101010101" charset="-122"/>
              </a:rPr>
              <a:t>只有</a:t>
            </a:r>
            <a:r>
              <a:rPr lang="en-US" altLang="en-US" sz="2400" dirty="0">
                <a:cs typeface="楷体" panose="02010609060101010101" charset="-122"/>
              </a:rPr>
              <a:t>③</a:t>
            </a:r>
            <a:r>
              <a:rPr lang="zh-CN" altLang="en-US" sz="2400" dirty="0">
                <a:cs typeface="楷体" panose="02010609060101010101" charset="-122"/>
              </a:rPr>
              <a:t>属于命令性规范</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电影场面调度是指在剧本提供的人物动作、场景视觉角度等基础上，结合实际拍摄条件，进行的有关演员或摄影机活动位置的调度，通过调度，可以起到刻画人物性格、表现人物关系、渲染场面气氛、交代时空间隔等作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根据上述定义，下列体现了电影场面调度的是：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采用特殊剪辑手法，让处于不同时空的人物同时呈现在同一个画面上</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跟拍某演员从进门一直走到房子深处的角落，用透视关系表现空间感</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设置充满阳光的布景，播放欢快的音乐，映衬出电影主人公明媚的心情</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通过拍摄演员两次见到某人的表情变化，体现其对该人不断加深的好感</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3" name="文本框 2"/>
          <p:cNvSpPr txBox="1"/>
          <p:nvPr/>
        </p:nvSpPr>
        <p:spPr>
          <a:xfrm>
            <a:off x="462915" y="1040765"/>
            <a:ext cx="8601710" cy="519366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泰山北斗：德高望重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天罗地网：防范严密</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钟鸣鼎食：金玉满堂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人才辈出：卧虎藏龙</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珠联璧合：关系亲密</a:t>
            </a:r>
            <a:endParaRPr lang="zh-CN" altLang="en-US" sz="24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3" name="文本框 2"/>
          <p:cNvSpPr txBox="1"/>
          <p:nvPr/>
        </p:nvSpPr>
        <p:spPr>
          <a:xfrm>
            <a:off x="462915" y="1188720"/>
            <a:ext cx="8601710" cy="50457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大脑：思考：思想</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心脏：跳动：血液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肺脏：呼吸：空气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芯片：编程：软件</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车床：切割：产品</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11</a:t>
            </a:r>
            <a:endParaRPr kumimoji="1" lang="en-US" altLang="zh-CN" sz="2800" b="1" dirty="0">
              <a:solidFill>
                <a:srgbClr val="FF653F"/>
              </a:solidFill>
            </a:endParaRPr>
          </a:p>
        </p:txBody>
      </p:sp>
      <p:sp>
        <p:nvSpPr>
          <p:cNvPr id="3" name="文本框 2"/>
          <p:cNvSpPr txBox="1"/>
          <p:nvPr/>
        </p:nvSpPr>
        <p:spPr>
          <a:xfrm>
            <a:off x="462915" y="1192530"/>
            <a:ext cx="8601710" cy="503555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a:t>
            </a:r>
            <a:r>
              <a:rPr lang="en-US" altLang="zh-CN" sz="2400" dirty="0">
                <a:cs typeface="楷体" panose="02010609060101010101" charset="-122"/>
              </a:rPr>
              <a:t>  </a:t>
            </a:r>
            <a:r>
              <a:rPr lang="zh-CN" altLang="en-US" sz="2400" dirty="0">
                <a:cs typeface="楷体" panose="02010609060101010101" charset="-122"/>
              </a:rPr>
              <a:t>）对于蜡笔相当于照片对于（</a:t>
            </a:r>
            <a:r>
              <a:rPr lang="en-US" altLang="zh-CN" sz="2400" dirty="0">
                <a:cs typeface="楷体" panose="02010609060101010101" charset="-122"/>
              </a:rPr>
              <a:t>  </a:t>
            </a:r>
            <a:r>
              <a:rPr lang="zh-CN" altLang="en-US" sz="2400" dirty="0">
                <a:cs typeface="楷体" panose="02010609060101010101" charset="-122"/>
              </a:rPr>
              <a:t>）</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铅笔；相片</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图画；相机</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文具；相册</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毛笔；图像</a:t>
            </a:r>
            <a:endParaRPr lang="zh-CN" altLang="en-US" sz="2400" dirty="0">
              <a:cs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12</a:t>
            </a:r>
            <a:endParaRPr kumimoji="1" lang="en-US" altLang="zh-CN" sz="2800" b="1" dirty="0">
              <a:solidFill>
                <a:srgbClr val="FF653F"/>
              </a:solidFill>
            </a:endParaRPr>
          </a:p>
        </p:txBody>
      </p:sp>
      <p:sp>
        <p:nvSpPr>
          <p:cNvPr id="3" name="文本框 2"/>
          <p:cNvSpPr txBox="1"/>
          <p:nvPr/>
        </p:nvSpPr>
        <p:spPr>
          <a:xfrm>
            <a:off x="462915" y="622300"/>
            <a:ext cx="11210925" cy="571246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考古人员在河南安阳洹河北岸的殷墟商王陵及周边区域新勘探发现东西两个围沟及</a:t>
            </a:r>
            <a:r>
              <a:rPr lang="en-US" altLang="zh-CN" sz="2400" dirty="0">
                <a:cs typeface="楷体" panose="02010609060101010101" charset="-122"/>
              </a:rPr>
              <a:t>400</a:t>
            </a:r>
            <a:r>
              <a:rPr lang="zh-CN" altLang="en-US" sz="2400" dirty="0">
                <a:cs typeface="楷体" panose="02010609060101010101" charset="-122"/>
              </a:rPr>
              <a:t>余座祭祀坑。这两个围沟均围绕在殷商大墓外围，相距</a:t>
            </a:r>
            <a:r>
              <a:rPr lang="en-US" altLang="zh-CN" sz="2400" dirty="0">
                <a:cs typeface="楷体" panose="02010609060101010101" charset="-122"/>
              </a:rPr>
              <a:t>40</a:t>
            </a:r>
            <a:r>
              <a:rPr lang="zh-CN" altLang="en-US" sz="2400" dirty="0">
                <a:cs typeface="楷体" panose="02010609060101010101" charset="-122"/>
              </a:rPr>
              <a:t>米，在东围沟东段以东、南段以南，存在大范围空白区域，极少发现商代晚期遗存，考古人员由此推测，不仅商王陵园区存在明确规划，陵园外围也有较大段范围被划入缓冲区，禁止一般人占用。</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以下哪项如果为真，最能支持上述考古人员推测？</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在商王陵大墓内，没有发现商代晚期遗存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在商王陵园外围区域，基本不会发现商代晚期遗存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大量发现商代晚期遗存的区域，当时均被一般人占用</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发现商代晚期遗存的区域，均处于商王陵园的外围区域</a:t>
            </a:r>
            <a:endParaRPr lang="zh-CN" altLang="en-US" sz="2400" dirty="0">
              <a:cs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13</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某论坛有人发帖：</a:t>
            </a:r>
            <a:r>
              <a:rPr lang="en-US" altLang="zh-CN" sz="2200" dirty="0">
                <a:cs typeface="楷体" panose="02010609060101010101" charset="-122"/>
              </a:rPr>
              <a:t>“</a:t>
            </a:r>
            <a:r>
              <a:rPr lang="zh-CN" altLang="en-US" sz="2200" dirty="0">
                <a:cs typeface="楷体" panose="02010609060101010101" charset="-122"/>
              </a:rPr>
              <a:t>人类正常体温</a:t>
            </a:r>
            <a:r>
              <a:rPr lang="en-US" altLang="zh-CN" sz="2200" dirty="0">
                <a:cs typeface="楷体" panose="02010609060101010101" charset="-122"/>
              </a:rPr>
              <a:t>37</a:t>
            </a:r>
            <a:r>
              <a:rPr lang="en-US" altLang="en-US" sz="2200" dirty="0">
                <a:cs typeface="楷体" panose="02010609060101010101" charset="-122"/>
              </a:rPr>
              <a:t>℃</a:t>
            </a:r>
            <a:r>
              <a:rPr lang="zh-CN" altLang="en-US" sz="2200" dirty="0">
                <a:cs typeface="楷体" panose="02010609060101010101" charset="-122"/>
              </a:rPr>
              <a:t>已成历史，自</a:t>
            </a:r>
            <a:r>
              <a:rPr lang="en-US" altLang="zh-CN" sz="2200" dirty="0">
                <a:cs typeface="楷体" panose="02010609060101010101" charset="-122"/>
              </a:rPr>
              <a:t>19</a:t>
            </a:r>
            <a:r>
              <a:rPr lang="zh-CN" altLang="en-US" sz="2200" dirty="0">
                <a:cs typeface="楷体" panose="02010609060101010101" charset="-122"/>
              </a:rPr>
              <a:t>世纪以来，人类体温下降了</a:t>
            </a:r>
            <a:r>
              <a:rPr lang="en-US" altLang="zh-CN" sz="2200" dirty="0">
                <a:cs typeface="楷体" panose="02010609060101010101" charset="-122"/>
              </a:rPr>
              <a:t>0.4</a:t>
            </a:r>
            <a:r>
              <a:rPr lang="en-US" altLang="en-US" sz="2200" dirty="0">
                <a:cs typeface="楷体" panose="02010609060101010101" charset="-122"/>
              </a:rPr>
              <a:t>℃</a:t>
            </a:r>
            <a:r>
              <a:rPr lang="zh-CN" altLang="en-US" sz="2200" dirty="0">
                <a:cs typeface="楷体" panose="02010609060101010101" charset="-122"/>
              </a:rPr>
              <a:t>，而体温每下降</a:t>
            </a:r>
            <a:r>
              <a:rPr lang="en-US" altLang="zh-CN" sz="2200" dirty="0">
                <a:cs typeface="楷体" panose="02010609060101010101" charset="-122"/>
              </a:rPr>
              <a:t>1</a:t>
            </a:r>
            <a:r>
              <a:rPr lang="en-US" altLang="en-US" sz="2200" dirty="0">
                <a:cs typeface="楷体" panose="02010609060101010101" charset="-122"/>
              </a:rPr>
              <a:t>℃</a:t>
            </a:r>
            <a:r>
              <a:rPr lang="zh-CN" altLang="en-US" sz="2200" dirty="0">
                <a:cs typeface="楷体" panose="02010609060101010101" charset="-122"/>
              </a:rPr>
              <a:t>，免疫力就会下降</a:t>
            </a:r>
            <a:r>
              <a:rPr lang="en-US" altLang="zh-CN" sz="2200" dirty="0">
                <a:cs typeface="楷体" panose="02010609060101010101" charset="-122"/>
              </a:rPr>
              <a:t>30%</a:t>
            </a:r>
            <a:r>
              <a:rPr lang="zh-CN" altLang="en-US" sz="2200" dirty="0">
                <a:cs typeface="楷体" panose="02010609060101010101" charset="-122"/>
              </a:rPr>
              <a:t>；而体温每上升</a:t>
            </a:r>
            <a:r>
              <a:rPr lang="en-US" altLang="zh-CN" sz="2200" dirty="0">
                <a:cs typeface="楷体" panose="02010609060101010101" charset="-122"/>
              </a:rPr>
              <a:t>1</a:t>
            </a:r>
            <a:r>
              <a:rPr lang="en-US" altLang="en-US" sz="2200" dirty="0">
                <a:cs typeface="楷体" panose="02010609060101010101" charset="-122"/>
              </a:rPr>
              <a:t>℃</a:t>
            </a:r>
            <a:r>
              <a:rPr lang="zh-CN" altLang="en-US" sz="2200" dirty="0">
                <a:cs typeface="楷体" panose="02010609060101010101" charset="-122"/>
              </a:rPr>
              <a:t>，免疫力就会提高</a:t>
            </a:r>
            <a:r>
              <a:rPr lang="en-US" altLang="zh-CN" sz="2200" dirty="0">
                <a:cs typeface="楷体" panose="02010609060101010101" charset="-122"/>
              </a:rPr>
              <a:t>5-6</a:t>
            </a:r>
            <a:r>
              <a:rPr lang="zh-CN" altLang="en-US" sz="2200" dirty="0">
                <a:cs typeface="楷体" panose="02010609060101010101" charset="-122"/>
              </a:rPr>
              <a:t>倍。</a:t>
            </a:r>
            <a:r>
              <a:rPr lang="en-US" altLang="zh-CN" sz="2200" dirty="0">
                <a:cs typeface="楷体" panose="02010609060101010101" charset="-122"/>
              </a:rPr>
              <a:t>”</a:t>
            </a:r>
            <a:r>
              <a:rPr lang="zh-CN" altLang="en-US" sz="2200" dirty="0">
                <a:cs typeface="楷体" panose="02010609060101010101" charset="-122"/>
              </a:rPr>
              <a:t>因此有网友担心，自己体温始终低于正常标准，这意味着自己的免疫力也低于常人。</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以下哪项如果为真，最能质疑该网友的担心？</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人类体温是否自</a:t>
            </a:r>
            <a:r>
              <a:rPr lang="en-US" altLang="zh-CN" sz="2200" dirty="0">
                <a:cs typeface="楷体" panose="02010609060101010101" charset="-122"/>
              </a:rPr>
              <a:t>19</a:t>
            </a:r>
            <a:r>
              <a:rPr lang="zh-CN" altLang="en-US" sz="2200" dirty="0">
                <a:cs typeface="楷体" panose="02010609060101010101" charset="-122"/>
              </a:rPr>
              <a:t>世纪以来下降了</a:t>
            </a:r>
            <a:r>
              <a:rPr lang="en-US" altLang="zh-CN" sz="2200" dirty="0">
                <a:cs typeface="楷体" panose="02010609060101010101" charset="-122"/>
              </a:rPr>
              <a:t>0.4</a:t>
            </a:r>
            <a:r>
              <a:rPr lang="en-US" altLang="en-US" sz="2200" dirty="0">
                <a:cs typeface="楷体" panose="02010609060101010101" charset="-122"/>
              </a:rPr>
              <a:t>℃</a:t>
            </a:r>
            <a:r>
              <a:rPr lang="zh-CN" altLang="en-US" sz="2200" dirty="0">
                <a:cs typeface="楷体" panose="02010609060101010101" charset="-122"/>
              </a:rPr>
              <a:t>，目前并无权威统计数据支持</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体温越高，就会激活人体内更多的免疫细胞，从而更好地歼灭入侵的病原微生物</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正常体温标准是根据多数人的测量结果而来，每个人的体温存在差异属于正常现象，对健康并无影响</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一般正常体温为腋下温度</a:t>
            </a:r>
            <a:r>
              <a:rPr lang="en-US" altLang="zh-CN" sz="2200" dirty="0">
                <a:cs typeface="楷体" panose="02010609060101010101" charset="-122"/>
              </a:rPr>
              <a:t>36-37</a:t>
            </a:r>
            <a:r>
              <a:rPr lang="en-US" altLang="en-US" sz="2200" dirty="0">
                <a:cs typeface="楷体" panose="02010609060101010101" charset="-122"/>
              </a:rPr>
              <a:t>℃</a:t>
            </a:r>
            <a:r>
              <a:rPr lang="zh-CN" altLang="en-US" sz="2200" dirty="0">
                <a:cs typeface="楷体" panose="02010609060101010101" charset="-122"/>
              </a:rPr>
              <a:t>，舌下温度为</a:t>
            </a:r>
            <a:r>
              <a:rPr lang="en-US" altLang="zh-CN" sz="2200" dirty="0">
                <a:cs typeface="楷体" panose="02010609060101010101" charset="-122"/>
              </a:rPr>
              <a:t>36.3-37.2</a:t>
            </a:r>
            <a:r>
              <a:rPr lang="en-US" altLang="en-US" sz="2200" dirty="0">
                <a:cs typeface="楷体" panose="02010609060101010101" charset="-122"/>
              </a:rPr>
              <a:t>℃</a:t>
            </a:r>
            <a:r>
              <a:rPr lang="zh-CN" altLang="en-US" sz="2200" dirty="0">
                <a:cs typeface="楷体" panose="02010609060101010101" charset="-122"/>
              </a:rPr>
              <a:t>，直肠温度为</a:t>
            </a:r>
            <a:r>
              <a:rPr lang="en-US" altLang="zh-CN" sz="2200" dirty="0">
                <a:cs typeface="楷体" panose="02010609060101010101" charset="-122"/>
              </a:rPr>
              <a:t>36.5℃-37.7℃</a:t>
            </a:r>
            <a:r>
              <a:rPr lang="zh-CN" altLang="en-US" sz="2200" dirty="0">
                <a:cs typeface="楷体" panose="02010609060101010101" charset="-122"/>
              </a:rPr>
              <a:t>，体位不同，有所差异</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14</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科学家选择了两块</a:t>
            </a:r>
            <a:r>
              <a:rPr lang="en-US" altLang="zh-CN" sz="2000" dirty="0">
                <a:cs typeface="楷体" panose="02010609060101010101" charset="-122"/>
              </a:rPr>
              <a:t>“</a:t>
            </a:r>
            <a:r>
              <a:rPr lang="zh-CN" altLang="en-US" sz="2000" dirty="0">
                <a:cs typeface="楷体" panose="02010609060101010101" charset="-122"/>
              </a:rPr>
              <a:t>受伤的雨林</a:t>
            </a:r>
            <a:r>
              <a:rPr lang="en-US" altLang="zh-CN" sz="2000" dirty="0">
                <a:cs typeface="楷体" panose="02010609060101010101" charset="-122"/>
              </a:rPr>
              <a:t>”——</a:t>
            </a:r>
            <a:r>
              <a:rPr lang="zh-CN" altLang="en-US" sz="2000" dirty="0">
                <a:cs typeface="楷体" panose="02010609060101010101" charset="-122"/>
              </a:rPr>
              <a:t>原生雨林被砍光，在失去土壤韧性后又被用来放牧，最终长满了一种被称为</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的入侵植物，原生雨林没有机会喘息与再生。研究人员将其中一块地均匀覆盖上近半米的咖啡果肉，另一块土地则什么也不做，任其自然。两年之后，两块地发生了迥然不同的剧变：被咖啡果肉覆盖的那块，</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已经完全消失，取而代之的是本应属于这里的热带树种的年轻树冠；而另一块地则依然被</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霸占着。由此可见，咖啡果肉有助于热带雨林的生态恢复。</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以下各项如果为真，除哪项外均能支持以上结论？</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覆盖咖啡果肉是一次</a:t>
            </a:r>
            <a:r>
              <a:rPr lang="en-US" altLang="zh-CN" sz="2000" dirty="0">
                <a:cs typeface="楷体" panose="02010609060101010101" charset="-122"/>
              </a:rPr>
              <a:t>“</a:t>
            </a:r>
            <a:r>
              <a:rPr lang="zh-CN" altLang="en-US" sz="2000" dirty="0">
                <a:cs typeface="楷体" panose="02010609060101010101" charset="-122"/>
              </a:rPr>
              <a:t>集中施肥</a:t>
            </a:r>
            <a:r>
              <a:rPr lang="en-US" altLang="zh-CN" sz="2000" dirty="0">
                <a:cs typeface="楷体" panose="02010609060101010101" charset="-122"/>
              </a:rPr>
              <a:t>”</a:t>
            </a:r>
            <a:r>
              <a:rPr lang="zh-CN" altLang="en-US" sz="2000" dirty="0">
                <a:cs typeface="楷体" panose="02010609060101010101" charset="-122"/>
              </a:rPr>
              <a:t>的过程，能够使土地更有韧性，生产恢复能力更佳</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咖啡果肉是制作咖啡豆后的废料，其味道会吸引食草型动物前来觅食，改变周边的环境</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咖啡果肉中富含碳、氮、磷等植物生长所需要的营养成分，能够为雨林修复按下</a:t>
            </a:r>
            <a:r>
              <a:rPr lang="en-US" altLang="zh-CN" sz="2000" dirty="0">
                <a:cs typeface="楷体" panose="02010609060101010101" charset="-122"/>
              </a:rPr>
              <a:t>“</a:t>
            </a:r>
            <a:r>
              <a:rPr lang="zh-CN" altLang="en-US" sz="2000" dirty="0">
                <a:cs typeface="楷体" panose="02010609060101010101" charset="-122"/>
              </a:rPr>
              <a:t>加速键</a:t>
            </a:r>
            <a:r>
              <a:rPr lang="en-US" altLang="zh-CN" sz="2000" dirty="0">
                <a:cs typeface="楷体" panose="02010609060101010101" charset="-122"/>
              </a:rPr>
              <a:t>”</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半米高的咖啡果肉会形成密不透风的</a:t>
            </a:r>
            <a:r>
              <a:rPr lang="en-US" altLang="zh-CN" sz="2000" dirty="0">
                <a:cs typeface="楷体" panose="02010609060101010101" charset="-122"/>
              </a:rPr>
              <a:t>“</a:t>
            </a:r>
            <a:r>
              <a:rPr lang="zh-CN" altLang="en-US" sz="2000" dirty="0">
                <a:cs typeface="楷体" panose="02010609060101010101" charset="-122"/>
              </a:rPr>
              <a:t>隔绝</a:t>
            </a:r>
            <a:r>
              <a:rPr lang="en-US" altLang="zh-CN" sz="2000" dirty="0">
                <a:cs typeface="楷体" panose="02010609060101010101" charset="-122"/>
              </a:rPr>
              <a:t>”</a:t>
            </a:r>
            <a:r>
              <a:rPr lang="zh-CN" altLang="en-US" sz="2000" dirty="0">
                <a:cs typeface="楷体" panose="02010609060101010101" charset="-122"/>
              </a:rPr>
              <a:t>层，在重压之下</a:t>
            </a:r>
            <a:r>
              <a:rPr lang="en-US" altLang="zh-CN" sz="2000" dirty="0">
                <a:cs typeface="楷体" panose="02010609060101010101" charset="-122"/>
              </a:rPr>
              <a:t>“</a:t>
            </a:r>
            <a:r>
              <a:rPr lang="zh-CN" altLang="en-US" sz="2000" dirty="0">
                <a:cs typeface="楷体" panose="02010609060101010101" charset="-122"/>
              </a:rPr>
              <a:t>栅栏草</a:t>
            </a:r>
            <a:r>
              <a:rPr lang="en-US" altLang="zh-CN" sz="2000" dirty="0">
                <a:cs typeface="楷体" panose="02010609060101010101" charset="-122"/>
              </a:rPr>
              <a:t>”</a:t>
            </a:r>
            <a:r>
              <a:rPr lang="zh-CN" altLang="en-US" sz="2000" dirty="0">
                <a:cs typeface="楷体" panose="02010609060101010101" charset="-122"/>
              </a:rPr>
              <a:t>被抑制生长，窒息死亡</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057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15</a:t>
            </a:r>
            <a:endParaRPr kumimoji="1" lang="en-US" altLang="zh-CN" sz="2800" b="1" dirty="0">
              <a:solidFill>
                <a:srgbClr val="FF653F"/>
              </a:solidFill>
            </a:endParaRPr>
          </a:p>
        </p:txBody>
      </p:sp>
      <p:sp>
        <p:nvSpPr>
          <p:cNvPr id="3" name="文本框 2"/>
          <p:cNvSpPr txBox="1"/>
          <p:nvPr/>
        </p:nvSpPr>
        <p:spPr>
          <a:xfrm>
            <a:off x="462915" y="480060"/>
            <a:ext cx="11091545"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sym typeface="+mn-ea"/>
              </a:rPr>
              <a:t>与劳动、资本、技术等要素一样，所有数据财产都属于信息时代的经济要素。只有明确数据财产的权属，才能建立和完善数据要素市场。只有建立数据财产制度，才能充分调动数据处理者在数据开发利用和流通中的积极性，并且才能使静态的数据资源在动态流转中跃变为具有经济价值的资产。只有数据资源真正成为具有经济价值的资产，才能推动数据产业的发展，并且才能实现经济的数字化转型。</a:t>
            </a:r>
            <a:endParaRPr lang="zh-CN" altLang="en-US" sz="2000" dirty="0">
              <a:cs typeface="楷体" panose="02010609060101010101" charset="-122"/>
              <a:sym typeface="+mn-ea"/>
            </a:endParaRPr>
          </a:p>
          <a:p>
            <a:pPr indent="0" fontAlgn="auto">
              <a:lnSpc>
                <a:spcPct val="150000"/>
              </a:lnSpc>
            </a:pPr>
            <a:endParaRPr lang="zh-CN" altLang="en-US" sz="2000" dirty="0">
              <a:cs typeface="楷体" panose="02010609060101010101" charset="-122"/>
              <a:sym typeface="+mn-ea"/>
            </a:endParaRPr>
          </a:p>
          <a:p>
            <a:pPr indent="0" fontAlgn="auto">
              <a:lnSpc>
                <a:spcPct val="150000"/>
              </a:lnSpc>
            </a:pPr>
            <a:endParaRPr lang="zh-CN" altLang="en-US" sz="2000" dirty="0">
              <a:cs typeface="楷体" panose="02010609060101010101" charset="-122"/>
              <a:sym typeface="+mn-ea"/>
            </a:endParaRPr>
          </a:p>
          <a:p>
            <a:pPr indent="0" fontAlgn="auto">
              <a:lnSpc>
                <a:spcPct val="150000"/>
              </a:lnSpc>
            </a:pPr>
            <a:r>
              <a:rPr lang="zh-CN" altLang="en-US" sz="2000" dirty="0">
                <a:cs typeface="楷体" panose="02010609060101010101" charset="-122"/>
                <a:sym typeface="+mn-ea"/>
              </a:rPr>
              <a:t>由此可以推出：</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A.</a:t>
            </a:r>
            <a:r>
              <a:rPr lang="zh-CN" altLang="en-US" sz="2000" dirty="0">
                <a:cs typeface="楷体" panose="02010609060101010101" charset="-122"/>
                <a:sym typeface="+mn-ea"/>
              </a:rPr>
              <a:t>一旦明确了数据财产的权属，就能建立和完善数据要素市场</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B.</a:t>
            </a:r>
            <a:r>
              <a:rPr lang="zh-CN" altLang="en-US" sz="2000" dirty="0">
                <a:cs typeface="楷体" panose="02010609060101010101" charset="-122"/>
                <a:sym typeface="+mn-ea"/>
              </a:rPr>
              <a:t>静态的数据资源只有在动态流转中才能跃变为具有经济价值的资产</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C.</a:t>
            </a:r>
            <a:r>
              <a:rPr lang="zh-CN" altLang="en-US" sz="2000" dirty="0">
                <a:cs typeface="楷体" panose="02010609060101010101" charset="-122"/>
                <a:sym typeface="+mn-ea"/>
              </a:rPr>
              <a:t>若数据资源未能真正成为具有经济价值的资产就不能实现经济的数字化转型</a:t>
            </a:r>
            <a:endParaRPr lang="zh-CN" altLang="en-US" sz="2000" dirty="0">
              <a:cs typeface="楷体" panose="02010609060101010101" charset="-122"/>
              <a:sym typeface="+mn-ea"/>
            </a:endParaRPr>
          </a:p>
          <a:p>
            <a:pPr indent="0" fontAlgn="auto">
              <a:lnSpc>
                <a:spcPct val="150000"/>
              </a:lnSpc>
            </a:pPr>
            <a:r>
              <a:rPr lang="en-US" altLang="zh-CN" sz="2000" dirty="0">
                <a:cs typeface="楷体" panose="02010609060101010101" charset="-122"/>
                <a:sym typeface="+mn-ea"/>
              </a:rPr>
              <a:t>D.</a:t>
            </a:r>
            <a:r>
              <a:rPr lang="zh-CN" altLang="en-US" sz="2000" dirty="0">
                <a:cs typeface="楷体" panose="02010609060101010101" charset="-122"/>
                <a:sym typeface="+mn-ea"/>
              </a:rPr>
              <a:t>数据财产制度建立起来了，数据处理者在数据开发利用和流通中的积极性就能充分调动起来</a:t>
            </a:r>
            <a:endParaRPr lang="zh-CN" altLang="en-US" sz="2000" dirty="0">
              <a:cs typeface="楷体" panose="02010609060101010101" charset="-122"/>
              <a:sym typeface="+mn-ea"/>
            </a:endParaRPr>
          </a:p>
        </p:txBody>
      </p:sp>
      <p:sp>
        <p:nvSpPr>
          <p:cNvPr id="4" name="文本框 3"/>
          <p:cNvSpPr txBox="1"/>
          <p:nvPr/>
        </p:nvSpPr>
        <p:spPr>
          <a:xfrm>
            <a:off x="3048000" y="2273935"/>
            <a:ext cx="9144000" cy="1938020"/>
          </a:xfrm>
          <a:prstGeom prst="rect">
            <a:avLst/>
          </a:prstGeom>
          <a:noFill/>
        </p:spPr>
        <p:txBody>
          <a:bodyPr wrap="square" rtlCol="0" anchor="t">
            <a:spAutoFit/>
          </a:bodyPr>
          <a:p>
            <a:r>
              <a:rPr lang="en-US" altLang="en-US" sz="2000" dirty="0">
                <a:solidFill>
                  <a:srgbClr val="FF0000"/>
                </a:solidFill>
                <a:effectLst/>
                <a:sym typeface="楷体" panose="02010609060101010101" charset="-122"/>
              </a:rPr>
              <a:t>①</a:t>
            </a:r>
            <a:r>
              <a:rPr lang="zh-CN" altLang="en-US" sz="2000" dirty="0">
                <a:solidFill>
                  <a:srgbClr val="FF0000"/>
                </a:solidFill>
                <a:effectLst/>
                <a:sym typeface="楷体" panose="02010609060101010101" charset="-122"/>
              </a:rPr>
              <a:t>数据财产</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经济要素</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②</a:t>
            </a:r>
            <a:r>
              <a:rPr lang="zh-CN" altLang="en-US" sz="2000" dirty="0">
                <a:solidFill>
                  <a:srgbClr val="FF0000"/>
                </a:solidFill>
                <a:effectLst/>
                <a:sym typeface="楷体" panose="02010609060101010101" charset="-122"/>
              </a:rPr>
              <a:t>建立和完善数据要素</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明确数据财产的权属</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③</a:t>
            </a:r>
            <a:r>
              <a:rPr lang="zh-CN" altLang="en-US" sz="2000" dirty="0">
                <a:solidFill>
                  <a:srgbClr val="FF0000"/>
                </a:solidFill>
                <a:effectLst/>
                <a:sym typeface="楷体" panose="02010609060101010101" charset="-122"/>
              </a:rPr>
              <a:t>调动数据处理者在数据开发利用和流通中的积极性</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建立数据财产制度</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④</a:t>
            </a:r>
            <a:r>
              <a:rPr lang="zh-CN" altLang="en-US" sz="2000" dirty="0">
                <a:solidFill>
                  <a:srgbClr val="FF0000"/>
                </a:solidFill>
                <a:effectLst/>
                <a:sym typeface="楷体" panose="02010609060101010101" charset="-122"/>
              </a:rPr>
              <a:t>静态的数据资源在动态流转中跃变为具有经济价值的资产</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建立数据财产制度</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⑤</a:t>
            </a:r>
            <a:r>
              <a:rPr lang="zh-CN" altLang="en-US" sz="2000" dirty="0">
                <a:solidFill>
                  <a:srgbClr val="FF0000"/>
                </a:solidFill>
                <a:effectLst/>
                <a:sym typeface="楷体" panose="02010609060101010101" charset="-122"/>
              </a:rPr>
              <a:t>推动数据产业的发展</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数据资源成为具有经济价值的资产</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⑥</a:t>
            </a:r>
            <a:r>
              <a:rPr lang="zh-CN" altLang="en-US" sz="2000" dirty="0">
                <a:solidFill>
                  <a:srgbClr val="FF0000"/>
                </a:solidFill>
                <a:effectLst/>
                <a:sym typeface="楷体" panose="02010609060101010101" charset="-122"/>
              </a:rPr>
              <a:t>实现经济的数字化转型</a:t>
            </a:r>
            <a:r>
              <a:rPr lang="en-US" altLang="en-US"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数据资源真正成为具有经济价值的资产</a:t>
            </a:r>
            <a:endParaRPr lang="zh-CN" altLang="en-US" sz="2000" dirty="0">
              <a:solidFill>
                <a:srgbClr val="FF0000"/>
              </a:solidFill>
              <a:effectLst/>
              <a:sym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406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16</a:t>
            </a:r>
            <a:endParaRPr kumimoji="1" lang="en-US" altLang="zh-CN" sz="2800" b="1" dirty="0">
              <a:solidFill>
                <a:srgbClr val="FF653F"/>
              </a:solidFill>
            </a:endParaRPr>
          </a:p>
        </p:txBody>
      </p:sp>
      <p:sp>
        <p:nvSpPr>
          <p:cNvPr id="3" name="文本框 2"/>
          <p:cNvSpPr txBox="1"/>
          <p:nvPr/>
        </p:nvSpPr>
        <p:spPr>
          <a:xfrm>
            <a:off x="462915" y="707390"/>
            <a:ext cx="11137265" cy="536067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近期，某人生吃龙虾，结果导致细菌感染，幸亏抢救及时，暂时脱离了生命危险。所以，生吃龙虾一定要慎重，谨防细菌感染。</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以下哪项与上述论证形式最为类似？</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不识庐山真面目，只缘身在此山中</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近墨者黑，近朱者赤，年轻人交友一定要慎重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春种一粒粟，秋收万颗子，生命皆是如此，循环往复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以天下之所顺，攻亲戚之所畔，故君子有不战，战必胜矣</a:t>
            </a:r>
            <a:endParaRPr lang="zh-CN" altLang="en-US" sz="2400" dirty="0">
              <a:cs typeface="楷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17</a:t>
            </a:r>
            <a:endParaRPr kumimoji="1" lang="en-US" altLang="zh-CN" sz="2800" b="1" dirty="0">
              <a:solidFill>
                <a:srgbClr val="FF653F"/>
              </a:solidFill>
            </a:endParaRPr>
          </a:p>
        </p:txBody>
      </p:sp>
      <p:sp>
        <p:nvSpPr>
          <p:cNvPr id="3" name="文本框 2"/>
          <p:cNvSpPr txBox="1"/>
          <p:nvPr/>
        </p:nvSpPr>
        <p:spPr>
          <a:xfrm>
            <a:off x="462915" y="395605"/>
            <a:ext cx="11460480" cy="5526405"/>
          </a:xfrm>
          <a:prstGeom prst="rect">
            <a:avLst/>
          </a:prstGeom>
          <a:noFill/>
        </p:spPr>
        <p:txBody>
          <a:bodyPr wrap="square" rtlCol="0" anchor="t">
            <a:noAutofit/>
          </a:bodyPr>
          <a:p>
            <a:pPr indent="0" fontAlgn="auto">
              <a:lnSpc>
                <a:spcPct val="120000"/>
              </a:lnSpc>
            </a:pPr>
            <a:r>
              <a:rPr lang="zh-CN" altLang="en-US" sz="2000" dirty="0">
                <a:cs typeface="楷体" panose="02010609060101010101" charset="-122"/>
              </a:rPr>
              <a:t>根据以下材料，回答</a:t>
            </a:r>
            <a:r>
              <a:rPr lang="zh-CN" sz="2000" dirty="0">
                <a:cs typeface="楷体" panose="02010609060101010101" charset="-122"/>
              </a:rPr>
              <a:t>以下</a:t>
            </a:r>
            <a:r>
              <a:rPr lang="en-US" altLang="zh-CN" sz="2000" dirty="0">
                <a:cs typeface="楷体" panose="02010609060101010101" charset="-122"/>
              </a:rPr>
              <a:t>2</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个人所得税起征点各地是否应该相同？对于这一论题，大家众说纷纭。</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评论员甲：全国统一的个人所得税起征点是否公平？对于东部和西部地区，收入水平不完全相同，我认为为了公平起见，个人所得税的起征点应该考虑到各地区收入水平的差距，而不应该是全国统一的。</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研究员乙：各个地区的平均收入水平不一样，如果按照行政区划区别对待，会产生一个问题。比如，如果东部地区抬高了个人所得税起征点，大家都会涌入这些地区，从而影响了劳动力要素流动的市场调节机制，因此。我认为起征点应该全国统一。</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网友丙：一个人去不去东部地区发展，肯定不光考虑个人所得税的起征点，还有其他一些条件，因此个人所得税起征点各地不同不会是人才流动的壁垒。征收个人所得税的一个非常重要的目的，就是调节收入分配。如果高收入地区高起征点，低收入地区低起征点，那么，调节分配的功能就会失效，甚至产生逆向调节的效果。</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17. </a:t>
            </a:r>
            <a:r>
              <a:rPr lang="zh-CN" altLang="en-US" sz="2000" dirty="0">
                <a:cs typeface="楷体" panose="02010609060101010101" charset="-122"/>
              </a:rPr>
              <a:t>以下哪项最为恰当地概括了甲和乙争论的焦点？</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 </a:t>
            </a:r>
            <a:r>
              <a:rPr lang="zh-CN" altLang="en-US" sz="2000" dirty="0">
                <a:cs typeface="楷体" panose="02010609060101010101" charset="-122"/>
              </a:rPr>
              <a:t>个人所得税起征点调整是否弊大于利？</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 </a:t>
            </a:r>
            <a:r>
              <a:rPr lang="zh-CN" altLang="en-US" sz="2000" dirty="0">
                <a:cs typeface="楷体" panose="02010609060101010101" charset="-122"/>
              </a:rPr>
              <a:t>确定个人所得税起征点的标准是单一的还是复合的？</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 </a:t>
            </a:r>
            <a:r>
              <a:rPr lang="zh-CN" altLang="en-US" sz="2000" dirty="0">
                <a:cs typeface="楷体" panose="02010609060101010101" charset="-122"/>
              </a:rPr>
              <a:t>确定个人所得税起征点应该是公平优先还是效果优先？</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 </a:t>
            </a:r>
            <a:r>
              <a:rPr lang="zh-CN" altLang="en-US" sz="2000" dirty="0">
                <a:cs typeface="楷体" panose="02010609060101010101" charset="-122"/>
              </a:rPr>
              <a:t>确定个人所得税起征点是否应该按照行政区划区别对待？</a:t>
            </a:r>
            <a:endParaRPr lang="zh-CN" altLang="en-US" sz="2000" dirty="0">
              <a:cs typeface="楷体" panose="02010609060101010101" charset="-122"/>
            </a:endParaRPr>
          </a:p>
          <a:p>
            <a:pPr indent="0" fontAlgn="auto">
              <a:lnSpc>
                <a:spcPct val="120000"/>
              </a:lnSpc>
            </a:pP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18</a:t>
            </a:r>
            <a:endParaRPr kumimoji="1" lang="en-US" altLang="zh-CN" sz="2800" b="1" dirty="0">
              <a:solidFill>
                <a:srgbClr val="FF653F"/>
              </a:solidFill>
            </a:endParaRPr>
          </a:p>
        </p:txBody>
      </p:sp>
      <p:sp>
        <p:nvSpPr>
          <p:cNvPr id="3" name="文本框 2"/>
          <p:cNvSpPr txBox="1"/>
          <p:nvPr/>
        </p:nvSpPr>
        <p:spPr>
          <a:xfrm>
            <a:off x="462915" y="375285"/>
            <a:ext cx="11460480" cy="5526405"/>
          </a:xfrm>
          <a:prstGeom prst="rect">
            <a:avLst/>
          </a:prstGeom>
          <a:noFill/>
        </p:spPr>
        <p:txBody>
          <a:bodyPr wrap="square" rtlCol="0" anchor="t">
            <a:noAutofit/>
          </a:bodyPr>
          <a:p>
            <a:pPr indent="0" fontAlgn="auto">
              <a:lnSpc>
                <a:spcPct val="120000"/>
              </a:lnSpc>
            </a:pPr>
            <a:r>
              <a:rPr lang="zh-CN" altLang="en-US" sz="2000" dirty="0">
                <a:cs typeface="楷体" panose="02010609060101010101" charset="-122"/>
              </a:rPr>
              <a:t>根据以下材料，回答</a:t>
            </a:r>
            <a:r>
              <a:rPr lang="en-US" altLang="zh-CN" sz="2000" dirty="0">
                <a:cs typeface="楷体" panose="02010609060101010101" charset="-122"/>
              </a:rPr>
              <a:t>34</a:t>
            </a:r>
            <a:r>
              <a:rPr lang="zh-CN" altLang="en-US" sz="2000" dirty="0">
                <a:cs typeface="楷体" panose="02010609060101010101" charset="-122"/>
              </a:rPr>
              <a:t>～</a:t>
            </a:r>
            <a:r>
              <a:rPr lang="en-US" altLang="zh-CN" sz="2000" dirty="0">
                <a:cs typeface="楷体" panose="02010609060101010101" charset="-122"/>
              </a:rPr>
              <a:t>35</a:t>
            </a:r>
            <a:r>
              <a:rPr lang="zh-CN" altLang="en-US" sz="2000" dirty="0">
                <a:cs typeface="楷体" panose="02010609060101010101" charset="-122"/>
              </a:rPr>
              <a:t>题。</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个人所得税起征点各地是否应该相同？对于这一论题，大家众说纷纭。</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评论员甲：全国统一的个人所得税起征点是否公平？对于东部和西部地区，收入水平不完全相同，我认为为了公平起见，个人所得税的起征点应该考虑到各地区收入水平的差距，而不应该是全国统一的。</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研究员乙：各个地区的平均收入水平不一样，如果按照行政区划区别对待，会产生一个问题。比如，如果东部地区抬高了个人所得税起征点，大家都会涌入这些地区，从而影响了劳动力要素流动的市场调节机制，因此。我认为起征点应该全国统一。</a:t>
            </a:r>
            <a:endParaRPr lang="zh-CN" altLang="en-US" sz="2000" dirty="0">
              <a:cs typeface="楷体" panose="02010609060101010101" charset="-122"/>
            </a:endParaRPr>
          </a:p>
          <a:p>
            <a:pPr indent="0" fontAlgn="auto">
              <a:lnSpc>
                <a:spcPct val="120000"/>
              </a:lnSpc>
            </a:pPr>
            <a:r>
              <a:rPr lang="zh-CN" altLang="en-US" sz="2000" dirty="0">
                <a:cs typeface="楷体" panose="02010609060101010101" charset="-122"/>
              </a:rPr>
              <a:t>网友丙：一个人去不去东部地区发展，肯定不光考虑个人所得税的起征点，还有其他一些条件，因此个人所得税起征点各地不同不会是人才流动的壁垒。征收个人所得税的一个非常重要的目的，就是调节收入分配。如果高收入地区高起征点，低收入地区低起征点，那么，调节分配的功能就会失效，甚至产生逆向调节的效果。</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18. </a:t>
            </a:r>
            <a:r>
              <a:rPr lang="zh-CN" altLang="en-US" sz="2000" dirty="0">
                <a:cs typeface="楷体" panose="02010609060101010101" charset="-122"/>
              </a:rPr>
              <a:t>对于丙的论证，下列评价最恰当的是：</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A. </a:t>
            </a:r>
            <a:r>
              <a:rPr lang="zh-CN" altLang="en-US" sz="2000" dirty="0">
                <a:cs typeface="楷体" panose="02010609060101010101" charset="-122"/>
              </a:rPr>
              <a:t>肯定了甲的论据，且支持了甲的结论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B. </a:t>
            </a:r>
            <a:r>
              <a:rPr lang="zh-CN" altLang="en-US" sz="2000" dirty="0">
                <a:cs typeface="楷体" panose="02010609060101010101" charset="-122"/>
              </a:rPr>
              <a:t>肯定了甲的论据，但从一个新的角度，质疑了甲的结论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C. </a:t>
            </a:r>
            <a:r>
              <a:rPr lang="zh-CN" altLang="en-US" sz="2000" dirty="0">
                <a:cs typeface="楷体" panose="02010609060101010101" charset="-122"/>
              </a:rPr>
              <a:t>肯定了乙的论据，且支持了乙的结论</a:t>
            </a:r>
            <a:endParaRPr lang="zh-CN" altLang="en-US" sz="2000" dirty="0">
              <a:cs typeface="楷体" panose="02010609060101010101" charset="-122"/>
            </a:endParaRPr>
          </a:p>
          <a:p>
            <a:pPr indent="0" fontAlgn="auto">
              <a:lnSpc>
                <a:spcPct val="120000"/>
              </a:lnSpc>
            </a:pPr>
            <a:r>
              <a:rPr lang="en-US" altLang="zh-CN" sz="2000" dirty="0">
                <a:cs typeface="楷体" panose="02010609060101010101" charset="-122"/>
              </a:rPr>
              <a:t>D. </a:t>
            </a:r>
            <a:r>
              <a:rPr lang="zh-CN" altLang="en-US" sz="2000" dirty="0">
                <a:cs typeface="楷体" panose="02010609060101010101" charset="-122"/>
              </a:rPr>
              <a:t>否定了乙的论据，但提出了一个新的理由，支持了乙的结论</a:t>
            </a:r>
            <a:endParaRPr lang="zh-CN" altLang="en-US" sz="2000" dirty="0">
              <a:cs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4490</Words>
  <Application>WPS 演示</Application>
  <PresentationFormat>宽屏</PresentationFormat>
  <Paragraphs>198</Paragraphs>
  <Slides>20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宋体</vt:lpstr>
      <vt:lpstr>Wingdings</vt:lpstr>
      <vt:lpstr>楷体</vt:lpstr>
      <vt:lpstr>Wingdings</vt:lpstr>
      <vt:lpstr>微软雅黑</vt:lpstr>
      <vt:lpstr>Arial Unicode MS</vt:lpstr>
      <vt:lpstr>自定义设计方案</vt:lpstr>
      <vt:lpstr>PowerPoint 演示文稿</vt:lpstr>
      <vt:lpstr>题1</vt:lpstr>
      <vt:lpstr>题2</vt:lpstr>
      <vt:lpstr>题3</vt:lpstr>
      <vt:lpstr>题4</vt:lpstr>
      <vt:lpstr>题5</vt:lpstr>
      <vt:lpstr>题6</vt:lpstr>
      <vt:lpstr>题7</vt:lpstr>
      <vt:lpstr>题8</vt:lpstr>
      <vt:lpstr>题9</vt:lpstr>
      <vt:lpstr>题10</vt:lpstr>
      <vt:lpstr>题11</vt:lpstr>
      <vt:lpstr>题12</vt:lpstr>
      <vt:lpstr>题13</vt:lpstr>
      <vt:lpstr>题14</vt:lpstr>
      <vt:lpstr>题15</vt:lpstr>
      <vt:lpstr>题16</vt:lpstr>
      <vt:lpstr>题17</vt:lpstr>
      <vt:lpstr>题18</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227</cp:revision>
  <dcterms:created xsi:type="dcterms:W3CDTF">2019-06-19T02:08:00Z</dcterms:created>
  <dcterms:modified xsi:type="dcterms:W3CDTF">2026-01-13T12:06:40Z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