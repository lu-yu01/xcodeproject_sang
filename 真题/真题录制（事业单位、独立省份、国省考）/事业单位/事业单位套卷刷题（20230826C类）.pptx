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1620" r:id="rId3"/>
    <p:sldId id="1584" r:id="rId5"/>
    <p:sldId id="1585" r:id="rId6"/>
    <p:sldId id="1586" r:id="rId7"/>
    <p:sldId id="1589" r:id="rId8"/>
    <p:sldId id="1590" r:id="rId9"/>
    <p:sldId id="1596" r:id="rId10"/>
    <p:sldId id="1600" r:id="rId11"/>
    <p:sldId id="1601" r:id="rId12"/>
    <p:sldId id="1604" r:id="rId13"/>
    <p:sldId id="1607" r:id="rId14"/>
    <p:sldId id="1610" r:id="rId15"/>
    <p:sldId id="1621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7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7" name="李鹏飞_6bQfzI3a" initials="李" lastIdx="0" clrIdx="0"/>
  <p:cmAuthor id="8" name="小珞_QjMfU7FR" initials="小" lastIdx="0" clrIdx="0"/>
  <p:cmAuthor id="9" name="骆倩怡_Znauj26B" initials="authorId_382814100" lastIdx="0" clrIdx="0"/>
  <p:cmAuthor id="249246244" name="桑桑" initials="桑" lastIdx="1" clrIdx="0"/>
  <p:cmAuthor id="10" name="caoyue" initials="c" lastIdx="1" clrIdx="9"/>
  <p:cmAuthor id="12" name="18309297108" initials="1" lastIdx="1" clrIdx="11"/>
  <p:cmAuthor id="13" name="xmiles" initials="x" lastIdx="1" clrIdx="12"/>
  <p:cmAuthor id="2001" name="Microsoft Office User" initials="MOU" lastIdx="1" clrIdx="2"/>
  <p:cmAuthor id="11" name="ibm" initials="i" lastIdx="5" clrIdx="10"/>
  <p:cmAuthor id="14" name="kobe" initials="k" lastIdx="1" clrIdx="13"/>
  <p:cmAuthor id="15" name="MIAI" initials="M" lastIdx="1" clrIdx="14"/>
  <p:cmAuthor id="16" name="HP" initials="H" lastIdx="1" clrIdx="15"/>
  <p:cmAuthor id="17" name="yangyaqin" initials="y" lastIdx="1" clrIdx="16"/>
  <p:cmAuthor id="18" name="ASUS" initials="A" lastIdx="1" clrIdx="1"/>
  <p:cmAuthor id="76" name="Yongqiang ZHOU" initials="YZ" lastIdx="1" clrIdx="25"/>
  <p:cmAuthor id="2000" name="Beck_jUrevum2" initials="authorId_724972424" lastIdx="0" clrIdx="0"/>
  <p:cmAuthor id="1483810881" name="WPS_1679281038" initials="W" lastIdx="1" clrIdx="2"/>
  <p:cmAuthor id="25" name="小蕊" initials="小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2"/>
        <p:guide pos="379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5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解析：本题属于重构类，主要考查截面图。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项：如下图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所示，经过上方四棱锥的顶点斜切于下底面，切到正方体，即可得到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项：如下图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所示，在立体图一侧，从四棱锥侧面选择与底面平行的直线，垂直于下底面切到正方体，即可得到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项：如下图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所示，水平方向切上方四棱锥即可得到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项：从任何方向切开，都得不到该截面，当选。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本题为选非题，故正确答案为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4.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解析：本题属于重构类，主要考查三视图。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主视图是立体图从前向后观察，根据原图有线就有线，原图没线就没线的原则，主视图应只有四个小方块，且小方块内部无直线，排除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两项。左视图是立体图从左向右观察，如下图所示，立体图中箭头指向的位置无实竖线，则左视图中该位置也应无实线，排除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5.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解析：本题属于重构类，主要考查三视图。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通过左侧大正方体仅能观察到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个灰色正方体的位置，将其可见部分移开后，被遮挡了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8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个方块，结合选项，剩余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个灰色正方体均在棱上，可能情况如下：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项：该图为大正方体由下而上观察到的视图，剩余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个灰色正方体的排布为第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种情况，可能为真，排除；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项：该图为大正方体上下翻转后的右视图，剩余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个灰色正方体的排布为第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种情况，可能为真，排除；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项：该图为大正方体的左视图，剩余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个灰色正方体的排布为第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种情况，但其余灰色正方体的排布应该如下图所示，不可能为真，当选；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项：该图为大正方体向后翻转一个面后的左视图，剩余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个灰色正方体的排布为第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种情况，可能为真，排除；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本题为选非题，故正确答案为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7.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解析：本题属于定义判断。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进行决策时要统筹考虑各环节，不可有所偏失，尤其要注重薄弱环节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项：小李在制定旅游计划时，对交通、饮食、住宿、景点、应急等方面一一做好了攻略，符合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进行决策时要统筹考虑各环节，不可有所偏失，尤其要注重薄弱环节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项：教练在布置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4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×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米接力比赛策略时，考虑把相对实力最弱的队员放在第二棒的位置，符合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进行决策时要统筹考虑各环节，不可有所偏失，尤其要注重薄弱环节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项：某电竞选手利用自身对电竞领域的了解，退役后组建队伍继续从事相关工作，属于利用自身优势开展工作，并未涉及统筹考虑各个环节，也未体现注重薄弱环节，不符合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进行决策时要统筹考虑各环节，不可有所偏失，尤其要注重薄弱环节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，不符合定义，当选；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项：某通讯企业组建了覆盖全球的卫星通讯网络，但没有考虑到电话设备及通话费用过高，用户难以承担，最终导致企业破产，从反面证明了进行决策时一定要综合考量，考虑到每一个环节，符合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进行决策时要统筹考虑各环节，不可有所偏失，尤其要注重薄弱环节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，符合定义，排除。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本题为选非题，故正确答案为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8.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解析：本题属于定义判断。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存在论域中的元素（或对象）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y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xRy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并且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yRx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都成立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存在论域中的元素（或对象）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mRn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成立但是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nRm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不成立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项：如果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是亲戚，那么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一定是亲戚，不符合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存在论域中的元素（或对象）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mRn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成立但是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nRm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不成立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，不符合定义，排除；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项：如果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抚养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，那么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一定不抚养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存在论域中的元素（或对象）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y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xRy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并且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yRx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都成立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，不符合定义，排除；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项：如果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的祖父，那么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一定是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的孙子，不符合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存在论域中的元素（或对象）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y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xRy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并且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yRx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都成立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，不符合定义，排除；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项：如果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尊重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可能尊重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也可能不尊重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存在论域中的元素（或对象）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y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xRy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并且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yRx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都成立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存在论域中的元素（或对象）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mRn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成立但是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nRm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不成立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，符合定义，当选。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14.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解析：本题属于集合类，主要考查并列关系。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浇筑和榫卯均是建造房屋的技术，后两词为并列关系，与第一词为应用对象与技术的对应关系。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项：零件是机器的组成部分，二者为组成关系；组装机器，二者为动宾关系，与题干逻辑关系不一致，排除；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项：有线和蓝牙均是键盘连接设备的方式，后两词为并列关系，与第一词为应用对象与技术的对应关系，与题干逻辑关系一致，当选；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项：焊接是一种管道的连接方式，螺栓是一种机械零件，二者不是并列关系，与题干逻辑关系不一致，排除；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项：家具和窗帘均是软装，后两词为并列关系，与第一词为种属关系，与题干逻辑关系不一致，排除。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浇筑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是将流动性材料（如混凝土、砂浆、金属熔液等）注入预先设置的模具（模板）中，经凝固硬化后形成特定形状结构或制品的工艺过程，核心应用于建筑、工程、制造等领域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榫卯（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s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n m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o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是中国传统木作中无需钉子、螺丝等金属紧固件，通过木材构件的凹凸结构相互咬合、固定连接的工艺技术，是中式建筑、家具的核心构造方式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18.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解析：本题属于集合类，主要考查交叉关系。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直筒裤是按照裤子款式划分，九分裤是按照裤子长度划分，牛仔裤是按照裤子材质划分，三者两两互为交叉关系。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项：收音机、电视机、录音机都是家电的一种，三者为并列关系，与题干逻辑关系不一致，排除；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项：电动车是按照汽车动力系统划分，国产车是按照汽车生产地划分，小轿车是按照汽车容量划分（小轿车指的是载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人及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人以下的小车），三者两两互为交叉关系，与题干逻辑关系一致，当选；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项：剃须刀、理发器、吹风机都是美容器具的一种，三者为并列关系，与题干逻辑关系不一致，排除；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项：圣女果指小西红柿，是西红柿的一种，二者为种属关系；圣女果又称小番茄，二者为全同关系，与题干逻辑关系不一致，排除。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19.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解析：本题属于集合类，主要考查交叉关系。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三个集合之间互为交叉关系。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项：古树、名木都是树木的一种，二者与树木均为种属关系，与题干逻辑关系不一致，排除；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项：果树是按照树木果实划分，阔叶树是按照树木叶子形态划分，二者为交叉关系；梨树是果树，二者为种属关系，与题干逻辑关系不一致，排除；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项：正方形和矩形都是特殊的平行四边形，二者与平行四边形均为种属关系，与题干逻辑关系不一致，排除；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项：有的正整数是能被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整除的数，有的正整数不是能被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整除的数，有的能被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整除的数是正整数，有的能被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整除的数不是正整数，二者为交叉关系；有的能被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整除的数是偶数，有的能被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整除的数不是偶数，有的偶数是能被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整除的数，有的偶数不是能被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整除的数，二者为交叉关系；有的正整数是偶数，有的正整数不是偶数，有的偶数是正整数，有的偶数不是正整数，二者为交叉关系；与题干逻辑关系一致，当选。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22.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解析：本题属于原因解释。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某市价格监测数据显示：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2023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日，该市粮油米面、肉蛋、水果价格基本稳定，但当日部分蔬菜价格上涨明显，黄瓜、茄子、西红柿、青辣椒、芸豆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种蔬菜较一周前价格上涨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1-2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元不等。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项：选项说明本周有新的蔬菜上市，其品质明显提高，但是新上市的蔬菜是否为上述几种蔬菜不明确，无法解释题干现象，排除；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项：选项说明上周受冷空气影响，绿叶类蔬菜价格看涨，但是题干中价格上涨的蔬菜均不是绿叶类蔬菜，无法解释题干现象，排除；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项：选项说明本周节日效应减退，居民蔬菜需求量减少，但是不能解释为什么只有上述几种蔬菜价格上涨，无法解释题干现象，排除；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项：选项说明天气原因影响了物流，上述蔬菜的供应受到影响，供应量减少可以解释上述几种蔬菜价格上涨明显这一现象，可以解释题干现象，当选。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25.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解析：本题属于论证类。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论点：短视频电商已成为图书零售的最重要渠道。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论据：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2022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年我国图书零售市场全部图书定价总额规模为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871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亿元。从不同渠道零售图书市场看，实体店渠道零售图书市场定价总额同比下降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37.22%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；平台电商同比下降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16.06%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；短视频电商实现正增长，同比上升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42.86%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论点讨论的是短视频电商是图书销售中最重要的渠道，论据讨论的是短视频电商图书定价额度的上升比例是最高的，论点论据话题不一致，优先考虑拆桥。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项：该项说明全部图书的定价总额比例在下降，论点讨论的是短视频电商是否是图书销售中最重要的渠道，话题不一致，无关项，排除；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2021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年在零售图书定价总额占比中，平台电商占比超过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50%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，短视频电商占比最低，即虽然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2022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年短视频电商图书定价额度的上升比例是最高的，但因其基础定价总额较低，所以短视频电商未必会成为图书零售的最重要渠道，为拆桥项，可以削弱，当选；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2022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年，在我国图书零售市场中，平台电商和实体店渠道各自的资产总额均比短视频电商高，但是资产总额只能说明平台电商和实体店渠道的市场价值，无法说明其是否是最重要的图书零售渠道，无关项，排除；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2022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年，平台电商和实体店渠道品种规模均比短视频电商品种规模大，但品种规模只能说明平台电商和实体店渠道覆盖的领域广，无法说明其是否是最重要的图书零售渠道，无关项，排除。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28.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解析：本题属于分析推理。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甲或乙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甲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→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丙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－乙或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-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丙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题干条件均为不确定信息，无法直接推理，可进行假设。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假设一：若投资甲，结合条件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可得，投资丙；再结合条件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或关系否一推一可得，不投资乙，故该假设下的投资情况为投资甲、投资丙、不投资乙。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假设二：若不投资甲，结合条件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否一推一可得，投资乙；再结合条件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否一推一可得，不投资丙，故该假设下的投资情况为不投资甲和丙、投资乙。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结合全部假设可知：无论投资甲还是不投资甲，甲、乙都只能选择其中一种投资，只有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5" name="图片 4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8" name="图片 7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07628" y="2367459"/>
            <a:ext cx="6576647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年下半年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类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真题解析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5016" y="461242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925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666115"/>
            <a:ext cx="1118362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楷体" panose="02010609060101010101" charset="-122"/>
              </a:rPr>
              <a:t>下面给定的立体模型，以下哪个选项不可能是该立体模型的截面？（</a:t>
            </a:r>
            <a:r>
              <a:rPr lang="en-US" altLang="zh-CN" sz="2000" dirty="0">
                <a:cs typeface="楷体" panose="02010609060101010101" charset="-122"/>
              </a:rPr>
              <a:t>  </a:t>
            </a:r>
            <a:r>
              <a:rPr lang="zh-CN" altLang="en-US" sz="2000" dirty="0">
                <a:cs typeface="楷体" panose="02010609060101010101" charset="-122"/>
              </a:rPr>
              <a:t>）</a:t>
            </a:r>
            <a:endParaRPr lang="zh-CN" altLang="en-US" sz="2000" dirty="0">
              <a:cs typeface="楷体" panose="02010609060101010101" charset="-122"/>
            </a:endParaRPr>
          </a:p>
        </p:txBody>
      </p:sp>
      <p:pic>
        <p:nvPicPr>
          <p:cNvPr id="536" name="图片 2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815" y="1467485"/>
            <a:ext cx="9481185" cy="3224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8" name="图片 2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975" y="4826000"/>
            <a:ext cx="8019415" cy="1901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2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1134999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楷体" panose="02010609060101010101" charset="-122"/>
              </a:rPr>
              <a:t>下面给定的立体模型，其主视图和左视图均正确的是（</a:t>
            </a:r>
            <a:r>
              <a:rPr lang="en-US" altLang="zh-CN" sz="2000" dirty="0">
                <a:cs typeface="楷体" panose="02010609060101010101" charset="-122"/>
              </a:rPr>
              <a:t>  </a:t>
            </a:r>
            <a:r>
              <a:rPr lang="zh-CN" altLang="en-US" sz="2000" dirty="0">
                <a:cs typeface="楷体" panose="02010609060101010101" charset="-122"/>
              </a:rPr>
              <a:t>）。</a:t>
            </a:r>
            <a:endParaRPr lang="zh-CN" altLang="en-US" sz="2000" dirty="0">
              <a:cs typeface="楷体" panose="02010609060101010101" charset="-122"/>
            </a:endParaRPr>
          </a:p>
        </p:txBody>
      </p:sp>
      <p:pic>
        <p:nvPicPr>
          <p:cNvPr id="537" name="图片 2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845" y="1622425"/>
            <a:ext cx="8406130" cy="4191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0095" y="0"/>
            <a:ext cx="10515600" cy="708025"/>
          </a:xfrm>
        </p:spPr>
        <p:txBody>
          <a:bodyPr>
            <a:normAutofit/>
          </a:bodyPr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3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1110996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楷体" panose="02010609060101010101" charset="-122"/>
              </a:rPr>
              <a:t>下方左图为由</a:t>
            </a:r>
            <a:r>
              <a:rPr lang="en-US" altLang="zh-CN" sz="2000" dirty="0">
                <a:cs typeface="楷体" panose="02010609060101010101" charset="-122"/>
              </a:rPr>
              <a:t>6</a:t>
            </a:r>
            <a:r>
              <a:rPr lang="zh-CN" altLang="en-US" sz="2000" dirty="0">
                <a:cs typeface="楷体" panose="02010609060101010101" charset="-122"/>
              </a:rPr>
              <a:t>个灰色、</a:t>
            </a:r>
            <a:r>
              <a:rPr lang="en-US" altLang="zh-CN" sz="2000" dirty="0">
                <a:cs typeface="楷体" panose="02010609060101010101" charset="-122"/>
              </a:rPr>
              <a:t>21</a:t>
            </a:r>
            <a:r>
              <a:rPr lang="zh-CN" altLang="en-US" sz="2000" dirty="0">
                <a:cs typeface="楷体" panose="02010609060101010101" charset="-122"/>
              </a:rPr>
              <a:t>个白色正方体粘接成的大正方体的某个视图，且右边</a:t>
            </a:r>
            <a:r>
              <a:rPr lang="en-US" altLang="zh-CN" sz="2000" dirty="0">
                <a:cs typeface="楷体" panose="02010609060101010101" charset="-122"/>
              </a:rPr>
              <a:t>4</a:t>
            </a:r>
            <a:r>
              <a:rPr lang="zh-CN" altLang="en-US" sz="2000" dirty="0">
                <a:cs typeface="楷体" panose="02010609060101010101" charset="-122"/>
              </a:rPr>
              <a:t>个图形中仅有</a:t>
            </a:r>
            <a:r>
              <a:rPr lang="en-US" altLang="zh-CN" sz="2000" dirty="0">
                <a:cs typeface="楷体" panose="02010609060101010101" charset="-122"/>
              </a:rPr>
              <a:t>1</a:t>
            </a:r>
            <a:r>
              <a:rPr lang="zh-CN" altLang="en-US" sz="2000" dirty="0">
                <a:cs typeface="楷体" panose="02010609060101010101" charset="-122"/>
              </a:rPr>
              <a:t>个不可能是该正方体的其他视图，该图形是（</a:t>
            </a:r>
            <a:r>
              <a:rPr lang="en-US" altLang="zh-CN" sz="2000" dirty="0">
                <a:cs typeface="楷体" panose="02010609060101010101" charset="-122"/>
              </a:rPr>
              <a:t>  </a:t>
            </a:r>
            <a:r>
              <a:rPr lang="zh-CN" altLang="en-US" sz="2000" dirty="0">
                <a:cs typeface="楷体" panose="02010609060101010101" charset="-122"/>
              </a:rPr>
              <a:t>）。</a:t>
            </a:r>
            <a:endParaRPr lang="zh-CN" altLang="en-US" sz="2000" dirty="0">
              <a:cs typeface="楷体" panose="02010609060101010101" charset="-122"/>
            </a:endParaRPr>
          </a:p>
        </p:txBody>
      </p:sp>
      <p:pic>
        <p:nvPicPr>
          <p:cNvPr id="538" name="图片 2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879600"/>
            <a:ext cx="9566910" cy="22148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4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1115568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cs typeface="楷体" panose="02010609060101010101" charset="-122"/>
              </a:rPr>
              <a:t>氨基酸组合效应原为生物学领域内的概念，是说组成人体蛋白的八种氨基酸，只要有一种含量不足，其他七种就无法合成蛋白质。当这一理念运用到管理学中，意思是说在进行决策时要统筹考虑各环节，不可有所偏失，尤其要注重薄弱环节。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cs typeface="楷体" panose="02010609060101010101" charset="-122"/>
              </a:rPr>
              <a:t>根据上述定义，下列没有体现氨基酸组合效应的是（</a:t>
            </a:r>
            <a:r>
              <a:rPr lang="en-US" altLang="zh-CN" sz="2200" dirty="0">
                <a:cs typeface="楷体" panose="02010609060101010101" charset="-122"/>
              </a:rPr>
              <a:t>  </a:t>
            </a:r>
            <a:r>
              <a:rPr lang="zh-CN" altLang="en-US" sz="2200" dirty="0">
                <a:cs typeface="楷体" panose="02010609060101010101" charset="-122"/>
              </a:rPr>
              <a:t>）。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A.</a:t>
            </a:r>
            <a:r>
              <a:rPr lang="zh-CN" altLang="en-US" sz="2200" dirty="0">
                <a:cs typeface="楷体" panose="02010609060101010101" charset="-122"/>
              </a:rPr>
              <a:t>小李在制定旅游计划时，对交通、饮食、住宿、景点、应急等方面一一做好了攻略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B.</a:t>
            </a:r>
            <a:r>
              <a:rPr lang="zh-CN" altLang="en-US" sz="2200" dirty="0">
                <a:cs typeface="楷体" panose="02010609060101010101" charset="-122"/>
              </a:rPr>
              <a:t>教练在布置</a:t>
            </a:r>
            <a:r>
              <a:rPr lang="en-US" altLang="zh-CN" sz="2200" dirty="0">
                <a:cs typeface="楷体" panose="02010609060101010101" charset="-122"/>
              </a:rPr>
              <a:t>4</a:t>
            </a:r>
            <a:r>
              <a:rPr lang="en-US" altLang="en-US" sz="2200" dirty="0">
                <a:cs typeface="楷体" panose="02010609060101010101" charset="-122"/>
              </a:rPr>
              <a:t>×</a:t>
            </a:r>
            <a:r>
              <a:rPr lang="en-US" altLang="zh-CN" sz="2200" dirty="0">
                <a:cs typeface="楷体" panose="02010609060101010101" charset="-122"/>
              </a:rPr>
              <a:t>100</a:t>
            </a:r>
            <a:r>
              <a:rPr lang="zh-CN" altLang="en-US" sz="2200" dirty="0">
                <a:cs typeface="楷体" panose="02010609060101010101" charset="-122"/>
              </a:rPr>
              <a:t>米接力比赛策略时，考虑把相对实力最弱的队员放在第二棒的位置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C.</a:t>
            </a:r>
            <a:r>
              <a:rPr lang="zh-CN" altLang="en-US" sz="2200" dirty="0">
                <a:cs typeface="楷体" panose="02010609060101010101" charset="-122"/>
              </a:rPr>
              <a:t>某电竞选手退役后组建了自己的电竞队伍，打算利用自身对电竞领域的了解，继续从事电竞行业相关工作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D.</a:t>
            </a:r>
            <a:r>
              <a:rPr lang="zh-CN" altLang="en-US" sz="2200" dirty="0">
                <a:cs typeface="楷体" panose="02010609060101010101" charset="-122"/>
              </a:rPr>
              <a:t>某通讯企业组建了覆盖全球的卫星通讯网络，但因电话设备及通话费用过高，用户难以承担，最终企业破产</a:t>
            </a:r>
            <a:endParaRPr lang="zh-CN" altLang="en-US" sz="22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74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5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1116457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R</a:t>
            </a:r>
            <a:r>
              <a:rPr lang="zh-CN" altLang="en-US" sz="2400" dirty="0">
                <a:cs typeface="楷体" panose="02010609060101010101" charset="-122"/>
              </a:rPr>
              <a:t>关系的非对称性指的是存在论域中的元素（或对象）</a:t>
            </a:r>
            <a:r>
              <a:rPr lang="en-US" altLang="zh-CN" sz="2400" dirty="0">
                <a:cs typeface="楷体" panose="02010609060101010101" charset="-122"/>
              </a:rPr>
              <a:t>x</a:t>
            </a:r>
            <a:r>
              <a:rPr lang="zh-CN" altLang="en-US" sz="2400" dirty="0">
                <a:cs typeface="楷体" panose="02010609060101010101" charset="-122"/>
              </a:rPr>
              <a:t>、</a:t>
            </a:r>
            <a:r>
              <a:rPr lang="en-US" altLang="zh-CN" sz="2400" dirty="0">
                <a:cs typeface="楷体" panose="02010609060101010101" charset="-122"/>
              </a:rPr>
              <a:t>y</a:t>
            </a:r>
            <a:r>
              <a:rPr lang="zh-CN" altLang="en-US" sz="2400" dirty="0">
                <a:cs typeface="楷体" panose="02010609060101010101" charset="-122"/>
              </a:rPr>
              <a:t>，</a:t>
            </a:r>
            <a:r>
              <a:rPr lang="en-US" altLang="zh-CN" sz="2400" dirty="0">
                <a:cs typeface="楷体" panose="02010609060101010101" charset="-122"/>
              </a:rPr>
              <a:t>xRy</a:t>
            </a:r>
            <a:r>
              <a:rPr lang="zh-CN" altLang="en-US" sz="2400" dirty="0">
                <a:cs typeface="楷体" panose="02010609060101010101" charset="-122"/>
              </a:rPr>
              <a:t>并且</a:t>
            </a:r>
            <a:r>
              <a:rPr lang="en-US" altLang="zh-CN" sz="2400" dirty="0">
                <a:cs typeface="楷体" panose="02010609060101010101" charset="-122"/>
              </a:rPr>
              <a:t>yRx</a:t>
            </a:r>
            <a:r>
              <a:rPr lang="zh-CN" altLang="en-US" sz="2400" dirty="0">
                <a:cs typeface="楷体" panose="02010609060101010101" charset="-122"/>
              </a:rPr>
              <a:t>都成立；也存在论域中的元素（或对象）</a:t>
            </a:r>
            <a:r>
              <a:rPr lang="en-US" altLang="zh-CN" sz="2400" dirty="0">
                <a:cs typeface="楷体" panose="02010609060101010101" charset="-122"/>
              </a:rPr>
              <a:t>m</a:t>
            </a:r>
            <a:r>
              <a:rPr lang="zh-CN" altLang="en-US" sz="2400" dirty="0">
                <a:cs typeface="楷体" panose="02010609060101010101" charset="-122"/>
              </a:rPr>
              <a:t>、</a:t>
            </a:r>
            <a:r>
              <a:rPr lang="en-US" altLang="zh-CN" sz="2400" dirty="0">
                <a:cs typeface="楷体" panose="02010609060101010101" charset="-122"/>
              </a:rPr>
              <a:t>n</a:t>
            </a:r>
            <a:r>
              <a:rPr lang="zh-CN" altLang="en-US" sz="2400" dirty="0">
                <a:cs typeface="楷体" panose="02010609060101010101" charset="-122"/>
              </a:rPr>
              <a:t>，</a:t>
            </a:r>
            <a:r>
              <a:rPr lang="en-US" altLang="zh-CN" sz="2400" dirty="0">
                <a:cs typeface="楷体" panose="02010609060101010101" charset="-122"/>
              </a:rPr>
              <a:t>mRn</a:t>
            </a:r>
            <a:r>
              <a:rPr lang="zh-CN" altLang="en-US" sz="2400" dirty="0">
                <a:cs typeface="楷体" panose="02010609060101010101" charset="-122"/>
              </a:rPr>
              <a:t>成立但是</a:t>
            </a:r>
            <a:r>
              <a:rPr lang="en-US" altLang="zh-CN" sz="2400" dirty="0">
                <a:cs typeface="楷体" panose="02010609060101010101" charset="-122"/>
              </a:rPr>
              <a:t>nRm</a:t>
            </a:r>
            <a:r>
              <a:rPr lang="zh-CN" altLang="en-US" sz="2400" dirty="0">
                <a:cs typeface="楷体" panose="02010609060101010101" charset="-122"/>
              </a:rPr>
              <a:t>不成立。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根据上述定义，以下哪项中的关系具有非对称性？（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以所有人作为论域的亲戚关系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以所有人作为论域的抚养关系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以所有人作为论域的祖孙关系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以所有人作为论域的尊重关系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6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0235" y="701675"/>
            <a:ext cx="111925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房屋：浇筑：榫卯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零件：机器：组装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键盘：有线：蓝牙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管道：焊接：螺栓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软装：家具：窗帘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7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1040765"/>
            <a:ext cx="8601710" cy="5193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直筒裤：九分裤：牛仔裤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收音机：电视机：录音机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电动车：国产车：小轿车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剃须刀：理发器：吹风机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圣女果：西红柿：小番茄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8</a:t>
            </a:r>
            <a:endParaRPr kumimoji="1" lang="en-US" altLang="zh-CN" sz="2800" b="1" dirty="0">
              <a:solidFill>
                <a:srgbClr val="FF653F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1071245"/>
            <a:ext cx="10688320" cy="5156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如果用一个圆来表示一个词语所指称的对象的集合，那么以下哪项中三个词语之间的关系符合下图？（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树木，古树，名木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果树，阔叶树，梨树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正方形，矩形，平行四边形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正整数，能被</a:t>
            </a:r>
            <a:r>
              <a:rPr lang="en-US" altLang="zh-CN" sz="2400" dirty="0">
                <a:cs typeface="楷体" panose="02010609060101010101" charset="-122"/>
              </a:rPr>
              <a:t>3</a:t>
            </a:r>
            <a:r>
              <a:rPr lang="zh-CN" altLang="en-US" sz="2400" dirty="0">
                <a:cs typeface="楷体" panose="02010609060101010101" charset="-122"/>
              </a:rPr>
              <a:t>整除的数，偶数</a:t>
            </a:r>
            <a:endParaRPr lang="zh-CN" altLang="en-US" sz="2400" dirty="0">
              <a:cs typeface="楷体" panose="02010609060101010101" charset="-122"/>
            </a:endParaRPr>
          </a:p>
        </p:txBody>
      </p:sp>
      <p:pic>
        <p:nvPicPr>
          <p:cNvPr id="539" name="图片 2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0940" y="2469515"/>
            <a:ext cx="2430780" cy="19189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9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65810"/>
            <a:ext cx="11206480" cy="5017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某市价格监测数据显示：</a:t>
            </a:r>
            <a:r>
              <a:rPr lang="en-US" altLang="zh-CN" sz="2400" dirty="0">
                <a:cs typeface="楷体" panose="02010609060101010101" charset="-122"/>
              </a:rPr>
              <a:t>2023</a:t>
            </a:r>
            <a:r>
              <a:rPr lang="zh-CN" altLang="en-US" sz="2400" dirty="0">
                <a:cs typeface="楷体" panose="02010609060101010101" charset="-122"/>
              </a:rPr>
              <a:t>年</a:t>
            </a:r>
            <a:r>
              <a:rPr lang="en-US" altLang="zh-CN" sz="2400" dirty="0">
                <a:cs typeface="楷体" panose="02010609060101010101" charset="-122"/>
              </a:rPr>
              <a:t>2</a:t>
            </a:r>
            <a:r>
              <a:rPr lang="zh-CN" altLang="en-US" sz="2400" dirty="0">
                <a:cs typeface="楷体" panose="02010609060101010101" charset="-122"/>
              </a:rPr>
              <a:t>月</a:t>
            </a:r>
            <a:r>
              <a:rPr lang="en-US" altLang="zh-CN" sz="2400" dirty="0">
                <a:cs typeface="楷体" panose="02010609060101010101" charset="-122"/>
              </a:rPr>
              <a:t>17</a:t>
            </a:r>
            <a:r>
              <a:rPr lang="zh-CN" altLang="en-US" sz="2400" dirty="0">
                <a:cs typeface="楷体" panose="02010609060101010101" charset="-122"/>
              </a:rPr>
              <a:t>日，该市粮油米面、肉蛋、水果价格基本稳定；当日部分蔬菜价格上涨明显，黄瓜、茄子、西红柿、青辣椒、芸豆</a:t>
            </a:r>
            <a:r>
              <a:rPr lang="en-US" altLang="zh-CN" sz="2400" dirty="0">
                <a:cs typeface="楷体" panose="02010609060101010101" charset="-122"/>
              </a:rPr>
              <a:t>5</a:t>
            </a:r>
            <a:r>
              <a:rPr lang="zh-CN" altLang="en-US" sz="2400" dirty="0">
                <a:cs typeface="楷体" panose="02010609060101010101" charset="-122"/>
              </a:rPr>
              <a:t>种蔬菜价格分别是</a:t>
            </a:r>
            <a:r>
              <a:rPr lang="en-US" altLang="zh-CN" sz="2400" dirty="0">
                <a:cs typeface="楷体" panose="02010609060101010101" charset="-122"/>
              </a:rPr>
              <a:t>4.98</a:t>
            </a:r>
            <a:r>
              <a:rPr lang="zh-CN" altLang="en-US" sz="2400" dirty="0">
                <a:cs typeface="楷体" panose="02010609060101010101" charset="-122"/>
              </a:rPr>
              <a:t>元</a:t>
            </a:r>
            <a:r>
              <a:rPr lang="en-US" altLang="zh-CN" sz="2400" dirty="0">
                <a:cs typeface="楷体" panose="02010609060101010101" charset="-122"/>
              </a:rPr>
              <a:t>/</a:t>
            </a:r>
            <a:r>
              <a:rPr lang="zh-CN" altLang="en-US" sz="2400" dirty="0">
                <a:cs typeface="楷体" panose="02010609060101010101" charset="-122"/>
              </a:rPr>
              <a:t>斤、</a:t>
            </a:r>
            <a:r>
              <a:rPr lang="en-US" altLang="zh-CN" sz="2400" dirty="0">
                <a:cs typeface="楷体" panose="02010609060101010101" charset="-122"/>
              </a:rPr>
              <a:t>5.98</a:t>
            </a:r>
            <a:r>
              <a:rPr lang="zh-CN" altLang="en-US" sz="2400" dirty="0">
                <a:cs typeface="楷体" panose="02010609060101010101" charset="-122"/>
              </a:rPr>
              <a:t>元</a:t>
            </a:r>
            <a:r>
              <a:rPr lang="en-US" altLang="zh-CN" sz="2400" dirty="0">
                <a:cs typeface="楷体" panose="02010609060101010101" charset="-122"/>
              </a:rPr>
              <a:t>/</a:t>
            </a:r>
            <a:r>
              <a:rPr lang="zh-CN" altLang="en-US" sz="2400" dirty="0">
                <a:cs typeface="楷体" panose="02010609060101010101" charset="-122"/>
              </a:rPr>
              <a:t>斤、</a:t>
            </a:r>
            <a:r>
              <a:rPr lang="en-US" altLang="zh-CN" sz="2400" dirty="0">
                <a:cs typeface="楷体" panose="02010609060101010101" charset="-122"/>
              </a:rPr>
              <a:t>4.98</a:t>
            </a:r>
            <a:r>
              <a:rPr lang="zh-CN" altLang="en-US" sz="2400" dirty="0">
                <a:cs typeface="楷体" panose="02010609060101010101" charset="-122"/>
              </a:rPr>
              <a:t>元</a:t>
            </a:r>
            <a:r>
              <a:rPr lang="en-US" altLang="zh-CN" sz="2400" dirty="0">
                <a:cs typeface="楷体" panose="02010609060101010101" charset="-122"/>
              </a:rPr>
              <a:t>/</a:t>
            </a:r>
            <a:r>
              <a:rPr lang="zh-CN" altLang="en-US" sz="2400" dirty="0">
                <a:cs typeface="楷体" panose="02010609060101010101" charset="-122"/>
              </a:rPr>
              <a:t>斤、</a:t>
            </a:r>
            <a:r>
              <a:rPr lang="en-US" altLang="zh-CN" sz="2400" dirty="0">
                <a:cs typeface="楷体" panose="02010609060101010101" charset="-122"/>
              </a:rPr>
              <a:t>5.98</a:t>
            </a:r>
            <a:r>
              <a:rPr lang="zh-CN" altLang="en-US" sz="2400" dirty="0">
                <a:cs typeface="楷体" panose="02010609060101010101" charset="-122"/>
              </a:rPr>
              <a:t>元</a:t>
            </a:r>
            <a:r>
              <a:rPr lang="en-US" altLang="zh-CN" sz="2400" dirty="0">
                <a:cs typeface="楷体" panose="02010609060101010101" charset="-122"/>
              </a:rPr>
              <a:t>/</a:t>
            </a:r>
            <a:r>
              <a:rPr lang="zh-CN" altLang="en-US" sz="2400" dirty="0">
                <a:cs typeface="楷体" panose="02010609060101010101" charset="-122"/>
              </a:rPr>
              <a:t>斤、</a:t>
            </a:r>
            <a:r>
              <a:rPr lang="en-US" altLang="zh-CN" sz="2400" dirty="0">
                <a:cs typeface="楷体" panose="02010609060101010101" charset="-122"/>
              </a:rPr>
              <a:t>9.98</a:t>
            </a:r>
            <a:r>
              <a:rPr lang="zh-CN" altLang="en-US" sz="2400" dirty="0">
                <a:cs typeface="楷体" panose="02010609060101010101" charset="-122"/>
              </a:rPr>
              <a:t>元</a:t>
            </a:r>
            <a:r>
              <a:rPr lang="en-US" altLang="zh-CN" sz="2400" dirty="0">
                <a:cs typeface="楷体" panose="02010609060101010101" charset="-122"/>
              </a:rPr>
              <a:t>/</a:t>
            </a:r>
            <a:r>
              <a:rPr lang="zh-CN" altLang="en-US" sz="2400" dirty="0">
                <a:cs typeface="楷体" panose="02010609060101010101" charset="-122"/>
              </a:rPr>
              <a:t>斤，较一周前价格上涨</a:t>
            </a:r>
            <a:r>
              <a:rPr lang="en-US" altLang="zh-CN" sz="2400" dirty="0">
                <a:cs typeface="楷体" panose="02010609060101010101" charset="-122"/>
              </a:rPr>
              <a:t>1-2</a:t>
            </a:r>
            <a:r>
              <a:rPr lang="zh-CN" altLang="en-US" sz="2400" dirty="0">
                <a:cs typeface="楷体" panose="02010609060101010101" charset="-122"/>
              </a:rPr>
              <a:t>元不等。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以下哪项如果为真，最能解释上述蔬菜价格上涨这一现象？（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本周有新的蔬菜上市，其品质明显提高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上周受冷空气影响，绿叶类蔬菜价格看涨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本周节日效应减退，居民蔬菜需求量减少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天气原因影响了物流，上述蔬菜的供应受到影响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10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15" y="708025"/>
            <a:ext cx="11302365" cy="5035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cs typeface="楷体" panose="02010609060101010101" charset="-122"/>
              </a:rPr>
              <a:t>据调查，</a:t>
            </a:r>
            <a:r>
              <a:rPr lang="en-US" altLang="zh-CN" sz="2200" dirty="0">
                <a:cs typeface="楷体" panose="02010609060101010101" charset="-122"/>
              </a:rPr>
              <a:t>2022</a:t>
            </a:r>
            <a:r>
              <a:rPr lang="zh-CN" altLang="en-US" sz="2200" dirty="0">
                <a:cs typeface="楷体" panose="02010609060101010101" charset="-122"/>
              </a:rPr>
              <a:t>年我国图书零售市场全部图书定价总额规模为</a:t>
            </a:r>
            <a:r>
              <a:rPr lang="en-US" altLang="zh-CN" sz="2200" dirty="0">
                <a:cs typeface="楷体" panose="02010609060101010101" charset="-122"/>
              </a:rPr>
              <a:t>871</a:t>
            </a:r>
            <a:r>
              <a:rPr lang="zh-CN" altLang="en-US" sz="2200" dirty="0">
                <a:cs typeface="楷体" panose="02010609060101010101" charset="-122"/>
              </a:rPr>
              <a:t>亿元。从不同渠道零售图书市场看，实体店渠道零售图书市场定价总额同比下降</a:t>
            </a:r>
            <a:r>
              <a:rPr lang="en-US" altLang="zh-CN" sz="2200" dirty="0">
                <a:cs typeface="楷体" panose="02010609060101010101" charset="-122"/>
              </a:rPr>
              <a:t>37.22%</a:t>
            </a:r>
            <a:r>
              <a:rPr lang="zh-CN" altLang="en-US" sz="2200" dirty="0">
                <a:cs typeface="楷体" panose="02010609060101010101" charset="-122"/>
              </a:rPr>
              <a:t>；平台电商同比下降</a:t>
            </a:r>
            <a:r>
              <a:rPr lang="en-US" altLang="zh-CN" sz="2200" dirty="0">
                <a:cs typeface="楷体" panose="02010609060101010101" charset="-122"/>
              </a:rPr>
              <a:t>16.06%</a:t>
            </a:r>
            <a:r>
              <a:rPr lang="zh-CN" altLang="en-US" sz="2200" dirty="0">
                <a:cs typeface="楷体" panose="02010609060101010101" charset="-122"/>
              </a:rPr>
              <a:t>；短视频电商实现正增长，同比上升</a:t>
            </a:r>
            <a:r>
              <a:rPr lang="en-US" altLang="zh-CN" sz="2200" dirty="0">
                <a:cs typeface="楷体" panose="02010609060101010101" charset="-122"/>
              </a:rPr>
              <a:t>42.86%</a:t>
            </a:r>
            <a:r>
              <a:rPr lang="zh-CN" altLang="en-US" sz="2200" dirty="0">
                <a:cs typeface="楷体" panose="02010609060101010101" charset="-122"/>
              </a:rPr>
              <a:t>。由此可见，短视频电商已成为图书零售的最重要渠道。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200" dirty="0">
                <a:cs typeface="楷体" panose="02010609060101010101" charset="-122"/>
              </a:rPr>
              <a:t>以下哪项如果为真，最能质疑上述论证？（</a:t>
            </a:r>
            <a:r>
              <a:rPr lang="en-US" altLang="zh-CN" sz="2200" dirty="0">
                <a:cs typeface="楷体" panose="02010609060101010101" charset="-122"/>
              </a:rPr>
              <a:t>  </a:t>
            </a:r>
            <a:r>
              <a:rPr lang="zh-CN" altLang="en-US" sz="2200" dirty="0">
                <a:cs typeface="楷体" panose="02010609060101010101" charset="-122"/>
              </a:rPr>
              <a:t>）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A.</a:t>
            </a:r>
            <a:r>
              <a:rPr lang="zh-CN" altLang="en-US" sz="2200" dirty="0">
                <a:cs typeface="楷体" panose="02010609060101010101" charset="-122"/>
              </a:rPr>
              <a:t>与</a:t>
            </a:r>
            <a:r>
              <a:rPr lang="en-US" altLang="zh-CN" sz="2200" dirty="0">
                <a:cs typeface="楷体" panose="02010609060101010101" charset="-122"/>
              </a:rPr>
              <a:t>2021</a:t>
            </a:r>
            <a:r>
              <a:rPr lang="zh-CN" altLang="en-US" sz="2200" dirty="0">
                <a:cs typeface="楷体" panose="02010609060101010101" charset="-122"/>
              </a:rPr>
              <a:t>年相比，</a:t>
            </a:r>
            <a:r>
              <a:rPr lang="en-US" altLang="zh-CN" sz="2200" dirty="0">
                <a:cs typeface="楷体" panose="02010609060101010101" charset="-122"/>
              </a:rPr>
              <a:t>2022</a:t>
            </a:r>
            <a:r>
              <a:rPr lang="zh-CN" altLang="en-US" sz="2200" dirty="0">
                <a:cs typeface="楷体" panose="02010609060101010101" charset="-122"/>
              </a:rPr>
              <a:t>年我国图书零售市场全部图书定价总额同比下降</a:t>
            </a:r>
            <a:r>
              <a:rPr lang="en-US" altLang="zh-CN" sz="2200" dirty="0">
                <a:cs typeface="楷体" panose="02010609060101010101" charset="-122"/>
              </a:rPr>
              <a:t>11.77%</a:t>
            </a:r>
            <a:endParaRPr lang="en-US" altLang="zh-CN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B.2021</a:t>
            </a:r>
            <a:r>
              <a:rPr lang="zh-CN" altLang="en-US" sz="2200" dirty="0">
                <a:cs typeface="楷体" panose="02010609060101010101" charset="-122"/>
              </a:rPr>
              <a:t>年，从零售图书定价总额规模占比看，平台电商占比超过</a:t>
            </a:r>
            <a:r>
              <a:rPr lang="en-US" altLang="zh-CN" sz="2200" dirty="0">
                <a:cs typeface="楷体" panose="02010609060101010101" charset="-122"/>
              </a:rPr>
              <a:t>50%</a:t>
            </a:r>
            <a:r>
              <a:rPr lang="zh-CN" altLang="en-US" sz="2200" dirty="0">
                <a:cs typeface="楷体" panose="02010609060101010101" charset="-122"/>
              </a:rPr>
              <a:t>，短视频电商占比最低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C.2022</a:t>
            </a:r>
            <a:r>
              <a:rPr lang="zh-CN" altLang="en-US" sz="2200" dirty="0">
                <a:cs typeface="楷体" panose="02010609060101010101" charset="-122"/>
              </a:rPr>
              <a:t>年，在我国图书零售市场中，平台电商和实体店渠道各自的资产总额，均超过短视频电商</a:t>
            </a:r>
            <a:endParaRPr lang="zh-CN" altLang="en-US" sz="22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200" dirty="0">
                <a:cs typeface="楷体" panose="02010609060101010101" charset="-122"/>
              </a:rPr>
              <a:t>D.2022</a:t>
            </a:r>
            <a:r>
              <a:rPr lang="zh-CN" altLang="en-US" sz="2200" dirty="0">
                <a:cs typeface="楷体" panose="02010609060101010101" charset="-122"/>
              </a:rPr>
              <a:t>年，从图书零售市场渠道结构来看，平台电商和实体店渠道品种规模均在</a:t>
            </a:r>
            <a:r>
              <a:rPr lang="en-US" altLang="zh-CN" sz="2200" dirty="0">
                <a:cs typeface="楷体" panose="02010609060101010101" charset="-122"/>
              </a:rPr>
              <a:t>100</a:t>
            </a:r>
            <a:r>
              <a:rPr lang="zh-CN" altLang="en-US" sz="2200" dirty="0">
                <a:cs typeface="楷体" panose="02010609060101010101" charset="-122"/>
              </a:rPr>
              <a:t>万以上，短视频电商品种规模相对较少</a:t>
            </a:r>
            <a:endParaRPr lang="zh-CN" altLang="en-US" sz="22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955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8025"/>
            <a:ext cx="1115568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对于甲、乙、丙三个项目的投资情况，经过调研，三部门分别给出了如下建议：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（</a:t>
            </a:r>
            <a:r>
              <a:rPr lang="en-US" altLang="zh-CN" sz="2400" dirty="0">
                <a:cs typeface="楷体" panose="02010609060101010101" charset="-122"/>
              </a:rPr>
              <a:t>1</a:t>
            </a:r>
            <a:r>
              <a:rPr lang="zh-CN" altLang="en-US" sz="2400" dirty="0">
                <a:cs typeface="楷体" panose="02010609060101010101" charset="-122"/>
              </a:rPr>
              <a:t>）甲、乙两项目至少投资一个；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（</a:t>
            </a:r>
            <a:r>
              <a:rPr lang="en-US" altLang="zh-CN" sz="2400" dirty="0">
                <a:cs typeface="楷体" panose="02010609060101010101" charset="-122"/>
              </a:rPr>
              <a:t>2</a:t>
            </a:r>
            <a:r>
              <a:rPr lang="zh-CN" altLang="en-US" sz="2400" dirty="0">
                <a:cs typeface="楷体" panose="02010609060101010101" charset="-122"/>
              </a:rPr>
              <a:t>）若投资甲项目，则亦投资丙项目；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（</a:t>
            </a:r>
            <a:r>
              <a:rPr lang="en-US" altLang="zh-CN" sz="2400" dirty="0">
                <a:cs typeface="楷体" panose="02010609060101010101" charset="-122"/>
              </a:rPr>
              <a:t>3</a:t>
            </a:r>
            <a:r>
              <a:rPr lang="zh-CN" altLang="en-US" sz="2400" dirty="0">
                <a:cs typeface="楷体" panose="02010609060101010101" charset="-122"/>
              </a:rPr>
              <a:t>）乙、丙两项目至少有一个不投资。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最终，根据三部门的建议，进行了投资。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根据以上信息，关于投资情况，一定能得出以下哪项？（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甲、乙均投资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甲、乙投资其一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甲、丙均投资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甲、丙均不投资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.xml><?xml version="1.0" encoding="utf-8"?>
<p:tagLst xmlns:p="http://schemas.openxmlformats.org/presentationml/2006/main">
  <p:tag name="KSO_WM_SLIDE_ID" val="custom20231288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1288"/>
  <p:tag name="KSO_WM_SLIDE_TYPE" val="endPage"/>
  <p:tag name="KSO_WM_SLIDE_SUBTYPE" val="pureTxt"/>
  <p:tag name="KSO_WM_SLIDE_LAYOUT" val="a_f"/>
  <p:tag name="KSO_WM_SLIDE_LAYOUT_CNT" val="1_1"/>
  <p:tag name="resource_record_key" val="{&quot;13&quot;:[4705195,19965465,19971662],&quot;65&quot;:[20231288]}"/>
</p:tagLst>
</file>

<file path=ppt/tags/tag5.xml><?xml version="1.0" encoding="utf-8"?>
<p:tagLst xmlns:p="http://schemas.openxmlformats.org/presentationml/2006/main">
  <p:tag name="resource_record_key" val="{&quot;13&quot;:[20481828,4364903,4364924],&quot;65&quot;:[20205081]}"/>
</p:tagLst>
</file>

<file path=ppt/theme/theme1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楷体"/>
        <a:ea typeface="楷体"/>
        <a:cs typeface=""/>
      </a:majorFont>
      <a:minorFont>
        <a:latin typeface="楷体"/>
        <a:ea typeface="楷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1631</Words>
  <Application>WPS 演示</Application>
  <PresentationFormat>宽屏</PresentationFormat>
  <Paragraphs>97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楷体</vt:lpstr>
      <vt:lpstr>Wingdings</vt:lpstr>
      <vt:lpstr>微软雅黑</vt:lpstr>
      <vt:lpstr>Arial Unicode MS</vt:lpstr>
      <vt:lpstr>自定义设计方案</vt:lpstr>
      <vt:lpstr>PowerPoint 演示文稿</vt:lpstr>
      <vt:lpstr>题3</vt:lpstr>
      <vt:lpstr>题4</vt:lpstr>
      <vt:lpstr>题5</vt:lpstr>
      <vt:lpstr>题7</vt:lpstr>
      <vt:lpstr>题8</vt:lpstr>
      <vt:lpstr>题14</vt:lpstr>
      <vt:lpstr>题18</vt:lpstr>
      <vt:lpstr>题19</vt:lpstr>
      <vt:lpstr>题22</vt:lpstr>
      <vt:lpstr>题25</vt:lpstr>
      <vt:lpstr>题28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225</cp:revision>
  <dcterms:created xsi:type="dcterms:W3CDTF">2019-06-19T02:08:00Z</dcterms:created>
  <dcterms:modified xsi:type="dcterms:W3CDTF">2026-01-13T02:25:37Z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7E0F0589F6D94CFE8A4BC2AEA01394FF_11</vt:lpwstr>
  </property>
</Properties>
</file>