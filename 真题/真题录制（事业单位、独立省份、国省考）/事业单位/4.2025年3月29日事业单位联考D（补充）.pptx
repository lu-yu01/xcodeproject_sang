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Lst>
  <p:notesMasterIdLst>
    <p:notesMasterId r:id="rId5"/>
  </p:notesMasterIdLst>
  <p:handoutMasterIdLst>
    <p:handoutMasterId r:id="rId14"/>
  </p:handoutMasterIdLst>
  <p:sldIdLst>
    <p:sldId id="629" r:id="rId4"/>
    <p:sldId id="424" r:id="rId6"/>
    <p:sldId id="1361" r:id="rId7"/>
    <p:sldId id="1362" r:id="rId8"/>
    <p:sldId id="1363" r:id="rId9"/>
    <p:sldId id="1364" r:id="rId10"/>
    <p:sldId id="1370" r:id="rId11"/>
    <p:sldId id="1371" r:id="rId12"/>
    <p:sldId id="992" r:id="rId13"/>
  </p:sldIdLst>
  <p:sldSz cx="12192000" cy="6858000"/>
  <p:notesSz cx="6858000" cy="9144000"/>
  <p:custDataLst>
    <p:tags r:id="rId1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2" userDrawn="1">
          <p15:clr>
            <a:srgbClr val="A4A3A4"/>
          </p15:clr>
        </p15:guide>
        <p15:guide id="2" pos="379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82"/>
        <p:guide pos="3791"/>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9" Type="http://schemas.openxmlformats.org/officeDocument/2006/relationships/tags" Target="tags/tag31.xml"/><Relationship Id="rId18" Type="http://schemas.openxmlformats.org/officeDocument/2006/relationships/commentAuthors" Target="commentAuthors.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handoutMaster" Target="handoutMasters/handoutMaster1.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cs typeface="微软雅黑" panose="020B0503020204020204"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cs typeface="微软雅黑" panose="020B0503020204020204"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数据值视为平均分配在此格中的重量值，从而确定其重心平衡点的所在区域。</a:t>
            </a:r>
            <a:r>
              <a:rPr lang="en-US" altLang="zh-CN" sz="1200" kern="1200" dirty="0">
                <a:solidFill>
                  <a:schemeClr val="tx1"/>
                </a:solidFill>
                <a:effectLst/>
                <a:latin typeface="+mn-lt"/>
                <a:sym typeface="+mn-ea"/>
              </a:rPr>
              <a:t>”</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表格</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：第</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行：</a:t>
            </a:r>
            <a:r>
              <a:rPr lang="en-US" altLang="zh-CN" sz="1200" kern="1200" dirty="0">
                <a:solidFill>
                  <a:schemeClr val="tx1"/>
                </a:solidFill>
                <a:effectLst/>
                <a:latin typeface="+mn-lt"/>
                <a:sym typeface="+mn-ea"/>
              </a:rPr>
              <a:t>3+8=11</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第</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行：</a:t>
            </a:r>
            <a:r>
              <a:rPr lang="en-US" altLang="zh-CN" sz="1200" kern="1200" dirty="0">
                <a:solidFill>
                  <a:schemeClr val="tx1"/>
                </a:solidFill>
                <a:effectLst/>
                <a:latin typeface="+mn-lt"/>
                <a:sym typeface="+mn-ea"/>
              </a:rPr>
              <a:t>5+2=7</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（第</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行重量值更大）</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第</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列：</a:t>
            </a:r>
            <a:r>
              <a:rPr lang="en-US" altLang="zh-CN" sz="1200" kern="1200" dirty="0">
                <a:solidFill>
                  <a:schemeClr val="tx1"/>
                </a:solidFill>
                <a:effectLst/>
                <a:latin typeface="+mn-lt"/>
                <a:sym typeface="+mn-ea"/>
              </a:rPr>
              <a:t>3+5=8</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第</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列：</a:t>
            </a:r>
            <a:r>
              <a:rPr lang="en-US" altLang="zh-CN" sz="1200" kern="1200" dirty="0">
                <a:solidFill>
                  <a:schemeClr val="tx1"/>
                </a:solidFill>
                <a:effectLst/>
                <a:latin typeface="+mn-lt"/>
                <a:sym typeface="+mn-ea"/>
              </a:rPr>
              <a:t>8+2=10</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（第</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列重量值更大）</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因此，表格</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的表数据重心在第</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行第</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列的小格中；</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表格</a:t>
            </a:r>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：第</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行：</a:t>
            </a:r>
            <a:r>
              <a:rPr lang="en-US" altLang="zh-CN" sz="1200" kern="1200" dirty="0">
                <a:solidFill>
                  <a:schemeClr val="tx1"/>
                </a:solidFill>
                <a:effectLst/>
                <a:latin typeface="+mn-lt"/>
                <a:sym typeface="+mn-ea"/>
              </a:rPr>
              <a:t>6+7=12</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第</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行：</a:t>
            </a:r>
            <a:r>
              <a:rPr lang="en-US" altLang="zh-CN" sz="1200" kern="1200" dirty="0">
                <a:solidFill>
                  <a:schemeClr val="tx1"/>
                </a:solidFill>
                <a:effectLst/>
                <a:latin typeface="+mn-lt"/>
                <a:sym typeface="+mn-ea"/>
              </a:rPr>
              <a:t>5+2=7</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（第</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行重量值更大）</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第</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列：</a:t>
            </a:r>
            <a:r>
              <a:rPr lang="en-US" altLang="zh-CN" sz="1200" kern="1200" dirty="0">
                <a:solidFill>
                  <a:schemeClr val="tx1"/>
                </a:solidFill>
                <a:effectLst/>
                <a:latin typeface="+mn-lt"/>
                <a:sym typeface="+mn-ea"/>
              </a:rPr>
              <a:t>6+5=11</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第</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列：</a:t>
            </a:r>
            <a:r>
              <a:rPr lang="en-US" altLang="zh-CN" sz="1200" kern="1200" dirty="0">
                <a:solidFill>
                  <a:schemeClr val="tx1"/>
                </a:solidFill>
                <a:effectLst/>
                <a:latin typeface="+mn-lt"/>
                <a:sym typeface="+mn-ea"/>
              </a:rPr>
              <a:t>7+2=9</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（第</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列重量值更大）</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因此，表格</a:t>
            </a:r>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的表数据重心在第</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行第</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列的小格中。</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表格</a:t>
            </a:r>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：第</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行：</a:t>
            </a:r>
            <a:r>
              <a:rPr lang="en-US" altLang="zh-CN" sz="1200" kern="1200" dirty="0">
                <a:solidFill>
                  <a:schemeClr val="tx1"/>
                </a:solidFill>
                <a:effectLst/>
                <a:latin typeface="+mn-lt"/>
                <a:sym typeface="+mn-ea"/>
              </a:rPr>
              <a:t>9+2=11</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第</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行：</a:t>
            </a:r>
            <a:r>
              <a:rPr lang="en-US" altLang="zh-CN" sz="1200" kern="1200" dirty="0">
                <a:solidFill>
                  <a:schemeClr val="tx1"/>
                </a:solidFill>
                <a:effectLst/>
                <a:latin typeface="+mn-lt"/>
                <a:sym typeface="+mn-ea"/>
              </a:rPr>
              <a:t>4+8=12</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（第</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行重量值更大）</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第</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列：</a:t>
            </a:r>
            <a:r>
              <a:rPr lang="en-US" altLang="zh-CN" sz="1200" kern="1200" dirty="0">
                <a:solidFill>
                  <a:schemeClr val="tx1"/>
                </a:solidFill>
                <a:effectLst/>
                <a:latin typeface="+mn-lt"/>
                <a:sym typeface="+mn-ea"/>
              </a:rPr>
              <a:t>9+4=13</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第</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列：</a:t>
            </a:r>
            <a:r>
              <a:rPr lang="en-US" altLang="zh-CN" sz="1200" kern="1200" dirty="0">
                <a:solidFill>
                  <a:schemeClr val="tx1"/>
                </a:solidFill>
                <a:effectLst/>
                <a:latin typeface="+mn-lt"/>
                <a:sym typeface="+mn-ea"/>
              </a:rPr>
              <a:t>2+8=10</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（第</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列重量值更大）</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表格</a:t>
            </a:r>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的表数据重心在第</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行，第</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列。</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【解析】观念广告：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不直接介绍产品和宣传企业信誉，而是旨在建立或改变一种消费观念的广告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消费性观念广告：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引导消费者改变原有的消费观念，树立新的消费观念和消费方式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社会性观念广告：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在广告中展现对某一社会性问题的意见，以影响舆论，从而为企业营销服务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项：某电动车广告指出了燃油车造成环境污染这一社会性问题，以促进消费者关注电动车，符合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在广告中展现对某一社会性问题的意见，以影响舆论，从而为企业营销服务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社会性观念广告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项：某牙膏广告提出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笑容传递快乐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这一主题，展示笑容的力量来促使消费者在生活中更加乐观，传递笑容，且笑容会露出牙齿，以此促进牙膏销售，符合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在广告中展现对某一社会性问题的意见，以影响舆论，从而为企业营销服务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社会性观念广告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项：某钢琴生产企业提出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学琴的孩子不会变坏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，以此来吸引家长群体关注孩子身心健康，从而促进钢琴销售，符合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在广告中展现对某一社会性问题的意见，以影响舆论，从而为企业营销服务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社会性观念广告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项：某餐饮企业为消费者提供多种免费服务和娱乐项目，并未提出任何社会性问题，不符合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在广告中展现对某一社会性问题的意见，以影响舆论，从而为企业营销服务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社会性观念广告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【解析】论点：较之于其他地区，寒冷地带不一定更适宜养生。</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论据：北方人大都往南方去。</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）说明人的迁移是为了养生，那么北方人向南方迁移也就证明了温暖地带比寒冷地带更适宜养生，为搭桥项，可以作为乙论证的前提；</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）说明北方比南方寒冷，若北方不比南方寒冷，则人的迁移和气温的关系不明确，无法得出论点，该项为论点成立的必要条件，可以作为乙论证的前提；</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）说明生活成本低的地方更适宜养生，乙所论述的内容是气温和养生之间的关系，话题不一致，无法作为乙论证的前提；</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）说明患病率越低的地区越适宜养生，乙所论述的内容是气温和养生之间的关系，话题不一致，无法作为乙论证的前提。</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综上，能够作为乙论证前提的仅（</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【解析】论点：芒康盆地在隆升过程中经历过类似于地中海气候的环境条件。</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论据：芒康盆地在距今</a:t>
            </a:r>
            <a:r>
              <a:rPr lang="en-US" altLang="zh-CN" sz="1200" kern="1200" dirty="0">
                <a:solidFill>
                  <a:schemeClr val="tx1"/>
                </a:solidFill>
                <a:effectLst/>
                <a:latin typeface="+mn-lt"/>
                <a:sym typeface="+mn-ea"/>
              </a:rPr>
              <a:t>4200</a:t>
            </a:r>
            <a:r>
              <a:rPr lang="zh-CN" altLang="en-US" sz="1200" kern="1200" dirty="0">
                <a:solidFill>
                  <a:schemeClr val="tx1"/>
                </a:solidFill>
                <a:effectLst/>
                <a:latin typeface="+mn-lt"/>
                <a:sym typeface="+mn-ea"/>
              </a:rPr>
              <a:t>万</a:t>
            </a:r>
            <a:r>
              <a:rPr lang="en-US" altLang="zh-CN" sz="1200" kern="1200" dirty="0">
                <a:solidFill>
                  <a:schemeClr val="tx1"/>
                </a:solidFill>
                <a:effectLst/>
                <a:latin typeface="+mn-lt"/>
                <a:sym typeface="+mn-ea"/>
              </a:rPr>
              <a:t>-3600</a:t>
            </a:r>
            <a:r>
              <a:rPr lang="zh-CN" altLang="en-US" sz="1200" kern="1200" dirty="0">
                <a:solidFill>
                  <a:schemeClr val="tx1"/>
                </a:solidFill>
                <a:effectLst/>
                <a:latin typeface="+mn-lt"/>
                <a:sym typeface="+mn-ea"/>
              </a:rPr>
              <a:t>万年的隆升过程中出现了大量的桉属、栎属植物。</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项：选项说明桉属、栎属植物是地中海气候区的典型植物，说明可以根据该盆地曾出现这些植物推断出芒康盆地经历过类似于地中海气候的环境条件，为搭桥项，可以加强，排除；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项：选项说明隆升时期，芒康盆地的气候与现代地中海气候类似，补充论据，可以加强，排除；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项：选项介绍的是地中海气候的气候类型和形成特点，并未提及芒康盆地与地中海气候的关系，不能加强，当选；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项：选项说明隆升时期，芒康盆地的气候与现代地中海气候类似，补充论据，可以加强，排除。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【解析】甲论点：只要网暴受害者拿起法律武器捍卫自身权益，就能有效遏制网暴。</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乙论点：不同意。面对陌生网民的网暴行为，普通人几乎没有确定责任主体和调查取证的能力，也缺乏维权的精力和金钱。</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分析题干，甲认为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只要网暴受害者拿起法律武器捍卫自身权益，就能有效遏制网暴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，隐含的前提是受害者具备使用法律武器的能力，但乙指出受害者缺乏调查取证的能力，也缺乏精力和金钱，即这个前提可能不成立，因此，乙反驳的是甲的前提假设，</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项说法均有错误。</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【解析】甲论点：只要网暴受害者拿起法律武器捍卫自身权益，就能有效遏制网暴。</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丙论点：遏制网暴，关键不在于网暴受害者事后拿起法律武器捍卫自身权益，应以平台责任为先。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甲认为遏制网暴的关键是受到网暴后，受害者拿起法律的武器捍卫自身权益，强调的是通过事后维权的方式遏制网络暴力的出现；丙认为平台是网暴治理的第一道防线，遏制网暴关键不在于网暴受害者事后拿起法律武器捍卫自身权益，关键在于要防患于未然，即网络暴力出现之前，平台就应该对网络暴力进行治理。两者争论的焦点在于遏制网暴的关键是事前采取措施还是事后采取措施，即遏制网暴的关键环节是什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【解析】论点：匿名发布是造成网暴愈演愈烈的重要原因，采取前台实名制，确有可能对网暴者产生一定约束，减少网暴的发生。</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项：选项指出重名现象普遍，难以快速锁定用户，直接质疑了前台实名制的实际效果，即使实名也难以追责，否定论点，排除；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项：选项强调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法不责众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会弱化实名制的约束力，认为施暴者可能因群体行为而心存侥幸，直接质疑丁对实名制效果的预期，否定论点，排除；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项：选项认为前台实名会暴露用户信息，反而为网暴埋下隐患，说明实名制非但不能减少网暴，反而可能加剧网暴，否定论点，排除；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项：指出前台实名制会降低人们表达意愿，虽然涉及抑制言论自由等副作用，但并未论述实名制是否会减少网暴现象，话题不一致，无法削弱，当选。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7" Type="http://schemas.openxmlformats.org/officeDocument/2006/relationships/image" Target="../media/image1.png"/><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png"/><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0"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7"/>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8"/>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
        <p:nvSpPr>
          <p:cNvPr id="10" name="矩形 9"/>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2" name="矩形 11"/>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3" name="图片 12" descr="徽标&#10;&#10;AI 生成的内容可能不正确。"/>
          <p:cNvPicPr>
            <a:picLocks noChangeAspect="1"/>
          </p:cNvPicPr>
          <p:nvPr userDrawn="1"/>
        </p:nvPicPr>
        <p:blipFill>
          <a:blip r:embed="rId10"/>
          <a:srcRect t="9991" b="18252"/>
          <a:stretch>
            <a:fillRect/>
          </a:stretch>
        </p:blipFill>
        <p:spPr>
          <a:xfrm>
            <a:off x="10610080" y="6382356"/>
            <a:ext cx="1408500" cy="449757"/>
          </a:xfrm>
          <a:prstGeom prst="rect">
            <a:avLst/>
          </a:prstGeom>
        </p:spPr>
      </p:pic>
      <p:sp>
        <p:nvSpPr>
          <p:cNvPr id="14" name="文本框 13"/>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5" name="文本框 14"/>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1117600" y="8475133"/>
            <a:ext cx="3657600" cy="486833"/>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5384800" y="8475133"/>
            <a:ext cx="5486400" cy="486833"/>
          </a:xfrm>
        </p:spPr>
        <p:txBody>
          <a:bodyPr/>
          <a:lstStyle/>
          <a:p>
            <a:endParaRPr lang="zh-CN" altLang="en-US"/>
          </a:p>
        </p:txBody>
      </p:sp>
      <p:sp>
        <p:nvSpPr>
          <p:cNvPr id="4" name="灯片编号占位符 3"/>
          <p:cNvSpPr>
            <a:spLocks noGrp="1"/>
          </p:cNvSpPr>
          <p:nvPr>
            <p:ph type="sldNum" sz="quarter" idx="12"/>
          </p:nvPr>
        </p:nvSpPr>
        <p:spPr>
          <a:xfrm>
            <a:off x="11480800" y="8475133"/>
            <a:ext cx="3657600" cy="486833"/>
          </a:xfrm>
        </p:spPr>
        <p:txBody>
          <a:bodyPr/>
          <a:lstStyle/>
          <a:p>
            <a:fld id="{7D9BB5D0-35E4-459D-AEF3-FE4D7C45CC19}"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3" name="幻灯片编号"/>
          <p:cNvSpPr txBox="1">
            <a:spLocks noGrp="1"/>
          </p:cNvSpPr>
          <p:nvPr>
            <p:ph type="sldNum" sz="quarter" idx="2"/>
          </p:nvPr>
        </p:nvSpPr>
        <p:spPr>
          <a:xfrm>
            <a:off x="8385632" y="6176859"/>
            <a:ext cx="351972" cy="358983"/>
          </a:xfrm>
          <a:prstGeom prst="rect">
            <a:avLst/>
          </a:prstGeom>
        </p:spPr>
        <p:txBody>
          <a:bodyPr/>
          <a:lstStyle/>
          <a:p>
            <a:fld id="{86CB4B4D-7CA3-9044-876B-883B54F8677D}" type="slidenum">
              <a:rPr/>
            </a:fld>
            <a:endParaRPr/>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2" name="文本框 1"/>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9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0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1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2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3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4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5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0FDEE0B-E009-AE44-A6AE-F10FE1D58390}"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470D480-A6AF-3D48-9E05-C49B5442FA82}" type="slidenum">
              <a:rPr kumimoji="1" lang="zh-CN" altLang="en-US" smtClean="0"/>
            </a:fld>
            <a:endParaRPr kumimoji="1"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1.xml"/><Relationship Id="rId8" Type="http://schemas.openxmlformats.org/officeDocument/2006/relationships/slideLayout" Target="../slideLayouts/slideLayout10.xml"/><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0" Type="http://schemas.openxmlformats.org/officeDocument/2006/relationships/theme" Target="../theme/theme2.xml"/><Relationship Id="rId3" Type="http://schemas.openxmlformats.org/officeDocument/2006/relationships/slideLayout" Target="../slideLayouts/slideLayout5.xml"/><Relationship Id="rId29" Type="http://schemas.openxmlformats.org/officeDocument/2006/relationships/tags" Target="../tags/tag30.xml"/><Relationship Id="rId28" Type="http://schemas.openxmlformats.org/officeDocument/2006/relationships/tags" Target="../tags/tag29.xml"/><Relationship Id="rId27" Type="http://schemas.openxmlformats.org/officeDocument/2006/relationships/tags" Target="../tags/tag28.xml"/><Relationship Id="rId26" Type="http://schemas.openxmlformats.org/officeDocument/2006/relationships/tags" Target="../tags/tag27.xml"/><Relationship Id="rId25" Type="http://schemas.openxmlformats.org/officeDocument/2006/relationships/tags" Target="../tags/tag26.xml"/><Relationship Id="rId24" Type="http://schemas.openxmlformats.org/officeDocument/2006/relationships/tags" Target="../tags/tag25.xml"/><Relationship Id="rId23" Type="http://schemas.openxmlformats.org/officeDocument/2006/relationships/slideLayout" Target="../slideLayouts/slideLayout25.xml"/><Relationship Id="rId22" Type="http://schemas.openxmlformats.org/officeDocument/2006/relationships/slideLayout" Target="../slideLayouts/slideLayout24.xml"/><Relationship Id="rId21" Type="http://schemas.openxmlformats.org/officeDocument/2006/relationships/slideLayout" Target="../slideLayouts/slideLayout23.xml"/><Relationship Id="rId20" Type="http://schemas.openxmlformats.org/officeDocument/2006/relationships/slideLayout" Target="../slideLayouts/slideLayout22.xml"/><Relationship Id="rId2" Type="http://schemas.openxmlformats.org/officeDocument/2006/relationships/slideLayout" Target="../slideLayouts/slideLayout4.xml"/><Relationship Id="rId19" Type="http://schemas.openxmlformats.org/officeDocument/2006/relationships/slideLayout" Target="../slideLayouts/slideLayout21.xml"/><Relationship Id="rId18" Type="http://schemas.openxmlformats.org/officeDocument/2006/relationships/slideLayout" Target="../slideLayouts/slideLayout20.xml"/><Relationship Id="rId17" Type="http://schemas.openxmlformats.org/officeDocument/2006/relationships/slideLayout" Target="../slideLayouts/slideLayout19.xml"/><Relationship Id="rId16" Type="http://schemas.openxmlformats.org/officeDocument/2006/relationships/slideLayout" Target="../slideLayouts/slideLayout18.xml"/><Relationship Id="rId15" Type="http://schemas.openxmlformats.org/officeDocument/2006/relationships/slideLayout" Target="../slideLayouts/slideLayout17.xml"/><Relationship Id="rId14" Type="http://schemas.openxmlformats.org/officeDocument/2006/relationships/slideLayout" Target="../slideLayouts/slideLayout16.xml"/><Relationship Id="rId13" Type="http://schemas.openxmlformats.org/officeDocument/2006/relationships/slideLayout" Target="../slideLayouts/slideLayout15.xml"/><Relationship Id="rId12" Type="http://schemas.openxmlformats.org/officeDocument/2006/relationships/slideLayout" Target="../slideLayouts/slideLayout14.xml"/><Relationship Id="rId11" Type="http://schemas.openxmlformats.org/officeDocument/2006/relationships/slideLayout" Target="../slideLayouts/slideLayout13.xml"/><Relationship Id="rId10" Type="http://schemas.openxmlformats.org/officeDocument/2006/relationships/slideLayout" Target="../slideLayouts/slideLayout1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DC5037">
                <a:alpha val="42000"/>
              </a:srgbClr>
            </a:gs>
            <a:gs pos="67000">
              <a:srgbClr val="DC5037">
                <a:alpha val="10000"/>
              </a:srgbClr>
            </a:gs>
          </a:gsLst>
          <a:lin ang="16200000" scaled="1"/>
          <a:tileRect/>
        </a:gradFill>
        <a:effectLst/>
      </p:bgPr>
    </p:bg>
    <p:spTree>
      <p:nvGrpSpPr>
        <p:cNvPr id="1" name=""/>
        <p:cNvGrpSpPr/>
        <p:nvPr/>
      </p:nvGrpSpPr>
      <p:grpSpPr>
        <a:xfrm>
          <a:off x="0" y="0"/>
          <a:ext cx="0" cy="0"/>
          <a:chOff x="0" y="0"/>
          <a:chExt cx="0" cy="0"/>
        </a:xfrm>
      </p:grpSpPr>
      <p:sp>
        <p:nvSpPr>
          <p:cNvPr id="11" name="标题占位符 10"/>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49AE70B2-8BF9-45C0-BB95-33D1B9D3A854}" type="slidenum">
              <a:rPr lang="zh-CN" altLang="en-US" smtClean="0"/>
            </a:fld>
            <a:endParaRPr lang="zh-CN" altLang="en-US" dirty="0"/>
          </a:p>
        </p:txBody>
      </p:sp>
    </p:spTree>
    <p:custDataLst>
      <p:tags r:id="rId29"/>
    </p:custData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 id="2147483673" r:id="rId22"/>
    <p:sldLayoutId id="2147483674" r:id="rId23"/>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5.xml"/><Relationship Id="rId2" Type="http://schemas.openxmlformats.org/officeDocument/2006/relationships/image" Target="../media/image1.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1.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9" name="文本框 8"/>
          <p:cNvSpPr txBox="1"/>
          <p:nvPr/>
        </p:nvSpPr>
        <p:spPr>
          <a:xfrm>
            <a:off x="2843188" y="2364919"/>
            <a:ext cx="6576647" cy="1445260"/>
          </a:xfrm>
          <a:prstGeom prst="rect">
            <a:avLst/>
          </a:prstGeom>
          <a:noFill/>
        </p:spPr>
        <p:txBody>
          <a:bodyPr wrap="square" rtlCol="0">
            <a:spAutoFit/>
          </a:bodyPr>
          <a:p>
            <a:pPr algn="ct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事业单位联考</a:t>
            </a: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rPr>
              <a:t>D</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（补充）</a:t>
            </a:r>
            <a:b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rPr>
            </a:b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rPr>
              <a:t>2025</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年</a:t>
            </a: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rPr>
              <a:t>3</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月</a:t>
            </a: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rPr>
              <a:t>29</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日</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25301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主讲老师：桑桑老师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表数据重心指的是在填入不同数据的方阵表格中，将其中的数据值视为平均分配在此格中的重量值，从而确定其重心平衡点的所在区域。如下图所示表格</a:t>
            </a:r>
            <a:r>
              <a:rPr lang="en-US" altLang="en-US" sz="2000" dirty="0">
                <a:cs typeface="微软雅黑" panose="020B0503020204020204" charset="-122"/>
                <a:sym typeface="+mn-ea"/>
              </a:rPr>
              <a:t>①</a:t>
            </a:r>
            <a:r>
              <a:rPr lang="zh-CN" altLang="en-US" sz="2000" dirty="0">
                <a:cs typeface="微软雅黑" panose="020B0503020204020204" charset="-122"/>
                <a:sym typeface="+mn-ea"/>
              </a:rPr>
              <a:t>的表数据重心在第</a:t>
            </a:r>
            <a:r>
              <a:rPr lang="en-US" altLang="zh-CN" sz="2000" dirty="0">
                <a:cs typeface="微软雅黑" panose="020B0503020204020204" charset="-122"/>
                <a:sym typeface="+mn-ea"/>
              </a:rPr>
              <a:t>1</a:t>
            </a:r>
            <a:r>
              <a:rPr lang="zh-CN" altLang="en-US" sz="2000" dirty="0">
                <a:cs typeface="微软雅黑" panose="020B0503020204020204" charset="-122"/>
                <a:sym typeface="+mn-ea"/>
              </a:rPr>
              <a:t>行第</a:t>
            </a:r>
            <a:r>
              <a:rPr lang="en-US" altLang="zh-CN" sz="2000" dirty="0">
                <a:cs typeface="微软雅黑" panose="020B0503020204020204" charset="-122"/>
                <a:sym typeface="+mn-ea"/>
              </a:rPr>
              <a:t>2</a:t>
            </a:r>
            <a:r>
              <a:rPr lang="zh-CN" altLang="en-US" sz="2000" dirty="0">
                <a:cs typeface="微软雅黑" panose="020B0503020204020204" charset="-122"/>
                <a:sym typeface="+mn-ea"/>
              </a:rPr>
              <a:t>列的小格中；表格</a:t>
            </a:r>
            <a:r>
              <a:rPr lang="en-US" altLang="en-US" sz="2000" dirty="0">
                <a:cs typeface="微软雅黑" panose="020B0503020204020204" charset="-122"/>
                <a:sym typeface="+mn-ea"/>
              </a:rPr>
              <a:t>②</a:t>
            </a:r>
            <a:r>
              <a:rPr lang="zh-CN" altLang="en-US" sz="2000" dirty="0">
                <a:cs typeface="微软雅黑" panose="020B0503020204020204" charset="-122"/>
                <a:sym typeface="+mn-ea"/>
              </a:rPr>
              <a:t>的表数据重心在第</a:t>
            </a:r>
            <a:r>
              <a:rPr lang="en-US" altLang="zh-CN" sz="2000" dirty="0">
                <a:cs typeface="微软雅黑" panose="020B0503020204020204" charset="-122"/>
                <a:sym typeface="+mn-ea"/>
              </a:rPr>
              <a:t>1</a:t>
            </a:r>
            <a:r>
              <a:rPr lang="zh-CN" altLang="en-US" sz="2000" dirty="0">
                <a:cs typeface="微软雅黑" panose="020B0503020204020204" charset="-122"/>
                <a:sym typeface="+mn-ea"/>
              </a:rPr>
              <a:t>行第</a:t>
            </a:r>
            <a:r>
              <a:rPr lang="en-US" altLang="zh-CN" sz="2000" dirty="0">
                <a:cs typeface="微软雅黑" panose="020B0503020204020204" charset="-122"/>
                <a:sym typeface="+mn-ea"/>
              </a:rPr>
              <a:t>1</a:t>
            </a:r>
            <a:r>
              <a:rPr lang="zh-CN" altLang="en-US" sz="2000" dirty="0">
                <a:cs typeface="微软雅黑" panose="020B0503020204020204" charset="-122"/>
                <a:sym typeface="+mn-ea"/>
              </a:rPr>
              <a:t>列的小格中。</a:t>
            </a: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根据上述定义，表格</a:t>
            </a:r>
            <a:r>
              <a:rPr lang="en-US" altLang="en-US" sz="2000" dirty="0">
                <a:cs typeface="微软雅黑" panose="020B0503020204020204" charset="-122"/>
                <a:sym typeface="+mn-ea"/>
              </a:rPr>
              <a:t>③</a:t>
            </a:r>
            <a:r>
              <a:rPr lang="zh-CN" altLang="en-US" sz="2000" dirty="0">
                <a:cs typeface="微软雅黑" panose="020B0503020204020204" charset="-122"/>
                <a:sym typeface="+mn-ea"/>
              </a:rPr>
              <a:t>的表数据重心在哪个小格中？（）</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第</a:t>
            </a:r>
            <a:r>
              <a:rPr lang="en-US" altLang="zh-CN" sz="2000" dirty="0">
                <a:cs typeface="微软雅黑" panose="020B0503020204020204" charset="-122"/>
                <a:sym typeface="+mn-ea"/>
              </a:rPr>
              <a:t>1</a:t>
            </a:r>
            <a:r>
              <a:rPr lang="zh-CN" altLang="en-US" sz="2000" dirty="0">
                <a:cs typeface="微软雅黑" panose="020B0503020204020204" charset="-122"/>
                <a:sym typeface="+mn-ea"/>
              </a:rPr>
              <a:t>行第</a:t>
            </a:r>
            <a:r>
              <a:rPr lang="en-US" altLang="zh-CN" sz="2000" dirty="0">
                <a:cs typeface="微软雅黑" panose="020B0503020204020204" charset="-122"/>
                <a:sym typeface="+mn-ea"/>
              </a:rPr>
              <a:t>1</a:t>
            </a:r>
            <a:r>
              <a:rPr lang="zh-CN" altLang="en-US" sz="2000" dirty="0">
                <a:cs typeface="微软雅黑" panose="020B0503020204020204" charset="-122"/>
                <a:sym typeface="+mn-ea"/>
              </a:rPr>
              <a:t>列</a:t>
            </a:r>
            <a:r>
              <a:rPr lang="en-US" altLang="zh-CN" sz="2000" dirty="0">
                <a:cs typeface="微软雅黑" panose="020B0503020204020204" charset="-122"/>
                <a:sym typeface="+mn-ea"/>
              </a:rPr>
              <a:t>		B.</a:t>
            </a:r>
            <a:r>
              <a:rPr lang="zh-CN" altLang="en-US" sz="2000" dirty="0">
                <a:cs typeface="微软雅黑" panose="020B0503020204020204" charset="-122"/>
                <a:sym typeface="+mn-ea"/>
              </a:rPr>
              <a:t>第</a:t>
            </a:r>
            <a:r>
              <a:rPr lang="en-US" altLang="zh-CN" sz="2000" dirty="0">
                <a:cs typeface="微软雅黑" panose="020B0503020204020204" charset="-122"/>
                <a:sym typeface="+mn-ea"/>
              </a:rPr>
              <a:t>1</a:t>
            </a:r>
            <a:r>
              <a:rPr lang="zh-CN" altLang="en-US" sz="2000" dirty="0">
                <a:cs typeface="微软雅黑" panose="020B0503020204020204" charset="-122"/>
                <a:sym typeface="+mn-ea"/>
              </a:rPr>
              <a:t>行第</a:t>
            </a:r>
            <a:r>
              <a:rPr lang="en-US" altLang="zh-CN" sz="2000" dirty="0">
                <a:cs typeface="微软雅黑" panose="020B0503020204020204" charset="-122"/>
                <a:sym typeface="+mn-ea"/>
              </a:rPr>
              <a:t>2</a:t>
            </a:r>
            <a:r>
              <a:rPr lang="zh-CN" altLang="en-US" sz="2000" dirty="0">
                <a:cs typeface="微软雅黑" panose="020B0503020204020204" charset="-122"/>
                <a:sym typeface="+mn-ea"/>
              </a:rPr>
              <a:t>列</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第</a:t>
            </a:r>
            <a:r>
              <a:rPr lang="en-US" altLang="zh-CN" sz="2000" dirty="0">
                <a:cs typeface="微软雅黑" panose="020B0503020204020204" charset="-122"/>
                <a:sym typeface="+mn-ea"/>
              </a:rPr>
              <a:t>2</a:t>
            </a:r>
            <a:r>
              <a:rPr lang="zh-CN" altLang="en-US" sz="2000" dirty="0">
                <a:cs typeface="微软雅黑" panose="020B0503020204020204" charset="-122"/>
                <a:sym typeface="+mn-ea"/>
              </a:rPr>
              <a:t>行第</a:t>
            </a:r>
            <a:r>
              <a:rPr lang="en-US" altLang="zh-CN" sz="2000" dirty="0">
                <a:cs typeface="微软雅黑" panose="020B0503020204020204" charset="-122"/>
                <a:sym typeface="+mn-ea"/>
              </a:rPr>
              <a:t>1</a:t>
            </a:r>
            <a:r>
              <a:rPr lang="zh-CN" altLang="en-US" sz="2000" dirty="0">
                <a:cs typeface="微软雅黑" panose="020B0503020204020204" charset="-122"/>
                <a:sym typeface="+mn-ea"/>
              </a:rPr>
              <a:t>列</a:t>
            </a:r>
            <a:r>
              <a:rPr lang="en-US" altLang="zh-CN" sz="2000" dirty="0">
                <a:cs typeface="微软雅黑" panose="020B0503020204020204" charset="-122"/>
                <a:sym typeface="+mn-ea"/>
              </a:rPr>
              <a:t>		D.</a:t>
            </a:r>
            <a:r>
              <a:rPr lang="zh-CN" altLang="en-US" sz="2000" dirty="0">
                <a:cs typeface="微软雅黑" panose="020B0503020204020204" charset="-122"/>
                <a:sym typeface="+mn-ea"/>
              </a:rPr>
              <a:t>第</a:t>
            </a:r>
            <a:r>
              <a:rPr lang="en-US" altLang="zh-CN" sz="2000" dirty="0">
                <a:cs typeface="微软雅黑" panose="020B0503020204020204" charset="-122"/>
                <a:sym typeface="+mn-ea"/>
              </a:rPr>
              <a:t>2</a:t>
            </a:r>
            <a:r>
              <a:rPr lang="zh-CN" altLang="en-US" sz="2000" dirty="0">
                <a:cs typeface="微软雅黑" panose="020B0503020204020204" charset="-122"/>
                <a:sym typeface="+mn-ea"/>
              </a:rPr>
              <a:t>行第</a:t>
            </a:r>
            <a:r>
              <a:rPr lang="en-US" altLang="zh-CN" sz="2000" dirty="0">
                <a:cs typeface="微软雅黑" panose="020B0503020204020204" charset="-122"/>
                <a:sym typeface="+mn-ea"/>
              </a:rPr>
              <a:t>2</a:t>
            </a:r>
            <a:r>
              <a:rPr lang="zh-CN" altLang="en-US" sz="2000" dirty="0">
                <a:cs typeface="微软雅黑" panose="020B0503020204020204" charset="-122"/>
                <a:sym typeface="+mn-ea"/>
              </a:rPr>
              <a:t>列</a:t>
            </a:r>
            <a:endParaRPr lang="zh-CN" altLang="en-US" sz="2000" dirty="0">
              <a:cs typeface="微软雅黑" panose="020B0503020204020204" charset="-122"/>
              <a:sym typeface="+mn-ea"/>
            </a:endParaRPr>
          </a:p>
        </p:txBody>
      </p:sp>
      <p:pic>
        <p:nvPicPr>
          <p:cNvPr id="28" name="图片 15" descr="IMG_256"/>
          <p:cNvPicPr>
            <a:picLocks noChangeAspect="1"/>
          </p:cNvPicPr>
          <p:nvPr/>
        </p:nvPicPr>
        <p:blipFill>
          <a:blip r:embed="rId1"/>
          <a:stretch>
            <a:fillRect/>
          </a:stretch>
        </p:blipFill>
        <p:spPr>
          <a:xfrm>
            <a:off x="3458845" y="2158048"/>
            <a:ext cx="5274310" cy="2072005"/>
          </a:xfrm>
          <a:prstGeom prst="rect">
            <a:avLst/>
          </a:prstGeom>
          <a:noFill/>
          <a:ln w="9525">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sym typeface="+mn-ea"/>
              </a:rPr>
              <a:t>题</a:t>
            </a:r>
            <a:r>
              <a:rPr kumimoji="1" lang="en-US" altLang="zh-CN" sz="2800" b="1" dirty="0">
                <a:solidFill>
                  <a:srgbClr val="FF653F"/>
                </a:solidFill>
                <a:sym typeface="+mn-ea"/>
              </a:rPr>
              <a:t>71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dirty="0">
                <a:cs typeface="微软雅黑" panose="020B0503020204020204" charset="-122"/>
                <a:sym typeface="+mn-ea"/>
              </a:rPr>
              <a:t>观念广告是不直接介绍产品和宣传企业信誉，而是旨在建立或改变一种消费观念的广告。观念广告有两种，一是消费性观念广告，引导消费者改变原有的消费观念，树立新的消费观念和消费方式；二是社会性观念广告，在广告中展现对某一社会性问题的意见，以影响舆论，从而为企业营销服务。</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根据上述定义，下列不属于社会性观念广告的是（）。</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A.</a:t>
            </a:r>
            <a:r>
              <a:rPr lang="zh-CN" altLang="en-US" dirty="0">
                <a:cs typeface="微软雅黑" panose="020B0503020204020204" charset="-122"/>
                <a:sym typeface="+mn-ea"/>
              </a:rPr>
              <a:t>某电动车广告突出展现燃油车对环境造成的污染，引起消费者对环保问题的关注以及对电动车的兴趣</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B.</a:t>
            </a:r>
            <a:r>
              <a:rPr lang="zh-CN" altLang="en-US" dirty="0">
                <a:cs typeface="微软雅黑" panose="020B0503020204020204" charset="-122"/>
                <a:sym typeface="+mn-ea"/>
              </a:rPr>
              <a:t>某牙膏广告以</a:t>
            </a:r>
            <a:r>
              <a:rPr lang="en-US" altLang="zh-CN" dirty="0">
                <a:cs typeface="微软雅黑" panose="020B0503020204020204" charset="-122"/>
                <a:sym typeface="+mn-ea"/>
              </a:rPr>
              <a:t>“</a:t>
            </a:r>
            <a:r>
              <a:rPr lang="zh-CN" altLang="en-US" dirty="0">
                <a:cs typeface="微软雅黑" panose="020B0503020204020204" charset="-122"/>
                <a:sym typeface="+mn-ea"/>
              </a:rPr>
              <a:t>笑容传递快乐</a:t>
            </a:r>
            <a:r>
              <a:rPr lang="en-US" altLang="zh-CN" dirty="0">
                <a:cs typeface="微软雅黑" panose="020B0503020204020204" charset="-122"/>
                <a:sym typeface="+mn-ea"/>
              </a:rPr>
              <a:t>”</a:t>
            </a:r>
            <a:r>
              <a:rPr lang="zh-CN" altLang="en-US" dirty="0">
                <a:cs typeface="微软雅黑" panose="020B0503020204020204" charset="-122"/>
                <a:sym typeface="+mn-ea"/>
              </a:rPr>
              <a:t>为主题，通过一系列乐观的场景展现了笑容的力量，提醒大家口腔健康对于笑容的意义</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C.</a:t>
            </a:r>
            <a:r>
              <a:rPr lang="zh-CN" altLang="en-US" dirty="0">
                <a:cs typeface="微软雅黑" panose="020B0503020204020204" charset="-122"/>
                <a:sym typeface="+mn-ea"/>
              </a:rPr>
              <a:t>某钢琴生产企业抓住父母希望孩子身心健康的心态，不直接宣传钢琴的优点，而是打出了广告语</a:t>
            </a:r>
            <a:r>
              <a:rPr lang="en-US" altLang="zh-CN" dirty="0">
                <a:cs typeface="微软雅黑" panose="020B0503020204020204" charset="-122"/>
                <a:sym typeface="+mn-ea"/>
              </a:rPr>
              <a:t>“</a:t>
            </a:r>
            <a:r>
              <a:rPr lang="zh-CN" altLang="en-US" dirty="0">
                <a:cs typeface="微软雅黑" panose="020B0503020204020204" charset="-122"/>
                <a:sym typeface="+mn-ea"/>
              </a:rPr>
              <a:t>学琴的孩子不会变坏</a:t>
            </a:r>
            <a:r>
              <a:rPr lang="en-US" altLang="zh-CN" dirty="0">
                <a:cs typeface="微软雅黑" panose="020B0503020204020204" charset="-122"/>
                <a:sym typeface="+mn-ea"/>
              </a:rPr>
              <a:t>”</a:t>
            </a:r>
            <a:endParaRPr lang="en-US" altLang="zh-CN"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D.</a:t>
            </a:r>
            <a:r>
              <a:rPr lang="zh-CN" altLang="en-US" dirty="0">
                <a:cs typeface="微软雅黑" panose="020B0503020204020204" charset="-122"/>
                <a:sym typeface="+mn-ea"/>
              </a:rPr>
              <a:t>某餐饮企业在其户外电子屏幕上反复播放能为消费者提供的多种免费服务和娱乐项目，告诉顾客在享受美食时可感受到更多快乐</a:t>
            </a:r>
            <a:endParaRPr lang="zh-CN" altLang="en-US" dirty="0">
              <a:cs typeface="微软雅黑" panose="020B0503020204020204" charset="-122"/>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sym typeface="+mn-ea"/>
              </a:rPr>
              <a:t>题</a:t>
            </a:r>
            <a:r>
              <a:rPr kumimoji="1" lang="en-US" altLang="zh-CN" sz="2800" b="1" dirty="0">
                <a:solidFill>
                  <a:srgbClr val="FF653F"/>
                </a:solidFill>
                <a:sym typeface="+mn-ea"/>
              </a:rPr>
              <a:t>82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dirty="0">
                <a:cs typeface="微软雅黑" panose="020B0503020204020204" charset="-122"/>
                <a:sym typeface="+mn-ea"/>
              </a:rPr>
              <a:t>现代人大多注重养生，健康成为了人们的日常话题。</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甲：因纽特人很少生病。可见，较之于其他地区，寒冷地带更适宜养生。</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乙：我不认同！那为什么北方人大都往南方去？</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甲：南方的生活成本较低。</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以下哪项最可能是上述对话中乙所假设的前提？（）</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a:t>
            </a:r>
            <a:r>
              <a:rPr lang="en-US" altLang="zh-CN" dirty="0">
                <a:cs typeface="微软雅黑" panose="020B0503020204020204" charset="-122"/>
                <a:sym typeface="+mn-ea"/>
              </a:rPr>
              <a:t>1</a:t>
            </a:r>
            <a:r>
              <a:rPr lang="zh-CN" altLang="en-US" dirty="0">
                <a:cs typeface="微软雅黑" panose="020B0503020204020204" charset="-122"/>
                <a:sym typeface="+mn-ea"/>
              </a:rPr>
              <a:t>）人的迁移是为了养生</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a:t>
            </a:r>
            <a:r>
              <a:rPr lang="en-US" altLang="zh-CN" dirty="0">
                <a:cs typeface="微软雅黑" panose="020B0503020204020204" charset="-122"/>
                <a:sym typeface="+mn-ea"/>
              </a:rPr>
              <a:t>2</a:t>
            </a:r>
            <a:r>
              <a:rPr lang="zh-CN" altLang="en-US" dirty="0">
                <a:cs typeface="微软雅黑" panose="020B0503020204020204" charset="-122"/>
                <a:sym typeface="+mn-ea"/>
              </a:rPr>
              <a:t>）北方比南方寒冷</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a:t>
            </a:r>
            <a:r>
              <a:rPr lang="en-US" altLang="zh-CN" dirty="0">
                <a:cs typeface="微软雅黑" panose="020B0503020204020204" charset="-122"/>
                <a:sym typeface="+mn-ea"/>
              </a:rPr>
              <a:t>3</a:t>
            </a:r>
            <a:r>
              <a:rPr lang="zh-CN" altLang="en-US" dirty="0">
                <a:cs typeface="微软雅黑" panose="020B0503020204020204" charset="-122"/>
                <a:sym typeface="+mn-ea"/>
              </a:rPr>
              <a:t>）生活成本低的地方更适宜养生</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a:t>
            </a:r>
            <a:r>
              <a:rPr lang="en-US" altLang="zh-CN" dirty="0">
                <a:cs typeface="微软雅黑" panose="020B0503020204020204" charset="-122"/>
                <a:sym typeface="+mn-ea"/>
              </a:rPr>
              <a:t>4</a:t>
            </a:r>
            <a:r>
              <a:rPr lang="zh-CN" altLang="en-US" dirty="0">
                <a:cs typeface="微软雅黑" panose="020B0503020204020204" charset="-122"/>
                <a:sym typeface="+mn-ea"/>
              </a:rPr>
              <a:t>）患病率越低的地区越适宜养生</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A.</a:t>
            </a:r>
            <a:r>
              <a:rPr lang="zh-CN" altLang="en-US" dirty="0">
                <a:cs typeface="微软雅黑" panose="020B0503020204020204" charset="-122"/>
                <a:sym typeface="+mn-ea"/>
              </a:rPr>
              <a:t>仅（</a:t>
            </a:r>
            <a:r>
              <a:rPr lang="en-US" altLang="zh-CN" dirty="0">
                <a:cs typeface="微软雅黑" panose="020B0503020204020204" charset="-122"/>
                <a:sym typeface="+mn-ea"/>
              </a:rPr>
              <a:t>1</a:t>
            </a:r>
            <a:r>
              <a:rPr lang="zh-CN" altLang="en-US" dirty="0">
                <a:cs typeface="微软雅黑" panose="020B0503020204020204" charset="-122"/>
                <a:sym typeface="+mn-ea"/>
              </a:rPr>
              <a:t>）</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B.</a:t>
            </a:r>
            <a:r>
              <a:rPr lang="zh-CN" altLang="en-US" dirty="0">
                <a:cs typeface="微软雅黑" panose="020B0503020204020204" charset="-122"/>
                <a:sym typeface="+mn-ea"/>
              </a:rPr>
              <a:t>仅（</a:t>
            </a:r>
            <a:r>
              <a:rPr lang="en-US" altLang="zh-CN" dirty="0">
                <a:cs typeface="微软雅黑" panose="020B0503020204020204" charset="-122"/>
                <a:sym typeface="+mn-ea"/>
              </a:rPr>
              <a:t>1</a:t>
            </a:r>
            <a:r>
              <a:rPr lang="zh-CN" altLang="en-US" dirty="0">
                <a:cs typeface="微软雅黑" panose="020B0503020204020204" charset="-122"/>
                <a:sym typeface="+mn-ea"/>
              </a:rPr>
              <a:t>）（</a:t>
            </a:r>
            <a:r>
              <a:rPr lang="en-US" altLang="zh-CN" dirty="0">
                <a:cs typeface="微软雅黑" panose="020B0503020204020204" charset="-122"/>
                <a:sym typeface="+mn-ea"/>
              </a:rPr>
              <a:t>2</a:t>
            </a:r>
            <a:r>
              <a:rPr lang="zh-CN" altLang="en-US" dirty="0">
                <a:cs typeface="微软雅黑" panose="020B0503020204020204" charset="-122"/>
                <a:sym typeface="+mn-ea"/>
              </a:rPr>
              <a:t>）</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C.</a:t>
            </a:r>
            <a:r>
              <a:rPr lang="zh-CN" altLang="en-US" dirty="0">
                <a:cs typeface="微软雅黑" panose="020B0503020204020204" charset="-122"/>
                <a:sym typeface="+mn-ea"/>
              </a:rPr>
              <a:t>仅（</a:t>
            </a:r>
            <a:r>
              <a:rPr lang="en-US" altLang="zh-CN" dirty="0">
                <a:cs typeface="微软雅黑" panose="020B0503020204020204" charset="-122"/>
                <a:sym typeface="+mn-ea"/>
              </a:rPr>
              <a:t>2</a:t>
            </a:r>
            <a:r>
              <a:rPr lang="zh-CN" altLang="en-US" dirty="0">
                <a:cs typeface="微软雅黑" panose="020B0503020204020204" charset="-122"/>
                <a:sym typeface="+mn-ea"/>
              </a:rPr>
              <a:t>）（</a:t>
            </a:r>
            <a:r>
              <a:rPr lang="en-US" altLang="zh-CN" dirty="0">
                <a:cs typeface="微软雅黑" panose="020B0503020204020204" charset="-122"/>
                <a:sym typeface="+mn-ea"/>
              </a:rPr>
              <a:t>4</a:t>
            </a:r>
            <a:r>
              <a:rPr lang="zh-CN" altLang="en-US" dirty="0">
                <a:cs typeface="微软雅黑" panose="020B0503020204020204" charset="-122"/>
                <a:sym typeface="+mn-ea"/>
              </a:rPr>
              <a:t>）</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D.</a:t>
            </a:r>
            <a:r>
              <a:rPr lang="zh-CN" altLang="en-US" dirty="0">
                <a:cs typeface="微软雅黑" panose="020B0503020204020204" charset="-122"/>
                <a:sym typeface="+mn-ea"/>
              </a:rPr>
              <a:t>（</a:t>
            </a:r>
            <a:r>
              <a:rPr lang="en-US" altLang="zh-CN" dirty="0">
                <a:cs typeface="微软雅黑" panose="020B0503020204020204" charset="-122"/>
                <a:sym typeface="+mn-ea"/>
              </a:rPr>
              <a:t>1</a:t>
            </a:r>
            <a:r>
              <a:rPr lang="zh-CN" altLang="en-US" dirty="0">
                <a:cs typeface="微软雅黑" panose="020B0503020204020204" charset="-122"/>
                <a:sym typeface="+mn-ea"/>
              </a:rPr>
              <a:t>）（</a:t>
            </a:r>
            <a:r>
              <a:rPr lang="en-US" altLang="zh-CN" dirty="0">
                <a:cs typeface="微软雅黑" panose="020B0503020204020204" charset="-122"/>
                <a:sym typeface="+mn-ea"/>
              </a:rPr>
              <a:t>2</a:t>
            </a:r>
            <a:r>
              <a:rPr lang="zh-CN" altLang="en-US" dirty="0">
                <a:cs typeface="微软雅黑" panose="020B0503020204020204" charset="-122"/>
                <a:sym typeface="+mn-ea"/>
              </a:rPr>
              <a:t>）（</a:t>
            </a:r>
            <a:r>
              <a:rPr lang="en-US" altLang="zh-CN" dirty="0">
                <a:cs typeface="微软雅黑" panose="020B0503020204020204" charset="-122"/>
                <a:sym typeface="+mn-ea"/>
              </a:rPr>
              <a:t>3</a:t>
            </a:r>
            <a:r>
              <a:rPr lang="zh-CN" altLang="en-US" dirty="0">
                <a:cs typeface="微软雅黑" panose="020B0503020204020204" charset="-122"/>
                <a:sym typeface="+mn-ea"/>
              </a:rPr>
              <a:t>）（</a:t>
            </a:r>
            <a:r>
              <a:rPr lang="en-US" altLang="zh-CN" dirty="0">
                <a:cs typeface="微软雅黑" panose="020B0503020204020204" charset="-122"/>
                <a:sym typeface="+mn-ea"/>
              </a:rPr>
              <a:t>4</a:t>
            </a:r>
            <a:r>
              <a:rPr lang="zh-CN" altLang="en-US" dirty="0">
                <a:cs typeface="微软雅黑" panose="020B0503020204020204" charset="-122"/>
                <a:sym typeface="+mn-ea"/>
              </a:rPr>
              <a:t>）</a:t>
            </a:r>
            <a:endParaRPr lang="zh-CN" altLang="en-US" dirty="0">
              <a:cs typeface="微软雅黑" panose="020B0503020204020204" charset="-122"/>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sym typeface="+mn-ea"/>
              </a:rPr>
              <a:t>题</a:t>
            </a:r>
            <a:r>
              <a:rPr kumimoji="1" lang="en-US" altLang="zh-CN" sz="2800" b="1" dirty="0">
                <a:solidFill>
                  <a:srgbClr val="FF653F"/>
                </a:solidFill>
                <a:sym typeface="+mn-ea"/>
              </a:rPr>
              <a:t>85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dirty="0">
                <a:cs typeface="微软雅黑" panose="020B0503020204020204" charset="-122"/>
                <a:sym typeface="+mn-ea"/>
              </a:rPr>
              <a:t>芒康盆地位于青藏高原东南缘，平均海拔约</a:t>
            </a:r>
            <a:r>
              <a:rPr lang="en-US" altLang="zh-CN" dirty="0">
                <a:cs typeface="微软雅黑" panose="020B0503020204020204" charset="-122"/>
                <a:sym typeface="+mn-ea"/>
              </a:rPr>
              <a:t>4300</a:t>
            </a:r>
            <a:r>
              <a:rPr lang="zh-CN" altLang="en-US" dirty="0">
                <a:cs typeface="微软雅黑" panose="020B0503020204020204" charset="-122"/>
                <a:sym typeface="+mn-ea"/>
              </a:rPr>
              <a:t>米。以往研究认为，芒康盆地经历了两种气候，早期是低海拔沙漠气候，之后变为现在的半湿润季风性气候。然而化石研究发现，芒康盆地在距今</a:t>
            </a:r>
            <a:r>
              <a:rPr lang="en-US" altLang="zh-CN" dirty="0">
                <a:cs typeface="微软雅黑" panose="020B0503020204020204" charset="-122"/>
                <a:sym typeface="+mn-ea"/>
              </a:rPr>
              <a:t>4200</a:t>
            </a:r>
            <a:r>
              <a:rPr lang="zh-CN" altLang="en-US" dirty="0">
                <a:cs typeface="微软雅黑" panose="020B0503020204020204" charset="-122"/>
                <a:sym typeface="+mn-ea"/>
              </a:rPr>
              <a:t>万</a:t>
            </a:r>
            <a:r>
              <a:rPr lang="en-US" altLang="zh-CN" dirty="0">
                <a:cs typeface="微软雅黑" panose="020B0503020204020204" charset="-122"/>
                <a:sym typeface="+mn-ea"/>
              </a:rPr>
              <a:t>—3600</a:t>
            </a:r>
            <a:r>
              <a:rPr lang="zh-CN" altLang="en-US" dirty="0">
                <a:cs typeface="微软雅黑" panose="020B0503020204020204" charset="-122"/>
                <a:sym typeface="+mn-ea"/>
              </a:rPr>
              <a:t>万年的隆升过程中出现了大量的桉属、栎属植物。有学者据此认为，芒康盆地在隆升过程中经历过类似于地中海气候的环境条件。</a:t>
            </a:r>
            <a:endParaRPr lang="zh-CN" altLang="en-US" dirty="0">
              <a:cs typeface="微软雅黑" panose="020B0503020204020204" charset="-122"/>
              <a:sym typeface="+mn-ea"/>
            </a:endParaRPr>
          </a:p>
          <a:p>
            <a:pPr indent="0" fontAlgn="auto">
              <a:lnSpc>
                <a:spcPct val="150000"/>
              </a:lnSpc>
            </a:pP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以下哪项如果为真，不能支持上述论证？（）</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A.</a:t>
            </a:r>
            <a:r>
              <a:rPr lang="zh-CN" altLang="en-US" dirty="0">
                <a:cs typeface="微软雅黑" panose="020B0503020204020204" charset="-122"/>
                <a:sym typeface="+mn-ea"/>
              </a:rPr>
              <a:t>桉属、栎属植物属于亚热带常绿硬叶林，是地中海气候区的典型植物</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B.</a:t>
            </a:r>
            <a:r>
              <a:rPr lang="zh-CN" altLang="en-US" dirty="0">
                <a:cs typeface="微软雅黑" panose="020B0503020204020204" charset="-122"/>
                <a:sym typeface="+mn-ea"/>
              </a:rPr>
              <a:t>隆升时期，芒康盆地夏季高温炎热，秋冬季温和多雨，与现代地中海气候类似</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C.</a:t>
            </a:r>
            <a:r>
              <a:rPr lang="zh-CN" altLang="en-US" dirty="0">
                <a:cs typeface="微软雅黑" panose="020B0503020204020204" charset="-122"/>
                <a:sym typeface="+mn-ea"/>
              </a:rPr>
              <a:t>地中海气候是由西风带与副热带高气压带交替控制形成的，是亚热带、温带的一种气候类型</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D.</a:t>
            </a:r>
            <a:r>
              <a:rPr lang="zh-CN" altLang="en-US" dirty="0">
                <a:cs typeface="微软雅黑" panose="020B0503020204020204" charset="-122"/>
                <a:sym typeface="+mn-ea"/>
              </a:rPr>
              <a:t>隆升期的芒康盆地受到了附近海洋水汽的强烈影响，水汽流在这里形成双峰式降雨，接近地中海气候</a:t>
            </a:r>
            <a:endParaRPr lang="zh-CN" altLang="en-US" dirty="0">
              <a:cs typeface="微软雅黑" panose="020B0503020204020204" charset="-122"/>
              <a:sym typeface="+mn-ea"/>
            </a:endParaRPr>
          </a:p>
        </p:txBody>
      </p:sp>
      <p:sp>
        <p:nvSpPr>
          <p:cNvPr id="4" name="文本框 3"/>
          <p:cNvSpPr txBox="1"/>
          <p:nvPr/>
        </p:nvSpPr>
        <p:spPr>
          <a:xfrm>
            <a:off x="2800985" y="2429510"/>
            <a:ext cx="9164955" cy="810260"/>
          </a:xfrm>
          <a:prstGeom prst="rect">
            <a:avLst/>
          </a:prstGeom>
          <a:noFill/>
        </p:spPr>
        <p:txBody>
          <a:bodyPr wrap="square" rtlCol="0" anchor="t">
            <a:spAutoFit/>
          </a:bodyPr>
          <a:p>
            <a:pPr indent="0" fontAlgn="auto">
              <a:lnSpc>
                <a:spcPct val="130000"/>
              </a:lnSpc>
            </a:pPr>
            <a:r>
              <a:rPr lang="zh-CN" altLang="en-US" dirty="0">
                <a:solidFill>
                  <a:srgbClr val="FF0000"/>
                </a:solidFill>
                <a:effectLst/>
                <a:cs typeface="楷体" panose="02010609060101010101" charset="-122"/>
                <a:sym typeface="+mn-ea"/>
              </a:rPr>
              <a:t>论据：芒康盆地在距今</a:t>
            </a:r>
            <a:r>
              <a:rPr lang="en-US" altLang="zh-CN" dirty="0">
                <a:solidFill>
                  <a:srgbClr val="FF0000"/>
                </a:solidFill>
                <a:effectLst/>
                <a:cs typeface="楷体" panose="02010609060101010101" charset="-122"/>
                <a:sym typeface="+mn-ea"/>
              </a:rPr>
              <a:t>4200</a:t>
            </a:r>
            <a:r>
              <a:rPr lang="zh-CN" altLang="en-US" dirty="0">
                <a:solidFill>
                  <a:srgbClr val="FF0000"/>
                </a:solidFill>
                <a:effectLst/>
                <a:cs typeface="楷体" panose="02010609060101010101" charset="-122"/>
                <a:sym typeface="+mn-ea"/>
              </a:rPr>
              <a:t>万</a:t>
            </a:r>
            <a:r>
              <a:rPr lang="en-US" altLang="zh-CN" dirty="0">
                <a:solidFill>
                  <a:srgbClr val="FF0000"/>
                </a:solidFill>
                <a:effectLst/>
                <a:cs typeface="楷体" panose="02010609060101010101" charset="-122"/>
                <a:sym typeface="+mn-ea"/>
              </a:rPr>
              <a:t>—3600</a:t>
            </a:r>
            <a:r>
              <a:rPr lang="zh-CN" altLang="en-US" dirty="0">
                <a:solidFill>
                  <a:srgbClr val="FF0000"/>
                </a:solidFill>
                <a:effectLst/>
                <a:cs typeface="楷体" panose="02010609060101010101" charset="-122"/>
                <a:sym typeface="+mn-ea"/>
              </a:rPr>
              <a:t>万年的隆升过程中出现了大量的桉属、栎属植物。</a:t>
            </a:r>
            <a:r>
              <a:rPr lang="zh-CN" altLang="en-US" dirty="0">
                <a:solidFill>
                  <a:srgbClr val="FF0000"/>
                </a:solidFill>
                <a:effectLst/>
                <a:cs typeface="楷体" panose="02010609060101010101" charset="-122"/>
                <a:sym typeface="+mn-ea"/>
              </a:rPr>
              <a:t>论点：芒康盆地在隆升过程中经历过类似于地中海气候的环境条件。</a:t>
            </a:r>
            <a:endParaRPr lang="zh-CN" altLang="en-US" dirty="0">
              <a:solidFill>
                <a:srgbClr val="FF0000"/>
              </a:solidFill>
              <a:effectLst/>
              <a:cs typeface="楷体" panose="0201060906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sym typeface="+mn-ea"/>
              </a:rPr>
              <a:t>题</a:t>
            </a:r>
            <a:r>
              <a:rPr kumimoji="1" lang="en-US" altLang="zh-CN" sz="2800" b="1" dirty="0">
                <a:solidFill>
                  <a:srgbClr val="FF653F"/>
                </a:solidFill>
                <a:sym typeface="+mn-ea"/>
              </a:rPr>
              <a:t>8</a:t>
            </a:r>
            <a:r>
              <a:rPr kumimoji="1" lang="en-US" altLang="zh-CN" sz="2800" b="1" dirty="0">
                <a:solidFill>
                  <a:srgbClr val="FF653F"/>
                </a:solidFill>
                <a:sym typeface="+mn-ea"/>
              </a:rPr>
              <a:t>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00000"/>
              </a:lnSpc>
            </a:pPr>
            <a:r>
              <a:rPr lang="zh-CN" altLang="en-US" dirty="0">
                <a:cs typeface="微软雅黑" panose="020B0503020204020204" charset="-122"/>
                <a:sym typeface="+mn-ea"/>
              </a:rPr>
              <a:t>根据以下材料，回答</a:t>
            </a:r>
            <a:r>
              <a:rPr lang="en-US" altLang="zh-CN" dirty="0">
                <a:cs typeface="微软雅黑" panose="020B0503020204020204" charset="-122"/>
                <a:sym typeface="+mn-ea"/>
              </a:rPr>
              <a:t>88</a:t>
            </a:r>
            <a:r>
              <a:rPr lang="zh-CN" altLang="en-US" dirty="0">
                <a:cs typeface="微软雅黑" panose="020B0503020204020204" charset="-122"/>
                <a:sym typeface="+mn-ea"/>
              </a:rPr>
              <a:t>～</a:t>
            </a:r>
            <a:r>
              <a:rPr lang="en-US" altLang="zh-CN" dirty="0">
                <a:cs typeface="微软雅黑" panose="020B0503020204020204" charset="-122"/>
                <a:sym typeface="+mn-ea"/>
              </a:rPr>
              <a:t>90</a:t>
            </a:r>
            <a:r>
              <a:rPr lang="zh-CN" altLang="en-US" dirty="0">
                <a:cs typeface="微软雅黑" panose="020B0503020204020204" charset="-122"/>
                <a:sym typeface="+mn-ea"/>
              </a:rPr>
              <a:t>题。</a:t>
            </a:r>
            <a:endParaRPr lang="zh-CN" altLang="en-US" dirty="0">
              <a:cs typeface="微软雅黑" panose="020B0503020204020204" charset="-122"/>
              <a:sym typeface="+mn-ea"/>
            </a:endParaRPr>
          </a:p>
          <a:p>
            <a:pPr indent="0" fontAlgn="auto">
              <a:lnSpc>
                <a:spcPct val="100000"/>
              </a:lnSpc>
            </a:pPr>
            <a:r>
              <a:rPr lang="zh-CN" altLang="en-US" dirty="0">
                <a:cs typeface="微软雅黑" panose="020B0503020204020204" charset="-122"/>
                <a:sym typeface="+mn-ea"/>
              </a:rPr>
              <a:t>一段时间以来，网络暴力成为污染网络生态的顽瘴固疾，给受害者乃至整个社会带来了极大的危害。针对如何有效遏制网暴，甲、乙、丙、丁四人分别发表了各自的看法。</a:t>
            </a:r>
            <a:endParaRPr lang="zh-CN" altLang="en-US" dirty="0">
              <a:cs typeface="微软雅黑" panose="020B0503020204020204" charset="-122"/>
              <a:sym typeface="+mn-ea"/>
            </a:endParaRPr>
          </a:p>
          <a:p>
            <a:pPr indent="0" fontAlgn="auto">
              <a:lnSpc>
                <a:spcPct val="100000"/>
              </a:lnSpc>
            </a:pPr>
            <a:r>
              <a:rPr lang="zh-CN" altLang="en-US" dirty="0">
                <a:cs typeface="微软雅黑" panose="020B0503020204020204" charset="-122"/>
                <a:sym typeface="+mn-ea"/>
              </a:rPr>
              <a:t>甲说：遏制网暴，必须让网暴者</a:t>
            </a:r>
            <a:r>
              <a:rPr lang="en-US" altLang="zh-CN" dirty="0">
                <a:cs typeface="微软雅黑" panose="020B0503020204020204" charset="-122"/>
                <a:sym typeface="+mn-ea"/>
              </a:rPr>
              <a:t>“</a:t>
            </a:r>
            <a:r>
              <a:rPr lang="zh-CN" altLang="en-US" dirty="0">
                <a:cs typeface="微软雅黑" panose="020B0503020204020204" charset="-122"/>
                <a:sym typeface="+mn-ea"/>
              </a:rPr>
              <a:t>痛到不敢再犯</a:t>
            </a:r>
            <a:r>
              <a:rPr lang="en-US" altLang="zh-CN" dirty="0">
                <a:cs typeface="微软雅黑" panose="020B0503020204020204" charset="-122"/>
                <a:sym typeface="+mn-ea"/>
              </a:rPr>
              <a:t>”</a:t>
            </a:r>
            <a:r>
              <a:rPr lang="zh-CN" altLang="en-US" dirty="0">
                <a:cs typeface="微软雅黑" panose="020B0503020204020204" charset="-122"/>
                <a:sym typeface="+mn-ea"/>
              </a:rPr>
              <a:t>！关键在于，要对网暴者依法重拳出击。因此，只要网暴受害者拿起法律武器捍卫自身权益，就能有效遏制网暴。</a:t>
            </a:r>
            <a:endParaRPr lang="zh-CN" altLang="en-US" dirty="0">
              <a:cs typeface="微软雅黑" panose="020B0503020204020204" charset="-122"/>
              <a:sym typeface="+mn-ea"/>
            </a:endParaRPr>
          </a:p>
          <a:p>
            <a:pPr indent="0" fontAlgn="auto">
              <a:lnSpc>
                <a:spcPct val="100000"/>
              </a:lnSpc>
            </a:pPr>
            <a:r>
              <a:rPr lang="zh-CN" altLang="en-US" dirty="0">
                <a:cs typeface="微软雅黑" panose="020B0503020204020204" charset="-122"/>
                <a:sym typeface="+mn-ea"/>
              </a:rPr>
              <a:t>乙说：我不同意。事实上，面对陌生网民的网暴行为，普通人几乎没有确定责任主体和调查取证的能力，也缺乏维权的精力和金钱。</a:t>
            </a:r>
            <a:endParaRPr lang="zh-CN" altLang="en-US" dirty="0">
              <a:cs typeface="微软雅黑" panose="020B0503020204020204" charset="-122"/>
              <a:sym typeface="+mn-ea"/>
            </a:endParaRPr>
          </a:p>
          <a:p>
            <a:pPr indent="0" fontAlgn="auto">
              <a:lnSpc>
                <a:spcPct val="100000"/>
              </a:lnSpc>
            </a:pPr>
            <a:r>
              <a:rPr lang="zh-CN" altLang="en-US" dirty="0">
                <a:cs typeface="微软雅黑" panose="020B0503020204020204" charset="-122"/>
                <a:sym typeface="+mn-ea"/>
              </a:rPr>
              <a:t>丙说：我也不同意甲的观点。遏制网暴，关键不在于网暴受害者事后拿起法律武器捍卫自身权益。因为遏制网暴，关键在于要防患于未然。平台是网暴治理的第一道防线。因此，遏制网暴，应以平台责任为先。</a:t>
            </a:r>
            <a:endParaRPr lang="zh-CN" altLang="en-US" dirty="0">
              <a:cs typeface="微软雅黑" panose="020B0503020204020204" charset="-122"/>
              <a:sym typeface="+mn-ea"/>
            </a:endParaRPr>
          </a:p>
          <a:p>
            <a:pPr indent="0" fontAlgn="auto">
              <a:lnSpc>
                <a:spcPct val="100000"/>
              </a:lnSpc>
            </a:pPr>
            <a:r>
              <a:rPr lang="zh-CN" altLang="en-US" dirty="0">
                <a:cs typeface="微软雅黑" panose="020B0503020204020204" charset="-122"/>
                <a:sym typeface="+mn-ea"/>
              </a:rPr>
              <a:t>丁说：我同意丙的观点，我国目前采用</a:t>
            </a:r>
            <a:r>
              <a:rPr lang="en-US" altLang="zh-CN" dirty="0">
                <a:cs typeface="微软雅黑" panose="020B0503020204020204" charset="-122"/>
                <a:sym typeface="+mn-ea"/>
              </a:rPr>
              <a:t>“</a:t>
            </a:r>
            <a:r>
              <a:rPr lang="zh-CN" altLang="en-US" dirty="0">
                <a:cs typeface="微软雅黑" panose="020B0503020204020204" charset="-122"/>
                <a:sym typeface="+mn-ea"/>
              </a:rPr>
              <a:t>后台实名，前台自愿</a:t>
            </a:r>
            <a:r>
              <a:rPr lang="en-US" altLang="zh-CN" dirty="0">
                <a:cs typeface="微软雅黑" panose="020B0503020204020204" charset="-122"/>
                <a:sym typeface="+mn-ea"/>
              </a:rPr>
              <a:t>”</a:t>
            </a:r>
            <a:r>
              <a:rPr lang="zh-CN" altLang="en-US" dirty="0">
                <a:cs typeface="微软雅黑" panose="020B0503020204020204" charset="-122"/>
                <a:sym typeface="+mn-ea"/>
              </a:rPr>
              <a:t>制度，网络发言无需透露真实姓名。我认为，匿名发布是造成网暴愈演愈烈的重要原因，采取前台实名制，确有可能对网暴者产生一定约束，减少网暴的发生。</a:t>
            </a:r>
            <a:endParaRPr lang="zh-CN" altLang="en-US" dirty="0">
              <a:cs typeface="微软雅黑" panose="020B0503020204020204" charset="-122"/>
              <a:sym typeface="+mn-ea"/>
            </a:endParaRPr>
          </a:p>
          <a:p>
            <a:pPr indent="0" fontAlgn="auto">
              <a:lnSpc>
                <a:spcPct val="100000"/>
              </a:lnSpc>
            </a:pPr>
            <a:r>
              <a:rPr lang="en-US" altLang="zh-CN" dirty="0">
                <a:cs typeface="微软雅黑" panose="020B0503020204020204" charset="-122"/>
                <a:sym typeface="+mn-ea"/>
              </a:rPr>
              <a:t>88.</a:t>
            </a:r>
            <a:r>
              <a:rPr lang="zh-CN" altLang="en-US" dirty="0">
                <a:cs typeface="微软雅黑" panose="020B0503020204020204" charset="-122"/>
                <a:sym typeface="+mn-ea"/>
              </a:rPr>
              <a:t>关于乙对甲的反驳，以下哪项评价最为准确？（）</a:t>
            </a:r>
            <a:endParaRPr lang="zh-CN" altLang="en-US" dirty="0">
              <a:cs typeface="微软雅黑" panose="020B0503020204020204" charset="-122"/>
              <a:sym typeface="+mn-ea"/>
            </a:endParaRPr>
          </a:p>
          <a:p>
            <a:pPr indent="0" fontAlgn="auto">
              <a:lnSpc>
                <a:spcPct val="100000"/>
              </a:lnSpc>
            </a:pPr>
            <a:r>
              <a:rPr lang="en-US" altLang="zh-CN" dirty="0">
                <a:cs typeface="微软雅黑" panose="020B0503020204020204" charset="-122"/>
                <a:sym typeface="+mn-ea"/>
              </a:rPr>
              <a:t>A.</a:t>
            </a:r>
            <a:r>
              <a:rPr lang="zh-CN" altLang="en-US" dirty="0">
                <a:cs typeface="微软雅黑" panose="020B0503020204020204" charset="-122"/>
                <a:sym typeface="+mn-ea"/>
              </a:rPr>
              <a:t>乙反驳了甲的论点</a:t>
            </a:r>
            <a:endParaRPr lang="zh-CN" altLang="en-US" dirty="0">
              <a:cs typeface="微软雅黑" panose="020B0503020204020204" charset="-122"/>
              <a:sym typeface="+mn-ea"/>
            </a:endParaRPr>
          </a:p>
          <a:p>
            <a:pPr indent="0" fontAlgn="auto">
              <a:lnSpc>
                <a:spcPct val="100000"/>
              </a:lnSpc>
            </a:pPr>
            <a:r>
              <a:rPr lang="en-US" altLang="zh-CN" dirty="0">
                <a:cs typeface="微软雅黑" panose="020B0503020204020204" charset="-122"/>
                <a:sym typeface="+mn-ea"/>
              </a:rPr>
              <a:t>B.</a:t>
            </a:r>
            <a:r>
              <a:rPr lang="zh-CN" altLang="en-US" dirty="0">
                <a:cs typeface="微软雅黑" panose="020B0503020204020204" charset="-122"/>
                <a:sym typeface="+mn-ea"/>
              </a:rPr>
              <a:t>乙指出了甲的逻辑错误</a:t>
            </a:r>
            <a:endParaRPr lang="zh-CN" altLang="en-US" dirty="0">
              <a:cs typeface="微软雅黑" panose="020B0503020204020204" charset="-122"/>
              <a:sym typeface="+mn-ea"/>
            </a:endParaRPr>
          </a:p>
          <a:p>
            <a:pPr indent="0" fontAlgn="auto">
              <a:lnSpc>
                <a:spcPct val="100000"/>
              </a:lnSpc>
            </a:pPr>
            <a:r>
              <a:rPr lang="en-US" altLang="zh-CN" dirty="0">
                <a:cs typeface="微软雅黑" panose="020B0503020204020204" charset="-122"/>
                <a:sym typeface="+mn-ea"/>
              </a:rPr>
              <a:t>C.</a:t>
            </a:r>
            <a:r>
              <a:rPr lang="zh-CN" altLang="en-US" dirty="0">
                <a:cs typeface="微软雅黑" panose="020B0503020204020204" charset="-122"/>
                <a:sym typeface="+mn-ea"/>
              </a:rPr>
              <a:t>乙反驳了甲的论证方式</a:t>
            </a:r>
            <a:endParaRPr lang="zh-CN" altLang="en-US" dirty="0">
              <a:cs typeface="微软雅黑" panose="020B0503020204020204" charset="-122"/>
              <a:sym typeface="+mn-ea"/>
            </a:endParaRPr>
          </a:p>
          <a:p>
            <a:pPr indent="0" fontAlgn="auto">
              <a:lnSpc>
                <a:spcPct val="100000"/>
              </a:lnSpc>
            </a:pPr>
            <a:r>
              <a:rPr lang="en-US" altLang="zh-CN" dirty="0">
                <a:cs typeface="微软雅黑" panose="020B0503020204020204" charset="-122"/>
                <a:sym typeface="+mn-ea"/>
              </a:rPr>
              <a:t>D.</a:t>
            </a:r>
            <a:r>
              <a:rPr lang="zh-CN" altLang="en-US" dirty="0">
                <a:cs typeface="微软雅黑" panose="020B0503020204020204" charset="-122"/>
                <a:sym typeface="+mn-ea"/>
              </a:rPr>
              <a:t>乙反驳了甲的前提假设</a:t>
            </a:r>
            <a:endParaRPr lang="zh-CN" altLang="en-US" dirty="0">
              <a:cs typeface="微软雅黑" panose="020B0503020204020204" charset="-122"/>
              <a:sym typeface="+mn-ea"/>
            </a:endParaRPr>
          </a:p>
        </p:txBody>
      </p:sp>
      <p:sp>
        <p:nvSpPr>
          <p:cNvPr id="4" name="文本框 3"/>
          <p:cNvSpPr txBox="1"/>
          <p:nvPr/>
        </p:nvSpPr>
        <p:spPr>
          <a:xfrm>
            <a:off x="3699510" y="4874895"/>
            <a:ext cx="8492490" cy="810260"/>
          </a:xfrm>
          <a:prstGeom prst="rect">
            <a:avLst/>
          </a:prstGeom>
          <a:noFill/>
        </p:spPr>
        <p:txBody>
          <a:bodyPr wrap="square" rtlCol="0" anchor="t">
            <a:spAutoFit/>
          </a:bodyPr>
          <a:p>
            <a:pPr indent="0" fontAlgn="auto">
              <a:lnSpc>
                <a:spcPct val="130000"/>
              </a:lnSpc>
            </a:pPr>
            <a:r>
              <a:rPr lang="zh-CN" altLang="en-US" dirty="0">
                <a:solidFill>
                  <a:srgbClr val="FF0000"/>
                </a:solidFill>
                <a:effectLst/>
                <a:cs typeface="楷体" panose="02010609060101010101" charset="-122"/>
                <a:sym typeface="+mn-ea"/>
              </a:rPr>
              <a:t>甲：遏制网暴的关键是拿起法律武器捍卫自身权益</a:t>
            </a:r>
            <a:endParaRPr lang="zh-CN" altLang="en-US" dirty="0">
              <a:solidFill>
                <a:srgbClr val="FF0000"/>
              </a:solidFill>
              <a:effectLst/>
              <a:cs typeface="楷体" panose="02010609060101010101" charset="-122"/>
              <a:sym typeface="+mn-ea"/>
            </a:endParaRPr>
          </a:p>
          <a:p>
            <a:pPr indent="0" fontAlgn="auto">
              <a:lnSpc>
                <a:spcPct val="130000"/>
              </a:lnSpc>
            </a:pPr>
            <a:r>
              <a:rPr lang="zh-CN" altLang="en-US" dirty="0">
                <a:solidFill>
                  <a:srgbClr val="FF0000"/>
                </a:solidFill>
                <a:effectLst/>
                <a:cs typeface="楷体" panose="02010609060101010101" charset="-122"/>
                <a:sym typeface="+mn-ea"/>
              </a:rPr>
              <a:t>乙：普通人几乎没有确定责任主体和调查取证的能力，也缺乏维权的精力和金钱</a:t>
            </a:r>
            <a:endParaRPr lang="zh-CN" altLang="en-US" dirty="0">
              <a:solidFill>
                <a:srgbClr val="FF0000"/>
              </a:solidFill>
              <a:effectLst/>
              <a:cs typeface="楷体" panose="0201060906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sym typeface="+mn-ea"/>
              </a:rPr>
              <a:t>题</a:t>
            </a:r>
            <a:r>
              <a:rPr kumimoji="1" lang="en-US" altLang="zh-CN" sz="2800" b="1" dirty="0">
                <a:solidFill>
                  <a:srgbClr val="FF653F"/>
                </a:solidFill>
                <a:sym typeface="+mn-ea"/>
              </a:rPr>
              <a:t>89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00000"/>
              </a:lnSpc>
            </a:pPr>
            <a:r>
              <a:rPr lang="zh-CN" altLang="en-US" dirty="0">
                <a:cs typeface="微软雅黑" panose="020B0503020204020204" charset="-122"/>
                <a:sym typeface="+mn-ea"/>
              </a:rPr>
              <a:t>根据以下材料，回答</a:t>
            </a:r>
            <a:r>
              <a:rPr lang="en-US" altLang="zh-CN" dirty="0">
                <a:cs typeface="微软雅黑" panose="020B0503020204020204" charset="-122"/>
                <a:sym typeface="+mn-ea"/>
              </a:rPr>
              <a:t>88</a:t>
            </a:r>
            <a:r>
              <a:rPr lang="zh-CN" altLang="en-US" dirty="0">
                <a:cs typeface="微软雅黑" panose="020B0503020204020204" charset="-122"/>
                <a:sym typeface="+mn-ea"/>
              </a:rPr>
              <a:t>～</a:t>
            </a:r>
            <a:r>
              <a:rPr lang="en-US" altLang="zh-CN" dirty="0">
                <a:cs typeface="微软雅黑" panose="020B0503020204020204" charset="-122"/>
                <a:sym typeface="+mn-ea"/>
              </a:rPr>
              <a:t>90</a:t>
            </a:r>
            <a:r>
              <a:rPr lang="zh-CN" altLang="en-US" dirty="0">
                <a:cs typeface="微软雅黑" panose="020B0503020204020204" charset="-122"/>
                <a:sym typeface="+mn-ea"/>
              </a:rPr>
              <a:t>题。</a:t>
            </a:r>
            <a:endParaRPr lang="zh-CN" altLang="en-US" dirty="0">
              <a:cs typeface="微软雅黑" panose="020B0503020204020204" charset="-122"/>
              <a:sym typeface="+mn-ea"/>
            </a:endParaRPr>
          </a:p>
          <a:p>
            <a:pPr indent="0" fontAlgn="auto">
              <a:lnSpc>
                <a:spcPct val="100000"/>
              </a:lnSpc>
            </a:pPr>
            <a:r>
              <a:rPr lang="zh-CN" altLang="en-US" dirty="0">
                <a:cs typeface="微软雅黑" panose="020B0503020204020204" charset="-122"/>
                <a:sym typeface="+mn-ea"/>
              </a:rPr>
              <a:t>一段时间以来，网络暴力成为污染网络生态的顽瘴固疾，给受害者乃至整个社会带来了极大的危害。针对如何有效遏制网暴，甲、乙、丙、丁四人分别发表了各自的看法。</a:t>
            </a:r>
            <a:endParaRPr lang="zh-CN" altLang="en-US" dirty="0">
              <a:cs typeface="微软雅黑" panose="020B0503020204020204" charset="-122"/>
              <a:sym typeface="+mn-ea"/>
            </a:endParaRPr>
          </a:p>
          <a:p>
            <a:pPr indent="0" fontAlgn="auto">
              <a:lnSpc>
                <a:spcPct val="100000"/>
              </a:lnSpc>
            </a:pPr>
            <a:r>
              <a:rPr lang="zh-CN" altLang="en-US" dirty="0">
                <a:cs typeface="微软雅黑" panose="020B0503020204020204" charset="-122"/>
                <a:sym typeface="+mn-ea"/>
              </a:rPr>
              <a:t>甲说：遏制网暴，必须让网暴者</a:t>
            </a:r>
            <a:r>
              <a:rPr lang="en-US" altLang="zh-CN" dirty="0">
                <a:cs typeface="微软雅黑" panose="020B0503020204020204" charset="-122"/>
                <a:sym typeface="+mn-ea"/>
              </a:rPr>
              <a:t>“</a:t>
            </a:r>
            <a:r>
              <a:rPr lang="zh-CN" altLang="en-US" dirty="0">
                <a:cs typeface="微软雅黑" panose="020B0503020204020204" charset="-122"/>
                <a:sym typeface="+mn-ea"/>
              </a:rPr>
              <a:t>痛到不敢再犯</a:t>
            </a:r>
            <a:r>
              <a:rPr lang="en-US" altLang="zh-CN" dirty="0">
                <a:cs typeface="微软雅黑" panose="020B0503020204020204" charset="-122"/>
                <a:sym typeface="+mn-ea"/>
              </a:rPr>
              <a:t>”</a:t>
            </a:r>
            <a:r>
              <a:rPr lang="zh-CN" altLang="en-US" dirty="0">
                <a:cs typeface="微软雅黑" panose="020B0503020204020204" charset="-122"/>
                <a:sym typeface="+mn-ea"/>
              </a:rPr>
              <a:t>！关键在于，要对网暴者依法重拳出击。因此，只要网暴受害者拿起法律武器捍卫自身权益，就能有效遏制网暴。</a:t>
            </a:r>
            <a:endParaRPr lang="zh-CN" altLang="en-US" dirty="0">
              <a:cs typeface="微软雅黑" panose="020B0503020204020204" charset="-122"/>
              <a:sym typeface="+mn-ea"/>
            </a:endParaRPr>
          </a:p>
          <a:p>
            <a:pPr indent="0" fontAlgn="auto">
              <a:lnSpc>
                <a:spcPct val="100000"/>
              </a:lnSpc>
            </a:pPr>
            <a:r>
              <a:rPr lang="zh-CN" altLang="en-US" dirty="0">
                <a:cs typeface="微软雅黑" panose="020B0503020204020204" charset="-122"/>
                <a:sym typeface="+mn-ea"/>
              </a:rPr>
              <a:t>乙说：我不同意。事实上，面对陌生网民的网暴行为，普通人几乎没有确定责任主体和调查取证的能力，也缺乏维权的精力和金钱。</a:t>
            </a:r>
            <a:endParaRPr lang="zh-CN" altLang="en-US" dirty="0">
              <a:cs typeface="微软雅黑" panose="020B0503020204020204" charset="-122"/>
              <a:sym typeface="+mn-ea"/>
            </a:endParaRPr>
          </a:p>
          <a:p>
            <a:pPr indent="0" fontAlgn="auto">
              <a:lnSpc>
                <a:spcPct val="100000"/>
              </a:lnSpc>
            </a:pPr>
            <a:r>
              <a:rPr lang="zh-CN" altLang="en-US" dirty="0">
                <a:cs typeface="微软雅黑" panose="020B0503020204020204" charset="-122"/>
                <a:sym typeface="+mn-ea"/>
              </a:rPr>
              <a:t>丙说：我也不同意甲的观点。遏制网暴，关键不在于网暴受害者事后拿起法律武器捍卫自身权益。因为遏制网暴，关键在于要防患于未然。平台是网暴治理的第一道防线。因此，遏制网暴，应以平台责任为先。</a:t>
            </a:r>
            <a:endParaRPr lang="zh-CN" altLang="en-US" dirty="0">
              <a:cs typeface="微软雅黑" panose="020B0503020204020204" charset="-122"/>
              <a:sym typeface="+mn-ea"/>
            </a:endParaRPr>
          </a:p>
          <a:p>
            <a:pPr indent="0" fontAlgn="auto">
              <a:lnSpc>
                <a:spcPct val="100000"/>
              </a:lnSpc>
            </a:pPr>
            <a:r>
              <a:rPr lang="zh-CN" altLang="en-US" dirty="0">
                <a:cs typeface="微软雅黑" panose="020B0503020204020204" charset="-122"/>
                <a:sym typeface="+mn-ea"/>
              </a:rPr>
              <a:t>丁说：我同意丙的观点，我国目前采用</a:t>
            </a:r>
            <a:r>
              <a:rPr lang="en-US" altLang="zh-CN" dirty="0">
                <a:cs typeface="微软雅黑" panose="020B0503020204020204" charset="-122"/>
                <a:sym typeface="+mn-ea"/>
              </a:rPr>
              <a:t>“</a:t>
            </a:r>
            <a:r>
              <a:rPr lang="zh-CN" altLang="en-US" dirty="0">
                <a:cs typeface="微软雅黑" panose="020B0503020204020204" charset="-122"/>
                <a:sym typeface="+mn-ea"/>
              </a:rPr>
              <a:t>后台实名，前台自愿</a:t>
            </a:r>
            <a:r>
              <a:rPr lang="en-US" altLang="zh-CN" dirty="0">
                <a:cs typeface="微软雅黑" panose="020B0503020204020204" charset="-122"/>
                <a:sym typeface="+mn-ea"/>
              </a:rPr>
              <a:t>”</a:t>
            </a:r>
            <a:r>
              <a:rPr lang="zh-CN" altLang="en-US" dirty="0">
                <a:cs typeface="微软雅黑" panose="020B0503020204020204" charset="-122"/>
                <a:sym typeface="+mn-ea"/>
              </a:rPr>
              <a:t>制度，网络发言无需透露真实姓名。我认为，匿名发布是造成网暴愈演愈烈的重要原因，采取前台实名制，确有可能对网暴者产生一定约束，减少网暴的发生。</a:t>
            </a:r>
            <a:endParaRPr lang="zh-CN" altLang="en-US" dirty="0">
              <a:cs typeface="微软雅黑" panose="020B0503020204020204" charset="-122"/>
              <a:sym typeface="+mn-ea"/>
            </a:endParaRPr>
          </a:p>
          <a:p>
            <a:pPr indent="0" fontAlgn="auto">
              <a:lnSpc>
                <a:spcPct val="100000"/>
              </a:lnSpc>
            </a:pPr>
            <a:r>
              <a:rPr lang="en-US" altLang="zh-CN" dirty="0">
                <a:cs typeface="微软雅黑" panose="020B0503020204020204" charset="-122"/>
                <a:sym typeface="+mn-ea"/>
              </a:rPr>
              <a:t>89.</a:t>
            </a:r>
            <a:r>
              <a:rPr lang="zh-CN" altLang="en-US" dirty="0">
                <a:cs typeface="微软雅黑" panose="020B0503020204020204" charset="-122"/>
                <a:sym typeface="+mn-ea"/>
              </a:rPr>
              <a:t>甲、丙两人争论的焦点是（）。</a:t>
            </a:r>
            <a:endParaRPr lang="zh-CN" altLang="en-US" dirty="0">
              <a:cs typeface="微软雅黑" panose="020B0503020204020204" charset="-122"/>
              <a:sym typeface="+mn-ea"/>
            </a:endParaRPr>
          </a:p>
          <a:p>
            <a:pPr indent="0" fontAlgn="auto">
              <a:lnSpc>
                <a:spcPct val="100000"/>
              </a:lnSpc>
            </a:pPr>
            <a:r>
              <a:rPr lang="en-US" altLang="zh-CN" dirty="0">
                <a:cs typeface="微软雅黑" panose="020B0503020204020204" charset="-122"/>
                <a:sym typeface="+mn-ea"/>
              </a:rPr>
              <a:t>A.</a:t>
            </a:r>
            <a:r>
              <a:rPr lang="zh-CN" altLang="en-US" dirty="0">
                <a:cs typeface="微软雅黑" panose="020B0503020204020204" charset="-122"/>
                <a:sym typeface="+mn-ea"/>
              </a:rPr>
              <a:t>是否该用法律武器遏制网暴</a:t>
            </a:r>
            <a:endParaRPr lang="zh-CN" altLang="en-US" dirty="0">
              <a:cs typeface="微软雅黑" panose="020B0503020204020204" charset="-122"/>
              <a:sym typeface="+mn-ea"/>
            </a:endParaRPr>
          </a:p>
          <a:p>
            <a:pPr indent="0" fontAlgn="auto">
              <a:lnSpc>
                <a:spcPct val="100000"/>
              </a:lnSpc>
            </a:pPr>
            <a:r>
              <a:rPr lang="en-US" altLang="zh-CN" dirty="0">
                <a:cs typeface="微软雅黑" panose="020B0503020204020204" charset="-122"/>
                <a:sym typeface="+mn-ea"/>
              </a:rPr>
              <a:t>B.</a:t>
            </a:r>
            <a:r>
              <a:rPr lang="zh-CN" altLang="en-US" dirty="0">
                <a:cs typeface="微软雅黑" panose="020B0503020204020204" charset="-122"/>
                <a:sym typeface="+mn-ea"/>
              </a:rPr>
              <a:t>遏制网暴的主体责任在哪方</a:t>
            </a:r>
            <a:endParaRPr lang="zh-CN" altLang="en-US" dirty="0">
              <a:cs typeface="微软雅黑" panose="020B0503020204020204" charset="-122"/>
              <a:sym typeface="+mn-ea"/>
            </a:endParaRPr>
          </a:p>
          <a:p>
            <a:pPr indent="0" fontAlgn="auto">
              <a:lnSpc>
                <a:spcPct val="100000"/>
              </a:lnSpc>
            </a:pPr>
            <a:r>
              <a:rPr lang="en-US" altLang="zh-CN" dirty="0">
                <a:cs typeface="微软雅黑" panose="020B0503020204020204" charset="-122"/>
                <a:sym typeface="+mn-ea"/>
              </a:rPr>
              <a:t>C.</a:t>
            </a:r>
            <a:r>
              <a:rPr lang="zh-CN" altLang="en-US" dirty="0">
                <a:cs typeface="微软雅黑" panose="020B0503020204020204" charset="-122"/>
                <a:sym typeface="+mn-ea"/>
              </a:rPr>
              <a:t>遏制网暴的关键环节是什么</a:t>
            </a:r>
            <a:endParaRPr lang="zh-CN" altLang="en-US" dirty="0">
              <a:cs typeface="微软雅黑" panose="020B0503020204020204" charset="-122"/>
              <a:sym typeface="+mn-ea"/>
            </a:endParaRPr>
          </a:p>
          <a:p>
            <a:pPr indent="0" fontAlgn="auto">
              <a:lnSpc>
                <a:spcPct val="100000"/>
              </a:lnSpc>
            </a:pPr>
            <a:r>
              <a:rPr lang="en-US" altLang="zh-CN" dirty="0">
                <a:cs typeface="微软雅黑" panose="020B0503020204020204" charset="-122"/>
                <a:sym typeface="+mn-ea"/>
              </a:rPr>
              <a:t>D.</a:t>
            </a:r>
            <a:r>
              <a:rPr lang="zh-CN" altLang="en-US" dirty="0">
                <a:cs typeface="微软雅黑" panose="020B0503020204020204" charset="-122"/>
                <a:sym typeface="+mn-ea"/>
              </a:rPr>
              <a:t>法律武器能否有效遏制网暴</a:t>
            </a:r>
            <a:endParaRPr lang="zh-CN" altLang="en-US" dirty="0">
              <a:cs typeface="微软雅黑" panose="020B0503020204020204" charset="-122"/>
              <a:sym typeface="+mn-ea"/>
            </a:endParaRPr>
          </a:p>
        </p:txBody>
      </p:sp>
      <p:sp>
        <p:nvSpPr>
          <p:cNvPr id="4" name="文本框 3"/>
          <p:cNvSpPr txBox="1"/>
          <p:nvPr/>
        </p:nvSpPr>
        <p:spPr>
          <a:xfrm>
            <a:off x="3699510" y="4874895"/>
            <a:ext cx="8492490" cy="810260"/>
          </a:xfrm>
          <a:prstGeom prst="rect">
            <a:avLst/>
          </a:prstGeom>
          <a:noFill/>
        </p:spPr>
        <p:txBody>
          <a:bodyPr wrap="square" rtlCol="0" anchor="t">
            <a:spAutoFit/>
          </a:bodyPr>
          <a:p>
            <a:pPr indent="0" fontAlgn="auto">
              <a:lnSpc>
                <a:spcPct val="130000"/>
              </a:lnSpc>
            </a:pPr>
            <a:r>
              <a:rPr lang="zh-CN" altLang="en-US" dirty="0">
                <a:solidFill>
                  <a:srgbClr val="FF0000"/>
                </a:solidFill>
                <a:effectLst/>
                <a:cs typeface="楷体" panose="02010609060101010101" charset="-122"/>
                <a:sym typeface="+mn-ea"/>
              </a:rPr>
              <a:t>甲：遏制网暴的关键是拿起法律武器捍卫自身权益</a:t>
            </a:r>
            <a:endParaRPr lang="zh-CN" altLang="en-US" dirty="0">
              <a:solidFill>
                <a:srgbClr val="FF0000"/>
              </a:solidFill>
              <a:effectLst/>
              <a:cs typeface="楷体" panose="02010609060101010101" charset="-122"/>
              <a:sym typeface="+mn-ea"/>
            </a:endParaRPr>
          </a:p>
          <a:p>
            <a:pPr indent="0" fontAlgn="auto">
              <a:lnSpc>
                <a:spcPct val="130000"/>
              </a:lnSpc>
            </a:pPr>
            <a:r>
              <a:rPr lang="zh-CN" altLang="en-US" dirty="0">
                <a:solidFill>
                  <a:srgbClr val="FF0000"/>
                </a:solidFill>
                <a:effectLst/>
                <a:cs typeface="楷体" panose="02010609060101010101" charset="-122"/>
                <a:sym typeface="+mn-ea"/>
              </a:rPr>
              <a:t>丙：遏制网暴的关键不是拿起法律武器捍卫自身权益，应以平台责任为先。</a:t>
            </a:r>
            <a:endParaRPr lang="zh-CN" altLang="en-US" dirty="0">
              <a:solidFill>
                <a:srgbClr val="FF0000"/>
              </a:solidFill>
              <a:effectLst/>
              <a:cs typeface="楷体" panose="0201060906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sym typeface="+mn-ea"/>
              </a:rPr>
              <a:t>题</a:t>
            </a:r>
            <a:r>
              <a:rPr kumimoji="1" lang="en-US" altLang="zh-CN" sz="2800" b="1" dirty="0">
                <a:solidFill>
                  <a:srgbClr val="FF653F"/>
                </a:solidFill>
                <a:sym typeface="+mn-ea"/>
              </a:rPr>
              <a:t>90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00000"/>
              </a:lnSpc>
            </a:pPr>
            <a:r>
              <a:rPr lang="zh-CN" altLang="en-US" dirty="0">
                <a:cs typeface="微软雅黑" panose="020B0503020204020204" charset="-122"/>
                <a:sym typeface="+mn-ea"/>
              </a:rPr>
              <a:t>根据以下材料，回答</a:t>
            </a:r>
            <a:r>
              <a:rPr lang="en-US" altLang="zh-CN" dirty="0">
                <a:cs typeface="微软雅黑" panose="020B0503020204020204" charset="-122"/>
                <a:sym typeface="+mn-ea"/>
              </a:rPr>
              <a:t>88</a:t>
            </a:r>
            <a:r>
              <a:rPr lang="zh-CN" altLang="en-US" dirty="0">
                <a:cs typeface="微软雅黑" panose="020B0503020204020204" charset="-122"/>
                <a:sym typeface="+mn-ea"/>
              </a:rPr>
              <a:t>～</a:t>
            </a:r>
            <a:r>
              <a:rPr lang="en-US" altLang="zh-CN" dirty="0">
                <a:cs typeface="微软雅黑" panose="020B0503020204020204" charset="-122"/>
                <a:sym typeface="+mn-ea"/>
              </a:rPr>
              <a:t>90</a:t>
            </a:r>
            <a:r>
              <a:rPr lang="zh-CN" altLang="en-US" dirty="0">
                <a:cs typeface="微软雅黑" panose="020B0503020204020204" charset="-122"/>
                <a:sym typeface="+mn-ea"/>
              </a:rPr>
              <a:t>题。</a:t>
            </a:r>
            <a:endParaRPr lang="zh-CN" altLang="en-US" dirty="0">
              <a:cs typeface="微软雅黑" panose="020B0503020204020204" charset="-122"/>
              <a:sym typeface="+mn-ea"/>
            </a:endParaRPr>
          </a:p>
          <a:p>
            <a:pPr indent="0" fontAlgn="auto">
              <a:lnSpc>
                <a:spcPct val="100000"/>
              </a:lnSpc>
            </a:pPr>
            <a:r>
              <a:rPr lang="zh-CN" altLang="en-US" dirty="0">
                <a:cs typeface="微软雅黑" panose="020B0503020204020204" charset="-122"/>
                <a:sym typeface="+mn-ea"/>
              </a:rPr>
              <a:t>一段时间以来，网络暴力成为污染网络生态的顽瘴固疾，给受害者乃至整个社会带来了极大的危害。针对如何有效遏制网暴，甲、乙、丙、丁四人分别发表了各自的看法。</a:t>
            </a:r>
            <a:endParaRPr lang="zh-CN" altLang="en-US" dirty="0">
              <a:cs typeface="微软雅黑" panose="020B0503020204020204" charset="-122"/>
              <a:sym typeface="+mn-ea"/>
            </a:endParaRPr>
          </a:p>
          <a:p>
            <a:pPr indent="0" fontAlgn="auto">
              <a:lnSpc>
                <a:spcPct val="100000"/>
              </a:lnSpc>
            </a:pPr>
            <a:r>
              <a:rPr lang="zh-CN" altLang="en-US" dirty="0">
                <a:cs typeface="微软雅黑" panose="020B0503020204020204" charset="-122"/>
                <a:sym typeface="+mn-ea"/>
              </a:rPr>
              <a:t>甲说：遏制网暴，必须让网暴者</a:t>
            </a:r>
            <a:r>
              <a:rPr lang="en-US" altLang="zh-CN" dirty="0">
                <a:cs typeface="微软雅黑" panose="020B0503020204020204" charset="-122"/>
                <a:sym typeface="+mn-ea"/>
              </a:rPr>
              <a:t>“</a:t>
            </a:r>
            <a:r>
              <a:rPr lang="zh-CN" altLang="en-US" dirty="0">
                <a:cs typeface="微软雅黑" panose="020B0503020204020204" charset="-122"/>
                <a:sym typeface="+mn-ea"/>
              </a:rPr>
              <a:t>痛到不敢再犯</a:t>
            </a:r>
            <a:r>
              <a:rPr lang="en-US" altLang="zh-CN" dirty="0">
                <a:cs typeface="微软雅黑" panose="020B0503020204020204" charset="-122"/>
                <a:sym typeface="+mn-ea"/>
              </a:rPr>
              <a:t>”</a:t>
            </a:r>
            <a:r>
              <a:rPr lang="zh-CN" altLang="en-US" dirty="0">
                <a:cs typeface="微软雅黑" panose="020B0503020204020204" charset="-122"/>
                <a:sym typeface="+mn-ea"/>
              </a:rPr>
              <a:t>！关键在于，要对网暴者依法重拳出击。因此，只要网暴受害者拿起法律武器捍卫自身权益，就能有效遏制网暴。</a:t>
            </a:r>
            <a:endParaRPr lang="zh-CN" altLang="en-US" dirty="0">
              <a:cs typeface="微软雅黑" panose="020B0503020204020204" charset="-122"/>
              <a:sym typeface="+mn-ea"/>
            </a:endParaRPr>
          </a:p>
          <a:p>
            <a:pPr indent="0" fontAlgn="auto">
              <a:lnSpc>
                <a:spcPct val="100000"/>
              </a:lnSpc>
            </a:pPr>
            <a:r>
              <a:rPr lang="zh-CN" altLang="en-US" dirty="0">
                <a:cs typeface="微软雅黑" panose="020B0503020204020204" charset="-122"/>
                <a:sym typeface="+mn-ea"/>
              </a:rPr>
              <a:t>乙说：我不同意。事实上，面对陌生网民的网暴行为，普通人几乎没有确定责任主体和调查取证的能力，也缺乏维权的精力和金钱。</a:t>
            </a:r>
            <a:endParaRPr lang="zh-CN" altLang="en-US" dirty="0">
              <a:cs typeface="微软雅黑" panose="020B0503020204020204" charset="-122"/>
              <a:sym typeface="+mn-ea"/>
            </a:endParaRPr>
          </a:p>
          <a:p>
            <a:pPr indent="0" fontAlgn="auto">
              <a:lnSpc>
                <a:spcPct val="100000"/>
              </a:lnSpc>
            </a:pPr>
            <a:r>
              <a:rPr lang="zh-CN" altLang="en-US" dirty="0">
                <a:cs typeface="微软雅黑" panose="020B0503020204020204" charset="-122"/>
                <a:sym typeface="+mn-ea"/>
              </a:rPr>
              <a:t>丙说：我也不同意甲的观点。遏制网暴，关键不在于网暴受害者事后拿起法律武器捍卫自身权益。因为遏制网暴，关键在于要防患于未然。平台是网暴治理的第一道防线。因此，遏制网暴，应以平台责任为先。</a:t>
            </a:r>
            <a:endParaRPr lang="zh-CN" altLang="en-US" dirty="0">
              <a:cs typeface="微软雅黑" panose="020B0503020204020204" charset="-122"/>
              <a:sym typeface="+mn-ea"/>
            </a:endParaRPr>
          </a:p>
          <a:p>
            <a:pPr indent="0" fontAlgn="auto">
              <a:lnSpc>
                <a:spcPct val="100000"/>
              </a:lnSpc>
            </a:pPr>
            <a:r>
              <a:rPr lang="zh-CN" altLang="en-US" dirty="0">
                <a:cs typeface="微软雅黑" panose="020B0503020204020204" charset="-122"/>
                <a:sym typeface="+mn-ea"/>
              </a:rPr>
              <a:t>丁说：我同意丙的观点，我国目前采用</a:t>
            </a:r>
            <a:r>
              <a:rPr lang="en-US" altLang="zh-CN" dirty="0">
                <a:cs typeface="微软雅黑" panose="020B0503020204020204" charset="-122"/>
                <a:sym typeface="+mn-ea"/>
              </a:rPr>
              <a:t>“</a:t>
            </a:r>
            <a:r>
              <a:rPr lang="zh-CN" altLang="en-US" dirty="0">
                <a:cs typeface="微软雅黑" panose="020B0503020204020204" charset="-122"/>
                <a:sym typeface="+mn-ea"/>
              </a:rPr>
              <a:t>后台实名，前台自愿</a:t>
            </a:r>
            <a:r>
              <a:rPr lang="en-US" altLang="zh-CN" dirty="0">
                <a:cs typeface="微软雅黑" panose="020B0503020204020204" charset="-122"/>
                <a:sym typeface="+mn-ea"/>
              </a:rPr>
              <a:t>”</a:t>
            </a:r>
            <a:r>
              <a:rPr lang="zh-CN" altLang="en-US" dirty="0">
                <a:cs typeface="微软雅黑" panose="020B0503020204020204" charset="-122"/>
                <a:sym typeface="+mn-ea"/>
              </a:rPr>
              <a:t>制度，网络发言无需透露真实姓名。我认为，匿名发布是造成网暴愈演愈烈的重要原因，采取前台实名制，确有可能对网暴者产生一定约束，减少网暴的发生。</a:t>
            </a:r>
            <a:endParaRPr lang="zh-CN" altLang="en-US" dirty="0">
              <a:cs typeface="微软雅黑" panose="020B0503020204020204" charset="-122"/>
              <a:sym typeface="+mn-ea"/>
            </a:endParaRPr>
          </a:p>
          <a:p>
            <a:pPr indent="0" fontAlgn="auto">
              <a:lnSpc>
                <a:spcPct val="100000"/>
              </a:lnSpc>
            </a:pPr>
            <a:r>
              <a:rPr lang="en-US" altLang="zh-CN" dirty="0">
                <a:cs typeface="微软雅黑" panose="020B0503020204020204" charset="-122"/>
                <a:sym typeface="+mn-ea"/>
              </a:rPr>
              <a:t>90.</a:t>
            </a:r>
            <a:r>
              <a:rPr lang="zh-CN" altLang="en-US" dirty="0">
                <a:cs typeface="微软雅黑" panose="020B0503020204020204" charset="-122"/>
                <a:sym typeface="+mn-ea"/>
              </a:rPr>
              <a:t>以下哪项最不能质疑丁的建议？（）</a:t>
            </a:r>
            <a:endParaRPr lang="zh-CN" altLang="en-US" dirty="0">
              <a:cs typeface="微软雅黑" panose="020B0503020204020204" charset="-122"/>
              <a:sym typeface="+mn-ea"/>
            </a:endParaRPr>
          </a:p>
          <a:p>
            <a:pPr indent="0" fontAlgn="auto">
              <a:lnSpc>
                <a:spcPct val="100000"/>
              </a:lnSpc>
            </a:pPr>
            <a:r>
              <a:rPr lang="en-US" altLang="zh-CN" dirty="0">
                <a:cs typeface="微软雅黑" panose="020B0503020204020204" charset="-122"/>
                <a:sym typeface="+mn-ea"/>
              </a:rPr>
              <a:t>A.</a:t>
            </a:r>
            <a:r>
              <a:rPr lang="zh-CN" altLang="en-US" dirty="0">
                <a:cs typeface="微软雅黑" panose="020B0503020204020204" charset="-122"/>
                <a:sym typeface="+mn-ea"/>
              </a:rPr>
              <a:t>由于我国重名现象十分普遍，通常难以根据名字快速锁定具体用户</a:t>
            </a:r>
            <a:endParaRPr lang="zh-CN" altLang="en-US" dirty="0">
              <a:cs typeface="微软雅黑" panose="020B0503020204020204" charset="-122"/>
              <a:sym typeface="+mn-ea"/>
            </a:endParaRPr>
          </a:p>
          <a:p>
            <a:pPr indent="0" fontAlgn="auto">
              <a:lnSpc>
                <a:spcPct val="100000"/>
              </a:lnSpc>
            </a:pPr>
            <a:r>
              <a:rPr lang="en-US" altLang="zh-CN" dirty="0">
                <a:cs typeface="微软雅黑" panose="020B0503020204020204" charset="-122"/>
                <a:sym typeface="+mn-ea"/>
              </a:rPr>
              <a:t>B.</a:t>
            </a:r>
            <a:r>
              <a:rPr lang="zh-CN" altLang="en-US" dirty="0">
                <a:cs typeface="微软雅黑" panose="020B0503020204020204" charset="-122"/>
                <a:sym typeface="+mn-ea"/>
              </a:rPr>
              <a:t>法不责众会让施暴者心存侥幸，因此不宜高估前台实名的约束效果</a:t>
            </a:r>
            <a:endParaRPr lang="zh-CN" altLang="en-US" dirty="0">
              <a:cs typeface="微软雅黑" panose="020B0503020204020204" charset="-122"/>
              <a:sym typeface="+mn-ea"/>
            </a:endParaRPr>
          </a:p>
          <a:p>
            <a:pPr indent="0" fontAlgn="auto">
              <a:lnSpc>
                <a:spcPct val="100000"/>
              </a:lnSpc>
            </a:pPr>
            <a:r>
              <a:rPr lang="en-US" altLang="zh-CN" dirty="0">
                <a:cs typeface="微软雅黑" panose="020B0503020204020204" charset="-122"/>
                <a:sym typeface="+mn-ea"/>
              </a:rPr>
              <a:t>C.</a:t>
            </a:r>
            <a:r>
              <a:rPr lang="zh-CN" altLang="en-US" dirty="0">
                <a:cs typeface="微软雅黑" panose="020B0503020204020204" charset="-122"/>
                <a:sym typeface="+mn-ea"/>
              </a:rPr>
              <a:t>前台实名直接显示了网络用户的个人信息，更容易为网暴埋下隐患</a:t>
            </a:r>
            <a:endParaRPr lang="zh-CN" altLang="en-US" dirty="0">
              <a:cs typeface="微软雅黑" panose="020B0503020204020204" charset="-122"/>
              <a:sym typeface="+mn-ea"/>
            </a:endParaRPr>
          </a:p>
          <a:p>
            <a:pPr indent="0" fontAlgn="auto">
              <a:lnSpc>
                <a:spcPct val="100000"/>
              </a:lnSpc>
            </a:pPr>
            <a:r>
              <a:rPr lang="en-US" altLang="zh-CN" dirty="0">
                <a:cs typeface="微软雅黑" panose="020B0503020204020204" charset="-122"/>
                <a:sym typeface="+mn-ea"/>
              </a:rPr>
              <a:t>D.</a:t>
            </a:r>
            <a:r>
              <a:rPr lang="zh-CN" altLang="en-US" dirty="0">
                <a:cs typeface="微软雅黑" panose="020B0503020204020204" charset="-122"/>
                <a:sym typeface="+mn-ea"/>
              </a:rPr>
              <a:t>前台实名制会使人们发表言论时更谨慎，降低人们表达观点的意愿</a:t>
            </a:r>
            <a:endParaRPr lang="zh-CN" altLang="en-US" dirty="0">
              <a:cs typeface="微软雅黑" panose="020B0503020204020204" charset="-122"/>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0.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1.xml><?xml version="1.0" encoding="utf-8"?>
<p:tagLst xmlns:p="http://schemas.openxmlformats.org/presentationml/2006/main">
  <p:tag name="resource_record_key" val="{&quot;13&quot;:[20481828,4364903,4364924],&quot;65&quot;:[20205081]}"/>
  <p:tag name="COMMONDATA" val="eyJoZGlkIjoiYzg3MDM0ZWQ4YjU1N2M3YWUwMzk3ZjZkYThmOGJjZT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微软雅黑"/>
        <a:ea typeface="微软雅黑"/>
        <a:cs typeface=""/>
      </a:majorFont>
      <a:minorFont>
        <a:latin typeface="微软雅黑"/>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2829</Words>
  <Application>WPS 演示</Application>
  <PresentationFormat>宽屏</PresentationFormat>
  <Paragraphs>102</Paragraphs>
  <Slides>9</Slides>
  <Notes>4</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9</vt:i4>
      </vt:variant>
    </vt:vector>
  </HeadingPairs>
  <TitlesOfParts>
    <vt:vector size="19" baseType="lpstr">
      <vt:lpstr>Arial</vt:lpstr>
      <vt:lpstr>宋体</vt:lpstr>
      <vt:lpstr>Wingdings</vt:lpstr>
      <vt:lpstr>微软雅黑</vt:lpstr>
      <vt:lpstr>微软雅黑 Light</vt:lpstr>
      <vt:lpstr>Wingdings</vt:lpstr>
      <vt:lpstr>Arial Unicode MS</vt:lpstr>
      <vt:lpstr>楷体</vt:lpstr>
      <vt:lpstr>Office 主题​​</vt:lpstr>
      <vt:lpstr>WPS</vt:lpstr>
      <vt:lpstr>PowerPoint 演示文稿</vt:lpstr>
      <vt:lpstr>题68</vt:lpstr>
      <vt:lpstr>题71</vt:lpstr>
      <vt:lpstr>题82</vt:lpstr>
      <vt:lpstr>题85</vt:lpstr>
      <vt:lpstr>题88</vt:lpstr>
      <vt:lpstr>题89</vt:lpstr>
      <vt:lpstr>题90</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197</cp:revision>
  <dcterms:created xsi:type="dcterms:W3CDTF">2019-06-19T02:08:00Z</dcterms:created>
  <dcterms:modified xsi:type="dcterms:W3CDTF">2025-08-05T05:31:18Z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y fmtid="{D5CDD505-2E9C-101B-9397-08002B2CF9AE}" pid="3" name="ICV">
    <vt:lpwstr>7E0F0589F6D94CFE8A4BC2AEA01394FF_11</vt:lpwstr>
  </property>
</Properties>
</file>