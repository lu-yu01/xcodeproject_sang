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42"/>
  </p:handoutMasterIdLst>
  <p:sldIdLst>
    <p:sldId id="629" r:id="rId4"/>
    <p:sldId id="424" r:id="rId6"/>
    <p:sldId id="1362" r:id="rId7"/>
    <p:sldId id="1363" r:id="rId8"/>
    <p:sldId id="1364" r:id="rId9"/>
    <p:sldId id="1365" r:id="rId10"/>
    <p:sldId id="1366" r:id="rId11"/>
    <p:sldId id="1367" r:id="rId12"/>
    <p:sldId id="1368" r:id="rId13"/>
    <p:sldId id="1369" r:id="rId14"/>
    <p:sldId id="1370" r:id="rId15"/>
    <p:sldId id="1371" r:id="rId16"/>
    <p:sldId id="1372" r:id="rId17"/>
    <p:sldId id="1373" r:id="rId18"/>
    <p:sldId id="1374" r:id="rId19"/>
    <p:sldId id="1375" r:id="rId20"/>
    <p:sldId id="1376" r:id="rId21"/>
    <p:sldId id="1377" r:id="rId22"/>
    <p:sldId id="1378" r:id="rId23"/>
    <p:sldId id="1379" r:id="rId24"/>
    <p:sldId id="1380" r:id="rId25"/>
    <p:sldId id="1381" r:id="rId26"/>
    <p:sldId id="1382" r:id="rId27"/>
    <p:sldId id="1383" r:id="rId28"/>
    <p:sldId id="1384" r:id="rId29"/>
    <p:sldId id="1385" r:id="rId30"/>
    <p:sldId id="1386" r:id="rId31"/>
    <p:sldId id="1387" r:id="rId32"/>
    <p:sldId id="1388" r:id="rId33"/>
    <p:sldId id="1389" r:id="rId34"/>
    <p:sldId id="1390" r:id="rId35"/>
    <p:sldId id="1391" r:id="rId36"/>
    <p:sldId id="1392" r:id="rId37"/>
    <p:sldId id="1393" r:id="rId38"/>
    <p:sldId id="1396" r:id="rId39"/>
    <p:sldId id="1397" r:id="rId40"/>
    <p:sldId id="992" r:id="rId41"/>
  </p:sldIdLst>
  <p:sldSz cx="12192000" cy="6858000"/>
  <p:notesSz cx="6858000" cy="9144000"/>
  <p:custDataLst>
    <p:tags r:id="rId4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7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79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7" Type="http://schemas.openxmlformats.org/officeDocument/2006/relationships/tags" Target="tags/tag31.xml"/><Relationship Id="rId46" Type="http://schemas.openxmlformats.org/officeDocument/2006/relationships/commentAuthors" Target="commentAuthors.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handoutMaster" Target="handoutMasters/handoutMaster1.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【解析】如下图所示，图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将</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个白色圆形涂黑后能成为轴对称图形，图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至少需要将</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个白色圆形涂黑后能成为轴对称图形。</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同，优先考虑位置规律。观察发现，题干每幅图均出现两种小元素，考虑不同元素分开看，且元素位置发生变化，优先考虑平移。每幅图内圈均有一个四角星，优先考虑内外分开看。内圈四角星沿着顺时针（逆时针）依次平移两格；外圈两个</a:t>
            </a:r>
            <a:r>
              <a:rPr lang="en-US" altLang="zh-CN" sz="1200" kern="1200" dirty="0">
                <a:solidFill>
                  <a:schemeClr val="tx1"/>
                </a:solidFill>
                <a:effectLst/>
                <a:latin typeface="+mn-lt"/>
                <a:sym typeface="+mn-ea"/>
              </a:rPr>
              <a:t>“</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沿着逆时针方向依次平移一格，四个四角星依次顺时针平移两格，故？处应选择按此规律得到的图形，只有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【解析】元素组成不同，且无明显属性规律、数量规律，优先考虑特殊规律。观察发现，题干每幅图均出现黑点，考虑功能元素的标记作用。图</a:t>
            </a:r>
            <a:r>
              <a:rPr lang="en-US" altLang="en-US" sz="1200" kern="1200" dirty="0">
                <a:solidFill>
                  <a:schemeClr val="tx1"/>
                </a:solidFill>
                <a:effectLst/>
                <a:latin typeface="+mn-lt"/>
                <a:sym typeface="+mn-ea"/>
              </a:rPr>
              <a:t>①④⑤</a:t>
            </a:r>
            <a:r>
              <a:rPr lang="zh-CN" altLang="en-US" sz="1200" kern="1200" dirty="0">
                <a:solidFill>
                  <a:schemeClr val="tx1"/>
                </a:solidFill>
                <a:effectLst/>
                <a:latin typeface="+mn-lt"/>
                <a:sym typeface="+mn-ea"/>
              </a:rPr>
              <a:t>中的小黑点均标记线，图</a:t>
            </a:r>
            <a:r>
              <a:rPr lang="en-US" altLang="en-US" sz="1200" kern="1200" dirty="0">
                <a:solidFill>
                  <a:schemeClr val="tx1"/>
                </a:solidFill>
                <a:effectLst/>
                <a:latin typeface="+mn-lt"/>
                <a:sym typeface="+mn-ea"/>
              </a:rPr>
              <a:t>②③⑥</a:t>
            </a:r>
            <a:r>
              <a:rPr lang="zh-CN" altLang="en-US" sz="1200" kern="1200" dirty="0">
                <a:solidFill>
                  <a:schemeClr val="tx1"/>
                </a:solidFill>
                <a:effectLst/>
                <a:latin typeface="+mn-lt"/>
                <a:sym typeface="+mn-ea"/>
              </a:rPr>
              <a:t>中的小黑点均标记交点，故图</a:t>
            </a:r>
            <a:r>
              <a:rPr lang="en-US" altLang="en-US" sz="1200" kern="1200" dirty="0">
                <a:solidFill>
                  <a:schemeClr val="tx1"/>
                </a:solidFill>
                <a:effectLst/>
                <a:latin typeface="+mn-lt"/>
                <a:sym typeface="+mn-ea"/>
              </a:rPr>
              <a:t>①④⑤</a:t>
            </a:r>
            <a:r>
              <a:rPr lang="zh-CN" altLang="en-US" sz="1200" kern="1200" dirty="0">
                <a:solidFill>
                  <a:schemeClr val="tx1"/>
                </a:solidFill>
                <a:effectLst/>
                <a:latin typeface="+mn-lt"/>
                <a:sym typeface="+mn-ea"/>
              </a:rPr>
              <a:t>为一组，图</a:t>
            </a:r>
            <a:r>
              <a:rPr lang="en-US" altLang="en-US" sz="1200" kern="1200" dirty="0">
                <a:solidFill>
                  <a:schemeClr val="tx1"/>
                </a:solidFill>
                <a:effectLst/>
                <a:latin typeface="+mn-lt"/>
                <a:sym typeface="+mn-ea"/>
              </a:rPr>
              <a:t>②③⑥</a:t>
            </a:r>
            <a:r>
              <a:rPr lang="zh-CN" altLang="en-US" sz="1200" kern="1200" dirty="0">
                <a:solidFill>
                  <a:schemeClr val="tx1"/>
                </a:solidFill>
                <a:effectLst/>
                <a:latin typeface="+mn-lt"/>
                <a:sym typeface="+mn-ea"/>
              </a:rPr>
              <a:t>为一组。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【解析】元素组成相似，优先考虑样式规律。观察发现，题干分割区域相同，内部颜色不同，优先考虑黑白运算。九宫格优先按行看，第一行图形中，黑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黑，白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黑；经验证，第二行满足此规律；第三行应用此规律，故？处应选择按此规律运算得到的图形，只有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【解析】本题为空间重构题。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在展开图和立体图中，从面</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引出一条直线的顶点（标红点）开始顺时针方向对面</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进行画边并标号，如下图所示：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项：展开图中，边</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与面</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中黑三角形挨着，但立体图中，边</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与白色三角形挨着，选项与展开图不一致，排除；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项：选项与展开图一致，当选；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项：展开图中，边</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与面</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中白色三角形挨着，经过边</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后的标蓝点没有引出面</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中黑色三角形，但立体图中，边</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与面</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中白色三角形挨着，但经过边</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后的标蓝点引出黑色三角形，选项与展开图不一致，排除；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项：展开图中，边</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与面</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中黑三角形挨着，但立体图中，边</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与白色三角形挨着，选项与展开图不一致，排除。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当一个自己不熟悉的事物出现时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难以对其未来情况作出预测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产生一种自然而然的抗拒感，或者出现与现实不相称的过度担心和烦恼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项：小刘本月销售业绩不好，当经理说这周要进行总结时，他很担心被辞退，这里的担忧源于销售业绩不佳，而工作总结是职场中常见的环节，不符合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当一个自己不熟悉的事物出现时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项：小李第一次登上讲台，这是一个他不熟悉的新情境，且难以完全预测未来的表现如何，因此，他产生的紧张感和难以入眠的状态，符合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当一个自己不熟悉的事物出现时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难以对其未来情况作出预测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产生一种自然而然的抗拒感，或者出现与现实不相称的过度担心和烦恼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项：一想到这次的项目要和自己不喜欢的同事进行合作，小飞就觉得很烦恼，这里的烦恼源于与不喜欢的同事合作，而非因为不熟悉的事物或难以预测的未来情况，不符合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当一个自己不熟悉的事物出现时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难以对其未来情况作出预测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项：王阿姨想炒股，但是一听邻居说自己炒股一直亏本，就打消了这个念头，王阿姨放弃炒股是基于邻居的经验，而非因为不熟悉炒股或难以预测其未来情况，不符合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当一个自己不熟悉的事物出现时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难以对其未来情况作出预测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产生一种自然而然的抗拒感，或者出现与现实不相称的过度担心和烦恼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【解析】唯名论：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认为个别、殊相先于一般、共相，只有个别事物才是真实的存在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一般、共相仅仅是人们用来表达个别事物的名称、概念、符号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唯实论：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认为一般、共相是先于个别事物并派生出个别事物的实体，只有它们才是在意识之外的客观实在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项：只有一般、共相才有客观实在性，符合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认为一般、共相是先于个别事物并派生出个别事物的实体，只有它们才是在意识之外的客观实在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唯实论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唯名论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项：一般、共相就是理念，理念是世界万物的原型，只有它才是独立存在的实体，符合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认为一般、共相是先于个别事物并派生出个别事物的实体，只有它们才是在意识之外的客观实在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唯实论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唯名论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项：共相是独立于个别事物的第一实体，共相是个别事物的本质或原始形式，符合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认为一般、共相是先于个别事物并派生出个别事物的实体，只有它们才是在意识之外的客观实在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唯实论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唯名论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项：一般只是人们创造出来用以表示许多个体之间相似性的标记、文字，符合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一般、共相仅仅是人们用来表达个别事物的名称、概念、符号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唯名论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按照消费者所处的地理位置、自然环境来细分市场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由于处在不同地理环境下的消费者对于同一类产品往往会有不同的需求和偏好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项：某乳品公司在奶源地建了生产基地，在多个畅销地也建了生产基地，该项主要关注的是生产地点的选择，而没有明确体现出不同地理位置的消费者在需求或偏好上的差异，不符合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按照消费者所处的地理位置、自然环境来细分市场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由于处在不同地理环境下的消费者对于同一类产品往往会有不同的需求和偏好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项：某服装出口企业根据需要，分别设置了海运、陆运、空运的发货仓，该项主要关注的是物流方式的选择，与消费者的地理位置或自然环境导致的需求和偏好差异无关，不符合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按照消费者所处的地理位置、自然环境来细分市场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由于处在不同地理环境下的消费者对于同一类产品往往会有不同的需求和偏好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某咖啡连锁店在甲国售卖的咖啡味道较淡，而在乙国售卖的则较浓，该项明确指出了在不同国家（即不同的地理位置）销售的咖啡味道不同，这反映了不同地理环境下的消费者对咖啡口味有不同的需求和偏好，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按照消费者所处的地理位置、自然环境来细分市场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由于处在不同地理环境下的消费者对于同一类产品往往会有不同的需求和偏好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项：某品牌洗发水分男款和女款，其广告也选用不同性别的模特来拍摄，该项主要关注的是产品按性别细分，而不是按地理位置或自然环境细分，不符合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按照消费者所处的地理位置、自然环境来细分市场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由于处在不同地理环境下的消费者对于同一类产品往往会有不同的需求和偏好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【解析】空间语言：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利用空间距离表达信息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体态语言：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通过身体的动作符号、脸部的表情符号表现某种具体含义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项：有分歧的国家代表坐在长桌的两端，体现了空间距离，符合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利用空间距离表达信息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，使用了空间语言，未使用体态语言，排除；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项：国家代表愉快的接受采访，既未体现空间距离，也未明确体现动作符号和脸部的表情，既未使用空间语言，也未使用体态语言，排除；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项：国家领导人保持严肃表情，通过脸部的表情符号表现了具体含义，符合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通过身体的动作符号、脸部的表情符号表现某种具体含义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，使用了体态语言，未使用空间语言，排除；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项：某国家元首远远地伸出手臂做出握手动作，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远远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体现了空间距离，符合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利用空间距离表达信息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，使用了空间语言，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伸出手臂做出握手动作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体现了身体的动作符号，符合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通过身体的动作符号、脸部的表情符号表现某种具体含义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，使用了体态语言，当选。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【解析】隐域植被：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在一定的气候带或大气候区内，受非地带性环境因素（如地下水、地表水、地貌部位或地表组成物质等）影响而形成的自然植被或群落类型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不固定于某一植被带，而是出现于两个以上的植被带内、具有广布性的特征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显域植被：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在地球表面，与水热条件相适应，能充分反应地区气候环境特点的、呈带状分布的植被类型，一般按纬度、经度或垂直高度分布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项：位于我国大陆南端的雷州半岛，其植被类型为季雨林，（季雨林）与地理位置（雷州半岛）的气候条件相适应，符合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在地球表面，与水热条件相适应，能充分反应地区气候环境特点的、呈带状分布的植被类型，一般按纬度、经度或垂直高度分布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显域植被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隐域植被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项：夏绿阔叶林经常在具有温带海洋性气候特征的地区分布，夏绿阔叶林的分布情况与特定的气候条件紧密相关，符合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在地球表面，与水热条件相适应，能充分反应地区气候环境特点的、呈带状分布的植被类型，一般按纬度、经度或垂直高度分布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显域植被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隐域植被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项：水生植被普遍分布在世界各地的湖泊、河流等淡水水域，水生植被并不局限于某一特定的气候带或植被带，而是广泛分布在世界各地的淡水水域中，符合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在一定的气候带或大气候区内，受非地带性环境因素（如地下水、地表水、地貌部位或地表组成物质等）影响而形成的自然植被或群落类型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不固定于某一植被带，而是出现于两个以上的植被带内、具有广布性的特征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隐域植被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项：内蒙古由东向西降水量减少，其植被呈森林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草原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半荒漠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荒漠分布，该项描述了植被类型随降水量变化的带状分布，与气候条件（降水量）的变化紧密相关，符合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在地球表面，与水热条件相适应，能充分反应地区气候环境特点的、呈带状分布的植被类型，一般按纬度、经度或垂直高度分布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显域植被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隐域植被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【解析】矛盾关系：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两个命题之间既不能同真也不能同假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上反对关系：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两个命题之间不能同真但可以同假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下反对关系：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两个命题之间可以同真但不能同假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花园里的郁金香都开了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花园里的郁金香都没开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可以同假，不能同真，不符合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两个命题之间可以同真但不能同假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，不符合下反对关系定义，排除；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花园里的郁金香有些开了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花园里的郁金香都没开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既不能同真也不能同假，符合矛盾关系，不符合下反对关系，排除；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花园里的郁金香有些没开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花园里的郁金香都开了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既不能同真也不能同假，符合矛盾关系，不符合下反对关系，排除；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花园里的郁金香有些开了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花园里的郁金香有些没开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可以同真但不能同假，符合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两个命题之间可以同真但不能同假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，符合下反对关系定义，当选。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【解析】释语：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借用释义的方式，对词语的含义加以临时的引申、发挥，或做形象化的说明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义界释语：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用下定义的方式对某一词语作主观性界定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特指释语：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在具体语境中对某一词语进行解释，离开了语境其意义就会发生改变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探源释语：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对词语的来历作寻根探源的解释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项：杨帅长相平平，却被居民们称为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帅哥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，在该语境中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帅哥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用于表达对他的尊敬和亲近，离开语境后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帅哥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指的是面容姣好的男子，符合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在具体语境中对某一词语进行解释，离开了语境其意义就会发生改变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特指释语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探源释语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字古字形从贝，戋声，贝表示与财务相关，介绍了这个字的来历，符合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对词语的来历作寻根探源的解释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探源释语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两个字都有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，就是说，情感应该是发自内心的，没有心就没有情感，该说法是对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情感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的主观看法，符合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用下定义的方式对某一词语作主观性界定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义界释语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探源释语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字中两个月亮，并排发光、肝胆相照、但也始终保持着必要的距离，该说法是对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的主观看法，符合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用下定义的方式对某一词语作主观性界定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义界释语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探源释语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【解析】差等差数列：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数列的后项与前项之差组成的新数列是等差数列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比等差数列：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数列的后项与前项之比组成的新数列是等差数列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差等比数列：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数列的后项与前项之差组成的新数列是等比数列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“1.5-1.25=0.25”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“2-1.5=0.5”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“3-2=1”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“5-3=2”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“9-5=4”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“17-9=8”</a:t>
            </a:r>
            <a:r>
              <a:rPr lang="zh-CN" altLang="en-US" sz="1200" kern="1200" dirty="0">
                <a:solidFill>
                  <a:schemeClr val="tx1"/>
                </a:solidFill>
                <a:effectLst/>
                <a:latin typeface="+mn-lt"/>
                <a:sym typeface="+mn-ea"/>
              </a:rPr>
              <a:t>。该数列的后项与前项之差组成的新数列是比值为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的等比数列，符合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差等比数列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“15</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“15</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15=1”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“-15</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15=-1”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“45</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-15=-3”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“-225</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45=-5”</a:t>
            </a:r>
            <a:r>
              <a:rPr lang="zh-CN" altLang="en-US" sz="1200" kern="1200" dirty="0">
                <a:solidFill>
                  <a:schemeClr val="tx1"/>
                </a:solidFill>
                <a:effectLst/>
                <a:latin typeface="+mn-lt"/>
                <a:sym typeface="+mn-ea"/>
              </a:rPr>
              <a:t>，该数列的后项与前项之比组成的新数列是差值为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的等差数列，符合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比等差数列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综上所述，（</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）属于差等比数列，（</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）属于比等差数列，只有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【解析】语义具指化：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语义原本具有普遍性、概括性，具指化后在言语中和特定的具体事物相联系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语义空灵化：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语义原本内容清晰明确，但进入言语交际时语义内容空洞无物，只剩下词语的形式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动态性的语义扩大或缩小：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在言语交际时语义指称的范围扩大或缩小成小类或个体事物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动态性的语义转移：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在言语交际时语义临时改变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此去泉台招旧部，旌旗十万斩阎罗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的意思是这次到阴间去召集牺牲的同志，用十万大军杀死国民党反动派。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旌旗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原本指旗帜，也指军士，在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旌旗十万斩阎罗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中指的就是十万大军，指的就是广义的军士，并没有与特定的具体事物相联系，不符合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语义原本具有普遍性、概括性，具指化后在言语中和特定的具体事物相联系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）语义具指化，对应错误，当选；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来他一碗汤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原本指别的事物或自己和对方以外的其他人，在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来他一碗汤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为虚指，语义内容空洞无物，只剩下词语的形式，符合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语义原本内容清晰明确，但进入言语交际时语义内容空洞无物，只剩下词语的形式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）语义空灵化，对应正确，排除；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我的手机没有网了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指网络，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可以指用于捕捉的工具、像网的东西、像网一样纵横交错的组织或系统、用网捕捉、像网似的笼罩着，这里使用的是其中一个语义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像网一样纵横交错的组织或系统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，也就是平常我们所说的上网、通信网，语义指称的范围发生了扩大或缩小成小类或个体事物，符合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在言语交际时语义指称的范围扩大或缩小成小类或个体事物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）动态性的语义扩大或缩小，对应正确，排除；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有什么消息公开，别自个贪污了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贪污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指不告知别人消息，而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贪污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原本指国家工作人员利用职务上的便利，侵吞、窃取、骗取或者以其他手段非法占有国有财产的行为，在言语交际时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贪污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的语义临时改变，符合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在言语交际时语义临时改变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）动态性的语义转移，对应正确，排除。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【解析】地质学：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研究地球的科学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静力地质学：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主要研究地壳的物质组成，研究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元素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矿物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岩石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等物质分类连续系列的不同层次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动力地质学：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主要研究地壳结构构造，地表形态的形成及其发展变化的地质作用的原理、机制、条件等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历史地质学：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主要研究地壳和地球外三圈（水圈、大气圈、生物圈）的演化发展历史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项：人类活动和地质环境相互作用，符合环境地质学的研究范畴，不符合地质学上述三个分支学科的研究范畴，当选；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项：自然界中生长的矿物晶体，符合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主要研究地壳的物质组成，研究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元素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矿物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岩石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等物质分类连续系列的不同层次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静力地质学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项：古代气候形成、分布特征及变化，符合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主要研究地壳和地球外三圈（水圈、大气圈、生物圈）的演化发展历史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历史地质学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项：地球表面的形态特征及其形成的动力，符合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主要研究地壳结构构造，地表形态的形成及其发展变化的地质作用的原理、机制、条件等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动力地质学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【解析】院士是某些国家所设立的科学技术方面的最高学术称号，专家指在学术、技艺等方面有专门技能或专业知识全面的人，院士是专家，二者为种属关系。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项：将军是高级军事将领的统称，将军是军人，二者为种属关系，与题干逻辑关系一致，当选；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项：超车是开车过程中的一种行为，二者是对应关系，与题干逻辑关系不一致，排除；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项：画展是一种展览，二者为种属关系，但与题干词语顺序相反，与题干逻辑关系不一致，排除；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项：游轮是用于搭载乘客从事旅行、参观、游览活动的客运机动船只，航母是以舰载机为主要战斗装备，并为其提供海上活动基地的大型水面战斗舰艇，二者是并列关系，与题干逻辑关系不一致，排除。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【解析】柱子主要起到支撑的作用，二者为功能对应关系。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项：扳手的主要作用是安装和拆卸，锤子的主要作用是敲打，二者没有明显的逻辑关系，与题干逻辑关系不一致，排除；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项：炊具主要用来烹饪，二者为功能对应关系，与题干逻辑关系一致，当选；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项：曝光是指在摄影过程中进入镜头照射在感光元件上的光量，二者不是功能对应关系，与题干逻辑关系不一致，排除；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项：在跑道上散步，二者为地点对应关系，且跑道主要用来跑步，与题干逻辑关系不一致，排除。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【解析】水果可以放在果篮里，二者为物品与放置地点的对应关系，果篮放在商店里，二者为物品与放置地点的对应关系。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项：鲜花可以放在花瓶里，二者为物品与放置地点的对应关系，花瓶放在客厅里，二者为物品与放置地点的对应关系，与题干逻辑关系对应一致，当选；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项：香炉和香客是工具与使用者的对应关系，与题干逻辑关系不一致，排除；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项：抽屉与墙壁没有明显逻辑关系，与题干逻辑关系不一致，排除；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项：蛋清和蛋壳都是鸡蛋的组成部分，二者为并列关系，分别和鸡蛋构成组成关系，与题干逻辑关系不一致，排除。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【解析】先量体，再裁剪，最后缝制，三者为时间先后的对应关系。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项：装裱与欣赏之间无明显时间先后顺序，与题干逻辑关系不一致，排除；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项：先开户，再存钱或贷款，但存钱与贷款之间无明显时间先后顺序，与题干逻辑关系不一致，排除；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项：先选材，再焖煮，最后上菜，三者为时间先后的对应关系，与题干逻辑关系一致，当选；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项：先测量，再镶嵌，二者为时间先后的对应关系，但词语顺序与题干不一致，排除。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【解析】目不识丁指连最普通的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字也不认识，形容一个字也不认得，博古通今指对古代的事知道得很多，并且通晓现代的事情，形容知识丰富，二者为反义关系；且都可以用来描述学识，与第一个词语为对应关系。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项：心旷神怡指心境开阔，精神愉快，心灰意冷指灰心失望，意志消沉，二者不是反义关系，且不能用来描述情感，与题干逻辑关系不一致，排除；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少不更事指年纪轻，没有经历过什么事情，形容经验不多，见多识广指见过的多，知道的广，形容阅历深，经验多，二者为反义关系；且都可以用来描述阅历，与第一个词语为对应关系，与题干逻辑关系一致，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项：仪表堂堂形容人的容貌端正，其貌不扬形容人容貌难看，二者为反义关系；且都可以用来描述相貌，与第一个词语为对应关系，与题干逻辑关系一致，保留；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项：不劳而获比喻不劳动而得到成果，好逸恶劳指贪图安逸，厌恶劳动，二者为近义关系，与题干逻辑关系不一致，排除。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项，题干与</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项均是第二个词语为贬义词，第三个词语为褒义词，而</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项第二个词语为褒义词，第三个词语为贬义词，</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项与题干更一致。</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【解析】融雪剂是指通过降低冰雪融化温度从而将冰雪融化的药剂，灭火器是用于灭火的工具，去污液是将污渍去除的溶液，三者都是根据功能命名，并且都具有消除某项事物的功能。</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漂白剂指将颜色去除或变淡的化学物品，防腐剂是能抑制微生物活动，防止食品腐败变质的一类食品添加剂，二者都是根据功能命名，但橡皮擦是擦去铅笔笔记的工具，不是根据功能命名，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润滑油是用在各种类型汽车、机械设备上以减少摩擦，保护机械及加工件的液体或半固体润滑剂，防蚊液是驱赶蚊虫、缓解蚊虫叮咬不适，并具有一定的提神醒脑、止痛和消暑作用的液体，隔离霜是对紫外线有隔离作用的护肤品，三者都是根据功能命名，但隔离霜不是具有消除某项事物的功能，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项：腐蚀剂是具有腐蚀作用的化学物质，玻璃水是汽车挡风玻璃清洗液，涂改液是涂在纸上以遮盖错字的文具，但玻璃水不是根据功能命名，与题干逻辑关系不一致，排除；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项：杀虫药是杀死害虫的一种药剂，除臭剂是具强吸附性的、祛除臭味的物质，祛斑油是去除脸上色斑的精油，三者都是根据功能命名，并且都具有消除某项事物的功能，与题干逻辑关系一致，当选。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【解析】竹子是制作笛子的材料，二者为材料对应关系，竹子是制作筷子的材料，二者为材料对应关系。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项：柴油是由石油经过炼制得到的轻质石油产品，二者为材料对应关系，汽油是从石油里分馏、裂解出来的具有挥发性、可燃性的烃类混合物液体，二者为材料对应关系，与题干词语顺序相反排除；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项：橡胶是从橡胶树中提取的，与橡树无明显逻辑关系，橡胶是制作橡皮的材料，二者为材料对应关系，与题干逻辑关系不一致，排除；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项：木板是制作床板的原材料，二者为材料对应关系，木板是制作门板的原材料，二者为材料对应关系，与题干逻辑关系一致，当选；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有的花布是棉布，有的花布不是棉布，有的棉布是花布，有的棉布不是花布，二者为交叉关系，有的花布是绸布，有的花布不是绸布，有的绸布是花布，有的绸布不是花布，二者为交叉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【解析】罗盘和计程仪均是一种航海工具，二者为并列关系，且和航海工具均为种属关系。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项：吊车和安全帽多用于建筑工地，二者和建筑工地均为使用场景的对应关系，与题干逻辑关系不一致，排除；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项：钻机和取土器均是一种勘察设备，二者为并列关系，且和勘察设备均为种属关系，与题干逻辑关系一致，当选；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项：陨石坑是火星探测活动的研究对象，二者是对应关系，与题干逻辑关系不一致，排除；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项：干冰是一种催化剂，二者为种属关系，干冰是固态的二氧化碳，二者为对应关系，与题干逻辑关系不一致，排除。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项：方言是语言的一种，二者为种属关系；商品经济促进了货币的产生，推动了货币的发展，货币同时也促进商品经济的发展，二者为相互作用的对应关系，前后逻辑关系不一致，排除；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项：粤语是方言的一种，二者为种属关系；金属货币是货币的一种，二者为种属关系，前后逻辑关系一致，但是词语顺序相反，排除；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项：方言与符号无明显逻辑关系；货币的本质是一般等价物，二者为对应关系，前后逻辑关系一致，但是词语顺序相反，排除；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项：方言是地方文化的一种体现形式，二者是种属关系；数字货币是一种货币，二者是种属关系，前后逻辑关系一致，当选。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项：粉笔和钢笔是不同的书写工具，二者为并列关系；橡胶和硅胶是不同的材料，二者为并列关系，前后逻辑关系一致，当选；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项：粉笔通常情况下是柱状的，二者为属性对应关系；硅胶通常情况下是固态的，二者为属性对应关系，前后逻辑关系一致，但是词语顺序相反，排除；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项：粉笔是一种文具，二者为种属关系；二氧化硅是硅胶的主要成分，二者为对应关系，前后逻辑关系不一致，排除；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石灰石可以是制作粉笔的原材料，二者为原材料与成品的对应关系；硅胶可以是制作硅胶厨具的原材料，硅胶厨具是厨房用具的一种，硅胶和厨房用具二者可以是原材料与成品的对应关系，但是粉笔是一种具体的物品，厨房用品是一类用品的统称，前后逻辑关系不是完全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自觉意识到人所特有的道德需要是人之所以为人的重要原因为道德信仰的生成能提供内驱力</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体验到做人的尊严与幸福拥有道德的属性或获得道德认可</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成为真正意义上的人且成为有作为和幸福的人道德</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项：翻译为：道德成为真正意义上的人且成为有作为和幸福的人，是对</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的肯后，肯后无法推出明确结论，无法推出，排除；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项：翻译为：成为真正意义上的人且成为有作为和幸福的人可能没有道德，是对</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的肯前，肯前必肯后，可以推出道德，但无法推出可能没有道德，排除；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项：翻译为：为道德信仰的生成能提供内驱力形成人所特有的道德需要，题干中并没有涉及二者之间的推出关系，无法推出，排除；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项：翻译为：获得道德认可且体验到做人的尊严与幸福拥有道德的属性，体验到做人的尊严与幸福是对</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的肯前，肯前必肯后，可以推出拥有道德的属性或获得道德认可，获得道德认可，根据或关系否一推一，可推出拥有道德的属性，可以推出，当选。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【解析】论点：商家利用平台的算法工具，根据用户在社交媒体上的偏好，向用户推送产品信息的这种数据分析变相剥夺了消费者关注其他产品的机会。</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题干当中只有论点，加强优先考虑补充论据。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项：选项说明大部分用户对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种草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商品是满意的，但并未提及大数据算法分析对消费者的影响，无关选项，不能加强，排除；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项：选项说明推送的广告信息会吸引消费者的注意力，说明这种数据分析会通过吸引注意力的方式使得消费者失去关注其他产品的机会，补充论据，可以加强，当选；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项：题干讨论的是平台使用算法工具后对消费者的影响，选项讨论的是不使用算法工具消费者会如何消费的问题，话题不一致，不能加强，排除；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项：选项说明怎样才能避开大数据的支配，为对策类选项，并未说明这种数据分析是否会剥夺消费者关注其他产品的机会，不能加强，排除。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【解析】论点：商家利用平台的算法工具，根据用户在社交媒体上的偏好，向用户推送产品信息的这种数据分析变相剥夺了消费者关注其他产品的机会。</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题干当中只有论点，加强优先考虑补充论据。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项：选项说明大部分用户对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种草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商品是满意的，但并未提及大数据算法分析对消费者的影响，无关选项，不能加强，排除；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项：选项说明推送的广告信息会吸引消费者的注意力，说明这种数据分析会通过吸引注意力的方式使得消费者失去关注其他产品的机会，补充论据，可以加强，当选；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项：题干讨论的是平台使用算法工具后对消费者的影响，选项讨论的是不使用算法工具消费者会如何消费的问题，话题不一致，不能加强，排除；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项：选项说明怎样才能避开大数据的支配，为对策类选项，并未说明这种数据分析是否会剥夺消费者关注其他产品的机会，不能加强，排除。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2001</a:t>
            </a:r>
            <a:r>
              <a:rPr lang="zh-CN" altLang="en-US" sz="1200" kern="1200" dirty="0">
                <a:solidFill>
                  <a:schemeClr val="tx1"/>
                </a:solidFill>
                <a:effectLst/>
                <a:latin typeface="+mn-lt"/>
                <a:sym typeface="+mn-ea"/>
              </a:rPr>
              <a:t>年，科学家首次发现了鳞角腹足蜗牛，目前只被发现生活在印度洋的三处深海热液喷口，生存面积相当于两个足球场。然而，直到</a:t>
            </a:r>
            <a:r>
              <a:rPr lang="en-US" altLang="zh-CN" sz="1200" kern="1200" dirty="0">
                <a:solidFill>
                  <a:schemeClr val="tx1"/>
                </a:solidFill>
                <a:effectLst/>
                <a:latin typeface="+mn-lt"/>
                <a:sym typeface="+mn-ea"/>
              </a:rPr>
              <a:t>2019</a:t>
            </a:r>
            <a:r>
              <a:rPr lang="zh-CN" altLang="en-US" sz="1200" kern="1200" dirty="0">
                <a:solidFill>
                  <a:schemeClr val="tx1"/>
                </a:solidFill>
                <a:effectLst/>
                <a:latin typeface="+mn-lt"/>
                <a:sym typeface="+mn-ea"/>
              </a:rPr>
              <a:t>年</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月，世界自然保护联盟才突然宣布，鳞角腹足蜗牛进入濒危物种名单。</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项：选项说明热液口喷出的液体对生物体具有毒性，只能证明鳞角腹足蜗牛的生存环境恶劣，无法解释为什么</a:t>
            </a:r>
            <a:r>
              <a:rPr lang="en-US" altLang="zh-CN" sz="1200" kern="1200" dirty="0">
                <a:solidFill>
                  <a:schemeClr val="tx1"/>
                </a:solidFill>
                <a:effectLst/>
                <a:latin typeface="+mn-lt"/>
                <a:sym typeface="+mn-ea"/>
              </a:rPr>
              <a:t>2001</a:t>
            </a:r>
            <a:r>
              <a:rPr lang="zh-CN" altLang="en-US" sz="1200" kern="1200" dirty="0">
                <a:solidFill>
                  <a:schemeClr val="tx1"/>
                </a:solidFill>
                <a:effectLst/>
                <a:latin typeface="+mn-lt"/>
                <a:sym typeface="+mn-ea"/>
              </a:rPr>
              <a:t>年发现了鳞角腹足蜗牛但</a:t>
            </a:r>
            <a:r>
              <a:rPr lang="en-US" altLang="zh-CN" sz="1200" kern="1200" dirty="0">
                <a:solidFill>
                  <a:schemeClr val="tx1"/>
                </a:solidFill>
                <a:effectLst/>
                <a:latin typeface="+mn-lt"/>
                <a:sym typeface="+mn-ea"/>
              </a:rPr>
              <a:t>2019</a:t>
            </a:r>
            <a:r>
              <a:rPr lang="zh-CN" altLang="en-US" sz="1200" kern="1200" dirty="0">
                <a:solidFill>
                  <a:schemeClr val="tx1"/>
                </a:solidFill>
                <a:effectLst/>
                <a:latin typeface="+mn-lt"/>
                <a:sym typeface="+mn-ea"/>
              </a:rPr>
              <a:t>年才将其纳入濒危物种名单，不能解释题干矛盾，排除；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项：选项说明现存物种中只有鳞角腹足蜗牛能够利用铁的硫化物形成磁性保护壳，体现了鳞角腹足蜗牛的独特性，无法解释为什么</a:t>
            </a:r>
            <a:r>
              <a:rPr lang="en-US" altLang="zh-CN" sz="1200" kern="1200" dirty="0">
                <a:solidFill>
                  <a:schemeClr val="tx1"/>
                </a:solidFill>
                <a:effectLst/>
                <a:latin typeface="+mn-lt"/>
                <a:sym typeface="+mn-ea"/>
              </a:rPr>
              <a:t>2001</a:t>
            </a:r>
            <a:r>
              <a:rPr lang="zh-CN" altLang="en-US" sz="1200" kern="1200" dirty="0">
                <a:solidFill>
                  <a:schemeClr val="tx1"/>
                </a:solidFill>
                <a:effectLst/>
                <a:latin typeface="+mn-lt"/>
                <a:sym typeface="+mn-ea"/>
              </a:rPr>
              <a:t>年发现了鳞角腹足蜗牛但</a:t>
            </a:r>
            <a:r>
              <a:rPr lang="en-US" altLang="zh-CN" sz="1200" kern="1200" dirty="0">
                <a:solidFill>
                  <a:schemeClr val="tx1"/>
                </a:solidFill>
                <a:effectLst/>
                <a:latin typeface="+mn-lt"/>
                <a:sym typeface="+mn-ea"/>
              </a:rPr>
              <a:t>2019</a:t>
            </a:r>
            <a:r>
              <a:rPr lang="zh-CN" altLang="en-US" sz="1200" kern="1200" dirty="0">
                <a:solidFill>
                  <a:schemeClr val="tx1"/>
                </a:solidFill>
                <a:effectLst/>
                <a:latin typeface="+mn-lt"/>
                <a:sym typeface="+mn-ea"/>
              </a:rPr>
              <a:t>年才将其纳入濒危物种名单，不能解释题干矛盾，排除；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项：选项说的是鳞角腹足蜗牛的铁质鳞片的作用，无法解释为什么</a:t>
            </a:r>
            <a:r>
              <a:rPr lang="en-US" altLang="zh-CN" sz="1200" kern="1200" dirty="0">
                <a:solidFill>
                  <a:schemeClr val="tx1"/>
                </a:solidFill>
                <a:effectLst/>
                <a:latin typeface="+mn-lt"/>
                <a:sym typeface="+mn-ea"/>
              </a:rPr>
              <a:t>2001</a:t>
            </a:r>
            <a:r>
              <a:rPr lang="zh-CN" altLang="en-US" sz="1200" kern="1200" dirty="0">
                <a:solidFill>
                  <a:schemeClr val="tx1"/>
                </a:solidFill>
                <a:effectLst/>
                <a:latin typeface="+mn-lt"/>
                <a:sym typeface="+mn-ea"/>
              </a:rPr>
              <a:t>年发现了鳞角腹足蜗牛但</a:t>
            </a:r>
            <a:r>
              <a:rPr lang="en-US" altLang="zh-CN" sz="1200" kern="1200" dirty="0">
                <a:solidFill>
                  <a:schemeClr val="tx1"/>
                </a:solidFill>
                <a:effectLst/>
                <a:latin typeface="+mn-lt"/>
                <a:sym typeface="+mn-ea"/>
              </a:rPr>
              <a:t>2019</a:t>
            </a:r>
            <a:r>
              <a:rPr lang="zh-CN" altLang="en-US" sz="1200" kern="1200" dirty="0">
                <a:solidFill>
                  <a:schemeClr val="tx1"/>
                </a:solidFill>
                <a:effectLst/>
                <a:latin typeface="+mn-lt"/>
                <a:sym typeface="+mn-ea"/>
              </a:rPr>
              <a:t>年才将其纳入濒危物种名单，不能解释题干矛盾，排除；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项：选项说明发现鳞角腹足蜗牛的三处热液喷口中有两处正面临着深海采矿活动，会对其带来潜在威胁，证明鳞角腹足蜗牛正面临更加严峻的生存挑战，需要进一步的保护，可以解释题干矛盾，当选。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【解析】论点：在</a:t>
            </a:r>
            <a:r>
              <a:rPr lang="en-US" altLang="zh-CN" sz="1200" kern="1200" dirty="0">
                <a:solidFill>
                  <a:schemeClr val="tx1"/>
                </a:solidFill>
                <a:effectLst/>
                <a:latin typeface="+mn-lt"/>
                <a:sym typeface="+mn-ea"/>
              </a:rPr>
              <a:t>38</a:t>
            </a:r>
            <a:r>
              <a:rPr lang="zh-CN" altLang="en-US" sz="1200" kern="1200" dirty="0">
                <a:solidFill>
                  <a:schemeClr val="tx1"/>
                </a:solidFill>
                <a:effectLst/>
                <a:latin typeface="+mn-lt"/>
                <a:sym typeface="+mn-ea"/>
              </a:rPr>
              <a:t>亿年前的早期地球，真核生物是无法存活的。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a:t>
            </a:r>
            <a:r>
              <a:rPr lang="en-US" altLang="zh-CN" sz="1200" kern="1200" dirty="0">
                <a:solidFill>
                  <a:schemeClr val="tx1"/>
                </a:solidFill>
                <a:effectLst/>
                <a:latin typeface="+mn-lt"/>
                <a:sym typeface="+mn-ea"/>
              </a:rPr>
              <a:t>38</a:t>
            </a:r>
            <a:r>
              <a:rPr lang="zh-CN" altLang="en-US" sz="1200" kern="1200" dirty="0">
                <a:solidFill>
                  <a:schemeClr val="tx1"/>
                </a:solidFill>
                <a:effectLst/>
                <a:latin typeface="+mn-lt"/>
                <a:sym typeface="+mn-ea"/>
              </a:rPr>
              <a:t>亿年前，地球火山活动频繁，构造运动强烈。原始海洋处于高温甚至沸腾的状态，原始大气充斥着甲烷、硫化氢、二氧化碳等物质，极度缺乏氧气，真核生物需要进行有丝分裂才能繁衍生存。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论点讨论的是</a:t>
            </a:r>
            <a:r>
              <a:rPr lang="en-US" altLang="zh-CN" sz="1200" kern="1200" dirty="0">
                <a:solidFill>
                  <a:schemeClr val="tx1"/>
                </a:solidFill>
                <a:effectLst/>
                <a:latin typeface="+mn-lt"/>
                <a:sym typeface="+mn-ea"/>
              </a:rPr>
              <a:t>38</a:t>
            </a:r>
            <a:r>
              <a:rPr lang="zh-CN" altLang="en-US" sz="1200" kern="1200" dirty="0">
                <a:solidFill>
                  <a:schemeClr val="tx1"/>
                </a:solidFill>
                <a:effectLst/>
                <a:latin typeface="+mn-lt"/>
                <a:sym typeface="+mn-ea"/>
              </a:rPr>
              <a:t>亿年前真核生物无法存活，论据讨论的是</a:t>
            </a:r>
            <a:r>
              <a:rPr lang="en-US" altLang="zh-CN" sz="1200" kern="1200" dirty="0">
                <a:solidFill>
                  <a:schemeClr val="tx1"/>
                </a:solidFill>
                <a:effectLst/>
                <a:latin typeface="+mn-lt"/>
                <a:sym typeface="+mn-ea"/>
              </a:rPr>
              <a:t>38</a:t>
            </a:r>
            <a:r>
              <a:rPr lang="zh-CN" altLang="en-US" sz="1200" kern="1200" dirty="0">
                <a:solidFill>
                  <a:schemeClr val="tx1"/>
                </a:solidFill>
                <a:effectLst/>
                <a:latin typeface="+mn-lt"/>
                <a:sym typeface="+mn-ea"/>
              </a:rPr>
              <a:t>亿年前地球极度缺乏氧气以及真核生物需要进行有丝分裂才能繁衍生存，话题不一致，加强优先考虑搭桥。</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项：该项说明真核生物是地球物种的祖先，与</a:t>
            </a:r>
            <a:r>
              <a:rPr lang="en-US" altLang="zh-CN" sz="1200" kern="1200" dirty="0">
                <a:solidFill>
                  <a:schemeClr val="tx1"/>
                </a:solidFill>
                <a:effectLst/>
                <a:latin typeface="+mn-lt"/>
                <a:sym typeface="+mn-ea"/>
              </a:rPr>
              <a:t>38</a:t>
            </a:r>
            <a:r>
              <a:rPr lang="zh-CN" altLang="en-US" sz="1200" kern="1200" dirty="0">
                <a:solidFill>
                  <a:schemeClr val="tx1"/>
                </a:solidFill>
                <a:effectLst/>
                <a:latin typeface="+mn-lt"/>
                <a:sym typeface="+mn-ea"/>
              </a:rPr>
              <a:t>亿年前的早期地球真核生物能否生存无关，不是论证需要补充的前提，排除；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项：该项说明真核生物进行的有丝分裂是需氧过程，结合论据指出的</a:t>
            </a:r>
            <a:r>
              <a:rPr lang="en-US" altLang="zh-CN" sz="1200" kern="1200" dirty="0">
                <a:solidFill>
                  <a:schemeClr val="tx1"/>
                </a:solidFill>
                <a:effectLst/>
                <a:latin typeface="+mn-lt"/>
                <a:sym typeface="+mn-ea"/>
              </a:rPr>
              <a:t>38</a:t>
            </a:r>
            <a:r>
              <a:rPr lang="zh-CN" altLang="en-US" sz="1200" kern="1200" dirty="0">
                <a:solidFill>
                  <a:schemeClr val="tx1"/>
                </a:solidFill>
                <a:effectLst/>
                <a:latin typeface="+mn-lt"/>
                <a:sym typeface="+mn-ea"/>
              </a:rPr>
              <a:t>亿年前的地球极度缺乏氧气以及真核生物需要进行有丝分裂才能繁衍生存，可以得出真核生物无法进行有丝分裂，无法存活，搭桥，可以支持，当选；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项：该项说明所有的真核生物都必须通过有丝分裂繁衍生息，但无法证明有丝分裂是否需要氧气，真核生物能否在无氧环境下存活，不是论证需要补充的前提，排除；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项：该项说明火山活动频繁使得当时地球上的氧气不可能充足，只说了</a:t>
            </a:r>
            <a:r>
              <a:rPr lang="en-US" altLang="zh-CN" sz="1200" kern="1200" dirty="0">
                <a:solidFill>
                  <a:schemeClr val="tx1"/>
                </a:solidFill>
                <a:effectLst/>
                <a:latin typeface="+mn-lt"/>
                <a:sym typeface="+mn-ea"/>
              </a:rPr>
              <a:t>38</a:t>
            </a:r>
            <a:r>
              <a:rPr lang="zh-CN" altLang="en-US" sz="1200" kern="1200" dirty="0">
                <a:solidFill>
                  <a:schemeClr val="tx1"/>
                </a:solidFill>
                <a:effectLst/>
                <a:latin typeface="+mn-lt"/>
                <a:sym typeface="+mn-ea"/>
              </a:rPr>
              <a:t>亿年前地球极度缺乏氧气的原因，未提及真核生物能否在无氧环境下存活，不是论证需要补充的前提，排除。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【解析】论点：科学研究应采用一门全球通用的语言以解决语言障碍问题，最终促进科学研究的发展。</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论据：在整个科学研究和学术探讨领域，语言障碍造成的负面影响巨大。</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论点和论据都在讨论语言对于科学研究的影响，话题一致优先考虑否定论点，即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科学研究无需采用一门全球通用的语言来促进科学研究的发展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项：该项说明</a:t>
            </a:r>
            <a:r>
              <a:rPr lang="en-US" altLang="zh-CN" sz="1200" kern="1200" dirty="0">
                <a:solidFill>
                  <a:schemeClr val="tx1"/>
                </a:solidFill>
                <a:effectLst/>
                <a:latin typeface="+mn-lt"/>
                <a:sym typeface="+mn-ea"/>
              </a:rPr>
              <a:t>19</a:t>
            </a:r>
            <a:r>
              <a:rPr lang="zh-CN" altLang="en-US" sz="1200" kern="1200" dirty="0">
                <a:solidFill>
                  <a:schemeClr val="tx1"/>
                </a:solidFill>
                <a:effectLst/>
                <a:latin typeface="+mn-lt"/>
                <a:sym typeface="+mn-ea"/>
              </a:rPr>
              <a:t>世纪欧洲学术界曾经存在过三大语言并存的局面，与科学研究是否采用一门全球通用语言无关，无法削弱，排除；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项：该项说明一些科学家为顺利发表科研成果而只能与其他研究者合作或雇佣翻译人员，即语言的统一对于发表科研成果是重要的，可以加强论点，排除；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项：该项说明现阶段科学研究中科学家最好采用各自的母语才能表述的更准确，即无需采用一门全球通用的语言来促进科学研究的发展，否定论点，当选；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项：该项说明大量研究成果的原意在翻译过程中易被曲解，甚至很多成果从未被翻译过，即语言的统一对于发表科研成果是重要的，可以加强论点，排除。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）凤、鹿、龟、雀、象、龙；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）龟、象、龙、雀、凤、鹿；</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）象、鹿、凤、龙、雀、龟。</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）中朝代顺序完全错误，（</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）中都对了一半。</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）中对于</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个朝代顺序的观点完全不一致，而且（</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）中都对了一半，即一共对了</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个，所以（</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）对的</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个和（</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）对的</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个一定是没有交叉的，因此对于任意一个顺序，（</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）一定是一对一错的。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）全错，可知第二个顺序排鹿是错的，（</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）中第二个顺序的朝代和（</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）一致，那么（</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）中第二个顺序的朝代也是错的，因此，第二个顺序的朝代（</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）的观点是对的，即第二个顺序应该是象，由此可知，（</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）中第一个顺序放象是错的，则第一个顺序的朝代（</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）的观点是对的，第一个顺序应该是龟，所以（</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）的第六个顺序放龟是错的，则第六个顺序的朝代（</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）的观点是对的，即第六个顺序是鹿，到目前（</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）对的朝代顺序已经有三个，则剩下的第三、四、五个顺序应该是（</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）猜测正确，只有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选项符合要求。</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【解析】赵教授论点：</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生成物的著作权应当属于</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使用者。</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赵教授论据：实施了创作行为的自然人是原本意义上的著作权主体。</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生成物是使用者实施创作行为形成的作品，作为一般规则，使用者基于创作事实成为作者，取得作品著作权。</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钱研究员论点：不同意赵教授的观点。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钱研究员论据：只有作品才有著作权的归属问题，作品应当是人类的智力成果，也只有人的智力活动才能被称为创作。</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生成物并非人类作者的智力成果，本就不属于作品，何来著作权归属问题？</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项：赵教授和钱研究员都是在讨论</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生成物的著作权归属问题，所以钱研究员并没有转移论题，排除；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项：钱研究员的反驳方式是认为</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生成物不是作品，也就不存在著作权归属问题，他并没有直接否定赵教授的论点，排除；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项：赵教授的论点是基于</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生成物是作品，是有著作权这一论据的，钱研究员正是对这一论据进行了反驳，他认为</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生成物不是作品，没有著作权归属的问题，是反驳了对方观点赖以成立的论据，当选；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项：钱研究员只是反驳了赵教授所持观点所基于的论据，即</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生成物是有著作权这一前提，并没有指出对方的论据并不足以支持其论点，排除。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【解析】李工程师论点：</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生成物的著作权应当属于</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开发者。</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李工程师论据：因为</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开发者负责设计和开发智能系统的算法和模型，这需要其具备机器学习、深度学习和自然语言处理等领域的知识，还需要与他人合作，比如与产品经理合作确定需求、与软件工程师合作实现系统功能等。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项：李工程师的论证并不需要对某些关键概念做出明确解释，不是其论证中存在的问题，排除；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项：李工程师明确提出</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生成物的著作权应当属于</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开发者，对著作权的归属问题作出了正面回答，不是其论证中存在的问题，排除；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项：李工程师只是阐述了</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开发者的工作内容和所需知识，并不明确是否夸大了</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开发者在</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设计开发工作中作出的贡献，排除；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项：李工程师的论证，是根据</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开发者在</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设计和开发中的职责，推断出</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生成物的著作权应归</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开发者所有，这是一个逻辑上的混淆，</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开发者的职责，并不能直接决定</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生成物的著作权归属，该项指出了李工程师论证中存在的问题。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【解析】孙博士证明</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生成物的主体付出劳动没有著作权，是依据楼房施工的主体付出劳动没有所有权，是通过两个对象本质不同，因具有某些相同或相似的性质，推断它们在其他性质上也相同或相似，该论证犯了不当类比的逻辑错误。</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项：该项通过</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生成付出创造性流动的主体不止一个，反问这些人是否都应当获得</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生成的著作权，论证过程是由主体数量推出主体应有的权利，犯了转移话题的逻辑错误，与孙博士观点论证方式不同，排除；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项：该项证明付出创造性劳动能够获得</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生成物的著作权，是依据辛勤耕作的农民享有农作物的收获，犯了不当类比的错误，且与孙博士的观点相反，当选；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项：该项通过国家颁布了很多法律法规来规范小说电影著作权的归属，从而认为也应该通过颁布法律法规来规范</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生成的著作权，犯了不当类比的错误，但与著作权归属于谁这个话题无关，并未与孙博士观点相反，排除；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项：该项通过其他著作权拥有者都应付出创造性劳动获得著作权，反问</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生成物付出的创造性劳动的主体为何不能获得著作权，其他著作权与</a:t>
            </a:r>
            <a:r>
              <a:rPr lang="en-US" altLang="zh-CN" sz="1200" kern="1200" dirty="0">
                <a:solidFill>
                  <a:schemeClr val="tx1"/>
                </a:solidFill>
                <a:effectLst/>
                <a:latin typeface="+mn-lt"/>
                <a:sym typeface="+mn-ea"/>
              </a:rPr>
              <a:t>AI</a:t>
            </a:r>
            <a:r>
              <a:rPr lang="zh-CN" altLang="en-US" sz="1200" kern="1200" dirty="0">
                <a:solidFill>
                  <a:schemeClr val="tx1"/>
                </a:solidFill>
                <a:effectLst/>
                <a:latin typeface="+mn-lt"/>
                <a:sym typeface="+mn-ea"/>
              </a:rPr>
              <a:t>生成物的著作权本质为同一范畴，并未犯不当类比的逻辑错误，与孙博士观点论证方式不同，排除。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4.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4.xml"/><Relationship Id="rId2" Type="http://schemas.openxmlformats.org/officeDocument/2006/relationships/image" Target="../media/image9.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事业单位联考</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A</a:t>
            </a:r>
            <a:b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b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2024</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11</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月</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2</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日</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以下</a:t>
            </a:r>
            <a:r>
              <a:rPr lang="en-US" altLang="zh-CN" sz="2000" dirty="0">
                <a:cs typeface="微软雅黑" panose="020B0503020204020204" charset="-122"/>
                <a:sym typeface="+mn-ea"/>
              </a:rPr>
              <a:t>4</a:t>
            </a:r>
            <a:r>
              <a:rPr lang="zh-CN" altLang="en-US" sz="2000" dirty="0">
                <a:cs typeface="微软雅黑" panose="020B0503020204020204" charset="-122"/>
                <a:sym typeface="+mn-ea"/>
              </a:rPr>
              <a:t>个图形中，将</a:t>
            </a:r>
            <a:r>
              <a:rPr lang="en-US" altLang="zh-CN" sz="2000" dirty="0">
                <a:cs typeface="微软雅黑" panose="020B0503020204020204" charset="-122"/>
                <a:sym typeface="+mn-ea"/>
              </a:rPr>
              <a:t>1</a:t>
            </a:r>
            <a:r>
              <a:rPr lang="zh-CN" altLang="en-US" sz="2000" dirty="0">
                <a:cs typeface="微软雅黑" panose="020B0503020204020204" charset="-122"/>
                <a:sym typeface="+mn-ea"/>
              </a:rPr>
              <a:t>个白色圆形涂黑后能成为轴对称图形的有几个？（</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A.1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B.2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C.3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D.4</a:t>
            </a:r>
            <a:endParaRPr lang="en-US" altLang="zh-CN" sz="2000" dirty="0">
              <a:cs typeface="微软雅黑" panose="020B0503020204020204" charset="-122"/>
              <a:sym typeface="+mn-ea"/>
            </a:endParaRPr>
          </a:p>
        </p:txBody>
      </p:sp>
      <p:pic>
        <p:nvPicPr>
          <p:cNvPr id="4" name="图片 1" descr="IMG_256"/>
          <p:cNvPicPr>
            <a:picLocks noChangeAspect="1"/>
          </p:cNvPicPr>
          <p:nvPr/>
        </p:nvPicPr>
        <p:blipFill>
          <a:blip r:embed="rId1"/>
          <a:stretch>
            <a:fillRect/>
          </a:stretch>
        </p:blipFill>
        <p:spPr>
          <a:xfrm>
            <a:off x="462915" y="1597025"/>
            <a:ext cx="8934450" cy="2386965"/>
          </a:xfrm>
          <a:prstGeom prst="rect">
            <a:avLst/>
          </a:prstGeom>
          <a:noFill/>
          <a:ln w="9525">
            <a:noFill/>
          </a:ln>
        </p:spPr>
      </p:pic>
      <p:pic>
        <p:nvPicPr>
          <p:cNvPr id="5" name="图片 4"/>
          <p:cNvPicPr>
            <a:picLocks noChangeAspect="1"/>
          </p:cNvPicPr>
          <p:nvPr/>
        </p:nvPicPr>
        <p:blipFill>
          <a:blip r:embed="rId2"/>
          <a:srcRect b="2710"/>
          <a:stretch>
            <a:fillRect/>
          </a:stretch>
        </p:blipFill>
        <p:spPr>
          <a:xfrm>
            <a:off x="2878455" y="4275455"/>
            <a:ext cx="6429375" cy="17208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从所给的四个选项中，选择最合适的一个填在问号处，使之呈现一定的规律性（</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5" name="图片 5" descr="IMG_256"/>
          <p:cNvPicPr>
            <a:picLocks noChangeAspect="1"/>
          </p:cNvPicPr>
          <p:nvPr/>
        </p:nvPicPr>
        <p:blipFill>
          <a:blip r:embed="rId1"/>
          <a:stretch>
            <a:fillRect/>
          </a:stretch>
        </p:blipFill>
        <p:spPr>
          <a:xfrm>
            <a:off x="462915" y="1767205"/>
            <a:ext cx="9380855" cy="404622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把下面的六个图形分为两类，使每一类图形都有各自的共同特征或规律，分类正确的一项是（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en-US" altLang="en-US" sz="2000" dirty="0">
                <a:cs typeface="微软雅黑" panose="020B0503020204020204" charset="-122"/>
                <a:sym typeface="+mn-ea"/>
              </a:rPr>
              <a:t>①②③</a:t>
            </a:r>
            <a:r>
              <a:rPr lang="zh-CN" altLang="en-US" sz="2000" dirty="0">
                <a:cs typeface="微软雅黑" panose="020B0503020204020204" charset="-122"/>
                <a:sym typeface="+mn-ea"/>
              </a:rPr>
              <a:t>，</a:t>
            </a:r>
            <a:r>
              <a:rPr lang="en-US" altLang="en-US" sz="2000" dirty="0">
                <a:cs typeface="微软雅黑" panose="020B0503020204020204" charset="-122"/>
                <a:sym typeface="+mn-ea"/>
              </a:rPr>
              <a:t>④⑤⑥</a:t>
            </a:r>
            <a:r>
              <a:rPr lang="en-US" altLang="zh-CN" sz="2000" dirty="0">
                <a:cs typeface="微软雅黑" panose="020B0503020204020204" charset="-122"/>
                <a:sym typeface="+mn-ea"/>
              </a:rPr>
              <a:t> 		B.</a:t>
            </a:r>
            <a:r>
              <a:rPr lang="en-US" altLang="en-US" sz="2000" dirty="0">
                <a:cs typeface="微软雅黑" panose="020B0503020204020204" charset="-122"/>
                <a:sym typeface="+mn-ea"/>
              </a:rPr>
              <a:t>①②⑤</a:t>
            </a:r>
            <a:r>
              <a:rPr lang="zh-CN" altLang="en-US" sz="2000" dirty="0">
                <a:cs typeface="微软雅黑" panose="020B0503020204020204" charset="-122"/>
                <a:sym typeface="+mn-ea"/>
              </a:rPr>
              <a:t>，</a:t>
            </a:r>
            <a:r>
              <a:rPr lang="en-US" altLang="en-US" sz="2000" dirty="0">
                <a:cs typeface="微软雅黑" panose="020B0503020204020204" charset="-122"/>
                <a:sym typeface="+mn-ea"/>
              </a:rPr>
              <a:t>③④⑥</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en-US" altLang="en-US" sz="2000" dirty="0">
                <a:cs typeface="微软雅黑" panose="020B0503020204020204" charset="-122"/>
                <a:sym typeface="+mn-ea"/>
              </a:rPr>
              <a:t>①④⑤</a:t>
            </a:r>
            <a:r>
              <a:rPr lang="zh-CN" altLang="en-US" sz="2000" dirty="0">
                <a:cs typeface="微软雅黑" panose="020B0503020204020204" charset="-122"/>
                <a:sym typeface="+mn-ea"/>
              </a:rPr>
              <a:t>，</a:t>
            </a:r>
            <a:r>
              <a:rPr lang="en-US" altLang="en-US" sz="2000" dirty="0">
                <a:cs typeface="微软雅黑" panose="020B0503020204020204" charset="-122"/>
                <a:sym typeface="+mn-ea"/>
              </a:rPr>
              <a:t>②③⑥</a:t>
            </a:r>
            <a:r>
              <a:rPr lang="en-US" altLang="zh-CN" sz="2000" dirty="0">
                <a:cs typeface="微软雅黑" panose="020B0503020204020204" charset="-122"/>
                <a:sym typeface="+mn-ea"/>
              </a:rPr>
              <a:t> 		D.</a:t>
            </a:r>
            <a:r>
              <a:rPr lang="en-US" altLang="en-US" sz="2000" dirty="0">
                <a:cs typeface="微软雅黑" panose="020B0503020204020204" charset="-122"/>
                <a:sym typeface="+mn-ea"/>
              </a:rPr>
              <a:t>①⑤⑥</a:t>
            </a:r>
            <a:r>
              <a:rPr lang="zh-CN" altLang="en-US" sz="2000" dirty="0">
                <a:cs typeface="微软雅黑" panose="020B0503020204020204" charset="-122"/>
                <a:sym typeface="+mn-ea"/>
              </a:rPr>
              <a:t>，</a:t>
            </a:r>
            <a:r>
              <a:rPr lang="en-US" altLang="en-US" sz="2000" dirty="0">
                <a:cs typeface="微软雅黑" panose="020B0503020204020204" charset="-122"/>
                <a:sym typeface="+mn-ea"/>
              </a:rPr>
              <a:t>②③④</a:t>
            </a:r>
            <a:endParaRPr lang="en-US" altLang="en-US" sz="2000" dirty="0">
              <a:cs typeface="微软雅黑" panose="020B0503020204020204" charset="-122"/>
              <a:sym typeface="+mn-ea"/>
            </a:endParaRPr>
          </a:p>
        </p:txBody>
      </p:sp>
      <p:pic>
        <p:nvPicPr>
          <p:cNvPr id="6" name="图片 6" descr="IMG_256"/>
          <p:cNvPicPr>
            <a:picLocks noChangeAspect="1"/>
          </p:cNvPicPr>
          <p:nvPr/>
        </p:nvPicPr>
        <p:blipFill>
          <a:blip r:embed="rId1"/>
          <a:stretch>
            <a:fillRect/>
          </a:stretch>
        </p:blipFill>
        <p:spPr>
          <a:xfrm>
            <a:off x="462915" y="1950720"/>
            <a:ext cx="11109960" cy="268160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从所给的四个选项中，选择最合适的一个填入问号处，使之呈现一定的规律性（</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8" name="图片 8" descr="IMG_256"/>
          <p:cNvPicPr>
            <a:picLocks noChangeAspect="1"/>
          </p:cNvPicPr>
          <p:nvPr/>
        </p:nvPicPr>
        <p:blipFill>
          <a:blip r:embed="rId1"/>
          <a:stretch>
            <a:fillRect/>
          </a:stretch>
        </p:blipFill>
        <p:spPr>
          <a:xfrm>
            <a:off x="2643505" y="1443355"/>
            <a:ext cx="4240530" cy="478472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左图为给定四面体的外表面展开图，以下哪项可以由它折叠而成？（</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13" name="图片 13" descr="IMG_256"/>
          <p:cNvPicPr>
            <a:picLocks noChangeAspect="1"/>
          </p:cNvPicPr>
          <p:nvPr/>
        </p:nvPicPr>
        <p:blipFill>
          <a:blip r:embed="rId1"/>
          <a:stretch>
            <a:fillRect/>
          </a:stretch>
        </p:blipFill>
        <p:spPr>
          <a:xfrm>
            <a:off x="286385" y="1882775"/>
            <a:ext cx="11698605" cy="2188845"/>
          </a:xfrm>
          <a:prstGeom prst="rect">
            <a:avLst/>
          </a:prstGeom>
          <a:noFill/>
          <a:ln w="9525">
            <a:noFill/>
          </a:ln>
        </p:spPr>
      </p:pic>
      <p:pic>
        <p:nvPicPr>
          <p:cNvPr id="16" name="图片 16" descr="IMG_256"/>
          <p:cNvPicPr>
            <a:picLocks noChangeAspect="1"/>
          </p:cNvPicPr>
          <p:nvPr/>
        </p:nvPicPr>
        <p:blipFill>
          <a:blip r:embed="rId2"/>
          <a:stretch>
            <a:fillRect/>
          </a:stretch>
        </p:blipFill>
        <p:spPr>
          <a:xfrm>
            <a:off x="192405" y="4071620"/>
            <a:ext cx="11652885" cy="229679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当一个自己不熟悉的事物出现时，人们难以对其未来情况作出预测，从而产生一种自然而然的抗拒感，或者出现与现实不相称的过度担心和烦恼，这种现象被称为预期性焦虑。</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根据上述定义，下列反映了预期性焦虑的是（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小刘本月销售业绩不好，当经理说这周要进行总结时，他很担心被辞退</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小李将第一次登上讲台，虽然做了充分的准备，但仍然紧张得彻夜难眠</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一想到这次的项目要和自己不喜欢的同事进行合作，小飞就觉得很烦恼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王阿姨想炒股，但是一听邻居说自己炒股一直亏本，就打消了这个念头</a:t>
            </a:r>
            <a:endParaRPr lang="zh-CN" altLang="en-US" sz="2000" dirty="0">
              <a:cs typeface="微软雅黑" panose="020B050302020402020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dirty="0">
                <a:cs typeface="微软雅黑" panose="020B0503020204020204" charset="-122"/>
                <a:sym typeface="+mn-ea"/>
              </a:rPr>
              <a:t>唯名论认为个别、殊相先于一般、共相，只有个别事物才是真实的存在。一般、共相仅仅是人们用来表达个别事物的名称、概念、符号；唯实论则否认个别事物的客观实在性，认为一般、共相是先于个别事物并派生出个别事物的实体，只有它们才是在意识之外的客观实在。</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根据上述定义，下列表述属于唯名论的是（</a:t>
            </a:r>
            <a:r>
              <a:rPr lang="en-US" altLang="zh-CN" dirty="0">
                <a:cs typeface="微软雅黑" panose="020B0503020204020204" charset="-122"/>
                <a:sym typeface="+mn-ea"/>
              </a:rPr>
              <a:t> </a:t>
            </a:r>
            <a:r>
              <a:rPr lang="zh-CN" altLang="en-US" dirty="0">
                <a:cs typeface="微软雅黑" panose="020B0503020204020204" charset="-122"/>
                <a:sym typeface="+mn-ea"/>
              </a:rPr>
              <a:t>）。</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只有一般、共相才有客观实在性，是造物主创造个别事物所依据的原型，是造物主所具有的理念</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一般，共相就是理念，理念是世界万物的原型，只有它才是独立存在的实体，越是一般的东西就越实在</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共相是独立于个别事物的第一实体，共相是个别事物的本质或原始形式，个别事物只是表现共相的个别情况和偶然现象</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一般只是人们创造出来用以表示许多个体之间相似性的标记、文字，就像呻吟意味着痛苦一样，它们只是一种逻辑存在或精神的虚构</a:t>
            </a:r>
            <a:endParaRPr lang="zh-CN" altLang="en-US" dirty="0">
              <a:cs typeface="微软雅黑" panose="020B0503020204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地理细分是指按照消费者所处的地理位置、自然环境来细分市场。地理细分之所以可行，主要是由于处在不同地理环境下的消费者对于同一类产品往往会有不同的需求和偏好。</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根据上述定义，下列最可能体现地理细分的是（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某乳品公司在奶源地建了生产基地，在多个畅销地也建了生产基地</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某服装出口企业根据需要，分别设置了海运、陆运、空运的发货仓</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某咖啡连锁店在甲国售卖的咖啡味道较淡，而在乙国售卖的则较浓</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某品牌洗发水分男款和女款，其广告也选用不同性别的模特来拍摄</a:t>
            </a:r>
            <a:endParaRPr lang="zh-CN" altLang="en-US" sz="2000" dirty="0">
              <a:cs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空间语言是一种借助空间的传播符号，即利用空间距离表达信息的交流方式。体态语言是一种通过身体的动作符号、脸部的表情符号表现某种具体含义的交流方式。</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根据上述定义，下列同时使用了上述两种语言的是（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某国代表在与有分歧的他国代表会面时，分别位于长桌的两端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某国代表在联合国参加完重要事项的磋商后、愉快地接受采访</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某国家领导人在出访期间检阅仪仗队时，全程都保持表情严肃</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某国家元首刚走出飞机舱门，就远远地伸出手臂做出握手动作</a:t>
            </a:r>
            <a:endParaRPr lang="zh-CN" altLang="en-US" sz="2000" dirty="0">
              <a:cs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隐域植被是指在一定的气候带或大气候区内，受非地带性环境因素（如地下水、地表水、地貌部位或地表组成物质等）影响而形成的自然植被或群落类型。隐域植被不固定于某一植被带，而是出现于两个以上的植被带内，具有广布性的特征。显域植被是指在地球表面，与水热条件相适应，能充分反应地区气候环境特点的、呈带状分布的植被类型，一般按纬度、经度或垂直高度分布。</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根据上述定义，下列属于隐域植被的是（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位于我国大陆南端的雷州半岛，其植被类型为季雨林</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夏绿阔叶林经常在具有温带海洋性气候特征的地区分布</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水生植被普遍分布在世界各地的湖泊、河流等淡水水域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内蒙古由东向西降水量减少，其植被呈森林</a:t>
            </a:r>
            <a:r>
              <a:rPr lang="en-US" altLang="zh-CN" sz="2000" dirty="0">
                <a:cs typeface="微软雅黑" panose="020B0503020204020204" charset="-122"/>
                <a:sym typeface="+mn-ea"/>
              </a:rPr>
              <a:t>-</a:t>
            </a:r>
            <a:r>
              <a:rPr lang="zh-CN" altLang="en-US" sz="2000" dirty="0">
                <a:cs typeface="微软雅黑" panose="020B0503020204020204" charset="-122"/>
                <a:sym typeface="+mn-ea"/>
              </a:rPr>
              <a:t>草原</a:t>
            </a:r>
            <a:r>
              <a:rPr lang="en-US" altLang="zh-CN" sz="2000" dirty="0">
                <a:cs typeface="微软雅黑" panose="020B0503020204020204" charset="-122"/>
                <a:sym typeface="+mn-ea"/>
              </a:rPr>
              <a:t>-</a:t>
            </a:r>
            <a:r>
              <a:rPr lang="zh-CN" altLang="en-US" sz="2000" dirty="0">
                <a:cs typeface="微软雅黑" panose="020B0503020204020204" charset="-122"/>
                <a:sym typeface="+mn-ea"/>
              </a:rPr>
              <a:t>半荒漠</a:t>
            </a:r>
            <a:r>
              <a:rPr lang="en-US" altLang="zh-CN" sz="2000" dirty="0">
                <a:cs typeface="微软雅黑" panose="020B0503020204020204" charset="-122"/>
                <a:sym typeface="+mn-ea"/>
              </a:rPr>
              <a:t>-</a:t>
            </a:r>
            <a:r>
              <a:rPr lang="zh-CN" altLang="en-US" sz="2000" dirty="0">
                <a:cs typeface="微软雅黑" panose="020B0503020204020204" charset="-122"/>
                <a:sym typeface="+mn-ea"/>
              </a:rPr>
              <a:t>荒漠分布</a:t>
            </a:r>
            <a:endParaRPr lang="zh-CN" altLang="en-US" sz="2000" dirty="0">
              <a:cs typeface="微软雅黑" panose="020B050302020402020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a:t>
            </a:r>
            <a:r>
              <a:rPr kumimoji="1" lang="en-US" altLang="zh-CN" sz="2800" b="1" dirty="0">
                <a:solidFill>
                  <a:srgbClr val="FF653F"/>
                </a:solidFill>
              </a:rPr>
              <a:t>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矛盾关系指的是两个命题之间既不能同真也不能同假的关系；上反对关系指的是两个命题之间不能同真但可以同假的关系；下反对关系指的是两个命题之间可以同真但不能同假的关系。</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根据上述定义，以下哪项中的两个命题是下反对关系？（</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花园里的郁金香都开了；花园里的郁金香都没开</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花园里的郁金香有些开了；花园里的郁金香都没开</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花园里的郁金香有些没开；花园里的郁金香都开了</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花园里的郁金香有些开了；花园里的郁金香有些没开</a:t>
            </a:r>
            <a:endParaRPr lang="zh-CN" altLang="en-US" sz="2000" dirty="0">
              <a:cs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释语是修辞格的一种，指借用释义的方式，对词语的含义加以临时的引申、发挥，或做形象化的说明。其中：义界释语是用下定义的方式对某一词语作主观性界定；特指释语是在具体语境中对某一词语进行解释，离开了语境其意义就会发生改变；探源释语是对词语的来历作寻根探源的解释。</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根据上述定义，下列属于探源释语的是（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社工小杨长相平平，却被居民们亲切地称为</a:t>
            </a:r>
            <a:r>
              <a:rPr lang="en-US" altLang="zh-CN" sz="2000" dirty="0">
                <a:cs typeface="微软雅黑" panose="020B0503020204020204" charset="-122"/>
                <a:sym typeface="+mn-ea"/>
              </a:rPr>
              <a:t>“</a:t>
            </a:r>
            <a:r>
              <a:rPr lang="zh-CN" altLang="en-US" sz="2000" dirty="0">
                <a:cs typeface="微软雅黑" panose="020B0503020204020204" charset="-122"/>
                <a:sym typeface="+mn-ea"/>
              </a:rPr>
              <a:t>帅哥</a:t>
            </a:r>
            <a:r>
              <a:rPr lang="en-US" altLang="zh-CN" sz="2000" dirty="0">
                <a:cs typeface="微软雅黑" panose="020B0503020204020204" charset="-122"/>
                <a:sym typeface="+mn-ea"/>
              </a:rPr>
              <a:t>”</a:t>
            </a:r>
            <a:r>
              <a:rPr lang="zh-CN" altLang="en-US" sz="2000" dirty="0">
                <a:cs typeface="微软雅黑" panose="020B0503020204020204" charset="-122"/>
                <a:sym typeface="+mn-ea"/>
              </a:rPr>
              <a:t>，因为他叫</a:t>
            </a:r>
            <a:r>
              <a:rPr lang="en-US" altLang="zh-CN" sz="2000" dirty="0">
                <a:cs typeface="微软雅黑" panose="020B0503020204020204" charset="-122"/>
                <a:sym typeface="+mn-ea"/>
              </a:rPr>
              <a:t>“</a:t>
            </a:r>
            <a:r>
              <a:rPr lang="zh-CN" altLang="en-US" sz="2000" dirty="0">
                <a:cs typeface="微软雅黑" panose="020B0503020204020204" charset="-122"/>
                <a:sym typeface="+mn-ea"/>
              </a:rPr>
              <a:t>杨帅</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贱</a:t>
            </a:r>
            <a:r>
              <a:rPr lang="en-US" altLang="zh-CN" sz="2000" dirty="0">
                <a:cs typeface="微软雅黑" panose="020B0503020204020204" charset="-122"/>
                <a:sym typeface="+mn-ea"/>
              </a:rPr>
              <a:t>”</a:t>
            </a:r>
            <a:r>
              <a:rPr lang="zh-CN" altLang="en-US" sz="2000" dirty="0">
                <a:cs typeface="微软雅黑" panose="020B0503020204020204" charset="-122"/>
                <a:sym typeface="+mn-ea"/>
              </a:rPr>
              <a:t>字古字形从贝，戋声，贝表示与财务相关，贱本义指价格低、引申为地位卑下</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情</a:t>
            </a:r>
            <a:r>
              <a:rPr lang="en-US" altLang="zh-CN" sz="2000" dirty="0">
                <a:cs typeface="微软雅黑" panose="020B0503020204020204" charset="-122"/>
                <a:sym typeface="+mn-ea"/>
              </a:rPr>
              <a:t>”</a:t>
            </a:r>
            <a:r>
              <a:rPr lang="zh-CN" altLang="en-US" sz="2000" dirty="0">
                <a:cs typeface="微软雅黑" panose="020B0503020204020204" charset="-122"/>
                <a:sym typeface="+mn-ea"/>
              </a:rPr>
              <a:t>和</a:t>
            </a:r>
            <a:r>
              <a:rPr lang="en-US" altLang="zh-CN" sz="2000" dirty="0">
                <a:cs typeface="微软雅黑" panose="020B0503020204020204" charset="-122"/>
                <a:sym typeface="+mn-ea"/>
              </a:rPr>
              <a:t>“</a:t>
            </a:r>
            <a:r>
              <a:rPr lang="zh-CN" altLang="en-US" sz="2000" dirty="0">
                <a:cs typeface="微软雅黑" panose="020B0503020204020204" charset="-122"/>
                <a:sym typeface="+mn-ea"/>
              </a:rPr>
              <a:t>感</a:t>
            </a:r>
            <a:r>
              <a:rPr lang="en-US" altLang="zh-CN" sz="2000" dirty="0">
                <a:cs typeface="微软雅黑" panose="020B0503020204020204" charset="-122"/>
                <a:sym typeface="+mn-ea"/>
              </a:rPr>
              <a:t>”</a:t>
            </a:r>
            <a:r>
              <a:rPr lang="zh-CN" altLang="en-US" sz="2000" dirty="0">
                <a:cs typeface="微软雅黑" panose="020B0503020204020204" charset="-122"/>
                <a:sym typeface="+mn-ea"/>
              </a:rPr>
              <a:t>两个字都有</a:t>
            </a:r>
            <a:r>
              <a:rPr lang="en-US" altLang="zh-CN" sz="2000" dirty="0">
                <a:cs typeface="微软雅黑" panose="020B0503020204020204" charset="-122"/>
                <a:sym typeface="+mn-ea"/>
              </a:rPr>
              <a:t>“</a:t>
            </a:r>
            <a:r>
              <a:rPr lang="zh-CN" altLang="en-US" sz="2000" dirty="0">
                <a:cs typeface="微软雅黑" panose="020B0503020204020204" charset="-122"/>
                <a:sym typeface="+mn-ea"/>
              </a:rPr>
              <a:t>心</a:t>
            </a:r>
            <a:r>
              <a:rPr lang="en-US" altLang="zh-CN" sz="2000" dirty="0">
                <a:cs typeface="微软雅黑" panose="020B0503020204020204" charset="-122"/>
                <a:sym typeface="+mn-ea"/>
              </a:rPr>
              <a:t>”</a:t>
            </a:r>
            <a:r>
              <a:rPr lang="zh-CN" altLang="en-US" sz="2000" dirty="0">
                <a:cs typeface="微软雅黑" panose="020B0503020204020204" charset="-122"/>
                <a:sym typeface="+mn-ea"/>
              </a:rPr>
              <a:t>，就是说，情感应该是发自内心的，没有心就没有情感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朋</a:t>
            </a:r>
            <a:r>
              <a:rPr lang="en-US" altLang="zh-CN" sz="2000" dirty="0">
                <a:cs typeface="微软雅黑" panose="020B0503020204020204" charset="-122"/>
                <a:sym typeface="+mn-ea"/>
              </a:rPr>
              <a:t>”</a:t>
            </a:r>
            <a:r>
              <a:rPr lang="zh-CN" altLang="en-US" sz="2000" dirty="0">
                <a:cs typeface="微软雅黑" panose="020B0503020204020204" charset="-122"/>
                <a:sym typeface="+mn-ea"/>
              </a:rPr>
              <a:t>字中两个月亮，并排发光、肝胆相照、但也始终保持着必要的距离，不比高竞低，也不过分越界</a:t>
            </a:r>
            <a:endParaRPr lang="zh-CN" altLang="en-US" sz="2000" dirty="0">
              <a:cs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差等差数列指的是数列的后项与前项之差组成的新数列是等差数列；比等差数列指的是数列的后项与前项之比组成的新数列是等差数列；差等比数列指的是数列的后项与前项之差组成的新数列是等比数列。</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根据上述定义，以下两项属于（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a:t>
            </a:r>
            <a:r>
              <a:rPr lang="en-US" altLang="zh-CN" sz="2000" dirty="0">
                <a:cs typeface="微软雅黑" panose="020B0503020204020204" charset="-122"/>
                <a:sym typeface="+mn-ea"/>
              </a:rPr>
              <a:t>1.25</a:t>
            </a:r>
            <a:r>
              <a:rPr lang="zh-CN" altLang="en-US" sz="2000" dirty="0">
                <a:cs typeface="微软雅黑" panose="020B0503020204020204" charset="-122"/>
                <a:sym typeface="+mn-ea"/>
              </a:rPr>
              <a:t>，</a:t>
            </a:r>
            <a:r>
              <a:rPr lang="en-US" altLang="zh-CN" sz="2000" dirty="0">
                <a:cs typeface="微软雅黑" panose="020B0503020204020204" charset="-122"/>
                <a:sym typeface="+mn-ea"/>
              </a:rPr>
              <a:t>1.5</a:t>
            </a: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a:t>
            </a:r>
            <a:r>
              <a:rPr lang="en-US" altLang="zh-CN" sz="2000" dirty="0">
                <a:cs typeface="微软雅黑" panose="020B0503020204020204" charset="-122"/>
                <a:sym typeface="+mn-ea"/>
              </a:rPr>
              <a:t>5</a:t>
            </a:r>
            <a:r>
              <a:rPr lang="zh-CN" altLang="en-US" sz="2000" dirty="0">
                <a:cs typeface="微软雅黑" panose="020B0503020204020204" charset="-122"/>
                <a:sym typeface="+mn-ea"/>
              </a:rPr>
              <a:t>，</a:t>
            </a:r>
            <a:r>
              <a:rPr lang="en-US" altLang="zh-CN" sz="2000" dirty="0">
                <a:cs typeface="微软雅黑" panose="020B0503020204020204" charset="-122"/>
                <a:sym typeface="+mn-ea"/>
              </a:rPr>
              <a:t>9</a:t>
            </a:r>
            <a:r>
              <a:rPr lang="zh-CN" altLang="en-US" sz="2000" dirty="0">
                <a:cs typeface="微软雅黑" panose="020B0503020204020204" charset="-122"/>
                <a:sym typeface="+mn-ea"/>
              </a:rPr>
              <a:t>，</a:t>
            </a:r>
            <a:r>
              <a:rPr lang="en-US" altLang="zh-CN" sz="2000" dirty="0">
                <a:cs typeface="微软雅黑" panose="020B0503020204020204" charset="-122"/>
                <a:sym typeface="+mn-ea"/>
              </a:rPr>
              <a:t>17</a:t>
            </a:r>
            <a:endParaRPr lang="en-US" altLang="zh-CN"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a:t>
            </a:r>
            <a:r>
              <a:rPr lang="en-US" altLang="zh-CN" sz="2000" dirty="0">
                <a:cs typeface="微软雅黑" panose="020B0503020204020204" charset="-122"/>
                <a:sym typeface="+mn-ea"/>
              </a:rPr>
              <a:t>5</a:t>
            </a:r>
            <a:r>
              <a:rPr lang="zh-CN" altLang="en-US" sz="2000" dirty="0">
                <a:cs typeface="微软雅黑" panose="020B0503020204020204" charset="-122"/>
                <a:sym typeface="+mn-ea"/>
              </a:rPr>
              <a:t>，</a:t>
            </a:r>
            <a:r>
              <a:rPr lang="en-US" altLang="zh-CN" sz="2000" dirty="0">
                <a:cs typeface="微软雅黑" panose="020B0503020204020204" charset="-122"/>
                <a:sym typeface="+mn-ea"/>
              </a:rPr>
              <a:t>15</a:t>
            </a:r>
            <a:r>
              <a:rPr lang="zh-CN" altLang="en-US" sz="2000" dirty="0">
                <a:cs typeface="微软雅黑" panose="020B0503020204020204" charset="-122"/>
                <a:sym typeface="+mn-ea"/>
              </a:rPr>
              <a:t>，</a:t>
            </a:r>
            <a:r>
              <a:rPr lang="en-US" altLang="zh-CN" sz="2000" dirty="0">
                <a:cs typeface="微软雅黑" panose="020B0503020204020204" charset="-122"/>
                <a:sym typeface="+mn-ea"/>
              </a:rPr>
              <a:t>15</a:t>
            </a:r>
            <a:r>
              <a:rPr lang="zh-CN" altLang="en-US" sz="2000" dirty="0">
                <a:cs typeface="微软雅黑" panose="020B0503020204020204" charset="-122"/>
                <a:sym typeface="+mn-ea"/>
              </a:rPr>
              <a:t>，</a:t>
            </a:r>
            <a:r>
              <a:rPr lang="en-US" altLang="zh-CN" sz="2000" dirty="0">
                <a:cs typeface="微软雅黑" panose="020B0503020204020204" charset="-122"/>
                <a:sym typeface="+mn-ea"/>
              </a:rPr>
              <a:t>-15 </a:t>
            </a:r>
            <a:r>
              <a:rPr lang="zh-CN" altLang="en-US" sz="2000" dirty="0">
                <a:cs typeface="微软雅黑" panose="020B0503020204020204" charset="-122"/>
                <a:sym typeface="+mn-ea"/>
              </a:rPr>
              <a:t>，</a:t>
            </a:r>
            <a:r>
              <a:rPr lang="en-US" altLang="zh-CN" sz="2000" dirty="0">
                <a:cs typeface="微软雅黑" panose="020B0503020204020204" charset="-122"/>
                <a:sym typeface="+mn-ea"/>
              </a:rPr>
              <a:t>45</a:t>
            </a:r>
            <a:r>
              <a:rPr lang="zh-CN" altLang="en-US" sz="2000" dirty="0">
                <a:cs typeface="微软雅黑" panose="020B0503020204020204" charset="-122"/>
                <a:sym typeface="+mn-ea"/>
              </a:rPr>
              <a:t>，</a:t>
            </a:r>
            <a:r>
              <a:rPr lang="en-US" altLang="zh-CN" sz="2000" dirty="0">
                <a:cs typeface="微软雅黑" panose="020B0503020204020204" charset="-122"/>
                <a:sym typeface="+mn-ea"/>
              </a:rPr>
              <a:t>-225</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差等差、比等差</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差等比、比等差</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差等差、差等比</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差等比、差等差</a:t>
            </a:r>
            <a:endParaRPr lang="zh-CN" altLang="en-US" sz="2000" dirty="0">
              <a:cs typeface="微软雅黑" panose="020B050302020402020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1900" dirty="0">
                <a:cs typeface="微软雅黑" panose="020B0503020204020204" charset="-122"/>
                <a:sym typeface="+mn-ea"/>
              </a:rPr>
              <a:t>由于交际环境的制约、限制和影响，语言意义发生了一定变化，这些变化称之为语流义变。语流义变包括四种类型：（</a:t>
            </a:r>
            <a:r>
              <a:rPr lang="en-US" altLang="zh-CN" sz="1900" dirty="0">
                <a:cs typeface="微软雅黑" panose="020B0503020204020204" charset="-122"/>
                <a:sym typeface="+mn-ea"/>
              </a:rPr>
              <a:t>1</a:t>
            </a:r>
            <a:r>
              <a:rPr lang="zh-CN" altLang="en-US" sz="1900" dirty="0">
                <a:cs typeface="微软雅黑" panose="020B0503020204020204" charset="-122"/>
                <a:sym typeface="+mn-ea"/>
              </a:rPr>
              <a:t>）语义具指化，即语义原本具有普遍性、概括性，具指化后在言语中和特定的具体事物相联系。（</a:t>
            </a:r>
            <a:r>
              <a:rPr lang="en-US" altLang="zh-CN" sz="1900" dirty="0">
                <a:cs typeface="微软雅黑" panose="020B0503020204020204" charset="-122"/>
                <a:sym typeface="+mn-ea"/>
              </a:rPr>
              <a:t>2</a:t>
            </a:r>
            <a:r>
              <a:rPr lang="zh-CN" altLang="en-US" sz="1900" dirty="0">
                <a:cs typeface="微软雅黑" panose="020B0503020204020204" charset="-122"/>
                <a:sym typeface="+mn-ea"/>
              </a:rPr>
              <a:t>）语义空灵化，即语义原本内容清晰明确，但进入言语交际时语义内容空洞无物，只剩下词语的形式。（</a:t>
            </a:r>
            <a:r>
              <a:rPr lang="en-US" altLang="zh-CN" sz="1900" dirty="0">
                <a:cs typeface="微软雅黑" panose="020B0503020204020204" charset="-122"/>
                <a:sym typeface="+mn-ea"/>
              </a:rPr>
              <a:t>3</a:t>
            </a:r>
            <a:r>
              <a:rPr lang="zh-CN" altLang="en-US" sz="1900" dirty="0">
                <a:cs typeface="微软雅黑" panose="020B0503020204020204" charset="-122"/>
                <a:sym typeface="+mn-ea"/>
              </a:rPr>
              <a:t>）动态性的语义扩大或缩小，即在言语交际时语义指称的范围扩大或缩小成小类或个体事物。（</a:t>
            </a:r>
            <a:r>
              <a:rPr lang="en-US" altLang="zh-CN" sz="1900" dirty="0">
                <a:cs typeface="微软雅黑" panose="020B0503020204020204" charset="-122"/>
                <a:sym typeface="+mn-ea"/>
              </a:rPr>
              <a:t>4</a:t>
            </a:r>
            <a:r>
              <a:rPr lang="zh-CN" altLang="en-US" sz="1900" dirty="0">
                <a:cs typeface="微软雅黑" panose="020B0503020204020204" charset="-122"/>
                <a:sym typeface="+mn-ea"/>
              </a:rPr>
              <a:t>）动态性的语义转移，即在言语交际时语义临时改变。</a:t>
            </a:r>
            <a:endParaRPr lang="zh-CN" altLang="en-US" sz="1900" dirty="0">
              <a:cs typeface="微软雅黑" panose="020B0503020204020204" charset="-122"/>
              <a:sym typeface="+mn-ea"/>
            </a:endParaRPr>
          </a:p>
          <a:p>
            <a:pPr indent="0" fontAlgn="auto">
              <a:lnSpc>
                <a:spcPct val="150000"/>
              </a:lnSpc>
            </a:pPr>
            <a:r>
              <a:rPr lang="zh-CN" altLang="en-US" sz="1900" dirty="0">
                <a:cs typeface="微软雅黑" panose="020B0503020204020204" charset="-122"/>
                <a:sym typeface="+mn-ea"/>
              </a:rPr>
              <a:t>根据上述定义，下列黑体部分与其语流义变类型对应错误的是（</a:t>
            </a:r>
            <a:r>
              <a:rPr lang="en-US" altLang="zh-CN" sz="1900" dirty="0">
                <a:cs typeface="微软雅黑" panose="020B0503020204020204" charset="-122"/>
                <a:sym typeface="+mn-ea"/>
              </a:rPr>
              <a:t> </a:t>
            </a:r>
            <a:r>
              <a:rPr lang="zh-CN" altLang="en-US" sz="1900" dirty="0">
                <a:cs typeface="微软雅黑" panose="020B0503020204020204" charset="-122"/>
                <a:sym typeface="+mn-ea"/>
              </a:rPr>
              <a:t>）。</a:t>
            </a:r>
            <a:endParaRPr lang="zh-CN" altLang="en-US" sz="1900" dirty="0">
              <a:cs typeface="微软雅黑" panose="020B0503020204020204" charset="-122"/>
              <a:sym typeface="+mn-ea"/>
            </a:endParaRPr>
          </a:p>
          <a:p>
            <a:pPr indent="0" fontAlgn="auto">
              <a:lnSpc>
                <a:spcPct val="150000"/>
              </a:lnSpc>
            </a:pPr>
            <a:r>
              <a:rPr lang="en-US" altLang="zh-CN" sz="1900" dirty="0">
                <a:cs typeface="微软雅黑" panose="020B0503020204020204" charset="-122"/>
                <a:sym typeface="+mn-ea"/>
              </a:rPr>
              <a:t>A.“</a:t>
            </a:r>
            <a:r>
              <a:rPr lang="zh-CN" altLang="en-US" sz="1900" dirty="0">
                <a:cs typeface="微软雅黑" panose="020B0503020204020204" charset="-122"/>
                <a:sym typeface="+mn-ea"/>
              </a:rPr>
              <a:t>此去泉台招旧部，</a:t>
            </a:r>
            <a:r>
              <a:rPr lang="zh-CN" altLang="en-US" sz="1900" b="1" dirty="0">
                <a:cs typeface="微软雅黑" panose="020B0503020204020204" charset="-122"/>
                <a:sym typeface="+mn-ea"/>
              </a:rPr>
              <a:t>旌旗</a:t>
            </a:r>
            <a:r>
              <a:rPr lang="zh-CN" altLang="en-US" sz="1900" dirty="0">
                <a:cs typeface="微软雅黑" panose="020B0503020204020204" charset="-122"/>
                <a:sym typeface="+mn-ea"/>
              </a:rPr>
              <a:t>十万斩阎罗</a:t>
            </a:r>
            <a:r>
              <a:rPr lang="en-US" altLang="zh-CN" sz="1900" dirty="0">
                <a:cs typeface="微软雅黑" panose="020B0503020204020204" charset="-122"/>
                <a:sym typeface="+mn-ea"/>
              </a:rPr>
              <a:t>”——</a:t>
            </a:r>
            <a:r>
              <a:rPr lang="zh-CN" altLang="en-US" sz="1900" dirty="0">
                <a:cs typeface="微软雅黑" panose="020B0503020204020204" charset="-122"/>
                <a:sym typeface="+mn-ea"/>
              </a:rPr>
              <a:t>（</a:t>
            </a:r>
            <a:r>
              <a:rPr lang="en-US" altLang="zh-CN" sz="1900" dirty="0">
                <a:cs typeface="微软雅黑" panose="020B0503020204020204" charset="-122"/>
                <a:sym typeface="+mn-ea"/>
              </a:rPr>
              <a:t>1</a:t>
            </a:r>
            <a:r>
              <a:rPr lang="zh-CN" altLang="en-US" sz="1900" dirty="0">
                <a:cs typeface="微软雅黑" panose="020B0503020204020204" charset="-122"/>
                <a:sym typeface="+mn-ea"/>
              </a:rPr>
              <a:t>）</a:t>
            </a:r>
            <a:endParaRPr lang="zh-CN" altLang="en-US" sz="1900" dirty="0">
              <a:cs typeface="微软雅黑" panose="020B0503020204020204" charset="-122"/>
              <a:sym typeface="+mn-ea"/>
            </a:endParaRPr>
          </a:p>
          <a:p>
            <a:pPr indent="0" fontAlgn="auto">
              <a:lnSpc>
                <a:spcPct val="150000"/>
              </a:lnSpc>
            </a:pPr>
            <a:r>
              <a:rPr lang="en-US" altLang="zh-CN" sz="1900" dirty="0">
                <a:cs typeface="微软雅黑" panose="020B0503020204020204" charset="-122"/>
                <a:sym typeface="+mn-ea"/>
              </a:rPr>
              <a:t>B.“</a:t>
            </a:r>
            <a:r>
              <a:rPr lang="zh-CN" altLang="en-US" sz="1900" dirty="0">
                <a:cs typeface="微软雅黑" panose="020B0503020204020204" charset="-122"/>
                <a:sym typeface="+mn-ea"/>
              </a:rPr>
              <a:t>来</a:t>
            </a:r>
            <a:r>
              <a:rPr lang="zh-CN" altLang="en-US" sz="1900" b="1" dirty="0">
                <a:cs typeface="微软雅黑" panose="020B0503020204020204" charset="-122"/>
                <a:sym typeface="+mn-ea"/>
              </a:rPr>
              <a:t>他</a:t>
            </a:r>
            <a:r>
              <a:rPr lang="zh-CN" altLang="en-US" sz="1900" dirty="0">
                <a:cs typeface="微软雅黑" panose="020B0503020204020204" charset="-122"/>
                <a:sym typeface="+mn-ea"/>
              </a:rPr>
              <a:t>一碗汤</a:t>
            </a:r>
            <a:r>
              <a:rPr lang="en-US" altLang="zh-CN" sz="1900" dirty="0">
                <a:cs typeface="微软雅黑" panose="020B0503020204020204" charset="-122"/>
                <a:sym typeface="+mn-ea"/>
              </a:rPr>
              <a:t>”——</a:t>
            </a:r>
            <a:r>
              <a:rPr lang="zh-CN" altLang="en-US" sz="1900" dirty="0">
                <a:cs typeface="微软雅黑" panose="020B0503020204020204" charset="-122"/>
                <a:sym typeface="+mn-ea"/>
              </a:rPr>
              <a:t>（</a:t>
            </a:r>
            <a:r>
              <a:rPr lang="en-US" altLang="zh-CN" sz="1900" dirty="0">
                <a:cs typeface="微软雅黑" panose="020B0503020204020204" charset="-122"/>
                <a:sym typeface="+mn-ea"/>
              </a:rPr>
              <a:t>2</a:t>
            </a:r>
            <a:r>
              <a:rPr lang="zh-CN" altLang="en-US" sz="1900" dirty="0">
                <a:cs typeface="微软雅黑" panose="020B0503020204020204" charset="-122"/>
                <a:sym typeface="+mn-ea"/>
              </a:rPr>
              <a:t>）</a:t>
            </a:r>
            <a:endParaRPr lang="zh-CN" altLang="en-US" sz="1900" dirty="0">
              <a:cs typeface="微软雅黑" panose="020B0503020204020204" charset="-122"/>
              <a:sym typeface="+mn-ea"/>
            </a:endParaRPr>
          </a:p>
          <a:p>
            <a:pPr indent="0" fontAlgn="auto">
              <a:lnSpc>
                <a:spcPct val="150000"/>
              </a:lnSpc>
            </a:pPr>
            <a:r>
              <a:rPr lang="en-US" altLang="zh-CN" sz="1900" dirty="0">
                <a:cs typeface="微软雅黑" panose="020B0503020204020204" charset="-122"/>
                <a:sym typeface="+mn-ea"/>
              </a:rPr>
              <a:t>C.“</a:t>
            </a:r>
            <a:r>
              <a:rPr lang="zh-CN" altLang="en-US" sz="1900" dirty="0">
                <a:cs typeface="微软雅黑" panose="020B0503020204020204" charset="-122"/>
                <a:sym typeface="+mn-ea"/>
              </a:rPr>
              <a:t>我的手机没有</a:t>
            </a:r>
            <a:r>
              <a:rPr lang="zh-CN" altLang="en-US" sz="1900" b="1" dirty="0">
                <a:cs typeface="微软雅黑" panose="020B0503020204020204" charset="-122"/>
                <a:sym typeface="+mn-ea"/>
              </a:rPr>
              <a:t>网</a:t>
            </a:r>
            <a:r>
              <a:rPr lang="zh-CN" altLang="en-US" sz="1900" dirty="0">
                <a:cs typeface="微软雅黑" panose="020B0503020204020204" charset="-122"/>
                <a:sym typeface="+mn-ea"/>
              </a:rPr>
              <a:t>了</a:t>
            </a:r>
            <a:r>
              <a:rPr lang="en-US" altLang="zh-CN" sz="1900" dirty="0">
                <a:cs typeface="微软雅黑" panose="020B0503020204020204" charset="-122"/>
                <a:sym typeface="+mn-ea"/>
              </a:rPr>
              <a:t>”——</a:t>
            </a:r>
            <a:r>
              <a:rPr lang="zh-CN" altLang="en-US" sz="1900" dirty="0">
                <a:cs typeface="微软雅黑" panose="020B0503020204020204" charset="-122"/>
                <a:sym typeface="+mn-ea"/>
              </a:rPr>
              <a:t>（</a:t>
            </a:r>
            <a:r>
              <a:rPr lang="en-US" altLang="zh-CN" sz="1900" dirty="0">
                <a:cs typeface="微软雅黑" panose="020B0503020204020204" charset="-122"/>
                <a:sym typeface="+mn-ea"/>
              </a:rPr>
              <a:t>3</a:t>
            </a:r>
            <a:r>
              <a:rPr lang="zh-CN" altLang="en-US" sz="1900" dirty="0">
                <a:cs typeface="微软雅黑" panose="020B0503020204020204" charset="-122"/>
                <a:sym typeface="+mn-ea"/>
              </a:rPr>
              <a:t>）</a:t>
            </a:r>
            <a:endParaRPr lang="zh-CN" altLang="en-US" sz="1900" dirty="0">
              <a:cs typeface="微软雅黑" panose="020B0503020204020204" charset="-122"/>
              <a:sym typeface="+mn-ea"/>
            </a:endParaRPr>
          </a:p>
          <a:p>
            <a:pPr indent="0" fontAlgn="auto">
              <a:lnSpc>
                <a:spcPct val="150000"/>
              </a:lnSpc>
            </a:pPr>
            <a:r>
              <a:rPr lang="en-US" altLang="zh-CN" sz="1900" dirty="0">
                <a:cs typeface="微软雅黑" panose="020B0503020204020204" charset="-122"/>
                <a:sym typeface="+mn-ea"/>
              </a:rPr>
              <a:t>D.“</a:t>
            </a:r>
            <a:r>
              <a:rPr lang="zh-CN" altLang="en-US" sz="1900" dirty="0">
                <a:cs typeface="微软雅黑" panose="020B0503020204020204" charset="-122"/>
                <a:sym typeface="+mn-ea"/>
              </a:rPr>
              <a:t>有什么消息公开，别自个</a:t>
            </a:r>
            <a:r>
              <a:rPr lang="zh-CN" altLang="en-US" sz="1900" b="1" dirty="0">
                <a:cs typeface="微软雅黑" panose="020B0503020204020204" charset="-122"/>
                <a:sym typeface="+mn-ea"/>
              </a:rPr>
              <a:t>贪污</a:t>
            </a:r>
            <a:r>
              <a:rPr lang="zh-CN" altLang="en-US" sz="1900" dirty="0">
                <a:cs typeface="微软雅黑" panose="020B0503020204020204" charset="-122"/>
                <a:sym typeface="+mn-ea"/>
              </a:rPr>
              <a:t>了。</a:t>
            </a:r>
            <a:r>
              <a:rPr lang="en-US" altLang="zh-CN" sz="1900" dirty="0">
                <a:cs typeface="微软雅黑" panose="020B0503020204020204" charset="-122"/>
                <a:sym typeface="+mn-ea"/>
              </a:rPr>
              <a:t>”——</a:t>
            </a:r>
            <a:r>
              <a:rPr lang="zh-CN" altLang="en-US" sz="1900" dirty="0">
                <a:cs typeface="微软雅黑" panose="020B0503020204020204" charset="-122"/>
                <a:sym typeface="+mn-ea"/>
              </a:rPr>
              <a:t>（</a:t>
            </a:r>
            <a:r>
              <a:rPr lang="en-US" altLang="zh-CN" sz="1900" dirty="0">
                <a:cs typeface="微软雅黑" panose="020B0503020204020204" charset="-122"/>
                <a:sym typeface="+mn-ea"/>
              </a:rPr>
              <a:t>4</a:t>
            </a:r>
            <a:r>
              <a:rPr lang="zh-CN" altLang="en-US" sz="1900" dirty="0">
                <a:cs typeface="微软雅黑" panose="020B0503020204020204" charset="-122"/>
                <a:sym typeface="+mn-ea"/>
              </a:rPr>
              <a:t>）</a:t>
            </a:r>
            <a:endParaRPr lang="en-US" altLang="zh-CN" sz="1900" dirty="0">
              <a:cs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dirty="0">
                <a:cs typeface="微软雅黑" panose="020B0503020204020204" charset="-122"/>
                <a:sym typeface="+mn-ea"/>
              </a:rPr>
              <a:t>地质学是研究地球的科学，它研究地球（主要是地球的壳层）的物质成分、内部构造、表面特征，地球发展历史中的各种地质作用和曾经生活于其上的生命的形式及其演变。其中，静力地质学主要研究地壳的物质组成，研究</a:t>
            </a:r>
            <a:r>
              <a:rPr lang="en-US" altLang="zh-CN" dirty="0">
                <a:cs typeface="微软雅黑" panose="020B0503020204020204" charset="-122"/>
                <a:sym typeface="+mn-ea"/>
              </a:rPr>
              <a:t>“</a:t>
            </a:r>
            <a:r>
              <a:rPr lang="zh-CN" altLang="en-US" dirty="0">
                <a:cs typeface="微软雅黑" panose="020B0503020204020204" charset="-122"/>
                <a:sym typeface="+mn-ea"/>
              </a:rPr>
              <a:t>元素</a:t>
            </a:r>
            <a:r>
              <a:rPr lang="en-US" altLang="zh-CN" dirty="0">
                <a:cs typeface="微软雅黑" panose="020B0503020204020204" charset="-122"/>
                <a:sym typeface="+mn-ea"/>
              </a:rPr>
              <a:t>-</a:t>
            </a:r>
            <a:r>
              <a:rPr lang="zh-CN" altLang="en-US" dirty="0">
                <a:cs typeface="微软雅黑" panose="020B0503020204020204" charset="-122"/>
                <a:sym typeface="+mn-ea"/>
              </a:rPr>
              <a:t>矿物</a:t>
            </a:r>
            <a:r>
              <a:rPr lang="en-US" altLang="zh-CN" dirty="0">
                <a:cs typeface="微软雅黑" panose="020B0503020204020204" charset="-122"/>
                <a:sym typeface="+mn-ea"/>
              </a:rPr>
              <a:t>-</a:t>
            </a:r>
            <a:r>
              <a:rPr lang="zh-CN" altLang="en-US" dirty="0">
                <a:cs typeface="微软雅黑" panose="020B0503020204020204" charset="-122"/>
                <a:sym typeface="+mn-ea"/>
              </a:rPr>
              <a:t>岩石</a:t>
            </a:r>
            <a:r>
              <a:rPr lang="en-US" altLang="zh-CN" dirty="0">
                <a:cs typeface="微软雅黑" panose="020B0503020204020204" charset="-122"/>
                <a:sym typeface="+mn-ea"/>
              </a:rPr>
              <a:t>"</a:t>
            </a:r>
            <a:r>
              <a:rPr lang="zh-CN" altLang="en-US" dirty="0">
                <a:cs typeface="微软雅黑" panose="020B0503020204020204" charset="-122"/>
                <a:sym typeface="+mn-ea"/>
              </a:rPr>
              <a:t>等物质分类连续系列的不同层次；动力地质学主要研究地壳结构构造，地表形态的形成及其发展变化的地质作用的原理、机制、条件等；历史地质学主要研究地壳和地球外三圈（水圈、大气圈、生物圈）的演化发展历史。</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根据上述定义，下列不属于地质学上述三个分支学科的研究范畴的是（</a:t>
            </a:r>
            <a:r>
              <a:rPr lang="en-US" altLang="zh-CN" dirty="0">
                <a:cs typeface="微软雅黑" panose="020B0503020204020204" charset="-122"/>
                <a:sym typeface="+mn-ea"/>
              </a:rPr>
              <a:t> </a:t>
            </a:r>
            <a:r>
              <a:rPr lang="zh-CN" altLang="en-US" dirty="0">
                <a:cs typeface="微软雅黑" panose="020B0503020204020204" charset="-122"/>
                <a:sym typeface="+mn-ea"/>
              </a:rPr>
              <a:t>）。</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研究人类活动和地质环境相互作用，自然和人为引起的环境地质问题</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研究自然界中生长的矿物晶体的发生、生长、外部形态、内部结构及物理性质</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研究古代气候形成、分布特征及变化，根据地质学的证据，研究时间尺度在万年以上的冰期与间冰期气候</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研究地球表面的形态特征及其形成的动力，地球表面形态的发生、发展的规律和分布，以及组成堆积地貌的沉积物研究</a:t>
            </a:r>
            <a:endParaRPr lang="zh-CN" altLang="en-US" dirty="0">
              <a:cs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专家：院士</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军人：将军</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开车：超车</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画展：展览</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游轮：航母</a:t>
            </a:r>
            <a:endParaRPr lang="zh-CN" altLang="en-US" sz="2000" dirty="0">
              <a:cs typeface="微软雅黑" panose="020B050302020402020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柱子：支撑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扳手：敲打</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炊具：烹饪</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镜头：曝光</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跑道：散步</a:t>
            </a:r>
            <a:endParaRPr lang="zh-CN" altLang="en-US" sz="2000" dirty="0">
              <a:cs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68</a:t>
            </a:r>
            <a:endParaRPr kumimoji="1" lang="en-US" altLang="zh-CN" sz="2800" b="1" dirty="0">
              <a:solidFill>
                <a:srgbClr val="FF653F"/>
              </a:solidFill>
            </a:endParaRPr>
          </a:p>
        </p:txBody>
      </p:sp>
      <p:sp>
        <p:nvSpPr>
          <p:cNvPr id="3" name="文本框 2"/>
          <p:cNvSpPr txBox="1"/>
          <p:nvPr/>
        </p:nvSpPr>
        <p:spPr>
          <a:xfrm>
            <a:off x="462915" y="70802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水果：果篮：商店</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鲜花：花瓶：客厅</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香炉：香客：寺庙</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抽屉：墙壁：柜子</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蛋清：蛋壳：鸡蛋</a:t>
            </a:r>
            <a:endParaRPr lang="zh-CN" altLang="en-US" sz="2000" dirty="0">
              <a:cs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量体：裁剪：缝制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装裱：欣赏：悬挂</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开户：存钱：贷款</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选材：焖煮：上菜</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镶嵌：测量：安装</a:t>
            </a:r>
            <a:endParaRPr lang="zh-CN" altLang="en-US" sz="2000" dirty="0">
              <a:cs typeface="微软雅黑" panose="020B050302020402020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学识：目不识丁：博古通今</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情感：心旷神怡：心灰意冷</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阅历：少不更事：见多识广</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相貌：仪表堂堂：其貌不扬</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努力：不劳而获：好逸恶劳</a:t>
            </a:r>
            <a:endParaRPr lang="zh-CN" altLang="en-US" sz="2000" dirty="0">
              <a:cs typeface="微软雅黑" panose="020B050302020402020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a:t>
            </a:r>
            <a:r>
              <a:rPr kumimoji="1" lang="en-US" altLang="zh-CN" sz="2800" b="1" dirty="0">
                <a:solidFill>
                  <a:srgbClr val="FF653F"/>
                </a:solidFill>
              </a:rPr>
              <a:t>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融雪剂：灭火器：去污液</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漂白剂：防腐剂：橡皮擦</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润滑油：防蚊液：隔离霜</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腐蚀剂：玻璃水：涂改液</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杀虫药：除臭剂：祛斑油</a:t>
            </a:r>
            <a:endParaRPr lang="zh-CN" altLang="en-US" sz="2000" dirty="0">
              <a:cs typeface="微软雅黑" panose="020B050302020402020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竹子：笛子：筷子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柴油：汽油：石油</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橡树：橡胶：橡皮</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木板：床板：门板</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棉布：花布：绸布</a:t>
            </a:r>
            <a:endParaRPr lang="zh-CN" altLang="en-US" sz="2000" dirty="0">
              <a:cs typeface="微软雅黑" panose="020B050302020402020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罗盘：计程仪：航海工具</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吊车：安全帽：建筑工地</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钻机：取土器：勘察设备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盆地：陨石坑：火星探测</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干冰：催化剂：二氧化碳</a:t>
            </a:r>
            <a:endParaRPr lang="zh-CN" altLang="en-US" sz="2000" dirty="0">
              <a:cs typeface="微软雅黑" panose="020B0503020204020204"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方言对于（）相当于（）对于货币。</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语言；商品经济</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粤语；金属货币</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符号；一般等价物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地方文化；数字货币</a:t>
            </a:r>
            <a:endParaRPr lang="zh-CN" altLang="en-US" sz="2000" dirty="0">
              <a:cs typeface="微软雅黑" panose="020B0503020204020204"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粉笔对于（</a:t>
            </a:r>
            <a:r>
              <a:rPr lang="en-US" altLang="zh-CN" sz="2000" dirty="0">
                <a:cs typeface="微软雅黑" panose="020B0503020204020204" charset="-122"/>
                <a:sym typeface="+mn-ea"/>
              </a:rPr>
              <a:t>  </a:t>
            </a:r>
            <a:r>
              <a:rPr lang="zh-CN" altLang="en-US" sz="2000" dirty="0">
                <a:cs typeface="微软雅黑" panose="020B0503020204020204" charset="-122"/>
                <a:sym typeface="+mn-ea"/>
              </a:rPr>
              <a:t>）相当于（</a:t>
            </a:r>
            <a:r>
              <a:rPr lang="en-US" altLang="zh-CN" sz="2000" dirty="0">
                <a:cs typeface="微软雅黑" panose="020B0503020204020204" charset="-122"/>
                <a:sym typeface="+mn-ea"/>
              </a:rPr>
              <a:t>  </a:t>
            </a:r>
            <a:r>
              <a:rPr lang="zh-CN" altLang="en-US" sz="2000" dirty="0">
                <a:cs typeface="微软雅黑" panose="020B0503020204020204" charset="-122"/>
                <a:sym typeface="+mn-ea"/>
              </a:rPr>
              <a:t>）对于硅胶。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钢笔；橡胶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柱状；固态</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文具；二氧化硅</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石灰石；厨房用品</a:t>
            </a:r>
            <a:endParaRPr lang="zh-CN" altLang="en-US" sz="2000" dirty="0">
              <a:cs typeface="微软雅黑" panose="020B0503020204020204"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76</a:t>
            </a:r>
            <a:endParaRPr kumimoji="1" lang="en-US" altLang="zh-CN" sz="2800" b="1" dirty="0">
              <a:solidFill>
                <a:srgbClr val="FF653F"/>
              </a:solidFill>
            </a:endParaRPr>
          </a:p>
        </p:txBody>
      </p:sp>
      <p:sp>
        <p:nvSpPr>
          <p:cNvPr id="3" name="文本框 2"/>
          <p:cNvSpPr txBox="1"/>
          <p:nvPr/>
        </p:nvSpPr>
        <p:spPr>
          <a:xfrm>
            <a:off x="462915" y="701675"/>
            <a:ext cx="1133729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人所特有的道德需要是人之所以为人的重要原因，如果主体能自觉地意识到</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这一点，就能够为道德信仰的生成提供内驱力。人拥有道德的属性，或者获</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得了社会与他人的道德认可，才能使人体验到做人的尊严与幸福。人要成为真正意义上的人，且成为有作为和幸福的人，不能不需要道德。</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由此可以推出（）。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人一旦有了道德，就能成为真正意义上的人、有作为和幸福的人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如果成为了真正意义上的人、有作为和幸福的人，也可能没有道德</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如果某人不能为道德信仰的生成提供内驱力，说明他没有形成人所特有的道德需要</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如果某人没有获得社会与他人的道德认可，但体验到了做人的尊严与幸福，则他拥有道德的属性</a:t>
            </a:r>
            <a:endParaRPr lang="zh-CN" altLang="en-US" sz="2000" dirty="0">
              <a:cs typeface="微软雅黑" panose="020B0503020204020204" charset="-122"/>
              <a:sym typeface="+mn-ea"/>
            </a:endParaRPr>
          </a:p>
        </p:txBody>
      </p:sp>
      <p:sp>
        <p:nvSpPr>
          <p:cNvPr id="4" name="文本框 3"/>
          <p:cNvSpPr txBox="1"/>
          <p:nvPr/>
        </p:nvSpPr>
        <p:spPr>
          <a:xfrm>
            <a:off x="2037080" y="2473960"/>
            <a:ext cx="10154920" cy="1170305"/>
          </a:xfrm>
          <a:prstGeom prst="rect">
            <a:avLst/>
          </a:prstGeom>
          <a:noFill/>
        </p:spPr>
        <p:txBody>
          <a:bodyPr wrap="square" rtlCol="0" anchor="t">
            <a:spAutoFit/>
          </a:bodyPr>
          <a:p>
            <a:pPr indent="0" fontAlgn="auto">
              <a:lnSpc>
                <a:spcPct val="130000"/>
              </a:lnSpc>
            </a:pPr>
            <a:r>
              <a:rPr lang="en-US" altLang="en-US" dirty="0">
                <a:solidFill>
                  <a:srgbClr val="FF0000"/>
                </a:solidFill>
                <a:effectLst/>
                <a:cs typeface="楷体" panose="02010609060101010101" charset="-122"/>
                <a:sym typeface="+mn-ea"/>
              </a:rPr>
              <a:t>①</a:t>
            </a:r>
            <a:r>
              <a:rPr lang="zh-CN" altLang="en-US" dirty="0">
                <a:solidFill>
                  <a:srgbClr val="FF0000"/>
                </a:solidFill>
                <a:effectLst/>
                <a:cs typeface="楷体" panose="02010609060101010101" charset="-122"/>
                <a:sym typeface="+mn-ea"/>
              </a:rPr>
              <a:t>自觉意识到人所特有的道德需要是人之所以为人的重要原因</a:t>
            </a:r>
            <a:r>
              <a:rPr lang="en-US" altLang="zh-CN" dirty="0">
                <a:solidFill>
                  <a:srgbClr val="FF0000"/>
                </a:solidFill>
                <a:effectLst/>
                <a:cs typeface="楷体" panose="02010609060101010101" charset="-122"/>
                <a:sym typeface="+mn-ea"/>
              </a:rPr>
              <a:t>→</a:t>
            </a:r>
            <a:r>
              <a:rPr lang="zh-CN" altLang="en-US" dirty="0">
                <a:solidFill>
                  <a:srgbClr val="FF0000"/>
                </a:solidFill>
                <a:effectLst/>
                <a:cs typeface="楷体" panose="02010609060101010101" charset="-122"/>
                <a:sym typeface="+mn-ea"/>
              </a:rPr>
              <a:t>为道德信仰的生成能提供内驱力</a:t>
            </a:r>
            <a:endParaRPr lang="zh-CN" altLang="en-US" dirty="0">
              <a:solidFill>
                <a:srgbClr val="FF0000"/>
              </a:solidFill>
              <a:effectLst/>
              <a:cs typeface="楷体" panose="02010609060101010101" charset="-122"/>
              <a:sym typeface="+mn-ea"/>
            </a:endParaRPr>
          </a:p>
          <a:p>
            <a:pPr indent="0" fontAlgn="auto">
              <a:lnSpc>
                <a:spcPct val="130000"/>
              </a:lnSpc>
            </a:pPr>
            <a:r>
              <a:rPr lang="en-US" altLang="en-US" dirty="0">
                <a:solidFill>
                  <a:srgbClr val="FF0000"/>
                </a:solidFill>
                <a:effectLst/>
                <a:cs typeface="楷体" panose="02010609060101010101" charset="-122"/>
                <a:sym typeface="+mn-ea"/>
              </a:rPr>
              <a:t>②</a:t>
            </a:r>
            <a:r>
              <a:rPr lang="zh-CN" altLang="en-US" dirty="0">
                <a:solidFill>
                  <a:srgbClr val="FF0000"/>
                </a:solidFill>
                <a:effectLst/>
                <a:cs typeface="楷体" panose="02010609060101010101" charset="-122"/>
                <a:sym typeface="+mn-ea"/>
              </a:rPr>
              <a:t>体验到做人的尊严与幸福</a:t>
            </a:r>
            <a:r>
              <a:rPr lang="en-US" altLang="zh-CN" dirty="0">
                <a:solidFill>
                  <a:srgbClr val="FF0000"/>
                </a:solidFill>
                <a:effectLst/>
                <a:cs typeface="楷体" panose="02010609060101010101" charset="-122"/>
                <a:sym typeface="+mn-ea"/>
              </a:rPr>
              <a:t>→</a:t>
            </a:r>
            <a:r>
              <a:rPr lang="zh-CN" altLang="en-US" dirty="0">
                <a:solidFill>
                  <a:srgbClr val="FF0000"/>
                </a:solidFill>
                <a:effectLst/>
                <a:cs typeface="楷体" panose="02010609060101010101" charset="-122"/>
                <a:sym typeface="+mn-ea"/>
              </a:rPr>
              <a:t>拥有道德的属性或获得道德认可</a:t>
            </a:r>
            <a:endParaRPr lang="zh-CN" altLang="en-US" dirty="0">
              <a:solidFill>
                <a:srgbClr val="FF0000"/>
              </a:solidFill>
              <a:effectLst/>
              <a:cs typeface="楷体" panose="02010609060101010101" charset="-122"/>
              <a:sym typeface="+mn-ea"/>
            </a:endParaRPr>
          </a:p>
          <a:p>
            <a:pPr indent="0" fontAlgn="auto">
              <a:lnSpc>
                <a:spcPct val="130000"/>
              </a:lnSpc>
            </a:pPr>
            <a:r>
              <a:rPr lang="en-US" altLang="en-US" dirty="0">
                <a:solidFill>
                  <a:srgbClr val="FF0000"/>
                </a:solidFill>
                <a:effectLst/>
                <a:cs typeface="楷体" panose="02010609060101010101" charset="-122"/>
                <a:sym typeface="+mn-ea"/>
              </a:rPr>
              <a:t>③</a:t>
            </a:r>
            <a:r>
              <a:rPr lang="zh-CN" altLang="en-US" dirty="0">
                <a:solidFill>
                  <a:srgbClr val="FF0000"/>
                </a:solidFill>
                <a:effectLst/>
                <a:cs typeface="楷体" panose="02010609060101010101" charset="-122"/>
                <a:sym typeface="+mn-ea"/>
              </a:rPr>
              <a:t>成为真正意义上的人且成为有作为和幸福的人</a:t>
            </a:r>
            <a:r>
              <a:rPr lang="en-US" altLang="en-US" dirty="0">
                <a:solidFill>
                  <a:srgbClr val="FF0000"/>
                </a:solidFill>
                <a:effectLst/>
                <a:cs typeface="楷体" panose="02010609060101010101" charset="-122"/>
                <a:sym typeface="+mn-ea"/>
              </a:rPr>
              <a:t>→</a:t>
            </a:r>
            <a:r>
              <a:rPr lang="zh-CN" altLang="en-US" dirty="0">
                <a:solidFill>
                  <a:srgbClr val="FF0000"/>
                </a:solidFill>
                <a:effectLst/>
                <a:cs typeface="楷体" panose="02010609060101010101" charset="-122"/>
                <a:sym typeface="+mn-ea"/>
              </a:rPr>
              <a:t>道德</a:t>
            </a:r>
            <a:endParaRPr lang="zh-CN" altLang="en-US"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77</a:t>
            </a:r>
            <a:endParaRPr kumimoji="1" lang="en-US" altLang="zh-CN" sz="2800" b="1" dirty="0">
              <a:solidFill>
                <a:srgbClr val="FF653F"/>
              </a:solidFill>
            </a:endParaRPr>
          </a:p>
        </p:txBody>
      </p:sp>
      <p:sp>
        <p:nvSpPr>
          <p:cNvPr id="3" name="文本框 2"/>
          <p:cNvSpPr txBox="1"/>
          <p:nvPr/>
        </p:nvSpPr>
        <p:spPr>
          <a:xfrm>
            <a:off x="462915" y="701675"/>
            <a:ext cx="112052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移动支付时代，人们的购物行为开始受到社交媒体的影响，</a:t>
            </a:r>
            <a:r>
              <a:rPr lang="en-US" altLang="zh-CN" sz="2000" dirty="0">
                <a:cs typeface="微软雅黑" panose="020B0503020204020204" charset="-122"/>
                <a:sym typeface="+mn-ea"/>
              </a:rPr>
              <a:t>“</a:t>
            </a:r>
            <a:r>
              <a:rPr lang="zh-CN" altLang="en-US" sz="2000" dirty="0">
                <a:cs typeface="微软雅黑" panose="020B0503020204020204" charset="-122"/>
                <a:sym typeface="+mn-ea"/>
              </a:rPr>
              <a:t>种草</a:t>
            </a:r>
            <a:r>
              <a:rPr lang="en-US" altLang="zh-CN" sz="2000" dirty="0">
                <a:cs typeface="微软雅黑" panose="020B0503020204020204" charset="-122"/>
                <a:sym typeface="+mn-ea"/>
              </a:rPr>
              <a:t>”</a:t>
            </a:r>
            <a:r>
              <a:rPr lang="zh-CN" altLang="en-US" sz="2000" dirty="0">
                <a:cs typeface="微软雅黑" panose="020B0503020204020204" charset="-122"/>
                <a:sym typeface="+mn-ea"/>
              </a:rPr>
              <a:t>的人扩展</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到了社交媒体上素未谋面的用户，为引起消费者注意，将社交平台上的用户转</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化为消费者，商家往往会利用平台的算法工具，根据用户在社交媒体上的偏好，向用户推送产品信息。有人认为平台这样做可以使我们很方便、集中地看到自己关注的信息，提升了效率；而反对者认为，这种数据分析变相剥夺了消费者关注其他产品的机会。</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以下哪项如果为真，最能支持反对者的观点？（</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超过</a:t>
            </a:r>
            <a:r>
              <a:rPr lang="en-US" altLang="zh-CN" sz="2000" dirty="0">
                <a:cs typeface="微软雅黑" panose="020B0503020204020204" charset="-122"/>
                <a:sym typeface="+mn-ea"/>
              </a:rPr>
              <a:t>50%</a:t>
            </a:r>
            <a:r>
              <a:rPr lang="zh-CN" altLang="en-US" sz="2000" dirty="0">
                <a:cs typeface="微软雅黑" panose="020B0503020204020204" charset="-122"/>
                <a:sym typeface="+mn-ea"/>
              </a:rPr>
              <a:t>的用户表示对所购买的</a:t>
            </a:r>
            <a:r>
              <a:rPr lang="en-US" altLang="zh-CN" sz="2000" dirty="0">
                <a:cs typeface="微软雅黑" panose="020B0503020204020204" charset="-122"/>
                <a:sym typeface="+mn-ea"/>
              </a:rPr>
              <a:t>“</a:t>
            </a:r>
            <a:r>
              <a:rPr lang="zh-CN" altLang="en-US" sz="2000" dirty="0">
                <a:cs typeface="微软雅黑" panose="020B0503020204020204" charset="-122"/>
                <a:sym typeface="+mn-ea"/>
              </a:rPr>
              <a:t>种草</a:t>
            </a:r>
            <a:r>
              <a:rPr lang="en-US" altLang="zh-CN" sz="2000" dirty="0">
                <a:cs typeface="微软雅黑" panose="020B0503020204020204" charset="-122"/>
                <a:sym typeface="+mn-ea"/>
              </a:rPr>
              <a:t>”</a:t>
            </a:r>
            <a:r>
              <a:rPr lang="zh-CN" altLang="en-US" sz="2000" dirty="0">
                <a:cs typeface="微软雅黑" panose="020B0503020204020204" charset="-122"/>
                <a:sym typeface="+mn-ea"/>
              </a:rPr>
              <a:t>商品基本满意</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推送的信息往往伴随着相关密集的广告，吸引消费者的注意力</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即使平台不使用算法工具，消费者也会按照自身的喜好购买商品</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分散关注点，推送的内容就会更加多元化，就能避开大数据的支配</a:t>
            </a:r>
            <a:endParaRPr lang="zh-CN" altLang="en-US" sz="2000" dirty="0">
              <a:cs typeface="微软雅黑" panose="020B0503020204020204" charset="-122"/>
              <a:sym typeface="+mn-ea"/>
            </a:endParaRPr>
          </a:p>
        </p:txBody>
      </p:sp>
      <p:sp>
        <p:nvSpPr>
          <p:cNvPr id="4" name="文本框 3"/>
          <p:cNvSpPr txBox="1"/>
          <p:nvPr/>
        </p:nvSpPr>
        <p:spPr>
          <a:xfrm>
            <a:off x="2541270" y="3018790"/>
            <a:ext cx="10154920" cy="891540"/>
          </a:xfrm>
          <a:prstGeom prst="rect">
            <a:avLst/>
          </a:prstGeom>
          <a:noFill/>
        </p:spPr>
        <p:txBody>
          <a:bodyPr wrap="square" rtlCol="0" anchor="t">
            <a:spAutoFit/>
          </a:bodyPr>
          <a:p>
            <a:pPr indent="0" fontAlgn="auto">
              <a:lnSpc>
                <a:spcPct val="130000"/>
              </a:lnSpc>
            </a:pPr>
            <a:r>
              <a:rPr lang="zh-CN" sz="2000" dirty="0">
                <a:solidFill>
                  <a:srgbClr val="FF0000"/>
                </a:solidFill>
                <a:effectLst/>
                <a:cs typeface="楷体" panose="02010609060101010101" charset="-122"/>
                <a:sym typeface="+mn-ea"/>
              </a:rPr>
              <a:t>反对者：</a:t>
            </a:r>
            <a:r>
              <a:rPr lang="zh-CN" altLang="en-US" sz="2000" dirty="0">
                <a:solidFill>
                  <a:srgbClr val="FF0000"/>
                </a:solidFill>
                <a:effectLst/>
                <a:cs typeface="楷体" panose="02010609060101010101" charset="-122"/>
                <a:sym typeface="+mn-ea"/>
              </a:rPr>
              <a:t>数据分析变相剥夺了消费者关注其他产品的机会。</a:t>
            </a:r>
            <a:endParaRPr lang="zh-CN" altLang="en-US" sz="2000" dirty="0">
              <a:solidFill>
                <a:srgbClr val="FF0000"/>
              </a:solidFill>
              <a:effectLst/>
              <a:cs typeface="楷体" panose="02010609060101010101" charset="-122"/>
              <a:sym typeface="+mn-ea"/>
            </a:endParaRPr>
          </a:p>
          <a:p>
            <a:pPr indent="0" fontAlgn="auto">
              <a:lnSpc>
                <a:spcPct val="130000"/>
              </a:lnSpc>
            </a:pPr>
            <a:r>
              <a:rPr lang="zh-CN" altLang="en-US" sz="2000" dirty="0">
                <a:solidFill>
                  <a:srgbClr val="FF0000"/>
                </a:solidFill>
                <a:effectLst/>
                <a:cs typeface="楷体" panose="02010609060101010101" charset="-122"/>
                <a:sym typeface="+mn-ea"/>
              </a:rPr>
              <a:t>有人认为：利用算法根据用户偏好推送产品信息能够集中关注信息提升效率。</a:t>
            </a:r>
            <a:endParaRPr lang="zh-CN" altLang="en-US" sz="2000"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78</a:t>
            </a:r>
            <a:endParaRPr kumimoji="1" lang="en-US" altLang="zh-CN" sz="2800" b="1" dirty="0">
              <a:solidFill>
                <a:srgbClr val="FF653F"/>
              </a:solidFill>
            </a:endParaRPr>
          </a:p>
        </p:txBody>
      </p:sp>
      <p:sp>
        <p:nvSpPr>
          <p:cNvPr id="3" name="文本框 2"/>
          <p:cNvSpPr txBox="1"/>
          <p:nvPr/>
        </p:nvSpPr>
        <p:spPr>
          <a:xfrm>
            <a:off x="462915" y="701675"/>
            <a:ext cx="11320145" cy="5526405"/>
          </a:xfrm>
          <a:prstGeom prst="rect">
            <a:avLst/>
          </a:prstGeom>
          <a:noFill/>
        </p:spPr>
        <p:txBody>
          <a:bodyPr wrap="square" rtlCol="0" anchor="t">
            <a:noAutofit/>
          </a:bodyPr>
          <a:p>
            <a:pPr indent="0" fontAlgn="auto">
              <a:lnSpc>
                <a:spcPct val="150000"/>
              </a:lnSpc>
            </a:pPr>
            <a:r>
              <a:rPr lang="en-US" altLang="zh-CN" dirty="0">
                <a:cs typeface="微软雅黑" panose="020B0503020204020204" charset="-122"/>
                <a:sym typeface="+mn-ea"/>
              </a:rPr>
              <a:t>H</a:t>
            </a:r>
            <a:r>
              <a:rPr lang="zh-CN" altLang="en-US" dirty="0">
                <a:cs typeface="微软雅黑" panose="020B0503020204020204" charset="-122"/>
                <a:sym typeface="+mn-ea"/>
              </a:rPr>
              <a:t>国的科研能力一直处于世界领先水平。但近年来，该国的科研产出却呈现出乏力态势，</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H</a:t>
            </a:r>
            <a:r>
              <a:rPr lang="zh-CN" altLang="en-US" dirty="0">
                <a:cs typeface="微软雅黑" panose="020B0503020204020204" charset="-122"/>
                <a:sym typeface="+mn-ea"/>
              </a:rPr>
              <a:t>国科研产出停滞和倒退的原因何在？研究人员认为，根源在于科研人员质量的下降。</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自</a:t>
            </a:r>
            <a:r>
              <a:rPr lang="en-US" altLang="zh-CN" dirty="0">
                <a:cs typeface="微软雅黑" panose="020B0503020204020204" charset="-122"/>
                <a:sym typeface="+mn-ea"/>
              </a:rPr>
              <a:t>2005</a:t>
            </a:r>
            <a:r>
              <a:rPr lang="zh-CN" altLang="en-US" dirty="0">
                <a:cs typeface="微软雅黑" panose="020B0503020204020204" charset="-122"/>
                <a:sym typeface="+mn-ea"/>
              </a:rPr>
              <a:t>年以来，该国攻读硕士和博士课程的学生人数就一直停滞不前或下降。追溯到</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更早的教育阶段，该国攻读理工科的大学生人数在</a:t>
            </a:r>
            <a:r>
              <a:rPr lang="en-US" altLang="zh-CN" dirty="0">
                <a:cs typeface="微软雅黑" panose="020B0503020204020204" charset="-122"/>
                <a:sym typeface="+mn-ea"/>
              </a:rPr>
              <a:t>20</a:t>
            </a:r>
            <a:r>
              <a:rPr lang="zh-CN" altLang="en-US" dirty="0">
                <a:cs typeface="微软雅黑" panose="020B0503020204020204" charset="-122"/>
                <a:sym typeface="+mn-ea"/>
              </a:rPr>
              <a:t>世纪</a:t>
            </a:r>
            <a:r>
              <a:rPr lang="en-US" altLang="zh-CN" dirty="0">
                <a:cs typeface="微软雅黑" panose="020B0503020204020204" charset="-122"/>
                <a:sym typeface="+mn-ea"/>
              </a:rPr>
              <a:t>90</a:t>
            </a:r>
            <a:r>
              <a:rPr lang="zh-CN" altLang="en-US" dirty="0">
                <a:cs typeface="微软雅黑" panose="020B0503020204020204" charset="-122"/>
                <a:sym typeface="+mn-ea"/>
              </a:rPr>
              <a:t>年代后期达到顶峰并呈下降趋势，近年来已比其峰值水平低约</a:t>
            </a:r>
            <a:r>
              <a:rPr lang="en-US" altLang="zh-CN" dirty="0">
                <a:cs typeface="微软雅黑" panose="020B0503020204020204" charset="-122"/>
                <a:sym typeface="+mn-ea"/>
              </a:rPr>
              <a:t>15%</a:t>
            </a:r>
            <a:r>
              <a:rPr lang="zh-CN" altLang="en-US" dirty="0">
                <a:cs typeface="微软雅黑" panose="020B0503020204020204" charset="-122"/>
                <a:sym typeface="+mn-ea"/>
              </a:rPr>
              <a:t>。出现这种趋势的原因，则在于该国在</a:t>
            </a:r>
            <a:r>
              <a:rPr lang="en-US" altLang="zh-CN" dirty="0">
                <a:cs typeface="微软雅黑" panose="020B0503020204020204" charset="-122"/>
                <a:sym typeface="+mn-ea"/>
              </a:rPr>
              <a:t>90</a:t>
            </a:r>
            <a:r>
              <a:rPr lang="zh-CN" altLang="en-US" dirty="0">
                <a:cs typeface="微软雅黑" panose="020B0503020204020204" charset="-122"/>
                <a:sym typeface="+mn-ea"/>
              </a:rPr>
              <a:t>年代后期为减轻学生学业负担，实施了减少初中理科课时的教学改革。</a:t>
            </a:r>
            <a:endParaRPr lang="zh-CN" altLang="en-US" dirty="0">
              <a:cs typeface="微软雅黑" panose="020B0503020204020204" charset="-122"/>
              <a:sym typeface="+mn-ea"/>
            </a:endParaRPr>
          </a:p>
          <a:p>
            <a:pPr indent="0" fontAlgn="auto">
              <a:lnSpc>
                <a:spcPct val="150000"/>
              </a:lnSpc>
            </a:pPr>
            <a:endParaRPr lang="zh-CN" altLang="en-US" dirty="0">
              <a:cs typeface="微软雅黑" panose="020B0503020204020204" charset="-122"/>
              <a:sym typeface="+mn-ea"/>
            </a:endParaRPr>
          </a:p>
          <a:p>
            <a:pPr indent="0" fontAlgn="auto">
              <a:lnSpc>
                <a:spcPct val="150000"/>
              </a:lnSpc>
            </a:pP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以下哪项如果为真，不能支持上述论证？（）</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A.H</a:t>
            </a:r>
            <a:r>
              <a:rPr lang="zh-CN" altLang="en-US" dirty="0">
                <a:cs typeface="微软雅黑" panose="020B0503020204020204" charset="-122"/>
                <a:sym typeface="+mn-ea"/>
              </a:rPr>
              <a:t>国的科研人员在科研产出减少的同时，其花费在科研上的时间也减少了</a:t>
            </a:r>
            <a:r>
              <a:rPr lang="en-US" altLang="zh-CN" dirty="0">
                <a:cs typeface="微软雅黑" panose="020B0503020204020204" charset="-122"/>
                <a:sym typeface="+mn-ea"/>
              </a:rPr>
              <a:t>25%</a:t>
            </a:r>
            <a:r>
              <a:rPr lang="zh-CN" altLang="en-US" dirty="0">
                <a:cs typeface="微软雅黑" panose="020B0503020204020204" charset="-122"/>
                <a:sym typeface="+mn-ea"/>
              </a:rPr>
              <a:t>左右</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B.H</a:t>
            </a:r>
            <a:r>
              <a:rPr lang="zh-CN" altLang="en-US" dirty="0">
                <a:cs typeface="微软雅黑" panose="020B0503020204020204" charset="-122"/>
                <a:sym typeface="+mn-ea"/>
              </a:rPr>
              <a:t>国近三十年间接受初中教育的人，其专利申请数量明显低于改革前受教育的一代</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C.H</a:t>
            </a:r>
            <a:r>
              <a:rPr lang="zh-CN" altLang="en-US" dirty="0">
                <a:cs typeface="微软雅黑" panose="020B0503020204020204" charset="-122"/>
                <a:sym typeface="+mn-ea"/>
              </a:rPr>
              <a:t>国能申请到奖学金的博士研究生数量下降，其在读期间发表的论文数量也在减少</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初中阶段减少理科课时，会减少学生在理科投入的精力，进而影响未来的科研能力</a:t>
            </a:r>
            <a:endParaRPr lang="zh-CN" altLang="en-US" dirty="0">
              <a:cs typeface="微软雅黑" panose="020B0503020204020204" charset="-122"/>
              <a:sym typeface="+mn-ea"/>
            </a:endParaRPr>
          </a:p>
        </p:txBody>
      </p:sp>
      <p:sp>
        <p:nvSpPr>
          <p:cNvPr id="4" name="文本框 3"/>
          <p:cNvSpPr txBox="1"/>
          <p:nvPr/>
        </p:nvSpPr>
        <p:spPr>
          <a:xfrm>
            <a:off x="2604770" y="3094990"/>
            <a:ext cx="9477375" cy="891540"/>
          </a:xfrm>
          <a:prstGeom prst="rect">
            <a:avLst/>
          </a:prstGeom>
          <a:noFill/>
        </p:spPr>
        <p:txBody>
          <a:bodyPr wrap="square" rtlCol="0" anchor="t">
            <a:spAutoFit/>
          </a:bodyPr>
          <a:p>
            <a:pPr indent="0" fontAlgn="auto">
              <a:lnSpc>
                <a:spcPct val="130000"/>
              </a:lnSpc>
            </a:pPr>
            <a:r>
              <a:rPr lang="zh-CN" sz="2000" dirty="0">
                <a:solidFill>
                  <a:srgbClr val="FF0000"/>
                </a:solidFill>
                <a:effectLst/>
                <a:cs typeface="楷体" panose="02010609060101010101" charset="-122"/>
                <a:sym typeface="+mn-ea"/>
              </a:rPr>
              <a:t>论点：</a:t>
            </a:r>
            <a:r>
              <a:rPr lang="en-US" altLang="zh-CN" sz="2000" dirty="0">
                <a:solidFill>
                  <a:srgbClr val="FF0000"/>
                </a:solidFill>
                <a:effectLst/>
                <a:cs typeface="楷体" panose="02010609060101010101" charset="-122"/>
                <a:sym typeface="+mn-ea"/>
              </a:rPr>
              <a:t>H</a:t>
            </a:r>
            <a:r>
              <a:rPr lang="zh-CN" altLang="en-US" sz="2000" dirty="0">
                <a:solidFill>
                  <a:srgbClr val="FF0000"/>
                </a:solidFill>
                <a:effectLst/>
                <a:cs typeface="楷体" panose="02010609060101010101" charset="-122"/>
                <a:sym typeface="+mn-ea"/>
              </a:rPr>
              <a:t>国科研产出停滞和倒退的根源在于科研人员质量的下降</a:t>
            </a:r>
            <a:endParaRPr lang="zh-CN" altLang="en-US" sz="2000" dirty="0">
              <a:solidFill>
                <a:srgbClr val="FF0000"/>
              </a:solidFill>
              <a:effectLst/>
              <a:cs typeface="楷体" panose="02010609060101010101" charset="-122"/>
              <a:sym typeface="+mn-ea"/>
            </a:endParaRPr>
          </a:p>
          <a:p>
            <a:pPr indent="0" fontAlgn="auto">
              <a:lnSpc>
                <a:spcPct val="130000"/>
              </a:lnSpc>
            </a:pPr>
            <a:r>
              <a:rPr lang="zh-CN" altLang="en-US" sz="2000" dirty="0">
                <a:solidFill>
                  <a:srgbClr val="FF0000"/>
                </a:solidFill>
                <a:effectLst/>
                <a:cs typeface="楷体" panose="02010609060101010101" charset="-122"/>
                <a:sym typeface="+mn-ea"/>
              </a:rPr>
              <a:t>论据：</a:t>
            </a:r>
            <a:r>
              <a:rPr lang="en-US" altLang="zh-CN" sz="2000" dirty="0">
                <a:solidFill>
                  <a:srgbClr val="FF0000"/>
                </a:solidFill>
                <a:effectLst/>
                <a:cs typeface="楷体" panose="02010609060101010101" charset="-122"/>
                <a:sym typeface="+mn-ea"/>
              </a:rPr>
              <a:t>H</a:t>
            </a:r>
            <a:r>
              <a:rPr lang="zh-CN" altLang="en-US" sz="2000" dirty="0">
                <a:solidFill>
                  <a:srgbClr val="FF0000"/>
                </a:solidFill>
                <a:effectLst/>
                <a:cs typeface="楷体" panose="02010609060101010101" charset="-122"/>
                <a:sym typeface="+mn-ea"/>
              </a:rPr>
              <a:t>国攻读硕士和博士、</a:t>
            </a:r>
            <a:r>
              <a:rPr lang="zh-CN" altLang="en-US" sz="2000" dirty="0">
                <a:solidFill>
                  <a:srgbClr val="FF0000"/>
                </a:solidFill>
                <a:effectLst/>
                <a:cs typeface="楷体" panose="02010609060101010101" charset="-122"/>
                <a:sym typeface="+mn-ea"/>
              </a:rPr>
              <a:t>理工科的大学生</a:t>
            </a:r>
            <a:r>
              <a:rPr lang="zh-CN" altLang="en-US" sz="2000" dirty="0">
                <a:solidFill>
                  <a:srgbClr val="FF0000"/>
                </a:solidFill>
                <a:effectLst/>
                <a:cs typeface="楷体" panose="02010609060101010101" charset="-122"/>
                <a:sym typeface="+mn-ea"/>
              </a:rPr>
              <a:t>人数减少，减少初中理科课时</a:t>
            </a:r>
            <a:endParaRPr lang="zh-CN" altLang="en-US" sz="2000"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79</a:t>
            </a:r>
            <a:endParaRPr kumimoji="1" lang="en-US" altLang="zh-CN" sz="2800" b="1" dirty="0">
              <a:solidFill>
                <a:srgbClr val="FF653F"/>
              </a:solidFill>
            </a:endParaRPr>
          </a:p>
        </p:txBody>
      </p:sp>
      <p:sp>
        <p:nvSpPr>
          <p:cNvPr id="3" name="文本框 2"/>
          <p:cNvSpPr txBox="1"/>
          <p:nvPr/>
        </p:nvSpPr>
        <p:spPr>
          <a:xfrm>
            <a:off x="462915" y="701675"/>
            <a:ext cx="11355705" cy="5526405"/>
          </a:xfrm>
          <a:prstGeom prst="rect">
            <a:avLst/>
          </a:prstGeom>
          <a:noFill/>
        </p:spPr>
        <p:txBody>
          <a:bodyPr wrap="square" rtlCol="0" anchor="t">
            <a:noAutofit/>
          </a:bodyPr>
          <a:p>
            <a:pPr indent="0" fontAlgn="auto">
              <a:lnSpc>
                <a:spcPct val="150000"/>
              </a:lnSpc>
            </a:pPr>
            <a:r>
              <a:rPr lang="en-US" altLang="zh-CN" dirty="0">
                <a:cs typeface="微软雅黑" panose="020B0503020204020204" charset="-122"/>
                <a:sym typeface="+mn-ea"/>
              </a:rPr>
              <a:t>2001</a:t>
            </a:r>
            <a:r>
              <a:rPr lang="zh-CN" altLang="en-US" dirty="0">
                <a:cs typeface="微软雅黑" panose="020B0503020204020204" charset="-122"/>
                <a:sym typeface="+mn-ea"/>
              </a:rPr>
              <a:t>年，科学家在印度洋的某热液口区首次发现了鳞角腹足蜗牛。鳞角腹足蜗牛目前</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只被发现生活在印度洋的三处深海热液喷口，生存面积相当于两个足球场。然而，直</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到</a:t>
            </a:r>
            <a:r>
              <a:rPr lang="en-US" altLang="zh-CN" dirty="0">
                <a:cs typeface="微软雅黑" panose="020B0503020204020204" charset="-122"/>
                <a:sym typeface="+mn-ea"/>
              </a:rPr>
              <a:t>2019</a:t>
            </a:r>
            <a:r>
              <a:rPr lang="zh-CN" altLang="en-US" dirty="0">
                <a:cs typeface="微软雅黑" panose="020B0503020204020204" charset="-122"/>
                <a:sym typeface="+mn-ea"/>
              </a:rPr>
              <a:t>年</a:t>
            </a:r>
            <a:r>
              <a:rPr lang="en-US" altLang="zh-CN" dirty="0">
                <a:cs typeface="微软雅黑" panose="020B0503020204020204" charset="-122"/>
                <a:sym typeface="+mn-ea"/>
              </a:rPr>
              <a:t>7</a:t>
            </a:r>
            <a:r>
              <a:rPr lang="zh-CN" altLang="en-US" dirty="0">
                <a:cs typeface="微软雅黑" panose="020B0503020204020204" charset="-122"/>
                <a:sym typeface="+mn-ea"/>
              </a:rPr>
              <a:t>月，世界自然保护联盟才突然宣布，鳞角腹足蜗牛进入濒危物种名单。</a:t>
            </a:r>
            <a:endParaRPr lang="zh-CN" altLang="en-US" dirty="0">
              <a:cs typeface="微软雅黑" panose="020B0503020204020204" charset="-122"/>
              <a:sym typeface="+mn-ea"/>
            </a:endParaRPr>
          </a:p>
          <a:p>
            <a:pPr indent="0" fontAlgn="auto">
              <a:lnSpc>
                <a:spcPct val="150000"/>
              </a:lnSpc>
            </a:pPr>
            <a:endParaRPr lang="zh-CN" altLang="en-US" dirty="0">
              <a:cs typeface="微软雅黑" panose="020B0503020204020204" charset="-122"/>
              <a:sym typeface="+mn-ea"/>
            </a:endParaRPr>
          </a:p>
          <a:p>
            <a:pPr indent="0" fontAlgn="auto">
              <a:lnSpc>
                <a:spcPct val="150000"/>
              </a:lnSpc>
            </a:pPr>
            <a:endParaRPr lang="zh-CN" altLang="en-US" dirty="0">
              <a:cs typeface="微软雅黑" panose="020B0503020204020204" charset="-122"/>
              <a:sym typeface="+mn-ea"/>
            </a:endParaRPr>
          </a:p>
          <a:p>
            <a:pPr indent="0" fontAlgn="auto">
              <a:lnSpc>
                <a:spcPct val="150000"/>
              </a:lnSpc>
            </a:pP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以下哪项如果为真，最可能是世界自然保护联盟突然作出上述决定的原因？（）</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热液口喷出的液体通常具有很高的酸性，并含有多种金属和碳化氢，对生物体具有毒性</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在已知的现存动物中，没有其他物种能像鳞角腹足蜗牛这样，利用铁的硫化物形成磁性保护壳</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鳞角腹足蜗牛的铁质鳞片具有抵挡天敌攻击的作用，不但能自卫还能给攻击自己的敌人造成伤害</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发现鳞角腹足蜗牛的三处热液喷口中，有两处正面临着深海采矿活动，这会对附近生物带来潜在威胁</a:t>
            </a:r>
            <a:endParaRPr lang="zh-CN" altLang="en-US" dirty="0">
              <a:cs typeface="微软雅黑" panose="020B0503020204020204" charset="-122"/>
              <a:sym typeface="+mn-ea"/>
            </a:endParaRPr>
          </a:p>
        </p:txBody>
      </p:sp>
      <p:sp>
        <p:nvSpPr>
          <p:cNvPr id="5" name="文本框 4"/>
          <p:cNvSpPr txBox="1"/>
          <p:nvPr/>
        </p:nvSpPr>
        <p:spPr>
          <a:xfrm>
            <a:off x="1921510" y="2145665"/>
            <a:ext cx="10160635" cy="891540"/>
          </a:xfrm>
          <a:prstGeom prst="rect">
            <a:avLst/>
          </a:prstGeom>
          <a:noFill/>
        </p:spPr>
        <p:txBody>
          <a:bodyPr wrap="square" rtlCol="0" anchor="t">
            <a:spAutoFit/>
          </a:bodyPr>
          <a:p>
            <a:pPr indent="0" fontAlgn="auto">
              <a:lnSpc>
                <a:spcPct val="130000"/>
              </a:lnSpc>
            </a:pPr>
            <a:r>
              <a:rPr lang="zh-CN" sz="2000" dirty="0">
                <a:solidFill>
                  <a:srgbClr val="FF0000"/>
                </a:solidFill>
                <a:effectLst/>
                <a:cs typeface="楷体" panose="02010609060101010101" charset="-122"/>
                <a:sym typeface="+mn-ea"/>
              </a:rPr>
              <a:t>论点：</a:t>
            </a:r>
            <a:r>
              <a:rPr lang="en-US" altLang="zh-CN" sz="2000" dirty="0">
                <a:solidFill>
                  <a:srgbClr val="FF0000"/>
                </a:solidFill>
                <a:effectLst/>
                <a:cs typeface="楷体" panose="02010609060101010101" charset="-122"/>
                <a:sym typeface="+mn-ea"/>
              </a:rPr>
              <a:t>2019</a:t>
            </a:r>
            <a:r>
              <a:rPr lang="zh-CN" altLang="en-US" sz="2000" dirty="0">
                <a:solidFill>
                  <a:srgbClr val="FF0000"/>
                </a:solidFill>
                <a:effectLst/>
                <a:cs typeface="楷体" panose="02010609060101010101" charset="-122"/>
                <a:sym typeface="+mn-ea"/>
              </a:rPr>
              <a:t>年</a:t>
            </a:r>
            <a:r>
              <a:rPr lang="en-US" altLang="zh-CN" sz="2000" dirty="0">
                <a:solidFill>
                  <a:srgbClr val="FF0000"/>
                </a:solidFill>
                <a:effectLst/>
                <a:cs typeface="楷体" panose="02010609060101010101" charset="-122"/>
                <a:sym typeface="+mn-ea"/>
              </a:rPr>
              <a:t>7</a:t>
            </a:r>
            <a:r>
              <a:rPr lang="zh-CN" altLang="en-US" sz="2000" dirty="0">
                <a:solidFill>
                  <a:srgbClr val="FF0000"/>
                </a:solidFill>
                <a:effectLst/>
                <a:cs typeface="楷体" panose="02010609060101010101" charset="-122"/>
                <a:sym typeface="+mn-ea"/>
              </a:rPr>
              <a:t>月，世界自然保护联盟才突然宣布，鳞角腹足蜗牛进入濒危物种名单</a:t>
            </a:r>
            <a:endParaRPr lang="zh-CN" altLang="en-US" sz="2000" dirty="0">
              <a:solidFill>
                <a:srgbClr val="FF0000"/>
              </a:solidFill>
              <a:effectLst/>
              <a:cs typeface="楷体" panose="02010609060101010101" charset="-122"/>
              <a:sym typeface="+mn-ea"/>
            </a:endParaRPr>
          </a:p>
          <a:p>
            <a:pPr indent="0" fontAlgn="auto">
              <a:lnSpc>
                <a:spcPct val="130000"/>
              </a:lnSpc>
            </a:pPr>
            <a:r>
              <a:rPr lang="zh-CN" altLang="en-US" sz="2000" dirty="0">
                <a:solidFill>
                  <a:srgbClr val="FF0000"/>
                </a:solidFill>
                <a:effectLst/>
                <a:cs typeface="楷体" panose="02010609060101010101" charset="-122"/>
                <a:sym typeface="+mn-ea"/>
              </a:rPr>
              <a:t>论据：</a:t>
            </a:r>
            <a:r>
              <a:rPr lang="en-US" altLang="zh-CN" sz="2000" dirty="0">
                <a:solidFill>
                  <a:srgbClr val="FF0000"/>
                </a:solidFill>
                <a:effectLst/>
                <a:cs typeface="楷体" panose="02010609060101010101" charset="-122"/>
                <a:sym typeface="+mn-ea"/>
              </a:rPr>
              <a:t>2001</a:t>
            </a:r>
            <a:r>
              <a:rPr lang="zh-CN" altLang="en-US" sz="2000" dirty="0">
                <a:solidFill>
                  <a:srgbClr val="FF0000"/>
                </a:solidFill>
                <a:effectLst/>
                <a:cs typeface="楷体" panose="02010609060101010101" charset="-122"/>
                <a:sym typeface="+mn-ea"/>
              </a:rPr>
              <a:t>年首次发现</a:t>
            </a:r>
            <a:r>
              <a:rPr lang="zh-CN" altLang="en-US" sz="2000" dirty="0">
                <a:solidFill>
                  <a:srgbClr val="FF0000"/>
                </a:solidFill>
                <a:effectLst/>
                <a:cs typeface="楷体" panose="02010609060101010101" charset="-122"/>
                <a:sym typeface="+mn-ea"/>
              </a:rPr>
              <a:t>鳞角腹足蜗牛，目前只被发现生活在印度洋的三处深海热液喷口</a:t>
            </a:r>
            <a:endParaRPr lang="zh-CN" altLang="en-US" sz="2000"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sym typeface="+mn-ea"/>
              </a:rPr>
              <a:t>38</a:t>
            </a:r>
            <a:r>
              <a:rPr lang="zh-CN" altLang="en-US" sz="2000" dirty="0">
                <a:cs typeface="微软雅黑" panose="020B0503020204020204" charset="-122"/>
                <a:sym typeface="+mn-ea"/>
              </a:rPr>
              <a:t>亿年前，地球火山活动频繁，构造运动强烈。原始海洋处于高温甚至沸腾的状态，原始大气充斥着甲烷、硫化氢、二氧化碳等物质，极度缺乏氧气，由于真核生物需要进行有丝分裂才能繁衍生存，有关人士据此推测，在</a:t>
            </a:r>
            <a:r>
              <a:rPr lang="en-US" altLang="zh-CN" sz="2000" dirty="0">
                <a:cs typeface="微软雅黑" panose="020B0503020204020204" charset="-122"/>
                <a:sym typeface="+mn-ea"/>
              </a:rPr>
              <a:t>38</a:t>
            </a:r>
            <a:r>
              <a:rPr lang="zh-CN" altLang="en-US" sz="2000" dirty="0">
                <a:cs typeface="微软雅黑" panose="020B0503020204020204" charset="-122"/>
                <a:sym typeface="+mn-ea"/>
              </a:rPr>
              <a:t>亿年前的早期地球，真核生物是无法存活的。</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上述论证的成立需要补充的前提是（）。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真核生物是地球物种的祖先</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真核生物进行的有丝分裂是需氧过程</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所有的真核生物都必须通过有丝分裂繁衍生息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火山活动频繁使得当时地球上的氧气不可能充足</a:t>
            </a:r>
            <a:endParaRPr lang="zh-CN" altLang="en-US" sz="2000" dirty="0">
              <a:cs typeface="微软雅黑" panose="020B0503020204020204" charset="-122"/>
              <a:sym typeface="+mn-ea"/>
            </a:endParaRPr>
          </a:p>
        </p:txBody>
      </p:sp>
      <p:sp>
        <p:nvSpPr>
          <p:cNvPr id="5" name="文本框 4"/>
          <p:cNvSpPr txBox="1"/>
          <p:nvPr/>
        </p:nvSpPr>
        <p:spPr>
          <a:xfrm>
            <a:off x="1958340" y="2573655"/>
            <a:ext cx="9724390" cy="1291590"/>
          </a:xfrm>
          <a:prstGeom prst="rect">
            <a:avLst/>
          </a:prstGeom>
          <a:noFill/>
        </p:spPr>
        <p:txBody>
          <a:bodyPr wrap="square" rtlCol="0" anchor="t">
            <a:spAutoFit/>
          </a:bodyPr>
          <a:p>
            <a:pPr indent="0" fontAlgn="auto">
              <a:lnSpc>
                <a:spcPct val="130000"/>
              </a:lnSpc>
            </a:pPr>
            <a:r>
              <a:rPr lang="zh-CN" sz="2000" dirty="0">
                <a:solidFill>
                  <a:srgbClr val="FF0000"/>
                </a:solidFill>
                <a:effectLst/>
                <a:cs typeface="楷体" panose="02010609060101010101" charset="-122"/>
                <a:sym typeface="+mn-ea"/>
              </a:rPr>
              <a:t>论点：</a:t>
            </a:r>
            <a:r>
              <a:rPr lang="zh-CN" altLang="en-US" sz="2000" dirty="0">
                <a:solidFill>
                  <a:srgbClr val="FF0000"/>
                </a:solidFill>
                <a:effectLst/>
                <a:cs typeface="楷体" panose="02010609060101010101" charset="-122"/>
                <a:sym typeface="+mn-ea"/>
              </a:rPr>
              <a:t>在</a:t>
            </a:r>
            <a:r>
              <a:rPr lang="en-US" altLang="zh-CN" sz="2000" dirty="0">
                <a:solidFill>
                  <a:srgbClr val="FF0000"/>
                </a:solidFill>
                <a:effectLst/>
                <a:cs typeface="楷体" panose="02010609060101010101" charset="-122"/>
                <a:sym typeface="+mn-ea"/>
              </a:rPr>
              <a:t>38</a:t>
            </a:r>
            <a:r>
              <a:rPr lang="zh-CN" altLang="en-US" sz="2000" dirty="0">
                <a:solidFill>
                  <a:srgbClr val="FF0000"/>
                </a:solidFill>
                <a:effectLst/>
                <a:cs typeface="楷体" panose="02010609060101010101" charset="-122"/>
                <a:sym typeface="+mn-ea"/>
              </a:rPr>
              <a:t>亿年前的早期地球，真核生物是无法存活的</a:t>
            </a:r>
            <a:endParaRPr lang="zh-CN" altLang="en-US" sz="2000" dirty="0">
              <a:solidFill>
                <a:srgbClr val="FF0000"/>
              </a:solidFill>
              <a:effectLst/>
              <a:cs typeface="楷体" panose="02010609060101010101" charset="-122"/>
              <a:sym typeface="+mn-ea"/>
            </a:endParaRPr>
          </a:p>
          <a:p>
            <a:pPr indent="0" fontAlgn="auto">
              <a:lnSpc>
                <a:spcPct val="130000"/>
              </a:lnSpc>
            </a:pPr>
            <a:r>
              <a:rPr lang="zh-CN" altLang="en-US" sz="2000" dirty="0">
                <a:solidFill>
                  <a:srgbClr val="FF0000"/>
                </a:solidFill>
                <a:effectLst/>
                <a:cs typeface="楷体" panose="02010609060101010101" charset="-122"/>
                <a:sym typeface="+mn-ea"/>
              </a:rPr>
              <a:t>论据：</a:t>
            </a:r>
            <a:r>
              <a:rPr lang="en-US" altLang="zh-CN" sz="2000" dirty="0">
                <a:solidFill>
                  <a:srgbClr val="FF0000"/>
                </a:solidFill>
                <a:effectLst/>
                <a:cs typeface="楷体" panose="02010609060101010101" charset="-122"/>
                <a:sym typeface="+mn-ea"/>
              </a:rPr>
              <a:t>38</a:t>
            </a:r>
            <a:r>
              <a:rPr lang="zh-CN" altLang="en-US" sz="2000" dirty="0">
                <a:solidFill>
                  <a:srgbClr val="FF0000"/>
                </a:solidFill>
                <a:effectLst/>
                <a:cs typeface="楷体" panose="02010609060101010101" charset="-122"/>
                <a:sym typeface="+mn-ea"/>
              </a:rPr>
              <a:t>亿年前原始海洋处于高温甚至沸腾的状态，原始大气极度缺乏氧气，</a:t>
            </a:r>
            <a:r>
              <a:rPr lang="zh-CN" altLang="en-US" sz="2000" dirty="0">
                <a:solidFill>
                  <a:srgbClr val="FF0000"/>
                </a:solidFill>
                <a:effectLst/>
                <a:cs typeface="楷体" panose="02010609060101010101" charset="-122"/>
                <a:sym typeface="+mn-ea"/>
              </a:rPr>
              <a:t>真</a:t>
            </a:r>
            <a:r>
              <a:rPr lang="zh-CN" altLang="en-US" sz="2000" dirty="0">
                <a:solidFill>
                  <a:srgbClr val="FF0000"/>
                </a:solidFill>
                <a:effectLst/>
                <a:cs typeface="楷体" panose="02010609060101010101" charset="-122"/>
                <a:sym typeface="+mn-ea"/>
              </a:rPr>
              <a:t>核生物需要进行有丝分裂才能繁衍生存，</a:t>
            </a:r>
            <a:endParaRPr lang="zh-CN" altLang="en-US" sz="2000"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a:t>
            </a:r>
            <a:r>
              <a:rPr kumimoji="1" lang="en-US" altLang="zh-CN" sz="2800" b="1" dirty="0">
                <a:solidFill>
                  <a:srgbClr val="FF653F"/>
                </a:solidFill>
              </a:rPr>
              <a:t>1</a:t>
            </a:r>
            <a:endParaRPr kumimoji="1" lang="en-US" altLang="zh-CN" sz="2800" b="1" dirty="0">
              <a:solidFill>
                <a:srgbClr val="FF653F"/>
              </a:solidFill>
            </a:endParaRPr>
          </a:p>
        </p:txBody>
      </p:sp>
      <p:sp>
        <p:nvSpPr>
          <p:cNvPr id="3" name="文本框 2"/>
          <p:cNvSpPr txBox="1"/>
          <p:nvPr/>
        </p:nvSpPr>
        <p:spPr>
          <a:xfrm>
            <a:off x="462915" y="70802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某研究团队检索了用</a:t>
            </a:r>
            <a:r>
              <a:rPr lang="en-US" altLang="zh-CN" sz="2000" dirty="0">
                <a:cs typeface="微软雅黑" panose="020B0503020204020204" charset="-122"/>
                <a:sym typeface="+mn-ea"/>
              </a:rPr>
              <a:t>16</a:t>
            </a:r>
            <a:r>
              <a:rPr lang="zh-CN" altLang="en-US" sz="2000" dirty="0">
                <a:cs typeface="微软雅黑" panose="020B0503020204020204" charset="-122"/>
                <a:sym typeface="+mn-ea"/>
              </a:rPr>
              <a:t>种语言发表的涉及生物多样性保护的</a:t>
            </a:r>
            <a:r>
              <a:rPr lang="en-US" altLang="zh-CN" sz="2000" dirty="0">
                <a:cs typeface="微软雅黑" panose="020B0503020204020204" charset="-122"/>
                <a:sym typeface="+mn-ea"/>
              </a:rPr>
              <a:t>40</a:t>
            </a:r>
            <a:r>
              <a:rPr lang="zh-CN" altLang="en-US" sz="2000" dirty="0">
                <a:cs typeface="微软雅黑" panose="020B0503020204020204" charset="-122"/>
                <a:sym typeface="+mn-ea"/>
              </a:rPr>
              <a:t>万篇论文，其中有数以千计的论文因未使用英语发表而被学术界忽略。可见，在整个科学研究和学术探讨领域，语言障碍造成的负面影响巨大。据此有学者提出，科学研究应采用一门全球通用的语言以解决语言障碍问题，最终促进科学研究的发展。</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以下哪项如果为真，最能削弱上述学者的观点？（）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A.19</a:t>
            </a:r>
            <a:r>
              <a:rPr lang="zh-CN" altLang="en-US" sz="2000" dirty="0">
                <a:cs typeface="微软雅黑" panose="020B0503020204020204" charset="-122"/>
                <a:sym typeface="+mn-ea"/>
              </a:rPr>
              <a:t>世纪欧洲学术界曾经存在过英语、法语和德语三大语言并存的局面</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一些科学家为顺利发表科研成果而只能与其他研究者合作或雇佣翻译人员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现阶段科学家只有使用母语才能准确表达自身观点，产出更好的科研成果</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大量研究成果的原意在翻译过程中易被曲解，甚至很多成果从未被翻译过</a:t>
            </a:r>
            <a:endParaRPr lang="zh-CN" altLang="en-US" sz="2000" dirty="0">
              <a:cs typeface="微软雅黑" panose="020B0503020204020204" charset="-122"/>
              <a:sym typeface="+mn-ea"/>
            </a:endParaRPr>
          </a:p>
        </p:txBody>
      </p:sp>
      <p:sp>
        <p:nvSpPr>
          <p:cNvPr id="5" name="文本框 4"/>
          <p:cNvSpPr txBox="1"/>
          <p:nvPr/>
        </p:nvSpPr>
        <p:spPr>
          <a:xfrm>
            <a:off x="2155190" y="2859405"/>
            <a:ext cx="9411970" cy="891540"/>
          </a:xfrm>
          <a:prstGeom prst="rect">
            <a:avLst/>
          </a:prstGeom>
          <a:noFill/>
        </p:spPr>
        <p:txBody>
          <a:bodyPr wrap="square" rtlCol="0" anchor="t">
            <a:spAutoFit/>
          </a:bodyPr>
          <a:p>
            <a:pPr indent="0" fontAlgn="auto">
              <a:lnSpc>
                <a:spcPct val="130000"/>
              </a:lnSpc>
            </a:pPr>
            <a:r>
              <a:rPr lang="zh-CN" sz="2000" dirty="0">
                <a:solidFill>
                  <a:srgbClr val="FF0000"/>
                </a:solidFill>
                <a:effectLst/>
                <a:cs typeface="楷体" panose="02010609060101010101" charset="-122"/>
                <a:sym typeface="+mn-ea"/>
              </a:rPr>
              <a:t>论点：</a:t>
            </a:r>
            <a:r>
              <a:rPr lang="zh-CN" altLang="en-US" sz="2000" dirty="0">
                <a:solidFill>
                  <a:srgbClr val="FF0000"/>
                </a:solidFill>
                <a:effectLst/>
                <a:cs typeface="楷体" panose="02010609060101010101" charset="-122"/>
                <a:sym typeface="+mn-ea"/>
              </a:rPr>
              <a:t>科学研究应采用一门全球通用的语言以解决语言障碍问题</a:t>
            </a:r>
            <a:endParaRPr lang="zh-CN" altLang="en-US" sz="2000" dirty="0">
              <a:solidFill>
                <a:srgbClr val="FF0000"/>
              </a:solidFill>
              <a:effectLst/>
              <a:cs typeface="楷体" panose="02010609060101010101" charset="-122"/>
              <a:sym typeface="+mn-ea"/>
            </a:endParaRPr>
          </a:p>
          <a:p>
            <a:pPr indent="0" fontAlgn="auto">
              <a:lnSpc>
                <a:spcPct val="130000"/>
              </a:lnSpc>
            </a:pPr>
            <a:r>
              <a:rPr lang="zh-CN" altLang="en-US" sz="2000" dirty="0">
                <a:solidFill>
                  <a:srgbClr val="FF0000"/>
                </a:solidFill>
                <a:effectLst/>
                <a:cs typeface="楷体" panose="02010609060101010101" charset="-122"/>
                <a:sym typeface="+mn-ea"/>
              </a:rPr>
              <a:t>论据：有数以千计的论文因未使用英语发表而被学术界忽略</a:t>
            </a:r>
            <a:endParaRPr lang="zh-CN" altLang="en-US" sz="2000"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dirty="0">
                <a:cs typeface="微软雅黑" panose="020B0503020204020204" charset="-122"/>
                <a:sym typeface="+mn-ea"/>
              </a:rPr>
              <a:t>龙、凤、象、龟、雀、鹿是某国历史传说中的</a:t>
            </a:r>
            <a:r>
              <a:rPr lang="en-US" altLang="zh-CN" dirty="0">
                <a:cs typeface="微软雅黑" panose="020B0503020204020204" charset="-122"/>
                <a:sym typeface="+mn-ea"/>
              </a:rPr>
              <a:t>6</a:t>
            </a:r>
            <a:r>
              <a:rPr lang="zh-CN" altLang="en-US" dirty="0">
                <a:cs typeface="微软雅黑" panose="020B0503020204020204" charset="-122"/>
                <a:sym typeface="+mn-ea"/>
              </a:rPr>
              <a:t>个朝代。关于其时间顺序，学界存在</a:t>
            </a:r>
            <a:r>
              <a:rPr lang="en-US" altLang="zh-CN" dirty="0">
                <a:cs typeface="微软雅黑" panose="020B0503020204020204" charset="-122"/>
                <a:sym typeface="+mn-ea"/>
              </a:rPr>
              <a:t>3</a:t>
            </a:r>
            <a:r>
              <a:rPr lang="zh-CN" altLang="en-US" dirty="0">
                <a:cs typeface="微软雅黑" panose="020B0503020204020204" charset="-122"/>
                <a:sym typeface="+mn-ea"/>
              </a:rPr>
              <a:t>种观点：</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1</a:t>
            </a:r>
            <a:r>
              <a:rPr lang="zh-CN" altLang="en-US" dirty="0">
                <a:cs typeface="微软雅黑" panose="020B0503020204020204" charset="-122"/>
                <a:sym typeface="+mn-ea"/>
              </a:rPr>
              <a:t>）凤、鹿、龟、雀、象、龙；</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2</a:t>
            </a:r>
            <a:r>
              <a:rPr lang="zh-CN" altLang="en-US" dirty="0">
                <a:cs typeface="微软雅黑" panose="020B0503020204020204" charset="-122"/>
                <a:sym typeface="+mn-ea"/>
              </a:rPr>
              <a:t>）龟、象、龙、雀、凤、鹿；</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a:t>
            </a:r>
            <a:r>
              <a:rPr lang="en-US" altLang="zh-CN" dirty="0">
                <a:cs typeface="微软雅黑" panose="020B0503020204020204" charset="-122"/>
                <a:sym typeface="+mn-ea"/>
              </a:rPr>
              <a:t>3</a:t>
            </a:r>
            <a:r>
              <a:rPr lang="zh-CN" altLang="en-US" dirty="0">
                <a:cs typeface="微软雅黑" panose="020B0503020204020204" charset="-122"/>
                <a:sym typeface="+mn-ea"/>
              </a:rPr>
              <a:t>）象、鹿、凤、龙、雀、龟。</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该国近期的一项考古研究发现，上述</a:t>
            </a:r>
            <a:r>
              <a:rPr lang="en-US" altLang="zh-CN" dirty="0">
                <a:cs typeface="微软雅黑" panose="020B0503020204020204" charset="-122"/>
                <a:sym typeface="+mn-ea"/>
              </a:rPr>
              <a:t>6</a:t>
            </a:r>
            <a:r>
              <a:rPr lang="zh-CN" altLang="en-US" dirty="0">
                <a:cs typeface="微软雅黑" panose="020B0503020204020204" charset="-122"/>
                <a:sym typeface="+mn-ea"/>
              </a:rPr>
              <a:t>个朝代在历史上确实存在。关于先后顺序，上述</a:t>
            </a:r>
            <a:r>
              <a:rPr lang="en-US" altLang="zh-CN" dirty="0">
                <a:cs typeface="微软雅黑" panose="020B0503020204020204" charset="-122"/>
                <a:sym typeface="+mn-ea"/>
              </a:rPr>
              <a:t>3</a:t>
            </a:r>
            <a:r>
              <a:rPr lang="zh-CN" altLang="en-US" dirty="0">
                <a:cs typeface="微软雅黑" panose="020B0503020204020204" charset="-122"/>
                <a:sym typeface="+mn-ea"/>
              </a:rPr>
              <a:t>种说法中，（</a:t>
            </a:r>
            <a:r>
              <a:rPr lang="en-US" altLang="zh-CN" dirty="0">
                <a:cs typeface="微软雅黑" panose="020B0503020204020204" charset="-122"/>
                <a:sym typeface="+mn-ea"/>
              </a:rPr>
              <a:t>1</a:t>
            </a:r>
            <a:r>
              <a:rPr lang="zh-CN" altLang="en-US" dirty="0">
                <a:cs typeface="微软雅黑" panose="020B0503020204020204" charset="-122"/>
                <a:sym typeface="+mn-ea"/>
              </a:rPr>
              <a:t>）中的朝代顺序完全错误，没有一项与史实相符，（</a:t>
            </a:r>
            <a:r>
              <a:rPr lang="en-US" altLang="zh-CN" dirty="0">
                <a:cs typeface="微软雅黑" panose="020B0503020204020204" charset="-122"/>
                <a:sym typeface="+mn-ea"/>
              </a:rPr>
              <a:t>2</a:t>
            </a:r>
            <a:r>
              <a:rPr lang="zh-CN" altLang="en-US" dirty="0">
                <a:cs typeface="微软雅黑" panose="020B0503020204020204" charset="-122"/>
                <a:sym typeface="+mn-ea"/>
              </a:rPr>
              <a:t>）（</a:t>
            </a:r>
            <a:r>
              <a:rPr lang="en-US" altLang="zh-CN" dirty="0">
                <a:cs typeface="微软雅黑" panose="020B0503020204020204" charset="-122"/>
                <a:sym typeface="+mn-ea"/>
              </a:rPr>
              <a:t>3</a:t>
            </a:r>
            <a:r>
              <a:rPr lang="zh-CN" altLang="en-US" dirty="0">
                <a:cs typeface="微软雅黑" panose="020B0503020204020204" charset="-122"/>
                <a:sym typeface="+mn-ea"/>
              </a:rPr>
              <a:t>）中各有</a:t>
            </a:r>
            <a:r>
              <a:rPr lang="en-US" altLang="zh-CN" dirty="0">
                <a:cs typeface="微软雅黑" panose="020B0503020204020204" charset="-122"/>
                <a:sym typeface="+mn-ea"/>
              </a:rPr>
              <a:t>3</a:t>
            </a:r>
            <a:r>
              <a:rPr lang="zh-CN" altLang="en-US" dirty="0">
                <a:cs typeface="微软雅黑" panose="020B0503020204020204" charset="-122"/>
                <a:sym typeface="+mn-ea"/>
              </a:rPr>
              <a:t>个朝代的顺序和史实一致。</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根据上述信息，可知</a:t>
            </a:r>
            <a:r>
              <a:rPr lang="en-US" altLang="zh-CN" dirty="0">
                <a:cs typeface="微软雅黑" panose="020B0503020204020204" charset="-122"/>
                <a:sym typeface="+mn-ea"/>
              </a:rPr>
              <a:t>6</a:t>
            </a:r>
            <a:r>
              <a:rPr lang="zh-CN" altLang="en-US" dirty="0">
                <a:cs typeface="微软雅黑" panose="020B0503020204020204" charset="-122"/>
                <a:sym typeface="+mn-ea"/>
              </a:rPr>
              <a:t>个朝代的最后两个朝代依序是（）。</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雀、鹿</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凤、龟</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象、龙</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象、龟</a:t>
            </a:r>
            <a:endParaRPr lang="zh-CN" altLang="en-US" dirty="0">
              <a:cs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83</a:t>
            </a:r>
            <a:endParaRPr kumimoji="1" lang="en-US" altLang="zh-CN" sz="2800" b="1" dirty="0">
              <a:solidFill>
                <a:srgbClr val="FF653F"/>
              </a:solidFill>
            </a:endParaRPr>
          </a:p>
        </p:txBody>
      </p:sp>
      <p:sp>
        <p:nvSpPr>
          <p:cNvPr id="3" name="文本框 2"/>
          <p:cNvSpPr txBox="1"/>
          <p:nvPr/>
        </p:nvSpPr>
        <p:spPr>
          <a:xfrm>
            <a:off x="462915" y="701675"/>
            <a:ext cx="11311255" cy="5526405"/>
          </a:xfrm>
          <a:prstGeom prst="rect">
            <a:avLst/>
          </a:prstGeom>
          <a:noFill/>
        </p:spPr>
        <p:txBody>
          <a:bodyPr wrap="square" rtlCol="0" anchor="t">
            <a:noAutofit/>
          </a:bodyPr>
          <a:p>
            <a:pPr indent="0" fontAlgn="auto">
              <a:lnSpc>
                <a:spcPct val="100000"/>
              </a:lnSpc>
            </a:pPr>
            <a:r>
              <a:rPr lang="zh-CN" altLang="en-US" sz="1700" dirty="0">
                <a:cs typeface="微软雅黑" panose="020B0503020204020204" charset="-122"/>
                <a:sym typeface="+mn-ea"/>
              </a:rPr>
              <a:t>目前大多数人工智能生成内容（以下简称</a:t>
            </a:r>
            <a:r>
              <a:rPr lang="en-US" altLang="zh-CN" sz="1700" dirty="0">
                <a:cs typeface="微软雅黑" panose="020B0503020204020204" charset="-122"/>
                <a:sym typeface="+mn-ea"/>
              </a:rPr>
              <a:t>AI</a:t>
            </a:r>
            <a:r>
              <a:rPr lang="zh-CN" altLang="en-US" sz="1700" dirty="0">
                <a:cs typeface="微软雅黑" panose="020B0503020204020204" charset="-122"/>
                <a:sym typeface="+mn-ea"/>
              </a:rPr>
              <a:t>生成物）是</a:t>
            </a:r>
            <a:r>
              <a:rPr lang="en-US" altLang="zh-CN" sz="1700" dirty="0">
                <a:cs typeface="微软雅黑" panose="020B0503020204020204" charset="-122"/>
                <a:sym typeface="+mn-ea"/>
              </a:rPr>
              <a:t>AI</a:t>
            </a:r>
            <a:r>
              <a:rPr lang="zh-CN" altLang="en-US" sz="1700" dirty="0">
                <a:cs typeface="微软雅黑" panose="020B0503020204020204" charset="-122"/>
                <a:sym typeface="+mn-ea"/>
              </a:rPr>
              <a:t>工具在人类智力劳动参与下生成的。</a:t>
            </a:r>
            <a:endParaRPr lang="zh-CN" altLang="en-US" sz="1700" dirty="0">
              <a:cs typeface="微软雅黑" panose="020B0503020204020204" charset="-122"/>
              <a:sym typeface="+mn-ea"/>
            </a:endParaRPr>
          </a:p>
          <a:p>
            <a:pPr indent="0" fontAlgn="auto">
              <a:lnSpc>
                <a:spcPct val="100000"/>
              </a:lnSpc>
            </a:pPr>
            <a:r>
              <a:rPr lang="zh-CN" altLang="en-US" sz="1700" dirty="0">
                <a:cs typeface="微软雅黑" panose="020B0503020204020204" charset="-122"/>
                <a:sym typeface="+mn-ea"/>
              </a:rPr>
              <a:t>对于</a:t>
            </a:r>
            <a:r>
              <a:rPr lang="en-US" altLang="zh-CN" sz="1700" dirty="0">
                <a:cs typeface="微软雅黑" panose="020B0503020204020204" charset="-122"/>
                <a:sym typeface="+mn-ea"/>
              </a:rPr>
              <a:t>AI</a:t>
            </a:r>
            <a:r>
              <a:rPr lang="zh-CN" altLang="en-US" sz="1700" dirty="0">
                <a:cs typeface="微软雅黑" panose="020B0503020204020204" charset="-122"/>
                <a:sym typeface="+mn-ea"/>
              </a:rPr>
              <a:t>生成物的著作权归属问题，存在着极大的争议，下面是一些与此有关的看法：</a:t>
            </a:r>
            <a:endParaRPr lang="zh-CN" altLang="en-US" sz="1700" dirty="0">
              <a:cs typeface="微软雅黑" panose="020B0503020204020204" charset="-122"/>
              <a:sym typeface="+mn-ea"/>
            </a:endParaRPr>
          </a:p>
          <a:p>
            <a:pPr indent="0" fontAlgn="auto">
              <a:lnSpc>
                <a:spcPct val="100000"/>
              </a:lnSpc>
            </a:pPr>
            <a:r>
              <a:rPr lang="zh-CN" altLang="en-US" sz="1700" dirty="0">
                <a:cs typeface="微软雅黑" panose="020B0503020204020204" charset="-122"/>
                <a:sym typeface="+mn-ea"/>
              </a:rPr>
              <a:t>赵教授：</a:t>
            </a:r>
            <a:r>
              <a:rPr lang="en-US" altLang="zh-CN" sz="1700" dirty="0">
                <a:cs typeface="微软雅黑" panose="020B0503020204020204" charset="-122"/>
                <a:sym typeface="+mn-ea"/>
              </a:rPr>
              <a:t>AI</a:t>
            </a:r>
            <a:r>
              <a:rPr lang="zh-CN" altLang="en-US" sz="1700" dirty="0">
                <a:cs typeface="微软雅黑" panose="020B0503020204020204" charset="-122"/>
                <a:sym typeface="+mn-ea"/>
              </a:rPr>
              <a:t>生成物的著作权应当属于</a:t>
            </a:r>
            <a:r>
              <a:rPr lang="en-US" altLang="zh-CN" sz="1700" dirty="0">
                <a:cs typeface="微软雅黑" panose="020B0503020204020204" charset="-122"/>
                <a:sym typeface="+mn-ea"/>
              </a:rPr>
              <a:t>AI</a:t>
            </a:r>
            <a:r>
              <a:rPr lang="zh-CN" altLang="en-US" sz="1700" dirty="0">
                <a:cs typeface="微软雅黑" panose="020B0503020204020204" charset="-122"/>
                <a:sym typeface="+mn-ea"/>
              </a:rPr>
              <a:t>使用者。实施了创作行为的自然人是原本意义上的</a:t>
            </a:r>
            <a:endParaRPr lang="zh-CN" altLang="en-US" sz="1700" dirty="0">
              <a:cs typeface="微软雅黑" panose="020B0503020204020204" charset="-122"/>
              <a:sym typeface="+mn-ea"/>
            </a:endParaRPr>
          </a:p>
          <a:p>
            <a:pPr indent="0" fontAlgn="auto">
              <a:lnSpc>
                <a:spcPct val="100000"/>
              </a:lnSpc>
            </a:pPr>
            <a:r>
              <a:rPr lang="zh-CN" altLang="en-US" sz="1700" dirty="0">
                <a:cs typeface="微软雅黑" panose="020B0503020204020204" charset="-122"/>
                <a:sym typeface="+mn-ea"/>
              </a:rPr>
              <a:t>著作权主体。</a:t>
            </a:r>
            <a:r>
              <a:rPr lang="en-US" altLang="zh-CN" sz="1700" dirty="0">
                <a:cs typeface="微软雅黑" panose="020B0503020204020204" charset="-122"/>
                <a:sym typeface="+mn-ea"/>
              </a:rPr>
              <a:t>AI</a:t>
            </a:r>
            <a:r>
              <a:rPr lang="zh-CN" altLang="en-US" sz="1700" dirty="0">
                <a:cs typeface="微软雅黑" panose="020B0503020204020204" charset="-122"/>
                <a:sym typeface="+mn-ea"/>
              </a:rPr>
              <a:t>生成物是使用者实施创作行为形成的作品，作为一般规则，使用者基于创作</a:t>
            </a:r>
            <a:endParaRPr lang="zh-CN" altLang="en-US" sz="1700" dirty="0">
              <a:cs typeface="微软雅黑" panose="020B0503020204020204" charset="-122"/>
              <a:sym typeface="+mn-ea"/>
            </a:endParaRPr>
          </a:p>
          <a:p>
            <a:pPr indent="0" fontAlgn="auto">
              <a:lnSpc>
                <a:spcPct val="100000"/>
              </a:lnSpc>
            </a:pPr>
            <a:r>
              <a:rPr lang="zh-CN" altLang="en-US" sz="1700" dirty="0">
                <a:cs typeface="微软雅黑" panose="020B0503020204020204" charset="-122"/>
                <a:sym typeface="+mn-ea"/>
              </a:rPr>
              <a:t>事实成为作者，取得作品著作权。</a:t>
            </a:r>
            <a:endParaRPr lang="zh-CN" altLang="en-US" sz="1700" dirty="0">
              <a:cs typeface="微软雅黑" panose="020B0503020204020204" charset="-122"/>
              <a:sym typeface="+mn-ea"/>
            </a:endParaRPr>
          </a:p>
          <a:p>
            <a:pPr indent="0" fontAlgn="auto">
              <a:lnSpc>
                <a:spcPct val="100000"/>
              </a:lnSpc>
            </a:pPr>
            <a:r>
              <a:rPr lang="zh-CN" altLang="en-US" sz="1700" dirty="0">
                <a:cs typeface="微软雅黑" panose="020B0503020204020204" charset="-122"/>
                <a:sym typeface="+mn-ea"/>
              </a:rPr>
              <a:t>钱研究员：我不同意赵教授的观点。只有作品才有著作权的归属问题，作品应当是人类的智力成果，也只有人的智力活动才能被称为创作。</a:t>
            </a:r>
            <a:r>
              <a:rPr lang="en-US" altLang="zh-CN" sz="1700" dirty="0">
                <a:cs typeface="微软雅黑" panose="020B0503020204020204" charset="-122"/>
                <a:sym typeface="+mn-ea"/>
              </a:rPr>
              <a:t>AI</a:t>
            </a:r>
            <a:r>
              <a:rPr lang="zh-CN" altLang="en-US" sz="1700" dirty="0">
                <a:cs typeface="微软雅黑" panose="020B0503020204020204" charset="-122"/>
                <a:sym typeface="+mn-ea"/>
              </a:rPr>
              <a:t>生成物并非人类作者的智力成果，本就不属于作品，何来著作权归属问题？</a:t>
            </a:r>
            <a:endParaRPr lang="zh-CN" altLang="en-US" sz="1700" dirty="0">
              <a:cs typeface="微软雅黑" panose="020B0503020204020204" charset="-122"/>
              <a:sym typeface="+mn-ea"/>
            </a:endParaRPr>
          </a:p>
          <a:p>
            <a:pPr indent="0" fontAlgn="auto">
              <a:lnSpc>
                <a:spcPct val="100000"/>
              </a:lnSpc>
            </a:pPr>
            <a:r>
              <a:rPr lang="zh-CN" altLang="en-US" sz="1700" dirty="0">
                <a:cs typeface="微软雅黑" panose="020B0503020204020204" charset="-122"/>
                <a:sym typeface="+mn-ea"/>
              </a:rPr>
              <a:t>李工程师：我认为</a:t>
            </a:r>
            <a:r>
              <a:rPr lang="en-US" altLang="zh-CN" sz="1700" dirty="0">
                <a:cs typeface="微软雅黑" panose="020B0503020204020204" charset="-122"/>
                <a:sym typeface="+mn-ea"/>
              </a:rPr>
              <a:t>AI</a:t>
            </a:r>
            <a:r>
              <a:rPr lang="zh-CN" altLang="en-US" sz="1700" dirty="0">
                <a:cs typeface="微软雅黑" panose="020B0503020204020204" charset="-122"/>
                <a:sym typeface="+mn-ea"/>
              </a:rPr>
              <a:t>生成物的著作权应当属于</a:t>
            </a:r>
            <a:r>
              <a:rPr lang="en-US" altLang="zh-CN" sz="1700" dirty="0">
                <a:cs typeface="微软雅黑" panose="020B0503020204020204" charset="-122"/>
                <a:sym typeface="+mn-ea"/>
              </a:rPr>
              <a:t>AI</a:t>
            </a:r>
            <a:r>
              <a:rPr lang="zh-CN" altLang="en-US" sz="1700" dirty="0">
                <a:cs typeface="微软雅黑" panose="020B0503020204020204" charset="-122"/>
                <a:sym typeface="+mn-ea"/>
              </a:rPr>
              <a:t>开发者。因为</a:t>
            </a:r>
            <a:r>
              <a:rPr lang="en-US" altLang="zh-CN" sz="1700" dirty="0">
                <a:cs typeface="微软雅黑" panose="020B0503020204020204" charset="-122"/>
                <a:sym typeface="+mn-ea"/>
              </a:rPr>
              <a:t>AI</a:t>
            </a:r>
            <a:r>
              <a:rPr lang="zh-CN" altLang="en-US" sz="1700" dirty="0">
                <a:cs typeface="微软雅黑" panose="020B0503020204020204" charset="-122"/>
                <a:sym typeface="+mn-ea"/>
              </a:rPr>
              <a:t>开发者负责设计和开发智能系统的算法和模型，这需要其具备机器学习、深度学习和自然语言处理等领域的知识，还需要与他人合作，比如与产品经理合作确定需求、与软件工程师合作实现系统功能等。应用</a:t>
            </a:r>
            <a:r>
              <a:rPr lang="en-US" altLang="zh-CN" sz="1700" dirty="0">
                <a:cs typeface="微软雅黑" panose="020B0503020204020204" charset="-122"/>
                <a:sym typeface="+mn-ea"/>
              </a:rPr>
              <a:t>AI</a:t>
            </a:r>
            <a:r>
              <a:rPr lang="zh-CN" altLang="en-US" sz="1700" dirty="0">
                <a:cs typeface="微软雅黑" panose="020B0503020204020204" charset="-122"/>
                <a:sym typeface="+mn-ea"/>
              </a:rPr>
              <a:t>之后的生成物自然也属于</a:t>
            </a:r>
            <a:r>
              <a:rPr lang="en-US" altLang="zh-CN" sz="1700" dirty="0">
                <a:cs typeface="微软雅黑" panose="020B0503020204020204" charset="-122"/>
                <a:sym typeface="+mn-ea"/>
              </a:rPr>
              <a:t>AI</a:t>
            </a:r>
            <a:r>
              <a:rPr lang="zh-CN" altLang="en-US" sz="1700" dirty="0">
                <a:cs typeface="微软雅黑" panose="020B0503020204020204" charset="-122"/>
                <a:sym typeface="+mn-ea"/>
              </a:rPr>
              <a:t>开发者。</a:t>
            </a:r>
            <a:endParaRPr lang="zh-CN" altLang="en-US" sz="1700" dirty="0">
              <a:cs typeface="微软雅黑" panose="020B0503020204020204" charset="-122"/>
              <a:sym typeface="+mn-ea"/>
            </a:endParaRPr>
          </a:p>
          <a:p>
            <a:pPr indent="0" fontAlgn="auto">
              <a:lnSpc>
                <a:spcPct val="100000"/>
              </a:lnSpc>
            </a:pPr>
            <a:r>
              <a:rPr lang="zh-CN" altLang="en-US" sz="1700" dirty="0">
                <a:cs typeface="微软雅黑" panose="020B0503020204020204" charset="-122"/>
                <a:sym typeface="+mn-ea"/>
              </a:rPr>
              <a:t>孙博士：有些人赞成</a:t>
            </a:r>
            <a:r>
              <a:rPr lang="en-US" altLang="zh-CN" sz="1700" dirty="0">
                <a:cs typeface="微软雅黑" panose="020B0503020204020204" charset="-122"/>
                <a:sym typeface="+mn-ea"/>
              </a:rPr>
              <a:t>AI</a:t>
            </a:r>
            <a:r>
              <a:rPr lang="zh-CN" altLang="en-US" sz="1700" dirty="0">
                <a:cs typeface="微软雅黑" panose="020B0503020204020204" charset="-122"/>
                <a:sym typeface="+mn-ea"/>
              </a:rPr>
              <a:t>生成物的著作权归属于某一主体，是因为他们认为该主体付出了创造性的劳动，如果付出了劳动就要获得权利的话，那么为何参与楼房施工的劳动者没有获得楼房的所有权呢？</a:t>
            </a:r>
            <a:endParaRPr lang="zh-CN" altLang="en-US" sz="1700" dirty="0">
              <a:cs typeface="微软雅黑" panose="020B0503020204020204" charset="-122"/>
              <a:sym typeface="+mn-ea"/>
            </a:endParaRPr>
          </a:p>
          <a:p>
            <a:pPr indent="0" fontAlgn="auto">
              <a:lnSpc>
                <a:spcPct val="100000"/>
              </a:lnSpc>
            </a:pPr>
            <a:endParaRPr lang="en-US" altLang="zh-CN" sz="1700" dirty="0">
              <a:cs typeface="微软雅黑" panose="020B0503020204020204" charset="-122"/>
              <a:sym typeface="+mn-ea"/>
            </a:endParaRPr>
          </a:p>
          <a:p>
            <a:pPr indent="0" fontAlgn="auto">
              <a:lnSpc>
                <a:spcPct val="100000"/>
              </a:lnSpc>
            </a:pPr>
            <a:endParaRPr lang="en-US" altLang="zh-CN" sz="1700" dirty="0">
              <a:cs typeface="微软雅黑" panose="020B0503020204020204" charset="-122"/>
              <a:sym typeface="+mn-ea"/>
            </a:endParaRPr>
          </a:p>
          <a:p>
            <a:pPr indent="0" fontAlgn="auto">
              <a:lnSpc>
                <a:spcPct val="100000"/>
              </a:lnSpc>
            </a:pPr>
            <a:endParaRPr lang="en-US" altLang="zh-CN" sz="1700" dirty="0">
              <a:cs typeface="微软雅黑" panose="020B0503020204020204" charset="-122"/>
              <a:sym typeface="+mn-ea"/>
            </a:endParaRPr>
          </a:p>
          <a:p>
            <a:pPr indent="0" fontAlgn="auto">
              <a:lnSpc>
                <a:spcPct val="100000"/>
              </a:lnSpc>
            </a:pPr>
            <a:endParaRPr lang="en-US" altLang="zh-CN" sz="1700" dirty="0">
              <a:cs typeface="微软雅黑" panose="020B0503020204020204" charset="-122"/>
              <a:sym typeface="+mn-ea"/>
            </a:endParaRPr>
          </a:p>
          <a:p>
            <a:pPr indent="0" fontAlgn="auto">
              <a:lnSpc>
                <a:spcPct val="100000"/>
              </a:lnSpc>
            </a:pPr>
            <a:r>
              <a:rPr lang="en-US" altLang="zh-CN" sz="1700" dirty="0">
                <a:cs typeface="微软雅黑" panose="020B0503020204020204" charset="-122"/>
                <a:sym typeface="+mn-ea"/>
              </a:rPr>
              <a:t>83.</a:t>
            </a:r>
            <a:r>
              <a:rPr lang="zh-CN" altLang="en-US" sz="1700" dirty="0">
                <a:cs typeface="微软雅黑" panose="020B0503020204020204" charset="-122"/>
                <a:sym typeface="+mn-ea"/>
              </a:rPr>
              <a:t>以下哪项最为恰当地评价了钱研究员对赵教授的反驳？（）</a:t>
            </a:r>
            <a:endParaRPr lang="zh-CN" altLang="en-US" sz="1700" dirty="0">
              <a:cs typeface="微软雅黑" panose="020B0503020204020204" charset="-122"/>
              <a:sym typeface="+mn-ea"/>
            </a:endParaRPr>
          </a:p>
          <a:p>
            <a:pPr indent="0" fontAlgn="auto">
              <a:lnSpc>
                <a:spcPct val="100000"/>
              </a:lnSpc>
            </a:pPr>
            <a:r>
              <a:rPr lang="en-US" altLang="zh-CN" sz="1700" dirty="0">
                <a:cs typeface="微软雅黑" panose="020B0503020204020204" charset="-122"/>
                <a:sym typeface="+mn-ea"/>
              </a:rPr>
              <a:t>A.</a:t>
            </a:r>
            <a:r>
              <a:rPr lang="zh-CN" altLang="en-US" sz="1700" dirty="0">
                <a:cs typeface="微软雅黑" panose="020B0503020204020204" charset="-122"/>
                <a:sym typeface="+mn-ea"/>
              </a:rPr>
              <a:t>转移了对方的论题</a:t>
            </a:r>
            <a:endParaRPr lang="zh-CN" altLang="en-US" sz="1700" dirty="0">
              <a:cs typeface="微软雅黑" panose="020B0503020204020204" charset="-122"/>
              <a:sym typeface="+mn-ea"/>
            </a:endParaRPr>
          </a:p>
          <a:p>
            <a:pPr indent="0" fontAlgn="auto">
              <a:lnSpc>
                <a:spcPct val="100000"/>
              </a:lnSpc>
            </a:pPr>
            <a:r>
              <a:rPr lang="en-US" altLang="zh-CN" sz="1700" dirty="0">
                <a:cs typeface="微软雅黑" panose="020B0503020204020204" charset="-122"/>
                <a:sym typeface="+mn-ea"/>
              </a:rPr>
              <a:t>B.</a:t>
            </a:r>
            <a:r>
              <a:rPr lang="zh-CN" altLang="en-US" sz="1700" dirty="0">
                <a:cs typeface="微软雅黑" panose="020B0503020204020204" charset="-122"/>
                <a:sym typeface="+mn-ea"/>
              </a:rPr>
              <a:t>直接驳斥了对方的论点</a:t>
            </a:r>
            <a:endParaRPr lang="zh-CN" altLang="en-US" sz="1700" dirty="0">
              <a:cs typeface="微软雅黑" panose="020B0503020204020204" charset="-122"/>
              <a:sym typeface="+mn-ea"/>
            </a:endParaRPr>
          </a:p>
          <a:p>
            <a:pPr indent="0" fontAlgn="auto">
              <a:lnSpc>
                <a:spcPct val="100000"/>
              </a:lnSpc>
            </a:pPr>
            <a:r>
              <a:rPr lang="en-US" altLang="zh-CN" sz="1700" dirty="0">
                <a:cs typeface="微软雅黑" panose="020B0503020204020204" charset="-122"/>
                <a:sym typeface="+mn-ea"/>
              </a:rPr>
              <a:t>C.</a:t>
            </a:r>
            <a:r>
              <a:rPr lang="zh-CN" altLang="en-US" sz="1700" dirty="0">
                <a:cs typeface="微软雅黑" panose="020B0503020204020204" charset="-122"/>
                <a:sym typeface="+mn-ea"/>
              </a:rPr>
              <a:t>反驳了对方观点赖以成立的论据</a:t>
            </a:r>
            <a:endParaRPr lang="zh-CN" altLang="en-US" sz="1700" dirty="0">
              <a:cs typeface="微软雅黑" panose="020B0503020204020204" charset="-122"/>
              <a:sym typeface="+mn-ea"/>
            </a:endParaRPr>
          </a:p>
          <a:p>
            <a:pPr indent="0" fontAlgn="auto">
              <a:lnSpc>
                <a:spcPct val="100000"/>
              </a:lnSpc>
            </a:pPr>
            <a:r>
              <a:rPr lang="en-US" altLang="zh-CN" sz="1700" dirty="0">
                <a:cs typeface="微软雅黑" panose="020B0503020204020204" charset="-122"/>
                <a:sym typeface="+mn-ea"/>
              </a:rPr>
              <a:t>D.</a:t>
            </a:r>
            <a:r>
              <a:rPr lang="zh-CN" altLang="en-US" sz="1700" dirty="0">
                <a:cs typeface="微软雅黑" panose="020B0503020204020204" charset="-122"/>
                <a:sym typeface="+mn-ea"/>
              </a:rPr>
              <a:t>指出对方的论据并不足以支持其论点</a:t>
            </a:r>
            <a:endParaRPr lang="zh-CN" altLang="en-US" sz="1700" dirty="0">
              <a:cs typeface="微软雅黑" panose="020B0503020204020204" charset="-122"/>
              <a:sym typeface="+mn-ea"/>
            </a:endParaRPr>
          </a:p>
        </p:txBody>
      </p:sp>
      <p:sp>
        <p:nvSpPr>
          <p:cNvPr id="5" name="文本框 4"/>
          <p:cNvSpPr txBox="1"/>
          <p:nvPr/>
        </p:nvSpPr>
        <p:spPr>
          <a:xfrm>
            <a:off x="1113790" y="3833495"/>
            <a:ext cx="10939145" cy="1076325"/>
          </a:xfrm>
          <a:prstGeom prst="rect">
            <a:avLst/>
          </a:prstGeom>
          <a:noFill/>
        </p:spPr>
        <p:txBody>
          <a:bodyPr wrap="square" rtlCol="0" anchor="t">
            <a:spAutoFit/>
          </a:bodyPr>
          <a:p>
            <a:pPr indent="0" fontAlgn="auto">
              <a:lnSpc>
                <a:spcPct val="100000"/>
              </a:lnSpc>
            </a:pPr>
            <a:r>
              <a:rPr lang="zh-CN" altLang="en-US" sz="1600" dirty="0">
                <a:solidFill>
                  <a:srgbClr val="FF0000"/>
                </a:solidFill>
                <a:effectLst/>
                <a:cs typeface="楷体" panose="02010609060101010101" charset="-122"/>
                <a:sym typeface="+mn-ea"/>
              </a:rPr>
              <a:t>赵教授论点：</a:t>
            </a:r>
            <a:r>
              <a:rPr lang="en-US" altLang="zh-CN" sz="1600" dirty="0">
                <a:solidFill>
                  <a:srgbClr val="FF0000"/>
                </a:solidFill>
                <a:effectLst/>
                <a:cs typeface="楷体" panose="02010609060101010101" charset="-122"/>
                <a:sym typeface="+mn-ea"/>
              </a:rPr>
              <a:t>AI</a:t>
            </a:r>
            <a:r>
              <a:rPr lang="zh-CN" altLang="en-US" sz="1600" dirty="0">
                <a:solidFill>
                  <a:srgbClr val="FF0000"/>
                </a:solidFill>
                <a:effectLst/>
                <a:cs typeface="楷体" panose="02010609060101010101" charset="-122"/>
                <a:sym typeface="+mn-ea"/>
              </a:rPr>
              <a:t>生成物的著作权应当属于</a:t>
            </a:r>
            <a:r>
              <a:rPr lang="en-US" altLang="zh-CN" sz="1600" dirty="0">
                <a:solidFill>
                  <a:srgbClr val="FF0000"/>
                </a:solidFill>
                <a:effectLst/>
                <a:cs typeface="楷体" panose="02010609060101010101" charset="-122"/>
                <a:sym typeface="+mn-ea"/>
              </a:rPr>
              <a:t>AI</a:t>
            </a:r>
            <a:r>
              <a:rPr lang="zh-CN" altLang="en-US" sz="1600" dirty="0">
                <a:solidFill>
                  <a:srgbClr val="FF0000"/>
                </a:solidFill>
                <a:effectLst/>
                <a:cs typeface="楷体" panose="02010609060101010101" charset="-122"/>
                <a:sym typeface="+mn-ea"/>
              </a:rPr>
              <a:t>使用者。</a:t>
            </a:r>
            <a:endParaRPr lang="zh-CN" altLang="en-US" sz="1600" dirty="0">
              <a:solidFill>
                <a:srgbClr val="FF0000"/>
              </a:solidFill>
              <a:effectLst/>
              <a:cs typeface="楷体" panose="02010609060101010101" charset="-122"/>
              <a:sym typeface="+mn-ea"/>
            </a:endParaRPr>
          </a:p>
          <a:p>
            <a:pPr indent="0" fontAlgn="auto">
              <a:lnSpc>
                <a:spcPct val="100000"/>
              </a:lnSpc>
            </a:pPr>
            <a:r>
              <a:rPr lang="zh-CN" altLang="en-US" sz="1600" dirty="0">
                <a:solidFill>
                  <a:srgbClr val="FF0000"/>
                </a:solidFill>
                <a:effectLst/>
                <a:cs typeface="楷体" panose="02010609060101010101" charset="-122"/>
                <a:sym typeface="+mn-ea"/>
              </a:rPr>
              <a:t>赵教授论据：</a:t>
            </a:r>
            <a:r>
              <a:rPr lang="en-US" altLang="zh-CN" sz="1600" dirty="0">
                <a:solidFill>
                  <a:srgbClr val="FF0000"/>
                </a:solidFill>
                <a:effectLst/>
                <a:cs typeface="楷体" panose="02010609060101010101" charset="-122"/>
                <a:sym typeface="+mn-ea"/>
              </a:rPr>
              <a:t>AI</a:t>
            </a:r>
            <a:r>
              <a:rPr lang="zh-CN" altLang="en-US" sz="1600" dirty="0">
                <a:solidFill>
                  <a:srgbClr val="FF0000"/>
                </a:solidFill>
                <a:effectLst/>
                <a:cs typeface="楷体" panose="02010609060101010101" charset="-122"/>
                <a:sym typeface="+mn-ea"/>
              </a:rPr>
              <a:t>生成物是使用者实施创作行为形成的作品，使用者基于创作事实成为作者，取得作品著作权。</a:t>
            </a:r>
            <a:endParaRPr lang="zh-CN" altLang="en-US" sz="1600" dirty="0">
              <a:solidFill>
                <a:srgbClr val="FF0000"/>
              </a:solidFill>
              <a:effectLst/>
              <a:cs typeface="楷体" panose="02010609060101010101" charset="-122"/>
              <a:sym typeface="+mn-ea"/>
            </a:endParaRPr>
          </a:p>
          <a:p>
            <a:pPr indent="0" fontAlgn="auto">
              <a:lnSpc>
                <a:spcPct val="100000"/>
              </a:lnSpc>
            </a:pPr>
            <a:r>
              <a:rPr lang="zh-CN" altLang="en-US" sz="1600" dirty="0">
                <a:solidFill>
                  <a:srgbClr val="FF0000"/>
                </a:solidFill>
                <a:effectLst/>
                <a:cs typeface="楷体" panose="02010609060101010101" charset="-122"/>
                <a:sym typeface="+mn-ea"/>
              </a:rPr>
              <a:t>钱研究员观点：只有作品才有著作权的归属问题，作品应当是人类的智力成果，也只有人的智力活动才能被称为创作。</a:t>
            </a:r>
            <a:r>
              <a:rPr lang="en-US" altLang="zh-CN" sz="1600" dirty="0">
                <a:solidFill>
                  <a:srgbClr val="FF0000"/>
                </a:solidFill>
                <a:effectLst/>
                <a:cs typeface="楷体" panose="02010609060101010101" charset="-122"/>
                <a:sym typeface="+mn-ea"/>
              </a:rPr>
              <a:t>AI</a:t>
            </a:r>
            <a:r>
              <a:rPr lang="zh-CN" altLang="en-US" sz="1600" dirty="0">
                <a:solidFill>
                  <a:srgbClr val="FF0000"/>
                </a:solidFill>
                <a:effectLst/>
                <a:cs typeface="楷体" panose="02010609060101010101" charset="-122"/>
                <a:sym typeface="+mn-ea"/>
              </a:rPr>
              <a:t>生成物并非人类作者的智力成果，本就不属于作品，何来著作权归属问题？</a:t>
            </a:r>
            <a:endParaRPr lang="zh-CN" altLang="en-US" sz="1600"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84</a:t>
            </a:r>
            <a:endParaRPr kumimoji="1" lang="en-US" altLang="zh-CN" sz="2800" b="1" dirty="0">
              <a:solidFill>
                <a:srgbClr val="FF653F"/>
              </a:solidFill>
            </a:endParaRPr>
          </a:p>
        </p:txBody>
      </p:sp>
      <p:sp>
        <p:nvSpPr>
          <p:cNvPr id="3" name="文本框 2"/>
          <p:cNvSpPr txBox="1"/>
          <p:nvPr/>
        </p:nvSpPr>
        <p:spPr>
          <a:xfrm>
            <a:off x="462915" y="701675"/>
            <a:ext cx="11426190" cy="5526405"/>
          </a:xfrm>
          <a:prstGeom prst="rect">
            <a:avLst/>
          </a:prstGeom>
          <a:noFill/>
        </p:spPr>
        <p:txBody>
          <a:bodyPr wrap="square" rtlCol="0" anchor="t">
            <a:noAutofit/>
          </a:bodyPr>
          <a:p>
            <a:pPr indent="0" fontAlgn="auto">
              <a:lnSpc>
                <a:spcPct val="100000"/>
              </a:lnSpc>
            </a:pPr>
            <a:r>
              <a:rPr lang="zh-CN" altLang="en-US" sz="1700" dirty="0">
                <a:cs typeface="微软雅黑" panose="020B0503020204020204" charset="-122"/>
                <a:sym typeface="+mn-ea"/>
              </a:rPr>
              <a:t>目前大多数人工智能生成内容（以下简称</a:t>
            </a:r>
            <a:r>
              <a:rPr lang="en-US" altLang="zh-CN" sz="1700" dirty="0">
                <a:cs typeface="微软雅黑" panose="020B0503020204020204" charset="-122"/>
                <a:sym typeface="+mn-ea"/>
              </a:rPr>
              <a:t>AI</a:t>
            </a:r>
            <a:r>
              <a:rPr lang="zh-CN" altLang="en-US" sz="1700" dirty="0">
                <a:cs typeface="微软雅黑" panose="020B0503020204020204" charset="-122"/>
                <a:sym typeface="+mn-ea"/>
              </a:rPr>
              <a:t>生成物）是</a:t>
            </a:r>
            <a:r>
              <a:rPr lang="en-US" altLang="zh-CN" sz="1700" dirty="0">
                <a:cs typeface="微软雅黑" panose="020B0503020204020204" charset="-122"/>
                <a:sym typeface="+mn-ea"/>
              </a:rPr>
              <a:t>AI</a:t>
            </a:r>
            <a:r>
              <a:rPr lang="zh-CN" altLang="en-US" sz="1700" dirty="0">
                <a:cs typeface="微软雅黑" panose="020B0503020204020204" charset="-122"/>
                <a:sym typeface="+mn-ea"/>
              </a:rPr>
              <a:t>工具在人类智力劳动参与下生成的。</a:t>
            </a:r>
            <a:endParaRPr lang="zh-CN" altLang="en-US" sz="1700" dirty="0">
              <a:cs typeface="微软雅黑" panose="020B0503020204020204" charset="-122"/>
              <a:sym typeface="+mn-ea"/>
            </a:endParaRPr>
          </a:p>
          <a:p>
            <a:pPr indent="0" fontAlgn="auto">
              <a:lnSpc>
                <a:spcPct val="100000"/>
              </a:lnSpc>
            </a:pPr>
            <a:r>
              <a:rPr lang="zh-CN" altLang="en-US" sz="1700" dirty="0">
                <a:cs typeface="微软雅黑" panose="020B0503020204020204" charset="-122"/>
                <a:sym typeface="+mn-ea"/>
              </a:rPr>
              <a:t>对于</a:t>
            </a:r>
            <a:r>
              <a:rPr lang="en-US" altLang="zh-CN" sz="1700" dirty="0">
                <a:cs typeface="微软雅黑" panose="020B0503020204020204" charset="-122"/>
                <a:sym typeface="+mn-ea"/>
              </a:rPr>
              <a:t>AI</a:t>
            </a:r>
            <a:r>
              <a:rPr lang="zh-CN" altLang="en-US" sz="1700" dirty="0">
                <a:cs typeface="微软雅黑" panose="020B0503020204020204" charset="-122"/>
                <a:sym typeface="+mn-ea"/>
              </a:rPr>
              <a:t>生成物的著作权归属问题，存在着极大的争议，下面是一些与此有关的看法：</a:t>
            </a:r>
            <a:endParaRPr lang="zh-CN" altLang="en-US" sz="1700" dirty="0">
              <a:cs typeface="微软雅黑" panose="020B0503020204020204" charset="-122"/>
              <a:sym typeface="+mn-ea"/>
            </a:endParaRPr>
          </a:p>
          <a:p>
            <a:pPr indent="0" fontAlgn="auto">
              <a:lnSpc>
                <a:spcPct val="100000"/>
              </a:lnSpc>
            </a:pPr>
            <a:r>
              <a:rPr lang="zh-CN" altLang="en-US" sz="1700" dirty="0">
                <a:cs typeface="微软雅黑" panose="020B0503020204020204" charset="-122"/>
                <a:sym typeface="+mn-ea"/>
              </a:rPr>
              <a:t>赵教授：</a:t>
            </a:r>
            <a:r>
              <a:rPr lang="en-US" altLang="zh-CN" sz="1700" dirty="0">
                <a:cs typeface="微软雅黑" panose="020B0503020204020204" charset="-122"/>
                <a:sym typeface="+mn-ea"/>
              </a:rPr>
              <a:t>AI</a:t>
            </a:r>
            <a:r>
              <a:rPr lang="zh-CN" altLang="en-US" sz="1700" dirty="0">
                <a:cs typeface="微软雅黑" panose="020B0503020204020204" charset="-122"/>
                <a:sym typeface="+mn-ea"/>
              </a:rPr>
              <a:t>生成物的著作权应当属于</a:t>
            </a:r>
            <a:r>
              <a:rPr lang="en-US" altLang="zh-CN" sz="1700" dirty="0">
                <a:cs typeface="微软雅黑" panose="020B0503020204020204" charset="-122"/>
                <a:sym typeface="+mn-ea"/>
              </a:rPr>
              <a:t>AI</a:t>
            </a:r>
            <a:r>
              <a:rPr lang="zh-CN" altLang="en-US" sz="1700" dirty="0">
                <a:cs typeface="微软雅黑" panose="020B0503020204020204" charset="-122"/>
                <a:sym typeface="+mn-ea"/>
              </a:rPr>
              <a:t>使用者。实施了创作行为的自然人是原本意义上的</a:t>
            </a:r>
            <a:endParaRPr lang="zh-CN" altLang="en-US" sz="1700" dirty="0">
              <a:cs typeface="微软雅黑" panose="020B0503020204020204" charset="-122"/>
              <a:sym typeface="+mn-ea"/>
            </a:endParaRPr>
          </a:p>
          <a:p>
            <a:pPr indent="0" fontAlgn="auto">
              <a:lnSpc>
                <a:spcPct val="100000"/>
              </a:lnSpc>
            </a:pPr>
            <a:r>
              <a:rPr lang="zh-CN" altLang="en-US" sz="1700" dirty="0">
                <a:cs typeface="微软雅黑" panose="020B0503020204020204" charset="-122"/>
                <a:sym typeface="+mn-ea"/>
              </a:rPr>
              <a:t>著作权主体。</a:t>
            </a:r>
            <a:r>
              <a:rPr lang="en-US" altLang="zh-CN" sz="1700" dirty="0">
                <a:cs typeface="微软雅黑" panose="020B0503020204020204" charset="-122"/>
                <a:sym typeface="+mn-ea"/>
              </a:rPr>
              <a:t>AI</a:t>
            </a:r>
            <a:r>
              <a:rPr lang="zh-CN" altLang="en-US" sz="1700" dirty="0">
                <a:cs typeface="微软雅黑" panose="020B0503020204020204" charset="-122"/>
                <a:sym typeface="+mn-ea"/>
              </a:rPr>
              <a:t>生成物是使用者实施创作行为形成的作品，作为一般规则，使用者基于创作</a:t>
            </a:r>
            <a:endParaRPr lang="zh-CN" altLang="en-US" sz="1700" dirty="0">
              <a:cs typeface="微软雅黑" panose="020B0503020204020204" charset="-122"/>
              <a:sym typeface="+mn-ea"/>
            </a:endParaRPr>
          </a:p>
          <a:p>
            <a:pPr indent="0" fontAlgn="auto">
              <a:lnSpc>
                <a:spcPct val="100000"/>
              </a:lnSpc>
            </a:pPr>
            <a:r>
              <a:rPr lang="zh-CN" altLang="en-US" sz="1700" dirty="0">
                <a:cs typeface="微软雅黑" panose="020B0503020204020204" charset="-122"/>
                <a:sym typeface="+mn-ea"/>
              </a:rPr>
              <a:t>事实成为作者，取得作品著作权。</a:t>
            </a:r>
            <a:endParaRPr lang="zh-CN" altLang="en-US" sz="1700" dirty="0">
              <a:cs typeface="微软雅黑" panose="020B0503020204020204" charset="-122"/>
              <a:sym typeface="+mn-ea"/>
            </a:endParaRPr>
          </a:p>
          <a:p>
            <a:pPr indent="0" fontAlgn="auto">
              <a:lnSpc>
                <a:spcPct val="100000"/>
              </a:lnSpc>
            </a:pPr>
            <a:r>
              <a:rPr lang="zh-CN" altLang="en-US" sz="1700" dirty="0">
                <a:cs typeface="微软雅黑" panose="020B0503020204020204" charset="-122"/>
                <a:sym typeface="+mn-ea"/>
              </a:rPr>
              <a:t>钱研究员：我不同意赵教授的观点。只有作品才有著作权的归属问题，作品应当是人类的智力成果，也只有人的智力活动才能被称为创作。</a:t>
            </a:r>
            <a:r>
              <a:rPr lang="en-US" altLang="zh-CN" sz="1700" dirty="0">
                <a:cs typeface="微软雅黑" panose="020B0503020204020204" charset="-122"/>
                <a:sym typeface="+mn-ea"/>
              </a:rPr>
              <a:t>AI</a:t>
            </a:r>
            <a:r>
              <a:rPr lang="zh-CN" altLang="en-US" sz="1700" dirty="0">
                <a:cs typeface="微软雅黑" panose="020B0503020204020204" charset="-122"/>
                <a:sym typeface="+mn-ea"/>
              </a:rPr>
              <a:t>生成物并非人类作者的智力成果，本就不属于作品，何来著作权归属问题？</a:t>
            </a:r>
            <a:endParaRPr lang="zh-CN" altLang="en-US" sz="1700" dirty="0">
              <a:cs typeface="微软雅黑" panose="020B0503020204020204" charset="-122"/>
              <a:sym typeface="+mn-ea"/>
            </a:endParaRPr>
          </a:p>
          <a:p>
            <a:pPr indent="0" fontAlgn="auto">
              <a:lnSpc>
                <a:spcPct val="100000"/>
              </a:lnSpc>
            </a:pPr>
            <a:r>
              <a:rPr lang="zh-CN" altLang="en-US" sz="1700" dirty="0">
                <a:cs typeface="微软雅黑" panose="020B0503020204020204" charset="-122"/>
                <a:sym typeface="+mn-ea"/>
              </a:rPr>
              <a:t>李工程师：我认为</a:t>
            </a:r>
            <a:r>
              <a:rPr lang="en-US" altLang="zh-CN" sz="1700" dirty="0">
                <a:cs typeface="微软雅黑" panose="020B0503020204020204" charset="-122"/>
                <a:sym typeface="+mn-ea"/>
              </a:rPr>
              <a:t>AI</a:t>
            </a:r>
            <a:r>
              <a:rPr lang="zh-CN" altLang="en-US" sz="1700" dirty="0">
                <a:cs typeface="微软雅黑" panose="020B0503020204020204" charset="-122"/>
                <a:sym typeface="+mn-ea"/>
              </a:rPr>
              <a:t>生成物的著作权应当属于</a:t>
            </a:r>
            <a:r>
              <a:rPr lang="en-US" altLang="zh-CN" sz="1700" dirty="0">
                <a:cs typeface="微软雅黑" panose="020B0503020204020204" charset="-122"/>
                <a:sym typeface="+mn-ea"/>
              </a:rPr>
              <a:t>AI</a:t>
            </a:r>
            <a:r>
              <a:rPr lang="zh-CN" altLang="en-US" sz="1700" dirty="0">
                <a:cs typeface="微软雅黑" panose="020B0503020204020204" charset="-122"/>
                <a:sym typeface="+mn-ea"/>
              </a:rPr>
              <a:t>开发者。因为</a:t>
            </a:r>
            <a:r>
              <a:rPr lang="en-US" altLang="zh-CN" sz="1700" dirty="0">
                <a:cs typeface="微软雅黑" panose="020B0503020204020204" charset="-122"/>
                <a:sym typeface="+mn-ea"/>
              </a:rPr>
              <a:t>AI</a:t>
            </a:r>
            <a:r>
              <a:rPr lang="zh-CN" altLang="en-US" sz="1700" dirty="0">
                <a:cs typeface="微软雅黑" panose="020B0503020204020204" charset="-122"/>
                <a:sym typeface="+mn-ea"/>
              </a:rPr>
              <a:t>开发者负责设计和开发智能系统的算法和模型，这需要其具备机器学习、深度学习和自然语言处理等领域的知识，还需要与他人合作，比如与产品经理合作确定需求、与软件工程师合作实现系统功能等。应用</a:t>
            </a:r>
            <a:r>
              <a:rPr lang="en-US" altLang="zh-CN" sz="1700" dirty="0">
                <a:cs typeface="微软雅黑" panose="020B0503020204020204" charset="-122"/>
                <a:sym typeface="+mn-ea"/>
              </a:rPr>
              <a:t>AI</a:t>
            </a:r>
            <a:r>
              <a:rPr lang="zh-CN" altLang="en-US" sz="1700" dirty="0">
                <a:cs typeface="微软雅黑" panose="020B0503020204020204" charset="-122"/>
                <a:sym typeface="+mn-ea"/>
              </a:rPr>
              <a:t>之后的生成物自然也属于</a:t>
            </a:r>
            <a:r>
              <a:rPr lang="en-US" altLang="zh-CN" sz="1700" dirty="0">
                <a:cs typeface="微软雅黑" panose="020B0503020204020204" charset="-122"/>
                <a:sym typeface="+mn-ea"/>
              </a:rPr>
              <a:t>AI</a:t>
            </a:r>
            <a:r>
              <a:rPr lang="zh-CN" altLang="en-US" sz="1700" dirty="0">
                <a:cs typeface="微软雅黑" panose="020B0503020204020204" charset="-122"/>
                <a:sym typeface="+mn-ea"/>
              </a:rPr>
              <a:t>开发者。</a:t>
            </a:r>
            <a:endParaRPr lang="zh-CN" altLang="en-US" sz="1700" dirty="0">
              <a:cs typeface="微软雅黑" panose="020B0503020204020204" charset="-122"/>
              <a:sym typeface="+mn-ea"/>
            </a:endParaRPr>
          </a:p>
          <a:p>
            <a:pPr indent="0" fontAlgn="auto">
              <a:lnSpc>
                <a:spcPct val="100000"/>
              </a:lnSpc>
            </a:pPr>
            <a:r>
              <a:rPr lang="zh-CN" altLang="en-US" sz="1700" dirty="0">
                <a:cs typeface="微软雅黑" panose="020B0503020204020204" charset="-122"/>
                <a:sym typeface="+mn-ea"/>
              </a:rPr>
              <a:t>孙博士：有些人赞成</a:t>
            </a:r>
            <a:r>
              <a:rPr lang="en-US" altLang="zh-CN" sz="1700" dirty="0">
                <a:cs typeface="微软雅黑" panose="020B0503020204020204" charset="-122"/>
                <a:sym typeface="+mn-ea"/>
              </a:rPr>
              <a:t>AI</a:t>
            </a:r>
            <a:r>
              <a:rPr lang="zh-CN" altLang="en-US" sz="1700" dirty="0">
                <a:cs typeface="微软雅黑" panose="020B0503020204020204" charset="-122"/>
                <a:sym typeface="+mn-ea"/>
              </a:rPr>
              <a:t>生成物的著作权归属于某一主体，是因为他们认为该主体付出了创造性的劳动，如果付出了劳动就要获得权利的话，那么为何参与楼房施工的劳动者没有获得楼房的所有权呢？</a:t>
            </a:r>
            <a:endParaRPr lang="zh-CN" altLang="en-US" sz="1700" dirty="0">
              <a:cs typeface="微软雅黑" panose="020B0503020204020204" charset="-122"/>
              <a:sym typeface="+mn-ea"/>
            </a:endParaRPr>
          </a:p>
          <a:p>
            <a:pPr indent="0" fontAlgn="auto">
              <a:lnSpc>
                <a:spcPct val="100000"/>
              </a:lnSpc>
            </a:pPr>
            <a:endParaRPr lang="en-US" altLang="zh-CN" sz="1700" dirty="0">
              <a:cs typeface="微软雅黑" panose="020B0503020204020204" charset="-122"/>
              <a:sym typeface="+mn-ea"/>
            </a:endParaRPr>
          </a:p>
          <a:p>
            <a:pPr indent="0" fontAlgn="auto">
              <a:lnSpc>
                <a:spcPct val="100000"/>
              </a:lnSpc>
            </a:pPr>
            <a:endParaRPr lang="en-US" altLang="zh-CN" sz="1700" dirty="0">
              <a:cs typeface="微软雅黑" panose="020B0503020204020204" charset="-122"/>
              <a:sym typeface="+mn-ea"/>
            </a:endParaRPr>
          </a:p>
          <a:p>
            <a:pPr indent="0" fontAlgn="auto">
              <a:lnSpc>
                <a:spcPct val="100000"/>
              </a:lnSpc>
            </a:pPr>
            <a:endParaRPr lang="en-US" altLang="zh-CN" sz="1700" dirty="0">
              <a:cs typeface="微软雅黑" panose="020B0503020204020204" charset="-122"/>
              <a:sym typeface="+mn-ea"/>
            </a:endParaRPr>
          </a:p>
          <a:p>
            <a:pPr indent="0" fontAlgn="auto">
              <a:lnSpc>
                <a:spcPct val="100000"/>
              </a:lnSpc>
            </a:pPr>
            <a:endParaRPr lang="en-US" altLang="zh-CN" sz="1700" dirty="0">
              <a:cs typeface="微软雅黑" panose="020B0503020204020204" charset="-122"/>
              <a:sym typeface="+mn-ea"/>
            </a:endParaRPr>
          </a:p>
          <a:p>
            <a:pPr indent="0" fontAlgn="auto">
              <a:lnSpc>
                <a:spcPct val="100000"/>
              </a:lnSpc>
            </a:pPr>
            <a:r>
              <a:rPr lang="en-US" altLang="zh-CN" sz="1700" dirty="0">
                <a:cs typeface="微软雅黑" panose="020B0503020204020204" charset="-122"/>
                <a:sym typeface="+mn-ea"/>
              </a:rPr>
              <a:t>84.</a:t>
            </a:r>
            <a:r>
              <a:rPr lang="zh-CN" altLang="en-US" sz="1700" dirty="0">
                <a:cs typeface="微软雅黑" panose="020B0503020204020204" charset="-122"/>
                <a:sym typeface="+mn-ea"/>
              </a:rPr>
              <a:t>以下哪项是李工程师的论证中存在的问题？（）</a:t>
            </a:r>
            <a:endParaRPr lang="zh-CN" altLang="en-US" sz="1700" dirty="0">
              <a:cs typeface="微软雅黑" panose="020B0503020204020204" charset="-122"/>
              <a:sym typeface="+mn-ea"/>
            </a:endParaRPr>
          </a:p>
          <a:p>
            <a:pPr indent="0" fontAlgn="auto">
              <a:lnSpc>
                <a:spcPct val="100000"/>
              </a:lnSpc>
            </a:pPr>
            <a:r>
              <a:rPr lang="en-US" altLang="zh-CN" sz="1700" dirty="0">
                <a:cs typeface="微软雅黑" panose="020B0503020204020204" charset="-122"/>
                <a:sym typeface="+mn-ea"/>
              </a:rPr>
              <a:t>A.</a:t>
            </a:r>
            <a:r>
              <a:rPr lang="zh-CN" altLang="en-US" sz="1700" dirty="0">
                <a:cs typeface="微软雅黑" panose="020B0503020204020204" charset="-122"/>
                <a:sym typeface="+mn-ea"/>
              </a:rPr>
              <a:t>没有对论证中的关键概念作出明确解释</a:t>
            </a:r>
            <a:endParaRPr lang="zh-CN" altLang="en-US" sz="1700" dirty="0">
              <a:cs typeface="微软雅黑" panose="020B0503020204020204" charset="-122"/>
              <a:sym typeface="+mn-ea"/>
            </a:endParaRPr>
          </a:p>
          <a:p>
            <a:pPr indent="0" fontAlgn="auto">
              <a:lnSpc>
                <a:spcPct val="100000"/>
              </a:lnSpc>
            </a:pPr>
            <a:r>
              <a:rPr lang="en-US" altLang="zh-CN" sz="1700" dirty="0">
                <a:cs typeface="微软雅黑" panose="020B0503020204020204" charset="-122"/>
                <a:sym typeface="+mn-ea"/>
              </a:rPr>
              <a:t>B.</a:t>
            </a:r>
            <a:r>
              <a:rPr lang="zh-CN" altLang="en-US" sz="1700" dirty="0">
                <a:cs typeface="微软雅黑" panose="020B0503020204020204" charset="-122"/>
                <a:sym typeface="+mn-ea"/>
              </a:rPr>
              <a:t>没有对著作权的归属问题作出正面回答</a:t>
            </a:r>
            <a:endParaRPr lang="zh-CN" altLang="en-US" sz="1700" dirty="0">
              <a:cs typeface="微软雅黑" panose="020B0503020204020204" charset="-122"/>
              <a:sym typeface="+mn-ea"/>
            </a:endParaRPr>
          </a:p>
          <a:p>
            <a:pPr indent="0" fontAlgn="auto">
              <a:lnSpc>
                <a:spcPct val="100000"/>
              </a:lnSpc>
            </a:pPr>
            <a:r>
              <a:rPr lang="en-US" altLang="zh-CN" sz="1700" dirty="0">
                <a:cs typeface="微软雅黑" panose="020B0503020204020204" charset="-122"/>
                <a:sym typeface="+mn-ea"/>
              </a:rPr>
              <a:t>C.</a:t>
            </a:r>
            <a:r>
              <a:rPr lang="zh-CN" altLang="en-US" sz="1700" dirty="0">
                <a:cs typeface="微软雅黑" panose="020B0503020204020204" charset="-122"/>
                <a:sym typeface="+mn-ea"/>
              </a:rPr>
              <a:t>夸大了</a:t>
            </a:r>
            <a:r>
              <a:rPr lang="en-US" altLang="zh-CN" sz="1700" dirty="0">
                <a:cs typeface="微软雅黑" panose="020B0503020204020204" charset="-122"/>
                <a:sym typeface="+mn-ea"/>
              </a:rPr>
              <a:t>AI</a:t>
            </a:r>
            <a:r>
              <a:rPr lang="zh-CN" altLang="en-US" sz="1700" dirty="0">
                <a:cs typeface="微软雅黑" panose="020B0503020204020204" charset="-122"/>
                <a:sym typeface="+mn-ea"/>
              </a:rPr>
              <a:t>开发者在</a:t>
            </a:r>
            <a:r>
              <a:rPr lang="en-US" altLang="zh-CN" sz="1700" dirty="0">
                <a:cs typeface="微软雅黑" panose="020B0503020204020204" charset="-122"/>
                <a:sym typeface="+mn-ea"/>
              </a:rPr>
              <a:t>AI</a:t>
            </a:r>
            <a:r>
              <a:rPr lang="zh-CN" altLang="en-US" sz="1700" dirty="0">
                <a:cs typeface="微软雅黑" panose="020B0503020204020204" charset="-122"/>
                <a:sym typeface="+mn-ea"/>
              </a:rPr>
              <a:t>设计开发工作中作出的贡献</a:t>
            </a:r>
            <a:endParaRPr lang="zh-CN" altLang="en-US" sz="1700" dirty="0">
              <a:cs typeface="微软雅黑" panose="020B0503020204020204" charset="-122"/>
              <a:sym typeface="+mn-ea"/>
            </a:endParaRPr>
          </a:p>
          <a:p>
            <a:pPr indent="0" fontAlgn="auto">
              <a:lnSpc>
                <a:spcPct val="100000"/>
              </a:lnSpc>
            </a:pPr>
            <a:r>
              <a:rPr lang="en-US" altLang="zh-CN" sz="1700" dirty="0">
                <a:cs typeface="微软雅黑" panose="020B0503020204020204" charset="-122"/>
                <a:sym typeface="+mn-ea"/>
              </a:rPr>
              <a:t>D.</a:t>
            </a:r>
            <a:r>
              <a:rPr lang="zh-CN" altLang="en-US" sz="1700" dirty="0">
                <a:cs typeface="微软雅黑" panose="020B0503020204020204" charset="-122"/>
                <a:sym typeface="+mn-ea"/>
              </a:rPr>
              <a:t>混淆了</a:t>
            </a:r>
            <a:r>
              <a:rPr lang="en-US" altLang="zh-CN" sz="1700" dirty="0">
                <a:cs typeface="微软雅黑" panose="020B0503020204020204" charset="-122"/>
                <a:sym typeface="+mn-ea"/>
              </a:rPr>
              <a:t>AI</a:t>
            </a:r>
            <a:r>
              <a:rPr lang="zh-CN" altLang="en-US" sz="1700" dirty="0">
                <a:cs typeface="微软雅黑" panose="020B0503020204020204" charset="-122"/>
                <a:sym typeface="+mn-ea"/>
              </a:rPr>
              <a:t>开发者职责与</a:t>
            </a:r>
            <a:r>
              <a:rPr lang="en-US" altLang="zh-CN" sz="1700" dirty="0">
                <a:cs typeface="微软雅黑" panose="020B0503020204020204" charset="-122"/>
                <a:sym typeface="+mn-ea"/>
              </a:rPr>
              <a:t>AI</a:t>
            </a:r>
            <a:r>
              <a:rPr lang="zh-CN" altLang="en-US" sz="1700" dirty="0">
                <a:cs typeface="微软雅黑" panose="020B0503020204020204" charset="-122"/>
                <a:sym typeface="+mn-ea"/>
              </a:rPr>
              <a:t>生成物著作权归属问题</a:t>
            </a:r>
            <a:endParaRPr lang="zh-CN" altLang="en-US" sz="1700" dirty="0">
              <a:cs typeface="微软雅黑" panose="020B0503020204020204" charset="-122"/>
              <a:sym typeface="+mn-ea"/>
            </a:endParaRPr>
          </a:p>
        </p:txBody>
      </p:sp>
      <p:sp>
        <p:nvSpPr>
          <p:cNvPr id="5" name="文本框 4"/>
          <p:cNvSpPr txBox="1"/>
          <p:nvPr/>
        </p:nvSpPr>
        <p:spPr>
          <a:xfrm>
            <a:off x="1104900" y="3909060"/>
            <a:ext cx="10939145" cy="953135"/>
          </a:xfrm>
          <a:prstGeom prst="rect">
            <a:avLst/>
          </a:prstGeom>
          <a:noFill/>
        </p:spPr>
        <p:txBody>
          <a:bodyPr wrap="square" rtlCol="0" anchor="t">
            <a:spAutoFit/>
          </a:bodyPr>
          <a:p>
            <a:pPr indent="0" fontAlgn="auto">
              <a:lnSpc>
                <a:spcPct val="110000"/>
              </a:lnSpc>
            </a:pPr>
            <a:r>
              <a:rPr lang="zh-CN" altLang="en-US" sz="1700" dirty="0">
                <a:solidFill>
                  <a:srgbClr val="FF0000"/>
                </a:solidFill>
                <a:effectLst/>
                <a:cs typeface="楷体" panose="02010609060101010101" charset="-122"/>
                <a:sym typeface="+mn-ea"/>
              </a:rPr>
              <a:t>李工程师论点：</a:t>
            </a:r>
            <a:r>
              <a:rPr lang="en-US" altLang="zh-CN" sz="1700" dirty="0">
                <a:solidFill>
                  <a:srgbClr val="FF0000"/>
                </a:solidFill>
                <a:effectLst/>
                <a:cs typeface="楷体" panose="02010609060101010101" charset="-122"/>
                <a:sym typeface="+mn-ea"/>
              </a:rPr>
              <a:t>AI</a:t>
            </a:r>
            <a:r>
              <a:rPr lang="zh-CN" altLang="en-US" sz="1700" dirty="0">
                <a:solidFill>
                  <a:srgbClr val="FF0000"/>
                </a:solidFill>
                <a:effectLst/>
                <a:cs typeface="楷体" panose="02010609060101010101" charset="-122"/>
                <a:sym typeface="+mn-ea"/>
              </a:rPr>
              <a:t>生成物的著作权应当属于</a:t>
            </a:r>
            <a:r>
              <a:rPr lang="en-US" altLang="zh-CN" sz="1700" dirty="0">
                <a:solidFill>
                  <a:srgbClr val="FF0000"/>
                </a:solidFill>
                <a:effectLst/>
                <a:cs typeface="楷体" panose="02010609060101010101" charset="-122"/>
                <a:sym typeface="+mn-ea"/>
              </a:rPr>
              <a:t>AI</a:t>
            </a:r>
            <a:r>
              <a:rPr lang="zh-CN" altLang="en-US" sz="1700" dirty="0">
                <a:solidFill>
                  <a:srgbClr val="FF0000"/>
                </a:solidFill>
                <a:effectLst/>
                <a:cs typeface="楷体" panose="02010609060101010101" charset="-122"/>
                <a:sym typeface="+mn-ea"/>
              </a:rPr>
              <a:t>开发者。</a:t>
            </a:r>
            <a:endParaRPr lang="zh-CN" altLang="en-US" sz="1700" dirty="0">
              <a:solidFill>
                <a:srgbClr val="FF0000"/>
              </a:solidFill>
              <a:effectLst/>
              <a:cs typeface="楷体" panose="02010609060101010101" charset="-122"/>
              <a:sym typeface="+mn-ea"/>
            </a:endParaRPr>
          </a:p>
          <a:p>
            <a:pPr indent="0" fontAlgn="auto">
              <a:lnSpc>
                <a:spcPct val="110000"/>
              </a:lnSpc>
            </a:pPr>
            <a:r>
              <a:rPr lang="zh-CN" altLang="en-US" sz="1700" dirty="0">
                <a:solidFill>
                  <a:srgbClr val="FF0000"/>
                </a:solidFill>
                <a:effectLst/>
                <a:cs typeface="楷体" panose="02010609060101010101" charset="-122"/>
                <a:sym typeface="+mn-ea"/>
              </a:rPr>
              <a:t>李工程师论据：因为</a:t>
            </a:r>
            <a:r>
              <a:rPr lang="en-US" altLang="zh-CN" sz="1700" dirty="0">
                <a:solidFill>
                  <a:srgbClr val="FF0000"/>
                </a:solidFill>
                <a:effectLst/>
                <a:cs typeface="楷体" panose="02010609060101010101" charset="-122"/>
                <a:sym typeface="+mn-ea"/>
              </a:rPr>
              <a:t>AI</a:t>
            </a:r>
            <a:r>
              <a:rPr lang="zh-CN" altLang="en-US" sz="1700" dirty="0">
                <a:solidFill>
                  <a:srgbClr val="FF0000"/>
                </a:solidFill>
                <a:effectLst/>
                <a:cs typeface="楷体" panose="02010609060101010101" charset="-122"/>
                <a:sym typeface="+mn-ea"/>
              </a:rPr>
              <a:t>开发者负责设计和开发智能系统的算法和模型，这需要其具备机器学习、深度学习和自然语言处理等领域的知识，还需要与他人合作。</a:t>
            </a:r>
            <a:endParaRPr lang="zh-CN" altLang="en-US" sz="1700"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85</a:t>
            </a:r>
            <a:endParaRPr kumimoji="1" lang="en-US" altLang="zh-CN" sz="2800" b="1" dirty="0">
              <a:solidFill>
                <a:srgbClr val="FF653F"/>
              </a:solidFill>
            </a:endParaRPr>
          </a:p>
        </p:txBody>
      </p:sp>
      <p:sp>
        <p:nvSpPr>
          <p:cNvPr id="3" name="文本框 2"/>
          <p:cNvSpPr txBox="1"/>
          <p:nvPr/>
        </p:nvSpPr>
        <p:spPr>
          <a:xfrm>
            <a:off x="285750" y="701675"/>
            <a:ext cx="11630025" cy="5526405"/>
          </a:xfrm>
          <a:prstGeom prst="rect">
            <a:avLst/>
          </a:prstGeom>
          <a:noFill/>
        </p:spPr>
        <p:txBody>
          <a:bodyPr wrap="square" rtlCol="0" anchor="t">
            <a:noAutofit/>
          </a:bodyPr>
          <a:p>
            <a:pPr indent="0" fontAlgn="auto">
              <a:lnSpc>
                <a:spcPct val="100000"/>
              </a:lnSpc>
            </a:pPr>
            <a:r>
              <a:rPr lang="zh-CN" altLang="en-US" sz="1700" dirty="0">
                <a:cs typeface="微软雅黑" panose="020B0503020204020204" charset="-122"/>
                <a:sym typeface="+mn-ea"/>
              </a:rPr>
              <a:t>目前大多数人工智能生成内容（以下简称</a:t>
            </a:r>
            <a:r>
              <a:rPr lang="en-US" altLang="zh-CN" sz="1700" dirty="0">
                <a:cs typeface="微软雅黑" panose="020B0503020204020204" charset="-122"/>
                <a:sym typeface="+mn-ea"/>
              </a:rPr>
              <a:t>AI</a:t>
            </a:r>
            <a:r>
              <a:rPr lang="zh-CN" altLang="en-US" sz="1700" dirty="0">
                <a:cs typeface="微软雅黑" panose="020B0503020204020204" charset="-122"/>
                <a:sym typeface="+mn-ea"/>
              </a:rPr>
              <a:t>生成物）是</a:t>
            </a:r>
            <a:r>
              <a:rPr lang="en-US" altLang="zh-CN" sz="1700" dirty="0">
                <a:cs typeface="微软雅黑" panose="020B0503020204020204" charset="-122"/>
                <a:sym typeface="+mn-ea"/>
              </a:rPr>
              <a:t>AI</a:t>
            </a:r>
            <a:r>
              <a:rPr lang="zh-CN" altLang="en-US" sz="1700" dirty="0">
                <a:cs typeface="微软雅黑" panose="020B0503020204020204" charset="-122"/>
                <a:sym typeface="+mn-ea"/>
              </a:rPr>
              <a:t>工具在人类智力劳动参与下生成的。</a:t>
            </a:r>
            <a:endParaRPr lang="zh-CN" altLang="en-US" sz="1700" dirty="0">
              <a:cs typeface="微软雅黑" panose="020B0503020204020204" charset="-122"/>
              <a:sym typeface="+mn-ea"/>
            </a:endParaRPr>
          </a:p>
          <a:p>
            <a:pPr indent="0" fontAlgn="auto">
              <a:lnSpc>
                <a:spcPct val="100000"/>
              </a:lnSpc>
            </a:pPr>
            <a:r>
              <a:rPr lang="zh-CN" altLang="en-US" sz="1700" dirty="0">
                <a:cs typeface="微软雅黑" panose="020B0503020204020204" charset="-122"/>
                <a:sym typeface="+mn-ea"/>
              </a:rPr>
              <a:t>对于</a:t>
            </a:r>
            <a:r>
              <a:rPr lang="en-US" altLang="zh-CN" sz="1700" dirty="0">
                <a:cs typeface="微软雅黑" panose="020B0503020204020204" charset="-122"/>
                <a:sym typeface="+mn-ea"/>
              </a:rPr>
              <a:t>AI</a:t>
            </a:r>
            <a:r>
              <a:rPr lang="zh-CN" altLang="en-US" sz="1700" dirty="0">
                <a:cs typeface="微软雅黑" panose="020B0503020204020204" charset="-122"/>
                <a:sym typeface="+mn-ea"/>
              </a:rPr>
              <a:t>生成物的著作权归属问题，存在着极大的争议，下面是一些与此有关的看法：</a:t>
            </a:r>
            <a:endParaRPr lang="zh-CN" altLang="en-US" sz="1700" dirty="0">
              <a:cs typeface="微软雅黑" panose="020B0503020204020204" charset="-122"/>
              <a:sym typeface="+mn-ea"/>
            </a:endParaRPr>
          </a:p>
          <a:p>
            <a:pPr indent="0" fontAlgn="auto">
              <a:lnSpc>
                <a:spcPct val="100000"/>
              </a:lnSpc>
            </a:pPr>
            <a:r>
              <a:rPr lang="zh-CN" altLang="en-US" sz="1700" dirty="0">
                <a:cs typeface="微软雅黑" panose="020B0503020204020204" charset="-122"/>
                <a:sym typeface="+mn-ea"/>
              </a:rPr>
              <a:t>赵教授：</a:t>
            </a:r>
            <a:r>
              <a:rPr lang="en-US" altLang="zh-CN" sz="1700" dirty="0">
                <a:cs typeface="微软雅黑" panose="020B0503020204020204" charset="-122"/>
                <a:sym typeface="+mn-ea"/>
              </a:rPr>
              <a:t>AI</a:t>
            </a:r>
            <a:r>
              <a:rPr lang="zh-CN" altLang="en-US" sz="1700" dirty="0">
                <a:cs typeface="微软雅黑" panose="020B0503020204020204" charset="-122"/>
                <a:sym typeface="+mn-ea"/>
              </a:rPr>
              <a:t>生成物的著作权应当属于</a:t>
            </a:r>
            <a:r>
              <a:rPr lang="en-US" altLang="zh-CN" sz="1700" dirty="0">
                <a:cs typeface="微软雅黑" panose="020B0503020204020204" charset="-122"/>
                <a:sym typeface="+mn-ea"/>
              </a:rPr>
              <a:t>AI</a:t>
            </a:r>
            <a:r>
              <a:rPr lang="zh-CN" altLang="en-US" sz="1700" dirty="0">
                <a:cs typeface="微软雅黑" panose="020B0503020204020204" charset="-122"/>
                <a:sym typeface="+mn-ea"/>
              </a:rPr>
              <a:t>使用者。实施了创作行为的自然人是原本意义上的著作</a:t>
            </a:r>
            <a:endParaRPr lang="zh-CN" altLang="en-US" sz="1700" dirty="0">
              <a:cs typeface="微软雅黑" panose="020B0503020204020204" charset="-122"/>
              <a:sym typeface="+mn-ea"/>
            </a:endParaRPr>
          </a:p>
          <a:p>
            <a:pPr indent="0" fontAlgn="auto">
              <a:lnSpc>
                <a:spcPct val="100000"/>
              </a:lnSpc>
            </a:pPr>
            <a:r>
              <a:rPr lang="zh-CN" altLang="en-US" sz="1700" dirty="0">
                <a:cs typeface="微软雅黑" panose="020B0503020204020204" charset="-122"/>
                <a:sym typeface="+mn-ea"/>
              </a:rPr>
              <a:t>权主体。</a:t>
            </a:r>
            <a:r>
              <a:rPr lang="en-US" altLang="zh-CN" sz="1700" dirty="0">
                <a:cs typeface="微软雅黑" panose="020B0503020204020204" charset="-122"/>
                <a:sym typeface="+mn-ea"/>
              </a:rPr>
              <a:t>AI</a:t>
            </a:r>
            <a:r>
              <a:rPr lang="zh-CN" altLang="en-US" sz="1700" dirty="0">
                <a:cs typeface="微软雅黑" panose="020B0503020204020204" charset="-122"/>
                <a:sym typeface="+mn-ea"/>
              </a:rPr>
              <a:t>生成物是使用者实施创作行为形成的作品，作为一般规则，使用者基于创作事实成</a:t>
            </a:r>
            <a:endParaRPr lang="zh-CN" altLang="en-US" sz="1700" dirty="0">
              <a:cs typeface="微软雅黑" panose="020B0503020204020204" charset="-122"/>
              <a:sym typeface="+mn-ea"/>
            </a:endParaRPr>
          </a:p>
          <a:p>
            <a:pPr indent="0" fontAlgn="auto">
              <a:lnSpc>
                <a:spcPct val="100000"/>
              </a:lnSpc>
            </a:pPr>
            <a:r>
              <a:rPr lang="zh-CN" altLang="en-US" sz="1700" dirty="0">
                <a:cs typeface="微软雅黑" panose="020B0503020204020204" charset="-122"/>
                <a:sym typeface="+mn-ea"/>
              </a:rPr>
              <a:t>为作者，取得作品著作权。</a:t>
            </a:r>
            <a:endParaRPr lang="zh-CN" altLang="en-US" sz="1700" dirty="0">
              <a:cs typeface="微软雅黑" panose="020B0503020204020204" charset="-122"/>
              <a:sym typeface="+mn-ea"/>
            </a:endParaRPr>
          </a:p>
          <a:p>
            <a:pPr indent="0" fontAlgn="auto">
              <a:lnSpc>
                <a:spcPct val="100000"/>
              </a:lnSpc>
            </a:pPr>
            <a:r>
              <a:rPr lang="zh-CN" altLang="en-US" sz="1700" dirty="0">
                <a:cs typeface="微软雅黑" panose="020B0503020204020204" charset="-122"/>
                <a:sym typeface="+mn-ea"/>
              </a:rPr>
              <a:t>钱研究员：我不同意赵教授的观点。只有作品才有著作权的归属问题，作品应当是人类的智力成果，也只有人的智力活动才能被称为创作。</a:t>
            </a:r>
            <a:r>
              <a:rPr lang="en-US" altLang="zh-CN" sz="1700" dirty="0">
                <a:cs typeface="微软雅黑" panose="020B0503020204020204" charset="-122"/>
                <a:sym typeface="+mn-ea"/>
              </a:rPr>
              <a:t>AI</a:t>
            </a:r>
            <a:r>
              <a:rPr lang="zh-CN" altLang="en-US" sz="1700" dirty="0">
                <a:cs typeface="微软雅黑" panose="020B0503020204020204" charset="-122"/>
                <a:sym typeface="+mn-ea"/>
              </a:rPr>
              <a:t>生成物并非人类作者的智力成果，本就不属于作品，何来著作权归属问题？</a:t>
            </a:r>
            <a:endParaRPr lang="zh-CN" altLang="en-US" sz="1700" dirty="0">
              <a:cs typeface="微软雅黑" panose="020B0503020204020204" charset="-122"/>
              <a:sym typeface="+mn-ea"/>
            </a:endParaRPr>
          </a:p>
          <a:p>
            <a:pPr indent="0" fontAlgn="auto">
              <a:lnSpc>
                <a:spcPct val="100000"/>
              </a:lnSpc>
            </a:pPr>
            <a:r>
              <a:rPr lang="zh-CN" altLang="en-US" sz="1700" dirty="0">
                <a:cs typeface="微软雅黑" panose="020B0503020204020204" charset="-122"/>
                <a:sym typeface="+mn-ea"/>
              </a:rPr>
              <a:t>李工程师：我认为</a:t>
            </a:r>
            <a:r>
              <a:rPr lang="en-US" altLang="zh-CN" sz="1700" dirty="0">
                <a:cs typeface="微软雅黑" panose="020B0503020204020204" charset="-122"/>
                <a:sym typeface="+mn-ea"/>
              </a:rPr>
              <a:t>AI</a:t>
            </a:r>
            <a:r>
              <a:rPr lang="zh-CN" altLang="en-US" sz="1700" dirty="0">
                <a:cs typeface="微软雅黑" panose="020B0503020204020204" charset="-122"/>
                <a:sym typeface="+mn-ea"/>
              </a:rPr>
              <a:t>生成物的著作权应当属于</a:t>
            </a:r>
            <a:r>
              <a:rPr lang="en-US" altLang="zh-CN" sz="1700" dirty="0">
                <a:cs typeface="微软雅黑" panose="020B0503020204020204" charset="-122"/>
                <a:sym typeface="+mn-ea"/>
              </a:rPr>
              <a:t>AI</a:t>
            </a:r>
            <a:r>
              <a:rPr lang="zh-CN" altLang="en-US" sz="1700" dirty="0">
                <a:cs typeface="微软雅黑" panose="020B0503020204020204" charset="-122"/>
                <a:sym typeface="+mn-ea"/>
              </a:rPr>
              <a:t>开发者。因为</a:t>
            </a:r>
            <a:r>
              <a:rPr lang="en-US" altLang="zh-CN" sz="1700" dirty="0">
                <a:cs typeface="微软雅黑" panose="020B0503020204020204" charset="-122"/>
                <a:sym typeface="+mn-ea"/>
              </a:rPr>
              <a:t>AI</a:t>
            </a:r>
            <a:r>
              <a:rPr lang="zh-CN" altLang="en-US" sz="1700" dirty="0">
                <a:cs typeface="微软雅黑" panose="020B0503020204020204" charset="-122"/>
                <a:sym typeface="+mn-ea"/>
              </a:rPr>
              <a:t>开发者负责设计和开发智能系统的算法和模型，这需要其具备机器学习、深度学习和自然语言处理等领域的知识，还需要与他人合作，比如与产品经理合作确定需求、与软件工程师合作实现系统功能等。应用</a:t>
            </a:r>
            <a:r>
              <a:rPr lang="en-US" altLang="zh-CN" sz="1700" dirty="0">
                <a:cs typeface="微软雅黑" panose="020B0503020204020204" charset="-122"/>
                <a:sym typeface="+mn-ea"/>
              </a:rPr>
              <a:t>AI</a:t>
            </a:r>
            <a:r>
              <a:rPr lang="zh-CN" altLang="en-US" sz="1700" dirty="0">
                <a:cs typeface="微软雅黑" panose="020B0503020204020204" charset="-122"/>
                <a:sym typeface="+mn-ea"/>
              </a:rPr>
              <a:t>之后的生成物自然也属于</a:t>
            </a:r>
            <a:r>
              <a:rPr lang="en-US" altLang="zh-CN" sz="1700" dirty="0">
                <a:cs typeface="微软雅黑" panose="020B0503020204020204" charset="-122"/>
                <a:sym typeface="+mn-ea"/>
              </a:rPr>
              <a:t>AI</a:t>
            </a:r>
            <a:r>
              <a:rPr lang="zh-CN" altLang="en-US" sz="1700" dirty="0">
                <a:cs typeface="微软雅黑" panose="020B0503020204020204" charset="-122"/>
                <a:sym typeface="+mn-ea"/>
              </a:rPr>
              <a:t>开发者。</a:t>
            </a:r>
            <a:endParaRPr lang="zh-CN" altLang="en-US" sz="1700" dirty="0">
              <a:cs typeface="微软雅黑" panose="020B0503020204020204" charset="-122"/>
              <a:sym typeface="+mn-ea"/>
            </a:endParaRPr>
          </a:p>
          <a:p>
            <a:pPr indent="0" fontAlgn="auto">
              <a:lnSpc>
                <a:spcPct val="100000"/>
              </a:lnSpc>
            </a:pPr>
            <a:r>
              <a:rPr lang="zh-CN" altLang="en-US" sz="1700" dirty="0">
                <a:cs typeface="微软雅黑" panose="020B0503020204020204" charset="-122"/>
                <a:sym typeface="+mn-ea"/>
              </a:rPr>
              <a:t>孙博士：有些人赞成</a:t>
            </a:r>
            <a:r>
              <a:rPr lang="en-US" altLang="zh-CN" sz="1700" dirty="0">
                <a:cs typeface="微软雅黑" panose="020B0503020204020204" charset="-122"/>
                <a:sym typeface="+mn-ea"/>
              </a:rPr>
              <a:t>AI</a:t>
            </a:r>
            <a:r>
              <a:rPr lang="zh-CN" altLang="en-US" sz="1700" dirty="0">
                <a:cs typeface="微软雅黑" panose="020B0503020204020204" charset="-122"/>
                <a:sym typeface="+mn-ea"/>
              </a:rPr>
              <a:t>生成物的著作权归属于某一主体，是因为他们认为该主体付出了创造性的劳动，如果付出了劳动就要获得权利的话，那么为何参与楼房施工的劳动者没有获得楼房的所有权呢？</a:t>
            </a:r>
            <a:endParaRPr lang="zh-CN" altLang="en-US" sz="1700" dirty="0">
              <a:cs typeface="微软雅黑" panose="020B0503020204020204" charset="-122"/>
              <a:sym typeface="+mn-ea"/>
            </a:endParaRPr>
          </a:p>
          <a:p>
            <a:pPr indent="0" fontAlgn="auto">
              <a:lnSpc>
                <a:spcPct val="100000"/>
              </a:lnSpc>
            </a:pPr>
            <a:endParaRPr lang="en-US" altLang="zh-CN" sz="1700" dirty="0">
              <a:cs typeface="微软雅黑" panose="020B0503020204020204" charset="-122"/>
              <a:sym typeface="+mn-ea"/>
            </a:endParaRPr>
          </a:p>
          <a:p>
            <a:pPr indent="0" fontAlgn="auto">
              <a:lnSpc>
                <a:spcPct val="100000"/>
              </a:lnSpc>
            </a:pPr>
            <a:endParaRPr lang="en-US" altLang="zh-CN" sz="1700" dirty="0">
              <a:cs typeface="微软雅黑" panose="020B0503020204020204" charset="-122"/>
              <a:sym typeface="+mn-ea"/>
            </a:endParaRPr>
          </a:p>
          <a:p>
            <a:pPr indent="0" fontAlgn="auto">
              <a:lnSpc>
                <a:spcPct val="100000"/>
              </a:lnSpc>
            </a:pPr>
            <a:endParaRPr lang="en-US" altLang="zh-CN" sz="1700" dirty="0">
              <a:cs typeface="微软雅黑" panose="020B0503020204020204" charset="-122"/>
              <a:sym typeface="+mn-ea"/>
            </a:endParaRPr>
          </a:p>
          <a:p>
            <a:pPr indent="0" fontAlgn="auto">
              <a:lnSpc>
                <a:spcPct val="100000"/>
              </a:lnSpc>
            </a:pPr>
            <a:r>
              <a:rPr lang="en-US" altLang="zh-CN" sz="1700" dirty="0">
                <a:cs typeface="微软雅黑" panose="020B0503020204020204" charset="-122"/>
                <a:sym typeface="+mn-ea"/>
              </a:rPr>
              <a:t>85.</a:t>
            </a:r>
            <a:r>
              <a:rPr lang="zh-CN" altLang="en-US" sz="1700" dirty="0">
                <a:cs typeface="微软雅黑" panose="020B0503020204020204" charset="-122"/>
                <a:sym typeface="+mn-ea"/>
              </a:rPr>
              <a:t>下列选项中，与孙博士犯了类似论证错误但观点相反的是（）。</a:t>
            </a:r>
            <a:endParaRPr lang="zh-CN" altLang="en-US" sz="1700" dirty="0">
              <a:cs typeface="微软雅黑" panose="020B0503020204020204" charset="-122"/>
              <a:sym typeface="+mn-ea"/>
            </a:endParaRPr>
          </a:p>
          <a:p>
            <a:pPr indent="0" fontAlgn="auto">
              <a:lnSpc>
                <a:spcPct val="100000"/>
              </a:lnSpc>
            </a:pPr>
            <a:r>
              <a:rPr lang="en-US" altLang="zh-CN" sz="1700" dirty="0">
                <a:cs typeface="微软雅黑" panose="020B0503020204020204" charset="-122"/>
                <a:sym typeface="+mn-ea"/>
              </a:rPr>
              <a:t>A.</a:t>
            </a:r>
            <a:r>
              <a:rPr lang="zh-CN" altLang="en-US" sz="1700" dirty="0">
                <a:cs typeface="微软雅黑" panose="020B0503020204020204" charset="-122"/>
                <a:sym typeface="+mn-ea"/>
              </a:rPr>
              <a:t>如果</a:t>
            </a:r>
            <a:r>
              <a:rPr lang="en-US" altLang="zh-CN" sz="1700" dirty="0">
                <a:cs typeface="微软雅黑" panose="020B0503020204020204" charset="-122"/>
                <a:sym typeface="+mn-ea"/>
              </a:rPr>
              <a:t>AI</a:t>
            </a:r>
            <a:r>
              <a:rPr lang="zh-CN" altLang="en-US" sz="1700" dirty="0">
                <a:cs typeface="微软雅黑" panose="020B0503020204020204" charset="-122"/>
                <a:sym typeface="+mn-ea"/>
              </a:rPr>
              <a:t>生成付出创造性劳动的主体不止一个主体，那么这些人是否都应当获得</a:t>
            </a:r>
            <a:r>
              <a:rPr lang="en-US" altLang="zh-CN" sz="1700" dirty="0">
                <a:cs typeface="微软雅黑" panose="020B0503020204020204" charset="-122"/>
                <a:sym typeface="+mn-ea"/>
              </a:rPr>
              <a:t>AI</a:t>
            </a:r>
            <a:r>
              <a:rPr lang="zh-CN" altLang="en-US" sz="1700" dirty="0">
                <a:cs typeface="微软雅黑" panose="020B0503020204020204" charset="-122"/>
                <a:sym typeface="+mn-ea"/>
              </a:rPr>
              <a:t>生成的著作权呢？</a:t>
            </a:r>
            <a:endParaRPr lang="zh-CN" altLang="en-US" sz="1700" dirty="0">
              <a:cs typeface="微软雅黑" panose="020B0503020204020204" charset="-122"/>
              <a:sym typeface="+mn-ea"/>
            </a:endParaRPr>
          </a:p>
          <a:p>
            <a:pPr indent="0" fontAlgn="auto">
              <a:lnSpc>
                <a:spcPct val="100000"/>
              </a:lnSpc>
            </a:pPr>
            <a:r>
              <a:rPr lang="en-US" altLang="zh-CN" sz="1700" dirty="0">
                <a:cs typeface="微软雅黑" panose="020B0503020204020204" charset="-122"/>
                <a:sym typeface="+mn-ea"/>
              </a:rPr>
              <a:t>B.</a:t>
            </a:r>
            <a:r>
              <a:rPr lang="zh-CN" altLang="en-US" sz="1700" dirty="0">
                <a:cs typeface="微软雅黑" panose="020B0503020204020204" charset="-122"/>
                <a:sym typeface="+mn-ea"/>
              </a:rPr>
              <a:t>假如付出创造性的劳动却还不能获得</a:t>
            </a:r>
            <a:r>
              <a:rPr lang="en-US" altLang="zh-CN" sz="1700" dirty="0">
                <a:cs typeface="微软雅黑" panose="020B0503020204020204" charset="-122"/>
                <a:sym typeface="+mn-ea"/>
              </a:rPr>
              <a:t>AI</a:t>
            </a:r>
            <a:r>
              <a:rPr lang="zh-CN" altLang="en-US" sz="1700" dirty="0">
                <a:cs typeface="微软雅黑" panose="020B0503020204020204" charset="-122"/>
                <a:sym typeface="+mn-ea"/>
              </a:rPr>
              <a:t>生成物的著作权，那么为什么辛勤耕作的农民可以享有农作物的收获呢？</a:t>
            </a:r>
            <a:endParaRPr lang="zh-CN" altLang="en-US" sz="1700" dirty="0">
              <a:cs typeface="微软雅黑" panose="020B0503020204020204" charset="-122"/>
              <a:sym typeface="+mn-ea"/>
            </a:endParaRPr>
          </a:p>
          <a:p>
            <a:pPr indent="0" fontAlgn="auto">
              <a:lnSpc>
                <a:spcPct val="100000"/>
              </a:lnSpc>
            </a:pPr>
            <a:r>
              <a:rPr lang="en-US" altLang="zh-CN" sz="1700" dirty="0">
                <a:cs typeface="微软雅黑" panose="020B0503020204020204" charset="-122"/>
                <a:sym typeface="+mn-ea"/>
              </a:rPr>
              <a:t>C.</a:t>
            </a:r>
            <a:r>
              <a:rPr lang="zh-CN" altLang="en-US" sz="1700" dirty="0">
                <a:cs typeface="微软雅黑" panose="020B0503020204020204" charset="-122"/>
                <a:sym typeface="+mn-ea"/>
              </a:rPr>
              <a:t>国家颁布了很多法律法规来规范小说、电影等著作权的归属，为什么不能同样来规范</a:t>
            </a:r>
            <a:r>
              <a:rPr lang="en-US" altLang="zh-CN" sz="1700" dirty="0">
                <a:cs typeface="微软雅黑" panose="020B0503020204020204" charset="-122"/>
                <a:sym typeface="+mn-ea"/>
              </a:rPr>
              <a:t>AI</a:t>
            </a:r>
            <a:r>
              <a:rPr lang="zh-CN" altLang="en-US" sz="1700" dirty="0">
                <a:cs typeface="微软雅黑" panose="020B0503020204020204" charset="-122"/>
                <a:sym typeface="+mn-ea"/>
              </a:rPr>
              <a:t>生成物的著作权归属呢？</a:t>
            </a:r>
            <a:endParaRPr lang="zh-CN" altLang="en-US" sz="1700" dirty="0">
              <a:cs typeface="微软雅黑" panose="020B0503020204020204" charset="-122"/>
              <a:sym typeface="+mn-ea"/>
            </a:endParaRPr>
          </a:p>
          <a:p>
            <a:pPr indent="0" fontAlgn="auto">
              <a:lnSpc>
                <a:spcPct val="100000"/>
              </a:lnSpc>
            </a:pPr>
            <a:r>
              <a:rPr lang="en-US" altLang="zh-CN" sz="1700" dirty="0">
                <a:cs typeface="微软雅黑" panose="020B0503020204020204" charset="-122"/>
                <a:sym typeface="+mn-ea"/>
              </a:rPr>
              <a:t>D.</a:t>
            </a:r>
            <a:r>
              <a:rPr lang="zh-CN" altLang="en-US" sz="1700" dirty="0">
                <a:cs typeface="微软雅黑" panose="020B0503020204020204" charset="-122"/>
                <a:sym typeface="+mn-ea"/>
              </a:rPr>
              <a:t>其他著作权拥有者都因付出创造性劳动获得了著作权，为什么对</a:t>
            </a:r>
            <a:r>
              <a:rPr lang="en-US" altLang="zh-CN" sz="1700" dirty="0">
                <a:cs typeface="微软雅黑" panose="020B0503020204020204" charset="-122"/>
                <a:sym typeface="+mn-ea"/>
              </a:rPr>
              <a:t>AI</a:t>
            </a:r>
            <a:r>
              <a:rPr lang="zh-CN" altLang="en-US" sz="1700" dirty="0">
                <a:cs typeface="微软雅黑" panose="020B0503020204020204" charset="-122"/>
                <a:sym typeface="+mn-ea"/>
              </a:rPr>
              <a:t>生成物付出创造性劳动的主体不能获得著作权呢？</a:t>
            </a:r>
            <a:endParaRPr lang="zh-CN" altLang="en-US" sz="1700" dirty="0">
              <a:cs typeface="微软雅黑" panose="020B0503020204020204" charset="-122"/>
              <a:sym typeface="+mn-ea"/>
            </a:endParaRPr>
          </a:p>
        </p:txBody>
      </p:sp>
      <p:sp>
        <p:nvSpPr>
          <p:cNvPr id="5" name="文本框 4"/>
          <p:cNvSpPr txBox="1"/>
          <p:nvPr/>
        </p:nvSpPr>
        <p:spPr>
          <a:xfrm>
            <a:off x="1104900" y="3891915"/>
            <a:ext cx="10939145" cy="395605"/>
          </a:xfrm>
          <a:prstGeom prst="rect">
            <a:avLst/>
          </a:prstGeom>
          <a:noFill/>
        </p:spPr>
        <p:txBody>
          <a:bodyPr wrap="square" rtlCol="0" anchor="t">
            <a:spAutoFit/>
          </a:bodyPr>
          <a:p>
            <a:pPr indent="0" fontAlgn="auto">
              <a:lnSpc>
                <a:spcPct val="110000"/>
              </a:lnSpc>
            </a:pPr>
            <a:r>
              <a:rPr lang="zh-CN" altLang="en-US" dirty="0">
                <a:solidFill>
                  <a:srgbClr val="FF0000"/>
                </a:solidFill>
                <a:effectLst/>
                <a:cs typeface="楷体" panose="02010609060101010101" charset="-122"/>
                <a:sym typeface="+mn-ea"/>
              </a:rPr>
              <a:t>孙博士证明</a:t>
            </a:r>
            <a:r>
              <a:rPr lang="en-US" altLang="zh-CN" dirty="0">
                <a:solidFill>
                  <a:srgbClr val="FF0000"/>
                </a:solidFill>
                <a:effectLst/>
                <a:cs typeface="楷体" panose="02010609060101010101" charset="-122"/>
                <a:sym typeface="+mn-ea"/>
              </a:rPr>
              <a:t>AI</a:t>
            </a:r>
            <a:r>
              <a:rPr lang="zh-CN" altLang="en-US" dirty="0">
                <a:solidFill>
                  <a:srgbClr val="FF0000"/>
                </a:solidFill>
                <a:effectLst/>
                <a:cs typeface="楷体" panose="02010609060101010101" charset="-122"/>
                <a:sym typeface="+mn-ea"/>
              </a:rPr>
              <a:t>生成物的主体付出劳动没有著作权，是依据楼房施工的主体付出劳动没有所有权，</a:t>
            </a:r>
            <a:endParaRPr lang="zh-CN" altLang="en-US"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8392</Words>
  <Application>WPS 演示</Application>
  <PresentationFormat>宽屏</PresentationFormat>
  <Paragraphs>395</Paragraphs>
  <Slides>37</Slides>
  <Notes>4</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37</vt:i4>
      </vt:variant>
    </vt:vector>
  </HeadingPairs>
  <TitlesOfParts>
    <vt:vector size="47" baseType="lpstr">
      <vt:lpstr>Arial</vt:lpstr>
      <vt:lpstr>宋体</vt:lpstr>
      <vt:lpstr>Wingdings</vt:lpstr>
      <vt:lpstr>微软雅黑</vt:lpstr>
      <vt:lpstr>微软雅黑 Light</vt:lpstr>
      <vt:lpstr>Wingdings</vt:lpstr>
      <vt:lpstr>Arial Unicode MS</vt:lpstr>
      <vt:lpstr>楷体</vt:lpstr>
      <vt:lpstr>Office 主题​​</vt:lpstr>
      <vt:lpstr>WPS</vt:lpstr>
      <vt:lpstr>PowerPoint 演示文稿</vt:lpstr>
      <vt:lpstr>题51</vt:lpstr>
      <vt:lpstr>题52</vt:lpstr>
      <vt:lpstr>题53</vt:lpstr>
      <vt:lpstr>题54</vt:lpstr>
      <vt:lpstr>题55</vt:lpstr>
      <vt:lpstr>题56</vt:lpstr>
      <vt:lpstr>题57</vt:lpstr>
      <vt:lpstr>题58</vt:lpstr>
      <vt:lpstr>题59</vt:lpstr>
      <vt:lpstr>题60</vt:lpstr>
      <vt:lpstr>题61</vt:lpstr>
      <vt:lpstr>题62</vt:lpstr>
      <vt:lpstr>题63</vt:lpstr>
      <vt:lpstr>题64</vt:lpstr>
      <vt:lpstr>题65</vt:lpstr>
      <vt:lpstr>题66</vt:lpstr>
      <vt:lpstr>题67</vt:lpstr>
      <vt:lpstr>题68</vt:lpstr>
      <vt:lpstr>题69</vt:lpstr>
      <vt:lpstr>题70</vt:lpstr>
      <vt:lpstr>题71</vt:lpstr>
      <vt:lpstr>题72</vt:lpstr>
      <vt:lpstr>题73</vt:lpstr>
      <vt:lpstr>题74</vt:lpstr>
      <vt:lpstr>题75</vt:lpstr>
      <vt:lpstr>题76</vt:lpstr>
      <vt:lpstr>题77</vt:lpstr>
      <vt:lpstr>题78</vt:lpstr>
      <vt:lpstr>题79</vt:lpstr>
      <vt:lpstr>题80</vt:lpstr>
      <vt:lpstr>题81</vt:lpstr>
      <vt:lpstr>题82</vt:lpstr>
      <vt:lpstr>题83</vt:lpstr>
      <vt:lpstr>题84</vt:lpstr>
      <vt:lpstr>题85</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197</cp:revision>
  <dcterms:created xsi:type="dcterms:W3CDTF">2019-06-19T02:08:00Z</dcterms:created>
  <dcterms:modified xsi:type="dcterms:W3CDTF">2025-08-07T02:41:20Z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7E0F0589F6D94CFE8A4BC2AEA01394FF_11</vt:lpwstr>
  </property>
</Properties>
</file>