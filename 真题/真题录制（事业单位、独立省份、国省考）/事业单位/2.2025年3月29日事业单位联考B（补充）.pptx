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Lst>
  <p:notesMasterIdLst>
    <p:notesMasterId r:id="rId5"/>
  </p:notesMasterIdLst>
  <p:handoutMasterIdLst>
    <p:handoutMasterId r:id="rId22"/>
  </p:handoutMasterIdLst>
  <p:sldIdLst>
    <p:sldId id="629" r:id="rId4"/>
    <p:sldId id="424" r:id="rId6"/>
    <p:sldId id="1361" r:id="rId7"/>
    <p:sldId id="1362" r:id="rId8"/>
    <p:sldId id="1363" r:id="rId9"/>
    <p:sldId id="1364" r:id="rId10"/>
    <p:sldId id="1365" r:id="rId11"/>
    <p:sldId id="1366" r:id="rId12"/>
    <p:sldId id="1367" r:id="rId13"/>
    <p:sldId id="1368" r:id="rId14"/>
    <p:sldId id="1369" r:id="rId15"/>
    <p:sldId id="1370" r:id="rId16"/>
    <p:sldId id="1371" r:id="rId17"/>
    <p:sldId id="1372" r:id="rId18"/>
    <p:sldId id="1373" r:id="rId19"/>
    <p:sldId id="1376" r:id="rId20"/>
    <p:sldId id="992" r:id="rId21"/>
  </p:sldIdLst>
  <p:sldSz cx="12192000" cy="6858000"/>
  <p:notesSz cx="6858000" cy="9144000"/>
  <p:custDataLst>
    <p:tags r:id="rId2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1"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1"/>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gs" Target="tags/tag31.xml"/><Relationship Id="rId26" Type="http://schemas.openxmlformats.org/officeDocument/2006/relationships/commentAuthors" Target="commentAuthors.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【解析】元素组成相同，但无明显位置规律。观察发现，每幅图中均有一个正方形，且为黑色正方形、白色正方形交替出现，故？处应选择包含一个白色正方形的图形，只有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【解析】元素组成不同，且无明显属性规律，优先考虑数量规律。观察发现，题干中出现杂乱的面及嵌套图形，优先考虑笔画数。题干每幅图均为一笔画图形，故？处应选择一笔画图形，只有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【解析】元素组成相似，对题干图形相邻比较发现，图</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只有第一行不同，图</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只有第二行不同，图</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只有第三行不同，图</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与图</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只有第四行不同。以此类推，？处应选择一个与图</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只有第五行不同的图形，只有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项符合。</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【解析】资源化原则定义的关键信息：将废弃物用来生产新产品。</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项，将工业废水进行净化处理达标后再排放到河流中，没有生产新产品，不符合定</a:t>
            </a:r>
            <a:r>
              <a:rPr lang="zh-CN" altLang="en-US" sz="1200" kern="1200" dirty="0">
                <a:solidFill>
                  <a:schemeClr val="tx1"/>
                </a:solidFill>
                <a:effectLst/>
                <a:latin typeface="+mn-lt"/>
                <a:sym typeface="+mn-ea"/>
              </a:rPr>
              <a:t>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项，将闲置冰箱通过二手交易平台进行销售，没有生产新产品，不符合定义。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项，将商家所提供的包装袋当作购物袋反复使用，没有生产新产品，不符合定义。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项，旧床单等是废弃物，将其分类再加工制成再生纤维，即生产了新产品，符合定</a:t>
            </a:r>
            <a:r>
              <a:rPr lang="zh-CN" altLang="en-US" sz="1200" kern="1200" dirty="0">
                <a:solidFill>
                  <a:schemeClr val="tx1"/>
                </a:solidFill>
                <a:effectLst/>
                <a:latin typeface="+mn-lt"/>
                <a:sym typeface="+mn-ea"/>
              </a:rPr>
              <a:t>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【解析】泛娱乐化定义的关键信息：把历史、新闻、体育等进行娱乐化</a:t>
            </a:r>
            <a:r>
              <a:rPr lang="zh-CN" altLang="en-US" sz="1200" kern="1200" dirty="0">
                <a:solidFill>
                  <a:schemeClr val="tx1"/>
                </a:solidFill>
                <a:effectLst/>
                <a:latin typeface="+mn-lt"/>
                <a:sym typeface="+mn-ea"/>
              </a:rPr>
              <a:t>修饰，以突出或增加其娱乐性，人为降低其严肃性、真实性的行为。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项，战争题材属于严肃的历史或现实内容，通过</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指断刺刀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等明显违背现实的夸张情节，突出其神勇，降低了历史的真实性和严肃性，符合定义。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项，节目本身定位为娱乐性质，未涉及历史、新闻、体育等内容，不属于泛娱乐化。</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项，高温红色预警关系民生，属于严肃的新闻事件，一些媒体用娱乐化的标题进行</a:t>
            </a:r>
            <a:r>
              <a:rPr lang="zh-CN" altLang="en-US" sz="1200" kern="1200" dirty="0">
                <a:solidFill>
                  <a:schemeClr val="tx1"/>
                </a:solidFill>
                <a:effectLst/>
                <a:latin typeface="+mn-lt"/>
                <a:sym typeface="+mn-ea"/>
              </a:rPr>
              <a:t>报道，降低了新闻的严肃性，符合定义。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项，秦始皇生平属于历史内容，将其他朝代帝王的故事拼凑到秦始皇身上，增强了</a:t>
            </a:r>
            <a:r>
              <a:rPr lang="zh-CN" altLang="en-US" sz="1200" kern="1200" dirty="0">
                <a:solidFill>
                  <a:schemeClr val="tx1"/>
                </a:solidFill>
                <a:effectLst/>
                <a:latin typeface="+mn-lt"/>
                <a:sym typeface="+mn-ea"/>
              </a:rPr>
              <a:t>其娱乐性，降低了其真实性，符合定义。</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【解析】实证分析定义的关键信息：在观察事实的基础上，研究经济现</a:t>
            </a:r>
            <a:r>
              <a:rPr lang="zh-CN" altLang="en-US" sz="1200" kern="1200" dirty="0">
                <a:solidFill>
                  <a:schemeClr val="tx1"/>
                </a:solidFill>
                <a:effectLst/>
                <a:latin typeface="+mn-lt"/>
                <a:sym typeface="+mn-ea"/>
              </a:rPr>
              <a:t>象及其相互之间的客观规律，对有关现象将来会出现的情况做出预测。规范分析定义的关</a:t>
            </a:r>
            <a:r>
              <a:rPr lang="zh-CN" altLang="en-US" sz="1200" kern="1200" dirty="0">
                <a:solidFill>
                  <a:schemeClr val="tx1"/>
                </a:solidFill>
                <a:effectLst/>
                <a:latin typeface="+mn-lt"/>
                <a:sym typeface="+mn-ea"/>
              </a:rPr>
              <a:t>键信息：</a:t>
            </a:r>
            <a:r>
              <a:rPr lang="zh-CN" altLang="en-US" sz="1200" kern="1200" dirty="0">
                <a:solidFill>
                  <a:schemeClr val="tx1"/>
                </a:solidFill>
                <a:effectLst/>
                <a:latin typeface="+mn-lt"/>
                <a:sym typeface="+mn-ea"/>
              </a:rPr>
              <a:t>以一定的价值判断为出发点，提出行为标准，探讨和研究怎样才能符合这些标准</a:t>
            </a:r>
            <a:r>
              <a:rPr lang="zh-CN" altLang="en-US" sz="1200" kern="1200" dirty="0">
                <a:solidFill>
                  <a:schemeClr val="tx1"/>
                </a:solidFill>
                <a:effectLst/>
                <a:latin typeface="+mn-lt"/>
                <a:sym typeface="+mn-ea"/>
              </a:rPr>
              <a:t>的理论和政策。</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项，研究的是经济制度变迁的案例，案例是已经发生的事实，不涉及价值判断，属</a:t>
            </a:r>
            <a:r>
              <a:rPr lang="zh-CN" altLang="en-US" sz="1200" kern="1200" dirty="0">
                <a:solidFill>
                  <a:schemeClr val="tx1"/>
                </a:solidFill>
                <a:effectLst/>
                <a:latin typeface="+mn-lt"/>
                <a:sym typeface="+mn-ea"/>
              </a:rPr>
              <a:t>于实证分析。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项，研究的是企业的社会责任准则，需以价值判断为基础探讨企业的社会责任，属</a:t>
            </a:r>
            <a:r>
              <a:rPr lang="zh-CN" altLang="en-US" sz="1200" kern="1200" dirty="0">
                <a:solidFill>
                  <a:schemeClr val="tx1"/>
                </a:solidFill>
                <a:effectLst/>
                <a:latin typeface="+mn-lt"/>
                <a:sym typeface="+mn-ea"/>
              </a:rPr>
              <a:t>于规范分析。主要是从价值判断出发，探讨企业应该遵循什么样的社会责任标准，属于规范分析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项，研究的是企业垄断行为的规制，一般会涉及以公平、效率等价值判断为基础，</a:t>
            </a:r>
            <a:r>
              <a:rPr lang="zh-CN" altLang="en-US" sz="1200" kern="1200" dirty="0">
                <a:solidFill>
                  <a:schemeClr val="tx1"/>
                </a:solidFill>
                <a:effectLst/>
                <a:latin typeface="+mn-lt"/>
                <a:sym typeface="+mn-ea"/>
              </a:rPr>
              <a:t>属于规范分析。探讨如何规制企业垄断行为，以符合一定的标准，属于规范分析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项，研究的是低收入群体社保政策，涉及资源分配的公平性，需以价值判断为基础，</a:t>
            </a:r>
            <a:r>
              <a:rPr lang="zh-CN" altLang="en-US" sz="1200" kern="1200" dirty="0">
                <a:solidFill>
                  <a:schemeClr val="tx1"/>
                </a:solidFill>
                <a:effectLst/>
                <a:latin typeface="+mn-lt"/>
                <a:sym typeface="+mn-ea"/>
              </a:rPr>
              <a:t>属于规范分析。往往会以保障低收入群体权益、促进社会公平等价值判断为出发点，研究如何制定和完善社保政策，属于规范分析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B</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【解析】对讲机和测温计都属于工具，二者为全异关系，且都是根据功能命名的。</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项，礼品袋是一种包装袋，二者为包含关系，与题干关系不一致。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项，散热器和碎纸机都属于工具，二者是全异关系，且都是根据功能命名的，与题</a:t>
            </a:r>
            <a:r>
              <a:rPr lang="zh-CN" altLang="en-US" sz="1200" kern="1200" dirty="0">
                <a:solidFill>
                  <a:schemeClr val="tx1"/>
                </a:solidFill>
                <a:effectLst/>
                <a:latin typeface="+mn-lt"/>
                <a:sym typeface="+mn-ea"/>
              </a:rPr>
              <a:t>干关系一致。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项，刹车片和汽油泵都是汽车的组成部分，二者为全异关系，但汽油是汽油泵的工作对象，而不是功能，与题干关系不一致。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项，打火机和高压锅都属于工具，二者是全异关系，但高压是高压锅的烹饪原理，</a:t>
            </a:r>
            <a:r>
              <a:rPr lang="zh-CN" altLang="en-US" sz="1200" kern="1200" dirty="0">
                <a:solidFill>
                  <a:schemeClr val="tx1"/>
                </a:solidFill>
                <a:effectLst/>
                <a:latin typeface="+mn-lt"/>
                <a:sym typeface="+mn-ea"/>
              </a:rPr>
              <a:t>并不是功能，与题干关系不一致。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汽油泵的作用是将汽油从油箱中吸出，并经管路和汽油滤清器压送到化油器的浮子室内。正是由于有了汽油泵，汽油箱才能安放到远离发动机的汽车尾部，并低于发动机。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高压锅又叫压力锅，压力煲，是一种厨房的锅具。压力锅通过液体在较高气压下沸点会提升这一物理现象，使水可以达到较高温度而不沸腾，以加快炖煮食物的效率。用它可以将被蒸煮的食物加热到</a:t>
            </a:r>
            <a:r>
              <a:rPr lang="en-US" altLang="zh-CN" sz="1200" kern="1200" dirty="0">
                <a:solidFill>
                  <a:schemeClr val="tx1"/>
                </a:solidFill>
                <a:effectLst/>
                <a:latin typeface="+mn-lt"/>
                <a:sym typeface="+mn-ea"/>
              </a:rPr>
              <a:t>100</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以上，在高海拔地区，利用压力锅可避免水沸点降低而不易煮熟食物的问题。</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【解析】题干意思是：死后并不一定要埋葬在自己的故乡，因为祖国到处都是秀丽的山河，都可以作为安息的地方。因为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人生何处不青山</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埋骨何须桑</a:t>
            </a:r>
            <a:r>
              <a:rPr lang="zh-CN" altLang="en-US" sz="1200" kern="1200" dirty="0">
                <a:solidFill>
                  <a:schemeClr val="tx1"/>
                </a:solidFill>
                <a:effectLst/>
                <a:latin typeface="+mn-lt"/>
                <a:sym typeface="+mn-ea"/>
              </a:rPr>
              <a:t>梓地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项，意思是：历经无数的磨难和打击身骨仍然坚劲，任凭你刮东西南北风。二者不</a:t>
            </a:r>
            <a:r>
              <a:rPr lang="zh-CN" altLang="en-US" sz="1200" kern="1200" dirty="0">
                <a:solidFill>
                  <a:schemeClr val="tx1"/>
                </a:solidFill>
                <a:effectLst/>
                <a:latin typeface="+mn-lt"/>
                <a:sym typeface="+mn-ea"/>
              </a:rPr>
              <a:t>存在因果关系，与题干关系不一致。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项，意思是：绵延不断的五岭在红军看来只不过是微波细浪在起伏；气势雄伟的乌</a:t>
            </a:r>
            <a:r>
              <a:rPr lang="zh-CN" altLang="en-US" sz="1200" kern="1200" dirty="0">
                <a:solidFill>
                  <a:schemeClr val="tx1"/>
                </a:solidFill>
                <a:effectLst/>
                <a:latin typeface="+mn-lt"/>
                <a:sym typeface="+mn-ea"/>
              </a:rPr>
              <a:t>蒙山在红军眼里也不过是一颗泥丸。二者为并列结构，与题干关系不一致。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项，意思是：我僵直地躺在偏僻荒凉的村庄里，却并不自怨自怜，因为心中仍然想着替国家守卫边疆。因为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尚思为国戍轮台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，所以</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僵卧孤村不自哀</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，二者为因果关系，</a:t>
            </a:r>
            <a:r>
              <a:rPr lang="zh-CN" altLang="en-US" sz="1200" kern="1200" dirty="0">
                <a:solidFill>
                  <a:schemeClr val="tx1"/>
                </a:solidFill>
                <a:effectLst/>
                <a:latin typeface="+mn-lt"/>
                <a:sym typeface="+mn-ea"/>
              </a:rPr>
              <a:t>与题干关系一致。以直白语言展现作者年老体衰仍心系国家的思想主旨</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项，意思是：枝头的柳絮被风吹得日渐稀疏，可天地之间到处都有青翠的芳草。二</a:t>
            </a:r>
            <a:r>
              <a:rPr lang="zh-CN" altLang="en-US" sz="1200" kern="1200" dirty="0">
                <a:solidFill>
                  <a:schemeClr val="tx1"/>
                </a:solidFill>
                <a:effectLst/>
                <a:latin typeface="+mn-lt"/>
                <a:sym typeface="+mn-ea"/>
              </a:rPr>
              <a:t>者不存在因果关系，与题干关系不一致。描绘春光流逝的必然规律，既暗喻人生挫折的普遍性，又表达逆境中保持希望的处世智慧。词人借芳草意象隐喻人生机遇的广泛存在，体现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此心安处是吾乡</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的豁达思想</a:t>
            </a:r>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【解析】直拳、勾拳和摆拳是不同的击拳方式，三者为全异关系。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项，合唱和对唱是两种不同的声乐演唱形式，二者为全异关系，弹唱是表演者同时</a:t>
            </a:r>
            <a:r>
              <a:rPr lang="zh-CN" altLang="en-US" sz="1200" kern="1200" dirty="0">
                <a:solidFill>
                  <a:schemeClr val="tx1"/>
                </a:solidFill>
                <a:effectLst/>
                <a:latin typeface="+mn-lt"/>
                <a:sym typeface="+mn-ea"/>
              </a:rPr>
              <a:t>进行乐器演奏和歌唱，其形式灵活，可独奏或多人合作，故弹唱与合唱和对唱分别构成交</a:t>
            </a:r>
            <a:r>
              <a:rPr lang="zh-CN" altLang="en-US" sz="1200" kern="1200" dirty="0">
                <a:solidFill>
                  <a:schemeClr val="tx1"/>
                </a:solidFill>
                <a:effectLst/>
                <a:latin typeface="+mn-lt"/>
                <a:sym typeface="+mn-ea"/>
              </a:rPr>
              <a:t>叉关系，与题干关系不一致。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项，演说是指公开表明自己的观点；劝说是劝人做某种事情或对某种事情表示同意，</a:t>
            </a:r>
            <a:r>
              <a:rPr lang="zh-CN" altLang="en-US" sz="1200" kern="1200" dirty="0">
                <a:solidFill>
                  <a:schemeClr val="tx1"/>
                </a:solidFill>
                <a:effectLst/>
                <a:latin typeface="+mn-lt"/>
                <a:sym typeface="+mn-ea"/>
              </a:rPr>
              <a:t>劝说可以是演说，也可以不是演说，二者为交叉关系，与题干关系不一致。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项，仰视、俯视和平视是不同的观察角度，三者为全异关系，与题干关系一致。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项，狂想和空想是近义关系，冥想与二者无明显关系，与题干关系不一致。</a:t>
            </a:r>
            <a:r>
              <a:rPr lang="zh-CN" altLang="en-US" sz="1200" kern="1200" dirty="0">
                <a:solidFill>
                  <a:schemeClr val="tx1"/>
                </a:solidFill>
                <a:effectLst/>
                <a:latin typeface="+mn-lt"/>
                <a:sym typeface="+mn-ea"/>
              </a:rPr>
              <a:t>冥想，作为一种源远流长的身心修行方法，旨在通过特定的方式让个体达到深度的宁静与专注状态。狂想是汉语复合词，其核心义项为</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不切实际的幻想或空想</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。空想不切实际的想法。</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D</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【解析】重视研发和保护专利都有助于鼓励创新。</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项，合理运动和健康饮食有助于增肌塑形，但词项顺序与题干不同，与题干关系不</a:t>
            </a:r>
            <a:r>
              <a:rPr lang="zh-CN" altLang="en-US" sz="1200" kern="1200" dirty="0">
                <a:solidFill>
                  <a:schemeClr val="tx1"/>
                </a:solidFill>
                <a:effectLst/>
                <a:latin typeface="+mn-lt"/>
                <a:sym typeface="+mn-ea"/>
              </a:rPr>
              <a:t>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项，增加光照、疏松土壤均有助于驱虫祛害，与题干关系一致。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项，降水增加可能会导致冻土融化，冻土融化可能会导致道路坍塌，与题干关系不</a:t>
            </a:r>
            <a:r>
              <a:rPr lang="zh-CN" altLang="en-US" sz="1200" kern="1200" dirty="0">
                <a:solidFill>
                  <a:schemeClr val="tx1"/>
                </a:solidFill>
                <a:effectLst/>
                <a:latin typeface="+mn-lt"/>
                <a:sym typeface="+mn-ea"/>
              </a:rPr>
              <a:t>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项，扩大内需和增加出口均有助于推动发展，与题干关系一致。</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比较</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两项，题干的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鼓励创新</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和</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项的</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推动发展</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均是动宾结构，</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a:t>
            </a:r>
            <a:r>
              <a:rPr lang="zh-CN" altLang="en-US" sz="1200" kern="1200" dirty="0">
                <a:solidFill>
                  <a:schemeClr val="tx1"/>
                </a:solidFill>
                <a:effectLst/>
                <a:latin typeface="+mn-lt"/>
                <a:sym typeface="+mn-ea"/>
              </a:rPr>
              <a:t>驱虫祛害是并列结构，因此</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项与题干关系更相似。因此本题选</a:t>
            </a:r>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【解析】题干推理关系：</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主题教育取得实实在在的成效</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在主题教育</a:t>
            </a:r>
            <a:r>
              <a:rPr lang="zh-CN" altLang="en-US" sz="1200" kern="1200" dirty="0">
                <a:solidFill>
                  <a:schemeClr val="tx1"/>
                </a:solidFill>
                <a:effectLst/>
                <a:latin typeface="+mn-lt"/>
                <a:sym typeface="+mn-ea"/>
              </a:rPr>
              <a:t>中推动树立和践行正确的政绩观；</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树立和践行正确的政绩观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党员干部保证党性坚强；</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在日常工作中做出科学的决策、正确的选择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深刻领会正确政绩观的丰富内涵和实践要</a:t>
            </a:r>
            <a:r>
              <a:rPr lang="zh-CN" altLang="en-US" sz="1200" kern="1200" dirty="0">
                <a:solidFill>
                  <a:schemeClr val="tx1"/>
                </a:solidFill>
                <a:effectLst/>
                <a:latin typeface="+mn-lt"/>
                <a:sym typeface="+mn-ea"/>
              </a:rPr>
              <a:t>求且进一步增强树立和践行正确政绩观的思想自觉、政治自觉、行动自觉。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项，推理关系：党员干部不能保证党性坚强</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无法树立和践行正确的政绩观，否定</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的后件，可以推出否定的前件，正确。</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项，推理关系：在主题教育中推动树立和践行正确的政绩观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主题教育取得实实在</a:t>
            </a:r>
            <a:r>
              <a:rPr lang="zh-CN" altLang="en-US" sz="1200" kern="1200" dirty="0">
                <a:solidFill>
                  <a:schemeClr val="tx1"/>
                </a:solidFill>
                <a:effectLst/>
                <a:latin typeface="+mn-lt"/>
                <a:sym typeface="+mn-ea"/>
              </a:rPr>
              <a:t>在的成效，肯定</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的后件不能进行有效推理，无法推出肯定的前件，排除。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项，推理关系：深刻领会正确政绩观的丰富内涵和实践要求</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在日常工作中做出科</a:t>
            </a:r>
            <a:r>
              <a:rPr lang="zh-CN" altLang="en-US" sz="1200" kern="1200" dirty="0">
                <a:solidFill>
                  <a:schemeClr val="tx1"/>
                </a:solidFill>
                <a:effectLst/>
                <a:latin typeface="+mn-lt"/>
                <a:sym typeface="+mn-ea"/>
              </a:rPr>
              <a:t>学的决策、正确的选择，肯定</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的后件不能进行有效推理，无法推出肯定的前件，排除。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项，推理关系：不能在日常工作中做出科学的决策、正确的选择</a:t>
            </a:r>
            <a:r>
              <a:rPr lang="en-US"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不能进一步增强</a:t>
            </a:r>
            <a:r>
              <a:rPr lang="zh-CN" altLang="en-US" sz="1200" kern="1200" dirty="0">
                <a:solidFill>
                  <a:schemeClr val="tx1"/>
                </a:solidFill>
                <a:effectLst/>
                <a:latin typeface="+mn-lt"/>
                <a:sym typeface="+mn-ea"/>
              </a:rPr>
              <a:t>树立和践行正确的政绩观的思想自觉、政治自觉、行动自觉，否定</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的前件不能进行有效</a:t>
            </a:r>
            <a:r>
              <a:rPr lang="zh-CN" altLang="en-US" sz="1200" kern="1200" dirty="0">
                <a:solidFill>
                  <a:schemeClr val="tx1"/>
                </a:solidFill>
                <a:effectLst/>
                <a:latin typeface="+mn-lt"/>
                <a:sym typeface="+mn-ea"/>
              </a:rPr>
              <a:t>推理，无法推出否定的后件，排除。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【解析】题干结论：一座城市具有发展动力，优越的区域位置并非必不</a:t>
            </a:r>
            <a:r>
              <a:rPr lang="zh-CN" altLang="en-US" sz="1200" kern="1200" dirty="0">
                <a:solidFill>
                  <a:schemeClr val="tx1"/>
                </a:solidFill>
                <a:effectLst/>
                <a:latin typeface="+mn-lt"/>
                <a:sym typeface="+mn-ea"/>
              </a:rPr>
              <a:t>可少的条件。题干论据：很多创新城市虽然不具有优越的区域位置，但在基础经济、产业、</a:t>
            </a:r>
            <a:r>
              <a:rPr lang="zh-CN" altLang="en-US" sz="1200" kern="1200" dirty="0">
                <a:solidFill>
                  <a:schemeClr val="tx1"/>
                </a:solidFill>
                <a:effectLst/>
                <a:latin typeface="+mn-lt"/>
                <a:sym typeface="+mn-ea"/>
              </a:rPr>
              <a:t>人口等方面各具优势。题干论据说的是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创新城市在基础经济、产业、人口等方面各具优</a:t>
            </a:r>
            <a:r>
              <a:rPr lang="zh-CN" altLang="en-US" sz="1200" kern="1200" dirty="0">
                <a:solidFill>
                  <a:schemeClr val="tx1"/>
                </a:solidFill>
                <a:effectLst/>
                <a:latin typeface="+mn-lt"/>
                <a:sym typeface="+mn-ea"/>
              </a:rPr>
              <a:t>势</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，结论说的是</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具有发展动力</a:t>
            </a:r>
            <a:r>
              <a:rPr lang="en-US" altLang="zh-CN" sz="1200" kern="1200" dirty="0">
                <a:solidFill>
                  <a:schemeClr val="tx1"/>
                </a:solidFill>
                <a:effectLst/>
                <a:latin typeface="+mn-lt"/>
                <a:sym typeface="+mn-ea"/>
              </a:rPr>
              <a:t>”</a:t>
            </a:r>
            <a:r>
              <a:rPr lang="zh-CN" altLang="en-US" sz="1200" kern="1200" dirty="0">
                <a:solidFill>
                  <a:schemeClr val="tx1"/>
                </a:solidFill>
                <a:effectLst/>
                <a:latin typeface="+mn-lt"/>
                <a:sym typeface="+mn-ea"/>
              </a:rPr>
              <a:t>，二者之间存在跳跃，补充的前提要在二者之间建立联</a:t>
            </a:r>
            <a:r>
              <a:rPr lang="zh-CN" altLang="en-US" sz="1200" kern="1200" dirty="0">
                <a:solidFill>
                  <a:schemeClr val="tx1"/>
                </a:solidFill>
                <a:effectLst/>
                <a:latin typeface="+mn-lt"/>
                <a:sym typeface="+mn-ea"/>
              </a:rPr>
              <a:t>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项，说的是区域位置优越与创新城市的关系，与优越的区域位置是不是城市具有发</a:t>
            </a:r>
            <a:r>
              <a:rPr lang="zh-CN" altLang="en-US" sz="1200" kern="1200" dirty="0">
                <a:solidFill>
                  <a:schemeClr val="tx1"/>
                </a:solidFill>
                <a:effectLst/>
                <a:latin typeface="+mn-lt"/>
                <a:sym typeface="+mn-ea"/>
              </a:rPr>
              <a:t>展动力的必不可少的条件无关，不是需要补充的前提。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项，说的是优越区域位置与发展动力的关系，与基础经济、产业、人口等方面各具</a:t>
            </a:r>
            <a:r>
              <a:rPr lang="zh-CN" altLang="en-US" sz="1200" kern="1200" dirty="0">
                <a:solidFill>
                  <a:schemeClr val="tx1"/>
                </a:solidFill>
                <a:effectLst/>
                <a:latin typeface="+mn-lt"/>
                <a:sym typeface="+mn-ea"/>
              </a:rPr>
              <a:t>优势的创新城市无关，不能在论据和结论之间建立联系，不是需要补充的前提。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项，指出在基础经济、产业、人口等方面各具优势的创新城市也有发展动力，因此</a:t>
            </a:r>
            <a:r>
              <a:rPr lang="zh-CN" altLang="en-US" sz="1200" kern="1200" dirty="0">
                <a:solidFill>
                  <a:schemeClr val="tx1"/>
                </a:solidFill>
                <a:effectLst/>
                <a:latin typeface="+mn-lt"/>
                <a:sym typeface="+mn-ea"/>
              </a:rPr>
              <a:t>优越的区域位置并非城市具有发展动力必不可少的条件，在论据和结论之间建立了联系，</a:t>
            </a:r>
            <a:r>
              <a:rPr lang="zh-CN" altLang="en-US" sz="1200" kern="1200" dirty="0">
                <a:solidFill>
                  <a:schemeClr val="tx1"/>
                </a:solidFill>
                <a:effectLst/>
                <a:latin typeface="+mn-lt"/>
                <a:sym typeface="+mn-ea"/>
              </a:rPr>
              <a:t>是需要补充的前提。</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项，指出一些在基础经济、产业、人口等方面有优势的城市没能找到独特的经济发</a:t>
            </a:r>
            <a:r>
              <a:rPr lang="zh-CN" altLang="en-US" sz="1200" kern="1200" dirty="0">
                <a:solidFill>
                  <a:schemeClr val="tx1"/>
                </a:solidFill>
                <a:effectLst/>
                <a:latin typeface="+mn-lt"/>
                <a:sym typeface="+mn-ea"/>
              </a:rPr>
              <a:t>展方式，与发展动力无关，不能在论据和结论之间建立联系，不是需要补充的前提。</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【解析】题干条件整理为：</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任意两人均只有</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题同时答错；</a:t>
            </a:r>
            <a:r>
              <a:rPr lang="en-US" altLang="en-US" sz="1200" kern="1200" dirty="0">
                <a:solidFill>
                  <a:schemeClr val="tx1"/>
                </a:solidFill>
                <a:effectLst/>
                <a:latin typeface="+mn-lt"/>
                <a:sym typeface="+mn-ea"/>
              </a:rPr>
              <a:t>②</a:t>
            </a:r>
            <a:r>
              <a:rPr lang="zh-CN" altLang="en-US" sz="1200" kern="1200" dirty="0">
                <a:solidFill>
                  <a:schemeClr val="tx1"/>
                </a:solidFill>
                <a:effectLst/>
                <a:latin typeface="+mn-lt"/>
                <a:sym typeface="+mn-ea"/>
              </a:rPr>
              <a:t>每题均</a:t>
            </a:r>
            <a:r>
              <a:rPr lang="zh-CN" altLang="en-US" sz="1200" kern="1200" dirty="0">
                <a:solidFill>
                  <a:schemeClr val="tx1"/>
                </a:solidFill>
                <a:effectLst/>
                <a:latin typeface="+mn-lt"/>
                <a:sym typeface="+mn-ea"/>
              </a:rPr>
              <a:t>有人答对；</a:t>
            </a:r>
            <a:r>
              <a:rPr lang="en-US" altLang="en-US" sz="1200" kern="1200" dirty="0">
                <a:solidFill>
                  <a:schemeClr val="tx1"/>
                </a:solidFill>
                <a:effectLst/>
                <a:latin typeface="+mn-lt"/>
                <a:sym typeface="+mn-ea"/>
              </a:rPr>
              <a:t>③</a:t>
            </a:r>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题仅陈答错；</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题仅丁答对；</a:t>
            </a:r>
            <a:r>
              <a:rPr lang="en-US" altLang="en-US" sz="1200" kern="1200" dirty="0">
                <a:solidFill>
                  <a:schemeClr val="tx1"/>
                </a:solidFill>
                <a:effectLst/>
                <a:latin typeface="+mn-lt"/>
                <a:sym typeface="+mn-ea"/>
              </a:rPr>
              <a:t>⑤</a:t>
            </a:r>
            <a:r>
              <a:rPr lang="zh-CN" altLang="en-US" sz="1200" kern="1200" dirty="0">
                <a:solidFill>
                  <a:schemeClr val="tx1"/>
                </a:solidFill>
                <a:effectLst/>
                <a:latin typeface="+mn-lt"/>
                <a:sym typeface="+mn-ea"/>
              </a:rPr>
              <a:t>王仅答对第</a:t>
            </a:r>
            <a:r>
              <a:rPr lang="en-US" altLang="zh-CN" sz="1200" kern="1200" dirty="0">
                <a:solidFill>
                  <a:schemeClr val="tx1"/>
                </a:solidFill>
                <a:effectLst/>
                <a:latin typeface="+mn-lt"/>
                <a:sym typeface="+mn-ea"/>
              </a:rPr>
              <a:t>2</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4</a:t>
            </a:r>
            <a:r>
              <a:rPr lang="zh-CN" altLang="en-US" sz="1200" kern="1200" dirty="0">
                <a:solidFill>
                  <a:schemeClr val="tx1"/>
                </a:solidFill>
                <a:effectLst/>
                <a:latin typeface="+mn-lt"/>
                <a:sym typeface="+mn-ea"/>
              </a:rPr>
              <a:t>两题。</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根据</a:t>
            </a:r>
            <a:r>
              <a:rPr lang="en-US" altLang="en-US" sz="1200" kern="1200" dirty="0">
                <a:solidFill>
                  <a:schemeClr val="tx1"/>
                </a:solidFill>
                <a:effectLst/>
                <a:latin typeface="+mn-lt"/>
                <a:sym typeface="+mn-ea"/>
              </a:rPr>
              <a:t>④</a:t>
            </a:r>
            <a:r>
              <a:rPr lang="zh-CN" altLang="en-US" sz="1200" kern="1200" dirty="0">
                <a:solidFill>
                  <a:schemeClr val="tx1"/>
                </a:solidFill>
                <a:effectLst/>
                <a:latin typeface="+mn-lt"/>
                <a:sym typeface="+mn-ea"/>
              </a:rPr>
              <a:t>可知，陈和王第</a:t>
            </a:r>
            <a:r>
              <a:rPr lang="en-US" altLang="zh-CN" sz="1200" kern="1200" dirty="0">
                <a:solidFill>
                  <a:schemeClr val="tx1"/>
                </a:solidFill>
                <a:effectLst/>
                <a:latin typeface="+mn-lt"/>
                <a:sym typeface="+mn-ea"/>
              </a:rPr>
              <a:t>6</a:t>
            </a:r>
            <a:r>
              <a:rPr lang="zh-CN" altLang="en-US" sz="1200" kern="1200" dirty="0">
                <a:solidFill>
                  <a:schemeClr val="tx1"/>
                </a:solidFill>
                <a:effectLst/>
                <a:latin typeface="+mn-lt"/>
                <a:sym typeface="+mn-ea"/>
              </a:rPr>
              <a:t>题均答错，结合</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可知，陈第</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5</a:t>
            </a:r>
            <a:r>
              <a:rPr lang="zh-CN" altLang="en-US" sz="1200" kern="1200" dirty="0">
                <a:solidFill>
                  <a:schemeClr val="tx1"/>
                </a:solidFill>
                <a:effectLst/>
                <a:latin typeface="+mn-lt"/>
                <a:sym typeface="+mn-ea"/>
              </a:rPr>
              <a:t>题均答对，可列表如下：</a:t>
            </a:r>
            <a:endParaRPr lang="zh-CN" altLang="en-US" sz="1200" kern="1200" dirty="0">
              <a:solidFill>
                <a:schemeClr val="tx1"/>
              </a:solidFill>
              <a:effectLst/>
              <a:latin typeface="+mn-lt"/>
              <a:sym typeface="+mn-ea"/>
            </a:endParaRPr>
          </a:p>
          <a:p>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由上表结合</a:t>
            </a:r>
            <a:r>
              <a:rPr lang="en-US" altLang="en-US" sz="1200" kern="1200" dirty="0">
                <a:solidFill>
                  <a:schemeClr val="tx1"/>
                </a:solidFill>
                <a:effectLst/>
                <a:latin typeface="+mn-lt"/>
                <a:sym typeface="+mn-ea"/>
              </a:rPr>
              <a:t>①</a:t>
            </a:r>
            <a:r>
              <a:rPr lang="zh-CN" altLang="en-US" sz="1200" kern="1200" dirty="0">
                <a:solidFill>
                  <a:schemeClr val="tx1"/>
                </a:solidFill>
                <a:effectLst/>
                <a:latin typeface="+mn-lt"/>
                <a:sym typeface="+mn-ea"/>
              </a:rPr>
              <a:t>可知，第二题陈和丁均答错。因此本题选</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项，题干仅说明实验组两个班级的平均成绩均提高，无法得</a:t>
            </a:r>
            <a:r>
              <a:rPr lang="zh-CN" altLang="en-US" sz="1200" kern="1200" dirty="0">
                <a:solidFill>
                  <a:schemeClr val="tx1"/>
                </a:solidFill>
                <a:effectLst/>
                <a:latin typeface="+mn-lt"/>
                <a:sym typeface="+mn-ea"/>
              </a:rPr>
              <a:t>到每位同学成绩均提高了，该项不能推出。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项，题干仅说明实验组和对照组平均成绩提高的分数，并未给出实验前各个班级的</a:t>
            </a:r>
            <a:r>
              <a:rPr lang="zh-CN" altLang="en-US" sz="1200" kern="1200" dirty="0">
                <a:solidFill>
                  <a:schemeClr val="tx1"/>
                </a:solidFill>
                <a:effectLst/>
                <a:latin typeface="+mn-lt"/>
                <a:sym typeface="+mn-ea"/>
              </a:rPr>
              <a:t>成绩，因此无法计算两组学生的总成绩，该项不能推出。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项，甲班和乙班的平均成绩提高了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分，其中，甲班平均成绩提高了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分，乙班平</a:t>
            </a:r>
            <a:r>
              <a:rPr lang="zh-CN" altLang="en-US" sz="1200" kern="1200" dirty="0">
                <a:solidFill>
                  <a:schemeClr val="tx1"/>
                </a:solidFill>
                <a:effectLst/>
                <a:latin typeface="+mn-lt"/>
                <a:sym typeface="+mn-ea"/>
              </a:rPr>
              <a:t>均成绩提高了</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分，假设甲班学生人数为</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乙班学生人数为</a:t>
            </a:r>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a:t>
            </a:r>
            <a:r>
              <a:rPr lang="zh-CN" altLang="en-US" sz="1200" kern="1200" dirty="0">
                <a:solidFill>
                  <a:schemeClr val="tx1"/>
                </a:solidFill>
                <a:effectLst/>
                <a:latin typeface="+mn-lt"/>
                <a:sym typeface="+mn-ea"/>
              </a:rPr>
              <a:t>由题干可得（</a:t>
            </a:r>
            <a:r>
              <a:rPr lang="en-US" altLang="zh-CN" sz="1200" kern="1200" dirty="0">
                <a:solidFill>
                  <a:schemeClr val="tx1"/>
                </a:solidFill>
                <a:effectLst/>
                <a:latin typeface="+mn-lt"/>
                <a:sym typeface="+mn-ea"/>
              </a:rPr>
              <a:t>a+b</a:t>
            </a:r>
            <a:r>
              <a:rPr lang="zh-CN" altLang="en-US" sz="1200" kern="1200" dirty="0">
                <a:solidFill>
                  <a:schemeClr val="tx1"/>
                </a:solidFill>
                <a:effectLst/>
                <a:latin typeface="+mn-lt"/>
                <a:sym typeface="+mn-ea"/>
              </a:rPr>
              <a:t>）</a:t>
            </a:r>
            <a:r>
              <a:rPr lang="en-US" altLang="en-US" sz="1200" kern="1200" dirty="0">
                <a:solidFill>
                  <a:schemeClr val="tx1"/>
                </a:solidFill>
                <a:effectLst/>
                <a:latin typeface="+mn-lt"/>
                <a:sym typeface="+mn-ea"/>
              </a:rPr>
              <a:t>×</a:t>
            </a:r>
            <a:r>
              <a:rPr lang="en-US" altLang="zh-CN" sz="1200" kern="1200" dirty="0">
                <a:solidFill>
                  <a:schemeClr val="tx1"/>
                </a:solidFill>
                <a:effectLst/>
                <a:latin typeface="+mn-lt"/>
                <a:sym typeface="+mn-ea"/>
              </a:rPr>
              <a:t>9=13a+7b</a:t>
            </a:r>
            <a:r>
              <a:rPr lang="zh-CN" altLang="en-US" sz="1200" kern="1200" dirty="0">
                <a:solidFill>
                  <a:schemeClr val="tx1"/>
                </a:solidFill>
                <a:effectLst/>
                <a:latin typeface="+mn-lt"/>
                <a:sym typeface="+mn-ea"/>
              </a:rPr>
              <a:t>，化简可得</a:t>
            </a:r>
            <a:r>
              <a:rPr lang="en-US" altLang="zh-CN" sz="1200" kern="1200" dirty="0">
                <a:solidFill>
                  <a:schemeClr val="tx1"/>
                </a:solidFill>
                <a:effectLst/>
                <a:latin typeface="+mn-lt"/>
                <a:sym typeface="+mn-ea"/>
              </a:rPr>
              <a:t>2a=b</a:t>
            </a:r>
            <a:r>
              <a:rPr lang="zh-CN" altLang="en-US" sz="1200" kern="1200" dirty="0">
                <a:solidFill>
                  <a:schemeClr val="tx1"/>
                </a:solidFill>
                <a:effectLst/>
                <a:latin typeface="+mn-lt"/>
                <a:sym typeface="+mn-ea"/>
              </a:rPr>
              <a:t>，因此乙班学生人数一定多于甲班，该项能够推出。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项，题干仅说明实验组学生整体平均成绩提高更多，但无法得出英语成绩提高幅度</a:t>
            </a:r>
            <a:r>
              <a:rPr lang="zh-CN" altLang="en-US" sz="1200" kern="1200" dirty="0">
                <a:solidFill>
                  <a:schemeClr val="tx1"/>
                </a:solidFill>
                <a:effectLst/>
                <a:latin typeface="+mn-lt"/>
                <a:sym typeface="+mn-ea"/>
              </a:rPr>
              <a:t>最大的学生在实验组，该项不能推出。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A</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【解析】题干结论：该教学方法改革有助于提高学生的英语成绩。题干</a:t>
            </a:r>
            <a:r>
              <a:rPr lang="zh-CN" altLang="en-US" sz="1200" kern="1200" dirty="0">
                <a:solidFill>
                  <a:schemeClr val="tx1"/>
                </a:solidFill>
                <a:effectLst/>
                <a:latin typeface="+mn-lt"/>
                <a:sym typeface="+mn-ea"/>
              </a:rPr>
              <a:t>论据：期末测试后发现，实验组中甲班和乙班学生的平均成绩提高了</a:t>
            </a:r>
            <a:r>
              <a:rPr lang="en-US" altLang="zh-CN" sz="1200" kern="1200" dirty="0">
                <a:solidFill>
                  <a:schemeClr val="tx1"/>
                </a:solidFill>
                <a:effectLst/>
                <a:latin typeface="+mn-lt"/>
                <a:sym typeface="+mn-ea"/>
              </a:rPr>
              <a:t>9</a:t>
            </a:r>
            <a:r>
              <a:rPr lang="zh-CN" altLang="en-US" sz="1200" kern="1200" dirty="0">
                <a:solidFill>
                  <a:schemeClr val="tx1"/>
                </a:solidFill>
                <a:effectLst/>
                <a:latin typeface="+mn-lt"/>
                <a:sym typeface="+mn-ea"/>
              </a:rPr>
              <a:t>分，其中，</a:t>
            </a:r>
            <a:r>
              <a:rPr lang="zh-CN" altLang="en-US" sz="1200" kern="1200" dirty="0">
                <a:solidFill>
                  <a:schemeClr val="tx1"/>
                </a:solidFill>
                <a:effectLst/>
                <a:latin typeface="+mn-lt"/>
                <a:sym typeface="+mn-ea"/>
              </a:rPr>
              <a:t>甲班平</a:t>
            </a:r>
            <a:r>
              <a:rPr lang="zh-CN" altLang="en-US" sz="1200" kern="1200" dirty="0">
                <a:solidFill>
                  <a:schemeClr val="tx1"/>
                </a:solidFill>
                <a:effectLst/>
                <a:latin typeface="+mn-lt"/>
                <a:sym typeface="+mn-ea"/>
              </a:rPr>
              <a:t>均成绩提高了</a:t>
            </a:r>
            <a:r>
              <a:rPr lang="en-US" altLang="zh-CN" sz="1200" kern="1200" dirty="0">
                <a:solidFill>
                  <a:schemeClr val="tx1"/>
                </a:solidFill>
                <a:effectLst/>
                <a:latin typeface="+mn-lt"/>
                <a:sym typeface="+mn-ea"/>
              </a:rPr>
              <a:t>13</a:t>
            </a:r>
            <a:r>
              <a:rPr lang="zh-CN" altLang="en-US" sz="1200" kern="1200" dirty="0">
                <a:solidFill>
                  <a:schemeClr val="tx1"/>
                </a:solidFill>
                <a:effectLst/>
                <a:latin typeface="+mn-lt"/>
                <a:sym typeface="+mn-ea"/>
              </a:rPr>
              <a:t>分，乙班平均成绩提高了</a:t>
            </a:r>
            <a:r>
              <a:rPr lang="en-US" altLang="zh-CN" sz="1200" kern="1200" dirty="0">
                <a:solidFill>
                  <a:schemeClr val="tx1"/>
                </a:solidFill>
                <a:effectLst/>
                <a:latin typeface="+mn-lt"/>
                <a:sym typeface="+mn-ea"/>
              </a:rPr>
              <a:t>7</a:t>
            </a:r>
            <a:r>
              <a:rPr lang="zh-CN" altLang="en-US" sz="1200" kern="1200" dirty="0">
                <a:solidFill>
                  <a:schemeClr val="tx1"/>
                </a:solidFill>
                <a:effectLst/>
                <a:latin typeface="+mn-lt"/>
                <a:sym typeface="+mn-ea"/>
              </a:rPr>
              <a:t>分。对照组中丙班平均成绩提高了</a:t>
            </a:r>
            <a:r>
              <a:rPr lang="en-US" altLang="zh-CN" sz="1200" kern="1200" dirty="0">
                <a:solidFill>
                  <a:schemeClr val="tx1"/>
                </a:solidFill>
                <a:effectLst/>
                <a:latin typeface="+mn-lt"/>
                <a:sym typeface="+mn-ea"/>
              </a:rPr>
              <a:t>3</a:t>
            </a:r>
            <a:r>
              <a:rPr lang="zh-CN" altLang="en-US" sz="1200" kern="1200" dirty="0">
                <a:solidFill>
                  <a:schemeClr val="tx1"/>
                </a:solidFill>
                <a:effectLst/>
                <a:latin typeface="+mn-lt"/>
                <a:sym typeface="+mn-ea"/>
              </a:rPr>
              <a:t>分，丁</a:t>
            </a:r>
            <a:r>
              <a:rPr lang="zh-CN" altLang="en-US" sz="1200" kern="1200" dirty="0">
                <a:solidFill>
                  <a:schemeClr val="tx1"/>
                </a:solidFill>
                <a:effectLst/>
                <a:latin typeface="+mn-lt"/>
                <a:sym typeface="+mn-ea"/>
              </a:rPr>
              <a:t>班平均成绩提高了</a:t>
            </a:r>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分。</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项，指出对照组学生的英语基础比实验组差，说明实验组的学生成绩提升得多是另</a:t>
            </a:r>
            <a:r>
              <a:rPr lang="zh-CN" altLang="en-US" sz="1200" kern="1200" dirty="0">
                <a:solidFill>
                  <a:schemeClr val="tx1"/>
                </a:solidFill>
                <a:effectLst/>
                <a:latin typeface="+mn-lt"/>
                <a:sym typeface="+mn-ea"/>
              </a:rPr>
              <a:t>有他因，即比对照组的英语基础好，而不是因为该教学方法有利，能削弱题干结论。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项，指出实验组学生的专业课总学时少于对照组，专业课总学时与英语成绩的关系</a:t>
            </a:r>
            <a:r>
              <a:rPr lang="zh-CN" altLang="en-US" sz="1200" kern="1200" dirty="0">
                <a:solidFill>
                  <a:schemeClr val="tx1"/>
                </a:solidFill>
                <a:effectLst/>
                <a:latin typeface="+mn-lt"/>
                <a:sym typeface="+mn-ea"/>
              </a:rPr>
              <a:t>不明确，不能削弱题干结论。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项，指出对照组学生的期中英语成绩与实验组相近，说明两组学生在实验前英语水</a:t>
            </a:r>
            <a:r>
              <a:rPr lang="zh-CN" altLang="en-US" sz="1200" kern="1200" dirty="0">
                <a:solidFill>
                  <a:schemeClr val="tx1"/>
                </a:solidFill>
                <a:effectLst/>
                <a:latin typeface="+mn-lt"/>
                <a:sym typeface="+mn-ea"/>
              </a:rPr>
              <a:t>平相近，排除了其他因素对实验结果的干扰，加强了题干结论。</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项，指出有些实验组学生的期末英语测试成绩下降，部分学生的情况不具有代表性，</a:t>
            </a:r>
            <a:r>
              <a:rPr lang="zh-CN" altLang="en-US" sz="1200" kern="1200" dirty="0">
                <a:solidFill>
                  <a:schemeClr val="tx1"/>
                </a:solidFill>
                <a:effectLst/>
                <a:latin typeface="+mn-lt"/>
                <a:sym typeface="+mn-ea"/>
              </a:rPr>
              <a:t>不能说明改革方法的成效，不能削弱题干结论。</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因此本题选</a:t>
            </a:r>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7" Type="http://schemas.openxmlformats.org/officeDocument/2006/relationships/image" Target="../media/image1.png"/><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1.png"/><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4.xml"/><Relationship Id="rId8" Type="http://schemas.openxmlformats.org/officeDocument/2006/relationships/tags" Target="../tags/tag23.xml"/><Relationship Id="rId7" Type="http://schemas.openxmlformats.org/officeDocument/2006/relationships/tags" Target="../tags/tag22.xml"/><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0" Type="http://schemas.openxmlformats.org/officeDocument/2006/relationships/image" Target="../media/image1.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1"/>
        </a:solidFill>
        <a:effectLst/>
      </p:bgPr>
    </p:bg>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7"/>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8"/>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
        <p:nvSpPr>
          <p:cNvPr id="10" name="矩形 9"/>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2" name="矩形 11"/>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3" name="图片 12" descr="徽标&#10;&#10;AI 生成的内容可能不正确。"/>
          <p:cNvPicPr>
            <a:picLocks noChangeAspect="1"/>
          </p:cNvPicPr>
          <p:nvPr userDrawn="1"/>
        </p:nvPicPr>
        <p:blipFill>
          <a:blip r:embed="rId10"/>
          <a:srcRect t="9991" b="18252"/>
          <a:stretch>
            <a:fillRect/>
          </a:stretch>
        </p:blipFill>
        <p:spPr>
          <a:xfrm>
            <a:off x="10610080" y="6382356"/>
            <a:ext cx="1408500" cy="449757"/>
          </a:xfrm>
          <a:prstGeom prst="rect">
            <a:avLst/>
          </a:prstGeom>
        </p:spPr>
      </p:pic>
      <p:sp>
        <p:nvSpPr>
          <p:cNvPr id="14" name="文本框 13"/>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5" name="文本框 14"/>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1117600" y="8475133"/>
            <a:ext cx="3657600" cy="486833"/>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5384800" y="8475133"/>
            <a:ext cx="5486400" cy="486833"/>
          </a:xfrm>
        </p:spPr>
        <p:txBody>
          <a:bodyPr/>
          <a:lstStyle/>
          <a:p>
            <a:endParaRPr lang="zh-CN" altLang="en-US"/>
          </a:p>
        </p:txBody>
      </p:sp>
      <p:sp>
        <p:nvSpPr>
          <p:cNvPr id="4" name="灯片编号占位符 3"/>
          <p:cNvSpPr>
            <a:spLocks noGrp="1"/>
          </p:cNvSpPr>
          <p:nvPr>
            <p:ph type="sldNum" sz="quarter" idx="12"/>
          </p:nvPr>
        </p:nvSpPr>
        <p:spPr>
          <a:xfrm>
            <a:off x="11480800" y="8475133"/>
            <a:ext cx="3657600" cy="486833"/>
          </a:xfrm>
        </p:spPr>
        <p:txBody>
          <a:bodyPr/>
          <a:lstStyle/>
          <a:p>
            <a:fld id="{7D9BB5D0-35E4-459D-AEF3-FE4D7C45CC19}" type="slidenum">
              <a:rPr lang="zh-CN" altLang="en-US" smtClean="0"/>
            </a:fld>
            <a:endParaRPr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3" name="幻灯片编号"/>
          <p:cNvSpPr txBox="1">
            <a:spLocks noGrp="1"/>
          </p:cNvSpPr>
          <p:nvPr>
            <p:ph type="sldNum" sz="quarter" idx="2"/>
          </p:nvPr>
        </p:nvSpPr>
        <p:spPr>
          <a:xfrm>
            <a:off x="8385632" y="6176859"/>
            <a:ext cx="351972" cy="358983"/>
          </a:xfrm>
          <a:prstGeom prst="rect">
            <a:avLst/>
          </a:prstGeom>
        </p:spPr>
        <p:txBody>
          <a:bodyPr/>
          <a:lstStyle/>
          <a:p>
            <a:fld id="{86CB4B4D-7CA3-9044-876B-883B54F8677D}" type="slidenum">
              <a:rPr/>
            </a:fld>
            <a:endParaRPr/>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2" name="文本框 1"/>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9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2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3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5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6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7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8_标题幻灯片">
    <p:spTree>
      <p:nvGrpSpPr>
        <p:cNvPr id="1" name=""/>
        <p:cNvGrpSpPr/>
        <p:nvPr/>
      </p:nvGrpSpPr>
      <p:grpSpPr>
        <a:xfrm>
          <a:off x="0" y="0"/>
          <a:ext cx="0" cy="0"/>
          <a:chOff x="0" y="0"/>
          <a:chExt cx="0" cy="0"/>
        </a:xfrm>
      </p:grpSpPr>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0FDEE0B-E009-AE44-A6AE-F10FE1D58390}" type="datetimeFigureOut">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3470D480-A6AF-3D48-9E05-C49B5442FA82}" type="slidenum">
              <a:rPr kumimoji="1" lang="zh-CN" altLang="en-US" smtClean="0"/>
            </a:fld>
            <a:endParaRPr kumimoji="1" lang="zh-CN" altLang="en-US"/>
          </a:p>
        </p:txBody>
      </p:sp>
      <p:sp>
        <p:nvSpPr>
          <p:cNvPr id="9" name="矩形 8"/>
          <p:cNvSpPr/>
          <p:nvPr userDrawn="1"/>
        </p:nvSpPr>
        <p:spPr>
          <a:xfrm>
            <a:off x="9302262" y="0"/>
            <a:ext cx="2889738" cy="1767254"/>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r>
              <a:rPr kumimoji="1" lang="zh-CN" altLang="en-US" dirty="0">
                <a:solidFill>
                  <a:schemeClr val="tx1">
                    <a:lumMod val="85000"/>
                    <a:lumOff val="15000"/>
                  </a:schemeClr>
                </a:solidFill>
                <a:cs typeface="微软雅黑" panose="020B0503020204020204" charset="-122"/>
              </a:rPr>
              <a:t>老师直播区</a:t>
            </a:r>
            <a:endParaRPr kumimoji="1" lang="zh-CN" altLang="en-US" dirty="0">
              <a:solidFill>
                <a:schemeClr val="tx1">
                  <a:lumMod val="85000"/>
                  <a:lumOff val="15000"/>
                </a:schemeClr>
              </a:solidFill>
              <a:cs typeface="微软雅黑" panose="020B0503020204020204" charset="-122"/>
            </a:endParaRPr>
          </a:p>
        </p:txBody>
      </p:sp>
      <p:sp>
        <p:nvSpPr>
          <p:cNvPr id="11" name="矩形 10"/>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kumimoji="1" lang="zh-CN" altLang="en-US">
              <a:cs typeface="微软雅黑" panose="020B0503020204020204" charset="-122"/>
            </a:endParaRPr>
          </a:p>
        </p:txBody>
      </p:sp>
      <p:pic>
        <p:nvPicPr>
          <p:cNvPr id="12" name="图片 11"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判断推理</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
        <p:nvSpPr>
          <p:cNvPr id="14" name="文本框 13"/>
          <p:cNvSpPr txBox="1"/>
          <p:nvPr userDrawn="1"/>
        </p:nvSpPr>
        <p:spPr>
          <a:xfrm>
            <a:off x="5644594" y="6453345"/>
            <a:ext cx="894080" cy="306705"/>
          </a:xfrm>
          <a:prstGeom prst="rect">
            <a:avLst/>
          </a:prstGeom>
          <a:noFill/>
        </p:spPr>
        <p:txBody>
          <a:bodyPr wrap="none" rtlCol="0">
            <a:spAutoFit/>
          </a:bodyPr>
          <a:p>
            <a:r>
              <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rPr>
              <a:t>桑桑老师</a:t>
            </a:r>
            <a:endParaRPr kumimoji="1" lang="zh-CN" altLang="en-US" sz="1400" b="0" i="0" dirty="0">
              <a:solidFill>
                <a:schemeClr val="bg1"/>
              </a:solidFill>
              <a:latin typeface="微软雅黑 Light" panose="020B0502040204020203" pitchFamily="34" charset="-122"/>
              <a:ea typeface="微软雅黑 Light" panose="020B0502040204020203" pitchFamily="34" charset="-122"/>
              <a:cs typeface="微软雅黑" panose="020B050302020402020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标题幻灯片">
    <p:bg>
      <p:bgPr>
        <a:solidFill>
          <a:schemeClr val="bg1"/>
        </a:solid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微软雅黑" panose="020B0503020204020204"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0" Type="http://schemas.openxmlformats.org/officeDocument/2006/relationships/theme" Target="../theme/theme2.xml"/><Relationship Id="rId3" Type="http://schemas.openxmlformats.org/officeDocument/2006/relationships/slideLayout" Target="../slideLayouts/slideLayout5.xml"/><Relationship Id="rId29" Type="http://schemas.openxmlformats.org/officeDocument/2006/relationships/tags" Target="../tags/tag30.xml"/><Relationship Id="rId28" Type="http://schemas.openxmlformats.org/officeDocument/2006/relationships/tags" Target="../tags/tag29.xml"/><Relationship Id="rId27" Type="http://schemas.openxmlformats.org/officeDocument/2006/relationships/tags" Target="../tags/tag28.xml"/><Relationship Id="rId26" Type="http://schemas.openxmlformats.org/officeDocument/2006/relationships/tags" Target="../tags/tag27.xml"/><Relationship Id="rId25" Type="http://schemas.openxmlformats.org/officeDocument/2006/relationships/tags" Target="../tags/tag26.xml"/><Relationship Id="rId24" Type="http://schemas.openxmlformats.org/officeDocument/2006/relationships/tags" Target="../tags/tag25.xml"/><Relationship Id="rId23" Type="http://schemas.openxmlformats.org/officeDocument/2006/relationships/slideLayout" Target="../slideLayouts/slideLayout25.xml"/><Relationship Id="rId22" Type="http://schemas.openxmlformats.org/officeDocument/2006/relationships/slideLayout" Target="../slideLayouts/slideLayout24.xml"/><Relationship Id="rId21" Type="http://schemas.openxmlformats.org/officeDocument/2006/relationships/slideLayout" Target="../slideLayouts/slideLayout23.xml"/><Relationship Id="rId20" Type="http://schemas.openxmlformats.org/officeDocument/2006/relationships/slideLayout" Target="../slideLayouts/slideLayout22.xml"/><Relationship Id="rId2" Type="http://schemas.openxmlformats.org/officeDocument/2006/relationships/slideLayout" Target="../slideLayouts/slideLayout4.xml"/><Relationship Id="rId19" Type="http://schemas.openxmlformats.org/officeDocument/2006/relationships/slideLayout" Target="../slideLayouts/slideLayout21.xml"/><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DC5037">
                <a:alpha val="42000"/>
              </a:srgbClr>
            </a:gs>
            <a:gs pos="67000">
              <a:srgbClr val="DC5037">
                <a:alpha val="10000"/>
              </a:srgbClr>
            </a:gs>
          </a:gsLst>
          <a:lin ang="16200000" scaled="1"/>
          <a:tileRect/>
        </a:gradFill>
        <a:effectLst/>
      </p:bgPr>
    </p:bg>
    <p:spTree>
      <p:nvGrpSpPr>
        <p:cNvPr id="1" name=""/>
        <p:cNvGrpSpPr/>
        <p:nvPr/>
      </p:nvGrpSpPr>
      <p:grpSpPr>
        <a:xfrm>
          <a:off x="0" y="0"/>
          <a:ext cx="0" cy="0"/>
          <a:chOff x="0" y="0"/>
          <a:chExt cx="0" cy="0"/>
        </a:xfrm>
      </p:grpSpPr>
      <p:sp>
        <p:nvSpPr>
          <p:cNvPr id="11" name="标题占位符 10"/>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2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49AE70B2-8BF9-45C0-BB95-33D1B9D3A854}" type="slidenum">
              <a:rPr lang="zh-CN" altLang="en-US" smtClean="0"/>
            </a:fld>
            <a:endParaRPr lang="zh-CN" altLang="en-US" dirty="0"/>
          </a:p>
        </p:txBody>
      </p:sp>
    </p:spTree>
    <p:custDataLst>
      <p:tags r:id="rId29"/>
    </p:custDataLst>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png"/><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9" name="文本框 8"/>
          <p:cNvSpPr txBox="1"/>
          <p:nvPr/>
        </p:nvSpPr>
        <p:spPr>
          <a:xfrm>
            <a:off x="2843188" y="2364919"/>
            <a:ext cx="6576647" cy="1445260"/>
          </a:xfrm>
          <a:prstGeom prst="rect">
            <a:avLst/>
          </a:prstGeom>
          <a:noFill/>
        </p:spPr>
        <p:txBody>
          <a:bodyPr wrap="square" rtlCol="0">
            <a:spAutoFit/>
          </a:bodyPr>
          <a:p>
            <a:pPr algn="ct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事业单位联考</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B</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（补充）</a:t>
            </a:r>
            <a:b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b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2025</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年</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3</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月</a:t>
            </a:r>
            <a:r>
              <a:rPr kumimoji="1" lang="en-US" altLang="zh-CN" sz="4400" b="1" dirty="0">
                <a:solidFill>
                  <a:srgbClr val="DC5037"/>
                </a:solidFill>
                <a:latin typeface="微软雅黑" panose="020B0503020204020204" charset="-122"/>
                <a:ea typeface="微软雅黑" panose="020B0503020204020204" charset="-122"/>
                <a:cs typeface="微软雅黑" panose="020B0503020204020204" charset="-122"/>
              </a:rPr>
              <a:t>29</a:t>
            </a:r>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日</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4844561" y="4253018"/>
            <a:ext cx="2502877" cy="398780"/>
          </a:xfrm>
          <a:prstGeom prst="rect">
            <a:avLst/>
          </a:prstGeom>
          <a:noFill/>
        </p:spPr>
        <p:txBody>
          <a:bodyPr wrap="square" rtlCol="0">
            <a:spAutoFit/>
          </a:bodyPr>
          <a:p>
            <a:r>
              <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rPr>
              <a:t>主讲老师：桑桑老师</a:t>
            </a:r>
            <a:endParaRPr kumimoji="1" lang="zh-CN" altLang="en-US" sz="2000"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从所给的四个选项中，选择最合适的一个填入问号处，使之呈现一定的规律性。</a:t>
            </a:r>
            <a:endParaRPr lang="zh-CN" altLang="en-US" sz="2000" dirty="0">
              <a:cs typeface="微软雅黑" panose="020B0503020204020204" charset="-122"/>
              <a:sym typeface="+mn-ea"/>
            </a:endParaRPr>
          </a:p>
        </p:txBody>
      </p:sp>
      <p:pic>
        <p:nvPicPr>
          <p:cNvPr id="7" name="图片 1"/>
          <p:cNvPicPr>
            <a:picLocks noChangeAspect="1"/>
          </p:cNvPicPr>
          <p:nvPr/>
        </p:nvPicPr>
        <p:blipFill>
          <a:blip r:embed="rId1"/>
          <a:stretch>
            <a:fillRect/>
          </a:stretch>
        </p:blipFill>
        <p:spPr>
          <a:xfrm>
            <a:off x="231140" y="1784350"/>
            <a:ext cx="9064625" cy="39344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rPr>
              <a:t>从所给的四个选项中，选择最合适的一个填入问号处，使之呈现一定的规律性：</a:t>
            </a:r>
            <a:endParaRPr lang="zh-CN" altLang="en-US" sz="2000" dirty="0">
              <a:cs typeface="微软雅黑" panose="020B0503020204020204" charset="-122"/>
            </a:endParaRPr>
          </a:p>
          <a:p>
            <a:pPr indent="0" fontAlgn="auto">
              <a:lnSpc>
                <a:spcPct val="150000"/>
              </a:lnSpc>
            </a:pPr>
            <a:endParaRPr lang="en-US" altLang="en-US" sz="2000" dirty="0">
              <a:cs typeface="微软雅黑" panose="020B0503020204020204" charset="-122"/>
              <a:sym typeface="+mn-ea"/>
            </a:endParaRPr>
          </a:p>
        </p:txBody>
      </p:sp>
      <p:pic>
        <p:nvPicPr>
          <p:cNvPr id="8" name="图片 2" descr="IMG_256"/>
          <p:cNvPicPr>
            <a:picLocks noChangeAspect="1"/>
          </p:cNvPicPr>
          <p:nvPr/>
        </p:nvPicPr>
        <p:blipFill>
          <a:blip r:embed="rId1"/>
          <a:stretch>
            <a:fillRect/>
          </a:stretch>
        </p:blipFill>
        <p:spPr>
          <a:xfrm>
            <a:off x="621665" y="1892935"/>
            <a:ext cx="9027795" cy="386207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65</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rPr>
              <a:t>从所给的四个选项中，选择最合适的一个填入问号处，使之呈现一定的规律性：</a:t>
            </a:r>
            <a:endParaRPr lang="zh-CN" altLang="en-US" sz="2000" dirty="0">
              <a:cs typeface="微软雅黑" panose="020B0503020204020204" charset="-122"/>
            </a:endParaRPr>
          </a:p>
          <a:p>
            <a:pPr indent="0" fontAlgn="auto">
              <a:lnSpc>
                <a:spcPct val="150000"/>
              </a:lnSpc>
            </a:pPr>
            <a:endParaRPr lang="en-US" altLang="en-US" sz="2000" dirty="0">
              <a:cs typeface="微软雅黑" panose="020B0503020204020204" charset="-122"/>
              <a:sym typeface="+mn-ea"/>
            </a:endParaRPr>
          </a:p>
        </p:txBody>
      </p:sp>
      <p:pic>
        <p:nvPicPr>
          <p:cNvPr id="9" name="图片 3" descr="IMG_256"/>
          <p:cNvPicPr>
            <a:picLocks noChangeAspect="1"/>
          </p:cNvPicPr>
          <p:nvPr/>
        </p:nvPicPr>
        <p:blipFill>
          <a:blip r:embed="rId1"/>
          <a:stretch>
            <a:fillRect/>
          </a:stretch>
        </p:blipFill>
        <p:spPr>
          <a:xfrm>
            <a:off x="462915" y="1857375"/>
            <a:ext cx="9110345" cy="433387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资源化原则是指尽可能将废弃物用来生产与原来相同类型的新产品，或者将废弃物转化为其他产品的原材料，再生产出不同类型的新产品的一种资源利用原则。</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根据上述定义，下列体现资源化原则的是：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将工业废水进行净化处理达标后再排放到河流中</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一些居民将闲置冰箱通过二手交易平台进行销售</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顾客将商家所提供的包装袋当作购物袋反复使用</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工厂把旧床单等纺织分类再加工制成再生纤维</a:t>
            </a:r>
            <a:endParaRPr lang="zh-CN" altLang="en-US" sz="2000" dirty="0">
              <a:cs typeface="微软雅黑" panose="020B0503020204020204" charset="-122"/>
              <a:sym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67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泛娱乐化是指以消费主义、享乐主义为核心，以吸引受众为目的，把历史、新闻、体育等进行娱乐化修饰，以突出或增加其娱乐性，人为降低其严肃性、真实性的行为。</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根据上述定义，下列不属于泛娱乐化的是：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某战争题材的电视剧，为了突出英雄老刘的神勇，编排了老刘指断刺刀、一箭穿三敌等情节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某电视娱乐节目没有深刻的思想内容，</a:t>
            </a:r>
            <a:r>
              <a:rPr lang="zh-CN" altLang="en-US" sz="2000" dirty="0">
                <a:cs typeface="微软雅黑" panose="020B0503020204020204" charset="-122"/>
                <a:sym typeface="+mn-ea"/>
              </a:rPr>
              <a:t>以搞怪、挖苦讽刺对方、故意错话连篇等方式追求笑点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某地连续</a:t>
            </a:r>
            <a:r>
              <a:rPr lang="en-US" altLang="zh-CN" sz="2000" dirty="0">
                <a:cs typeface="微软雅黑" panose="020B0503020204020204" charset="-122"/>
                <a:sym typeface="+mn-ea"/>
              </a:rPr>
              <a:t>8</a:t>
            </a:r>
            <a:r>
              <a:rPr lang="zh-CN" altLang="en-US" sz="2000" dirty="0">
                <a:cs typeface="微软雅黑" panose="020B0503020204020204" charset="-122"/>
                <a:sym typeface="+mn-ea"/>
              </a:rPr>
              <a:t>天都处于高温红色预警状态下，一些媒体使用</a:t>
            </a:r>
            <a:r>
              <a:rPr lang="en-US" altLang="zh-CN" sz="2000" dirty="0">
                <a:cs typeface="微软雅黑" panose="020B0503020204020204" charset="-122"/>
                <a:sym typeface="+mn-ea"/>
              </a:rPr>
              <a:t>“</a:t>
            </a:r>
            <a:r>
              <a:rPr lang="zh-CN" altLang="en-US" sz="2000" dirty="0">
                <a:cs typeface="微软雅黑" panose="020B0503020204020204" charset="-122"/>
                <a:sym typeface="+mn-ea"/>
              </a:rPr>
              <a:t>我干了你随意</a:t>
            </a:r>
            <a:r>
              <a:rPr lang="en-US" altLang="zh-CN" sz="2000" dirty="0">
                <a:cs typeface="微软雅黑" panose="020B0503020204020204" charset="-122"/>
                <a:sym typeface="+mn-ea"/>
              </a:rPr>
              <a:t>”</a:t>
            </a:r>
            <a:r>
              <a:rPr lang="zh-CN" altLang="en-US" sz="2000" dirty="0">
                <a:cs typeface="微软雅黑" panose="020B0503020204020204" charset="-122"/>
                <a:sym typeface="+mn-ea"/>
              </a:rPr>
              <a:t>等标题对此进行报道</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某部反映秦始皇生平的电影，将发生在各朝代帝王身上的离奇故事拼凑到他身上，</a:t>
            </a:r>
            <a:r>
              <a:rPr lang="zh-CN" altLang="en-US" sz="2000" dirty="0">
                <a:cs typeface="微软雅黑" panose="020B0503020204020204" charset="-122"/>
                <a:sym typeface="+mn-ea"/>
              </a:rPr>
              <a:t>以增强电影的故事性</a:t>
            </a:r>
            <a:endParaRPr lang="zh-CN" altLang="en-US" sz="2000" dirty="0">
              <a:cs typeface="微软雅黑" panose="020B050302020402020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实证分析和规范分析是经济学的两种分析方法。前者是指在观察事实的基础上，研究经济现象及其相互之间的客观规律，对有关现象将来会出现的情况做出预测。后者是指以一定的价值判断为出发点，提出行为标准，探讨和研究怎样才能符合这些标准的理论和政策。</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根据上述定义，下列研究一定使用了实证分析的是：</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经济制度变迁的案例研究</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企业的社会责任准则研究</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企业垄断行为的规制研究</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低收入群体社保政策研究</a:t>
            </a:r>
            <a:endParaRPr lang="zh-CN" altLang="en-US" sz="2000" dirty="0">
              <a:cs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对讲机：测温计</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礼品袋：包装袋</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散热器：碎纸机</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刹车片：汽油泵</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打火机：高压锅</a:t>
            </a:r>
            <a:endParaRPr lang="zh-CN" altLang="en-US" sz="2000" dirty="0">
              <a:cs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79</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埋骨何须桑梓地：人生何处不青山</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千磨万击还坚劲：任尔东西南北风</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五岭逶迤腾细浪：乌蒙磅礴走泥丸</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僵卧孤村不自哀：</a:t>
            </a:r>
            <a:r>
              <a:rPr lang="zh-CN" altLang="en-US" sz="2000" dirty="0">
                <a:cs typeface="微软雅黑" panose="020B0503020204020204" charset="-122"/>
                <a:sym typeface="+mn-ea"/>
              </a:rPr>
              <a:t>尚思为国戍轮台</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枝上柳绵吹又少：天涯何处无芳草</a:t>
            </a:r>
            <a:endParaRPr lang="zh-CN" altLang="en-US" sz="2000" dirty="0">
              <a:cs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直拳：勾拳：摆拳</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合唱：弹唱：对唱</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演说：劝说：戏说</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仰视：俯视：平视</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狂想：冥想：空想</a:t>
            </a:r>
            <a:endParaRPr lang="zh-CN" altLang="en-US" sz="2000" dirty="0">
              <a:cs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84</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重视研发：保护专利：鼓励创新</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合理运动：增肌塑形：健康饮食</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增加光照：疏松土壤：驱虫祛害</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冻土融化：道路坍塌：降水增加</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扩大内需：增加出口：推动发展</a:t>
            </a:r>
            <a:endParaRPr lang="en-US" altLang="zh-CN" sz="2000" dirty="0">
              <a:cs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86</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40000"/>
              </a:lnSpc>
            </a:pPr>
            <a:r>
              <a:rPr lang="zh-CN" altLang="en-US" dirty="0">
                <a:cs typeface="微软雅黑" panose="020B0503020204020204" charset="-122"/>
                <a:sym typeface="+mn-ea"/>
              </a:rPr>
              <a:t>只有在主题教育中推动树立和践行正确的政绩观，才能保证主题教育取得实实在在</a:t>
            </a:r>
            <a:r>
              <a:rPr lang="zh-CN" altLang="en-US" dirty="0">
                <a:cs typeface="微软雅黑" panose="020B0503020204020204" charset="-122"/>
                <a:sym typeface="+mn-ea"/>
              </a:rPr>
              <a:t>的成效。要树立和践行正确的政绩观，党员干部必须保证党性坚强。只有深刻领会正确政绩观的丰富内涵和实践要求，且进一步增强树立和践行正确政绩观的思想自觉、政治自觉、</a:t>
            </a:r>
            <a:r>
              <a:rPr lang="zh-CN" altLang="en-US" dirty="0">
                <a:cs typeface="微软雅黑" panose="020B0503020204020204" charset="-122"/>
                <a:sym typeface="+mn-ea"/>
              </a:rPr>
              <a:t>行动自觉，才能在日常工作中做出科学的决策、正确的选择。</a:t>
            </a:r>
            <a:endParaRPr lang="zh-CN" altLang="en-US" dirty="0">
              <a:cs typeface="微软雅黑" panose="020B0503020204020204" charset="-122"/>
              <a:sym typeface="+mn-ea"/>
            </a:endParaRPr>
          </a:p>
          <a:p>
            <a:pPr indent="0" fontAlgn="auto">
              <a:lnSpc>
                <a:spcPct val="140000"/>
              </a:lnSpc>
            </a:pPr>
            <a:r>
              <a:rPr lang="zh-CN" altLang="en-US" dirty="0">
                <a:cs typeface="微软雅黑" panose="020B0503020204020204" charset="-122"/>
                <a:sym typeface="+mn-ea"/>
              </a:rPr>
              <a:t>由此可以推出：</a:t>
            </a:r>
            <a:endParaRPr lang="zh-CN" altLang="en-US" dirty="0">
              <a:cs typeface="微软雅黑" panose="020B0503020204020204" charset="-122"/>
              <a:sym typeface="+mn-ea"/>
            </a:endParaRPr>
          </a:p>
          <a:p>
            <a:pPr indent="0" fontAlgn="auto">
              <a:lnSpc>
                <a:spcPct val="140000"/>
              </a:lnSpc>
            </a:pPr>
            <a:endParaRPr lang="zh-CN" altLang="en-US" dirty="0">
              <a:cs typeface="微软雅黑" panose="020B0503020204020204" charset="-122"/>
              <a:sym typeface="+mn-ea"/>
            </a:endParaRPr>
          </a:p>
          <a:p>
            <a:pPr indent="0" fontAlgn="auto">
              <a:lnSpc>
                <a:spcPct val="140000"/>
              </a:lnSpc>
            </a:pP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A.</a:t>
            </a:r>
            <a:r>
              <a:rPr lang="zh-CN" altLang="en-US" dirty="0">
                <a:cs typeface="微软雅黑" panose="020B0503020204020204" charset="-122"/>
                <a:sym typeface="+mn-ea"/>
              </a:rPr>
              <a:t>如果党员干部不能保证党性坚强，就无法树立和践行正确的政绩观</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B.</a:t>
            </a:r>
            <a:r>
              <a:rPr lang="zh-CN" altLang="en-US" dirty="0">
                <a:cs typeface="微软雅黑" panose="020B0503020204020204" charset="-122"/>
                <a:sym typeface="+mn-ea"/>
              </a:rPr>
              <a:t>只要在主题教育中推动树立和践行正确的政绩观，就能保证主题教育取得实实在在的成效</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C.</a:t>
            </a:r>
            <a:r>
              <a:rPr lang="zh-CN" altLang="en-US" dirty="0">
                <a:cs typeface="微软雅黑" panose="020B0503020204020204" charset="-122"/>
                <a:sym typeface="+mn-ea"/>
              </a:rPr>
              <a:t>只有在日常工做中做出科学的决策、正确的选择，才能深刻领会正确政绩观的丰富内涵和实践要求</a:t>
            </a:r>
            <a:endParaRPr lang="zh-CN" altLang="en-US" dirty="0">
              <a:cs typeface="微软雅黑" panose="020B0503020204020204" charset="-122"/>
              <a:sym typeface="+mn-ea"/>
            </a:endParaRPr>
          </a:p>
          <a:p>
            <a:pPr indent="0" fontAlgn="auto">
              <a:lnSpc>
                <a:spcPct val="140000"/>
              </a:lnSpc>
            </a:pPr>
            <a:r>
              <a:rPr lang="en-US" altLang="zh-CN" dirty="0">
                <a:cs typeface="微软雅黑" panose="020B0503020204020204" charset="-122"/>
                <a:sym typeface="+mn-ea"/>
              </a:rPr>
              <a:t>D.</a:t>
            </a:r>
            <a:r>
              <a:rPr lang="zh-CN" altLang="en-US" dirty="0">
                <a:cs typeface="微软雅黑" panose="020B0503020204020204" charset="-122"/>
                <a:sym typeface="+mn-ea"/>
              </a:rPr>
              <a:t>如果不能在日常工作中作出科学的决策、正确的选择，就不能进一步增强树立和践行正确政绩观的思想自觉、政治自觉、行动自觉</a:t>
            </a:r>
            <a:endParaRPr lang="zh-CN" altLang="en-US" dirty="0">
              <a:cs typeface="微软雅黑" panose="020B0503020204020204" charset="-122"/>
              <a:sym typeface="+mn-ea"/>
            </a:endParaRPr>
          </a:p>
        </p:txBody>
      </p:sp>
      <p:sp>
        <p:nvSpPr>
          <p:cNvPr id="4" name="文本框 3"/>
          <p:cNvSpPr txBox="1"/>
          <p:nvPr/>
        </p:nvSpPr>
        <p:spPr>
          <a:xfrm>
            <a:off x="2496185" y="2341880"/>
            <a:ext cx="9610090" cy="1198880"/>
          </a:xfrm>
          <a:prstGeom prst="rect">
            <a:avLst/>
          </a:prstGeom>
          <a:noFill/>
        </p:spPr>
        <p:txBody>
          <a:bodyPr wrap="square" rtlCol="0" anchor="t">
            <a:spAutoFit/>
          </a:bodyPr>
          <a:p>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①</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主题教育取得实实在在的成效</a:t>
            </a:r>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树立和践行正确的政绩观；</a:t>
            </a:r>
            <a:endPar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a:p>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②</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树立和践行正确的政绩观</a:t>
            </a:r>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党员干部保证党性坚强；</a:t>
            </a:r>
            <a:endParaRPr lang="en-US" altLang="zh-CN"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a:p>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③</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做出科学的决策、正确的选择</a:t>
            </a:r>
            <a:r>
              <a:rPr lang="en-US"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a:t>
            </a: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领会正确政绩观的内涵要求且增强树立和践行正确政绩观的思想自觉、政治自觉、行动自觉。</a:t>
            </a:r>
            <a:endPar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87</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有一种观点认为，一座城市具有发展动力，优越的区域位置是必不可少的条件。但是，城市发展主要看每个城市能不能找到它独特的经济发展方式，不同的城市是不一样的。很多创新城市虽然不具有优越的区域位置，但在基础经济、产业、人口等方面各具优势。</a:t>
            </a:r>
            <a:r>
              <a:rPr lang="zh-CN" altLang="en-US" sz="2000" dirty="0">
                <a:cs typeface="微软雅黑" panose="020B0503020204020204" charset="-122"/>
                <a:sym typeface="+mn-ea"/>
              </a:rPr>
              <a:t>因此，这种观点是不能成立的。</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为使以上反驳更有说服力，最需要补充以下哪项前提？</a:t>
            </a: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不少区域位置优越的城市并非创新城市</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一些具有优越区域位置的城市却不具有发展动力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在基础经济、产业、人口等方面各具优势的创新城市也有发展动力</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一些在基础经济、产业、人口等方面有优势的城市没能找到独特的经济发展方式</a:t>
            </a:r>
            <a:endParaRPr lang="zh-CN" altLang="en-US" sz="2000" dirty="0">
              <a:cs typeface="微软雅黑" panose="020B0503020204020204" charset="-122"/>
              <a:sym typeface="+mn-ea"/>
            </a:endParaRPr>
          </a:p>
        </p:txBody>
      </p:sp>
      <p:sp>
        <p:nvSpPr>
          <p:cNvPr id="4" name="文本框 3"/>
          <p:cNvSpPr txBox="1"/>
          <p:nvPr/>
        </p:nvSpPr>
        <p:spPr>
          <a:xfrm>
            <a:off x="2496185" y="3079115"/>
            <a:ext cx="9610090" cy="922020"/>
          </a:xfrm>
          <a:prstGeom prst="rect">
            <a:avLst/>
          </a:prstGeom>
          <a:noFill/>
        </p:spPr>
        <p:txBody>
          <a:bodyPr wrap="square" rtlCol="0" anchor="t">
            <a:spAutoFit/>
          </a:bodyPr>
          <a:p>
            <a:pPr indent="0" fontAlgn="auto">
              <a:lnSpc>
                <a:spcPct val="150000"/>
              </a:lnSpc>
            </a:pP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论点：一座城市具有发展动力，优越的区域位置并非必不可少的条件。</a:t>
            </a:r>
            <a:endPar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a:p>
            <a:pPr indent="0" fontAlgn="auto">
              <a:lnSpc>
                <a:spcPct val="150000"/>
              </a:lnSpc>
            </a:pPr>
            <a:r>
              <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rPr>
              <a:t>论据：很多创新城市虽然不具有优越的区域位置，但在基础经济、产业、人口等方面各具优势。</a:t>
            </a:r>
            <a:endParaRPr lang="zh-CN" altLang="en-US" dirty="0">
              <a:solidFill>
                <a:srgbClr val="FF0000"/>
              </a:solidFill>
              <a:effectLst/>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90</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某次考试共有</a:t>
            </a:r>
            <a:r>
              <a:rPr lang="en-US" altLang="zh-CN" sz="2000" dirty="0">
                <a:cs typeface="微软雅黑" panose="020B0503020204020204" charset="-122"/>
                <a:sym typeface="+mn-ea"/>
              </a:rPr>
              <a:t>6</a:t>
            </a:r>
            <a:r>
              <a:rPr lang="zh-CN" altLang="en-US" sz="2000" dirty="0">
                <a:cs typeface="微软雅黑" panose="020B0503020204020204" charset="-122"/>
                <a:sym typeface="+mn-ea"/>
              </a:rPr>
              <a:t>道单选题，陈、王、丁三人中，任意两人均只有</a:t>
            </a:r>
            <a:r>
              <a:rPr lang="en-US" altLang="zh-CN" sz="2000" dirty="0">
                <a:cs typeface="微软雅黑" panose="020B0503020204020204" charset="-122"/>
                <a:sym typeface="+mn-ea"/>
              </a:rPr>
              <a:t>1</a:t>
            </a:r>
            <a:r>
              <a:rPr lang="zh-CN" altLang="en-US" sz="2000" dirty="0">
                <a:cs typeface="微软雅黑" panose="020B0503020204020204" charset="-122"/>
                <a:sym typeface="+mn-ea"/>
              </a:rPr>
              <a:t>题同时答错，每题均有人答对。另外，第</a:t>
            </a:r>
            <a:r>
              <a:rPr lang="en-US" altLang="zh-CN" sz="2000" dirty="0">
                <a:cs typeface="微软雅黑" panose="020B0503020204020204" charset="-122"/>
                <a:sym typeface="+mn-ea"/>
              </a:rPr>
              <a:t>4</a:t>
            </a:r>
            <a:r>
              <a:rPr lang="zh-CN" altLang="en-US" sz="2000" dirty="0">
                <a:cs typeface="微软雅黑" panose="020B0503020204020204" charset="-122"/>
                <a:sym typeface="+mn-ea"/>
              </a:rPr>
              <a:t>题仅陈答错，第</a:t>
            </a:r>
            <a:r>
              <a:rPr lang="en-US" altLang="zh-CN" sz="2000" dirty="0">
                <a:cs typeface="微软雅黑" panose="020B0503020204020204" charset="-122"/>
                <a:sym typeface="+mn-ea"/>
              </a:rPr>
              <a:t>6</a:t>
            </a:r>
            <a:r>
              <a:rPr lang="zh-CN" altLang="en-US" sz="2000" dirty="0">
                <a:cs typeface="微软雅黑" panose="020B0503020204020204" charset="-122"/>
                <a:sym typeface="+mn-ea"/>
              </a:rPr>
              <a:t>题仅丁答对，王仅答对第</a:t>
            </a:r>
            <a:r>
              <a:rPr lang="en-US" altLang="zh-CN" sz="2000" dirty="0">
                <a:cs typeface="微软雅黑" panose="020B0503020204020204" charset="-122"/>
                <a:sym typeface="+mn-ea"/>
              </a:rPr>
              <a:t>2</a:t>
            </a:r>
            <a:r>
              <a:rPr lang="zh-CN" altLang="en-US" sz="2000" dirty="0">
                <a:cs typeface="微软雅黑" panose="020B0503020204020204" charset="-122"/>
                <a:sym typeface="+mn-ea"/>
              </a:rPr>
              <a:t>、</a:t>
            </a:r>
            <a:r>
              <a:rPr lang="en-US" altLang="zh-CN" sz="2000" dirty="0">
                <a:cs typeface="微软雅黑" panose="020B0503020204020204" charset="-122"/>
                <a:sym typeface="+mn-ea"/>
              </a:rPr>
              <a:t>4</a:t>
            </a:r>
            <a:r>
              <a:rPr lang="zh-CN" altLang="en-US" sz="2000" dirty="0">
                <a:cs typeface="微软雅黑" panose="020B0503020204020204" charset="-122"/>
                <a:sym typeface="+mn-ea"/>
              </a:rPr>
              <a:t>两题。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根据以上信息，可以得出以下哪项？</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第</a:t>
            </a:r>
            <a:r>
              <a:rPr lang="en-US" altLang="zh-CN" sz="2000" dirty="0">
                <a:cs typeface="微软雅黑" panose="020B0503020204020204" charset="-122"/>
                <a:sym typeface="+mn-ea"/>
              </a:rPr>
              <a:t>1</a:t>
            </a:r>
            <a:r>
              <a:rPr lang="zh-CN" altLang="en-US" sz="2000" dirty="0">
                <a:cs typeface="微软雅黑" panose="020B0503020204020204" charset="-122"/>
                <a:sym typeface="+mn-ea"/>
              </a:rPr>
              <a:t>题丁答对</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第</a:t>
            </a:r>
            <a:r>
              <a:rPr lang="en-US" altLang="zh-CN" sz="2000" dirty="0">
                <a:cs typeface="微软雅黑" panose="020B0503020204020204" charset="-122"/>
                <a:sym typeface="+mn-ea"/>
              </a:rPr>
              <a:t>2</a:t>
            </a:r>
            <a:r>
              <a:rPr lang="zh-CN" altLang="en-US" sz="2000" dirty="0">
                <a:cs typeface="微软雅黑" panose="020B0503020204020204" charset="-122"/>
                <a:sym typeface="+mn-ea"/>
              </a:rPr>
              <a:t>题丁答错</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第</a:t>
            </a:r>
            <a:r>
              <a:rPr lang="en-US" altLang="zh-CN" sz="2000" dirty="0">
                <a:cs typeface="微软雅黑" panose="020B0503020204020204" charset="-122"/>
                <a:sym typeface="+mn-ea"/>
              </a:rPr>
              <a:t>3</a:t>
            </a:r>
            <a:r>
              <a:rPr lang="zh-CN" altLang="en-US" sz="2000" dirty="0">
                <a:cs typeface="微软雅黑" panose="020B0503020204020204" charset="-122"/>
                <a:sym typeface="+mn-ea"/>
              </a:rPr>
              <a:t>题丁答对</a:t>
            </a:r>
            <a:endParaRPr lang="en-US" altLang="zh-CN"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第</a:t>
            </a:r>
            <a:r>
              <a:rPr lang="en-US" altLang="zh-CN" sz="2000" dirty="0">
                <a:cs typeface="微软雅黑" panose="020B0503020204020204" charset="-122"/>
                <a:sym typeface="+mn-ea"/>
              </a:rPr>
              <a:t>5</a:t>
            </a:r>
            <a:r>
              <a:rPr lang="zh-CN" altLang="en-US" sz="2000" dirty="0">
                <a:cs typeface="微软雅黑" panose="020B0503020204020204" charset="-122"/>
                <a:sym typeface="+mn-ea"/>
              </a:rPr>
              <a:t>题丁答错</a:t>
            </a:r>
            <a:endParaRPr lang="zh-CN" altLang="en-US" sz="2000" dirty="0">
              <a:cs typeface="微软雅黑" panose="020B0503020204020204" charset="-122"/>
              <a:sym typeface="+mn-ea"/>
            </a:endParaRPr>
          </a:p>
        </p:txBody>
      </p:sp>
      <p:graphicFrame>
        <p:nvGraphicFramePr>
          <p:cNvPr id="4" name="表格 3"/>
          <p:cNvGraphicFramePr/>
          <p:nvPr/>
        </p:nvGraphicFramePr>
        <p:xfrm>
          <a:off x="3171190" y="3022600"/>
          <a:ext cx="8533765" cy="1524000"/>
        </p:xfrm>
        <a:graphic>
          <a:graphicData uri="http://schemas.openxmlformats.org/drawingml/2006/table">
            <a:tbl>
              <a:tblPr firstRow="1" bandRow="1">
                <a:tableStyleId>{5C22544A-7EE6-4342-B048-85BDC9FD1C3A}</a:tableStyleId>
              </a:tblPr>
              <a:tblGrid>
                <a:gridCol w="1218565"/>
                <a:gridCol w="1218565"/>
                <a:gridCol w="1218565"/>
                <a:gridCol w="1218565"/>
                <a:gridCol w="1218565"/>
                <a:gridCol w="1218565"/>
                <a:gridCol w="1218565"/>
              </a:tblGrid>
              <a:tr h="381000">
                <a:tc>
                  <a:txBody>
                    <a:bodyPr/>
                    <a:p>
                      <a:pPr algn="ctr">
                        <a:buNone/>
                      </a:pPr>
                      <a:endParaRPr lang="zh-CN" altLang="en-US"/>
                    </a:p>
                  </a:txBody>
                  <a:tcPr/>
                </a:tc>
                <a:tc>
                  <a:txBody>
                    <a:bodyPr/>
                    <a:p>
                      <a:pPr algn="ctr">
                        <a:buNone/>
                      </a:pPr>
                      <a:r>
                        <a:rPr lang="zh-CN" altLang="en-US"/>
                        <a:t>第</a:t>
                      </a:r>
                      <a:r>
                        <a:rPr lang="en-US" altLang="zh-CN"/>
                        <a:t>1</a:t>
                      </a:r>
                      <a:r>
                        <a:rPr lang="zh-CN" altLang="en-US"/>
                        <a:t>题</a:t>
                      </a:r>
                      <a:endParaRPr lang="zh-CN" altLang="en-US"/>
                    </a:p>
                  </a:txBody>
                  <a:tcPr/>
                </a:tc>
                <a:tc>
                  <a:txBody>
                    <a:bodyPr/>
                    <a:p>
                      <a:pPr algn="ctr">
                        <a:buNone/>
                      </a:pPr>
                      <a:r>
                        <a:rPr lang="zh-CN" altLang="en-US"/>
                        <a:t>第</a:t>
                      </a:r>
                      <a:r>
                        <a:rPr lang="en-US" altLang="zh-CN"/>
                        <a:t>2</a:t>
                      </a:r>
                      <a:r>
                        <a:rPr lang="zh-CN" altLang="en-US"/>
                        <a:t>题</a:t>
                      </a:r>
                      <a:endParaRPr lang="zh-CN" altLang="en-US"/>
                    </a:p>
                  </a:txBody>
                  <a:tcPr/>
                </a:tc>
                <a:tc>
                  <a:txBody>
                    <a:bodyPr/>
                    <a:p>
                      <a:pPr algn="ctr">
                        <a:buNone/>
                      </a:pPr>
                      <a:r>
                        <a:rPr lang="zh-CN" altLang="en-US"/>
                        <a:t>第</a:t>
                      </a:r>
                      <a:r>
                        <a:rPr lang="en-US" altLang="zh-CN"/>
                        <a:t>3</a:t>
                      </a:r>
                      <a:r>
                        <a:rPr lang="zh-CN" altLang="en-US"/>
                        <a:t>题</a:t>
                      </a:r>
                      <a:endParaRPr lang="zh-CN" altLang="en-US"/>
                    </a:p>
                  </a:txBody>
                  <a:tcPr/>
                </a:tc>
                <a:tc>
                  <a:txBody>
                    <a:bodyPr/>
                    <a:p>
                      <a:pPr algn="ctr">
                        <a:buNone/>
                      </a:pPr>
                      <a:r>
                        <a:rPr lang="zh-CN" altLang="en-US"/>
                        <a:t>第</a:t>
                      </a:r>
                      <a:r>
                        <a:rPr lang="en-US" altLang="zh-CN"/>
                        <a:t>4</a:t>
                      </a:r>
                      <a:r>
                        <a:rPr lang="zh-CN" altLang="en-US"/>
                        <a:t>题</a:t>
                      </a:r>
                      <a:endParaRPr lang="zh-CN" altLang="en-US"/>
                    </a:p>
                  </a:txBody>
                  <a:tcPr/>
                </a:tc>
                <a:tc>
                  <a:txBody>
                    <a:bodyPr/>
                    <a:p>
                      <a:pPr algn="ctr">
                        <a:buNone/>
                      </a:pPr>
                      <a:r>
                        <a:rPr lang="zh-CN" altLang="en-US"/>
                        <a:t>第</a:t>
                      </a:r>
                      <a:r>
                        <a:rPr lang="en-US" altLang="zh-CN"/>
                        <a:t>5</a:t>
                      </a:r>
                      <a:r>
                        <a:rPr lang="zh-CN" altLang="en-US"/>
                        <a:t>题</a:t>
                      </a:r>
                      <a:endParaRPr lang="zh-CN" altLang="en-US"/>
                    </a:p>
                  </a:txBody>
                  <a:tcPr/>
                </a:tc>
                <a:tc>
                  <a:txBody>
                    <a:bodyPr/>
                    <a:p>
                      <a:pPr algn="ctr">
                        <a:buNone/>
                      </a:pPr>
                      <a:r>
                        <a:rPr lang="zh-CN" altLang="en-US"/>
                        <a:t>第</a:t>
                      </a:r>
                      <a:r>
                        <a:rPr lang="en-US" altLang="zh-CN"/>
                        <a:t>6</a:t>
                      </a:r>
                      <a:r>
                        <a:rPr lang="zh-CN" altLang="en-US"/>
                        <a:t>题</a:t>
                      </a:r>
                      <a:endParaRPr lang="zh-CN" altLang="en-US"/>
                    </a:p>
                  </a:txBody>
                  <a:tcPr/>
                </a:tc>
              </a:tr>
              <a:tr h="381000">
                <a:tc>
                  <a:txBody>
                    <a:bodyPr/>
                    <a:p>
                      <a:pPr algn="ctr">
                        <a:buNone/>
                      </a:pPr>
                      <a:r>
                        <a:rPr lang="zh-CN" altLang="en-US"/>
                        <a:t>陈</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r h="381000">
                <a:tc>
                  <a:txBody>
                    <a:bodyPr/>
                    <a:p>
                      <a:pPr algn="ctr">
                        <a:buNone/>
                      </a:pPr>
                      <a:r>
                        <a:rPr lang="zh-CN" altLang="en-US"/>
                        <a:t>王</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r h="381000">
                <a:tc>
                  <a:txBody>
                    <a:bodyPr/>
                    <a:p>
                      <a:pPr algn="ctr">
                        <a:buNone/>
                      </a:pPr>
                      <a:r>
                        <a:rPr lang="zh-CN" altLang="en-US"/>
                        <a:t>丁</a:t>
                      </a: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c>
                  <a:txBody>
                    <a:bodyPr/>
                    <a:p>
                      <a:pPr algn="ctr">
                        <a:buNone/>
                      </a:pPr>
                      <a:endParaRPr lang="zh-CN" altLang="en-US"/>
                    </a:p>
                  </a:txBody>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91</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91~92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本学期，某高校外语学院在大一的班级中进行英语教学方法改革试点，其中甲班和乙班是实验组，丙班和丁班是对照组。实验组和对照组的人数相等。期末测试后发现，实验组中甲班和乙班学生的平均成绩提高了</a:t>
            </a:r>
            <a:r>
              <a:rPr lang="en-US" altLang="zh-CN" sz="2000" dirty="0">
                <a:cs typeface="微软雅黑" panose="020B0503020204020204" charset="-122"/>
                <a:sym typeface="+mn-ea"/>
              </a:rPr>
              <a:t>9</a:t>
            </a:r>
            <a:r>
              <a:rPr lang="zh-CN" altLang="en-US" sz="2000" dirty="0">
                <a:cs typeface="微软雅黑" panose="020B0503020204020204" charset="-122"/>
                <a:sym typeface="+mn-ea"/>
              </a:rPr>
              <a:t>分，其中，</a:t>
            </a:r>
            <a:r>
              <a:rPr lang="zh-CN" altLang="en-US" sz="2000" dirty="0">
                <a:cs typeface="微软雅黑" panose="020B0503020204020204" charset="-122"/>
                <a:sym typeface="+mn-ea"/>
              </a:rPr>
              <a:t>甲班平均成绩提高了</a:t>
            </a:r>
            <a:r>
              <a:rPr lang="en-US" altLang="zh-CN" sz="2000" dirty="0">
                <a:cs typeface="微软雅黑" panose="020B0503020204020204" charset="-122"/>
                <a:sym typeface="+mn-ea"/>
              </a:rPr>
              <a:t>13</a:t>
            </a:r>
            <a:r>
              <a:rPr lang="zh-CN" altLang="en-US" sz="2000" dirty="0">
                <a:cs typeface="微软雅黑" panose="020B0503020204020204" charset="-122"/>
                <a:sym typeface="+mn-ea"/>
              </a:rPr>
              <a:t>分，乙班平均成绩提高了</a:t>
            </a:r>
            <a:r>
              <a:rPr lang="en-US" altLang="zh-CN" sz="2000" dirty="0">
                <a:cs typeface="微软雅黑" panose="020B0503020204020204" charset="-122"/>
                <a:sym typeface="+mn-ea"/>
              </a:rPr>
              <a:t>7</a:t>
            </a:r>
            <a:r>
              <a:rPr lang="zh-CN" altLang="en-US" sz="2000" dirty="0">
                <a:cs typeface="微软雅黑" panose="020B0503020204020204" charset="-122"/>
                <a:sym typeface="+mn-ea"/>
              </a:rPr>
              <a:t>分。对照组中丙班平均成绩提高了</a:t>
            </a:r>
            <a:r>
              <a:rPr lang="en-US" altLang="zh-CN" sz="2000" dirty="0">
                <a:cs typeface="微软雅黑" panose="020B0503020204020204" charset="-122"/>
                <a:sym typeface="+mn-ea"/>
              </a:rPr>
              <a:t>3</a:t>
            </a:r>
            <a:r>
              <a:rPr lang="zh-CN" altLang="en-US" sz="2000" dirty="0">
                <a:cs typeface="微软雅黑" panose="020B0503020204020204" charset="-122"/>
                <a:sym typeface="+mn-ea"/>
              </a:rPr>
              <a:t>分，丁班平均成绩提高了</a:t>
            </a:r>
            <a:r>
              <a:rPr lang="en-US" altLang="zh-CN" sz="2000" dirty="0">
                <a:cs typeface="微软雅黑" panose="020B0503020204020204" charset="-122"/>
                <a:sym typeface="+mn-ea"/>
              </a:rPr>
              <a:t>1</a:t>
            </a:r>
            <a:r>
              <a:rPr lang="zh-CN" altLang="en-US" sz="2000" dirty="0">
                <a:cs typeface="微软雅黑" panose="020B0503020204020204" charset="-122"/>
                <a:sym typeface="+mn-ea"/>
              </a:rPr>
              <a:t>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91.</a:t>
            </a:r>
            <a:r>
              <a:rPr lang="zh-CN" altLang="en-US" sz="2000" dirty="0">
                <a:cs typeface="微软雅黑" panose="020B0503020204020204" charset="-122"/>
                <a:sym typeface="+mn-ea"/>
              </a:rPr>
              <a:t>根据以上信息，可以推出：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实验组学生的成绩均提高了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实验组学生的总成绩高于对照组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乙班学生的人数多于甲班的学生</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英语成绩提高幅度最大的学生在实验组</a:t>
            </a:r>
            <a:endParaRPr lang="zh-CN" altLang="en-US" sz="2000" dirty="0">
              <a:cs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86385" y="0"/>
            <a:ext cx="10515600" cy="708025"/>
          </a:xfrm>
        </p:spPr>
        <p:txBody>
          <a:bodyPr/>
          <a:lstStyle/>
          <a:p>
            <a:pPr algn="l">
              <a:buClrTx/>
              <a:buSzTx/>
              <a:buFontTx/>
            </a:pPr>
            <a:r>
              <a:rPr kumimoji="1" lang="zh-CN" sz="2800" b="1" dirty="0">
                <a:solidFill>
                  <a:srgbClr val="FF653F"/>
                </a:solidFill>
              </a:rPr>
              <a:t>题</a:t>
            </a:r>
            <a:r>
              <a:rPr kumimoji="1" lang="en-US" altLang="zh-CN" sz="2800" b="1" dirty="0">
                <a:solidFill>
                  <a:srgbClr val="FF653F"/>
                </a:solidFill>
              </a:rPr>
              <a:t>92</a:t>
            </a:r>
            <a:endParaRPr kumimoji="1" lang="en-US" altLang="zh-CN" sz="2800" b="1" dirty="0">
              <a:solidFill>
                <a:srgbClr val="FF653F"/>
              </a:solidFill>
            </a:endParaRPr>
          </a:p>
        </p:txBody>
      </p:sp>
      <p:sp>
        <p:nvSpPr>
          <p:cNvPr id="3" name="文本框 2"/>
          <p:cNvSpPr txBox="1"/>
          <p:nvPr/>
        </p:nvSpPr>
        <p:spPr>
          <a:xfrm>
            <a:off x="462915" y="701675"/>
            <a:ext cx="8601710" cy="5526405"/>
          </a:xfrm>
          <a:prstGeom prst="rect">
            <a:avLst/>
          </a:prstGeom>
          <a:noFill/>
        </p:spPr>
        <p:txBody>
          <a:bodyPr wrap="square" rtlCol="0" anchor="t">
            <a:noAutofit/>
          </a:bodyPr>
          <a:p>
            <a:pPr indent="0" fontAlgn="auto">
              <a:lnSpc>
                <a:spcPct val="150000"/>
              </a:lnSpc>
            </a:pPr>
            <a:r>
              <a:rPr lang="zh-CN" altLang="en-US" sz="2000" dirty="0">
                <a:cs typeface="微软雅黑" panose="020B0503020204020204" charset="-122"/>
                <a:sym typeface="+mn-ea"/>
              </a:rPr>
              <a:t>根据以下材料，回答</a:t>
            </a:r>
            <a:r>
              <a:rPr lang="en-US" altLang="zh-CN" sz="2000" dirty="0">
                <a:cs typeface="微软雅黑" panose="020B0503020204020204" charset="-122"/>
                <a:sym typeface="+mn-ea"/>
              </a:rPr>
              <a:t>91~92</a:t>
            </a:r>
            <a:r>
              <a:rPr lang="zh-CN" altLang="en-US" sz="2000" dirty="0">
                <a:cs typeface="微软雅黑" panose="020B0503020204020204" charset="-122"/>
                <a:sym typeface="+mn-ea"/>
              </a:rPr>
              <a:t>题。</a:t>
            </a:r>
            <a:endParaRPr lang="zh-CN" altLang="en-US" sz="2000" dirty="0">
              <a:cs typeface="微软雅黑" panose="020B0503020204020204" charset="-122"/>
              <a:sym typeface="+mn-ea"/>
            </a:endParaRPr>
          </a:p>
          <a:p>
            <a:pPr indent="0" fontAlgn="auto">
              <a:lnSpc>
                <a:spcPct val="150000"/>
              </a:lnSpc>
            </a:pPr>
            <a:r>
              <a:rPr lang="zh-CN" altLang="en-US" sz="2000" dirty="0">
                <a:cs typeface="微软雅黑" panose="020B0503020204020204" charset="-122"/>
                <a:sym typeface="+mn-ea"/>
              </a:rPr>
              <a:t>本学期，某高校外语学院在大一的班级中进行英语教学方法改革试点，其中甲班和乙班是实验组，丙班和丁班是对照组。实验组和对照组的人数相等。期末测试后发现，实验组中甲班和乙班学生的平均成绩提高了</a:t>
            </a:r>
            <a:r>
              <a:rPr lang="en-US" altLang="zh-CN" sz="2000" dirty="0">
                <a:cs typeface="微软雅黑" panose="020B0503020204020204" charset="-122"/>
                <a:sym typeface="+mn-ea"/>
              </a:rPr>
              <a:t>9</a:t>
            </a:r>
            <a:r>
              <a:rPr lang="zh-CN" altLang="en-US" sz="2000" dirty="0">
                <a:cs typeface="微软雅黑" panose="020B0503020204020204" charset="-122"/>
                <a:sym typeface="+mn-ea"/>
              </a:rPr>
              <a:t>分，其中，</a:t>
            </a:r>
            <a:r>
              <a:rPr lang="zh-CN" altLang="en-US" sz="2000" dirty="0">
                <a:cs typeface="微软雅黑" panose="020B0503020204020204" charset="-122"/>
                <a:sym typeface="+mn-ea"/>
              </a:rPr>
              <a:t>甲班平均成绩提高了</a:t>
            </a:r>
            <a:r>
              <a:rPr lang="en-US" altLang="zh-CN" sz="2000" dirty="0">
                <a:cs typeface="微软雅黑" panose="020B0503020204020204" charset="-122"/>
                <a:sym typeface="+mn-ea"/>
              </a:rPr>
              <a:t>13</a:t>
            </a:r>
            <a:r>
              <a:rPr lang="zh-CN" altLang="en-US" sz="2000" dirty="0">
                <a:cs typeface="微软雅黑" panose="020B0503020204020204" charset="-122"/>
                <a:sym typeface="+mn-ea"/>
              </a:rPr>
              <a:t>分，乙班平均成绩提高了</a:t>
            </a:r>
            <a:r>
              <a:rPr lang="en-US" altLang="zh-CN" sz="2000" dirty="0">
                <a:cs typeface="微软雅黑" panose="020B0503020204020204" charset="-122"/>
                <a:sym typeface="+mn-ea"/>
              </a:rPr>
              <a:t>7</a:t>
            </a:r>
            <a:r>
              <a:rPr lang="zh-CN" altLang="en-US" sz="2000" dirty="0">
                <a:cs typeface="微软雅黑" panose="020B0503020204020204" charset="-122"/>
                <a:sym typeface="+mn-ea"/>
              </a:rPr>
              <a:t>分。对照组中丙班平均成绩提高了</a:t>
            </a:r>
            <a:r>
              <a:rPr lang="en-US" altLang="zh-CN" sz="2000" dirty="0">
                <a:cs typeface="微软雅黑" panose="020B0503020204020204" charset="-122"/>
                <a:sym typeface="+mn-ea"/>
              </a:rPr>
              <a:t>3</a:t>
            </a:r>
            <a:r>
              <a:rPr lang="zh-CN" altLang="en-US" sz="2000" dirty="0">
                <a:cs typeface="微软雅黑" panose="020B0503020204020204" charset="-122"/>
                <a:sym typeface="+mn-ea"/>
              </a:rPr>
              <a:t>分，丁班平均成绩提高了</a:t>
            </a:r>
            <a:r>
              <a:rPr lang="en-US" altLang="zh-CN" sz="2000" dirty="0">
                <a:cs typeface="微软雅黑" panose="020B0503020204020204" charset="-122"/>
                <a:sym typeface="+mn-ea"/>
              </a:rPr>
              <a:t>1</a:t>
            </a:r>
            <a:r>
              <a:rPr lang="zh-CN" altLang="en-US" sz="2000" dirty="0">
                <a:cs typeface="微软雅黑" panose="020B0503020204020204" charset="-122"/>
                <a:sym typeface="+mn-ea"/>
              </a:rPr>
              <a:t>分。</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92.</a:t>
            </a:r>
            <a:r>
              <a:rPr lang="zh-CN" altLang="en-US" sz="2000" dirty="0">
                <a:cs typeface="微软雅黑" panose="020B0503020204020204" charset="-122"/>
                <a:sym typeface="+mn-ea"/>
              </a:rPr>
              <a:t>有人据此得出结论，该教学方法改革有助于提高学生的英语成绩。</a:t>
            </a:r>
            <a:r>
              <a:rPr lang="zh-CN" altLang="en-US" sz="2000" dirty="0">
                <a:cs typeface="微软雅黑" panose="020B0503020204020204" charset="-122"/>
                <a:sym typeface="+mn-ea"/>
              </a:rPr>
              <a:t>以下哪项如果为真，最能质疑上述结论？</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A.</a:t>
            </a:r>
            <a:r>
              <a:rPr lang="zh-CN" altLang="en-US" sz="2000" dirty="0">
                <a:cs typeface="微软雅黑" panose="020B0503020204020204" charset="-122"/>
                <a:sym typeface="+mn-ea"/>
              </a:rPr>
              <a:t>对照组学生的英语基础比实验组差</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B.</a:t>
            </a:r>
            <a:r>
              <a:rPr lang="zh-CN" altLang="en-US" sz="2000" dirty="0">
                <a:cs typeface="微软雅黑" panose="020B0503020204020204" charset="-122"/>
                <a:sym typeface="+mn-ea"/>
              </a:rPr>
              <a:t>实验组学生的专业课总学时少于对照组</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C.</a:t>
            </a:r>
            <a:r>
              <a:rPr lang="zh-CN" altLang="en-US" sz="2000" dirty="0">
                <a:cs typeface="微软雅黑" panose="020B0503020204020204" charset="-122"/>
                <a:sym typeface="+mn-ea"/>
              </a:rPr>
              <a:t>对照组学生的期中英语成绩与实验组相近</a:t>
            </a:r>
            <a:endParaRPr lang="zh-CN" altLang="en-US" sz="2000" dirty="0">
              <a:cs typeface="微软雅黑" panose="020B0503020204020204" charset="-122"/>
              <a:sym typeface="+mn-ea"/>
            </a:endParaRPr>
          </a:p>
          <a:p>
            <a:pPr indent="0" fontAlgn="auto">
              <a:lnSpc>
                <a:spcPct val="150000"/>
              </a:lnSpc>
            </a:pPr>
            <a:r>
              <a:rPr lang="en-US" altLang="zh-CN" sz="2000" dirty="0">
                <a:cs typeface="微软雅黑" panose="020B0503020204020204" charset="-122"/>
                <a:sym typeface="+mn-ea"/>
              </a:rPr>
              <a:t>D.</a:t>
            </a:r>
            <a:r>
              <a:rPr lang="zh-CN" altLang="en-US" sz="2000" dirty="0">
                <a:cs typeface="微软雅黑" panose="020B0503020204020204" charset="-122"/>
                <a:sym typeface="+mn-ea"/>
              </a:rPr>
              <a:t>有些实验组学生的期末英语测试成绩下降了</a:t>
            </a:r>
            <a:endParaRPr lang="zh-CN" altLang="en-US" sz="2000" dirty="0">
              <a:cs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0" y="0"/>
            <a:ext cx="12262485" cy="6858000"/>
          </a:xfrm>
          <a:prstGeom prst="rect">
            <a:avLst/>
          </a:prstGeom>
        </p:spPr>
      </p:pic>
      <p:pic>
        <p:nvPicPr>
          <p:cNvPr id="8" name="图片 7" descr="徽标&#10;&#10;AI 生成的内容可能不正确。"/>
          <p:cNvPicPr>
            <a:picLocks noChangeAspect="1"/>
          </p:cNvPicPr>
          <p:nvPr/>
        </p:nvPicPr>
        <p:blipFill>
          <a:blip r:embed="rId2"/>
          <a:srcRect t="9991" b="18252"/>
          <a:stretch>
            <a:fillRect/>
          </a:stretch>
        </p:blipFill>
        <p:spPr>
          <a:xfrm>
            <a:off x="4437879" y="883627"/>
            <a:ext cx="2976453" cy="950430"/>
          </a:xfrm>
          <a:prstGeom prst="rect">
            <a:avLst/>
          </a:prstGeom>
        </p:spPr>
      </p:pic>
      <p:sp>
        <p:nvSpPr>
          <p:cNvPr id="4" name="文本框 3"/>
          <p:cNvSpPr txBox="1"/>
          <p:nvPr/>
        </p:nvSpPr>
        <p:spPr>
          <a:xfrm>
            <a:off x="4844561" y="2711751"/>
            <a:ext cx="2795954" cy="769441"/>
          </a:xfrm>
          <a:prstGeom prst="rect">
            <a:avLst/>
          </a:prstGeom>
          <a:noFill/>
        </p:spPr>
        <p:txBody>
          <a:bodyPr wrap="square" rtlCol="0">
            <a:spAutoFit/>
          </a:bodyPr>
          <a:p>
            <a:r>
              <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rPr>
              <a:t>感谢收看！</a:t>
            </a:r>
            <a:endParaRPr kumimoji="1" lang="zh-CN" altLang="en-US" sz="4400" b="1" dirty="0">
              <a:solidFill>
                <a:srgbClr val="DC5037"/>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3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1.xml><?xml version="1.0" encoding="utf-8"?>
<p:tagLst xmlns:p="http://schemas.openxmlformats.org/presentationml/2006/main">
  <p:tag name="resource_record_key" val="{&quot;13&quot;:[20481828,4364903,4364924],&quot;65&quot;:[20205081]}"/>
  <p:tag name="COMMONDATA" val="eyJoZGlkIjoiYzg3MDM0ZWQ4YjU1N2M3YWUwMzk3ZjZkYThmOGJjZTM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微软雅黑"/>
        <a:ea typeface="微软雅黑"/>
        <a:cs typeface=""/>
      </a:majorFont>
      <a:minorFont>
        <a:latin typeface="微软雅黑"/>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2532</Words>
  <Application>WPS 演示</Application>
  <PresentationFormat>宽屏</PresentationFormat>
  <Paragraphs>155</Paragraphs>
  <Slides>17</Slides>
  <Notes>4</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17</vt:i4>
      </vt:variant>
    </vt:vector>
  </HeadingPairs>
  <TitlesOfParts>
    <vt:vector size="26" baseType="lpstr">
      <vt:lpstr>Arial</vt:lpstr>
      <vt:lpstr>宋体</vt:lpstr>
      <vt:lpstr>Wingdings</vt:lpstr>
      <vt:lpstr>微软雅黑</vt:lpstr>
      <vt:lpstr>微软雅黑 Light</vt:lpstr>
      <vt:lpstr>Wingdings</vt:lpstr>
      <vt:lpstr>Arial Unicode MS</vt:lpstr>
      <vt:lpstr>Office 主题​​</vt:lpstr>
      <vt:lpstr>WPS</vt:lpstr>
      <vt:lpstr>PowerPoint 演示文稿</vt:lpstr>
      <vt:lpstr>题61</vt:lpstr>
      <vt:lpstr>题62</vt:lpstr>
      <vt:lpstr>题65</vt:lpstr>
      <vt:lpstr>题66</vt:lpstr>
      <vt:lpstr>题67</vt:lpstr>
      <vt:lpstr>题70</vt:lpstr>
      <vt:lpstr>题77</vt:lpstr>
      <vt:lpstr>题79</vt:lpstr>
      <vt:lpstr>题81</vt:lpstr>
      <vt:lpstr>题84</vt:lpstr>
      <vt:lpstr>题86</vt:lpstr>
      <vt:lpstr>题87</vt:lpstr>
      <vt:lpstr>题90</vt:lpstr>
      <vt:lpstr>题91</vt:lpstr>
      <vt:lpstr>题92</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200</cp:revision>
  <dcterms:created xsi:type="dcterms:W3CDTF">2019-06-19T02:08:00Z</dcterms:created>
  <dcterms:modified xsi:type="dcterms:W3CDTF">2025-08-05T02:42:05Z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7E0F0589F6D94CFE8A4BC2AEA01394FF_11</vt:lpwstr>
  </property>
</Properties>
</file>