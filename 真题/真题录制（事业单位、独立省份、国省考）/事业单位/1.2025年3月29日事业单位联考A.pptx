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4"/>
  </p:handoutMasterIdLst>
  <p:sldIdLst>
    <p:sldId id="629" r:id="rId4"/>
    <p:sldId id="424" r:id="rId6"/>
    <p:sldId id="1363" r:id="rId7"/>
    <p:sldId id="1364" r:id="rId8"/>
    <p:sldId id="1365" r:id="rId9"/>
    <p:sldId id="1366" r:id="rId10"/>
    <p:sldId id="1397"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400" r:id="rId24"/>
    <p:sldId id="1379" r:id="rId25"/>
    <p:sldId id="1380" r:id="rId26"/>
    <p:sldId id="1381" r:id="rId27"/>
    <p:sldId id="1382" r:id="rId28"/>
    <p:sldId id="1383" r:id="rId29"/>
    <p:sldId id="1384" r:id="rId30"/>
    <p:sldId id="1385" r:id="rId31"/>
    <p:sldId id="1386" r:id="rId32"/>
    <p:sldId id="1387" r:id="rId33"/>
    <p:sldId id="1388" r:id="rId34"/>
    <p:sldId id="1389" r:id="rId35"/>
    <p:sldId id="1390" r:id="rId36"/>
    <p:sldId id="1391" r:id="rId37"/>
    <p:sldId id="1392" r:id="rId38"/>
    <p:sldId id="1393" r:id="rId39"/>
    <p:sldId id="1394" r:id="rId40"/>
    <p:sldId id="1398" r:id="rId41"/>
    <p:sldId id="1399" r:id="rId42"/>
    <p:sldId id="992" r:id="rId43"/>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249246244" name="桑桑" initials="桑" lastIdx="1" clrIdx="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9" Type="http://schemas.openxmlformats.org/officeDocument/2006/relationships/tags" Target="tags/tag32.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49246244" dt="2025-07-28T11:54:09.659" idx="1">
    <p:pos x="10" y="10"/>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元素组成不同，优先考虑属性规律。观察发现，题干每幅图中均有一个黑块，且黑块呈“等腰”形式，优先考虑黑块的对称性。九宫格优先按行看，第一行图形中，黑块均为轴对称图形，有1条对称轴，且对称轴沿逆时针方向依次旋转45°。经验证，第二行满足此规律。第三行应用此规律，故？处应选择黑块有一条竖直方向对称轴的图形，只有C项符合。</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元素组成不同，且无明显属性规律，优先考虑数量规律。观察发现，题干中黑球成堆摆放，且每幅图中的黑球均有两部分，考虑分开看。图①③④中两部分的黑球数量相同，图②⑤⑥中两部分的黑球数量差值为2，故图①③④为一组，图②⑤⑥为一组。</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53.【答案】B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观察发现，题干每幅图均有一个大黑色图形、四个单独的三角形，图①③④中四个单独的三角形和外框相交，大黑色图形与外框不相交，图②⑤⑥大黑色图形与外框相交，四个单独的三角形和外框不相交。故图①③④为一组，图②⑤⑥为一组。</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【解析】本题为空间重构题。对展开图进行编号，如下图所示：</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该项正面为面b，面b和面d为相对面不能同时出现，故顶面为面a，右侧面为面c或面e。如下图所示，若右侧面为面c，立体图中三个面的公共点（红点）引出两条线，展开图中三个面的公共点（蓝点）引出一条线，选项与题干展开图不一致；若右侧面为面e，展开图中三个面的公共点（紫点）引出一条线，选项与题干展开图不一致，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该项正面为面f，面a和面f为相对面不能同时出现，故顶面为面d，右侧面为面c或面e。如下图所示，若右侧面为面c，立体图中三个面的公共点（红点）引出两条线，展开图中三个面的公共点（蓝点）引出一条线，选项与题干展开图不一致；若右侧面为面e，展开图中三个面的公共点（绿点）引出一条线，选项与题干展开图不一致，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C项：选项与题干展开图一致，当选；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D项：该项中同时出现面c和面e，但面c和面e为相对面，不能同时出现，选项与题干展开图不一致，排除。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【解析】本题为空间重构题。</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根据题干要求，沿箭头所示路径翻转正四面体，即以公共边为轴沿着路径翻转（注意：题干给出的是正四面体的外表面展开图），如下图所示，正四面体沿路径到达问号处，此时底面的字母为D。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【解析】本题为空间重构题。</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根据题干要求，沿箭头所示路径翻转正四面体，即以公共边为轴沿着路径翻转（注意：题干给出的是正四面体的外表面展开图），如下图所示，正四面体沿路径到达问号处，此时底面的字母为D。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【解析】“利益相反且对抗竞争的各方为使自己处于有利地位所做的决策”、“各方都按一定规则行动，并根据他方所采用的策略和手段来决定自己应对的方法”。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在举重比赛中，每位选手试举后，其余选手会根据该次试举结果调整自己下一次试举的重量，符合“利益相反且对抗竞争的各方为使自己处于有利地位所做的决策”、“各方都按一定规则行动，并根据他方所采用的策略和手段来决定自己应对的方法”，符合定义，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B项：为了中标，双方均在标书中直接给出了接近成本的报价，不符合“各方都按一定规则行动，并根据他方所采用的策略和手段来决定自己应对的方法”，不符合定义，排除；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C项：小张和小李是同学，并非利益相反且处于对抗竞争的双方不符合“利益相反且对抗竞争的各方为使自己处于有利地位所做的决策”，不符合定义，排除；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D项：母亲和儿子，并非利益相反且处于对抗竞争的双方，不符合“利益相反且对抗竞争的各方为使自己处于有利地位所做的决策”，不符合定义，排除。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57.【答案】D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【解析】“主要研究海洋及相关环境中与环境质量关系密切的化学污染物的来源、迁移、分布、反应、转化、效应、归宿以及人类活动对这些过程可能产生的作用和影响”。</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选择无机和有机吸附剂进行海水提碘、提溴，与海洋化学污染物无关，不符合“主要研究海洋及相关环境中与环境质量关系密切的化学污染物的来源、迁移、分布、反应、转化、效应、归宿以及人类活动对这些过程可能产生的作用和影响”，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分析海水中各种成分的含量及含量间的比例关系，不明确这些成分是否与污染物有关，不符合“主要研究海洋及相关环境中与环境质量关系密切的化学污染物的来源、迁移、分布、反应、转化、效应、归宿以及人类活动对这些过程可能产生的作用和影响”，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研究长江下游水质和底质中物质分布特征，研究对象不是海洋，不符合“主要研究海洋及相关环境中与环境质量关系密切的化学污染物的来源、迁移、分布、反应、转化、效应、归宿以及人类活动对这些过程可能产生的作用和影响”，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研究放射性核素在渤海中的存在形式和运动规律，放射性核素为化学污染物，符合“主要研究海洋及相关环境中与环境质量关系密切的化学污染物的来源、迁移、分布、反应、转化、效应、归宿以及人类活动对这些过程可能产生的作用和影响”，符合定义，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58.【答案】C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【解析】“通过肉眼观察或利用仪器测量动植物的外部特征（包括毛色、体型、外形、皮肤结构等）”、“以这种形态性状、生理性状及生态地理分布等特征作为遗传标记，来研究物种间的关系、分类和鉴定”。</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A项：动物癌细胞DNA序列不属于动植物的外部特征，不符合“通过肉眼观察或利用仪器测量动植物的外部特征（包括毛色、体型、外形、皮肤结构等）”，不符合定义，排除；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B项：小鼠、牛、马等动物体内血清蛋白不属于动植物的外部特征，不符合“通过肉眼观察或利用仪器测量动植物的外部特征（包括毛色、体型、外形、皮肤结构等）”，不符合定义，排除；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株高、穗长、粒色，符合“通过肉眼观察或利用仪器测量动植物的外部特征（包括毛色、体型、外形、皮肤结构等）”，分析济麦、淮麦等小麦品种间的亲缘关系，符合“以这种形态性状、生理性状及生态地理分布等特征作为遗传标记，来研究物种间的关系、分类和鉴定”，符合定义，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D项：分析羽毛染色体上等位基因的差异是对基因的分析，不符合“以这种形态性状、生理性状及生态地理分布等特征作为遗传标记，来研究物种间的关系、分类和鉴定”，不符合定义，排除。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59.【答案】B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【解析】“句中‘使’‘命’‘令’这类动词的宾语常兼作后边一个主谓词组的主语，这个词就称作兼语，而这个兼语在动宾结构的短句中被省略了”。</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1）：“不如因而厚遇之，使归赵。”意思为：不如趁此好好款待他，放他回到赵国。“使归赵”中省略了“之”，即“使（之）归赵”，“之”为“使”的宾语，又为“归赵”的主语，符合“句中‘使’‘命’‘令’这类动词的宾语常兼作后边一个主谓词组的主语，这个词就称作兼语，而这个兼语在动宾结构的短句中被省略了”，符合定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2）：“乃令骑皆下马步行，持短兵接战。”意思为：命令骑兵都下马步行，手持短兵器与追兵交战。“令”的宾语为“骑”，“骑”又为“下马步行”的主语，并未省略，不符合“句中‘使’‘命’‘令’这类动词的宾语常兼作后边一个主谓词组的主语，这个词就称作兼语，而这个兼语在动宾结构的短句中被省略了”，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3）：“扶苏以数谏故，上使外将兵。”意思为：扶苏因为屡次劝谏，皇上派（他）在外面带兵。“上使外将兵”中省略了“扶苏”，即“上使（扶苏）外将兵”，“扶苏”为“使”的宾语，又为“将兵”的主语，符合“句中‘使’‘命’‘令’这类动词的宾语常兼作后边一个主谓词组的主语，这个词就称作兼语，而这个兼语在动宾结构的短句中被省略了”，符合定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4）：“王使屈平为令，众莫不知。”意思为：大王叫屈原制订法令，大家没有不知道的。“使”的宾语为“屈平”，“屈平”又为“为令”的主语，并未省略，不符合“句中‘使’‘命’‘令’这类动词的宾语常兼作后边一个主谓词组的主语，这个词就称作兼语，而这个兼语在动宾结构的短句中被省略了”，不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综上，属于兼语省略的为（1）（3）。</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【解析】统联：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前后两个句段的统摄和被统摄关系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回向统联：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后段统摄前段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当前段不止一段时，先行各段都是末段所指的具体内容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两个并列分句，但后段未统领前端，仅为连续陈述，不符合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后段统摄前段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当前段不止一段时，先行各段都是末段所指的具体内容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项：三个分句并列陈述不同意见，末句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他说去打球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仅是其中之一，未统摄前段，不符合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后段统摄前段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当前段不止一段时，先行各段都是末段所指的具体内容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项：后段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十分钟以后去他诊室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是医生通知的具体内容，而非后段统摄前段，不符合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后段统摄前段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当前段不止一段时，先行各段都是末段所指的具体内容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项：前两句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你被批评了，你心里难受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描述具体情境，末句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我是知道的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明确统摄前两段，表明对前述情况的知晓，前段为后段的具体内容，符合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后段统摄前段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当前段不止一段时，先行各段都是末段所指的具体内容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61.【答案】A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【解析】“固态金属或合金”、“加热、保温和冷却”、“改变工件内部的显微组织，或改变工件表面的化学成分”、“以获得所需要的组织结构与性能的加工方法”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A项：将铅块加热熔化成液体，此过程仅仅涉及金属的形状改变，不符合“改变工件内部的显微组织，或改变工件表面的化学成分”、“以获得所需要的组织结构与性能的加工方法”，不符合定义，当选；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钢加热后保温，通过喷水吹风冷却来细化晶粒，以改善切削性能，符合“加热、保温和冷却”、“改变工件内部的显微组织，或改变工件表面的化学成分”、“以获得所需要的组织结构与性能的加工方法”，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合金钢通入氨气加热保温，氮原子渗入表层，此为表面化学热处理（渗氮），通过改变表面化学成分提升性能，符合“加热、保温和冷却”、“改变工件内部的显微组织，或改变工件表面的化学成分”、“以获得所需要的组织结构与性能的加工方法”，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钢加热到临界温度后冷却，再适当温度保温、冷却，以此改变了内部结构，降低脆性，获得所需的组织结构和性能，符合“加热、保温和冷却”、“改变工件内部的显微组织，或改变工件表面的化学成分”、“以获得所需要的组织结构与性能的加工方法”，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本题为选非题，故正确答案为A。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62.【答案】C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【解析】“两个并非彼此矛盾的概念或者事项”、“人为地对立起来”、“让人们在两者之中作出选择的逻辑错误”。</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将“朋友可靠”与“亲戚可靠”对立，暗示必须二选一。但朋友和亲戚的可靠性并非矛盾，可能存在两者都可靠或都不可靠的情况，符合“两个并非彼此矛盾的概念或者事项”、“人为地对立起来”、“让人们在两者之中作出选择的逻辑错误”，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提出“加碘盐”与“低碘盐”的选择，但两者并非彼此矛盾，还可能存在其他选项，如普通盐、高碘盐，符合“两个并非彼此矛盾的概念或者事项”、“人为地对立起来”、“让人们在两者之中作出选择的逻辑错误”，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C项：“高枕必无忧”与“高枕未必无忧”是逻辑上的矛盾关系，前者为绝对肯定，后者为部分否定，二者必有一真一假，不存在第三种可能，不符合“两个并非彼此矛盾的概念或者事项”，不符合定义，当选；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将“武力”与“正义”对立，暗示二者不可共存。但武力可能用于维护正义，二者并非矛盾，可同时成立，符合“两个并非彼此矛盾的概念或者事项”、“人为地对立起来”、“让人们在两者之中作出选择的逻辑错误”，符合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本题为选非题，故正确答案为C。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【解析】亲和数：自然数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单亲和数：自然数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自身）之和不等于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非亲和数：自然数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自身）之和不等于另一个自然数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自身）之和不等于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1+2+5=8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8≠16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1+2+4+8=15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15≠10</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自身）之和不等于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单亲和数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1≠21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1+3+7=11</a:t>
            </a:r>
            <a:r>
              <a:rPr lang="zh-CN" altLang="en-US" sz="1200" kern="1200" dirty="0">
                <a:solidFill>
                  <a:schemeClr val="tx1"/>
                </a:solidFill>
                <a:effectLst/>
                <a:latin typeface="+mn-lt"/>
                <a:sym typeface="+mn-ea"/>
              </a:rPr>
              <a:t>，与另一个数</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相等，符合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自身）之和不等于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单亲和数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1+3+5=9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9≠18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1+2+3+6+9=21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21≠15</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自身）之和不等于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单亲和数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1+2+11=14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14≠28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的正约数有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，除去自身即</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，剩下的约数之和是</a:t>
            </a:r>
            <a:r>
              <a:rPr lang="en-US" altLang="zh-CN" sz="1200" kern="1200" dirty="0">
                <a:solidFill>
                  <a:schemeClr val="tx1"/>
                </a:solidFill>
                <a:effectLst/>
                <a:latin typeface="+mn-lt"/>
                <a:sym typeface="+mn-ea"/>
              </a:rPr>
              <a:t>1+2+4+7+14=28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28≠22</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自身）之和等于另一个自然数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的正约数（除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自身）之和不等于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单亲和数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64.【答案】A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【解析】思维反刍：个体在经历消极事件后或者面对压力时，反复思考的过程。</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消极型思维反刍：比较当前状况和不能实现的目标之间的差距却不思解决。</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积极型思维反刍：有目的地思考并寻找解决问题的方法。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A项：小赵评优落选后，比较自身与优秀员工的差距并找到努力方向，通过比较差距，明确改进方向和途径，符合“有目的地思考并寻找解决问题的方法”，符合“积极型思维反刍”定义，当选；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小钱毕业前实习积累经验以寻找理想工作，属于主动规划，未提及经历消极事件或压力，不符合“个体在经历消极事件后或者面对压力时，反复思考的过程”，不符合“思维反刍”定义，更不符合“积极型思维反刍”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小孙因错误受处分后认为领导为难自己，反而归咎他人，经历消极事件后未尝试解决问题，符合“比较当前状况和不能实现的目标之间的差距却不思解决”，符合“消极型思维反刍”定义，不符合“积极型思维反刍”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小李认为好友考研失败是因为学习方法不当，小李是旁观者，未经历自身消极事件，不符合“个体在经历消极事件后或者面对压力时，反复思考的过程”，不符合“思维反刍”定义，更不符合“积极型思维反刍”定义，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65.【答案】B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【解析】条件联系：“一事物情况的存在与否对另一事物情况的存在与否的制约或依赖关系”；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p是q的充分条件：“当有事物情况p，就有事物情况q”；</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p是q的必要条件：“当没有事物情况p，就没有事物情况q”。</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当a能被21整除，则a一定能被7整除，即当（1）成立，（2）一定成立，符合“当有事物情况p，就有事物情况q”，则（1）是（2）的充分条件；</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当b各个数位上的数之和不是3的倍数，则b不能被6整除，即当（3）不成立，则（4）一定不成立，符合“当没有事物情况p，就没有事物情况q”，则（3）是（4）的必要条件。</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66.【答案】A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【解析】实习是实践的一种具体形式，二者为种属关系。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A项：远足是运动的一种具体形式，二者为种属关系，与题干逻辑关系一致，当选；</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B项：电池被废弃后属于垃圾，有的电池是垃圾，有的电池不是垃圾，有的垃圾是电池，有的垃圾不是电池，二者为交叉关系，与题干逻辑关系不一致，排除；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C项：餐饮是提供餐食的行业，二者为行业与内容的对应关系，与题干逻辑关系不一致，排除；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D项：思想是思考的结果，二者为因果的对应关系，与题干逻辑关系不一致，排除。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故正确答案为A。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67.【答案】B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【解析】不由自主指由不得自己做主，无法控制住自己；情不自禁指控 制不住自己的感情。二者为近义关系。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项，别有洞天多形容风景优雅，引人入胜；峰回路转形容山峰迂回，道路曲折，也 比喻事情经过挫折失败后出现新的转机。二者不是近义关系，与题干关系不一致。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项，近水楼台比喻由于地处近便或者条件优越而获得优先的机会； 向阳花木比喻因 占有方便的条件而获得利益或照顾。二者为近义关系，与题干关系一致。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项，瓜田李下泛指容易招致嫌疑的场合；指鹿为马比喻颠倒黑白，混淆是非。二者 不是近义关系，与题干关系不一致。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项，徒劳无功指白费力气，没有一点成效；水到渠成比喻条件成熟，事情自然成功。 二者是反义关系，与题干关系不一致。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67.【答案】B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【解析】不由自主指由不得自己做主，无法控制住自己；情不自禁指控 制不住自己的感情。二者为近义关系。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项，别有洞天多形容风景优雅，引人入胜；峰回路转形容山峰迂回，道路曲折，也 比喻事情经过挫折失败后出现新的转机。二者不是近义关系，与题干关系不一致。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项，近水楼台比喻由于地处近便或者条件优越而获得优先的机会； 向阳花木比喻因 占有方便的条件而获得利益或照顾。二者为近义关系，与题干关系一致。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项，瓜田李下泛指容易招致嫌疑的场合；指鹿为马比喻颠倒黑白，混淆是非。二者 不是近义关系，与题干关系不一致。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项，徒劳无功指白费力气，没有一点成效；水到渠成比喻条件成熟，事情自然成功。 二者是反义关系，与题干关系不一致。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68.【答案】D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【解析】渔船是渔民的工具，渔场是渔民的工作地点，三者为职业、工 具和地点对应关系。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项，工厂和工地都是工人的工作地点，与题干关系不一致。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项，歌曲是歌手演唱的对象，而并非工具，与题干关系不一致。 </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项，护理是护士的工作内容，而并非工具，与题干关系不一致。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项，车床是车工的工具，车间是车工的工作地点，三者为职业、工具和地点对应关 系，与题干关系一致。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69.【答案】A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【解析】二维码是一种图形，二者为包含关系；二维码可以用于传递信 息，二者为事物功能关系。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项，银行卡是一种磁卡，二者为包含关系；银行卡可以用于支付款项，二者为事物 功能关系。与题干关系一致。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项，飞沫是肺结核病菌传播的一种途径，与题干关系不一致。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项，依据乐谱弹奏电子琴，与题干关系不一致。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项，充电宝连通电路后可提供电流充电，与题干关系不一致。 故本题选 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【解析】党小组是党支部的组成部分，二者为组成关系；党员是党小组的组成部分，二者为组成关系。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铁路枢纽是指在铁路网的交汇点或终端地区，由各种铁路线路、专业车站以及其他为运输服务的有关设备组成的总体，铁路枢纽是铁路网的组成部分，二者为组成关系；铁路枢纽为火车运行提供服务，二者为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项：食物链是生态系统的组成部分，二者为组成关系，但与题干先后顺序不一致，排除；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项：监管体系与金融体系相互依存，二者为对应关系，与题干逻辑关系不一致，排除；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项：初中教育是义务教育的组成部分，二者为组成关系；美育是初中教育的组成部分，二者为组成关系，与题干逻辑关系一致，当选。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71.【答案】C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【解析】夜视镜、显微镜、滤光镜三者为全异关系，且都是根据功能来 命名的。</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项，网球鞋、高跟鞋、绣花鞋三者为全异关系，但高跟鞋和绣花鞋均不是根据功能 命名的，与题干关系不一致。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项，自驾游和跟团游是全异关系，二者与亲子游均为交叉关系，与题干关系不一致。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项，潜水服、消防服、宇航服三者为全异关系，且都是根据功能来命名的，与题干 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项，可能性、现实性、必然性是揭示客观事物发展过程中某种趋势的三种不同的状 态，三者为全异关系，但不是根据功能来命名的，与题干关系不一致。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72.【答案】B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【解析】先议案提出，再审议通过，最后公布生效，三者为顺承关系。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项，先危险预警，再紧急避让，但安全驾驶与前两者没有必然的时间先后关系，与 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项，先按需采购，再产品验收，最后登记入库，三者为顺承关系，与题干关系一致。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项，执法检查和责令整改是市场监管的两个环节，与题干关系不一致。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项，先设计量表，再问卷调查，最后收集数据，但词项顺序颠倒，与题干关系不一 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73.【答案】A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【解析】自主学习和业务培训的目的均是提升能力。</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项，接种疫苗和锻炼身体都是为了预防疾病，与题干关系一致。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项，艺术创作可以抒发情感和引发共鸣，与题干关系不一致。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项，慈善捐赠和互助合作均可以帮扶弱势，与题干关系不一致。 </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项，各抒己见是为了消除分歧和达成共识，与题干关系不一致。 故本题选 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74.【答案】D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【解析】代入 A 项，骑车与磨炼无明显关系；先选拔后晋升，二者为顺 承关系。前后关系不一致。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B 项，骑车是一种运动，二者为包含关系；成绩是进行选拔的依据。前后关系不 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C 项，骑车是比赛的一种形式，淘汰是选拔的一种结果，前后关系不一致。 </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D 项，骑车是一种出行方式，考试是一种选拔方式，前后关系一致。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75.【答案】C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【解析】代入 A 项，核潜艇会装配鱼雷，二者为配套关系；肠道疾病， 二者构成偏正结构。前后关系不一致。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B 项，核潜艇是国家的一部分；肠道是人体的一部分。二者均为组成关系，但前 后顺序颠倒，前后关系不一致。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C 项，核潜艇在海洋中，消化酶在肠道中，二者均为位置关系。前后关系一致。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D 项，核潜艇和驱逐舰都是海军舰艇，二者为全异关系；小肠是肠道的组成部分， 二者为组成关系。前后关系不一致。</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76.【答案】C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【解析】题干推理关系：①真正实现创新价值⇒科技成果同国家需要、 人民要求、市场需求相结合且完成从科学研究、实验开发、推广应用的三级跳；②推动经 济高质量发展迈出更大步伐⇒创新链产业链相互融合；③创新链产业链相互融合⇒确立企 业创新主体地位；④确立企业创新主体地位⇒建立完善企业科技创新法律法规且破解企业 科技成果使用、处置和收益权等政策障碍。②③④可以组成连锁推理，得到⑤推动经济高 质量发展迈出更大步伐⇒创新链产业链相互融合⇒确立企业创新主体地位⇒建立完善企业 科技创新法律法规且破解企业科技成果使用、处置和收益权等政策障碍。</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项，推理关系：不能推动经济高质量发展迈出更大步伐⇒ 不能让创新链产业链相互 融合，否定②的前件不能进行有效推理，排除。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项，推理关系：科技成果同国家需要、人民要求、市场需求相结合⇒真正实现创新 价值，肯定①的后件不能进行有效推理，排除。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项，推理关系：推动经济高质量发展迈出更大步伐⇒建立完善企业科技创新法律法 规且破解企业科技成果使用、处置和收益权等政策障碍，肯定⑤的前件可以推出肯定的后 件，正确。</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项，推理关系：不能确立企业创新主体地位⇒没有建立完善企业科技创新法律法规 且没有破解企业科技成果使用、处置和收益权等政策障碍，否定④的前件不能进行有效推 理，排除。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77.【答案】A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【解析】科学家的方法：借助研究偏振光，开创了一种用来识别行星生 物标记的超灵敏方法。论据：一颗遥远系外行星的反射光会被主星（恒星）发出的光所掩 盖，这就如同研究发光的电灯泡旁边的一颗尘粒，很难对它进行分析。</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项，指出行星反射的光是偏振光，而主星（恒星）发出的光不是偏振光，那么借助 该技术就能避免行星反射的光被主星（恒星）发出的光所掩盖，说明科学家的方法是可行 的，能支持科学家的方法。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项，指出行星上存在生命是非常可能的，但与科学家讨论的偏振光是否可以用来识 别行星生物标记无关，不能支持科学家的方法。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项，说的是这项研究所使用的设备，与偏振光是否可以用来识别行星生物标记无关， 不能支持科学家的方法。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项，指出光偏振技术可能最终会揭示宇宙其他地方是否存在简单的植物，但无法证明偏振光是可以用来识别行星生物标记，不能支持科学家的方法。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78【答案】B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【解析】题干推测：火龙出水仅仅停留在设计和想象的阶段。题干论据： 有学者按照古籍资料对该装置进行了复原。根据实验数据发现，火龙出水的稳定性难以保 证。</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项，指出复原模型提供动力的装置和古籍记载的动力装置不一致，因此不能由实验 数据得出结论，不能支持上述推测。</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项，指出明代史料中没有任何使用火龙出水装置的记载，那么火龙出水确实可能仅 仅停留在设计和想象的阶段，能支持上述推测。</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项，指出根据目前的古籍资料难以判断火龙出水是否属于成熟武器，也就无法说明 火龙出水是否仅仅停留在设计和想象的阶段，不能支持上述推测。</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项，说的是《武备志》所记载的各类火箭的类型，与火龙出水是否仅仅停留在设计 和想象的阶段无关，不能支持上述推测。</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79.【答案】A</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【解析】专家的观点：治理交通拥堵的根本办法是靠经济手段来调节— —提高拥有和使用汽车的税费。论据：要想治理交通拥堵，一定要从控制汽车总量、消减 存量上努力。</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项，指出解决城市交通拥堵的根本之道是提高公共交通服务水平，直接否定了专家 的观点。</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项，说的是交通拥堵的原因，与交通拥堵的根本解决办法无关，不能质疑专家的观 点。</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项，指出单双号限行政策在一定程度上缓解了交通拥堵压力，但并不能说明专家的 方法不可行，不能质疑专家的观点。</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项，说的是该市的汽车保有量的增长情况，与交通拥堵的根本解决办法无关，不能 质疑专家的观点。</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A。</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80.【答案】D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【解析】根据条件（2）（3）可知，陈和王在一排，李、宋、武在一排， 再根据（1）可知，丁、李、宋、武在一排。再根据条件（1）（2）（3）可知，陈的对面是 宋，王的对面是丁，李的对面是刘，陈和王坐一排且不相邻，丁和李也不相邻。如果武在 7 号工作间，则丁只能在 8 号工作间，王在 4 号工作间，其他几人均不确定，如下图所示：</a:t>
            </a:r>
            <a:endParaRPr sz="1200" kern="1200" dirty="0">
              <a:solidFill>
                <a:schemeClr val="tx1"/>
              </a:solidFill>
              <a:effectLst/>
              <a:latin typeface="+mn-lt"/>
              <a:sym typeface="微软雅黑" panose="020B0503020204020204" charset="-122"/>
            </a:endParaRPr>
          </a:p>
          <a:p>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81.【答案】B</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【解析】代入 A 项，K 在上午，N 在下午，不符合条件① , 排除。 代入 B 项，符合题干要求。</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C 项，M 在下午，N 也在下午，不符合条件④ , 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 代入 D 项，K 在下午，O 在上午，不符合条件③ , 排除。</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B。</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82.【答案】C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【解析】代入 A 项，K 、L 在上午演出，由①②可知 N 在上午演出，其余 节目均无法确定。</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B 项，M 、L 在下午演出， 由②可知 R 在上午演出， 由④可知 N 在上午演出， 由 ①可知 K 在上午演出，但是节目 O 无法确定。</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C 项，K 在下午演出，L 在上午演出， 由①可知 N 在下午演出， 由③可知 O 在下 午演出，N 在下午演出是对④的否后，可以推出否定的前件即 M 不在下午演出，故 M 在 上午演出，再结合②可知 R 在下午演出，所有节目演出时间均可确定。</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代入 D 项，O 在下午演出，R 在上午演出，由②可知 M 在下午演出，由④可知 N 在上 午演出， 由①可知 K 在上午演出，节目 L 无法确定。</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83.【答案】D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【解析】①处的论据：利用 AI 生成美术图片，无论是西方的超写实，还 是中国的水墨风，都可以轻松完成。同时，通过实际测试，AIGC 创作的动画剧本在经过人 工润色修改后可以达到专业文学编剧的水平。结论：对于动画产业来说，AIGC 创造了极大 的经济价值。</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项，题干论证中并没有由部分推及整体，不属于以偏概全，评价不正确。</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项，题干由 AI 具有生成美术图片和创作动画剧本的能力，断定其为动画产业创造了 极大的经济价值，不存在将原因和结果颠倒，不属于因果倒置，评价不正确。</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项，①处的论据仅陈述了 AI 的能力，并未列举具体事例，评价不正确。</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项，题干由 AI 具有生成美术图片和创作动画剧本的能力，得出 AIGC 能为动画产业 创造经济价值。能够生成美术图片和创作剧本并不意味着一定能够创造经济价值，二者之 间无必然联系，因此①处的论证前提不足以支持结论，评价正确。</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84.【答案】C</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【解析】②处分析人士的观点：AIGC 生成的动画产品质量堪忧是由新技 术驱动下产生的过度投机行为导致的。论据：完全使用AIGC 生成的动画产品没有成体系的 艺术创作风格，只是机械地拼凑。题干观点说的是“过度投机行为 ”，论据说的是“机械地 拼凑 ”，二者之间存在跳跃，需要补充的前提要能在二者之间建立联系。</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项，说的是 AIGC 生成的动画产品只能是机械拼凑的原因，与新技术驱动下产生的过 度投机行为无关，不是需要补充的前提。</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项，说的是当前 AIGC 动画产业过度投机行为产生的根本原因，与 AIGC 生成的动画 产品质量堪忧的原因无关，不是需要补充的前提。</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项，指出新技术驱动下产生的过度投机行为使得通过 AIGC 机械拼凑的动画产品大行 其道，在论据和观点之间建立了联系，是需要补充的前提。</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项，说的是过度投机行为的危害，与 AIGC 生成的动画产品质量堪忧的原因无关，不是需要补充的前提。</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C。</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a:solidFill>
                  <a:schemeClr val="tx1"/>
                </a:solidFill>
                <a:effectLst/>
                <a:latin typeface="+mn-lt"/>
                <a:sym typeface="微软雅黑" panose="020B0503020204020204" charset="-122"/>
              </a:rPr>
              <a:t>85.【答案】D</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【解析】③处论据：为了遏止过度投机行为就阻止 AIGC 的发展是不合理 的。论断：我们不能为了遏止过度投机行为就阻止 AIGC 的发展。</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A 项，过度投机行为对动画产业的发展危害大小与是否阻止 AIGC 的发展无关，对③处 论断评价不重要。</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B 项，过度投机行为占所有投机行为的比重与是否阻止 AIGC 的发展无关，对③处论断 评价不重要。</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C 项，是否还有其他原因导致动画产品质量堪忧，与是否阻止 AIGC 的发展无关，对③ 处论断评价不重要。</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D 项，如果为了遏止过度投机行为而阻止 AIGC 会产生更加不利的影响，说明不能为了 遏止过度投机行为就阻止 AIGC 的发展，则支持③处论断成立；反之，则论断不成立。对③ 处论断评价最重要。</a:t>
            </a:r>
            <a:endParaRPr sz="1200" kern="1200" dirty="0">
              <a:solidFill>
                <a:schemeClr val="tx1"/>
              </a:solidFill>
              <a:effectLst/>
              <a:latin typeface="+mn-lt"/>
              <a:sym typeface="微软雅黑" panose="020B0503020204020204" charset="-122"/>
            </a:endParaRPr>
          </a:p>
          <a:p>
            <a:r>
              <a:rPr sz="1200" kern="1200" dirty="0">
                <a:solidFill>
                  <a:schemeClr val="tx1"/>
                </a:solidFill>
                <a:effectLst/>
                <a:latin typeface="+mn-lt"/>
                <a:sym typeface="微软雅黑" panose="020B0503020204020204" charset="-122"/>
              </a:rPr>
              <a:t>故本题选 D。</a:t>
            </a:r>
            <a:endParaRPr sz="1200" kern="1200" dirty="0">
              <a:solidFill>
                <a:schemeClr val="tx1"/>
              </a:solidFill>
              <a:effectLst/>
              <a:latin typeface="+mn-lt"/>
              <a:sym typeface="微软雅黑" panose="020B0503020204020204"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A</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29</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从所给的四个选项中，选择最合适的一个填在问号处，使之呈现一定的规律性（）。</a:t>
            </a:r>
            <a:endParaRPr sz="2000" dirty="0">
              <a:cs typeface="微软雅黑" panose="020B0503020204020204" charset="-122"/>
            </a:endParaRPr>
          </a:p>
        </p:txBody>
      </p:sp>
      <p:pic>
        <p:nvPicPr>
          <p:cNvPr id="4" name="图片 1"/>
          <p:cNvPicPr>
            <a:picLocks noChangeAspect="1"/>
          </p:cNvPicPr>
          <p:nvPr>
            <p:custDataLst>
              <p:tags r:id="rId1"/>
            </p:custDataLst>
          </p:nvPr>
        </p:nvPicPr>
        <p:blipFill>
          <a:blip r:embed="rId2"/>
          <a:stretch>
            <a:fillRect/>
          </a:stretch>
        </p:blipFill>
        <p:spPr>
          <a:xfrm>
            <a:off x="1746885" y="1770380"/>
            <a:ext cx="4420870" cy="44424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把下面的六个图形分为两类，使每一类图形都有各自的共同特征或规律，分类正确的一项是（）。</a:t>
            </a: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r>
              <a:rPr sz="2000" dirty="0">
                <a:cs typeface="微软雅黑" panose="020B0503020204020204" charset="-122"/>
              </a:rPr>
              <a:t>A.①③④，②⑤⑥ </a:t>
            </a:r>
            <a:endParaRPr sz="2000" dirty="0">
              <a:cs typeface="微软雅黑" panose="020B0503020204020204" charset="-122"/>
            </a:endParaRPr>
          </a:p>
          <a:p>
            <a:pPr indent="0" fontAlgn="auto">
              <a:lnSpc>
                <a:spcPct val="150000"/>
              </a:lnSpc>
            </a:pPr>
            <a:r>
              <a:rPr sz="2000" dirty="0">
                <a:cs typeface="微软雅黑" panose="020B0503020204020204" charset="-122"/>
              </a:rPr>
              <a:t>B.①③⑤，②④⑥ </a:t>
            </a:r>
            <a:endParaRPr sz="2000" dirty="0">
              <a:cs typeface="微软雅黑" panose="020B0503020204020204" charset="-122"/>
            </a:endParaRPr>
          </a:p>
          <a:p>
            <a:pPr indent="0" fontAlgn="auto">
              <a:lnSpc>
                <a:spcPct val="150000"/>
              </a:lnSpc>
            </a:pPr>
            <a:r>
              <a:rPr sz="2000" dirty="0">
                <a:cs typeface="微软雅黑" panose="020B0503020204020204" charset="-122"/>
              </a:rPr>
              <a:t>C.①④⑤，②③⑥ </a:t>
            </a:r>
            <a:endParaRPr sz="2000" dirty="0">
              <a:cs typeface="微软雅黑" panose="020B0503020204020204" charset="-122"/>
            </a:endParaRPr>
          </a:p>
          <a:p>
            <a:pPr indent="0" fontAlgn="auto">
              <a:lnSpc>
                <a:spcPct val="150000"/>
              </a:lnSpc>
            </a:pPr>
            <a:r>
              <a:rPr sz="2000" dirty="0">
                <a:cs typeface="微软雅黑" panose="020B0503020204020204" charset="-122"/>
              </a:rPr>
              <a:t>D.①⑤⑥，②③④</a:t>
            </a:r>
            <a:endParaRPr sz="2000" dirty="0">
              <a:cs typeface="微软雅黑" panose="020B0503020204020204" charset="-122"/>
            </a:endParaRPr>
          </a:p>
        </p:txBody>
      </p:sp>
      <p:pic>
        <p:nvPicPr>
          <p:cNvPr id="4" name="图片 2"/>
          <p:cNvPicPr>
            <a:picLocks noChangeAspect="1"/>
          </p:cNvPicPr>
          <p:nvPr/>
        </p:nvPicPr>
        <p:blipFill>
          <a:blip r:embed="rId1"/>
          <a:stretch>
            <a:fillRect/>
          </a:stretch>
        </p:blipFill>
        <p:spPr>
          <a:xfrm>
            <a:off x="600710" y="1958340"/>
            <a:ext cx="10166985" cy="2117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53</a:t>
            </a:r>
            <a:endParaRPr kumimoji="1" lang="en-US" altLang="zh-CN" sz="2800" b="1" dirty="0">
              <a:solidFill>
                <a:srgbClr val="FF653F"/>
              </a:solidFill>
            </a:endParaRPr>
          </a:p>
        </p:txBody>
      </p:sp>
      <p:sp>
        <p:nvSpPr>
          <p:cNvPr id="3" name="文本框 2"/>
          <p:cNvSpPr txBox="1"/>
          <p:nvPr/>
        </p:nvSpPr>
        <p:spPr>
          <a:xfrm>
            <a:off x="462915" y="66611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把下面的六个图形分为两类，使每一类图形都有各自的共同特征或规律，分类正确的一项是（）。</a:t>
            </a: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r>
              <a:rPr sz="2000" dirty="0">
                <a:cs typeface="微软雅黑" panose="020B0503020204020204" charset="-122"/>
              </a:rPr>
              <a:t>A.①②④，③⑤⑥ </a:t>
            </a:r>
            <a:endParaRPr sz="2000" dirty="0">
              <a:cs typeface="微软雅黑" panose="020B0503020204020204" charset="-122"/>
            </a:endParaRPr>
          </a:p>
          <a:p>
            <a:pPr indent="0" fontAlgn="auto">
              <a:lnSpc>
                <a:spcPct val="150000"/>
              </a:lnSpc>
            </a:pPr>
            <a:r>
              <a:rPr sz="2000" dirty="0">
                <a:cs typeface="微软雅黑" panose="020B0503020204020204" charset="-122"/>
              </a:rPr>
              <a:t>B.①③④，②⑤⑥ </a:t>
            </a:r>
            <a:endParaRPr sz="2000" dirty="0">
              <a:cs typeface="微软雅黑" panose="020B0503020204020204" charset="-122"/>
            </a:endParaRPr>
          </a:p>
          <a:p>
            <a:pPr indent="0" fontAlgn="auto">
              <a:lnSpc>
                <a:spcPct val="150000"/>
              </a:lnSpc>
            </a:pPr>
            <a:r>
              <a:rPr sz="2000" dirty="0">
                <a:cs typeface="微软雅黑" panose="020B0503020204020204" charset="-122"/>
              </a:rPr>
              <a:t>C.①③⑤，②④⑥ </a:t>
            </a:r>
            <a:endParaRPr sz="2000" dirty="0">
              <a:cs typeface="微软雅黑" panose="020B0503020204020204" charset="-122"/>
            </a:endParaRPr>
          </a:p>
          <a:p>
            <a:pPr indent="0" fontAlgn="auto">
              <a:lnSpc>
                <a:spcPct val="150000"/>
              </a:lnSpc>
            </a:pPr>
            <a:r>
              <a:rPr sz="2000" dirty="0">
                <a:cs typeface="微软雅黑" panose="020B0503020204020204" charset="-122"/>
              </a:rPr>
              <a:t>D.①④⑤，②③⑥</a:t>
            </a:r>
            <a:endParaRPr sz="2000" dirty="0">
              <a:cs typeface="微软雅黑" panose="020B0503020204020204" charset="-122"/>
            </a:endParaRPr>
          </a:p>
        </p:txBody>
      </p:sp>
      <p:pic>
        <p:nvPicPr>
          <p:cNvPr id="4" name="图片 3"/>
          <p:cNvPicPr>
            <a:picLocks noChangeAspect="1"/>
          </p:cNvPicPr>
          <p:nvPr/>
        </p:nvPicPr>
        <p:blipFill>
          <a:blip r:embed="rId1"/>
          <a:stretch>
            <a:fillRect/>
          </a:stretch>
        </p:blipFill>
        <p:spPr>
          <a:xfrm>
            <a:off x="462915" y="2117090"/>
            <a:ext cx="10676255" cy="2044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左图为给定正方体纸盒的外表面展开图，下列选项中哪一个能由其折叠而成？（ ）</a:t>
            </a:r>
            <a:endParaRPr sz="2000" dirty="0">
              <a:cs typeface="微软雅黑" panose="020B0503020204020204" charset="-122"/>
            </a:endParaRPr>
          </a:p>
        </p:txBody>
      </p:sp>
      <p:pic>
        <p:nvPicPr>
          <p:cNvPr id="4" name="图片 4"/>
          <p:cNvPicPr>
            <a:picLocks noChangeAspect="1"/>
          </p:cNvPicPr>
          <p:nvPr/>
        </p:nvPicPr>
        <p:blipFill>
          <a:blip r:embed="rId1"/>
          <a:stretch>
            <a:fillRect/>
          </a:stretch>
        </p:blipFill>
        <p:spPr>
          <a:xfrm>
            <a:off x="297180" y="1987550"/>
            <a:ext cx="11701145" cy="27508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normAutofit/>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左图为给定正四面体的外表面展开图，将其折叠为正四面体后，把A面向下放在与右图完全一致的位置，然后沿箭头所示路径翻转正四面体到达问号处，问此时底面的字母为（）。</a:t>
            </a:r>
            <a:endParaRPr sz="2000" dirty="0">
              <a:cs typeface="微软雅黑" panose="020B0503020204020204" charset="-122"/>
            </a:endParaRPr>
          </a:p>
        </p:txBody>
      </p:sp>
      <p:pic>
        <p:nvPicPr>
          <p:cNvPr id="5" name="图片 5"/>
          <p:cNvPicPr>
            <a:picLocks noChangeAspect="1"/>
          </p:cNvPicPr>
          <p:nvPr/>
        </p:nvPicPr>
        <p:blipFill>
          <a:blip r:embed="rId1"/>
          <a:stretch>
            <a:fillRect/>
          </a:stretch>
        </p:blipFill>
        <p:spPr>
          <a:xfrm>
            <a:off x="286385" y="2193290"/>
            <a:ext cx="7879080" cy="4003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normAutofit/>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左图为给定正四面体的外表面展开图，将其折叠为正四面体后，把A面向下放在与右图完全一致的位置，然后沿箭头所示路径翻转正四面体到达问号处，问此时底面的字母为（）。</a:t>
            </a:r>
            <a:endParaRPr sz="2000" dirty="0">
              <a:cs typeface="微软雅黑" panose="020B0503020204020204" charset="-122"/>
            </a:endParaRPr>
          </a:p>
        </p:txBody>
      </p:sp>
      <p:pic>
        <p:nvPicPr>
          <p:cNvPr id="5" name="图片 5"/>
          <p:cNvPicPr>
            <a:picLocks noChangeAspect="1"/>
          </p:cNvPicPr>
          <p:nvPr/>
        </p:nvPicPr>
        <p:blipFill>
          <a:blip r:embed="rId1"/>
          <a:stretch>
            <a:fillRect/>
          </a:stretch>
        </p:blipFill>
        <p:spPr>
          <a:xfrm>
            <a:off x="286385" y="2812415"/>
            <a:ext cx="4936490" cy="2508885"/>
          </a:xfrm>
          <a:prstGeom prst="rect">
            <a:avLst/>
          </a:prstGeom>
          <a:noFill/>
          <a:ln>
            <a:noFill/>
          </a:ln>
        </p:spPr>
      </p:pic>
      <p:pic>
        <p:nvPicPr>
          <p:cNvPr id="16" name="图片 16"/>
          <p:cNvPicPr>
            <a:picLocks noChangeAspect="1"/>
          </p:cNvPicPr>
          <p:nvPr/>
        </p:nvPicPr>
        <p:blipFill>
          <a:blip r:embed="rId2"/>
          <a:stretch>
            <a:fillRect/>
          </a:stretch>
        </p:blipFill>
        <p:spPr>
          <a:xfrm>
            <a:off x="5490845" y="1830705"/>
            <a:ext cx="6526530" cy="45205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冲突型决策是指利益相反且对抗竞争的各方为使自己处于有利地位所做的决策。各方都按一定规则行动，并根据他方所采用的策略和手段来决定自己应对的方法。</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根据上述定义，下列涉及冲突型决策的是（）。</a:t>
            </a:r>
            <a:endParaRPr sz="2000" dirty="0">
              <a:cs typeface="微软雅黑" panose="020B0503020204020204" charset="-122"/>
            </a:endParaRPr>
          </a:p>
          <a:p>
            <a:pPr indent="0" fontAlgn="auto">
              <a:lnSpc>
                <a:spcPct val="150000"/>
              </a:lnSpc>
            </a:pPr>
            <a:r>
              <a:rPr sz="2000" dirty="0">
                <a:cs typeface="微软雅黑" panose="020B0503020204020204" charset="-122"/>
              </a:rPr>
              <a:t>A.在举重比赛中，每位选手试举后，其余选手会根据该次试举结果调整自己下一次试举的重量</a:t>
            </a:r>
            <a:endParaRPr sz="2000" dirty="0">
              <a:cs typeface="微软雅黑" panose="020B0503020204020204" charset="-122"/>
            </a:endParaRPr>
          </a:p>
          <a:p>
            <a:pPr indent="0" fontAlgn="auto">
              <a:lnSpc>
                <a:spcPct val="150000"/>
              </a:lnSpc>
            </a:pPr>
            <a:r>
              <a:rPr sz="2000" dirty="0">
                <a:cs typeface="微软雅黑" panose="020B0503020204020204" charset="-122"/>
              </a:rPr>
              <a:t>B.甲、乙两公司都参与某项目的竞标，为了中标，双方均在标书中直接给出了接近成本的报价</a:t>
            </a:r>
            <a:endParaRPr sz="2000" dirty="0">
              <a:cs typeface="微软雅黑" panose="020B0503020204020204" charset="-122"/>
            </a:endParaRPr>
          </a:p>
          <a:p>
            <a:pPr indent="0" fontAlgn="auto">
              <a:lnSpc>
                <a:spcPct val="150000"/>
              </a:lnSpc>
            </a:pPr>
            <a:r>
              <a:rPr sz="2000" dirty="0">
                <a:cs typeface="微软雅黑" panose="020B0503020204020204" charset="-122"/>
              </a:rPr>
              <a:t>C.小张和小李在学生时代成绩就不相上下，毕业后小张创业取得了成功，小李见状也要开始创业</a:t>
            </a:r>
            <a:endParaRPr sz="2000" dirty="0">
              <a:cs typeface="微软雅黑" panose="020B0503020204020204" charset="-122"/>
            </a:endParaRPr>
          </a:p>
          <a:p>
            <a:pPr indent="0" fontAlgn="auto">
              <a:lnSpc>
                <a:spcPct val="150000"/>
              </a:lnSpc>
            </a:pPr>
            <a:r>
              <a:rPr sz="2000" dirty="0">
                <a:cs typeface="微软雅黑" panose="020B0503020204020204" charset="-122"/>
              </a:rPr>
              <a:t>D.母亲发现儿子经常偷偷玩手机游戏，不仅没收了手机，还在家中安装监控设备以监督他学习</a:t>
            </a:r>
            <a:endParaRPr sz="2000" dirty="0">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海洋环境化学是海洋化学的一个分支学科，也是环境科学的组成部分，主要研究海洋及相关环境中与环境质量关系密切的化学污染物的来源、迁移、分布、反应、转化、效应、归宿以及人类活动对这些过程可能产生的作用和影响。</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根据上述定义，下列属于海洋环境化学研究的是（）。</a:t>
            </a:r>
            <a:endParaRPr sz="2000" dirty="0">
              <a:cs typeface="微软雅黑" panose="020B0503020204020204" charset="-122"/>
            </a:endParaRPr>
          </a:p>
          <a:p>
            <a:pPr indent="0" fontAlgn="auto">
              <a:lnSpc>
                <a:spcPct val="150000"/>
              </a:lnSpc>
            </a:pPr>
            <a:r>
              <a:rPr sz="2000" dirty="0">
                <a:cs typeface="微软雅黑" panose="020B0503020204020204" charset="-122"/>
              </a:rPr>
              <a:t>A.针对不同的海域，选择无机和有机吸附剂进行海水提碘、提溴的研究</a:t>
            </a:r>
            <a:endParaRPr sz="2000" dirty="0">
              <a:cs typeface="微软雅黑" panose="020B0503020204020204" charset="-122"/>
            </a:endParaRPr>
          </a:p>
          <a:p>
            <a:pPr indent="0" fontAlgn="auto">
              <a:lnSpc>
                <a:spcPct val="150000"/>
              </a:lnSpc>
            </a:pPr>
            <a:r>
              <a:rPr sz="2000" dirty="0">
                <a:cs typeface="微软雅黑" panose="020B0503020204020204" charset="-122"/>
              </a:rPr>
              <a:t>B.采集77个海水样品，分析海水中各种成分的含量及含量间的比例关系</a:t>
            </a:r>
            <a:endParaRPr sz="2000" dirty="0">
              <a:cs typeface="微软雅黑" panose="020B0503020204020204" charset="-122"/>
            </a:endParaRPr>
          </a:p>
          <a:p>
            <a:pPr indent="0" fontAlgn="auto">
              <a:lnSpc>
                <a:spcPct val="150000"/>
              </a:lnSpc>
            </a:pPr>
            <a:r>
              <a:rPr sz="2000" dirty="0">
                <a:cs typeface="微软雅黑" panose="020B0503020204020204" charset="-122"/>
              </a:rPr>
              <a:t>C.通过实验室模拟，研究重金属、有机氯在长江下游水质和底质中的分布特征</a:t>
            </a:r>
            <a:endParaRPr sz="2000" dirty="0">
              <a:cs typeface="微软雅黑" panose="020B0503020204020204" charset="-122"/>
            </a:endParaRPr>
          </a:p>
          <a:p>
            <a:pPr indent="0" fontAlgn="auto">
              <a:lnSpc>
                <a:spcPct val="150000"/>
              </a:lnSpc>
            </a:pPr>
            <a:r>
              <a:rPr sz="2000" dirty="0">
                <a:cs typeface="微软雅黑" panose="020B0503020204020204" charset="-122"/>
              </a:rPr>
              <a:t>D.研究放射性核素在渤海中的存在形式和运动规律，评价渤海的放射性污染源</a:t>
            </a:r>
            <a:endParaRPr sz="2000" dirty="0">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形态学标记是指通过肉眼观察或利用仪器测量动植物的外部特征（包括毛色、体型、外形、皮肤结构等），并以这种形态性状、生理性状及生态地理分布等特征作为遗传标记，来研究物种间的关系、分类和鉴定方法。</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根据上述定义，下列属于形态学标记的是（）。</a:t>
            </a:r>
            <a:endParaRPr sz="2000" dirty="0">
              <a:cs typeface="微软雅黑" panose="020B0503020204020204" charset="-122"/>
            </a:endParaRPr>
          </a:p>
          <a:p>
            <a:pPr indent="0" fontAlgn="auto">
              <a:lnSpc>
                <a:spcPct val="150000"/>
              </a:lnSpc>
            </a:pPr>
            <a:r>
              <a:rPr sz="2000" dirty="0">
                <a:cs typeface="微软雅黑" panose="020B0503020204020204" charset="-122"/>
              </a:rPr>
              <a:t>A.通过标记动物癌细胞DNA序列变异，诊断和分析肿瘤种类</a:t>
            </a:r>
            <a:endParaRPr sz="2000" dirty="0">
              <a:cs typeface="微软雅黑" panose="020B0503020204020204" charset="-122"/>
            </a:endParaRPr>
          </a:p>
          <a:p>
            <a:pPr indent="0" fontAlgn="auto">
              <a:lnSpc>
                <a:spcPct val="150000"/>
              </a:lnSpc>
            </a:pPr>
            <a:r>
              <a:rPr sz="2000" dirty="0">
                <a:cs typeface="微软雅黑" panose="020B0503020204020204" charset="-122"/>
              </a:rPr>
              <a:t>B.通过标记小鼠、牛、马等动物体内血清蛋白变化，判断其免疫系统状态</a:t>
            </a:r>
            <a:endParaRPr sz="2000" dirty="0">
              <a:cs typeface="微软雅黑" panose="020B0503020204020204" charset="-122"/>
            </a:endParaRPr>
          </a:p>
          <a:p>
            <a:pPr indent="0" fontAlgn="auto">
              <a:lnSpc>
                <a:spcPct val="150000"/>
              </a:lnSpc>
            </a:pPr>
            <a:r>
              <a:rPr sz="2000" dirty="0">
                <a:cs typeface="微软雅黑" panose="020B0503020204020204" charset="-122"/>
              </a:rPr>
              <a:t>C.通过标记株高、穗长、粒色等性状，分析济麦、淮麦等小麦品种间的亲缘关系</a:t>
            </a:r>
            <a:endParaRPr sz="2000" dirty="0">
              <a:cs typeface="微软雅黑" panose="020B0503020204020204" charset="-122"/>
            </a:endParaRPr>
          </a:p>
          <a:p>
            <a:pPr indent="0" fontAlgn="auto">
              <a:lnSpc>
                <a:spcPct val="150000"/>
              </a:lnSpc>
            </a:pPr>
            <a:r>
              <a:rPr sz="2000" dirty="0">
                <a:cs typeface="微软雅黑" panose="020B0503020204020204" charset="-122"/>
              </a:rPr>
              <a:t>D.标记雏鸡羽毛生长速度，通过分析羽毛染色体上等位基因的差异，将雏鸡划分为慢羽雏鸡和快羽雏鸡</a:t>
            </a:r>
            <a:endParaRPr sz="2000" dirty="0">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文言文常用省略句式。兼语省略是其中一种，即句中“使”“命”“令”这类动词的宾语常兼作后边一个主谓词组的主语，这个词就称作兼语，而这个兼语在动宾结构的短句中被省略了。</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根据上述定义，下列属于兼语省略的是（）。</a:t>
            </a:r>
            <a:endParaRPr sz="2000" dirty="0">
              <a:cs typeface="微软雅黑" panose="020B0503020204020204" charset="-122"/>
            </a:endParaRPr>
          </a:p>
          <a:p>
            <a:pPr indent="0" fontAlgn="auto">
              <a:lnSpc>
                <a:spcPct val="150000"/>
              </a:lnSpc>
            </a:pPr>
            <a:r>
              <a:rPr sz="2000" dirty="0">
                <a:cs typeface="微软雅黑" panose="020B0503020204020204" charset="-122"/>
              </a:rPr>
              <a:t>（1）不如因而厚遇之，使归赵。</a:t>
            </a:r>
            <a:endParaRPr sz="2000" dirty="0">
              <a:cs typeface="微软雅黑" panose="020B0503020204020204" charset="-122"/>
            </a:endParaRPr>
          </a:p>
          <a:p>
            <a:pPr indent="0" fontAlgn="auto">
              <a:lnSpc>
                <a:spcPct val="150000"/>
              </a:lnSpc>
            </a:pPr>
            <a:r>
              <a:rPr sz="2000" dirty="0">
                <a:cs typeface="微软雅黑" panose="020B0503020204020204" charset="-122"/>
              </a:rPr>
              <a:t>（2）乃令骑皆下马步行，持短兵接战。</a:t>
            </a:r>
            <a:endParaRPr sz="2000" dirty="0">
              <a:cs typeface="微软雅黑" panose="020B0503020204020204" charset="-122"/>
            </a:endParaRPr>
          </a:p>
          <a:p>
            <a:pPr indent="0" fontAlgn="auto">
              <a:lnSpc>
                <a:spcPct val="150000"/>
              </a:lnSpc>
            </a:pPr>
            <a:r>
              <a:rPr sz="2000" dirty="0">
                <a:cs typeface="微软雅黑" panose="020B0503020204020204" charset="-122"/>
              </a:rPr>
              <a:t>（3）扶苏以数谏故，上使外将兵。</a:t>
            </a:r>
            <a:endParaRPr sz="2000" dirty="0">
              <a:cs typeface="微软雅黑" panose="020B0503020204020204" charset="-122"/>
            </a:endParaRPr>
          </a:p>
          <a:p>
            <a:pPr indent="0" fontAlgn="auto">
              <a:lnSpc>
                <a:spcPct val="150000"/>
              </a:lnSpc>
            </a:pPr>
            <a:r>
              <a:rPr sz="2000" dirty="0">
                <a:cs typeface="微软雅黑" panose="020B0503020204020204" charset="-122"/>
              </a:rPr>
              <a:t>（4）王使屈平为令，众莫不知。</a:t>
            </a:r>
            <a:endParaRPr sz="2000" dirty="0">
              <a:cs typeface="微软雅黑" panose="020B0503020204020204" charset="-122"/>
            </a:endParaRPr>
          </a:p>
          <a:p>
            <a:pPr indent="0" fontAlgn="auto">
              <a:lnSpc>
                <a:spcPct val="150000"/>
              </a:lnSpc>
            </a:pPr>
            <a:r>
              <a:rPr sz="2000" dirty="0">
                <a:cs typeface="微软雅黑" panose="020B0503020204020204" charset="-122"/>
              </a:rPr>
              <a:t>A.（1）（2） </a:t>
            </a:r>
            <a:endParaRPr sz="2000" dirty="0">
              <a:cs typeface="微软雅黑" panose="020B0503020204020204" charset="-122"/>
            </a:endParaRPr>
          </a:p>
          <a:p>
            <a:pPr indent="0" fontAlgn="auto">
              <a:lnSpc>
                <a:spcPct val="150000"/>
              </a:lnSpc>
            </a:pPr>
            <a:r>
              <a:rPr sz="2000" dirty="0">
                <a:cs typeface="微软雅黑" panose="020B0503020204020204" charset="-122"/>
              </a:rPr>
              <a:t>B.（1）（3） </a:t>
            </a:r>
            <a:endParaRPr sz="2000" dirty="0">
              <a:cs typeface="微软雅黑" panose="020B0503020204020204" charset="-122"/>
            </a:endParaRPr>
          </a:p>
          <a:p>
            <a:pPr indent="0" fontAlgn="auto">
              <a:lnSpc>
                <a:spcPct val="150000"/>
              </a:lnSpc>
            </a:pPr>
            <a:r>
              <a:rPr sz="2000" dirty="0">
                <a:cs typeface="微软雅黑" panose="020B0503020204020204" charset="-122"/>
              </a:rPr>
              <a:t>C.（2）（4） </a:t>
            </a:r>
            <a:endParaRPr sz="2000" dirty="0">
              <a:cs typeface="微软雅黑" panose="020B0503020204020204" charset="-122"/>
            </a:endParaRPr>
          </a:p>
          <a:p>
            <a:pPr indent="0" fontAlgn="auto">
              <a:lnSpc>
                <a:spcPct val="150000"/>
              </a:lnSpc>
            </a:pPr>
            <a:r>
              <a:rPr sz="2000" dirty="0">
                <a:cs typeface="微软雅黑" panose="020B0503020204020204" charset="-122"/>
              </a:rPr>
              <a:t>D.（3）（4）</a:t>
            </a:r>
            <a:endParaRPr sz="2000" dirty="0">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统联是指前后两个句段的统摄和被统摄关系。统摄即统领、总辖。回向统联是指后段统摄前段，当前段不止一段时，先行各段都是末段所指的具体内容。</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根据上述定义，下列属于回向统联的是（）。</a:t>
            </a:r>
            <a:endParaRPr sz="2000" dirty="0">
              <a:cs typeface="微软雅黑" panose="020B0503020204020204" charset="-122"/>
            </a:endParaRPr>
          </a:p>
          <a:p>
            <a:pPr indent="0" fontAlgn="auto">
              <a:lnSpc>
                <a:spcPct val="150000"/>
              </a:lnSpc>
            </a:pPr>
            <a:r>
              <a:rPr sz="2000" dirty="0">
                <a:cs typeface="微软雅黑" panose="020B0503020204020204" charset="-122"/>
              </a:rPr>
              <a:t>A.他说，他欺骗了我，他是一个卑鄙小人 </a:t>
            </a:r>
            <a:endParaRPr sz="2000" dirty="0">
              <a:cs typeface="微软雅黑" panose="020B0503020204020204" charset="-122"/>
            </a:endParaRPr>
          </a:p>
          <a:p>
            <a:pPr indent="0" fontAlgn="auto">
              <a:lnSpc>
                <a:spcPct val="150000"/>
              </a:lnSpc>
            </a:pPr>
            <a:r>
              <a:rPr sz="2000" dirty="0">
                <a:cs typeface="微软雅黑" panose="020B0503020204020204" charset="-122"/>
              </a:rPr>
              <a:t>B.我说去爬山，你说去游泳，他说去打球</a:t>
            </a:r>
            <a:endParaRPr sz="2000" dirty="0">
              <a:cs typeface="微软雅黑" panose="020B0503020204020204" charset="-122"/>
            </a:endParaRPr>
          </a:p>
          <a:p>
            <a:pPr indent="0" fontAlgn="auto">
              <a:lnSpc>
                <a:spcPct val="150000"/>
              </a:lnSpc>
            </a:pPr>
            <a:r>
              <a:rPr sz="2000" dirty="0">
                <a:cs typeface="微软雅黑" panose="020B0503020204020204" charset="-122"/>
              </a:rPr>
              <a:t>C.医生让我通知你，十分钟以后去他诊室 </a:t>
            </a:r>
            <a:endParaRPr sz="2000" dirty="0">
              <a:cs typeface="微软雅黑" panose="020B0503020204020204" charset="-122"/>
            </a:endParaRPr>
          </a:p>
          <a:p>
            <a:pPr indent="0" fontAlgn="auto">
              <a:lnSpc>
                <a:spcPct val="150000"/>
              </a:lnSpc>
            </a:pPr>
            <a:r>
              <a:rPr sz="2000" dirty="0">
                <a:cs typeface="微软雅黑" panose="020B0503020204020204" charset="-122"/>
              </a:rPr>
              <a:t>D.你被批评了，你心里难受，我是知道的</a:t>
            </a:r>
            <a:endParaRPr sz="2000" dirty="0">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61</a:t>
            </a:r>
            <a:endParaRPr kumimoji="1" lang="en-US" altLang="zh-CN" sz="2800" b="1" dirty="0">
              <a:solidFill>
                <a:srgbClr val="FF653F"/>
              </a:solidFill>
            </a:endParaRPr>
          </a:p>
        </p:txBody>
      </p:sp>
      <p:sp>
        <p:nvSpPr>
          <p:cNvPr id="3" name="文本框 2"/>
          <p:cNvSpPr txBox="1"/>
          <p:nvPr/>
        </p:nvSpPr>
        <p:spPr>
          <a:xfrm>
            <a:off x="462915" y="66611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热处理是指对固态金属或合金采用适当方式加热、保温和冷却，通过改变工件内部的显微组织，或改变工件表面的化学成分，以获得所需要的组织结构与性能的加工方法。</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根据上述定义，下列不属于热处理的是（）。</a:t>
            </a:r>
            <a:endParaRPr sz="2000" dirty="0">
              <a:cs typeface="微软雅黑" panose="020B0503020204020204" charset="-122"/>
            </a:endParaRPr>
          </a:p>
          <a:p>
            <a:pPr indent="0" fontAlgn="auto">
              <a:lnSpc>
                <a:spcPct val="150000"/>
              </a:lnSpc>
            </a:pPr>
            <a:r>
              <a:rPr sz="2000" dirty="0">
                <a:cs typeface="微软雅黑" panose="020B0503020204020204" charset="-122"/>
              </a:rPr>
              <a:t>A.将铅块加热，熔炼成符合一定要求的液体并浇进铸型里，经冷却凝固、清整处理铸体表面的不规则部分以后，得到有预定形状、尺寸的铸件</a:t>
            </a:r>
            <a:endParaRPr sz="2000" dirty="0">
              <a:cs typeface="微软雅黑" panose="020B0503020204020204" charset="-122"/>
            </a:endParaRPr>
          </a:p>
          <a:p>
            <a:pPr indent="0" fontAlgn="auto">
              <a:lnSpc>
                <a:spcPct val="150000"/>
              </a:lnSpc>
            </a:pPr>
            <a:r>
              <a:rPr sz="2000" dirty="0">
                <a:cs typeface="微软雅黑" panose="020B0503020204020204" charset="-122"/>
              </a:rPr>
              <a:t>B.将钢加热到适宜温度并保温一段时间后，从炉中取出置于空气中喷水、喷雾或吹风冷却，使晶粒细化和碳化物分布均匀化，改善其切削性能</a:t>
            </a:r>
            <a:endParaRPr sz="2000" dirty="0">
              <a:cs typeface="微软雅黑" panose="020B0503020204020204" charset="-122"/>
            </a:endParaRPr>
          </a:p>
          <a:p>
            <a:pPr indent="0" fontAlgn="auto">
              <a:lnSpc>
                <a:spcPct val="150000"/>
              </a:lnSpc>
            </a:pPr>
            <a:r>
              <a:rPr sz="2000" dirty="0">
                <a:cs typeface="微软雅黑" panose="020B0503020204020204" charset="-122"/>
              </a:rPr>
              <a:t>C.把合金钢放入密封容器，通入氨气，加热保温，氨气热分解产生的活性氮原子吸附到金属表面，并扩散渗入表层内，以获得优良的表面性能</a:t>
            </a:r>
            <a:endParaRPr sz="2000" dirty="0">
              <a:cs typeface="微软雅黑" panose="020B0503020204020204" charset="-122"/>
            </a:endParaRPr>
          </a:p>
          <a:p>
            <a:pPr indent="0" fontAlgn="auto">
              <a:lnSpc>
                <a:spcPct val="150000"/>
              </a:lnSpc>
            </a:pPr>
            <a:r>
              <a:rPr sz="2000" dirty="0">
                <a:cs typeface="微软雅黑" panose="020B0503020204020204" charset="-122"/>
              </a:rPr>
              <a:t>D.将钢加热到临界温度以上，保温一定时间后进行冷却，然后在某一适当温度长时间保温，再冷却，调整钢材内部结构和状态，以降低其脆性</a:t>
            </a:r>
            <a:endParaRPr sz="2000" dirty="0">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“虚假二难”指的是将两个并非彼此矛盾的概念或者事项，人为地对立起来，让人们在两者之中作出选择的逻辑错误。</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根据上述定义，下列不涉及“虚假二难”的是（）。</a:t>
            </a:r>
            <a:endParaRPr sz="2000" dirty="0">
              <a:cs typeface="微软雅黑" panose="020B0503020204020204" charset="-122"/>
            </a:endParaRPr>
          </a:p>
          <a:p>
            <a:pPr indent="0" fontAlgn="auto">
              <a:lnSpc>
                <a:spcPct val="150000"/>
              </a:lnSpc>
            </a:pPr>
            <a:r>
              <a:rPr sz="2000" dirty="0">
                <a:cs typeface="微软雅黑" panose="020B0503020204020204" charset="-122"/>
              </a:rPr>
              <a:t>A.你认为是朋友可靠，还是亲戚可靠？ </a:t>
            </a:r>
            <a:endParaRPr sz="2000" dirty="0">
              <a:cs typeface="微软雅黑" panose="020B0503020204020204" charset="-122"/>
            </a:endParaRPr>
          </a:p>
          <a:p>
            <a:pPr indent="0" fontAlgn="auto">
              <a:lnSpc>
                <a:spcPct val="150000"/>
              </a:lnSpc>
            </a:pPr>
            <a:r>
              <a:rPr sz="2000" dirty="0">
                <a:cs typeface="微软雅黑" panose="020B0503020204020204" charset="-122"/>
              </a:rPr>
              <a:t>B.究竟是吃加碘盐好，还是吃低碘盐好？</a:t>
            </a:r>
            <a:endParaRPr sz="2000" dirty="0">
              <a:cs typeface="微软雅黑" panose="020B0503020204020204" charset="-122"/>
            </a:endParaRPr>
          </a:p>
          <a:p>
            <a:pPr indent="0" fontAlgn="auto">
              <a:lnSpc>
                <a:spcPct val="150000"/>
              </a:lnSpc>
            </a:pPr>
            <a:r>
              <a:rPr sz="2000" dirty="0">
                <a:cs typeface="微软雅黑" panose="020B0503020204020204" charset="-122"/>
              </a:rPr>
              <a:t>C.你认为高枕必无忧，还是高枕未必无忧？ </a:t>
            </a:r>
            <a:endParaRPr sz="2000" dirty="0">
              <a:cs typeface="微软雅黑" panose="020B0503020204020204" charset="-122"/>
            </a:endParaRPr>
          </a:p>
          <a:p>
            <a:pPr indent="0" fontAlgn="auto">
              <a:lnSpc>
                <a:spcPct val="150000"/>
              </a:lnSpc>
            </a:pPr>
            <a:r>
              <a:rPr sz="2000" dirty="0">
                <a:cs typeface="微软雅黑" panose="020B0503020204020204" charset="-122"/>
              </a:rPr>
              <a:t>D.你究竟是站在武力一边，还是正义一边？</a:t>
            </a:r>
            <a:endParaRPr sz="2000" dirty="0">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63</a:t>
            </a:r>
            <a:endParaRPr kumimoji="1" lang="en-US" altLang="zh-CN" sz="2800" b="1" dirty="0">
              <a:solidFill>
                <a:srgbClr val="FF653F"/>
              </a:solidFill>
            </a:endParaRPr>
          </a:p>
        </p:txBody>
      </p:sp>
      <p:sp>
        <p:nvSpPr>
          <p:cNvPr id="3" name="文本框 2"/>
          <p:cNvSpPr txBox="1"/>
          <p:nvPr/>
        </p:nvSpPr>
        <p:spPr>
          <a:xfrm>
            <a:off x="48196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正约数指的是一个整数中大于0的约数。若自然数a的正约数（除a自身）之和等于另一个自然数b，而b的正约数（除b自身）之和等于a，则称a、b互为亲和数；若自然数a的正约数（除a自身）之和等于另一个自然数b，而b的正约数（除b自身）之和不等于a，则称a是b的单亲和数；若自然数a的正约数（除a自身）之和不等于另一个自然数b，而b的正约数（除b自身）之和不等于a，则称a、b互为非亲和数。</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根据上述定义，下列选项中存在单亲和数的是（）。</a:t>
            </a:r>
            <a:endParaRPr sz="2000" dirty="0">
              <a:cs typeface="微软雅黑" panose="020B0503020204020204" charset="-122"/>
            </a:endParaRPr>
          </a:p>
          <a:p>
            <a:pPr indent="0" fontAlgn="auto">
              <a:lnSpc>
                <a:spcPct val="150000"/>
              </a:lnSpc>
            </a:pPr>
            <a:r>
              <a:rPr sz="2000" dirty="0">
                <a:cs typeface="微软雅黑" panose="020B0503020204020204" charset="-122"/>
              </a:rPr>
              <a:t>A.10、16 </a:t>
            </a:r>
            <a:endParaRPr sz="2000" dirty="0">
              <a:cs typeface="微软雅黑" panose="020B0503020204020204" charset="-122"/>
            </a:endParaRPr>
          </a:p>
          <a:p>
            <a:pPr indent="0" fontAlgn="auto">
              <a:lnSpc>
                <a:spcPct val="150000"/>
              </a:lnSpc>
            </a:pPr>
            <a:r>
              <a:rPr sz="2000" dirty="0">
                <a:cs typeface="微软雅黑" panose="020B0503020204020204" charset="-122"/>
              </a:rPr>
              <a:t>B.11、21 </a:t>
            </a:r>
            <a:endParaRPr sz="2000" dirty="0">
              <a:cs typeface="微软雅黑" panose="020B0503020204020204" charset="-122"/>
            </a:endParaRPr>
          </a:p>
          <a:p>
            <a:pPr indent="0" fontAlgn="auto">
              <a:lnSpc>
                <a:spcPct val="150000"/>
              </a:lnSpc>
            </a:pPr>
            <a:r>
              <a:rPr sz="2000" dirty="0">
                <a:cs typeface="微软雅黑" panose="020B0503020204020204" charset="-122"/>
              </a:rPr>
              <a:t>C.15、18 </a:t>
            </a:r>
            <a:endParaRPr sz="2000" dirty="0">
              <a:cs typeface="微软雅黑" panose="020B0503020204020204" charset="-122"/>
            </a:endParaRPr>
          </a:p>
          <a:p>
            <a:pPr indent="0" fontAlgn="auto">
              <a:lnSpc>
                <a:spcPct val="150000"/>
              </a:lnSpc>
            </a:pPr>
            <a:r>
              <a:rPr sz="2000" dirty="0">
                <a:cs typeface="微软雅黑" panose="020B0503020204020204" charset="-122"/>
              </a:rPr>
              <a:t>D.22、28</a:t>
            </a:r>
            <a:endParaRPr sz="2000" dirty="0">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64</a:t>
            </a:r>
            <a:endParaRPr kumimoji="1" lang="en-US" altLang="zh-CN" sz="2800" b="1" dirty="0">
              <a:solidFill>
                <a:srgbClr val="FF653F"/>
              </a:solidFill>
            </a:endParaRPr>
          </a:p>
        </p:txBody>
      </p:sp>
      <p:sp>
        <p:nvSpPr>
          <p:cNvPr id="3" name="文本框 2"/>
          <p:cNvSpPr txBox="1"/>
          <p:nvPr/>
        </p:nvSpPr>
        <p:spPr>
          <a:xfrm>
            <a:off x="286385" y="701675"/>
            <a:ext cx="909383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思维反刍指个体在经历消极事件后或者面对压力时，反复思考的过程。它的类型包括消极型思维反刍和积极型思维反刍，前者是指比较当前状况和不能实现的目标之间的差距却不思解决；后者是指有目的地思考并寻找解决问题的方法。</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根据上述定义，下列属于积极型思维反刍的是（）。</a:t>
            </a:r>
            <a:endParaRPr sz="2000" dirty="0">
              <a:cs typeface="微软雅黑" panose="020B0503020204020204" charset="-122"/>
            </a:endParaRPr>
          </a:p>
          <a:p>
            <a:pPr indent="0" fontAlgn="auto">
              <a:lnSpc>
                <a:spcPct val="150000"/>
              </a:lnSpc>
            </a:pPr>
            <a:r>
              <a:rPr sz="2000" dirty="0">
                <a:cs typeface="微软雅黑" panose="020B0503020204020204" charset="-122"/>
              </a:rPr>
              <a:t>A.小赵评优落选后认真比较了自己和优秀员工的差距，找到了努力的方向和途径</a:t>
            </a:r>
            <a:endParaRPr sz="2000" dirty="0">
              <a:cs typeface="微软雅黑" panose="020B0503020204020204" charset="-122"/>
            </a:endParaRPr>
          </a:p>
          <a:p>
            <a:pPr indent="0" fontAlgn="auto">
              <a:lnSpc>
                <a:spcPct val="150000"/>
              </a:lnSpc>
            </a:pPr>
            <a:r>
              <a:rPr sz="2000" dirty="0">
                <a:cs typeface="微软雅黑" panose="020B0503020204020204" charset="-122"/>
              </a:rPr>
              <a:t>B.小钱毕业之前去多个单位实习积累经验，希望在毕业后能找到一份理想的工作</a:t>
            </a:r>
            <a:endParaRPr sz="2000" dirty="0">
              <a:cs typeface="微软雅黑" panose="020B0503020204020204" charset="-122"/>
            </a:endParaRPr>
          </a:p>
          <a:p>
            <a:pPr indent="0" fontAlgn="auto">
              <a:lnSpc>
                <a:spcPct val="150000"/>
              </a:lnSpc>
            </a:pPr>
            <a:r>
              <a:rPr sz="2000" dirty="0">
                <a:cs typeface="微软雅黑" panose="020B0503020204020204" charset="-122"/>
              </a:rPr>
              <a:t>C.小孙在工作中犯了错误受到单位的处分，内心颇为不服，觉得是领导故意为难他</a:t>
            </a:r>
            <a:endParaRPr sz="2000" dirty="0">
              <a:cs typeface="微软雅黑" panose="020B0503020204020204" charset="-122"/>
            </a:endParaRPr>
          </a:p>
          <a:p>
            <a:pPr indent="0" fontAlgn="auto">
              <a:lnSpc>
                <a:spcPct val="150000"/>
              </a:lnSpc>
            </a:pPr>
            <a:r>
              <a:rPr sz="2000" dirty="0">
                <a:cs typeface="微软雅黑" panose="020B0503020204020204" charset="-122"/>
              </a:rPr>
              <a:t>D.小李看到好友在经历了长时间复习后依然考研失败，他认为好友的学习方法不当</a:t>
            </a:r>
            <a:endParaRPr sz="2000" dirty="0">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条件联系指的是一事物情况的存在与否对另一事物情况的存在与否的制约或依赖关系。p是q的充分条件指的是当有事物情况p，就有事物情况q；p是q的必要条件指的是当没有事物情况p，就没有事物情况q。</a:t>
            </a:r>
            <a:endParaRPr sz="2000" dirty="0">
              <a:cs typeface="微软雅黑" panose="020B0503020204020204" charset="-122"/>
            </a:endParaRPr>
          </a:p>
          <a:p>
            <a:pPr indent="0" fontAlgn="auto">
              <a:lnSpc>
                <a:spcPct val="150000"/>
              </a:lnSpc>
            </a:pPr>
            <a:r>
              <a:rPr sz="2000" dirty="0">
                <a:cs typeface="微软雅黑" panose="020B0503020204020204" charset="-122"/>
              </a:rPr>
              <a:t>根据上述定义，对下列句子的条件联系表述正确的是（）。</a:t>
            </a:r>
            <a:endParaRPr sz="2000" dirty="0">
              <a:cs typeface="微软雅黑" panose="020B0503020204020204" charset="-122"/>
            </a:endParaRPr>
          </a:p>
          <a:p>
            <a:pPr indent="0" fontAlgn="auto">
              <a:lnSpc>
                <a:spcPct val="150000"/>
              </a:lnSpc>
            </a:pPr>
            <a:r>
              <a:rPr sz="2000" dirty="0">
                <a:cs typeface="微软雅黑" panose="020B0503020204020204" charset="-122"/>
              </a:rPr>
              <a:t>（1）a能被21整除；</a:t>
            </a:r>
            <a:endParaRPr sz="2000" dirty="0">
              <a:cs typeface="微软雅黑" panose="020B0503020204020204" charset="-122"/>
            </a:endParaRPr>
          </a:p>
          <a:p>
            <a:pPr indent="0" fontAlgn="auto">
              <a:lnSpc>
                <a:spcPct val="150000"/>
              </a:lnSpc>
            </a:pPr>
            <a:r>
              <a:rPr sz="2000" dirty="0">
                <a:cs typeface="微软雅黑" panose="020B0503020204020204" charset="-122"/>
              </a:rPr>
              <a:t>（2）a能被7整除；</a:t>
            </a:r>
            <a:endParaRPr sz="2000" dirty="0">
              <a:cs typeface="微软雅黑" panose="020B0503020204020204" charset="-122"/>
            </a:endParaRPr>
          </a:p>
          <a:p>
            <a:pPr indent="0" fontAlgn="auto">
              <a:lnSpc>
                <a:spcPct val="150000"/>
              </a:lnSpc>
            </a:pPr>
            <a:r>
              <a:rPr sz="2000" dirty="0">
                <a:cs typeface="微软雅黑" panose="020B0503020204020204" charset="-122"/>
              </a:rPr>
              <a:t>（3）b各个数位上的数之和是3的倍数；</a:t>
            </a:r>
            <a:endParaRPr sz="2000" dirty="0">
              <a:cs typeface="微软雅黑" panose="020B0503020204020204" charset="-122"/>
            </a:endParaRPr>
          </a:p>
          <a:p>
            <a:pPr indent="0" fontAlgn="auto">
              <a:lnSpc>
                <a:spcPct val="150000"/>
              </a:lnSpc>
            </a:pPr>
            <a:r>
              <a:rPr sz="2000" dirty="0">
                <a:cs typeface="微软雅黑" panose="020B0503020204020204" charset="-122"/>
              </a:rPr>
              <a:t>（4）b能被6整除。</a:t>
            </a:r>
            <a:endParaRPr sz="2000" dirty="0">
              <a:cs typeface="微软雅黑" panose="020B0503020204020204" charset="-122"/>
            </a:endParaRPr>
          </a:p>
          <a:p>
            <a:pPr indent="0" fontAlgn="auto">
              <a:lnSpc>
                <a:spcPct val="150000"/>
              </a:lnSpc>
            </a:pPr>
            <a:r>
              <a:rPr sz="2000" dirty="0">
                <a:cs typeface="微软雅黑" panose="020B0503020204020204" charset="-122"/>
              </a:rPr>
              <a:t>A.（1）是（2）的充分条件，（3）是（4）的充分条件</a:t>
            </a:r>
            <a:endParaRPr sz="2000" dirty="0">
              <a:cs typeface="微软雅黑" panose="020B0503020204020204" charset="-122"/>
            </a:endParaRPr>
          </a:p>
          <a:p>
            <a:pPr indent="0" fontAlgn="auto">
              <a:lnSpc>
                <a:spcPct val="150000"/>
              </a:lnSpc>
            </a:pPr>
            <a:r>
              <a:rPr sz="2000" dirty="0">
                <a:cs typeface="微软雅黑" panose="020B0503020204020204" charset="-122"/>
              </a:rPr>
              <a:t>B.（1）是（2）的充分条件，（3）是（4）的必要条件</a:t>
            </a:r>
            <a:endParaRPr sz="2000" dirty="0">
              <a:cs typeface="微软雅黑" panose="020B0503020204020204" charset="-122"/>
            </a:endParaRPr>
          </a:p>
          <a:p>
            <a:pPr indent="0" fontAlgn="auto">
              <a:lnSpc>
                <a:spcPct val="150000"/>
              </a:lnSpc>
            </a:pPr>
            <a:r>
              <a:rPr sz="2000" dirty="0">
                <a:cs typeface="微软雅黑" panose="020B0503020204020204" charset="-122"/>
              </a:rPr>
              <a:t>C.（1）是（2）的必要条件，（3）是（4）的充分条件</a:t>
            </a:r>
            <a:endParaRPr sz="2000" dirty="0">
              <a:cs typeface="微软雅黑" panose="020B0503020204020204" charset="-122"/>
            </a:endParaRPr>
          </a:p>
          <a:p>
            <a:pPr indent="0" fontAlgn="auto">
              <a:lnSpc>
                <a:spcPct val="150000"/>
              </a:lnSpc>
            </a:pPr>
            <a:r>
              <a:rPr sz="2000" dirty="0">
                <a:cs typeface="微软雅黑" panose="020B0503020204020204" charset="-122"/>
              </a:rPr>
              <a:t>D.（1）是（2）的必要条件，（3）是（4）的必要条件</a:t>
            </a:r>
            <a:endParaRPr sz="2000" dirty="0">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实习：实践 </a:t>
            </a:r>
            <a:endParaRPr sz="2000" dirty="0">
              <a:cs typeface="微软雅黑" panose="020B0503020204020204" charset="-122"/>
            </a:endParaRPr>
          </a:p>
          <a:p>
            <a:pPr indent="0" fontAlgn="auto">
              <a:lnSpc>
                <a:spcPct val="150000"/>
              </a:lnSpc>
            </a:pPr>
            <a:r>
              <a:rPr sz="2000" dirty="0">
                <a:cs typeface="微软雅黑" panose="020B0503020204020204" charset="-122"/>
              </a:rPr>
              <a:t>A.远足：运动 </a:t>
            </a:r>
            <a:endParaRPr sz="2000" dirty="0">
              <a:cs typeface="微软雅黑" panose="020B0503020204020204" charset="-122"/>
            </a:endParaRPr>
          </a:p>
          <a:p>
            <a:pPr indent="0" fontAlgn="auto">
              <a:lnSpc>
                <a:spcPct val="150000"/>
              </a:lnSpc>
            </a:pPr>
            <a:r>
              <a:rPr sz="2000" dirty="0">
                <a:cs typeface="微软雅黑" panose="020B0503020204020204" charset="-122"/>
              </a:rPr>
              <a:t>B.电池：垃圾 </a:t>
            </a:r>
            <a:endParaRPr sz="2000" dirty="0">
              <a:cs typeface="微软雅黑" panose="020B0503020204020204" charset="-122"/>
            </a:endParaRPr>
          </a:p>
          <a:p>
            <a:pPr indent="0" fontAlgn="auto">
              <a:lnSpc>
                <a:spcPct val="150000"/>
              </a:lnSpc>
            </a:pPr>
            <a:r>
              <a:rPr sz="2000" dirty="0">
                <a:cs typeface="微软雅黑" panose="020B0503020204020204" charset="-122"/>
              </a:rPr>
              <a:t>C.餐饮：餐食 </a:t>
            </a:r>
            <a:endParaRPr sz="2000" dirty="0">
              <a:cs typeface="微软雅黑" panose="020B0503020204020204" charset="-122"/>
            </a:endParaRPr>
          </a:p>
          <a:p>
            <a:pPr indent="0" fontAlgn="auto">
              <a:lnSpc>
                <a:spcPct val="150000"/>
              </a:lnSpc>
            </a:pPr>
            <a:r>
              <a:rPr sz="2000" dirty="0">
                <a:cs typeface="微软雅黑" panose="020B0503020204020204" charset="-122"/>
              </a:rPr>
              <a:t>D.思想：思考</a:t>
            </a:r>
            <a:endParaRPr sz="2000" dirty="0">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不由自主：情不自禁</a:t>
            </a:r>
            <a:endParaRPr sz="2000" dirty="0">
              <a:cs typeface="微软雅黑" panose="020B0503020204020204" charset="-122"/>
            </a:endParaRPr>
          </a:p>
          <a:p>
            <a:pPr indent="0" fontAlgn="auto">
              <a:lnSpc>
                <a:spcPct val="150000"/>
              </a:lnSpc>
            </a:pPr>
            <a:r>
              <a:rPr sz="2000" dirty="0">
                <a:cs typeface="微软雅黑" panose="020B0503020204020204" charset="-122"/>
              </a:rPr>
              <a:t>A.别有洞天：峰回路转 </a:t>
            </a:r>
            <a:endParaRPr sz="2000" dirty="0">
              <a:cs typeface="微软雅黑" panose="020B0503020204020204" charset="-122"/>
            </a:endParaRPr>
          </a:p>
          <a:p>
            <a:pPr indent="0" fontAlgn="auto">
              <a:lnSpc>
                <a:spcPct val="150000"/>
              </a:lnSpc>
            </a:pPr>
            <a:r>
              <a:rPr sz="2000" dirty="0">
                <a:cs typeface="微软雅黑" panose="020B0503020204020204" charset="-122"/>
              </a:rPr>
              <a:t>B.近水楼台：向阳花木 </a:t>
            </a:r>
            <a:endParaRPr sz="2000" dirty="0">
              <a:cs typeface="微软雅黑" panose="020B0503020204020204" charset="-122"/>
            </a:endParaRPr>
          </a:p>
          <a:p>
            <a:pPr indent="0" fontAlgn="auto">
              <a:lnSpc>
                <a:spcPct val="150000"/>
              </a:lnSpc>
            </a:pPr>
            <a:r>
              <a:rPr sz="2000" dirty="0">
                <a:cs typeface="微软雅黑" panose="020B0503020204020204" charset="-122"/>
              </a:rPr>
              <a:t>C.瓜田李下：指鹿为马 </a:t>
            </a:r>
            <a:endParaRPr sz="2000" dirty="0">
              <a:cs typeface="微软雅黑" panose="020B0503020204020204" charset="-122"/>
            </a:endParaRPr>
          </a:p>
          <a:p>
            <a:pPr indent="0" fontAlgn="auto">
              <a:lnSpc>
                <a:spcPct val="150000"/>
              </a:lnSpc>
            </a:pPr>
            <a:r>
              <a:rPr sz="2000" dirty="0">
                <a:cs typeface="微软雅黑" panose="020B0503020204020204" charset="-122"/>
              </a:rPr>
              <a:t>D.徒劳无功：水到渠成</a:t>
            </a:r>
            <a:endParaRPr sz="2000" dirty="0">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不由自主：情不自禁</a:t>
            </a:r>
            <a:endParaRPr sz="2000" dirty="0">
              <a:cs typeface="微软雅黑" panose="020B0503020204020204" charset="-122"/>
            </a:endParaRPr>
          </a:p>
          <a:p>
            <a:pPr indent="0" fontAlgn="auto">
              <a:lnSpc>
                <a:spcPct val="150000"/>
              </a:lnSpc>
            </a:pPr>
            <a:r>
              <a:rPr sz="2000" dirty="0">
                <a:cs typeface="微软雅黑" panose="020B0503020204020204" charset="-122"/>
              </a:rPr>
              <a:t>A.别有洞天：峰回路转 </a:t>
            </a:r>
            <a:endParaRPr sz="2000" dirty="0">
              <a:cs typeface="微软雅黑" panose="020B0503020204020204" charset="-122"/>
            </a:endParaRPr>
          </a:p>
          <a:p>
            <a:pPr indent="0" fontAlgn="auto">
              <a:lnSpc>
                <a:spcPct val="150000"/>
              </a:lnSpc>
            </a:pPr>
            <a:r>
              <a:rPr sz="2000" dirty="0">
                <a:cs typeface="微软雅黑" panose="020B0503020204020204" charset="-122"/>
              </a:rPr>
              <a:t>B.近水楼台：向阳花木 </a:t>
            </a:r>
            <a:endParaRPr sz="2000" dirty="0">
              <a:cs typeface="微软雅黑" panose="020B0503020204020204" charset="-122"/>
            </a:endParaRPr>
          </a:p>
          <a:p>
            <a:pPr indent="0" fontAlgn="auto">
              <a:lnSpc>
                <a:spcPct val="150000"/>
              </a:lnSpc>
            </a:pPr>
            <a:r>
              <a:rPr sz="2000" dirty="0">
                <a:cs typeface="微软雅黑" panose="020B0503020204020204" charset="-122"/>
              </a:rPr>
              <a:t>C.瓜田李下：指鹿为马 </a:t>
            </a:r>
            <a:endParaRPr sz="2000" dirty="0">
              <a:cs typeface="微软雅黑" panose="020B0503020204020204" charset="-122"/>
            </a:endParaRPr>
          </a:p>
          <a:p>
            <a:pPr indent="0" fontAlgn="auto">
              <a:lnSpc>
                <a:spcPct val="150000"/>
              </a:lnSpc>
            </a:pPr>
            <a:r>
              <a:rPr sz="2000" dirty="0">
                <a:cs typeface="微软雅黑" panose="020B0503020204020204" charset="-122"/>
              </a:rPr>
              <a:t>D.徒劳无功：水到渠成</a:t>
            </a:r>
            <a:endParaRPr sz="2000" dirty="0">
              <a:cs typeface="微软雅黑" panose="020B0503020204020204" charset="-122"/>
            </a:endParaRPr>
          </a:p>
        </p:txBody>
      </p:sp>
      <p:sp>
        <p:nvSpPr>
          <p:cNvPr id="4" name="文本框 3"/>
          <p:cNvSpPr txBox="1"/>
          <p:nvPr/>
        </p:nvSpPr>
        <p:spPr>
          <a:xfrm>
            <a:off x="3884295" y="930910"/>
            <a:ext cx="8483600" cy="3169285"/>
          </a:xfrm>
          <a:prstGeom prst="rect">
            <a:avLst/>
          </a:prstGeom>
          <a:noFill/>
        </p:spPr>
        <p:txBody>
          <a:bodyPr wrap="square" rtlCol="0" anchor="t">
            <a:spAutoFit/>
          </a:bodyPr>
          <a:p>
            <a:r>
              <a:rPr sz="2000" dirty="0">
                <a:solidFill>
                  <a:srgbClr val="FF0000"/>
                </a:solidFill>
                <a:cs typeface="微软雅黑" panose="020B0503020204020204" charset="-122"/>
                <a:sym typeface="+mn-ea"/>
              </a:rPr>
              <a:t>不由自主</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由不得自己做主，无法控制住自己</a:t>
            </a:r>
            <a:endParaRPr sz="2000" dirty="0">
              <a:solidFill>
                <a:srgbClr val="FF0000"/>
              </a:solidFill>
              <a:effectLst/>
              <a:cs typeface="微软雅黑" panose="020B0503020204020204" charset="-122"/>
              <a:sym typeface="微软雅黑" panose="020B0503020204020204" charset="-122"/>
            </a:endParaRPr>
          </a:p>
          <a:p>
            <a:r>
              <a:rPr sz="2000" dirty="0">
                <a:solidFill>
                  <a:srgbClr val="FF0000"/>
                </a:solidFill>
                <a:cs typeface="微软雅黑" panose="020B0503020204020204" charset="-122"/>
                <a:sym typeface="+mn-ea"/>
              </a:rPr>
              <a:t>情不自禁</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控制不住自己的感情</a:t>
            </a:r>
            <a:endParaRPr sz="2000" dirty="0">
              <a:solidFill>
                <a:srgbClr val="FF0000"/>
              </a:solidFill>
              <a:effectLst/>
              <a:cs typeface="微软雅黑" panose="020B0503020204020204" charset="-122"/>
              <a:sym typeface="微软雅黑" panose="020B0503020204020204" charset="-122"/>
            </a:endParaRPr>
          </a:p>
          <a:p>
            <a:r>
              <a:rPr sz="2000" dirty="0">
                <a:solidFill>
                  <a:srgbClr val="FF0000"/>
                </a:solidFill>
                <a:effectLst/>
                <a:cs typeface="微软雅黑" panose="020B0503020204020204" charset="-122"/>
                <a:sym typeface="微软雅黑" panose="020B0503020204020204" charset="-122"/>
              </a:rPr>
              <a:t>别有洞天</a:t>
            </a:r>
            <a:r>
              <a:rPr lang="en-US" sz="2000" dirty="0">
                <a:solidFill>
                  <a:srgbClr val="FF0000"/>
                </a:solidFill>
                <a:effectLst/>
                <a:cs typeface="微软雅黑" panose="020B0503020204020204" charset="-122"/>
                <a:sym typeface="微软雅黑" panose="020B0503020204020204" charset="-122"/>
              </a:rPr>
              <a:t>:</a:t>
            </a:r>
            <a:r>
              <a:rPr sz="2000" dirty="0">
                <a:solidFill>
                  <a:srgbClr val="FF0000"/>
                </a:solidFill>
                <a:effectLst/>
                <a:cs typeface="微软雅黑" panose="020B0503020204020204" charset="-122"/>
                <a:sym typeface="微软雅黑" panose="020B0503020204020204" charset="-122"/>
              </a:rPr>
              <a:t>风景优雅，引人入胜</a:t>
            </a:r>
            <a:endParaRPr sz="2000" dirty="0">
              <a:solidFill>
                <a:srgbClr val="FF0000"/>
              </a:solidFill>
              <a:effectLst/>
              <a:cs typeface="微软雅黑" panose="020B0503020204020204" charset="-122"/>
              <a:sym typeface="微软雅黑" panose="020B0503020204020204" charset="-122"/>
            </a:endParaRPr>
          </a:p>
          <a:p>
            <a:r>
              <a:rPr sz="2000" dirty="0">
                <a:solidFill>
                  <a:srgbClr val="FF0000"/>
                </a:solidFill>
                <a:cs typeface="微软雅黑" panose="020B0503020204020204" charset="-122"/>
                <a:sym typeface="+mn-ea"/>
              </a:rPr>
              <a:t>峰回路转</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山峰迂回，道路曲折，也比喻事情经过挫折失败后出现新的转机</a:t>
            </a:r>
            <a:endParaRPr sz="2000" dirty="0">
              <a:solidFill>
                <a:srgbClr val="FF0000"/>
              </a:solidFill>
              <a:effectLst/>
              <a:cs typeface="微软雅黑" panose="020B0503020204020204" charset="-122"/>
              <a:sym typeface="微软雅黑" panose="020B0503020204020204" charset="-122"/>
            </a:endParaRPr>
          </a:p>
          <a:p>
            <a:r>
              <a:rPr sz="2000" dirty="0">
                <a:solidFill>
                  <a:srgbClr val="FF0000"/>
                </a:solidFill>
                <a:cs typeface="微软雅黑" panose="020B0503020204020204" charset="-122"/>
                <a:sym typeface="+mn-ea"/>
              </a:rPr>
              <a:t>近水楼台</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比喻由于地处近便或者条件优越而获得优先的机会</a:t>
            </a:r>
            <a:endParaRPr lang="en-US" sz="2000" dirty="0">
              <a:solidFill>
                <a:srgbClr val="FF0000"/>
              </a:solidFill>
              <a:cs typeface="微软雅黑" panose="020B0503020204020204" charset="-122"/>
              <a:sym typeface="+mn-ea"/>
            </a:endParaRPr>
          </a:p>
          <a:p>
            <a:r>
              <a:rPr sz="2000" dirty="0">
                <a:solidFill>
                  <a:srgbClr val="FF0000"/>
                </a:solidFill>
                <a:cs typeface="微软雅黑" panose="020B0503020204020204" charset="-122"/>
                <a:sym typeface="+mn-ea"/>
              </a:rPr>
              <a:t>向阳花木</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比喻因占有方便的条件而获得利益或照顾</a:t>
            </a:r>
            <a:endParaRPr sz="2000" dirty="0">
              <a:solidFill>
                <a:srgbClr val="FF0000"/>
              </a:solidFill>
              <a:effectLst/>
              <a:cs typeface="微软雅黑" panose="020B0503020204020204" charset="-122"/>
              <a:sym typeface="微软雅黑" panose="020B0503020204020204" charset="-122"/>
            </a:endParaRPr>
          </a:p>
          <a:p>
            <a:r>
              <a:rPr sz="2000" dirty="0">
                <a:solidFill>
                  <a:srgbClr val="FF0000"/>
                </a:solidFill>
                <a:cs typeface="微软雅黑" panose="020B0503020204020204" charset="-122"/>
                <a:sym typeface="+mn-ea"/>
              </a:rPr>
              <a:t>瓜田李下</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容易招致嫌疑的场合</a:t>
            </a:r>
            <a:endParaRPr lang="en-US" sz="2000" dirty="0">
              <a:solidFill>
                <a:srgbClr val="FF0000"/>
              </a:solidFill>
              <a:cs typeface="微软雅黑" panose="020B0503020204020204" charset="-122"/>
              <a:sym typeface="+mn-ea"/>
            </a:endParaRPr>
          </a:p>
          <a:p>
            <a:r>
              <a:rPr sz="2000" dirty="0">
                <a:solidFill>
                  <a:srgbClr val="FF0000"/>
                </a:solidFill>
                <a:cs typeface="微软雅黑" panose="020B0503020204020204" charset="-122"/>
                <a:sym typeface="+mn-ea"/>
              </a:rPr>
              <a:t>指鹿为马</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比喻颠倒黑白，混淆是非</a:t>
            </a:r>
            <a:endParaRPr lang="en-US" sz="2000" dirty="0">
              <a:solidFill>
                <a:srgbClr val="FF0000"/>
              </a:solidFill>
              <a:cs typeface="微软雅黑" panose="020B0503020204020204" charset="-122"/>
              <a:sym typeface="+mn-ea"/>
            </a:endParaRPr>
          </a:p>
          <a:p>
            <a:r>
              <a:rPr sz="2000" dirty="0">
                <a:solidFill>
                  <a:srgbClr val="FF0000"/>
                </a:solidFill>
                <a:cs typeface="微软雅黑" panose="020B0503020204020204" charset="-122"/>
                <a:sym typeface="+mn-ea"/>
              </a:rPr>
              <a:t>徒劳无功</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白费力气，没有一点成效</a:t>
            </a:r>
            <a:endParaRPr lang="en-US" sz="2000" dirty="0">
              <a:solidFill>
                <a:srgbClr val="FF0000"/>
              </a:solidFill>
              <a:cs typeface="微软雅黑" panose="020B0503020204020204" charset="-122"/>
              <a:sym typeface="+mn-ea"/>
            </a:endParaRPr>
          </a:p>
          <a:p>
            <a:r>
              <a:rPr sz="2000" dirty="0">
                <a:solidFill>
                  <a:srgbClr val="FF0000"/>
                </a:solidFill>
                <a:cs typeface="微软雅黑" panose="020B0503020204020204" charset="-122"/>
                <a:sym typeface="+mn-ea"/>
              </a:rPr>
              <a:t>水到渠成</a:t>
            </a:r>
            <a:r>
              <a:rPr lang="en-US" sz="2000" dirty="0">
                <a:solidFill>
                  <a:srgbClr val="FF0000"/>
                </a:solidFill>
                <a:cs typeface="微软雅黑" panose="020B0503020204020204" charset="-122"/>
                <a:sym typeface="+mn-ea"/>
              </a:rPr>
              <a:t>:</a:t>
            </a:r>
            <a:r>
              <a:rPr sz="2000" dirty="0">
                <a:solidFill>
                  <a:srgbClr val="FF0000"/>
                </a:solidFill>
                <a:effectLst/>
                <a:cs typeface="微软雅黑" panose="020B0503020204020204" charset="-122"/>
                <a:sym typeface="微软雅黑" panose="020B0503020204020204" charset="-122"/>
              </a:rPr>
              <a:t>比喻条件成熟，事情自然成功</a:t>
            </a:r>
            <a:endParaRPr lang="en-US" sz="2000" dirty="0">
              <a:solidFill>
                <a:srgbClr val="FF0000"/>
              </a:solidFill>
              <a:effectLst/>
              <a:cs typeface="微软雅黑" panose="020B0503020204020204" charset="-122"/>
              <a:sym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渔民：渔船：渔场</a:t>
            </a:r>
            <a:endParaRPr sz="2000" dirty="0">
              <a:cs typeface="微软雅黑" panose="020B0503020204020204" charset="-122"/>
            </a:endParaRPr>
          </a:p>
          <a:p>
            <a:pPr indent="0" fontAlgn="auto">
              <a:lnSpc>
                <a:spcPct val="150000"/>
              </a:lnSpc>
            </a:pPr>
            <a:r>
              <a:rPr sz="2000" dirty="0">
                <a:cs typeface="微软雅黑" panose="020B0503020204020204" charset="-122"/>
              </a:rPr>
              <a:t>A.工人：工厂：工地 </a:t>
            </a:r>
            <a:endParaRPr sz="2000" dirty="0">
              <a:cs typeface="微软雅黑" panose="020B0503020204020204" charset="-122"/>
            </a:endParaRPr>
          </a:p>
          <a:p>
            <a:pPr indent="0" fontAlgn="auto">
              <a:lnSpc>
                <a:spcPct val="150000"/>
              </a:lnSpc>
            </a:pPr>
            <a:r>
              <a:rPr sz="2000" dirty="0">
                <a:cs typeface="微软雅黑" panose="020B0503020204020204" charset="-122"/>
              </a:rPr>
              <a:t>B.歌手：歌曲：歌厅 </a:t>
            </a:r>
            <a:endParaRPr sz="2000" dirty="0">
              <a:cs typeface="微软雅黑" panose="020B0503020204020204" charset="-122"/>
            </a:endParaRPr>
          </a:p>
          <a:p>
            <a:pPr indent="0" fontAlgn="auto">
              <a:lnSpc>
                <a:spcPct val="150000"/>
              </a:lnSpc>
            </a:pPr>
            <a:r>
              <a:rPr sz="2000" dirty="0">
                <a:cs typeface="微软雅黑" panose="020B0503020204020204" charset="-122"/>
              </a:rPr>
              <a:t>C.护士：护理：医院 </a:t>
            </a:r>
            <a:endParaRPr sz="2000" dirty="0">
              <a:cs typeface="微软雅黑" panose="020B0503020204020204" charset="-122"/>
            </a:endParaRPr>
          </a:p>
          <a:p>
            <a:pPr indent="0" fontAlgn="auto">
              <a:lnSpc>
                <a:spcPct val="150000"/>
              </a:lnSpc>
            </a:pPr>
            <a:r>
              <a:rPr sz="2000" dirty="0">
                <a:cs typeface="微软雅黑" panose="020B0503020204020204" charset="-122"/>
              </a:rPr>
              <a:t>D.车工：车床：车间</a:t>
            </a:r>
            <a:endParaRPr sz="2000" dirty="0">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二维码：图形：传递信息</a:t>
            </a:r>
            <a:endParaRPr sz="2000" dirty="0">
              <a:cs typeface="微软雅黑" panose="020B0503020204020204" charset="-122"/>
            </a:endParaRPr>
          </a:p>
          <a:p>
            <a:pPr indent="0" fontAlgn="auto">
              <a:lnSpc>
                <a:spcPct val="150000"/>
              </a:lnSpc>
            </a:pPr>
            <a:r>
              <a:rPr sz="2000" dirty="0">
                <a:cs typeface="微软雅黑" panose="020B0503020204020204" charset="-122"/>
              </a:rPr>
              <a:t>A.银行卡：磁卡：支付款项 </a:t>
            </a:r>
            <a:endParaRPr sz="2000" dirty="0">
              <a:cs typeface="微软雅黑" panose="020B0503020204020204" charset="-122"/>
            </a:endParaRPr>
          </a:p>
          <a:p>
            <a:pPr indent="0" fontAlgn="auto">
              <a:lnSpc>
                <a:spcPct val="150000"/>
              </a:lnSpc>
            </a:pPr>
            <a:r>
              <a:rPr sz="2000" dirty="0">
                <a:cs typeface="微软雅黑" panose="020B0503020204020204" charset="-122"/>
              </a:rPr>
              <a:t>B.肺结核：飞沫：感染细菌</a:t>
            </a:r>
            <a:endParaRPr sz="2000" dirty="0">
              <a:cs typeface="微软雅黑" panose="020B0503020204020204" charset="-122"/>
            </a:endParaRPr>
          </a:p>
          <a:p>
            <a:pPr indent="0" fontAlgn="auto">
              <a:lnSpc>
                <a:spcPct val="150000"/>
              </a:lnSpc>
            </a:pPr>
            <a:r>
              <a:rPr sz="2000" dirty="0">
                <a:cs typeface="微软雅黑" panose="020B0503020204020204" charset="-122"/>
              </a:rPr>
              <a:t>C.电子琴：乐谱：播放声音 </a:t>
            </a:r>
            <a:endParaRPr sz="2000" dirty="0">
              <a:cs typeface="微软雅黑" panose="020B0503020204020204" charset="-122"/>
            </a:endParaRPr>
          </a:p>
          <a:p>
            <a:pPr indent="0" fontAlgn="auto">
              <a:lnSpc>
                <a:spcPct val="150000"/>
              </a:lnSpc>
            </a:pPr>
            <a:r>
              <a:rPr sz="2000" dirty="0">
                <a:cs typeface="微软雅黑" panose="020B0503020204020204" charset="-122"/>
              </a:rPr>
              <a:t>D.充电宝：电流：连通电路</a:t>
            </a:r>
            <a:endParaRPr sz="2000" dirty="0">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党支部：党小组：党员</a:t>
            </a:r>
            <a:endParaRPr sz="2000" dirty="0">
              <a:cs typeface="微软雅黑" panose="020B0503020204020204" charset="-122"/>
            </a:endParaRPr>
          </a:p>
          <a:p>
            <a:pPr indent="0" fontAlgn="auto">
              <a:lnSpc>
                <a:spcPct val="150000"/>
              </a:lnSpc>
            </a:pPr>
            <a:r>
              <a:rPr sz="2000" dirty="0">
                <a:cs typeface="微软雅黑" panose="020B0503020204020204" charset="-122"/>
              </a:rPr>
              <a:t>A.铁路网：铁路枢纽：火车 </a:t>
            </a:r>
            <a:endParaRPr sz="2000" dirty="0">
              <a:cs typeface="微软雅黑" panose="020B0503020204020204" charset="-122"/>
            </a:endParaRPr>
          </a:p>
          <a:p>
            <a:pPr indent="0" fontAlgn="auto">
              <a:lnSpc>
                <a:spcPct val="150000"/>
              </a:lnSpc>
            </a:pPr>
            <a:r>
              <a:rPr sz="2000" dirty="0">
                <a:cs typeface="微软雅黑" panose="020B0503020204020204" charset="-122"/>
              </a:rPr>
              <a:t>B.食物链：生态系统：生物</a:t>
            </a:r>
            <a:endParaRPr sz="2000" dirty="0">
              <a:cs typeface="微软雅黑" panose="020B0503020204020204" charset="-122"/>
            </a:endParaRPr>
          </a:p>
          <a:p>
            <a:pPr indent="0" fontAlgn="auto">
              <a:lnSpc>
                <a:spcPct val="150000"/>
              </a:lnSpc>
            </a:pPr>
            <a:r>
              <a:rPr sz="2000" dirty="0">
                <a:cs typeface="微软雅黑" panose="020B0503020204020204" charset="-122"/>
              </a:rPr>
              <a:t>C.金融体系：监管体系：银行 </a:t>
            </a:r>
            <a:endParaRPr sz="2000" dirty="0">
              <a:cs typeface="微软雅黑" panose="020B0503020204020204" charset="-122"/>
            </a:endParaRPr>
          </a:p>
          <a:p>
            <a:pPr indent="0" fontAlgn="auto">
              <a:lnSpc>
                <a:spcPct val="150000"/>
              </a:lnSpc>
            </a:pPr>
            <a:r>
              <a:rPr sz="2000" dirty="0">
                <a:cs typeface="微软雅黑" panose="020B0503020204020204" charset="-122"/>
              </a:rPr>
              <a:t>D.义务教育：初中教育：美育</a:t>
            </a:r>
            <a:endParaRPr sz="2000" dirty="0">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sz="2000" dirty="0">
                <a:cs typeface="微软雅黑" panose="020B0503020204020204" charset="-122"/>
              </a:rPr>
              <a:t>夜</a:t>
            </a:r>
            <a:r>
              <a:rPr sz="2000" dirty="0">
                <a:cs typeface="微软雅黑" panose="020B0503020204020204" charset="-122"/>
              </a:rPr>
              <a:t>视镜：显微镜：滤光镜</a:t>
            </a:r>
            <a:endParaRPr sz="2000" dirty="0">
              <a:cs typeface="微软雅黑" panose="020B0503020204020204" charset="-122"/>
            </a:endParaRPr>
          </a:p>
          <a:p>
            <a:pPr indent="0" fontAlgn="auto">
              <a:lnSpc>
                <a:spcPct val="150000"/>
              </a:lnSpc>
            </a:pPr>
            <a:r>
              <a:rPr sz="2000" dirty="0">
                <a:cs typeface="微软雅黑" panose="020B0503020204020204" charset="-122"/>
              </a:rPr>
              <a:t>A.网球鞋：高跟鞋：绣花鞋 </a:t>
            </a:r>
            <a:endParaRPr sz="2000" dirty="0">
              <a:cs typeface="微软雅黑" panose="020B0503020204020204" charset="-122"/>
            </a:endParaRPr>
          </a:p>
          <a:p>
            <a:pPr indent="0" fontAlgn="auto">
              <a:lnSpc>
                <a:spcPct val="150000"/>
              </a:lnSpc>
            </a:pPr>
            <a:r>
              <a:rPr sz="2000" dirty="0">
                <a:cs typeface="微软雅黑" panose="020B0503020204020204" charset="-122"/>
              </a:rPr>
              <a:t>B.自驾游：跟团游：亲子游</a:t>
            </a:r>
            <a:endParaRPr sz="2000" dirty="0">
              <a:cs typeface="微软雅黑" panose="020B0503020204020204" charset="-122"/>
            </a:endParaRPr>
          </a:p>
          <a:p>
            <a:pPr indent="0" fontAlgn="auto">
              <a:lnSpc>
                <a:spcPct val="150000"/>
              </a:lnSpc>
            </a:pPr>
            <a:r>
              <a:rPr sz="2000" dirty="0">
                <a:cs typeface="微软雅黑" panose="020B0503020204020204" charset="-122"/>
              </a:rPr>
              <a:t>C.潜水服：消防服：宇航服 </a:t>
            </a:r>
            <a:endParaRPr sz="2000" dirty="0">
              <a:cs typeface="微软雅黑" panose="020B0503020204020204" charset="-122"/>
            </a:endParaRPr>
          </a:p>
          <a:p>
            <a:pPr indent="0" fontAlgn="auto">
              <a:lnSpc>
                <a:spcPct val="150000"/>
              </a:lnSpc>
            </a:pPr>
            <a:r>
              <a:rPr sz="2000" dirty="0">
                <a:cs typeface="微软雅黑" panose="020B0503020204020204" charset="-122"/>
              </a:rPr>
              <a:t>D.可能性：现实性：必然性</a:t>
            </a:r>
            <a:endParaRPr sz="2000" dirty="0">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72</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议案提出：审议通过：公布生效</a:t>
            </a:r>
            <a:endParaRPr sz="2000" dirty="0">
              <a:cs typeface="微软雅黑" panose="020B0503020204020204" charset="-122"/>
            </a:endParaRPr>
          </a:p>
          <a:p>
            <a:pPr indent="0" fontAlgn="auto">
              <a:lnSpc>
                <a:spcPct val="150000"/>
              </a:lnSpc>
            </a:pPr>
            <a:r>
              <a:rPr sz="2000" dirty="0">
                <a:cs typeface="微软雅黑" panose="020B0503020204020204" charset="-122"/>
              </a:rPr>
              <a:t>A.危险预警：紧急避让：安全驾驶 </a:t>
            </a:r>
            <a:endParaRPr sz="2000" dirty="0">
              <a:cs typeface="微软雅黑" panose="020B0503020204020204" charset="-122"/>
            </a:endParaRPr>
          </a:p>
          <a:p>
            <a:pPr indent="0" fontAlgn="auto">
              <a:lnSpc>
                <a:spcPct val="150000"/>
              </a:lnSpc>
            </a:pPr>
            <a:r>
              <a:rPr sz="2000" dirty="0">
                <a:cs typeface="微软雅黑" panose="020B0503020204020204" charset="-122"/>
              </a:rPr>
              <a:t>B.按需采购：产品验收：登记入库</a:t>
            </a:r>
            <a:endParaRPr sz="2000" dirty="0">
              <a:cs typeface="微软雅黑" panose="020B0503020204020204" charset="-122"/>
            </a:endParaRPr>
          </a:p>
          <a:p>
            <a:pPr indent="0" fontAlgn="auto">
              <a:lnSpc>
                <a:spcPct val="150000"/>
              </a:lnSpc>
            </a:pPr>
            <a:r>
              <a:rPr sz="2000" dirty="0">
                <a:cs typeface="微软雅黑" panose="020B0503020204020204" charset="-122"/>
              </a:rPr>
              <a:t>C.市场监管：执法检查：责令整改 </a:t>
            </a:r>
            <a:endParaRPr sz="2000" dirty="0">
              <a:cs typeface="微软雅黑" panose="020B0503020204020204" charset="-122"/>
            </a:endParaRPr>
          </a:p>
          <a:p>
            <a:pPr indent="0" fontAlgn="auto">
              <a:lnSpc>
                <a:spcPct val="150000"/>
              </a:lnSpc>
            </a:pPr>
            <a:r>
              <a:rPr sz="2000" dirty="0">
                <a:cs typeface="微软雅黑" panose="020B0503020204020204" charset="-122"/>
              </a:rPr>
              <a:t>D.问卷调查：设计量表：收集数据</a:t>
            </a:r>
            <a:endParaRPr sz="2000" dirty="0">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自主学习：提升能力：业务培训</a:t>
            </a:r>
            <a:endParaRPr sz="2000" dirty="0">
              <a:cs typeface="微软雅黑" panose="020B0503020204020204" charset="-122"/>
            </a:endParaRPr>
          </a:p>
          <a:p>
            <a:pPr indent="0" fontAlgn="auto">
              <a:lnSpc>
                <a:spcPct val="150000"/>
              </a:lnSpc>
            </a:pPr>
            <a:r>
              <a:rPr sz="2000" dirty="0">
                <a:cs typeface="微软雅黑" panose="020B0503020204020204" charset="-122"/>
              </a:rPr>
              <a:t>A.接种疫苗：预防疾病：锻炼身体 </a:t>
            </a:r>
            <a:endParaRPr sz="2000" dirty="0">
              <a:cs typeface="微软雅黑" panose="020B0503020204020204" charset="-122"/>
            </a:endParaRPr>
          </a:p>
          <a:p>
            <a:pPr indent="0" fontAlgn="auto">
              <a:lnSpc>
                <a:spcPct val="150000"/>
              </a:lnSpc>
            </a:pPr>
            <a:r>
              <a:rPr sz="2000" dirty="0">
                <a:cs typeface="微软雅黑" panose="020B0503020204020204" charset="-122"/>
              </a:rPr>
              <a:t>B.艺术创作：抒发情感：引发共鸣</a:t>
            </a:r>
            <a:endParaRPr sz="2000" dirty="0">
              <a:cs typeface="微软雅黑" panose="020B0503020204020204" charset="-122"/>
            </a:endParaRPr>
          </a:p>
          <a:p>
            <a:pPr indent="0" fontAlgn="auto">
              <a:lnSpc>
                <a:spcPct val="150000"/>
              </a:lnSpc>
            </a:pPr>
            <a:r>
              <a:rPr sz="2000" dirty="0">
                <a:cs typeface="微软雅黑" panose="020B0503020204020204" charset="-122"/>
              </a:rPr>
              <a:t>C.慈善捐赠：互助合作：帮扶弱势 </a:t>
            </a:r>
            <a:endParaRPr sz="2000" dirty="0">
              <a:cs typeface="微软雅黑" panose="020B0503020204020204" charset="-122"/>
            </a:endParaRPr>
          </a:p>
          <a:p>
            <a:pPr indent="0" fontAlgn="auto">
              <a:lnSpc>
                <a:spcPct val="150000"/>
              </a:lnSpc>
            </a:pPr>
            <a:r>
              <a:rPr sz="2000" dirty="0">
                <a:cs typeface="微软雅黑" panose="020B0503020204020204" charset="-122"/>
              </a:rPr>
              <a:t>D.各抒己见：消除分歧：达成共识</a:t>
            </a:r>
            <a:endParaRPr sz="2000" dirty="0">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骑车对于（）相当于（）对于 选拔</a:t>
            </a:r>
            <a:endParaRPr sz="2000" dirty="0">
              <a:cs typeface="微软雅黑" panose="020B0503020204020204" charset="-122"/>
            </a:endParaRPr>
          </a:p>
          <a:p>
            <a:pPr indent="0" fontAlgn="auto">
              <a:lnSpc>
                <a:spcPct val="150000"/>
              </a:lnSpc>
            </a:pPr>
            <a:r>
              <a:rPr sz="2000" dirty="0">
                <a:cs typeface="微软雅黑" panose="020B0503020204020204" charset="-122"/>
              </a:rPr>
              <a:t>A.磨炼</a:t>
            </a:r>
            <a:r>
              <a:rPr lang="zh-CN" sz="2000" dirty="0">
                <a:cs typeface="微软雅黑" panose="020B0503020204020204" charset="-122"/>
              </a:rPr>
              <a:t>；</a:t>
            </a:r>
            <a:r>
              <a:rPr sz="2000" dirty="0">
                <a:cs typeface="微软雅黑" panose="020B0503020204020204" charset="-122"/>
              </a:rPr>
              <a:t>晋升 </a:t>
            </a:r>
            <a:endParaRPr sz="2000" dirty="0">
              <a:cs typeface="微软雅黑" panose="020B0503020204020204" charset="-122"/>
            </a:endParaRPr>
          </a:p>
          <a:p>
            <a:pPr indent="0" fontAlgn="auto">
              <a:lnSpc>
                <a:spcPct val="150000"/>
              </a:lnSpc>
            </a:pPr>
            <a:r>
              <a:rPr sz="2000" dirty="0">
                <a:cs typeface="微软雅黑" panose="020B0503020204020204" charset="-122"/>
              </a:rPr>
              <a:t>B.运动</a:t>
            </a:r>
            <a:r>
              <a:rPr lang="zh-CN" sz="2000" dirty="0">
                <a:cs typeface="微软雅黑" panose="020B0503020204020204" charset="-122"/>
              </a:rPr>
              <a:t>；</a:t>
            </a:r>
            <a:r>
              <a:rPr sz="2000" dirty="0">
                <a:cs typeface="微软雅黑" panose="020B0503020204020204" charset="-122"/>
              </a:rPr>
              <a:t>成绩 </a:t>
            </a:r>
            <a:endParaRPr sz="2000" dirty="0">
              <a:cs typeface="微软雅黑" panose="020B0503020204020204" charset="-122"/>
            </a:endParaRPr>
          </a:p>
          <a:p>
            <a:pPr indent="0" fontAlgn="auto">
              <a:lnSpc>
                <a:spcPct val="150000"/>
              </a:lnSpc>
            </a:pPr>
            <a:r>
              <a:rPr sz="2000" dirty="0">
                <a:cs typeface="微软雅黑" panose="020B0503020204020204" charset="-122"/>
              </a:rPr>
              <a:t>C.比赛</a:t>
            </a:r>
            <a:r>
              <a:rPr lang="zh-CN" sz="2000" dirty="0">
                <a:cs typeface="微软雅黑" panose="020B0503020204020204" charset="-122"/>
              </a:rPr>
              <a:t>；</a:t>
            </a:r>
            <a:r>
              <a:rPr sz="2000" dirty="0">
                <a:cs typeface="微软雅黑" panose="020B0503020204020204" charset="-122"/>
              </a:rPr>
              <a:t>淘汰 </a:t>
            </a:r>
            <a:endParaRPr sz="2000" dirty="0">
              <a:cs typeface="微软雅黑" panose="020B0503020204020204" charset="-122"/>
            </a:endParaRPr>
          </a:p>
          <a:p>
            <a:pPr indent="0" fontAlgn="auto">
              <a:lnSpc>
                <a:spcPct val="150000"/>
              </a:lnSpc>
            </a:pPr>
            <a:r>
              <a:rPr sz="2000" dirty="0">
                <a:cs typeface="微软雅黑" panose="020B0503020204020204" charset="-122"/>
              </a:rPr>
              <a:t>D.出行</a:t>
            </a:r>
            <a:r>
              <a:rPr lang="zh-CN" sz="2000" dirty="0">
                <a:cs typeface="微软雅黑" panose="020B0503020204020204" charset="-122"/>
              </a:rPr>
              <a:t>；</a:t>
            </a:r>
            <a:r>
              <a:rPr sz="2000" dirty="0">
                <a:cs typeface="微软雅黑" panose="020B0503020204020204" charset="-122"/>
              </a:rPr>
              <a:t>考试</a:t>
            </a:r>
            <a:endParaRPr sz="2000" dirty="0">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75</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核潜艇对于（）相当于（）对于肠道。</a:t>
            </a:r>
            <a:endParaRPr sz="2000" dirty="0">
              <a:cs typeface="微软雅黑" panose="020B0503020204020204" charset="-122"/>
            </a:endParaRPr>
          </a:p>
          <a:p>
            <a:pPr indent="0" fontAlgn="auto">
              <a:lnSpc>
                <a:spcPct val="150000"/>
              </a:lnSpc>
            </a:pPr>
            <a:r>
              <a:rPr sz="2000" dirty="0">
                <a:cs typeface="微软雅黑" panose="020B0503020204020204" charset="-122"/>
              </a:rPr>
              <a:t>A.鱼雷</a:t>
            </a:r>
            <a:r>
              <a:rPr lang="zh-CN" sz="2000" dirty="0">
                <a:cs typeface="微软雅黑" panose="020B0503020204020204" charset="-122"/>
              </a:rPr>
              <a:t>；</a:t>
            </a:r>
            <a:r>
              <a:rPr sz="2000" dirty="0">
                <a:cs typeface="微软雅黑" panose="020B0503020204020204" charset="-122"/>
              </a:rPr>
              <a:t>疾病 </a:t>
            </a:r>
            <a:endParaRPr sz="2000" dirty="0">
              <a:cs typeface="微软雅黑" panose="020B0503020204020204" charset="-122"/>
            </a:endParaRPr>
          </a:p>
          <a:p>
            <a:pPr indent="0" fontAlgn="auto">
              <a:lnSpc>
                <a:spcPct val="150000"/>
              </a:lnSpc>
            </a:pPr>
            <a:r>
              <a:rPr sz="2000" dirty="0">
                <a:cs typeface="微软雅黑" panose="020B0503020204020204" charset="-122"/>
              </a:rPr>
              <a:t>B.国家</a:t>
            </a:r>
            <a:r>
              <a:rPr lang="zh-CN" sz="2000" dirty="0">
                <a:cs typeface="微软雅黑" panose="020B0503020204020204" charset="-122"/>
              </a:rPr>
              <a:t>；</a:t>
            </a:r>
            <a:r>
              <a:rPr sz="2000" dirty="0">
                <a:cs typeface="微软雅黑" panose="020B0503020204020204" charset="-122"/>
              </a:rPr>
              <a:t>人体 </a:t>
            </a:r>
            <a:endParaRPr sz="2000" dirty="0">
              <a:cs typeface="微软雅黑" panose="020B0503020204020204" charset="-122"/>
            </a:endParaRPr>
          </a:p>
          <a:p>
            <a:pPr indent="0" fontAlgn="auto">
              <a:lnSpc>
                <a:spcPct val="150000"/>
              </a:lnSpc>
            </a:pPr>
            <a:r>
              <a:rPr sz="2000" dirty="0">
                <a:cs typeface="微软雅黑" panose="020B0503020204020204" charset="-122"/>
              </a:rPr>
              <a:t>C.海洋</a:t>
            </a:r>
            <a:r>
              <a:rPr lang="zh-CN" sz="2000" dirty="0">
                <a:cs typeface="微软雅黑" panose="020B0503020204020204" charset="-122"/>
              </a:rPr>
              <a:t>；</a:t>
            </a:r>
            <a:r>
              <a:rPr sz="2000" dirty="0">
                <a:cs typeface="微软雅黑" panose="020B0503020204020204" charset="-122"/>
              </a:rPr>
              <a:t>消化酶 </a:t>
            </a:r>
            <a:endParaRPr sz="2000" dirty="0">
              <a:cs typeface="微软雅黑" panose="020B0503020204020204" charset="-122"/>
            </a:endParaRPr>
          </a:p>
          <a:p>
            <a:pPr indent="0" fontAlgn="auto">
              <a:lnSpc>
                <a:spcPct val="150000"/>
              </a:lnSpc>
            </a:pPr>
            <a:r>
              <a:rPr sz="2000" dirty="0">
                <a:cs typeface="微软雅黑" panose="020B0503020204020204" charset="-122"/>
              </a:rPr>
              <a:t>D.驱逐舰</a:t>
            </a:r>
            <a:r>
              <a:rPr lang="zh-CN" sz="2000" dirty="0">
                <a:cs typeface="微软雅黑" panose="020B0503020204020204" charset="-122"/>
              </a:rPr>
              <a:t>；</a:t>
            </a:r>
            <a:r>
              <a:rPr sz="2000" dirty="0">
                <a:cs typeface="微软雅黑" panose="020B0503020204020204" charset="-122"/>
              </a:rPr>
              <a:t>小肠</a:t>
            </a:r>
            <a:endParaRPr sz="2000" dirty="0">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76</a:t>
            </a:r>
            <a:endParaRPr kumimoji="1" lang="en-US" altLang="zh-CN" sz="2800" b="1" dirty="0">
              <a:solidFill>
                <a:srgbClr val="FF653F"/>
              </a:solidFill>
            </a:endParaRPr>
          </a:p>
        </p:txBody>
      </p:sp>
      <p:sp>
        <p:nvSpPr>
          <p:cNvPr id="3" name="文本框 2"/>
          <p:cNvSpPr txBox="1"/>
          <p:nvPr/>
        </p:nvSpPr>
        <p:spPr>
          <a:xfrm>
            <a:off x="462915" y="515620"/>
            <a:ext cx="8601710" cy="5712460"/>
          </a:xfrm>
          <a:prstGeom prst="rect">
            <a:avLst/>
          </a:prstGeom>
          <a:noFill/>
        </p:spPr>
        <p:txBody>
          <a:bodyPr wrap="square" rtlCol="0" anchor="t">
            <a:noAutofit/>
          </a:bodyPr>
          <a:p>
            <a:pPr indent="0" fontAlgn="auto">
              <a:lnSpc>
                <a:spcPct val="150000"/>
              </a:lnSpc>
            </a:pPr>
            <a:r>
              <a:rPr dirty="0">
                <a:cs typeface="微软雅黑" panose="020B0503020204020204" charset="-122"/>
              </a:rPr>
              <a:t>科技成果只有同国家需要、人民要求、市场需求相结合，并且完成从科学研究、实验开发、推广应用的三级跳，才能真正实现创新价值。只有让创新链产业链相互融合，才能推动经济高质量发展迈出更大步伐。只有确立企业创新主体地位，才能实现创新链产业链相互融合。只有建立完善企业科技创新法律法规，且破解企业科技成果使用、处置和收益权等政策障碍，才能确立企业创新主体地位。</a:t>
            </a:r>
            <a:endParaRPr dirty="0">
              <a:cs typeface="微软雅黑" panose="020B0503020204020204" charset="-122"/>
            </a:endParaRPr>
          </a:p>
          <a:p>
            <a:pPr indent="0" fontAlgn="auto">
              <a:lnSpc>
                <a:spcPct val="150000"/>
              </a:lnSpc>
            </a:pPr>
            <a:r>
              <a:rPr dirty="0">
                <a:cs typeface="微软雅黑" panose="020B0503020204020204" charset="-122"/>
              </a:rPr>
              <a:t>由此可以推出（）。</a:t>
            </a:r>
            <a:endParaRPr dirty="0">
              <a:cs typeface="微软雅黑" panose="020B0503020204020204" charset="-122"/>
            </a:endParaRPr>
          </a:p>
          <a:p>
            <a:pPr indent="0" fontAlgn="auto">
              <a:lnSpc>
                <a:spcPct val="150000"/>
              </a:lnSpc>
            </a:pPr>
            <a:endParaRPr dirty="0">
              <a:cs typeface="微软雅黑" panose="020B0503020204020204" charset="-122"/>
            </a:endParaRPr>
          </a:p>
          <a:p>
            <a:pPr indent="0" fontAlgn="auto">
              <a:lnSpc>
                <a:spcPct val="150000"/>
              </a:lnSpc>
            </a:pPr>
            <a:endParaRPr dirty="0">
              <a:cs typeface="微软雅黑" panose="020B0503020204020204" charset="-122"/>
            </a:endParaRPr>
          </a:p>
          <a:p>
            <a:pPr indent="0" fontAlgn="auto">
              <a:lnSpc>
                <a:spcPct val="150000"/>
              </a:lnSpc>
            </a:pPr>
            <a:r>
              <a:rPr dirty="0">
                <a:cs typeface="微软雅黑" panose="020B0503020204020204" charset="-122"/>
              </a:rPr>
              <a:t>A.如果不能推动经济高质量发展迈出更大步伐，就不能让创新链产业链相互融合</a:t>
            </a:r>
            <a:endParaRPr dirty="0">
              <a:cs typeface="微软雅黑" panose="020B0503020204020204" charset="-122"/>
            </a:endParaRPr>
          </a:p>
          <a:p>
            <a:pPr indent="0" fontAlgn="auto">
              <a:lnSpc>
                <a:spcPct val="150000"/>
              </a:lnSpc>
            </a:pPr>
            <a:r>
              <a:rPr dirty="0">
                <a:cs typeface="微软雅黑" panose="020B0503020204020204" charset="-122"/>
              </a:rPr>
              <a:t>B.要真正实现创新价值，只需科技成果同国家需要、人民要求、市场需求相结合</a:t>
            </a:r>
            <a:endParaRPr dirty="0">
              <a:cs typeface="微软雅黑" panose="020B0503020204020204" charset="-122"/>
            </a:endParaRPr>
          </a:p>
          <a:p>
            <a:pPr indent="0" fontAlgn="auto">
              <a:lnSpc>
                <a:spcPct val="150000"/>
              </a:lnSpc>
            </a:pPr>
            <a:r>
              <a:rPr dirty="0">
                <a:cs typeface="微软雅黑" panose="020B0503020204020204" charset="-122"/>
              </a:rPr>
              <a:t>C.只有建立完善企业科技创新法律法规，且破解企业科技成果使用、处置和收益权等政策障碍，才能推动经济高质量发展迈出更大步伐</a:t>
            </a:r>
            <a:endParaRPr dirty="0">
              <a:cs typeface="微软雅黑" panose="020B0503020204020204" charset="-122"/>
            </a:endParaRPr>
          </a:p>
          <a:p>
            <a:pPr indent="0" fontAlgn="auto">
              <a:lnSpc>
                <a:spcPct val="150000"/>
              </a:lnSpc>
            </a:pPr>
            <a:r>
              <a:rPr dirty="0">
                <a:cs typeface="微软雅黑" panose="020B0503020204020204" charset="-122"/>
              </a:rPr>
              <a:t>D.如果不能确立企业创新主体地位，就说明没有建立完善企业科技创新法律法规，且没有破解企业科技成果使用、处置和收益权等政策障碍</a:t>
            </a:r>
            <a:endParaRPr dirty="0">
              <a:cs typeface="微软雅黑" panose="020B0503020204020204" charset="-122"/>
            </a:endParaRPr>
          </a:p>
        </p:txBody>
      </p:sp>
      <p:sp>
        <p:nvSpPr>
          <p:cNvPr id="4" name="文本框 3"/>
          <p:cNvSpPr txBox="1"/>
          <p:nvPr/>
        </p:nvSpPr>
        <p:spPr>
          <a:xfrm>
            <a:off x="2729230" y="2627630"/>
            <a:ext cx="9582150" cy="1489075"/>
          </a:xfrm>
          <a:prstGeom prst="rect">
            <a:avLst/>
          </a:prstGeom>
          <a:noFill/>
        </p:spPr>
        <p:txBody>
          <a:bodyPr wrap="square" rtlCol="0" anchor="t">
            <a:spAutoFit/>
          </a:bodyPr>
          <a:p>
            <a:pPr indent="0" fontAlgn="auto">
              <a:lnSpc>
                <a:spcPct val="130000"/>
              </a:lnSpc>
            </a:pPr>
            <a:r>
              <a:rPr sz="1400" dirty="0">
                <a:solidFill>
                  <a:srgbClr val="FF0000"/>
                </a:solidFill>
                <a:effectLst/>
                <a:cs typeface="微软雅黑" panose="020B0503020204020204" charset="-122"/>
                <a:sym typeface="+mn-ea"/>
              </a:rPr>
              <a:t>①实现创新价值⇒科技成果同国家需要、 人民要求、市场需求相结合且完成从科学研究、实验开发、推广应用的三级跳；</a:t>
            </a:r>
            <a:endParaRPr sz="1400" dirty="0">
              <a:solidFill>
                <a:srgbClr val="FF0000"/>
              </a:solidFill>
              <a:effectLst/>
              <a:cs typeface="微软雅黑" panose="020B0503020204020204" charset="-122"/>
              <a:sym typeface="+mn-ea"/>
            </a:endParaRPr>
          </a:p>
          <a:p>
            <a:pPr indent="0" fontAlgn="auto">
              <a:lnSpc>
                <a:spcPct val="130000"/>
              </a:lnSpc>
            </a:pPr>
            <a:r>
              <a:rPr sz="1400" dirty="0">
                <a:solidFill>
                  <a:srgbClr val="FF0000"/>
                </a:solidFill>
                <a:effectLst/>
                <a:cs typeface="微软雅黑" panose="020B0503020204020204" charset="-122"/>
                <a:sym typeface="+mn-ea"/>
              </a:rPr>
              <a:t>②推动经济高质量发展迈出更大步伐⇒创新链产业链相互融合；</a:t>
            </a:r>
            <a:endParaRPr sz="1400" dirty="0">
              <a:solidFill>
                <a:srgbClr val="FF0000"/>
              </a:solidFill>
              <a:effectLst/>
              <a:cs typeface="微软雅黑" panose="020B0503020204020204" charset="-122"/>
              <a:sym typeface="+mn-ea"/>
            </a:endParaRPr>
          </a:p>
          <a:p>
            <a:pPr indent="0" fontAlgn="auto">
              <a:lnSpc>
                <a:spcPct val="130000"/>
              </a:lnSpc>
            </a:pPr>
            <a:r>
              <a:rPr sz="1400" dirty="0">
                <a:solidFill>
                  <a:srgbClr val="FF0000"/>
                </a:solidFill>
                <a:effectLst/>
                <a:cs typeface="微软雅黑" panose="020B0503020204020204" charset="-122"/>
                <a:sym typeface="+mn-ea"/>
              </a:rPr>
              <a:t>③创新链产业链相互融合⇒确立企业创新主体地位；</a:t>
            </a:r>
            <a:endParaRPr sz="1400" dirty="0">
              <a:solidFill>
                <a:srgbClr val="FF0000"/>
              </a:solidFill>
              <a:effectLst/>
              <a:cs typeface="微软雅黑" panose="020B0503020204020204" charset="-122"/>
              <a:sym typeface="+mn-ea"/>
            </a:endParaRPr>
          </a:p>
          <a:p>
            <a:pPr indent="0" fontAlgn="auto">
              <a:lnSpc>
                <a:spcPct val="130000"/>
              </a:lnSpc>
            </a:pPr>
            <a:r>
              <a:rPr sz="1400" dirty="0">
                <a:solidFill>
                  <a:srgbClr val="FF0000"/>
                </a:solidFill>
                <a:effectLst/>
                <a:cs typeface="微软雅黑" panose="020B0503020204020204" charset="-122"/>
                <a:sym typeface="+mn-ea"/>
              </a:rPr>
              <a:t>④确立企业创新主体地位⇒建立完善企业科技创新法律法规且破解企业科技成果使用、处置和收益权等政策障碍。</a:t>
            </a:r>
            <a:endParaRPr sz="1400" dirty="0">
              <a:solidFill>
                <a:srgbClr val="FF0000"/>
              </a:solidFill>
              <a:effectLst/>
              <a:cs typeface="微软雅黑" panose="020B0503020204020204" charset="-122"/>
              <a:sym typeface="+mn-ea"/>
            </a:endParaRPr>
          </a:p>
          <a:p>
            <a:pPr indent="0" fontAlgn="auto">
              <a:lnSpc>
                <a:spcPct val="130000"/>
              </a:lnSpc>
            </a:pPr>
            <a:endParaRPr lang="zh-CN" altLang="en-US" sz="1400"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77</a:t>
            </a:r>
            <a:endParaRPr kumimoji="1" lang="en-US" altLang="zh-CN" sz="2800" b="1" dirty="0">
              <a:solidFill>
                <a:srgbClr val="FF653F"/>
              </a:solidFill>
            </a:endParaRPr>
          </a:p>
        </p:txBody>
      </p:sp>
      <p:sp>
        <p:nvSpPr>
          <p:cNvPr id="3" name="文本框 2"/>
          <p:cNvSpPr txBox="1"/>
          <p:nvPr/>
        </p:nvSpPr>
        <p:spPr>
          <a:xfrm>
            <a:off x="462915" y="701675"/>
            <a:ext cx="8863330" cy="5526405"/>
          </a:xfrm>
          <a:prstGeom prst="rect">
            <a:avLst/>
          </a:prstGeom>
          <a:noFill/>
        </p:spPr>
        <p:txBody>
          <a:bodyPr wrap="square" rtlCol="0" anchor="t">
            <a:noAutofit/>
          </a:bodyPr>
          <a:p>
            <a:pPr indent="0" fontAlgn="auto">
              <a:lnSpc>
                <a:spcPct val="150000"/>
              </a:lnSpc>
            </a:pPr>
            <a:r>
              <a:rPr dirty="0">
                <a:cs typeface="微软雅黑" panose="020B0503020204020204" charset="-122"/>
              </a:rPr>
              <a:t>阳光照射到地球上，并被反射到月球表面。月表相当于一面大镜子，把地球的光重新反射到地球，科学家利用望远镜从中可以观察到地球的“生物标记”，这是由氧、臭氧、甲烷和二氧化碳组成的一种特殊物质，通过它可以得知地球是否存在生命。利用月球反射法，科学家可以探索其他行星是否存在生命迹象。但是一颗遥远系外行星的反射光会被主星（恒星）发出的光所掩盖，这就如同研究发光的电灯泡旁边的一颗尘粒，很难对它进行分析。幸运的是，科学家借助研究偏振光，开创了一种用来识别行星生物标记的超灵敏方法。</a:t>
            </a:r>
            <a:endParaRPr dirty="0">
              <a:cs typeface="微软雅黑" panose="020B0503020204020204" charset="-122"/>
            </a:endParaRPr>
          </a:p>
          <a:p>
            <a:pPr indent="0" fontAlgn="auto">
              <a:lnSpc>
                <a:spcPct val="150000"/>
              </a:lnSpc>
            </a:pPr>
            <a:r>
              <a:rPr dirty="0">
                <a:cs typeface="微软雅黑" panose="020B0503020204020204" charset="-122"/>
              </a:rPr>
              <a:t>以下哪项如果为真，最能支持上述科学家的方法？（）</a:t>
            </a:r>
            <a:endParaRPr dirty="0">
              <a:cs typeface="微软雅黑" panose="020B0503020204020204" charset="-122"/>
            </a:endParaRPr>
          </a:p>
          <a:p>
            <a:pPr indent="0" fontAlgn="auto">
              <a:lnSpc>
                <a:spcPct val="150000"/>
              </a:lnSpc>
            </a:pPr>
            <a:r>
              <a:rPr dirty="0">
                <a:cs typeface="微软雅黑" panose="020B0503020204020204" charset="-122"/>
              </a:rPr>
              <a:t>A.行星反射的光是偏振光，而主星（恒星）发出的光不是偏振光</a:t>
            </a:r>
            <a:endParaRPr dirty="0">
              <a:cs typeface="微软雅黑" panose="020B0503020204020204" charset="-122"/>
            </a:endParaRPr>
          </a:p>
          <a:p>
            <a:pPr indent="0" fontAlgn="auto">
              <a:lnSpc>
                <a:spcPct val="150000"/>
              </a:lnSpc>
            </a:pPr>
            <a:r>
              <a:rPr dirty="0">
                <a:cs typeface="微软雅黑" panose="020B0503020204020204" charset="-122"/>
              </a:rPr>
              <a:t>B.宇宙中的行星是如此之多，其中某些行星上存在生命是非常可能的</a:t>
            </a:r>
            <a:endParaRPr dirty="0">
              <a:cs typeface="微软雅黑" panose="020B0503020204020204" charset="-122"/>
            </a:endParaRPr>
          </a:p>
          <a:p>
            <a:pPr indent="0" fontAlgn="auto">
              <a:lnSpc>
                <a:spcPct val="150000"/>
              </a:lnSpc>
            </a:pPr>
            <a:r>
              <a:rPr dirty="0">
                <a:cs typeface="微软雅黑" panose="020B0503020204020204" charset="-122"/>
              </a:rPr>
              <a:t>C.这项最新研究是利用智利山上由4台望远镜组成的全球最强大的可见光望远镜进行的</a:t>
            </a:r>
            <a:endParaRPr dirty="0">
              <a:cs typeface="微软雅黑" panose="020B0503020204020204" charset="-122"/>
            </a:endParaRPr>
          </a:p>
          <a:p>
            <a:pPr indent="0" fontAlgn="auto">
              <a:lnSpc>
                <a:spcPct val="150000"/>
              </a:lnSpc>
            </a:pPr>
            <a:r>
              <a:rPr dirty="0">
                <a:cs typeface="微软雅黑" panose="020B0503020204020204" charset="-122"/>
              </a:rPr>
              <a:t>D.光偏振技术可能最终会揭示宇宙其他地方是否存在简单的植物，而不仅仅是寻找智慧生命</a:t>
            </a:r>
            <a:endParaRPr dirty="0">
              <a:cs typeface="微软雅黑" panose="020B0503020204020204" charset="-122"/>
            </a:endParaRPr>
          </a:p>
        </p:txBody>
      </p:sp>
      <p:sp>
        <p:nvSpPr>
          <p:cNvPr id="4" name="文本框 3"/>
          <p:cNvSpPr txBox="1"/>
          <p:nvPr/>
        </p:nvSpPr>
        <p:spPr>
          <a:xfrm>
            <a:off x="6498590" y="3215005"/>
            <a:ext cx="612775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微软雅黑" panose="020B0503020204020204" charset="-122"/>
                <a:sym typeface="+mn-ea"/>
              </a:rPr>
              <a:t>论点：</a:t>
            </a:r>
            <a:r>
              <a:rPr lang="zh-CN" altLang="en-US" dirty="0">
                <a:solidFill>
                  <a:srgbClr val="FF0000"/>
                </a:solidFill>
                <a:effectLst/>
                <a:cs typeface="微软雅黑" panose="020B0503020204020204" charset="-122"/>
                <a:sym typeface="微软雅黑" panose="020B0503020204020204" charset="-122"/>
              </a:rPr>
              <a:t>借助研究偏振光，开创</a:t>
            </a:r>
            <a:r>
              <a:rPr lang="zh-CN" altLang="en-US" dirty="0">
                <a:solidFill>
                  <a:srgbClr val="FF0000"/>
                </a:solidFill>
                <a:effectLst/>
                <a:cs typeface="微软雅黑" panose="020B0503020204020204" charset="-122"/>
                <a:sym typeface="+mn-ea"/>
              </a:rPr>
              <a:t>识别行星生物标记的方法</a:t>
            </a:r>
            <a:endParaRPr lang="zh-CN" altLang="en-US" dirty="0">
              <a:solidFill>
                <a:srgbClr val="FF0000"/>
              </a:solidFill>
              <a:effectLst/>
              <a:cs typeface="微软雅黑" panose="020B0503020204020204" charset="-122"/>
              <a:sym typeface="+mn-ea"/>
            </a:endParaRPr>
          </a:p>
          <a:p>
            <a:pPr indent="0" fontAlgn="auto">
              <a:lnSpc>
                <a:spcPct val="130000"/>
              </a:lnSpc>
            </a:pPr>
            <a:r>
              <a:rPr lang="zh-CN" altLang="en-US" dirty="0">
                <a:solidFill>
                  <a:srgbClr val="FF0000"/>
                </a:solidFill>
                <a:effectLst/>
                <a:cs typeface="微软雅黑" panose="020B0503020204020204" charset="-122"/>
                <a:sym typeface="+mn-ea"/>
              </a:rPr>
              <a:t>论据：月球反射的光会被恒星发出的光掩盖</a:t>
            </a:r>
            <a:endParaRPr lang="zh-CN" altLang="en-US"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明代军事著作《武备志》对火龙出水这一武器装置进行了较为详细的介绍，并附有火龙出水的图画。该装置依靠多级动力系统，加大了箭矢的射程。有学者按照古籍资料对该装置进行了复原。根据实验数据发现，火龙出水的稳定性难以保证，因此推测其仅仅停留在设计和想象的阶段。</a:t>
            </a:r>
            <a:endParaRPr sz="2000" dirty="0">
              <a:cs typeface="微软雅黑" panose="020B0503020204020204" charset="-122"/>
            </a:endParaRPr>
          </a:p>
          <a:p>
            <a:pPr indent="0" fontAlgn="auto">
              <a:lnSpc>
                <a:spcPct val="150000"/>
              </a:lnSpc>
            </a:pPr>
            <a:r>
              <a:rPr sz="2000" dirty="0">
                <a:cs typeface="微软雅黑" panose="020B0503020204020204" charset="-122"/>
              </a:rPr>
              <a:t>以下哪项如果为真，最能支持上述推测？（）</a:t>
            </a: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r>
              <a:rPr sz="2000" dirty="0">
                <a:cs typeface="微软雅黑" panose="020B0503020204020204" charset="-122"/>
              </a:rPr>
              <a:t>A.复原模型使用火药桶提供动力，而古籍记载的动力装置为4支“火箭”</a:t>
            </a:r>
            <a:endParaRPr sz="2000" dirty="0">
              <a:cs typeface="微软雅黑" panose="020B0503020204020204" charset="-122"/>
            </a:endParaRPr>
          </a:p>
          <a:p>
            <a:pPr indent="0" fontAlgn="auto">
              <a:lnSpc>
                <a:spcPct val="150000"/>
              </a:lnSpc>
            </a:pPr>
            <a:r>
              <a:rPr sz="2000" dirty="0">
                <a:cs typeface="微软雅黑" panose="020B0503020204020204" charset="-122"/>
              </a:rPr>
              <a:t>B.明代史料中有使用火器的记载，但没有任何使用火龙出水装置的记载</a:t>
            </a:r>
            <a:endParaRPr sz="2000" dirty="0">
              <a:cs typeface="微软雅黑" panose="020B0503020204020204" charset="-122"/>
            </a:endParaRPr>
          </a:p>
          <a:p>
            <a:pPr indent="0" fontAlgn="auto">
              <a:lnSpc>
                <a:spcPct val="150000"/>
              </a:lnSpc>
            </a:pPr>
            <a:r>
              <a:rPr sz="2000" dirty="0">
                <a:cs typeface="微软雅黑" panose="020B0503020204020204" charset="-122"/>
              </a:rPr>
              <a:t>C.目前关于火龙出水的古籍资料十分有限，难以判断是否属于成熟武器</a:t>
            </a:r>
            <a:endParaRPr sz="2000" dirty="0">
              <a:cs typeface="微软雅黑" panose="020B0503020204020204" charset="-122"/>
            </a:endParaRPr>
          </a:p>
          <a:p>
            <a:pPr indent="0" fontAlgn="auto">
              <a:lnSpc>
                <a:spcPct val="150000"/>
              </a:lnSpc>
            </a:pPr>
            <a:r>
              <a:rPr sz="2000" dirty="0">
                <a:cs typeface="微软雅黑" panose="020B0503020204020204" charset="-122"/>
              </a:rPr>
              <a:t>D.《武备志》中有29种关于各类火箭的记载，但主要指的是带火的箭矢</a:t>
            </a:r>
            <a:endParaRPr sz="2000" dirty="0">
              <a:cs typeface="微软雅黑" panose="020B0503020204020204" charset="-122"/>
            </a:endParaRPr>
          </a:p>
        </p:txBody>
      </p:sp>
      <p:sp>
        <p:nvSpPr>
          <p:cNvPr id="4" name="文本框 3"/>
          <p:cNvSpPr txBox="1"/>
          <p:nvPr/>
        </p:nvSpPr>
        <p:spPr>
          <a:xfrm>
            <a:off x="4663440" y="3066415"/>
            <a:ext cx="716915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微软雅黑" panose="020B0503020204020204" charset="-122"/>
                <a:sym typeface="+mn-ea"/>
              </a:rPr>
              <a:t>推测：火龙出水仅仅停留在设计和想象的阶段。</a:t>
            </a:r>
            <a:endParaRPr lang="zh-CN" altLang="en-US" dirty="0">
              <a:solidFill>
                <a:srgbClr val="FF0000"/>
              </a:solidFill>
              <a:effectLst/>
              <a:cs typeface="微软雅黑" panose="020B0503020204020204" charset="-122"/>
              <a:sym typeface="+mn-ea"/>
            </a:endParaRPr>
          </a:p>
          <a:p>
            <a:pPr indent="0" fontAlgn="auto">
              <a:lnSpc>
                <a:spcPct val="130000"/>
              </a:lnSpc>
            </a:pPr>
            <a:r>
              <a:rPr lang="zh-CN" altLang="en-US" dirty="0">
                <a:solidFill>
                  <a:srgbClr val="FF0000"/>
                </a:solidFill>
                <a:effectLst/>
                <a:cs typeface="微软雅黑" panose="020B0503020204020204" charset="-122"/>
                <a:sym typeface="+mn-ea"/>
              </a:rPr>
              <a:t>论据：按古籍复原该装置后，发现火龙出水的稳定性难以保证。</a:t>
            </a:r>
            <a:endParaRPr lang="zh-CN" altLang="en-US"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rPr>
              <a:t>某市目前汽车保有量以每年20万辆的速度增长，为缓解该市严重的交通拥堵问题，有专家指出，要想治理交通拥堵，一定要从控制汽车总量、消减存量上努力。因此，该专家认为根本解决办法是靠经济手段来调节——提高拥有和使用汽车的税费。</a:t>
            </a: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r>
              <a:rPr sz="2000" dirty="0">
                <a:cs typeface="微软雅黑" panose="020B0503020204020204" charset="-122"/>
              </a:rPr>
              <a:t>以下哪项如果为真，最能质疑上述专家的观点？（）</a:t>
            </a:r>
            <a:endParaRPr sz="2000" dirty="0">
              <a:cs typeface="微软雅黑" panose="020B0503020204020204" charset="-122"/>
            </a:endParaRPr>
          </a:p>
          <a:p>
            <a:pPr indent="0" fontAlgn="auto">
              <a:lnSpc>
                <a:spcPct val="150000"/>
              </a:lnSpc>
            </a:pPr>
            <a:r>
              <a:rPr sz="2000" dirty="0">
                <a:cs typeface="微软雅黑" panose="020B0503020204020204" charset="-122"/>
              </a:rPr>
              <a:t>A.提高公共交通服务水平才是解决城市交通拥堵的根本之道</a:t>
            </a:r>
            <a:endParaRPr sz="2000" dirty="0">
              <a:cs typeface="微软雅黑" panose="020B0503020204020204" charset="-122"/>
            </a:endParaRPr>
          </a:p>
          <a:p>
            <a:pPr indent="0" fontAlgn="auto">
              <a:lnSpc>
                <a:spcPct val="150000"/>
              </a:lnSpc>
            </a:pPr>
            <a:r>
              <a:rPr sz="2000" dirty="0">
                <a:cs typeface="微软雅黑" panose="020B0503020204020204" charset="-122"/>
              </a:rPr>
              <a:t>B.一些由于不遵守交通规则导致的交通事故加剧了交通拥堵</a:t>
            </a:r>
            <a:endParaRPr sz="2000" dirty="0">
              <a:cs typeface="微软雅黑" panose="020B0503020204020204" charset="-122"/>
            </a:endParaRPr>
          </a:p>
          <a:p>
            <a:pPr indent="0" fontAlgn="auto">
              <a:lnSpc>
                <a:spcPct val="150000"/>
              </a:lnSpc>
            </a:pPr>
            <a:r>
              <a:rPr sz="2000" dirty="0">
                <a:cs typeface="微软雅黑" panose="020B0503020204020204" charset="-122"/>
              </a:rPr>
              <a:t>C.现行的单双号限行政策在一定程度上缓解了交通拥堵压力</a:t>
            </a:r>
            <a:endParaRPr sz="2000" dirty="0">
              <a:cs typeface="微软雅黑" panose="020B0503020204020204" charset="-122"/>
            </a:endParaRPr>
          </a:p>
          <a:p>
            <a:pPr indent="0" fontAlgn="auto">
              <a:lnSpc>
                <a:spcPct val="150000"/>
              </a:lnSpc>
            </a:pPr>
            <a:r>
              <a:rPr sz="2000" dirty="0">
                <a:cs typeface="微软雅黑" panose="020B0503020204020204" charset="-122"/>
              </a:rPr>
              <a:t>D.未来该市的汽车保有量将不会再以每年20万辆的速度增长</a:t>
            </a:r>
            <a:endParaRPr sz="2000" dirty="0">
              <a:cs typeface="微软雅黑" panose="020B0503020204020204" charset="-122"/>
            </a:endParaRPr>
          </a:p>
        </p:txBody>
      </p:sp>
      <p:sp>
        <p:nvSpPr>
          <p:cNvPr id="4" name="文本框 3"/>
          <p:cNvSpPr txBox="1"/>
          <p:nvPr/>
        </p:nvSpPr>
        <p:spPr>
          <a:xfrm>
            <a:off x="2667635" y="2618740"/>
            <a:ext cx="9164955"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微软雅黑" panose="020B0503020204020204" charset="-122"/>
                <a:sym typeface="+mn-ea"/>
              </a:rPr>
              <a:t>专家观点：治理交通拥堵的根本办法是靠经济手段来调节</a:t>
            </a:r>
            <a:r>
              <a:rPr lang="en-US" altLang="zh-CN" dirty="0">
                <a:solidFill>
                  <a:srgbClr val="FF0000"/>
                </a:solidFill>
                <a:effectLst/>
                <a:cs typeface="微软雅黑" panose="020B0503020204020204" charset="-122"/>
                <a:sym typeface="+mn-ea"/>
              </a:rPr>
              <a:t>——</a:t>
            </a:r>
            <a:r>
              <a:rPr lang="zh-CN" altLang="en-US" dirty="0">
                <a:solidFill>
                  <a:srgbClr val="FF0000"/>
                </a:solidFill>
                <a:effectLst/>
                <a:cs typeface="微软雅黑" panose="020B0503020204020204" charset="-122"/>
                <a:sym typeface="+mn-ea"/>
              </a:rPr>
              <a:t>提高拥有和使用汽车的税费。</a:t>
            </a:r>
            <a:endParaRPr lang="zh-CN" altLang="en-US" dirty="0">
              <a:solidFill>
                <a:srgbClr val="FF0000"/>
              </a:solidFill>
              <a:effectLst/>
              <a:cs typeface="微软雅黑" panose="020B0503020204020204" charset="-122"/>
              <a:sym typeface="+mn-ea"/>
            </a:endParaRPr>
          </a:p>
          <a:p>
            <a:pPr indent="0" fontAlgn="auto">
              <a:lnSpc>
                <a:spcPct val="130000"/>
              </a:lnSpc>
            </a:pPr>
            <a:r>
              <a:rPr lang="zh-CN" altLang="en-US" dirty="0">
                <a:solidFill>
                  <a:srgbClr val="FF0000"/>
                </a:solidFill>
                <a:effectLst/>
                <a:cs typeface="微软雅黑" panose="020B0503020204020204" charset="-122"/>
                <a:sym typeface="+mn-ea"/>
              </a:rPr>
              <a:t>论据：要想治理交通拥堵，一定要从控制汽车总量、消减存量上努力。</a:t>
            </a:r>
            <a:endParaRPr lang="zh-CN" altLang="en-US"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某公司陈、王、宋、刘、丁、李和武7位员工坐在如下两排位置的8个工作间。其中，1～4号分别与5～8号工作间相对；每人一个工作间，一个工作间空着。已知：（1）丁和王对面，且不和李相邻；（2）陈和王坐在一排，但是不相邻，陈的对面是宋；（3）李和宋、武在一排，他对面是刘。</a:t>
            </a: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endParaRPr sz="2000" dirty="0">
              <a:cs typeface="微软雅黑" panose="020B0503020204020204" charset="-122"/>
            </a:endParaRPr>
          </a:p>
          <a:p>
            <a:pPr indent="0" fontAlgn="auto">
              <a:lnSpc>
                <a:spcPct val="150000"/>
              </a:lnSpc>
            </a:pPr>
            <a:r>
              <a:rPr sz="2000" dirty="0">
                <a:cs typeface="微软雅黑" panose="020B0503020204020204" charset="-122"/>
              </a:rPr>
              <a:t>如果武在7号工作间，则一定可以得出（）。</a:t>
            </a:r>
            <a:endParaRPr sz="2000" dirty="0">
              <a:cs typeface="微软雅黑" panose="020B0503020204020204" charset="-122"/>
            </a:endParaRPr>
          </a:p>
          <a:p>
            <a:pPr indent="0" fontAlgn="auto">
              <a:lnSpc>
                <a:spcPct val="150000"/>
              </a:lnSpc>
            </a:pPr>
            <a:r>
              <a:rPr sz="2000" dirty="0">
                <a:cs typeface="微软雅黑" panose="020B0503020204020204" charset="-122"/>
              </a:rPr>
              <a:t>A.王在2号工作间 </a:t>
            </a:r>
            <a:endParaRPr sz="2000" dirty="0">
              <a:cs typeface="微软雅黑" panose="020B0503020204020204" charset="-122"/>
            </a:endParaRPr>
          </a:p>
          <a:p>
            <a:pPr indent="0" fontAlgn="auto">
              <a:lnSpc>
                <a:spcPct val="150000"/>
              </a:lnSpc>
            </a:pPr>
            <a:r>
              <a:rPr sz="2000" dirty="0">
                <a:cs typeface="微软雅黑" panose="020B0503020204020204" charset="-122"/>
              </a:rPr>
              <a:t>B.宋在4号工作间 </a:t>
            </a:r>
            <a:endParaRPr sz="2000" dirty="0">
              <a:cs typeface="微软雅黑" panose="020B0503020204020204" charset="-122"/>
            </a:endParaRPr>
          </a:p>
          <a:p>
            <a:pPr indent="0" fontAlgn="auto">
              <a:lnSpc>
                <a:spcPct val="150000"/>
              </a:lnSpc>
            </a:pPr>
            <a:r>
              <a:rPr sz="2000" dirty="0">
                <a:cs typeface="微软雅黑" panose="020B0503020204020204" charset="-122"/>
              </a:rPr>
              <a:t>C.刘在5号工作间 </a:t>
            </a:r>
            <a:endParaRPr sz="2000" dirty="0">
              <a:cs typeface="微软雅黑" panose="020B0503020204020204" charset="-122"/>
            </a:endParaRPr>
          </a:p>
          <a:p>
            <a:pPr indent="0" fontAlgn="auto">
              <a:lnSpc>
                <a:spcPct val="150000"/>
              </a:lnSpc>
            </a:pPr>
            <a:r>
              <a:rPr sz="2000" dirty="0">
                <a:cs typeface="微软雅黑" panose="020B0503020204020204" charset="-122"/>
              </a:rPr>
              <a:t>D.丁在8号工作间</a:t>
            </a:r>
            <a:endParaRPr lang="en-US" altLang="en-US" sz="2000" dirty="0">
              <a:cs typeface="微软雅黑" panose="020B0503020204020204" charset="-122"/>
              <a:sym typeface="+mn-ea"/>
            </a:endParaRPr>
          </a:p>
        </p:txBody>
      </p:sp>
      <p:pic>
        <p:nvPicPr>
          <p:cNvPr id="6" name="图片 6"/>
          <p:cNvPicPr>
            <a:picLocks noChangeAspect="1"/>
          </p:cNvPicPr>
          <p:nvPr/>
        </p:nvPicPr>
        <p:blipFill>
          <a:blip r:embed="rId1"/>
          <a:stretch>
            <a:fillRect/>
          </a:stretch>
        </p:blipFill>
        <p:spPr>
          <a:xfrm>
            <a:off x="462915" y="2699068"/>
            <a:ext cx="4206240" cy="111823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541655"/>
            <a:ext cx="8601710" cy="5526405"/>
          </a:xfrm>
          <a:prstGeom prst="rect">
            <a:avLst/>
          </a:prstGeom>
          <a:noFill/>
        </p:spPr>
        <p:txBody>
          <a:bodyPr wrap="square" rtlCol="0" anchor="t">
            <a:noAutofit/>
          </a:bodyPr>
          <a:p>
            <a:pPr indent="0" fontAlgn="auto">
              <a:lnSpc>
                <a:spcPct val="150000"/>
              </a:lnSpc>
            </a:pPr>
            <a:r>
              <a:rPr sz="2000" dirty="0">
                <a:cs typeface="微软雅黑" panose="020B0503020204020204" charset="-122"/>
              </a:rPr>
              <a:t>【材料】根据以下材料回答81-82题</a:t>
            </a:r>
            <a:endParaRPr sz="2000" dirty="0">
              <a:cs typeface="微软雅黑" panose="020B0503020204020204" charset="-122"/>
            </a:endParaRPr>
          </a:p>
          <a:p>
            <a:pPr indent="0" fontAlgn="auto">
              <a:lnSpc>
                <a:spcPct val="150000"/>
              </a:lnSpc>
            </a:pPr>
            <a:r>
              <a:rPr sz="2000" dirty="0">
                <a:cs typeface="微软雅黑" panose="020B0503020204020204" charset="-122"/>
              </a:rPr>
              <a:t>某单位准备举办新春联欢活动，现有K、L、M、N、O、R六个节目需要安排，分上、下午两个时间段表演，每个节目只表演一次，具体要求如下：</a:t>
            </a:r>
            <a:endParaRPr sz="2000" dirty="0">
              <a:cs typeface="微软雅黑" panose="020B0503020204020204" charset="-122"/>
            </a:endParaRPr>
          </a:p>
          <a:p>
            <a:pPr indent="0" fontAlgn="auto">
              <a:lnSpc>
                <a:spcPct val="150000"/>
              </a:lnSpc>
            </a:pPr>
            <a:r>
              <a:rPr sz="2000" dirty="0">
                <a:cs typeface="微软雅黑" panose="020B0503020204020204" charset="-122"/>
              </a:rPr>
              <a:t>①K和N一定要在同一时间段表演；</a:t>
            </a:r>
            <a:endParaRPr sz="2000" dirty="0">
              <a:cs typeface="微软雅黑" panose="020B0503020204020204" charset="-122"/>
            </a:endParaRPr>
          </a:p>
          <a:p>
            <a:pPr indent="0" fontAlgn="auto">
              <a:lnSpc>
                <a:spcPct val="150000"/>
              </a:lnSpc>
            </a:pPr>
            <a:r>
              <a:rPr sz="2000" dirty="0">
                <a:cs typeface="微软雅黑" panose="020B0503020204020204" charset="-122"/>
              </a:rPr>
              <a:t>②M和R不能在同一时间段表演；</a:t>
            </a:r>
            <a:endParaRPr sz="2000" dirty="0">
              <a:cs typeface="微软雅黑" panose="020B0503020204020204" charset="-122"/>
            </a:endParaRPr>
          </a:p>
          <a:p>
            <a:pPr indent="0" fontAlgn="auto">
              <a:lnSpc>
                <a:spcPct val="150000"/>
              </a:lnSpc>
            </a:pPr>
            <a:r>
              <a:rPr sz="2000" dirty="0">
                <a:cs typeface="微软雅黑" panose="020B0503020204020204" charset="-122"/>
              </a:rPr>
              <a:t>③如果K在下午演出，O一定在下午演出；</a:t>
            </a:r>
            <a:endParaRPr sz="2000" dirty="0">
              <a:cs typeface="微软雅黑" panose="020B0503020204020204" charset="-122"/>
            </a:endParaRPr>
          </a:p>
          <a:p>
            <a:pPr indent="0" fontAlgn="auto">
              <a:lnSpc>
                <a:spcPct val="150000"/>
              </a:lnSpc>
            </a:pPr>
            <a:r>
              <a:rPr sz="2000" dirty="0">
                <a:cs typeface="微软雅黑" panose="020B0503020204020204" charset="-122"/>
              </a:rPr>
              <a:t>④如果M在下午演出，N一定在上午演出。</a:t>
            </a:r>
            <a:endParaRPr sz="2000" dirty="0">
              <a:cs typeface="微软雅黑" panose="020B0503020204020204" charset="-122"/>
            </a:endParaRPr>
          </a:p>
          <a:p>
            <a:pPr indent="0" fontAlgn="auto">
              <a:lnSpc>
                <a:spcPct val="150000"/>
              </a:lnSpc>
            </a:pPr>
            <a:r>
              <a:rPr sz="2000" dirty="0">
                <a:cs typeface="微软雅黑" panose="020B0503020204020204" charset="-122"/>
              </a:rPr>
              <a:t>81.六个节目的演出安排可以是下列哪种？（）</a:t>
            </a:r>
            <a:endParaRPr sz="2000" dirty="0">
              <a:cs typeface="微软雅黑" panose="020B0503020204020204" charset="-122"/>
            </a:endParaRPr>
          </a:p>
          <a:p>
            <a:pPr indent="0" fontAlgn="auto">
              <a:lnSpc>
                <a:spcPct val="150000"/>
              </a:lnSpc>
            </a:pPr>
            <a:r>
              <a:rPr sz="2000" dirty="0">
                <a:cs typeface="微软雅黑" panose="020B0503020204020204" charset="-122"/>
              </a:rPr>
              <a:t>A.上午：K、L、M、O 下午：N、R </a:t>
            </a:r>
            <a:endParaRPr sz="2000" dirty="0">
              <a:cs typeface="微软雅黑" panose="020B0503020204020204" charset="-122"/>
            </a:endParaRPr>
          </a:p>
          <a:p>
            <a:pPr indent="0" fontAlgn="auto">
              <a:lnSpc>
                <a:spcPct val="150000"/>
              </a:lnSpc>
            </a:pPr>
            <a:r>
              <a:rPr sz="2000" dirty="0">
                <a:cs typeface="微软雅黑" panose="020B0503020204020204" charset="-122"/>
              </a:rPr>
              <a:t>B.上午：K、L、N、R 下午：M、O</a:t>
            </a:r>
            <a:endParaRPr sz="2000" dirty="0">
              <a:cs typeface="微软雅黑" panose="020B0503020204020204" charset="-122"/>
            </a:endParaRPr>
          </a:p>
          <a:p>
            <a:pPr indent="0" fontAlgn="auto">
              <a:lnSpc>
                <a:spcPct val="150000"/>
              </a:lnSpc>
            </a:pPr>
            <a:r>
              <a:rPr sz="2000" dirty="0">
                <a:cs typeface="微软雅黑" panose="020B0503020204020204" charset="-122"/>
              </a:rPr>
              <a:t>C.上午：L、R 下午：K、M、N、O </a:t>
            </a:r>
            <a:endParaRPr sz="2000" dirty="0">
              <a:cs typeface="微软雅黑" panose="020B0503020204020204" charset="-122"/>
            </a:endParaRPr>
          </a:p>
          <a:p>
            <a:pPr indent="0" fontAlgn="auto">
              <a:lnSpc>
                <a:spcPct val="150000"/>
              </a:lnSpc>
            </a:pPr>
            <a:r>
              <a:rPr sz="2000" dirty="0">
                <a:cs typeface="微软雅黑" panose="020B0503020204020204" charset="-122"/>
              </a:rPr>
              <a:t>D.上午：M、O 下午：K、L、N、R</a:t>
            </a:r>
            <a:endParaRPr sz="2000" dirty="0">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82</a:t>
            </a:r>
            <a:endParaRPr kumimoji="1" lang="en-US" altLang="zh-CN" sz="2800" b="1" dirty="0">
              <a:solidFill>
                <a:srgbClr val="FF653F"/>
              </a:solidFill>
            </a:endParaRPr>
          </a:p>
        </p:txBody>
      </p:sp>
      <p:sp>
        <p:nvSpPr>
          <p:cNvPr id="3" name="文本框 2"/>
          <p:cNvSpPr txBox="1"/>
          <p:nvPr/>
        </p:nvSpPr>
        <p:spPr>
          <a:xfrm>
            <a:off x="443865" y="588010"/>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sz="2000" dirty="0">
                <a:cs typeface="微软雅黑" panose="020B0503020204020204" charset="-122"/>
                <a:sym typeface="+mn-ea"/>
              </a:rPr>
              <a:t>【材料】根据以下材料回答81-82题</a:t>
            </a:r>
            <a:endParaRPr sz="2000" dirty="0">
              <a:cs typeface="微软雅黑" panose="020B0503020204020204" charset="-122"/>
            </a:endParaRPr>
          </a:p>
          <a:p>
            <a:pPr indent="0" fontAlgn="auto">
              <a:lnSpc>
                <a:spcPct val="150000"/>
              </a:lnSpc>
            </a:pPr>
            <a:r>
              <a:rPr sz="2000" dirty="0">
                <a:cs typeface="微软雅黑" panose="020B0503020204020204" charset="-122"/>
                <a:sym typeface="+mn-ea"/>
              </a:rPr>
              <a:t>某单位准备举办新春联欢活动，现有K、L、M、N、O、R六个节目需要安排，分上、下午两个时间段表演，每个节目只表演一次，具体要求如下：</a:t>
            </a:r>
            <a:endParaRPr sz="2000" dirty="0">
              <a:cs typeface="微软雅黑" panose="020B0503020204020204" charset="-122"/>
            </a:endParaRPr>
          </a:p>
          <a:p>
            <a:pPr indent="0" fontAlgn="auto">
              <a:lnSpc>
                <a:spcPct val="150000"/>
              </a:lnSpc>
            </a:pPr>
            <a:r>
              <a:rPr sz="2000" dirty="0">
                <a:cs typeface="微软雅黑" panose="020B0503020204020204" charset="-122"/>
                <a:sym typeface="+mn-ea"/>
              </a:rPr>
              <a:t>①K和N一定要在同一时间段表演；</a:t>
            </a:r>
            <a:endParaRPr sz="2000" dirty="0">
              <a:cs typeface="微软雅黑" panose="020B0503020204020204" charset="-122"/>
            </a:endParaRPr>
          </a:p>
          <a:p>
            <a:pPr indent="0" fontAlgn="auto">
              <a:lnSpc>
                <a:spcPct val="150000"/>
              </a:lnSpc>
            </a:pPr>
            <a:r>
              <a:rPr sz="2000" dirty="0">
                <a:cs typeface="微软雅黑" panose="020B0503020204020204" charset="-122"/>
                <a:sym typeface="+mn-ea"/>
              </a:rPr>
              <a:t>②M和R不能在同一时间段表演；</a:t>
            </a:r>
            <a:endParaRPr sz="2000" dirty="0">
              <a:cs typeface="微软雅黑" panose="020B0503020204020204" charset="-122"/>
            </a:endParaRPr>
          </a:p>
          <a:p>
            <a:pPr indent="0" fontAlgn="auto">
              <a:lnSpc>
                <a:spcPct val="150000"/>
              </a:lnSpc>
            </a:pPr>
            <a:r>
              <a:rPr sz="2000" dirty="0">
                <a:cs typeface="微软雅黑" panose="020B0503020204020204" charset="-122"/>
                <a:sym typeface="+mn-ea"/>
              </a:rPr>
              <a:t>③如果K在下午演出，O一定在下午演出；</a:t>
            </a:r>
            <a:endParaRPr sz="2000" dirty="0">
              <a:cs typeface="微软雅黑" panose="020B0503020204020204" charset="-122"/>
            </a:endParaRPr>
          </a:p>
          <a:p>
            <a:pPr indent="0" fontAlgn="auto">
              <a:lnSpc>
                <a:spcPct val="150000"/>
              </a:lnSpc>
            </a:pPr>
            <a:r>
              <a:rPr sz="2000" dirty="0">
                <a:cs typeface="微软雅黑" panose="020B0503020204020204" charset="-122"/>
                <a:sym typeface="+mn-ea"/>
              </a:rPr>
              <a:t>④如果M在下午演出，N一定在上午演出。</a:t>
            </a:r>
            <a:endParaRPr sz="2000" dirty="0">
              <a:cs typeface="微软雅黑" panose="020B0503020204020204" charset="-122"/>
            </a:endParaRPr>
          </a:p>
          <a:p>
            <a:pPr indent="0" fontAlgn="auto">
              <a:lnSpc>
                <a:spcPct val="150000"/>
              </a:lnSpc>
            </a:pPr>
            <a:r>
              <a:rPr sz="2000" dirty="0">
                <a:cs typeface="微软雅黑" panose="020B0503020204020204" charset="-122"/>
              </a:rPr>
              <a:t>82.以下哪项如果为真，则可以确定六个节目的演出安排？（）</a:t>
            </a:r>
            <a:endParaRPr sz="2000" dirty="0">
              <a:cs typeface="微软雅黑" panose="020B0503020204020204" charset="-122"/>
            </a:endParaRPr>
          </a:p>
          <a:p>
            <a:pPr indent="0" fontAlgn="auto">
              <a:lnSpc>
                <a:spcPct val="150000"/>
              </a:lnSpc>
            </a:pPr>
            <a:r>
              <a:rPr sz="2000" dirty="0">
                <a:cs typeface="微软雅黑" panose="020B0503020204020204" charset="-122"/>
              </a:rPr>
              <a:t>A.K、L在上午演出 </a:t>
            </a:r>
            <a:endParaRPr sz="2000" dirty="0">
              <a:cs typeface="微软雅黑" panose="020B0503020204020204" charset="-122"/>
            </a:endParaRPr>
          </a:p>
          <a:p>
            <a:pPr indent="0" fontAlgn="auto">
              <a:lnSpc>
                <a:spcPct val="150000"/>
              </a:lnSpc>
            </a:pPr>
            <a:r>
              <a:rPr sz="2000" dirty="0">
                <a:cs typeface="微软雅黑" panose="020B0503020204020204" charset="-122"/>
              </a:rPr>
              <a:t>B.M、L在下午演出</a:t>
            </a:r>
            <a:endParaRPr sz="2000" dirty="0">
              <a:cs typeface="微软雅黑" panose="020B0503020204020204" charset="-122"/>
            </a:endParaRPr>
          </a:p>
          <a:p>
            <a:pPr indent="0" fontAlgn="auto">
              <a:lnSpc>
                <a:spcPct val="150000"/>
              </a:lnSpc>
            </a:pPr>
            <a:r>
              <a:rPr sz="2000" dirty="0">
                <a:cs typeface="微软雅黑" panose="020B0503020204020204" charset="-122"/>
              </a:rPr>
              <a:t>C.K在下午演出，L在上午演出 </a:t>
            </a:r>
            <a:endParaRPr sz="2000" dirty="0">
              <a:cs typeface="微软雅黑" panose="020B0503020204020204" charset="-122"/>
            </a:endParaRPr>
          </a:p>
          <a:p>
            <a:pPr indent="0" fontAlgn="auto">
              <a:lnSpc>
                <a:spcPct val="150000"/>
              </a:lnSpc>
            </a:pPr>
            <a:r>
              <a:rPr sz="2000" dirty="0">
                <a:cs typeface="微软雅黑" panose="020B0503020204020204" charset="-122"/>
              </a:rPr>
              <a:t>D.O在下午演出，R在上午演出</a:t>
            </a:r>
            <a:endParaRPr sz="2000" dirty="0">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83</a:t>
            </a:r>
            <a:endParaRPr kumimoji="1" lang="en-US" altLang="zh-CN" sz="2800" b="1" dirty="0">
              <a:solidFill>
                <a:srgbClr val="FF653F"/>
              </a:solidFill>
            </a:endParaRPr>
          </a:p>
        </p:txBody>
      </p:sp>
      <p:sp>
        <p:nvSpPr>
          <p:cNvPr id="3" name="文本框 2"/>
          <p:cNvSpPr txBox="1"/>
          <p:nvPr/>
        </p:nvSpPr>
        <p:spPr>
          <a:xfrm>
            <a:off x="462915" y="994410"/>
            <a:ext cx="11460480" cy="5526405"/>
          </a:xfrm>
          <a:prstGeom prst="rect">
            <a:avLst/>
          </a:prstGeom>
          <a:noFill/>
        </p:spPr>
        <p:txBody>
          <a:bodyPr wrap="square" rtlCol="0" anchor="t">
            <a:noAutofit/>
          </a:bodyPr>
          <a:p>
            <a:pPr indent="0" fontAlgn="auto">
              <a:lnSpc>
                <a:spcPct val="100000"/>
              </a:lnSpc>
            </a:pPr>
            <a:r>
              <a:rPr dirty="0">
                <a:cs typeface="微软雅黑" panose="020B0503020204020204" charset="-122"/>
              </a:rPr>
              <a:t>【材料】根据以下材料回答83-85题</a:t>
            </a:r>
            <a:endParaRPr dirty="0">
              <a:cs typeface="微软雅黑" panose="020B0503020204020204" charset="-122"/>
            </a:endParaRPr>
          </a:p>
          <a:p>
            <a:pPr indent="0" fontAlgn="auto">
              <a:lnSpc>
                <a:spcPct val="100000"/>
              </a:lnSpc>
            </a:pPr>
            <a:r>
              <a:rPr dirty="0">
                <a:cs typeface="微软雅黑" panose="020B0503020204020204" charset="-122"/>
              </a:rPr>
              <a:t>用“十年磨一剑”来形容动画产业或许并不夸张，每一部我们耳熟能详的“国漫之光”</a:t>
            </a:r>
            <a:endParaRPr dirty="0">
              <a:cs typeface="微软雅黑" panose="020B0503020204020204" charset="-122"/>
            </a:endParaRPr>
          </a:p>
          <a:p>
            <a:pPr indent="0" fontAlgn="auto">
              <a:lnSpc>
                <a:spcPct val="100000"/>
              </a:lnSpc>
            </a:pPr>
            <a:r>
              <a:rPr dirty="0">
                <a:cs typeface="微软雅黑" panose="020B0503020204020204" charset="-122"/>
              </a:rPr>
              <a:t>背后的打磨沉淀时间都很长，而如今利用生成式人工智能（AIGC）制作一部动画成片</a:t>
            </a:r>
            <a:endParaRPr dirty="0">
              <a:cs typeface="微软雅黑" panose="020B0503020204020204" charset="-122"/>
            </a:endParaRPr>
          </a:p>
          <a:p>
            <a:pPr indent="0" fontAlgn="auto">
              <a:lnSpc>
                <a:spcPct val="100000"/>
              </a:lnSpc>
            </a:pPr>
            <a:r>
              <a:rPr dirty="0">
                <a:cs typeface="微软雅黑" panose="020B0503020204020204" charset="-122"/>
              </a:rPr>
              <a:t>甚至只需要几天时间。AIGC还可以根据动画制作者的需求，自动生成美术图像、文字剧本，并完成建模、灯光、渲染、动作调整等在内的视频画面制作流程。</a:t>
            </a:r>
            <a:endParaRPr dirty="0">
              <a:cs typeface="微软雅黑" panose="020B0503020204020204" charset="-122"/>
            </a:endParaRPr>
          </a:p>
          <a:p>
            <a:pPr indent="0" fontAlgn="auto">
              <a:lnSpc>
                <a:spcPct val="100000"/>
              </a:lnSpc>
            </a:pPr>
            <a:r>
              <a:rPr dirty="0">
                <a:cs typeface="微软雅黑" panose="020B0503020204020204" charset="-122"/>
              </a:rPr>
              <a:t>①利用AI生成美术图片，无论是西方的超写实，还是中国的水墨风，都可以轻松完成。同时，通过实际测试，AIGC创作的动画剧本在经过人工润色修改后可以达到专业文学编剧的水平。这意味着对于动画产业来说，AIGC创造了极大的经济价值。</a:t>
            </a:r>
            <a:endParaRPr dirty="0">
              <a:cs typeface="微软雅黑" panose="020B0503020204020204" charset="-122"/>
            </a:endParaRPr>
          </a:p>
          <a:p>
            <a:pPr indent="0" fontAlgn="auto">
              <a:lnSpc>
                <a:spcPct val="100000"/>
              </a:lnSpc>
            </a:pPr>
            <a:r>
              <a:rPr dirty="0">
                <a:cs typeface="微软雅黑" panose="020B0503020204020204" charset="-122"/>
              </a:rPr>
              <a:t>但问题也随之而来。②AIGC带来了人们对产品质量的担忧，事实也确实如此。这是由于完全使用AIGC生成的动画产品没有成体系的艺术创作风格，只是机械地拼凑。有分析人士据此认为，AIGC生成的动画产品质量堪忧是由新技术驱动下产生的过度投机行为导致的。</a:t>
            </a:r>
            <a:endParaRPr dirty="0">
              <a:cs typeface="微软雅黑" panose="020B0503020204020204" charset="-122"/>
            </a:endParaRPr>
          </a:p>
          <a:p>
            <a:pPr indent="0" fontAlgn="auto">
              <a:lnSpc>
                <a:spcPct val="100000"/>
              </a:lnSpc>
            </a:pPr>
            <a:r>
              <a:rPr dirty="0">
                <a:cs typeface="微软雅黑" panose="020B0503020204020204" charset="-122"/>
              </a:rPr>
              <a:t>毫无疑问，对于过度投机行为应当予以遏止。③但我们不能为了遏止过度投机行为就阻止AIGC的发展，因为这是不合理的。面对AIGC带来的机遇和挑战，我们能做的就是拥抱它。拥抱技术、更好地利用技术才是未来动画产业的出路。</a:t>
            </a:r>
            <a:endParaRPr dirty="0">
              <a:cs typeface="微软雅黑" panose="020B0503020204020204" charset="-122"/>
            </a:endParaRPr>
          </a:p>
          <a:p>
            <a:pPr indent="0" fontAlgn="auto">
              <a:lnSpc>
                <a:spcPct val="100000"/>
              </a:lnSpc>
            </a:pPr>
            <a:r>
              <a:rPr dirty="0">
                <a:cs typeface="微软雅黑" panose="020B0503020204020204" charset="-122"/>
              </a:rPr>
              <a:t>83.对于①处的论证，评价最恰当的是（）。</a:t>
            </a:r>
            <a:endParaRPr dirty="0">
              <a:cs typeface="微软雅黑" panose="020B0503020204020204" charset="-122"/>
            </a:endParaRPr>
          </a:p>
          <a:p>
            <a:pPr indent="0" fontAlgn="auto">
              <a:lnSpc>
                <a:spcPct val="100000"/>
              </a:lnSpc>
            </a:pPr>
            <a:r>
              <a:rPr dirty="0">
                <a:cs typeface="微软雅黑" panose="020B0503020204020204" charset="-122"/>
              </a:rPr>
              <a:t>A.存在以偏概全的问题 </a:t>
            </a:r>
            <a:endParaRPr dirty="0">
              <a:cs typeface="微软雅黑" panose="020B0503020204020204" charset="-122"/>
            </a:endParaRPr>
          </a:p>
          <a:p>
            <a:pPr indent="0" fontAlgn="auto">
              <a:lnSpc>
                <a:spcPct val="100000"/>
              </a:lnSpc>
            </a:pPr>
            <a:r>
              <a:rPr dirty="0">
                <a:cs typeface="微软雅黑" panose="020B0503020204020204" charset="-122"/>
              </a:rPr>
              <a:t>B.存在因果倒置的问题 </a:t>
            </a:r>
            <a:endParaRPr dirty="0">
              <a:cs typeface="微软雅黑" panose="020B0503020204020204" charset="-122"/>
            </a:endParaRPr>
          </a:p>
          <a:p>
            <a:pPr indent="0" fontAlgn="auto">
              <a:lnSpc>
                <a:spcPct val="100000"/>
              </a:lnSpc>
            </a:pPr>
            <a:r>
              <a:rPr dirty="0">
                <a:cs typeface="微软雅黑" panose="020B0503020204020204" charset="-122"/>
              </a:rPr>
              <a:t>C.所举的事例不够恰当 </a:t>
            </a:r>
            <a:endParaRPr dirty="0">
              <a:cs typeface="微软雅黑" panose="020B0503020204020204" charset="-122"/>
            </a:endParaRPr>
          </a:p>
          <a:p>
            <a:pPr indent="0" fontAlgn="auto">
              <a:lnSpc>
                <a:spcPct val="100000"/>
              </a:lnSpc>
            </a:pPr>
            <a:r>
              <a:rPr dirty="0">
                <a:cs typeface="微软雅黑" panose="020B0503020204020204" charset="-122"/>
              </a:rPr>
              <a:t>D.前提不足以支持结论</a:t>
            </a:r>
            <a:endParaRPr dirty="0">
              <a:cs typeface="微软雅黑" panose="020B0503020204020204" charset="-122"/>
            </a:endParaRPr>
          </a:p>
        </p:txBody>
      </p:sp>
      <p:sp>
        <p:nvSpPr>
          <p:cNvPr id="4" name="文本框 3"/>
          <p:cNvSpPr txBox="1"/>
          <p:nvPr/>
        </p:nvSpPr>
        <p:spPr>
          <a:xfrm>
            <a:off x="3843020" y="5317490"/>
            <a:ext cx="9331325" cy="730885"/>
          </a:xfrm>
          <a:prstGeom prst="rect">
            <a:avLst/>
          </a:prstGeom>
          <a:noFill/>
        </p:spPr>
        <p:txBody>
          <a:bodyPr wrap="square" rtlCol="0" anchor="t">
            <a:spAutoFit/>
          </a:bodyPr>
          <a:p>
            <a:pPr indent="0" fontAlgn="auto">
              <a:lnSpc>
                <a:spcPct val="130000"/>
              </a:lnSpc>
            </a:pPr>
            <a:r>
              <a:rPr lang="zh-CN" altLang="en-US" sz="1600" dirty="0">
                <a:solidFill>
                  <a:srgbClr val="FF0000"/>
                </a:solidFill>
                <a:effectLst/>
                <a:cs typeface="微软雅黑" panose="020B0503020204020204" charset="-122"/>
                <a:sym typeface="+mn-ea"/>
              </a:rPr>
              <a:t>论据：用</a:t>
            </a:r>
            <a:r>
              <a:rPr lang="en-US" altLang="zh-CN" sz="1600" dirty="0">
                <a:solidFill>
                  <a:srgbClr val="FF0000"/>
                </a:solidFill>
                <a:effectLst/>
                <a:cs typeface="微软雅黑" panose="020B0503020204020204" charset="-122"/>
                <a:sym typeface="+mn-ea"/>
              </a:rPr>
              <a:t>AI</a:t>
            </a:r>
            <a:r>
              <a:rPr lang="zh-CN" altLang="en-US" sz="1600" dirty="0">
                <a:solidFill>
                  <a:srgbClr val="FF0000"/>
                </a:solidFill>
                <a:effectLst/>
                <a:cs typeface="微软雅黑" panose="020B0503020204020204" charset="-122"/>
                <a:sym typeface="+mn-ea"/>
              </a:rPr>
              <a:t>可生成美术图片，</a:t>
            </a:r>
            <a:r>
              <a:rPr lang="en-US" altLang="zh-CN" sz="1600" dirty="0">
                <a:solidFill>
                  <a:srgbClr val="FF0000"/>
                </a:solidFill>
                <a:effectLst/>
                <a:cs typeface="微软雅黑" panose="020B0503020204020204" charset="-122"/>
                <a:sym typeface="+mn-ea"/>
              </a:rPr>
              <a:t>AIGC</a:t>
            </a:r>
            <a:r>
              <a:rPr lang="zh-CN" altLang="en-US" sz="1600" dirty="0">
                <a:solidFill>
                  <a:srgbClr val="FF0000"/>
                </a:solidFill>
                <a:effectLst/>
                <a:cs typeface="微软雅黑" panose="020B0503020204020204" charset="-122"/>
                <a:sym typeface="+mn-ea"/>
              </a:rPr>
              <a:t>创作的动画剧本经人工润色后可达到专业文学编剧水平。</a:t>
            </a:r>
            <a:endParaRPr lang="zh-CN" altLang="en-US" sz="1600" dirty="0">
              <a:solidFill>
                <a:srgbClr val="FF0000"/>
              </a:solidFill>
              <a:effectLst/>
              <a:cs typeface="微软雅黑" panose="020B0503020204020204" charset="-122"/>
              <a:sym typeface="+mn-ea"/>
            </a:endParaRPr>
          </a:p>
          <a:p>
            <a:pPr indent="0" fontAlgn="auto">
              <a:lnSpc>
                <a:spcPct val="130000"/>
              </a:lnSpc>
            </a:pPr>
            <a:r>
              <a:rPr lang="zh-CN" altLang="en-US" sz="1600" dirty="0">
                <a:solidFill>
                  <a:srgbClr val="FF0000"/>
                </a:solidFill>
                <a:effectLst/>
                <a:cs typeface="微软雅黑" panose="020B0503020204020204" charset="-122"/>
                <a:sym typeface="+mn-ea"/>
              </a:rPr>
              <a:t>论点：对于动画产业来说，</a:t>
            </a:r>
            <a:r>
              <a:rPr lang="en-US" altLang="zh-CN" sz="1600" dirty="0">
                <a:solidFill>
                  <a:srgbClr val="FF0000"/>
                </a:solidFill>
                <a:effectLst/>
                <a:cs typeface="微软雅黑" panose="020B0503020204020204" charset="-122"/>
                <a:sym typeface="+mn-ea"/>
              </a:rPr>
              <a:t>AIGC </a:t>
            </a:r>
            <a:r>
              <a:rPr lang="zh-CN" altLang="en-US" sz="1600" dirty="0">
                <a:solidFill>
                  <a:srgbClr val="FF0000"/>
                </a:solidFill>
                <a:effectLst/>
                <a:cs typeface="微软雅黑" panose="020B0503020204020204" charset="-122"/>
                <a:sym typeface="+mn-ea"/>
              </a:rPr>
              <a:t>创造了极大的经济价值。</a:t>
            </a:r>
            <a:endParaRPr lang="zh-CN" altLang="en-US" sz="1600"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84</a:t>
            </a:r>
            <a:endParaRPr kumimoji="1" lang="en-US" altLang="zh-CN" sz="2800" b="1" dirty="0">
              <a:solidFill>
                <a:srgbClr val="FF653F"/>
              </a:solidFill>
            </a:endParaRPr>
          </a:p>
        </p:txBody>
      </p:sp>
      <p:sp>
        <p:nvSpPr>
          <p:cNvPr id="3" name="文本框 2"/>
          <p:cNvSpPr txBox="1"/>
          <p:nvPr/>
        </p:nvSpPr>
        <p:spPr>
          <a:xfrm>
            <a:off x="462915" y="754380"/>
            <a:ext cx="11460480" cy="5526405"/>
          </a:xfrm>
          <a:prstGeom prst="rect">
            <a:avLst/>
          </a:prstGeom>
          <a:noFill/>
        </p:spPr>
        <p:txBody>
          <a:bodyPr wrap="square" rtlCol="0" anchor="t">
            <a:noAutofit/>
          </a:bodyPr>
          <a:p>
            <a:pPr indent="0" fontAlgn="auto">
              <a:lnSpc>
                <a:spcPct val="100000"/>
              </a:lnSpc>
            </a:pPr>
            <a:r>
              <a:rPr sz="1700" dirty="0">
                <a:cs typeface="微软雅黑" panose="020B0503020204020204" charset="-122"/>
              </a:rPr>
              <a:t>【材料】根据以下材料回答83-85题</a:t>
            </a:r>
            <a:endParaRPr sz="1700" dirty="0">
              <a:cs typeface="微软雅黑" panose="020B0503020204020204" charset="-122"/>
            </a:endParaRPr>
          </a:p>
          <a:p>
            <a:pPr indent="0" fontAlgn="auto">
              <a:lnSpc>
                <a:spcPct val="100000"/>
              </a:lnSpc>
            </a:pPr>
            <a:r>
              <a:rPr sz="1700" dirty="0">
                <a:cs typeface="微软雅黑" panose="020B0503020204020204" charset="-122"/>
              </a:rPr>
              <a:t>用“十年磨一剑”来形容动画产业或许并不夸张，每一部我们耳熟能详的“国漫之光”</a:t>
            </a:r>
            <a:endParaRPr sz="1700" dirty="0">
              <a:cs typeface="微软雅黑" panose="020B0503020204020204" charset="-122"/>
            </a:endParaRPr>
          </a:p>
          <a:p>
            <a:pPr indent="0" fontAlgn="auto">
              <a:lnSpc>
                <a:spcPct val="100000"/>
              </a:lnSpc>
            </a:pPr>
            <a:r>
              <a:rPr sz="1700" dirty="0">
                <a:cs typeface="微软雅黑" panose="020B0503020204020204" charset="-122"/>
              </a:rPr>
              <a:t>背后的打磨沉淀时间都很长，而如今利用生成式人工智能（AIGC）制作一部动画成片</a:t>
            </a:r>
            <a:endParaRPr sz="1700" dirty="0">
              <a:cs typeface="微软雅黑" panose="020B0503020204020204" charset="-122"/>
            </a:endParaRPr>
          </a:p>
          <a:p>
            <a:pPr indent="0" fontAlgn="auto">
              <a:lnSpc>
                <a:spcPct val="100000"/>
              </a:lnSpc>
            </a:pPr>
            <a:r>
              <a:rPr sz="1700" dirty="0">
                <a:cs typeface="微软雅黑" panose="020B0503020204020204" charset="-122"/>
              </a:rPr>
              <a:t>甚至只需要几天时间。AIGC还可以根据动画制作者的需求，自动生成美术图像、文字剧本，</a:t>
            </a:r>
            <a:endParaRPr sz="1700" dirty="0">
              <a:cs typeface="微软雅黑" panose="020B0503020204020204" charset="-122"/>
            </a:endParaRPr>
          </a:p>
          <a:p>
            <a:pPr indent="0" fontAlgn="auto">
              <a:lnSpc>
                <a:spcPct val="100000"/>
              </a:lnSpc>
            </a:pPr>
            <a:r>
              <a:rPr sz="1700" dirty="0">
                <a:cs typeface="微软雅黑" panose="020B0503020204020204" charset="-122"/>
              </a:rPr>
              <a:t>并完成建模、灯光、渲染、动作调整等在内的视频画面制作流程。</a:t>
            </a:r>
            <a:endParaRPr sz="1700" dirty="0">
              <a:cs typeface="微软雅黑" panose="020B0503020204020204" charset="-122"/>
            </a:endParaRPr>
          </a:p>
          <a:p>
            <a:pPr indent="0" fontAlgn="auto">
              <a:lnSpc>
                <a:spcPct val="100000"/>
              </a:lnSpc>
            </a:pPr>
            <a:r>
              <a:rPr sz="1700" dirty="0">
                <a:cs typeface="微软雅黑" panose="020B0503020204020204" charset="-122"/>
              </a:rPr>
              <a:t>①利用AI生成美术图片，无论是西方的超写实，还是中国的水墨风，都可以轻松完成。同时，通过实际测试，AIGC创作的动画剧本在经过人工润色修改后可以达到专业文学编剧的水平。这意味着对于动画产业来说，AIGC创造了极大的经济价值。</a:t>
            </a:r>
            <a:endParaRPr sz="1700" dirty="0">
              <a:cs typeface="微软雅黑" panose="020B0503020204020204" charset="-122"/>
            </a:endParaRPr>
          </a:p>
          <a:p>
            <a:pPr indent="0" fontAlgn="auto">
              <a:lnSpc>
                <a:spcPct val="100000"/>
              </a:lnSpc>
            </a:pPr>
            <a:r>
              <a:rPr sz="1700" dirty="0">
                <a:cs typeface="微软雅黑" panose="020B0503020204020204" charset="-122"/>
              </a:rPr>
              <a:t>但问题也随之而来。②AIGC带来了人们对产品质量的担忧，事实也确实如此。这是由于完全使用AIGC生成的动画产品没有成体系的艺术创作风格，只是机械地拼凑。有分析人士据此认为，AIGC生成的动画产品质量堪忧是由新技术驱动下产生的过度投机行为导致的。</a:t>
            </a:r>
            <a:endParaRPr sz="1700" dirty="0">
              <a:cs typeface="微软雅黑" panose="020B0503020204020204" charset="-122"/>
            </a:endParaRPr>
          </a:p>
          <a:p>
            <a:pPr indent="0" fontAlgn="auto">
              <a:lnSpc>
                <a:spcPct val="100000"/>
              </a:lnSpc>
            </a:pPr>
            <a:r>
              <a:rPr sz="1700" dirty="0">
                <a:cs typeface="微软雅黑" panose="020B0503020204020204" charset="-122"/>
              </a:rPr>
              <a:t>毫无疑问，对于过度投机行为应当予以遏止。③但我们不能为了遏止过度投机行为就阻止AIGC的发展，因为这是不合理的。面对AIGC带来的机遇和挑战，我们能做的就是拥抱它。拥抱技术、更好地利用技术才是未来动画产业的出路。</a:t>
            </a:r>
            <a:endParaRPr sz="1700" dirty="0">
              <a:cs typeface="微软雅黑" panose="020B0503020204020204" charset="-122"/>
            </a:endParaRPr>
          </a:p>
          <a:p>
            <a:pPr indent="0" fontAlgn="auto">
              <a:lnSpc>
                <a:spcPct val="100000"/>
              </a:lnSpc>
            </a:pPr>
            <a:r>
              <a:rPr lang="en-US" sz="1700" dirty="0">
                <a:cs typeface="微软雅黑" panose="020B0503020204020204" charset="-122"/>
              </a:rPr>
              <a:t>84.</a:t>
            </a:r>
            <a:r>
              <a:rPr sz="1700" dirty="0">
                <a:cs typeface="微软雅黑" panose="020B0503020204020204" charset="-122"/>
              </a:rPr>
              <a:t>若要②处分析人士的观点成立，需要补充以下哪项作为前提？（）</a:t>
            </a:r>
            <a:endParaRPr sz="1700" dirty="0">
              <a:cs typeface="微软雅黑" panose="020B0503020204020204" charset="-122"/>
            </a:endParaRPr>
          </a:p>
          <a:p>
            <a:pPr indent="0" fontAlgn="auto">
              <a:lnSpc>
                <a:spcPct val="100000"/>
              </a:lnSpc>
            </a:pPr>
            <a:endParaRPr sz="1700" dirty="0">
              <a:cs typeface="微软雅黑" panose="020B0503020204020204" charset="-122"/>
            </a:endParaRPr>
          </a:p>
          <a:p>
            <a:pPr indent="0" fontAlgn="auto">
              <a:lnSpc>
                <a:spcPct val="100000"/>
              </a:lnSpc>
            </a:pPr>
            <a:endParaRPr sz="1700" dirty="0">
              <a:cs typeface="微软雅黑" panose="020B0503020204020204" charset="-122"/>
            </a:endParaRPr>
          </a:p>
          <a:p>
            <a:pPr indent="0" fontAlgn="auto">
              <a:lnSpc>
                <a:spcPct val="100000"/>
              </a:lnSpc>
            </a:pPr>
            <a:endParaRPr sz="1700" dirty="0">
              <a:cs typeface="微软雅黑" panose="020B0503020204020204" charset="-122"/>
            </a:endParaRPr>
          </a:p>
          <a:p>
            <a:pPr indent="0" fontAlgn="auto">
              <a:lnSpc>
                <a:spcPct val="100000"/>
              </a:lnSpc>
            </a:pPr>
            <a:r>
              <a:rPr sz="1700" dirty="0">
                <a:cs typeface="微软雅黑" panose="020B0503020204020204" charset="-122"/>
              </a:rPr>
              <a:t>A.受AI技术水平的局限，当前通过AIGC生成的动画产品只能是机械拼凑的</a:t>
            </a:r>
            <a:endParaRPr sz="1700" dirty="0">
              <a:cs typeface="微软雅黑" panose="020B0503020204020204" charset="-122"/>
            </a:endParaRPr>
          </a:p>
          <a:p>
            <a:pPr indent="0" fontAlgn="auto">
              <a:lnSpc>
                <a:spcPct val="100000"/>
              </a:lnSpc>
            </a:pPr>
            <a:r>
              <a:rPr sz="1700" dirty="0">
                <a:cs typeface="微软雅黑" panose="020B0503020204020204" charset="-122"/>
              </a:rPr>
              <a:t>B.对AIGC概念的跟风炒作，是当前AIGC动画产业过度投机行为产生的根本原因</a:t>
            </a:r>
            <a:endParaRPr sz="1700" dirty="0">
              <a:cs typeface="微软雅黑" panose="020B0503020204020204" charset="-122"/>
            </a:endParaRPr>
          </a:p>
          <a:p>
            <a:pPr indent="0" fontAlgn="auto">
              <a:lnSpc>
                <a:spcPct val="100000"/>
              </a:lnSpc>
            </a:pPr>
            <a:r>
              <a:rPr sz="1700" dirty="0">
                <a:cs typeface="微软雅黑" panose="020B0503020204020204" charset="-122"/>
              </a:rPr>
              <a:t>C.新技术驱动下产生的过度投机行为使得通过AIGC机械拼凑的动画产品大行其道</a:t>
            </a:r>
            <a:endParaRPr sz="1700" dirty="0">
              <a:cs typeface="微软雅黑" panose="020B0503020204020204" charset="-122"/>
            </a:endParaRPr>
          </a:p>
          <a:p>
            <a:pPr indent="0" fontAlgn="auto">
              <a:lnSpc>
                <a:spcPct val="100000"/>
              </a:lnSpc>
            </a:pPr>
            <a:r>
              <a:rPr sz="1700" dirty="0">
                <a:cs typeface="微软雅黑" panose="020B0503020204020204" charset="-122"/>
              </a:rPr>
              <a:t>D.新技术驱动下产生的过度投机行为扰乱了AIGC动画产业市场，打击了动画从业者、投资者和观众的信心</a:t>
            </a:r>
            <a:endParaRPr sz="1700" dirty="0">
              <a:cs typeface="微软雅黑" panose="020B0503020204020204" charset="-122"/>
            </a:endParaRPr>
          </a:p>
        </p:txBody>
      </p:sp>
      <p:sp>
        <p:nvSpPr>
          <p:cNvPr id="4" name="文本框 3"/>
          <p:cNvSpPr txBox="1"/>
          <p:nvPr/>
        </p:nvSpPr>
        <p:spPr>
          <a:xfrm>
            <a:off x="4269740" y="4456430"/>
            <a:ext cx="8108950" cy="730885"/>
          </a:xfrm>
          <a:prstGeom prst="rect">
            <a:avLst/>
          </a:prstGeom>
          <a:noFill/>
        </p:spPr>
        <p:txBody>
          <a:bodyPr wrap="square" rtlCol="0" anchor="t">
            <a:spAutoFit/>
          </a:bodyPr>
          <a:p>
            <a:pPr indent="0" fontAlgn="auto">
              <a:lnSpc>
                <a:spcPct val="130000"/>
              </a:lnSpc>
            </a:pPr>
            <a:r>
              <a:rPr lang="zh-CN" altLang="en-US" sz="1600" dirty="0">
                <a:solidFill>
                  <a:srgbClr val="FF0000"/>
                </a:solidFill>
                <a:effectLst/>
                <a:cs typeface="微软雅黑" panose="020B0503020204020204" charset="-122"/>
                <a:sym typeface="+mn-ea"/>
              </a:rPr>
              <a:t>论据：完全使用</a:t>
            </a:r>
            <a:r>
              <a:rPr lang="en-US" altLang="zh-CN" sz="1600" dirty="0">
                <a:solidFill>
                  <a:srgbClr val="FF0000"/>
                </a:solidFill>
                <a:effectLst/>
                <a:cs typeface="微软雅黑" panose="020B0503020204020204" charset="-122"/>
                <a:sym typeface="+mn-ea"/>
              </a:rPr>
              <a:t>AIGC</a:t>
            </a:r>
            <a:r>
              <a:rPr lang="zh-CN" altLang="en-US" sz="1600" dirty="0">
                <a:solidFill>
                  <a:srgbClr val="FF0000"/>
                </a:solidFill>
                <a:effectLst/>
                <a:cs typeface="微软雅黑" panose="020B0503020204020204" charset="-122"/>
                <a:sym typeface="+mn-ea"/>
              </a:rPr>
              <a:t>生成的动画产品没有成体系的</a:t>
            </a:r>
            <a:r>
              <a:rPr lang="en-US" altLang="zh-CN" sz="1600" dirty="0">
                <a:solidFill>
                  <a:srgbClr val="FF0000"/>
                </a:solidFill>
                <a:effectLst/>
                <a:cs typeface="微软雅黑" panose="020B0503020204020204" charset="-122"/>
                <a:sym typeface="+mn-ea"/>
              </a:rPr>
              <a:t> </a:t>
            </a:r>
            <a:r>
              <a:rPr lang="zh-CN" altLang="en-US" sz="1600" dirty="0">
                <a:solidFill>
                  <a:srgbClr val="FF0000"/>
                </a:solidFill>
                <a:effectLst/>
                <a:cs typeface="微软雅黑" panose="020B0503020204020204" charset="-122"/>
                <a:sym typeface="+mn-ea"/>
              </a:rPr>
              <a:t>艺术创作风格，只是机械地拼凑。</a:t>
            </a:r>
            <a:endParaRPr lang="zh-CN" altLang="en-US" sz="1600" dirty="0">
              <a:solidFill>
                <a:srgbClr val="FF0000"/>
              </a:solidFill>
              <a:effectLst/>
              <a:cs typeface="微软雅黑" panose="020B0503020204020204" charset="-122"/>
              <a:sym typeface="+mn-ea"/>
            </a:endParaRPr>
          </a:p>
          <a:p>
            <a:pPr indent="0" fontAlgn="auto">
              <a:lnSpc>
                <a:spcPct val="130000"/>
              </a:lnSpc>
            </a:pPr>
            <a:r>
              <a:rPr lang="zh-CN" altLang="en-US" sz="1600" dirty="0">
                <a:solidFill>
                  <a:srgbClr val="FF0000"/>
                </a:solidFill>
                <a:effectLst/>
                <a:cs typeface="微软雅黑" panose="020B0503020204020204" charset="-122"/>
                <a:sym typeface="+mn-ea"/>
              </a:rPr>
              <a:t>论点：新技术驱动下产生的过度投机行为导致</a:t>
            </a:r>
            <a:r>
              <a:rPr lang="en-US" altLang="zh-CN" sz="1600" dirty="0">
                <a:solidFill>
                  <a:srgbClr val="FF0000"/>
                </a:solidFill>
                <a:effectLst/>
                <a:cs typeface="微软雅黑" panose="020B0503020204020204" charset="-122"/>
                <a:sym typeface="+mn-ea"/>
              </a:rPr>
              <a:t>AIGC</a:t>
            </a:r>
            <a:r>
              <a:rPr lang="zh-CN" altLang="en-US" sz="1600" dirty="0">
                <a:solidFill>
                  <a:srgbClr val="FF0000"/>
                </a:solidFill>
                <a:effectLst/>
                <a:cs typeface="微软雅黑" panose="020B0503020204020204" charset="-122"/>
                <a:sym typeface="+mn-ea"/>
              </a:rPr>
              <a:t>生成的动画产品质量堪忧。</a:t>
            </a:r>
            <a:endParaRPr lang="zh-CN" altLang="en-US" sz="1600"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85</a:t>
            </a:r>
            <a:endParaRPr kumimoji="1" lang="en-US" altLang="zh-CN" sz="2800" b="1" dirty="0">
              <a:solidFill>
                <a:srgbClr val="FF653F"/>
              </a:solidFill>
            </a:endParaRPr>
          </a:p>
        </p:txBody>
      </p:sp>
      <p:sp>
        <p:nvSpPr>
          <p:cNvPr id="3" name="文本框 2"/>
          <p:cNvSpPr txBox="1"/>
          <p:nvPr/>
        </p:nvSpPr>
        <p:spPr>
          <a:xfrm>
            <a:off x="462915" y="941070"/>
            <a:ext cx="11460480" cy="5526405"/>
          </a:xfrm>
          <a:prstGeom prst="rect">
            <a:avLst/>
          </a:prstGeom>
          <a:noFill/>
        </p:spPr>
        <p:txBody>
          <a:bodyPr wrap="square" rtlCol="0" anchor="t">
            <a:noAutofit/>
          </a:bodyPr>
          <a:p>
            <a:pPr indent="0" fontAlgn="auto">
              <a:lnSpc>
                <a:spcPct val="100000"/>
              </a:lnSpc>
            </a:pPr>
            <a:r>
              <a:rPr sz="1700" dirty="0">
                <a:cs typeface="微软雅黑" panose="020B0503020204020204" charset="-122"/>
              </a:rPr>
              <a:t>【材料】根据以下材料回答83-85题</a:t>
            </a:r>
            <a:endParaRPr sz="1700" dirty="0">
              <a:cs typeface="微软雅黑" panose="020B0503020204020204" charset="-122"/>
            </a:endParaRPr>
          </a:p>
          <a:p>
            <a:pPr indent="0" fontAlgn="auto">
              <a:lnSpc>
                <a:spcPct val="100000"/>
              </a:lnSpc>
            </a:pPr>
            <a:r>
              <a:rPr sz="1700" dirty="0">
                <a:cs typeface="微软雅黑" panose="020B0503020204020204" charset="-122"/>
              </a:rPr>
              <a:t>用“十年磨一剑”来形容动画产业或许并不夸张，每一部我们耳熟能详的“国漫之光”</a:t>
            </a:r>
            <a:endParaRPr sz="1700" dirty="0">
              <a:cs typeface="微软雅黑" panose="020B0503020204020204" charset="-122"/>
            </a:endParaRPr>
          </a:p>
          <a:p>
            <a:pPr indent="0" fontAlgn="auto">
              <a:lnSpc>
                <a:spcPct val="100000"/>
              </a:lnSpc>
            </a:pPr>
            <a:r>
              <a:rPr sz="1700" dirty="0">
                <a:cs typeface="微软雅黑" panose="020B0503020204020204" charset="-122"/>
              </a:rPr>
              <a:t>背后的打磨沉淀时间都很长，而如今利用生成式人工智能（AIGC）制作一部动画成片</a:t>
            </a:r>
            <a:endParaRPr sz="1700" dirty="0">
              <a:cs typeface="微软雅黑" panose="020B0503020204020204" charset="-122"/>
            </a:endParaRPr>
          </a:p>
          <a:p>
            <a:pPr indent="0" fontAlgn="auto">
              <a:lnSpc>
                <a:spcPct val="100000"/>
              </a:lnSpc>
            </a:pPr>
            <a:r>
              <a:rPr sz="1700" dirty="0">
                <a:cs typeface="微软雅黑" panose="020B0503020204020204" charset="-122"/>
              </a:rPr>
              <a:t>甚至只需要几天时间。AIGC还可以根据动画制作者的需求，自动生成美术图像、文字剧本，并完成建模、灯光、渲染、动作调整等在内的视频画面制作流程。</a:t>
            </a:r>
            <a:endParaRPr sz="1700" dirty="0">
              <a:cs typeface="微软雅黑" panose="020B0503020204020204" charset="-122"/>
            </a:endParaRPr>
          </a:p>
          <a:p>
            <a:pPr indent="0" fontAlgn="auto">
              <a:lnSpc>
                <a:spcPct val="100000"/>
              </a:lnSpc>
            </a:pPr>
            <a:r>
              <a:rPr sz="1700" dirty="0">
                <a:cs typeface="微软雅黑" panose="020B0503020204020204" charset="-122"/>
              </a:rPr>
              <a:t>①利用AI生成美术图片，无论是西方的超写实，还是中国的水墨风，都可以轻松完成。同时，通过实际测试，AIGC创作的动画剧本在经过人工润色修改后可以达到专业文学编剧的水平。这意味着对于动画产业来说，AIGC创造了极大的经济价值。</a:t>
            </a:r>
            <a:endParaRPr sz="1700" dirty="0">
              <a:cs typeface="微软雅黑" panose="020B0503020204020204" charset="-122"/>
            </a:endParaRPr>
          </a:p>
          <a:p>
            <a:pPr indent="0" fontAlgn="auto">
              <a:lnSpc>
                <a:spcPct val="100000"/>
              </a:lnSpc>
            </a:pPr>
            <a:r>
              <a:rPr sz="1700" dirty="0">
                <a:cs typeface="微软雅黑" panose="020B0503020204020204" charset="-122"/>
              </a:rPr>
              <a:t>但问题也随之而来。②AIGC带来了人们对产品质量的担忧，事实也确实如此。这是由于完全使用AIGC生成的动画产品没有成体系的艺术创作风格，只是机械地拼凑。有分析人士据此认为，AIGC生成的动画产品质量堪忧是由新技术驱动下产生的过度投机行为导致的。</a:t>
            </a:r>
            <a:endParaRPr sz="1700" dirty="0">
              <a:cs typeface="微软雅黑" panose="020B0503020204020204" charset="-122"/>
            </a:endParaRPr>
          </a:p>
          <a:p>
            <a:pPr indent="0" fontAlgn="auto">
              <a:lnSpc>
                <a:spcPct val="100000"/>
              </a:lnSpc>
            </a:pPr>
            <a:r>
              <a:rPr sz="1700" dirty="0">
                <a:cs typeface="微软雅黑" panose="020B0503020204020204" charset="-122"/>
              </a:rPr>
              <a:t>毫无疑问，对于过度投机行为应当予以遏止。③但我们不能为了遏止过度投机行为就阻止AIGC的发展，因为这是不合理的。面对AIGC带来的机遇和挑战，我们能做的就是拥抱它。拥抱技术、更好地利用技术才是未来动画产业的出路。</a:t>
            </a:r>
            <a:endParaRPr sz="1700" dirty="0">
              <a:cs typeface="微软雅黑" panose="020B0503020204020204" charset="-122"/>
            </a:endParaRPr>
          </a:p>
          <a:p>
            <a:pPr indent="0" fontAlgn="auto">
              <a:lnSpc>
                <a:spcPct val="100000"/>
              </a:lnSpc>
            </a:pPr>
            <a:r>
              <a:rPr sz="1700" dirty="0">
                <a:cs typeface="微软雅黑" panose="020B0503020204020204" charset="-122"/>
              </a:rPr>
              <a:t>85.为了对③处的论断作出评价，回答以下哪个问题最重要？（ ）</a:t>
            </a:r>
            <a:endParaRPr sz="1700" dirty="0">
              <a:cs typeface="微软雅黑" panose="020B0503020204020204" charset="-122"/>
            </a:endParaRPr>
          </a:p>
          <a:p>
            <a:pPr indent="0" fontAlgn="auto">
              <a:lnSpc>
                <a:spcPct val="100000"/>
              </a:lnSpc>
            </a:pPr>
            <a:endParaRPr sz="1700" dirty="0">
              <a:cs typeface="微软雅黑" panose="020B0503020204020204" charset="-122"/>
            </a:endParaRPr>
          </a:p>
          <a:p>
            <a:pPr indent="0" fontAlgn="auto">
              <a:lnSpc>
                <a:spcPct val="100000"/>
              </a:lnSpc>
            </a:pPr>
            <a:endParaRPr sz="1700" dirty="0">
              <a:cs typeface="微软雅黑" panose="020B0503020204020204" charset="-122"/>
            </a:endParaRPr>
          </a:p>
          <a:p>
            <a:pPr indent="0" fontAlgn="auto">
              <a:lnSpc>
                <a:spcPct val="100000"/>
              </a:lnSpc>
            </a:pPr>
            <a:r>
              <a:rPr sz="1700" dirty="0">
                <a:cs typeface="微软雅黑" panose="020B0503020204020204" charset="-122"/>
              </a:rPr>
              <a:t>A.过度投机行为对动画产业的发展危害有多大？</a:t>
            </a:r>
            <a:endParaRPr sz="1700" dirty="0">
              <a:cs typeface="微软雅黑" panose="020B0503020204020204" charset="-122"/>
            </a:endParaRPr>
          </a:p>
          <a:p>
            <a:pPr indent="0" fontAlgn="auto">
              <a:lnSpc>
                <a:spcPct val="100000"/>
              </a:lnSpc>
            </a:pPr>
            <a:r>
              <a:rPr sz="1700" dirty="0">
                <a:cs typeface="微软雅黑" panose="020B0503020204020204" charset="-122"/>
              </a:rPr>
              <a:t>B.过度投机行为在所有投机行为中所占的比重有多大？</a:t>
            </a:r>
            <a:endParaRPr sz="1700" dirty="0">
              <a:cs typeface="微软雅黑" panose="020B0503020204020204" charset="-122"/>
            </a:endParaRPr>
          </a:p>
          <a:p>
            <a:pPr indent="0" fontAlgn="auto">
              <a:lnSpc>
                <a:spcPct val="100000"/>
              </a:lnSpc>
            </a:pPr>
            <a:r>
              <a:rPr sz="1700" dirty="0">
                <a:cs typeface="微软雅黑" panose="020B0503020204020204" charset="-122"/>
              </a:rPr>
              <a:t>C.除了过度投机行为，是否还有其他原因导致动画产品质量堪忧？</a:t>
            </a:r>
            <a:endParaRPr sz="1700" dirty="0">
              <a:cs typeface="微软雅黑" panose="020B0503020204020204" charset="-122"/>
            </a:endParaRPr>
          </a:p>
          <a:p>
            <a:pPr indent="0" fontAlgn="auto">
              <a:lnSpc>
                <a:spcPct val="100000"/>
              </a:lnSpc>
            </a:pPr>
            <a:r>
              <a:rPr sz="1700" dirty="0">
                <a:cs typeface="微软雅黑" panose="020B0503020204020204" charset="-122"/>
              </a:rPr>
              <a:t>D.为了遏止过度投机行为而阻止AIGC是否会产生更加不利的影响？</a:t>
            </a:r>
            <a:endParaRPr sz="1700" dirty="0">
              <a:cs typeface="微软雅黑" panose="020B0503020204020204" charset="-122"/>
            </a:endParaRPr>
          </a:p>
        </p:txBody>
      </p:sp>
      <p:sp>
        <p:nvSpPr>
          <p:cNvPr id="5" name="文本框 4"/>
          <p:cNvSpPr txBox="1"/>
          <p:nvPr/>
        </p:nvSpPr>
        <p:spPr>
          <a:xfrm>
            <a:off x="5656580" y="4650740"/>
            <a:ext cx="653542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微软雅黑" panose="020B0503020204020204" charset="-122"/>
                <a:sym typeface="+mn-ea"/>
              </a:rPr>
              <a:t>论据：为了遏止过度投机行为就阻止</a:t>
            </a:r>
            <a:r>
              <a:rPr lang="en-US" altLang="zh-CN" dirty="0">
                <a:solidFill>
                  <a:srgbClr val="FF0000"/>
                </a:solidFill>
                <a:effectLst/>
                <a:cs typeface="微软雅黑" panose="020B0503020204020204" charset="-122"/>
                <a:sym typeface="+mn-ea"/>
              </a:rPr>
              <a:t>AIGC</a:t>
            </a:r>
            <a:r>
              <a:rPr lang="zh-CN" altLang="en-US" dirty="0">
                <a:solidFill>
                  <a:srgbClr val="FF0000"/>
                </a:solidFill>
                <a:effectLst/>
                <a:cs typeface="微软雅黑" panose="020B0503020204020204" charset="-122"/>
                <a:sym typeface="+mn-ea"/>
              </a:rPr>
              <a:t>的发展是不合理的</a:t>
            </a:r>
            <a:endParaRPr lang="zh-CN" altLang="en-US" dirty="0">
              <a:solidFill>
                <a:srgbClr val="FF0000"/>
              </a:solidFill>
              <a:effectLst/>
              <a:cs typeface="微软雅黑" panose="020B0503020204020204" charset="-122"/>
              <a:sym typeface="+mn-ea"/>
            </a:endParaRPr>
          </a:p>
          <a:p>
            <a:pPr indent="0" fontAlgn="auto">
              <a:lnSpc>
                <a:spcPct val="130000"/>
              </a:lnSpc>
            </a:pPr>
            <a:r>
              <a:rPr lang="zh-CN" altLang="en-US" dirty="0">
                <a:solidFill>
                  <a:srgbClr val="FF0000"/>
                </a:solidFill>
                <a:effectLst/>
                <a:cs typeface="微软雅黑" panose="020B0503020204020204" charset="-122"/>
                <a:sym typeface="+mn-ea"/>
              </a:rPr>
              <a:t>论点：我们不能为了遏止过度投机行为就阻止</a:t>
            </a:r>
            <a:r>
              <a:rPr lang="en-US" altLang="zh-CN" dirty="0">
                <a:solidFill>
                  <a:srgbClr val="FF0000"/>
                </a:solidFill>
                <a:effectLst/>
                <a:cs typeface="微软雅黑" panose="020B0503020204020204" charset="-122"/>
                <a:sym typeface="+mn-ea"/>
              </a:rPr>
              <a:t>AIGC</a:t>
            </a:r>
            <a:r>
              <a:rPr lang="zh-CN" altLang="en-US" dirty="0">
                <a:solidFill>
                  <a:srgbClr val="FF0000"/>
                </a:solidFill>
                <a:effectLst/>
                <a:cs typeface="微软雅黑" panose="020B0503020204020204" charset="-122"/>
                <a:sym typeface="+mn-ea"/>
              </a:rPr>
              <a:t>的发展</a:t>
            </a:r>
            <a:endParaRPr lang="zh-CN" altLang="en-US" dirty="0">
              <a:solidFill>
                <a:srgbClr val="FF0000"/>
              </a:solidFill>
              <a:effectLst/>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UNIT_PLACING_PICTURE_USER_VIEWPORT" val="{&quot;height&quot;:3745,&quot;width&quot;:3727}"/>
</p:tagLst>
</file>

<file path=ppt/tags/tag32.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8249</Words>
  <Application>WPS 演示</Application>
  <PresentationFormat>宽屏</PresentationFormat>
  <Paragraphs>404</Paragraphs>
  <Slides>39</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39</vt:i4>
      </vt:variant>
    </vt:vector>
  </HeadingPairs>
  <TitlesOfParts>
    <vt:vector size="48"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题51</vt:lpstr>
      <vt:lpstr>题52</vt:lpstr>
      <vt:lpstr>题53</vt:lpstr>
      <vt:lpstr>题54</vt:lpstr>
      <vt:lpstr>题55</vt:lpstr>
      <vt:lpstr>题55</vt:lpstr>
      <vt:lpstr>题56</vt:lpstr>
      <vt:lpstr>题57</vt:lpstr>
      <vt:lpstr>题58</vt:lpstr>
      <vt:lpstr>题59</vt:lpstr>
      <vt:lpstr>题60</vt:lpstr>
      <vt:lpstr>题61</vt:lpstr>
      <vt:lpstr>题62</vt:lpstr>
      <vt:lpstr>题63</vt:lpstr>
      <vt:lpstr>题64</vt:lpstr>
      <vt:lpstr>题65</vt:lpstr>
      <vt:lpstr>题66</vt:lpstr>
      <vt:lpstr>题67</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203</cp:revision>
  <dcterms:created xsi:type="dcterms:W3CDTF">2019-06-19T02:08:00Z</dcterms:created>
  <dcterms:modified xsi:type="dcterms:W3CDTF">2025-08-05T02:41:50Z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