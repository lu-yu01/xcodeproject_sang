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handoutMasterIdLst>
    <p:handoutMasterId r:id="rId41"/>
  </p:handoutMasterIdLst>
  <p:sldIdLst>
    <p:sldId id="1794" r:id="rId3"/>
    <p:sldId id="1823" r:id="rId5"/>
    <p:sldId id="1824" r:id="rId6"/>
    <p:sldId id="1825" r:id="rId7"/>
    <p:sldId id="1826" r:id="rId8"/>
    <p:sldId id="1827" r:id="rId9"/>
    <p:sldId id="1828" r:id="rId10"/>
    <p:sldId id="1829" r:id="rId11"/>
    <p:sldId id="1830" r:id="rId12"/>
    <p:sldId id="1831" r:id="rId13"/>
    <p:sldId id="1832" r:id="rId14"/>
    <p:sldId id="1833" r:id="rId15"/>
    <p:sldId id="1834" r:id="rId16"/>
    <p:sldId id="1835" r:id="rId17"/>
    <p:sldId id="1836" r:id="rId18"/>
    <p:sldId id="1837" r:id="rId19"/>
    <p:sldId id="1838" r:id="rId20"/>
    <p:sldId id="1839" r:id="rId21"/>
    <p:sldId id="1840" r:id="rId22"/>
    <p:sldId id="1841" r:id="rId23"/>
    <p:sldId id="1842" r:id="rId24"/>
    <p:sldId id="1843" r:id="rId25"/>
    <p:sldId id="1844" r:id="rId26"/>
    <p:sldId id="1845" r:id="rId27"/>
    <p:sldId id="1846" r:id="rId28"/>
    <p:sldId id="1847" r:id="rId29"/>
    <p:sldId id="1848" r:id="rId30"/>
    <p:sldId id="1849" r:id="rId31"/>
    <p:sldId id="1850" r:id="rId32"/>
    <p:sldId id="1851" r:id="rId33"/>
    <p:sldId id="1852" r:id="rId34"/>
    <p:sldId id="1853" r:id="rId35"/>
    <p:sldId id="1854" r:id="rId36"/>
    <p:sldId id="1855" r:id="rId37"/>
    <p:sldId id="1856" r:id="rId38"/>
    <p:sldId id="1857" r:id="rId39"/>
    <p:sldId id="1796" r:id="rId40"/>
  </p:sldIdLst>
  <p:sldSz cx="12192000" cy="6858000"/>
  <p:notesSz cx="6858000" cy="9144000"/>
  <p:custDataLst>
    <p:tags r:id="rId46"/>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278" userDrawn="1">
          <p15:clr>
            <a:srgbClr val="A4A3A4"/>
          </p15:clr>
        </p15:guide>
        <p15:guide id="2" pos="3837"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Wei" initials="2" lastIdx="9" clrIdx="0"/>
  <p:cmAuthor id="1" name="作者" initials="作" lastIdx="3" clrIdx="2"/>
  <p:cmAuthor id="2" name="许远超" initials="许" lastIdx="8" clrIdx="3"/>
  <p:cmAuthor id="3" name="Administrator" initials="A" lastIdx="1" clrIdx="2"/>
  <p:cmAuthor id="4" name="kingsoft" initials="k" lastIdx="1" clrIdx="0"/>
  <p:cmAuthor id="5" name="刘 译璟" initials="刘" lastIdx="32" clrIdx="0"/>
  <p:cmAuthor id="6" name="番茄花园" initials="番" lastIdx="1" clrIdx="0"/>
  <p:cmAuthor id="7" name="李鹏飞_6bQfzI3a" initials="李" lastIdx="0" clrIdx="0"/>
  <p:cmAuthor id="8" name="小珞_QjMfU7FR" initials="小" lastIdx="0" clrIdx="0"/>
  <p:cmAuthor id="9" name="骆倩怡_Znauj26B" initials="authorId_382814100" lastIdx="0" clrIdx="0"/>
  <p:cmAuthor id="249246244" name="桑桑" initials="桑" lastIdx="1" clrIdx="0"/>
  <p:cmAuthor id="10" name="caoyue" initials="c" lastIdx="1" clrIdx="9"/>
  <p:cmAuthor id="12" name="18309297108" initials="1" lastIdx="1" clrIdx="11"/>
  <p:cmAuthor id="13" name="xmiles" initials="x" lastIdx="1" clrIdx="12"/>
  <p:cmAuthor id="2001" name="Microsoft Office User" initials="MOU" lastIdx="1" clrIdx="2"/>
  <p:cmAuthor id="11" name="ibm" initials="i" lastIdx="5" clrIdx="10"/>
  <p:cmAuthor id="14" name="kobe" initials="k" lastIdx="1" clrIdx="13"/>
  <p:cmAuthor id="15" name="MIAI" initials="M" lastIdx="1" clrIdx="14"/>
  <p:cmAuthor id="16" name="HP" initials="H" lastIdx="1" clrIdx="15"/>
  <p:cmAuthor id="17" name="yangyaqin" initials="y" lastIdx="1" clrIdx="16"/>
  <p:cmAuthor id="18" name="ASUS" initials="A" lastIdx="1" clrIdx="1"/>
  <p:cmAuthor id="76" name="Yongqiang ZHOU" initials="YZ" lastIdx="1" clrIdx="25"/>
  <p:cmAuthor id="2000" name="Beck_jUrevum2" initials="authorId_724972424" lastIdx="0" clrIdx="0"/>
  <p:cmAuthor id="1483810881" name="WPS_1679281038" initials="W" lastIdx="1" clrIdx="2"/>
  <p:cmAuthor id="667521689" name="小蕊" initials="小" lastIdx="1" clrIdx="0"/>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01368F"/>
    <a:srgbClr val="DCDCDC"/>
    <a:srgbClr val="F0F0F0"/>
    <a:srgbClr val="E6E6E6"/>
    <a:srgbClr val="C8C8C8"/>
    <a:srgbClr val="FAFAFA"/>
    <a:srgbClr val="BEBEB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778" autoAdjust="0"/>
    <p:restoredTop sz="94660"/>
  </p:normalViewPr>
  <p:slideViewPr>
    <p:cSldViewPr snapToGrid="0" showGuides="1">
      <p:cViewPr varScale="1">
        <p:scale>
          <a:sx n="99" d="100"/>
          <a:sy n="99" d="100"/>
        </p:scale>
        <p:origin x="84" y="582"/>
      </p:cViewPr>
      <p:guideLst>
        <p:guide orient="horz" pos="2278"/>
        <p:guide pos="3837"/>
      </p:guideLst>
    </p:cSldViewPr>
  </p:slid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6" Type="http://schemas.openxmlformats.org/officeDocument/2006/relationships/tags" Target="tags/tag4.xml"/><Relationship Id="rId45" Type="http://schemas.openxmlformats.org/officeDocument/2006/relationships/commentAuthors" Target="commentAuthors.xml"/><Relationship Id="rId44" Type="http://schemas.openxmlformats.org/officeDocument/2006/relationships/tableStyles" Target="tableStyles.xml"/><Relationship Id="rId43" Type="http://schemas.openxmlformats.org/officeDocument/2006/relationships/viewProps" Target="viewProps.xml"/><Relationship Id="rId42" Type="http://schemas.openxmlformats.org/officeDocument/2006/relationships/presProps" Target="presProps.xml"/><Relationship Id="rId41" Type="http://schemas.openxmlformats.org/officeDocument/2006/relationships/handoutMaster" Target="handoutMasters/handoutMaster1.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latin typeface="楷体" panose="02010609060101010101" charset="-122"/>
              <a:ea typeface="楷体" panose="02010609060101010101" charset="-122"/>
              <a:cs typeface="楷体" panose="02010609060101010101" charset="-122"/>
            </a:endParaRPr>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latin typeface="楷体" panose="02010609060101010101" charset="-122"/>
                <a:ea typeface="楷体" panose="02010609060101010101" charset="-122"/>
                <a:cs typeface="楷体" panose="02010609060101010101" charset="-122"/>
              </a:rPr>
            </a:fld>
            <a:endParaRPr lang="zh-CN" altLang="en-US">
              <a:latin typeface="楷体" panose="02010609060101010101" charset="-122"/>
              <a:ea typeface="楷体" panose="02010609060101010101" charset="-122"/>
              <a:cs typeface="楷体" panose="02010609060101010101" charset="-122"/>
            </a:endParaRPr>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latin typeface="楷体" panose="02010609060101010101" charset="-122"/>
              <a:ea typeface="楷体" panose="02010609060101010101" charset="-122"/>
              <a:cs typeface="楷体" panose="02010609060101010101" charset="-122"/>
            </a:endParaRPr>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latin typeface="楷体" panose="02010609060101010101" charset="-122"/>
                <a:ea typeface="楷体" panose="02010609060101010101" charset="-122"/>
                <a:cs typeface="楷体" panose="02010609060101010101" charset="-122"/>
              </a:rPr>
            </a:fld>
            <a:endParaRPr lang="zh-CN" altLang="en-US">
              <a:latin typeface="楷体" panose="02010609060101010101" charset="-122"/>
              <a:ea typeface="楷体" panose="02010609060101010101" charset="-122"/>
              <a:cs typeface="楷体" panose="02010609060101010101" charset="-122"/>
            </a:endParaRPr>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楷体" panose="02010609060101010101" charset="-122"/>
                <a:ea typeface="楷体" panose="02010609060101010101" charset="-122"/>
                <a:cs typeface="楷体" panose="02010609060101010101" charset="-122"/>
              </a:defRPr>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楷体" panose="02010609060101010101" charset="-122"/>
                <a:ea typeface="楷体" panose="02010609060101010101" charset="-122"/>
                <a:cs typeface="楷体" panose="02010609060101010101" charset="-122"/>
              </a:defRPr>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楷体" panose="02010609060101010101" charset="-122"/>
                <a:ea typeface="楷体" panose="02010609060101010101" charset="-122"/>
                <a:cs typeface="楷体" panose="02010609060101010101" charset="-122"/>
              </a:defRPr>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楷体" panose="02010609060101010101" charset="-122"/>
                <a:ea typeface="楷体" panose="02010609060101010101" charset="-122"/>
                <a:cs typeface="楷体" panose="02010609060101010101" charset="-122"/>
              </a:defRPr>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楷体" panose="02010609060101010101" charset="-122"/>
        <a:ea typeface="楷体" panose="02010609060101010101" charset="-122"/>
        <a:cs typeface="楷体" panose="02010609060101010101" charset="-122"/>
      </a:defRPr>
    </a:lvl1pPr>
    <a:lvl2pPr marL="457200" algn="l" defTabSz="914400" rtl="0" eaLnBrk="1" latinLnBrk="0" hangingPunct="1">
      <a:defRPr sz="1200" kern="1200">
        <a:solidFill>
          <a:schemeClr val="tx1"/>
        </a:solidFill>
        <a:latin typeface="楷体" panose="02010609060101010101" charset="-122"/>
        <a:ea typeface="楷体" panose="02010609060101010101" charset="-122"/>
        <a:cs typeface="楷体" panose="02010609060101010101" charset="-122"/>
      </a:defRPr>
    </a:lvl2pPr>
    <a:lvl3pPr marL="914400" algn="l" defTabSz="914400" rtl="0" eaLnBrk="1" latinLnBrk="0" hangingPunct="1">
      <a:defRPr sz="1200" kern="1200">
        <a:solidFill>
          <a:schemeClr val="tx1"/>
        </a:solidFill>
        <a:latin typeface="楷体" panose="02010609060101010101" charset="-122"/>
        <a:ea typeface="楷体" panose="02010609060101010101" charset="-122"/>
        <a:cs typeface="楷体" panose="02010609060101010101" charset="-122"/>
      </a:defRPr>
    </a:lvl3pPr>
    <a:lvl4pPr marL="1371600" algn="l" defTabSz="914400" rtl="0" eaLnBrk="1" latinLnBrk="0" hangingPunct="1">
      <a:defRPr sz="1200" kern="1200">
        <a:solidFill>
          <a:schemeClr val="tx1"/>
        </a:solidFill>
        <a:latin typeface="楷体" panose="02010609060101010101" charset="-122"/>
        <a:ea typeface="楷体" panose="02010609060101010101" charset="-122"/>
        <a:cs typeface="楷体" panose="02010609060101010101" charset="-122"/>
      </a:defRPr>
    </a:lvl4pPr>
    <a:lvl5pPr marL="1828800" algn="l" defTabSz="914400" rtl="0" eaLnBrk="1" latinLnBrk="0" hangingPunct="1">
      <a:defRPr sz="1200" kern="1200">
        <a:solidFill>
          <a:schemeClr val="tx1"/>
        </a:solidFill>
        <a:latin typeface="楷体" panose="02010609060101010101" charset="-122"/>
        <a:ea typeface="楷体" panose="02010609060101010101" charset="-122"/>
        <a:cs typeface="楷体" panose="02010609060101010101" charset="-122"/>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ea typeface="+mn-ea"/>
              </a:rPr>
              <a:t>本题为分组分类题目。元素组成不同，无明显属性规律，考虑数量规律。每个图形均由黑圆和白圆构成，且有部分黑圆和白圆被分隔开，因此考虑数部分数。发现图</a:t>
            </a:r>
            <a:r>
              <a:rPr lang="en-US" altLang="en-US" sz="1200" kern="1200" dirty="0">
                <a:solidFill>
                  <a:schemeClr val="tx1"/>
                </a:solidFill>
                <a:effectLst/>
                <a:latin typeface="+mn-lt"/>
                <a:ea typeface="+mn-ea"/>
              </a:rPr>
              <a:t>①②⑥</a:t>
            </a:r>
            <a:r>
              <a:rPr lang="zh-CN" altLang="en-US" sz="1200" kern="1200" dirty="0">
                <a:solidFill>
                  <a:schemeClr val="tx1"/>
                </a:solidFill>
                <a:effectLst/>
                <a:latin typeface="+mn-lt"/>
                <a:ea typeface="+mn-ea"/>
              </a:rPr>
              <a:t>白圆部分均为两部分，图</a:t>
            </a:r>
            <a:r>
              <a:rPr lang="en-US" altLang="en-US" sz="1200" kern="1200" dirty="0">
                <a:solidFill>
                  <a:schemeClr val="tx1"/>
                </a:solidFill>
                <a:effectLst/>
                <a:latin typeface="+mn-lt"/>
                <a:ea typeface="+mn-ea"/>
              </a:rPr>
              <a:t>③④⑤</a:t>
            </a:r>
            <a:r>
              <a:rPr lang="zh-CN" altLang="en-US" sz="1200" kern="1200" dirty="0">
                <a:solidFill>
                  <a:schemeClr val="tx1"/>
                </a:solidFill>
                <a:effectLst/>
                <a:latin typeface="+mn-lt"/>
                <a:ea typeface="+mn-ea"/>
              </a:rPr>
              <a:t>白圆部分均为三部分，故图</a:t>
            </a:r>
            <a:r>
              <a:rPr lang="en-US" altLang="en-US" sz="1200" kern="1200" dirty="0">
                <a:solidFill>
                  <a:schemeClr val="tx1"/>
                </a:solidFill>
                <a:effectLst/>
                <a:latin typeface="+mn-lt"/>
                <a:ea typeface="+mn-ea"/>
              </a:rPr>
              <a:t>①②⑥</a:t>
            </a:r>
            <a:r>
              <a:rPr lang="zh-CN" altLang="en-US" sz="1200" kern="1200" dirty="0">
                <a:solidFill>
                  <a:schemeClr val="tx1"/>
                </a:solidFill>
                <a:effectLst/>
                <a:latin typeface="+mn-lt"/>
                <a:ea typeface="+mn-ea"/>
              </a:rPr>
              <a:t>为一组，图</a:t>
            </a:r>
            <a:r>
              <a:rPr lang="en-US" altLang="en-US" sz="1200" kern="1200" dirty="0">
                <a:solidFill>
                  <a:schemeClr val="tx1"/>
                </a:solidFill>
                <a:effectLst/>
                <a:latin typeface="+mn-lt"/>
                <a:ea typeface="+mn-ea"/>
              </a:rPr>
              <a:t>③④⑤</a:t>
            </a:r>
            <a:r>
              <a:rPr lang="zh-CN" altLang="en-US" sz="1200" kern="1200" dirty="0">
                <a:solidFill>
                  <a:schemeClr val="tx1"/>
                </a:solidFill>
                <a:effectLst/>
                <a:latin typeface="+mn-lt"/>
                <a:ea typeface="+mn-ea"/>
              </a:rPr>
              <a:t>为一组。</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故正确答案为</a:t>
            </a:r>
            <a:r>
              <a:rPr lang="en-US" altLang="zh-CN" sz="1200" kern="1200" dirty="0">
                <a:solidFill>
                  <a:schemeClr val="tx1"/>
                </a:solidFill>
                <a:effectLst/>
                <a:latin typeface="+mn-lt"/>
                <a:ea typeface="+mn-ea"/>
              </a:rPr>
              <a:t> B</a:t>
            </a:r>
            <a:r>
              <a:rPr lang="zh-CN" altLang="en-US" sz="1200" kern="1200" dirty="0">
                <a:solidFill>
                  <a:schemeClr val="tx1"/>
                </a:solidFill>
                <a:effectLst/>
                <a:latin typeface="+mn-lt"/>
                <a:ea typeface="+mn-ea"/>
              </a:rPr>
              <a:t>。</a:t>
            </a:r>
            <a:endParaRPr lang="zh-CN" altLang="en-US" sz="1200" kern="1200" dirty="0">
              <a:solidFill>
                <a:schemeClr val="tx1"/>
              </a:solidFill>
              <a:effectLst/>
              <a:latin typeface="+mn-lt"/>
              <a:ea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ea typeface="+mn-ea"/>
              </a:rPr>
              <a:t>元素组成相同，优先考虑位置规律。观察上方第一组图形发现，图</a:t>
            </a:r>
            <a:r>
              <a:rPr lang="en-US" altLang="zh-CN" sz="1200" kern="1200" dirty="0">
                <a:solidFill>
                  <a:schemeClr val="tx1"/>
                </a:solidFill>
                <a:effectLst/>
                <a:latin typeface="+mn-lt"/>
                <a:ea typeface="+mn-ea"/>
              </a:rPr>
              <a:t> 1 </a:t>
            </a:r>
            <a:r>
              <a:rPr lang="zh-CN" altLang="en-US" sz="1200" kern="1200" dirty="0">
                <a:solidFill>
                  <a:schemeClr val="tx1"/>
                </a:solidFill>
                <a:effectLst/>
                <a:latin typeface="+mn-lt"/>
                <a:ea typeface="+mn-ea"/>
              </a:rPr>
              <a:t>以图</a:t>
            </a:r>
            <a:r>
              <a:rPr lang="en-US" altLang="zh-CN" sz="1200" kern="1200" dirty="0">
                <a:solidFill>
                  <a:schemeClr val="tx1"/>
                </a:solidFill>
                <a:effectLst/>
                <a:latin typeface="+mn-lt"/>
                <a:ea typeface="+mn-ea"/>
              </a:rPr>
              <a:t> 2 </a:t>
            </a:r>
            <a:r>
              <a:rPr lang="zh-CN" altLang="en-US" sz="1200" kern="1200" dirty="0">
                <a:solidFill>
                  <a:schemeClr val="tx1"/>
                </a:solidFill>
                <a:effectLst/>
                <a:latin typeface="+mn-lt"/>
                <a:ea typeface="+mn-ea"/>
              </a:rPr>
              <a:t>为轴经过左右翻转得到图</a:t>
            </a:r>
            <a:r>
              <a:rPr lang="en-US" altLang="zh-CN" sz="1200" kern="1200" dirty="0">
                <a:solidFill>
                  <a:schemeClr val="tx1"/>
                </a:solidFill>
                <a:effectLst/>
                <a:latin typeface="+mn-lt"/>
                <a:ea typeface="+mn-ea"/>
              </a:rPr>
              <a:t> 3</a:t>
            </a:r>
            <a:r>
              <a:rPr lang="zh-CN" altLang="en-US" sz="1200" kern="1200" dirty="0">
                <a:solidFill>
                  <a:schemeClr val="tx1"/>
                </a:solidFill>
                <a:effectLst/>
                <a:latin typeface="+mn-lt"/>
                <a:ea typeface="+mn-ea"/>
              </a:rPr>
              <a:t>，图</a:t>
            </a:r>
            <a:r>
              <a:rPr lang="en-US" altLang="zh-CN" sz="1200" kern="1200" dirty="0">
                <a:solidFill>
                  <a:schemeClr val="tx1"/>
                </a:solidFill>
                <a:effectLst/>
                <a:latin typeface="+mn-lt"/>
                <a:ea typeface="+mn-ea"/>
              </a:rPr>
              <a:t> 3 </a:t>
            </a:r>
            <a:r>
              <a:rPr lang="zh-CN" altLang="en-US" sz="1200" kern="1200" dirty="0">
                <a:solidFill>
                  <a:schemeClr val="tx1"/>
                </a:solidFill>
                <a:effectLst/>
                <a:latin typeface="+mn-lt"/>
                <a:ea typeface="+mn-ea"/>
              </a:rPr>
              <a:t>再以图</a:t>
            </a:r>
            <a:r>
              <a:rPr lang="en-US" altLang="zh-CN" sz="1200" kern="1200" dirty="0">
                <a:solidFill>
                  <a:schemeClr val="tx1"/>
                </a:solidFill>
                <a:effectLst/>
                <a:latin typeface="+mn-lt"/>
                <a:ea typeface="+mn-ea"/>
              </a:rPr>
              <a:t> 4 </a:t>
            </a:r>
            <a:r>
              <a:rPr lang="zh-CN" altLang="en-US" sz="1200" kern="1200" dirty="0">
                <a:solidFill>
                  <a:schemeClr val="tx1"/>
                </a:solidFill>
                <a:effectLst/>
                <a:latin typeface="+mn-lt"/>
                <a:ea typeface="+mn-ea"/>
              </a:rPr>
              <a:t>为轴经过上下翻转得到图</a:t>
            </a:r>
            <a:r>
              <a:rPr lang="en-US" altLang="zh-CN" sz="1200" kern="1200" dirty="0">
                <a:solidFill>
                  <a:schemeClr val="tx1"/>
                </a:solidFill>
                <a:effectLst/>
                <a:latin typeface="+mn-lt"/>
                <a:ea typeface="+mn-ea"/>
              </a:rPr>
              <a:t> 5</a:t>
            </a:r>
            <a:r>
              <a:rPr lang="zh-CN" altLang="en-US" sz="1200" kern="1200" dirty="0">
                <a:solidFill>
                  <a:schemeClr val="tx1"/>
                </a:solidFill>
                <a:effectLst/>
                <a:latin typeface="+mn-lt"/>
                <a:ea typeface="+mn-ea"/>
              </a:rPr>
              <a:t>。下方第二组图形应用此规律，图</a:t>
            </a:r>
            <a:r>
              <a:rPr lang="en-US" altLang="zh-CN" sz="1200" kern="1200" dirty="0">
                <a:solidFill>
                  <a:schemeClr val="tx1"/>
                </a:solidFill>
                <a:effectLst/>
                <a:latin typeface="+mn-lt"/>
                <a:ea typeface="+mn-ea"/>
              </a:rPr>
              <a:t> 1 </a:t>
            </a:r>
            <a:r>
              <a:rPr lang="zh-CN" altLang="en-US" sz="1200" kern="1200" dirty="0">
                <a:solidFill>
                  <a:schemeClr val="tx1"/>
                </a:solidFill>
                <a:effectLst/>
                <a:latin typeface="+mn-lt"/>
                <a:ea typeface="+mn-ea"/>
              </a:rPr>
              <a:t>以图</a:t>
            </a:r>
            <a:r>
              <a:rPr lang="en-US" altLang="zh-CN" sz="1200" kern="1200" dirty="0">
                <a:solidFill>
                  <a:schemeClr val="tx1"/>
                </a:solidFill>
                <a:effectLst/>
                <a:latin typeface="+mn-lt"/>
                <a:ea typeface="+mn-ea"/>
              </a:rPr>
              <a:t> 2 </a:t>
            </a:r>
            <a:r>
              <a:rPr lang="zh-CN" altLang="en-US" sz="1200" kern="1200" dirty="0">
                <a:solidFill>
                  <a:schemeClr val="tx1"/>
                </a:solidFill>
                <a:effectLst/>
                <a:latin typeface="+mn-lt"/>
                <a:ea typeface="+mn-ea"/>
              </a:rPr>
              <a:t>为轴经过上下翻转得到图</a:t>
            </a:r>
            <a:r>
              <a:rPr lang="en-US" altLang="zh-CN" sz="1200" kern="1200" dirty="0">
                <a:solidFill>
                  <a:schemeClr val="tx1"/>
                </a:solidFill>
                <a:effectLst/>
                <a:latin typeface="+mn-lt"/>
                <a:ea typeface="+mn-ea"/>
              </a:rPr>
              <a:t> 3</a:t>
            </a:r>
            <a:r>
              <a:rPr lang="zh-CN" altLang="en-US" sz="1200" kern="1200" dirty="0">
                <a:solidFill>
                  <a:schemeClr val="tx1"/>
                </a:solidFill>
                <a:effectLst/>
                <a:latin typeface="+mn-lt"/>
                <a:ea typeface="+mn-ea"/>
              </a:rPr>
              <a:t>，图</a:t>
            </a:r>
            <a:r>
              <a:rPr lang="en-US" altLang="zh-CN" sz="1200" kern="1200" dirty="0">
                <a:solidFill>
                  <a:schemeClr val="tx1"/>
                </a:solidFill>
                <a:effectLst/>
                <a:latin typeface="+mn-lt"/>
                <a:ea typeface="+mn-ea"/>
              </a:rPr>
              <a:t> 3 </a:t>
            </a:r>
            <a:r>
              <a:rPr lang="zh-CN" altLang="en-US" sz="1200" kern="1200" dirty="0">
                <a:solidFill>
                  <a:schemeClr val="tx1"/>
                </a:solidFill>
                <a:effectLst/>
                <a:latin typeface="+mn-lt"/>
                <a:ea typeface="+mn-ea"/>
              </a:rPr>
              <a:t>再以图</a:t>
            </a:r>
            <a:r>
              <a:rPr lang="en-US" altLang="zh-CN" sz="1200" kern="1200" dirty="0">
                <a:solidFill>
                  <a:schemeClr val="tx1"/>
                </a:solidFill>
                <a:effectLst/>
                <a:latin typeface="+mn-lt"/>
                <a:ea typeface="+mn-ea"/>
              </a:rPr>
              <a:t> 4 </a:t>
            </a:r>
            <a:r>
              <a:rPr lang="zh-CN" altLang="en-US" sz="1200" kern="1200" dirty="0">
                <a:solidFill>
                  <a:schemeClr val="tx1"/>
                </a:solidFill>
                <a:effectLst/>
                <a:latin typeface="+mn-lt"/>
                <a:ea typeface="+mn-ea"/>
              </a:rPr>
              <a:t>为轴经过左右翻转得到？处图形。只有</a:t>
            </a:r>
            <a:r>
              <a:rPr lang="en-US" altLang="zh-CN" sz="1200" kern="1200" dirty="0">
                <a:solidFill>
                  <a:schemeClr val="tx1"/>
                </a:solidFill>
                <a:effectLst/>
                <a:latin typeface="+mn-lt"/>
                <a:ea typeface="+mn-ea"/>
              </a:rPr>
              <a:t> B </a:t>
            </a:r>
            <a:r>
              <a:rPr lang="zh-CN" altLang="en-US" sz="1200" kern="1200" dirty="0">
                <a:solidFill>
                  <a:schemeClr val="tx1"/>
                </a:solidFill>
                <a:effectLst/>
                <a:latin typeface="+mn-lt"/>
                <a:ea typeface="+mn-ea"/>
              </a:rPr>
              <a:t>项符合。</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故正确答案为</a:t>
            </a:r>
            <a:r>
              <a:rPr lang="en-US" altLang="zh-CN" sz="1200" kern="1200" dirty="0">
                <a:solidFill>
                  <a:schemeClr val="tx1"/>
                </a:solidFill>
                <a:effectLst/>
                <a:latin typeface="+mn-lt"/>
                <a:ea typeface="+mn-ea"/>
              </a:rPr>
              <a:t> B</a:t>
            </a:r>
            <a:r>
              <a:rPr lang="zh-CN" altLang="en-US" sz="1200" kern="1200" dirty="0">
                <a:solidFill>
                  <a:schemeClr val="tx1"/>
                </a:solidFill>
                <a:effectLst/>
                <a:latin typeface="+mn-lt"/>
                <a:ea typeface="+mn-ea"/>
              </a:rPr>
              <a:t>。</a:t>
            </a:r>
            <a:endParaRPr lang="zh-CN" altLang="en-US" sz="1200" kern="1200" dirty="0">
              <a:solidFill>
                <a:schemeClr val="tx1"/>
              </a:solidFill>
              <a:effectLst/>
              <a:latin typeface="+mn-lt"/>
              <a:ea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ea typeface="+mn-ea"/>
              </a:rPr>
              <a:t>观察发现，题干图形均存在灰色三角形，且灰色三角形数量依次递增，数量分别为</a:t>
            </a:r>
            <a:r>
              <a:rPr lang="en-US" altLang="zh-CN" sz="1200" kern="1200" dirty="0">
                <a:solidFill>
                  <a:schemeClr val="tx1"/>
                </a:solidFill>
                <a:effectLst/>
                <a:latin typeface="+mn-lt"/>
                <a:ea typeface="+mn-ea"/>
              </a:rPr>
              <a:t> 1</a:t>
            </a:r>
            <a:r>
              <a:rPr lang="zh-CN" altLang="en-US" sz="1200" kern="1200" dirty="0">
                <a:solidFill>
                  <a:schemeClr val="tx1"/>
                </a:solidFill>
                <a:effectLst/>
                <a:latin typeface="+mn-lt"/>
                <a:ea typeface="+mn-ea"/>
              </a:rPr>
              <a:t>、</a:t>
            </a:r>
            <a:r>
              <a:rPr lang="en-US" altLang="zh-CN" sz="1200" kern="1200" dirty="0">
                <a:solidFill>
                  <a:schemeClr val="tx1"/>
                </a:solidFill>
                <a:effectLst/>
                <a:latin typeface="+mn-lt"/>
                <a:ea typeface="+mn-ea"/>
              </a:rPr>
              <a:t>2</a:t>
            </a:r>
            <a:r>
              <a:rPr lang="zh-CN" altLang="en-US" sz="1200" kern="1200" dirty="0">
                <a:solidFill>
                  <a:schemeClr val="tx1"/>
                </a:solidFill>
                <a:effectLst/>
                <a:latin typeface="+mn-lt"/>
                <a:ea typeface="+mn-ea"/>
              </a:rPr>
              <a:t>、</a:t>
            </a:r>
            <a:r>
              <a:rPr lang="en-US" altLang="zh-CN" sz="1200" kern="1200" dirty="0">
                <a:solidFill>
                  <a:schemeClr val="tx1"/>
                </a:solidFill>
                <a:effectLst/>
                <a:latin typeface="+mn-lt"/>
                <a:ea typeface="+mn-ea"/>
              </a:rPr>
              <a:t>3</a:t>
            </a:r>
            <a:r>
              <a:rPr lang="zh-CN" altLang="en-US" sz="1200" kern="1200" dirty="0">
                <a:solidFill>
                  <a:schemeClr val="tx1"/>
                </a:solidFill>
                <a:effectLst/>
                <a:latin typeface="+mn-lt"/>
                <a:ea typeface="+mn-ea"/>
              </a:rPr>
              <a:t>、</a:t>
            </a:r>
            <a:r>
              <a:rPr lang="en-US" altLang="zh-CN" sz="1200" kern="1200" dirty="0">
                <a:solidFill>
                  <a:schemeClr val="tx1"/>
                </a:solidFill>
                <a:effectLst/>
                <a:latin typeface="+mn-lt"/>
                <a:ea typeface="+mn-ea"/>
              </a:rPr>
              <a:t>4</a:t>
            </a:r>
            <a:r>
              <a:rPr lang="zh-CN" altLang="en-US" sz="1200" kern="1200" dirty="0">
                <a:solidFill>
                  <a:schemeClr val="tx1"/>
                </a:solidFill>
                <a:effectLst/>
                <a:latin typeface="+mn-lt"/>
                <a:ea typeface="+mn-ea"/>
              </a:rPr>
              <a:t>，故？处图</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形灰色三角形数量应为</a:t>
            </a:r>
            <a:r>
              <a:rPr lang="en-US" altLang="zh-CN" sz="1200" kern="1200" dirty="0">
                <a:solidFill>
                  <a:schemeClr val="tx1"/>
                </a:solidFill>
                <a:effectLst/>
                <a:latin typeface="+mn-lt"/>
                <a:ea typeface="+mn-ea"/>
              </a:rPr>
              <a:t> 5</a:t>
            </a:r>
            <a:r>
              <a:rPr lang="zh-CN" altLang="en-US" sz="1200" kern="1200" dirty="0">
                <a:solidFill>
                  <a:schemeClr val="tx1"/>
                </a:solidFill>
                <a:effectLst/>
                <a:latin typeface="+mn-lt"/>
                <a:ea typeface="+mn-ea"/>
              </a:rPr>
              <a:t>，排除</a:t>
            </a:r>
            <a:r>
              <a:rPr lang="en-US" altLang="zh-CN" sz="1200" kern="1200" dirty="0">
                <a:solidFill>
                  <a:schemeClr val="tx1"/>
                </a:solidFill>
                <a:effectLst/>
                <a:latin typeface="+mn-lt"/>
                <a:ea typeface="+mn-ea"/>
              </a:rPr>
              <a:t> A.C </a:t>
            </a:r>
            <a:r>
              <a:rPr lang="zh-CN" altLang="en-US" sz="1200" kern="1200" dirty="0">
                <a:solidFill>
                  <a:schemeClr val="tx1"/>
                </a:solidFill>
                <a:effectLst/>
                <a:latin typeface="+mn-lt"/>
                <a:ea typeface="+mn-ea"/>
              </a:rPr>
              <a:t>两项。继续观察发现，灰色三角形有明显的位置移动，故考虑灰色三角形</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的位置规律。题干图形灰色三角形每次顺时针移动</a:t>
            </a:r>
            <a:r>
              <a:rPr lang="en-US" altLang="zh-CN" sz="1200" kern="1200" dirty="0">
                <a:solidFill>
                  <a:schemeClr val="tx1"/>
                </a:solidFill>
                <a:effectLst/>
                <a:latin typeface="+mn-lt"/>
                <a:ea typeface="+mn-ea"/>
              </a:rPr>
              <a:t> 2 </a:t>
            </a:r>
            <a:r>
              <a:rPr lang="zh-CN" altLang="en-US" sz="1200" kern="1200" dirty="0">
                <a:solidFill>
                  <a:schemeClr val="tx1"/>
                </a:solidFill>
                <a:effectLst/>
                <a:latin typeface="+mn-lt"/>
                <a:ea typeface="+mn-ea"/>
              </a:rPr>
              <a:t>格且在最前面增加一个灰色三角形，只有</a:t>
            </a:r>
            <a:r>
              <a:rPr lang="en-US" altLang="zh-CN" sz="1200" kern="1200" dirty="0">
                <a:solidFill>
                  <a:schemeClr val="tx1"/>
                </a:solidFill>
                <a:effectLst/>
                <a:latin typeface="+mn-lt"/>
                <a:ea typeface="+mn-ea"/>
              </a:rPr>
              <a:t> D </a:t>
            </a:r>
            <a:r>
              <a:rPr lang="zh-CN" altLang="en-US" sz="1200" kern="1200" dirty="0">
                <a:solidFill>
                  <a:schemeClr val="tx1"/>
                </a:solidFill>
                <a:effectLst/>
                <a:latin typeface="+mn-lt"/>
                <a:ea typeface="+mn-ea"/>
              </a:rPr>
              <a:t>项符合。</a:t>
            </a:r>
            <a:endParaRPr lang="zh-CN" altLang="en-US" sz="1200" kern="1200" dirty="0">
              <a:solidFill>
                <a:schemeClr val="tx1"/>
              </a:solidFill>
              <a:effectLst/>
              <a:latin typeface="+mn-lt"/>
              <a:ea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ea typeface="+mn-ea"/>
              </a:rPr>
              <a:t>思路一：图形组成不同，且无明显属性规律，优先考虑数量规律。题干图形中图</a:t>
            </a:r>
            <a:r>
              <a:rPr lang="en-US" altLang="zh-CN" sz="1200" kern="1200" dirty="0">
                <a:solidFill>
                  <a:schemeClr val="tx1"/>
                </a:solidFill>
                <a:effectLst/>
                <a:latin typeface="+mn-lt"/>
                <a:ea typeface="+mn-ea"/>
              </a:rPr>
              <a:t> 1 </a:t>
            </a:r>
            <a:r>
              <a:rPr lang="zh-CN" altLang="en-US" sz="1200" kern="1200" dirty="0">
                <a:solidFill>
                  <a:schemeClr val="tx1"/>
                </a:solidFill>
                <a:effectLst/>
                <a:latin typeface="+mn-lt"/>
                <a:ea typeface="+mn-ea"/>
              </a:rPr>
              <a:t>存在单一曲线，考虑曲线数。观察发现，题干每幅图形均只有</a:t>
            </a:r>
            <a:r>
              <a:rPr lang="en-US" altLang="zh-CN" sz="1200" kern="1200" dirty="0">
                <a:solidFill>
                  <a:schemeClr val="tx1"/>
                </a:solidFill>
                <a:effectLst/>
                <a:latin typeface="+mn-lt"/>
                <a:ea typeface="+mn-ea"/>
              </a:rPr>
              <a:t> 1 </a:t>
            </a:r>
            <a:r>
              <a:rPr lang="zh-CN" altLang="en-US" sz="1200" kern="1200" dirty="0">
                <a:solidFill>
                  <a:schemeClr val="tx1"/>
                </a:solidFill>
                <a:effectLst/>
                <a:latin typeface="+mn-lt"/>
                <a:ea typeface="+mn-ea"/>
              </a:rPr>
              <a:t>条曲线，故？处图形也应只有</a:t>
            </a:r>
            <a:r>
              <a:rPr lang="en-US" altLang="zh-CN" sz="1200" kern="1200" dirty="0">
                <a:solidFill>
                  <a:schemeClr val="tx1"/>
                </a:solidFill>
                <a:effectLst/>
                <a:latin typeface="+mn-lt"/>
                <a:ea typeface="+mn-ea"/>
              </a:rPr>
              <a:t> 1 </a:t>
            </a:r>
            <a:r>
              <a:rPr lang="zh-CN" altLang="en-US" sz="1200" kern="1200" dirty="0">
                <a:solidFill>
                  <a:schemeClr val="tx1"/>
                </a:solidFill>
                <a:effectLst/>
                <a:latin typeface="+mn-lt"/>
                <a:ea typeface="+mn-ea"/>
              </a:rPr>
              <a:t>条曲线，只有</a:t>
            </a:r>
            <a:r>
              <a:rPr lang="en-US" altLang="zh-CN" sz="1200" kern="1200" dirty="0">
                <a:solidFill>
                  <a:schemeClr val="tx1"/>
                </a:solidFill>
                <a:effectLst/>
                <a:latin typeface="+mn-lt"/>
                <a:ea typeface="+mn-ea"/>
              </a:rPr>
              <a:t> A </a:t>
            </a:r>
            <a:r>
              <a:rPr lang="zh-CN" altLang="en-US" sz="1200" kern="1200" dirty="0">
                <a:solidFill>
                  <a:schemeClr val="tx1"/>
                </a:solidFill>
                <a:effectLst/>
                <a:latin typeface="+mn-lt"/>
                <a:ea typeface="+mn-ea"/>
              </a:rPr>
              <a:t>项符合。</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思路二：图形组成不同，且无明显属性规律，优先考虑数量规律。题干图形均由多个字母元素组成，考虑元素的种类或个数。观察发现，题干每幅图形均由</a:t>
            </a:r>
            <a:r>
              <a:rPr lang="en-US" altLang="zh-CN" sz="1200" kern="1200" dirty="0">
                <a:solidFill>
                  <a:schemeClr val="tx1"/>
                </a:solidFill>
                <a:effectLst/>
                <a:latin typeface="+mn-lt"/>
                <a:ea typeface="+mn-ea"/>
              </a:rPr>
              <a:t> 4 </a:t>
            </a:r>
            <a:r>
              <a:rPr lang="zh-CN" altLang="en-US" sz="1200" kern="1200" dirty="0">
                <a:solidFill>
                  <a:schemeClr val="tx1"/>
                </a:solidFill>
                <a:effectLst/>
                <a:latin typeface="+mn-lt"/>
                <a:ea typeface="+mn-ea"/>
              </a:rPr>
              <a:t>种元素组成，故？处图形也应由</a:t>
            </a:r>
            <a:r>
              <a:rPr lang="en-US" altLang="zh-CN" sz="1200" kern="1200" dirty="0">
                <a:solidFill>
                  <a:schemeClr val="tx1"/>
                </a:solidFill>
                <a:effectLst/>
                <a:latin typeface="+mn-lt"/>
                <a:ea typeface="+mn-ea"/>
              </a:rPr>
              <a:t> 4 </a:t>
            </a:r>
            <a:r>
              <a:rPr lang="zh-CN" altLang="en-US" sz="1200" kern="1200" dirty="0">
                <a:solidFill>
                  <a:schemeClr val="tx1"/>
                </a:solidFill>
                <a:effectLst/>
                <a:latin typeface="+mn-lt"/>
                <a:ea typeface="+mn-ea"/>
              </a:rPr>
              <a:t>种元素组成，只有</a:t>
            </a:r>
            <a:r>
              <a:rPr lang="en-US" altLang="zh-CN" sz="1200" kern="1200" dirty="0">
                <a:solidFill>
                  <a:schemeClr val="tx1"/>
                </a:solidFill>
                <a:effectLst/>
                <a:latin typeface="+mn-lt"/>
                <a:ea typeface="+mn-ea"/>
              </a:rPr>
              <a:t> A </a:t>
            </a:r>
            <a:r>
              <a:rPr lang="zh-CN" altLang="en-US" sz="1200" kern="1200" dirty="0">
                <a:solidFill>
                  <a:schemeClr val="tx1"/>
                </a:solidFill>
                <a:effectLst/>
                <a:latin typeface="+mn-lt"/>
                <a:ea typeface="+mn-ea"/>
              </a:rPr>
              <a:t>项符合。</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故正确答案为</a:t>
            </a:r>
            <a:r>
              <a:rPr lang="en-US" altLang="zh-CN" sz="1200" kern="1200" dirty="0">
                <a:solidFill>
                  <a:schemeClr val="tx1"/>
                </a:solidFill>
                <a:effectLst/>
                <a:latin typeface="+mn-lt"/>
                <a:ea typeface="+mn-ea"/>
              </a:rPr>
              <a:t> A</a:t>
            </a:r>
            <a:r>
              <a:rPr lang="zh-CN" altLang="en-US" sz="1200" kern="1200" dirty="0">
                <a:solidFill>
                  <a:schemeClr val="tx1"/>
                </a:solidFill>
                <a:effectLst/>
                <a:latin typeface="+mn-lt"/>
                <a:ea typeface="+mn-ea"/>
              </a:rPr>
              <a:t>。</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注：本题考点有争议，因为字母近几年结合曲直考查较多，且刚好唯一的曲线都是在最后一个字母，故粉笔更倾向于思路一。争议题主要学习解题思维即可，考场上根据图形特征优先想到哪个规律选哪个，无需纠结。</a:t>
            </a:r>
            <a:endParaRPr lang="zh-CN" altLang="en-US" sz="1200" kern="1200" dirty="0">
              <a:solidFill>
                <a:schemeClr val="tx1"/>
              </a:solidFill>
              <a:effectLst/>
              <a:latin typeface="+mn-lt"/>
              <a:ea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ea typeface="+mn-ea"/>
              </a:rPr>
              <a:t>将选项展开图标上序号，如下图所示（各选项都存在相同面，相同的面用相同字母表示），选项存在相同面，可以通过相同面公共边解题，逐一进行分析。</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A </a:t>
            </a:r>
            <a:r>
              <a:rPr lang="zh-CN" altLang="en-US" sz="1200" kern="1200" dirty="0">
                <a:solidFill>
                  <a:schemeClr val="tx1"/>
                </a:solidFill>
                <a:effectLst/>
                <a:latin typeface="+mn-lt"/>
                <a:ea typeface="+mn-ea"/>
              </a:rPr>
              <a:t>项：面</a:t>
            </a:r>
            <a:r>
              <a:rPr lang="en-US" altLang="zh-CN" sz="1200" kern="1200" dirty="0">
                <a:solidFill>
                  <a:schemeClr val="tx1"/>
                </a:solidFill>
                <a:effectLst/>
                <a:latin typeface="+mn-lt"/>
                <a:ea typeface="+mn-ea"/>
              </a:rPr>
              <a:t> A.</a:t>
            </a:r>
            <a:r>
              <a:rPr lang="zh-CN" altLang="en-US" sz="1200" kern="1200" dirty="0">
                <a:solidFill>
                  <a:schemeClr val="tx1"/>
                </a:solidFill>
                <a:effectLst/>
                <a:latin typeface="+mn-lt"/>
                <a:ea typeface="+mn-ea"/>
              </a:rPr>
              <a:t>面</a:t>
            </a:r>
            <a:r>
              <a:rPr lang="en-US" altLang="zh-CN" sz="1200" kern="1200" dirty="0">
                <a:solidFill>
                  <a:schemeClr val="tx1"/>
                </a:solidFill>
                <a:effectLst/>
                <a:latin typeface="+mn-lt"/>
                <a:ea typeface="+mn-ea"/>
              </a:rPr>
              <a:t> b </a:t>
            </a:r>
            <a:r>
              <a:rPr lang="zh-CN" altLang="en-US" sz="1200" kern="1200" dirty="0">
                <a:solidFill>
                  <a:schemeClr val="tx1"/>
                </a:solidFill>
                <a:effectLst/>
                <a:latin typeface="+mn-lt"/>
                <a:ea typeface="+mn-ea"/>
              </a:rPr>
              <a:t>是相邻面，存在公共边（如上图所示），公共边紧邻面</a:t>
            </a:r>
            <a:r>
              <a:rPr lang="en-US" altLang="zh-CN" sz="1200" kern="1200" dirty="0">
                <a:solidFill>
                  <a:schemeClr val="tx1"/>
                </a:solidFill>
                <a:effectLst/>
                <a:latin typeface="+mn-lt"/>
                <a:ea typeface="+mn-ea"/>
              </a:rPr>
              <a:t> a </a:t>
            </a:r>
            <a:r>
              <a:rPr lang="zh-CN" altLang="en-US" sz="1200" kern="1200" dirty="0">
                <a:solidFill>
                  <a:schemeClr val="tx1"/>
                </a:solidFill>
                <a:effectLst/>
                <a:latin typeface="+mn-lt"/>
                <a:ea typeface="+mn-ea"/>
              </a:rPr>
              <a:t>白色多边形长边、面</a:t>
            </a:r>
            <a:r>
              <a:rPr lang="en-US" altLang="zh-CN" sz="1200" kern="1200" dirty="0">
                <a:solidFill>
                  <a:schemeClr val="tx1"/>
                </a:solidFill>
                <a:effectLst/>
                <a:latin typeface="+mn-lt"/>
                <a:ea typeface="+mn-ea"/>
              </a:rPr>
              <a:t> b </a:t>
            </a:r>
            <a:r>
              <a:rPr lang="zh-CN" altLang="en-US" sz="1200" kern="1200" dirty="0">
                <a:solidFill>
                  <a:schemeClr val="tx1"/>
                </a:solidFill>
                <a:effectLst/>
                <a:latin typeface="+mn-lt"/>
                <a:ea typeface="+mn-ea"/>
              </a:rPr>
              <a:t>黑色直角梯形上底边；</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B </a:t>
            </a:r>
            <a:r>
              <a:rPr lang="zh-CN" altLang="en-US" sz="1200" kern="1200" dirty="0">
                <a:solidFill>
                  <a:schemeClr val="tx1"/>
                </a:solidFill>
                <a:effectLst/>
                <a:latin typeface="+mn-lt"/>
                <a:ea typeface="+mn-ea"/>
              </a:rPr>
              <a:t>项：面</a:t>
            </a:r>
            <a:r>
              <a:rPr lang="en-US" altLang="zh-CN" sz="1200" kern="1200" dirty="0">
                <a:solidFill>
                  <a:schemeClr val="tx1"/>
                </a:solidFill>
                <a:effectLst/>
                <a:latin typeface="+mn-lt"/>
                <a:ea typeface="+mn-ea"/>
              </a:rPr>
              <a:t> A.</a:t>
            </a:r>
            <a:r>
              <a:rPr lang="zh-CN" altLang="en-US" sz="1200" kern="1200" dirty="0">
                <a:solidFill>
                  <a:schemeClr val="tx1"/>
                </a:solidFill>
                <a:effectLst/>
                <a:latin typeface="+mn-lt"/>
                <a:ea typeface="+mn-ea"/>
              </a:rPr>
              <a:t>面</a:t>
            </a:r>
            <a:r>
              <a:rPr lang="en-US" altLang="zh-CN" sz="1200" kern="1200" dirty="0">
                <a:solidFill>
                  <a:schemeClr val="tx1"/>
                </a:solidFill>
                <a:effectLst/>
                <a:latin typeface="+mn-lt"/>
                <a:ea typeface="+mn-ea"/>
              </a:rPr>
              <a:t> b </a:t>
            </a:r>
            <a:r>
              <a:rPr lang="zh-CN" altLang="en-US" sz="1200" kern="1200" dirty="0">
                <a:solidFill>
                  <a:schemeClr val="tx1"/>
                </a:solidFill>
                <a:effectLst/>
                <a:latin typeface="+mn-lt"/>
                <a:ea typeface="+mn-ea"/>
              </a:rPr>
              <a:t>是相邻面，存在公共边（如上图所示），公共边紧邻面</a:t>
            </a:r>
            <a:r>
              <a:rPr lang="en-US" altLang="zh-CN" sz="1200" kern="1200" dirty="0">
                <a:solidFill>
                  <a:schemeClr val="tx1"/>
                </a:solidFill>
                <a:effectLst/>
                <a:latin typeface="+mn-lt"/>
                <a:ea typeface="+mn-ea"/>
              </a:rPr>
              <a:t> a </a:t>
            </a:r>
            <a:r>
              <a:rPr lang="zh-CN" altLang="en-US" sz="1200" kern="1200" dirty="0">
                <a:solidFill>
                  <a:schemeClr val="tx1"/>
                </a:solidFill>
                <a:effectLst/>
                <a:latin typeface="+mn-lt"/>
                <a:ea typeface="+mn-ea"/>
              </a:rPr>
              <a:t>白色多边形长边、面</a:t>
            </a:r>
            <a:r>
              <a:rPr lang="en-US" altLang="zh-CN" sz="1200" kern="1200" dirty="0">
                <a:solidFill>
                  <a:schemeClr val="tx1"/>
                </a:solidFill>
                <a:effectLst/>
                <a:latin typeface="+mn-lt"/>
                <a:ea typeface="+mn-ea"/>
              </a:rPr>
              <a:t> b </a:t>
            </a:r>
            <a:r>
              <a:rPr lang="zh-CN" altLang="en-US" sz="1200" kern="1200" dirty="0">
                <a:solidFill>
                  <a:schemeClr val="tx1"/>
                </a:solidFill>
                <a:effectLst/>
                <a:latin typeface="+mn-lt"/>
                <a:ea typeface="+mn-ea"/>
              </a:rPr>
              <a:t>白色矩形长边；</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C </a:t>
            </a:r>
            <a:r>
              <a:rPr lang="zh-CN" altLang="en-US" sz="1200" kern="1200" dirty="0">
                <a:solidFill>
                  <a:schemeClr val="tx1"/>
                </a:solidFill>
                <a:effectLst/>
                <a:latin typeface="+mn-lt"/>
                <a:ea typeface="+mn-ea"/>
              </a:rPr>
              <a:t>项：面</a:t>
            </a:r>
            <a:r>
              <a:rPr lang="en-US" altLang="zh-CN" sz="1200" kern="1200" dirty="0">
                <a:solidFill>
                  <a:schemeClr val="tx1"/>
                </a:solidFill>
                <a:effectLst/>
                <a:latin typeface="+mn-lt"/>
                <a:ea typeface="+mn-ea"/>
              </a:rPr>
              <a:t> A.</a:t>
            </a:r>
            <a:r>
              <a:rPr lang="zh-CN" altLang="en-US" sz="1200" kern="1200" dirty="0">
                <a:solidFill>
                  <a:schemeClr val="tx1"/>
                </a:solidFill>
                <a:effectLst/>
                <a:latin typeface="+mn-lt"/>
                <a:ea typeface="+mn-ea"/>
              </a:rPr>
              <a:t>面</a:t>
            </a:r>
            <a:r>
              <a:rPr lang="en-US" altLang="zh-CN" sz="1200" kern="1200" dirty="0">
                <a:solidFill>
                  <a:schemeClr val="tx1"/>
                </a:solidFill>
                <a:effectLst/>
                <a:latin typeface="+mn-lt"/>
                <a:ea typeface="+mn-ea"/>
              </a:rPr>
              <a:t> b </a:t>
            </a:r>
            <a:r>
              <a:rPr lang="zh-CN" altLang="en-US" sz="1200" kern="1200" dirty="0">
                <a:solidFill>
                  <a:schemeClr val="tx1"/>
                </a:solidFill>
                <a:effectLst/>
                <a:latin typeface="+mn-lt"/>
                <a:ea typeface="+mn-ea"/>
              </a:rPr>
              <a:t>存在公共边（如上图所示），公共边紧邻面</a:t>
            </a:r>
            <a:r>
              <a:rPr lang="en-US" altLang="zh-CN" sz="1200" kern="1200" dirty="0">
                <a:solidFill>
                  <a:schemeClr val="tx1"/>
                </a:solidFill>
                <a:effectLst/>
                <a:latin typeface="+mn-lt"/>
                <a:ea typeface="+mn-ea"/>
              </a:rPr>
              <a:t> a </a:t>
            </a:r>
            <a:r>
              <a:rPr lang="zh-CN" altLang="en-US" sz="1200" kern="1200" dirty="0">
                <a:solidFill>
                  <a:schemeClr val="tx1"/>
                </a:solidFill>
                <a:effectLst/>
                <a:latin typeface="+mn-lt"/>
                <a:ea typeface="+mn-ea"/>
              </a:rPr>
              <a:t>白色多边形长边、面</a:t>
            </a:r>
            <a:r>
              <a:rPr lang="en-US" altLang="zh-CN" sz="1200" kern="1200" dirty="0">
                <a:solidFill>
                  <a:schemeClr val="tx1"/>
                </a:solidFill>
                <a:effectLst/>
                <a:latin typeface="+mn-lt"/>
                <a:ea typeface="+mn-ea"/>
              </a:rPr>
              <a:t> b </a:t>
            </a:r>
            <a:r>
              <a:rPr lang="zh-CN" altLang="en-US" sz="1200" kern="1200" dirty="0">
                <a:solidFill>
                  <a:schemeClr val="tx1"/>
                </a:solidFill>
                <a:effectLst/>
                <a:latin typeface="+mn-lt"/>
                <a:ea typeface="+mn-ea"/>
              </a:rPr>
              <a:t>黑色直角梯形上底边；</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D </a:t>
            </a:r>
            <a:r>
              <a:rPr lang="zh-CN" altLang="en-US" sz="1200" kern="1200" dirty="0">
                <a:solidFill>
                  <a:schemeClr val="tx1"/>
                </a:solidFill>
                <a:effectLst/>
                <a:latin typeface="+mn-lt"/>
                <a:ea typeface="+mn-ea"/>
              </a:rPr>
              <a:t>项：面</a:t>
            </a:r>
            <a:r>
              <a:rPr lang="en-US" altLang="zh-CN" sz="1200" kern="1200" dirty="0">
                <a:solidFill>
                  <a:schemeClr val="tx1"/>
                </a:solidFill>
                <a:effectLst/>
                <a:latin typeface="+mn-lt"/>
                <a:ea typeface="+mn-ea"/>
              </a:rPr>
              <a:t> A.</a:t>
            </a:r>
            <a:r>
              <a:rPr lang="zh-CN" altLang="en-US" sz="1200" kern="1200" dirty="0">
                <a:solidFill>
                  <a:schemeClr val="tx1"/>
                </a:solidFill>
                <a:effectLst/>
                <a:latin typeface="+mn-lt"/>
                <a:ea typeface="+mn-ea"/>
              </a:rPr>
              <a:t>面</a:t>
            </a:r>
            <a:r>
              <a:rPr lang="en-US" altLang="zh-CN" sz="1200" kern="1200" dirty="0">
                <a:solidFill>
                  <a:schemeClr val="tx1"/>
                </a:solidFill>
                <a:effectLst/>
                <a:latin typeface="+mn-lt"/>
                <a:ea typeface="+mn-ea"/>
              </a:rPr>
              <a:t> b </a:t>
            </a:r>
            <a:r>
              <a:rPr lang="zh-CN" altLang="en-US" sz="1200" kern="1200" dirty="0">
                <a:solidFill>
                  <a:schemeClr val="tx1"/>
                </a:solidFill>
                <a:effectLst/>
                <a:latin typeface="+mn-lt"/>
                <a:ea typeface="+mn-ea"/>
              </a:rPr>
              <a:t>存在公共边（如上图所示），公共边紧邻面</a:t>
            </a:r>
            <a:r>
              <a:rPr lang="en-US" altLang="zh-CN" sz="1200" kern="1200" dirty="0">
                <a:solidFill>
                  <a:schemeClr val="tx1"/>
                </a:solidFill>
                <a:effectLst/>
                <a:latin typeface="+mn-lt"/>
                <a:ea typeface="+mn-ea"/>
              </a:rPr>
              <a:t> a </a:t>
            </a:r>
            <a:r>
              <a:rPr lang="zh-CN" altLang="en-US" sz="1200" kern="1200" dirty="0">
                <a:solidFill>
                  <a:schemeClr val="tx1"/>
                </a:solidFill>
                <a:effectLst/>
                <a:latin typeface="+mn-lt"/>
                <a:ea typeface="+mn-ea"/>
              </a:rPr>
              <a:t>白色多边形长边、面</a:t>
            </a:r>
            <a:r>
              <a:rPr lang="en-US" altLang="zh-CN" sz="1200" kern="1200" dirty="0">
                <a:solidFill>
                  <a:schemeClr val="tx1"/>
                </a:solidFill>
                <a:effectLst/>
                <a:latin typeface="+mn-lt"/>
                <a:ea typeface="+mn-ea"/>
              </a:rPr>
              <a:t> b </a:t>
            </a:r>
            <a:r>
              <a:rPr lang="zh-CN" altLang="en-US" sz="1200" kern="1200" dirty="0">
                <a:solidFill>
                  <a:schemeClr val="tx1"/>
                </a:solidFill>
                <a:effectLst/>
                <a:latin typeface="+mn-lt"/>
                <a:ea typeface="+mn-ea"/>
              </a:rPr>
              <a:t>黑色直角梯形上底边。</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综上，只有</a:t>
            </a:r>
            <a:r>
              <a:rPr lang="en-US" altLang="zh-CN" sz="1200" kern="1200" dirty="0">
                <a:solidFill>
                  <a:schemeClr val="tx1"/>
                </a:solidFill>
                <a:effectLst/>
                <a:latin typeface="+mn-lt"/>
                <a:ea typeface="+mn-ea"/>
              </a:rPr>
              <a:t> B </a:t>
            </a:r>
            <a:r>
              <a:rPr lang="zh-CN" altLang="en-US" sz="1200" kern="1200" dirty="0">
                <a:solidFill>
                  <a:schemeClr val="tx1"/>
                </a:solidFill>
                <a:effectLst/>
                <a:latin typeface="+mn-lt"/>
                <a:ea typeface="+mn-ea"/>
              </a:rPr>
              <a:t>项与其他三项不同。</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本题为选非题，故正确答案为</a:t>
            </a:r>
            <a:r>
              <a:rPr lang="en-US" altLang="zh-CN" sz="1200" kern="1200" dirty="0">
                <a:solidFill>
                  <a:schemeClr val="tx1"/>
                </a:solidFill>
                <a:effectLst/>
                <a:latin typeface="+mn-lt"/>
                <a:ea typeface="+mn-ea"/>
              </a:rPr>
              <a:t> B</a:t>
            </a:r>
            <a:r>
              <a:rPr lang="zh-CN" altLang="en-US" sz="1200" kern="1200" dirty="0">
                <a:solidFill>
                  <a:schemeClr val="tx1"/>
                </a:solidFill>
                <a:effectLst/>
                <a:latin typeface="+mn-lt"/>
                <a:ea typeface="+mn-ea"/>
              </a:rPr>
              <a:t>。</a:t>
            </a:r>
            <a:endParaRPr lang="zh-CN" altLang="en-US" sz="1200" kern="1200" dirty="0">
              <a:solidFill>
                <a:schemeClr val="tx1"/>
              </a:solidFill>
              <a:effectLst/>
              <a:latin typeface="+mn-lt"/>
              <a:ea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档案馆（室）</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对档案进行收集、整理、保管、鉴定、统计并提供利用的各种业务工作</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A </a:t>
            </a:r>
            <a:r>
              <a:rPr lang="zh-CN" altLang="en-US" sz="1200" kern="1200" dirty="0">
                <a:solidFill>
                  <a:schemeClr val="tx1"/>
                </a:solidFill>
                <a:effectLst/>
                <a:latin typeface="+mn-lt"/>
                <a:ea typeface="+mn-ea"/>
              </a:rPr>
              <a:t>项：甲档案馆向社会开放各类档案查询，是对档案提供利用，符合</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档案馆（室）</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对档案进行收集、整理、保管、鉴定、统计并提供利用的各种业务工作</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，符合定义，当选；</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B </a:t>
            </a:r>
            <a:r>
              <a:rPr lang="zh-CN" altLang="en-US" sz="1200" kern="1200" dirty="0">
                <a:solidFill>
                  <a:schemeClr val="tx1"/>
                </a:solidFill>
                <a:effectLst/>
                <a:latin typeface="+mn-lt"/>
                <a:ea typeface="+mn-ea"/>
              </a:rPr>
              <a:t>项：知识网站不是档案馆（室），不符合</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档案馆（室）</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，不符合定义，排除；</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C </a:t>
            </a:r>
            <a:r>
              <a:rPr lang="zh-CN" altLang="en-US" sz="1200" kern="1200" dirty="0">
                <a:solidFill>
                  <a:schemeClr val="tx1"/>
                </a:solidFill>
                <a:effectLst/>
                <a:latin typeface="+mn-lt"/>
                <a:ea typeface="+mn-ea"/>
              </a:rPr>
              <a:t>项：资料库不是档案馆（室），不符合</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档案馆（室）</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，不符合定义，排除；</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D </a:t>
            </a:r>
            <a:r>
              <a:rPr lang="zh-CN" altLang="en-US" sz="1200" kern="1200" dirty="0">
                <a:solidFill>
                  <a:schemeClr val="tx1"/>
                </a:solidFill>
                <a:effectLst/>
                <a:latin typeface="+mn-lt"/>
                <a:ea typeface="+mn-ea"/>
              </a:rPr>
              <a:t>项：建立档案工作责任制和依法健全档案管理制度，是对工作方法和制度的改进，不符合</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对档案进行收集、整理、保管、鉴定、统计并提供利用的各种业务工作</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，不符合定义，排除。</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故正确答案为</a:t>
            </a:r>
            <a:r>
              <a:rPr lang="en-US" altLang="zh-CN" sz="1200" kern="1200" dirty="0">
                <a:solidFill>
                  <a:schemeClr val="tx1"/>
                </a:solidFill>
                <a:effectLst/>
                <a:latin typeface="+mn-lt"/>
                <a:ea typeface="+mn-ea"/>
              </a:rPr>
              <a:t> A</a:t>
            </a:r>
            <a:r>
              <a:rPr lang="zh-CN" altLang="en-US" sz="1200" kern="1200" dirty="0">
                <a:solidFill>
                  <a:schemeClr val="tx1"/>
                </a:solidFill>
                <a:effectLst/>
                <a:latin typeface="+mn-lt"/>
                <a:ea typeface="+mn-ea"/>
              </a:rPr>
              <a:t>。</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A </a:t>
            </a:r>
            <a:r>
              <a:rPr lang="zh-CN" altLang="en-US" sz="1200" kern="1200" dirty="0">
                <a:solidFill>
                  <a:schemeClr val="tx1"/>
                </a:solidFill>
                <a:effectLst/>
                <a:latin typeface="+mn-lt"/>
                <a:ea typeface="+mn-ea"/>
              </a:rPr>
              <a:t>选项：主体是甲档案馆，行为是向社会开放档案查询，属于</a:t>
            </a:r>
            <a:r>
              <a:rPr lang="en-US" altLang="zh-CN" sz="1200" kern="1200" dirty="0">
                <a:solidFill>
                  <a:schemeClr val="tx1"/>
                </a:solidFill>
                <a:effectLst/>
                <a:latin typeface="+mn-lt"/>
                <a:ea typeface="+mn-ea"/>
              </a:rPr>
              <a:t> “</a:t>
            </a:r>
            <a:r>
              <a:rPr lang="zh-CN" altLang="en-US" sz="1200" kern="1200" dirty="0">
                <a:solidFill>
                  <a:schemeClr val="tx1"/>
                </a:solidFill>
                <a:effectLst/>
                <a:latin typeface="+mn-lt"/>
                <a:ea typeface="+mn-ea"/>
              </a:rPr>
              <a:t>提供利用</a:t>
            </a:r>
            <a:r>
              <a:rPr lang="en-US" altLang="zh-CN" sz="1200" kern="1200" dirty="0">
                <a:solidFill>
                  <a:schemeClr val="tx1"/>
                </a:solidFill>
                <a:effectLst/>
                <a:latin typeface="+mn-lt"/>
                <a:ea typeface="+mn-ea"/>
              </a:rPr>
              <a:t>” </a:t>
            </a:r>
            <a:r>
              <a:rPr lang="zh-CN" altLang="en-US" sz="1200" kern="1200" dirty="0">
                <a:solidFill>
                  <a:schemeClr val="tx1"/>
                </a:solidFill>
                <a:effectLst/>
                <a:latin typeface="+mn-lt"/>
                <a:ea typeface="+mn-ea"/>
              </a:rPr>
              <a:t>的核心业务，完全符合档案管理的定义。</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B </a:t>
            </a:r>
            <a:r>
              <a:rPr lang="zh-CN" altLang="en-US" sz="1200" kern="1200" dirty="0">
                <a:solidFill>
                  <a:schemeClr val="tx1"/>
                </a:solidFill>
                <a:effectLst/>
                <a:latin typeface="+mn-lt"/>
                <a:ea typeface="+mn-ea"/>
              </a:rPr>
              <a:t>选项：主体是知识网站，并非档案馆（室），不符合定义的主体要求，排除。</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C </a:t>
            </a:r>
            <a:r>
              <a:rPr lang="zh-CN" altLang="en-US" sz="1200" kern="1200" dirty="0">
                <a:solidFill>
                  <a:schemeClr val="tx1"/>
                </a:solidFill>
                <a:effectLst/>
                <a:latin typeface="+mn-lt"/>
                <a:ea typeface="+mn-ea"/>
              </a:rPr>
              <a:t>选项：主体是资料库，且仅体现</a:t>
            </a:r>
            <a:r>
              <a:rPr lang="en-US" altLang="zh-CN" sz="1200" kern="1200" dirty="0">
                <a:solidFill>
                  <a:schemeClr val="tx1"/>
                </a:solidFill>
                <a:effectLst/>
                <a:latin typeface="+mn-lt"/>
                <a:ea typeface="+mn-ea"/>
              </a:rPr>
              <a:t> “</a:t>
            </a:r>
            <a:r>
              <a:rPr lang="zh-CN" altLang="en-US" sz="1200" kern="1200" dirty="0">
                <a:solidFill>
                  <a:schemeClr val="tx1"/>
                </a:solidFill>
                <a:effectLst/>
                <a:latin typeface="+mn-lt"/>
                <a:ea typeface="+mn-ea"/>
              </a:rPr>
              <a:t>收录资料</a:t>
            </a:r>
            <a:r>
              <a:rPr lang="en-US" altLang="zh-CN" sz="1200" kern="1200" dirty="0">
                <a:solidFill>
                  <a:schemeClr val="tx1"/>
                </a:solidFill>
                <a:effectLst/>
                <a:latin typeface="+mn-lt"/>
                <a:ea typeface="+mn-ea"/>
              </a:rPr>
              <a:t>” </a:t>
            </a:r>
            <a:r>
              <a:rPr lang="zh-CN" altLang="en-US" sz="1200" kern="1200" dirty="0">
                <a:solidFill>
                  <a:schemeClr val="tx1"/>
                </a:solidFill>
                <a:effectLst/>
                <a:latin typeface="+mn-lt"/>
                <a:ea typeface="+mn-ea"/>
              </a:rPr>
              <a:t>这一单一行为，未涉及档案管理的完整业务流程，排除。</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D </a:t>
            </a:r>
            <a:r>
              <a:rPr lang="zh-CN" altLang="en-US" sz="1200" kern="1200" dirty="0">
                <a:solidFill>
                  <a:schemeClr val="tx1"/>
                </a:solidFill>
                <a:effectLst/>
                <a:latin typeface="+mn-lt"/>
                <a:ea typeface="+mn-ea"/>
              </a:rPr>
              <a:t>选项：主体是丁单位档案室，行为是</a:t>
            </a:r>
            <a:r>
              <a:rPr lang="en-US" altLang="zh-CN" sz="1200" kern="1200" dirty="0">
                <a:solidFill>
                  <a:schemeClr val="tx1"/>
                </a:solidFill>
                <a:effectLst/>
                <a:latin typeface="+mn-lt"/>
                <a:ea typeface="+mn-ea"/>
              </a:rPr>
              <a:t> “</a:t>
            </a:r>
            <a:r>
              <a:rPr lang="zh-CN" altLang="en-US" sz="1200" kern="1200" dirty="0">
                <a:solidFill>
                  <a:schemeClr val="tx1"/>
                </a:solidFill>
                <a:effectLst/>
                <a:latin typeface="+mn-lt"/>
                <a:ea typeface="+mn-ea"/>
              </a:rPr>
              <a:t>建立责任制、健全制度</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，这是档案管理的保障措施，而非定义中规定的</a:t>
            </a:r>
            <a:r>
              <a:rPr lang="en-US" altLang="zh-CN" sz="1200" kern="1200" dirty="0">
                <a:solidFill>
                  <a:schemeClr val="tx1"/>
                </a:solidFill>
                <a:effectLst/>
                <a:latin typeface="+mn-lt"/>
                <a:ea typeface="+mn-ea"/>
              </a:rPr>
              <a:t> “</a:t>
            </a:r>
            <a:r>
              <a:rPr lang="zh-CN" altLang="en-US" sz="1200" kern="1200" dirty="0">
                <a:solidFill>
                  <a:schemeClr val="tx1"/>
                </a:solidFill>
                <a:effectLst/>
                <a:latin typeface="+mn-lt"/>
                <a:ea typeface="+mn-ea"/>
              </a:rPr>
              <a:t>收集、整理、提供利用</a:t>
            </a:r>
            <a:r>
              <a:rPr lang="en-US" altLang="zh-CN" sz="1200" kern="1200" dirty="0">
                <a:solidFill>
                  <a:schemeClr val="tx1"/>
                </a:solidFill>
                <a:effectLst/>
                <a:latin typeface="+mn-lt"/>
                <a:ea typeface="+mn-ea"/>
              </a:rPr>
              <a:t>” </a:t>
            </a:r>
            <a:r>
              <a:rPr lang="zh-CN" altLang="en-US" sz="1200" kern="1200" dirty="0">
                <a:solidFill>
                  <a:schemeClr val="tx1"/>
                </a:solidFill>
                <a:effectLst/>
                <a:latin typeface="+mn-lt"/>
                <a:ea typeface="+mn-ea"/>
              </a:rPr>
              <a:t>等具体业务工作，排除。</a:t>
            </a:r>
            <a:endParaRPr lang="zh-CN" altLang="en-US" sz="1200" kern="1200" dirty="0">
              <a:solidFill>
                <a:schemeClr val="tx1"/>
              </a:solidFill>
              <a:effectLst/>
              <a:latin typeface="+mn-lt"/>
              <a:ea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人类以采摘自然界现存植物为生的经济</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A </a:t>
            </a:r>
            <a:r>
              <a:rPr lang="zh-CN" altLang="en-US" sz="1200" kern="1200" dirty="0">
                <a:solidFill>
                  <a:schemeClr val="tx1"/>
                </a:solidFill>
                <a:effectLst/>
                <a:latin typeface="+mn-lt"/>
                <a:ea typeface="+mn-ea"/>
              </a:rPr>
              <a:t>项：园林部门修剪整理维护主干道两旁的树木，而非采摘，树木垃圾只是修剪的产物，不符合</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人类以采摘自然界现存植物为生的经济</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，不符合定义，当选；</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B </a:t>
            </a:r>
            <a:r>
              <a:rPr lang="zh-CN" altLang="en-US" sz="1200" kern="1200" dirty="0">
                <a:solidFill>
                  <a:schemeClr val="tx1"/>
                </a:solidFill>
                <a:effectLst/>
                <a:latin typeface="+mn-lt"/>
                <a:ea typeface="+mn-ea"/>
              </a:rPr>
              <a:t>项：小李采摘、销售西瓜来获利，符合</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人类以采摘自然界现存植物为生的经济</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，符合定义，排除；</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C </a:t>
            </a:r>
            <a:r>
              <a:rPr lang="zh-CN" altLang="en-US" sz="1200" kern="1200" dirty="0">
                <a:solidFill>
                  <a:schemeClr val="tx1"/>
                </a:solidFill>
                <a:effectLst/>
                <a:latin typeface="+mn-lt"/>
                <a:ea typeface="+mn-ea"/>
              </a:rPr>
              <a:t>项：农户采摘山林里的可食用菌来食用或销售获利，符合</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人类以采摘自然界现存植物为生的经济</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，符合定义，排除；</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D </a:t>
            </a:r>
            <a:r>
              <a:rPr lang="zh-CN" altLang="en-US" sz="1200" kern="1200" dirty="0">
                <a:solidFill>
                  <a:schemeClr val="tx1"/>
                </a:solidFill>
                <a:effectLst/>
                <a:latin typeface="+mn-lt"/>
                <a:ea typeface="+mn-ea"/>
              </a:rPr>
              <a:t>项：采茶姑娘们采摘茶园里的春茶来销售获利，符合</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人类以采摘自然界现存植物为生的经济</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，符合定义，排除。</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本题为选非题，故正确答案为</a:t>
            </a:r>
            <a:r>
              <a:rPr lang="en-US" altLang="zh-CN" sz="1200" kern="1200" dirty="0">
                <a:solidFill>
                  <a:schemeClr val="tx1"/>
                </a:solidFill>
                <a:effectLst/>
                <a:latin typeface="+mn-lt"/>
                <a:ea typeface="+mn-ea"/>
              </a:rPr>
              <a:t> A</a:t>
            </a:r>
            <a:r>
              <a:rPr lang="zh-CN" altLang="en-US" sz="1200" kern="1200" dirty="0">
                <a:solidFill>
                  <a:schemeClr val="tx1"/>
                </a:solidFill>
                <a:effectLst/>
                <a:latin typeface="+mn-lt"/>
                <a:ea typeface="+mn-ea"/>
              </a:rPr>
              <a:t>。</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注：本题</a:t>
            </a:r>
            <a:r>
              <a:rPr lang="en-US" altLang="zh-CN" sz="1200" kern="1200" dirty="0">
                <a:solidFill>
                  <a:schemeClr val="tx1"/>
                </a:solidFill>
                <a:effectLst/>
                <a:latin typeface="+mn-lt"/>
                <a:ea typeface="+mn-ea"/>
              </a:rPr>
              <a:t> C </a:t>
            </a:r>
            <a:r>
              <a:rPr lang="zh-CN" altLang="en-US" sz="1200" kern="1200" dirty="0">
                <a:solidFill>
                  <a:schemeClr val="tx1"/>
                </a:solidFill>
                <a:effectLst/>
                <a:latin typeface="+mn-lt"/>
                <a:ea typeface="+mn-ea"/>
              </a:rPr>
              <a:t>项中的可食用菌，严格来讲应该属于菌类，不是植物。但</a:t>
            </a:r>
            <a:r>
              <a:rPr lang="en-US" altLang="zh-CN" sz="1200" kern="1200" dirty="0">
                <a:solidFill>
                  <a:schemeClr val="tx1"/>
                </a:solidFill>
                <a:effectLst/>
                <a:latin typeface="+mn-lt"/>
                <a:ea typeface="+mn-ea"/>
              </a:rPr>
              <a:t> A </a:t>
            </a:r>
            <a:r>
              <a:rPr lang="zh-CN" altLang="en-US" sz="1200" kern="1200" dirty="0">
                <a:solidFill>
                  <a:schemeClr val="tx1"/>
                </a:solidFill>
                <a:effectLst/>
                <a:latin typeface="+mn-lt"/>
                <a:ea typeface="+mn-ea"/>
              </a:rPr>
              <a:t>项没有关键词符合定义，</a:t>
            </a:r>
            <a:r>
              <a:rPr lang="en-US" altLang="zh-CN" sz="1200" kern="1200" dirty="0">
                <a:solidFill>
                  <a:schemeClr val="tx1"/>
                </a:solidFill>
                <a:effectLst/>
                <a:latin typeface="+mn-lt"/>
                <a:ea typeface="+mn-ea"/>
              </a:rPr>
              <a:t>C </a:t>
            </a:r>
            <a:r>
              <a:rPr lang="zh-CN" altLang="en-US" sz="1200" kern="1200" dirty="0">
                <a:solidFill>
                  <a:schemeClr val="tx1"/>
                </a:solidFill>
                <a:effectLst/>
                <a:latin typeface="+mn-lt"/>
                <a:ea typeface="+mn-ea"/>
              </a:rPr>
              <a:t>项除了主体其他都符合，因此对比择优，选到</a:t>
            </a:r>
            <a:r>
              <a:rPr lang="en-US" altLang="zh-CN" sz="1200" kern="1200" dirty="0">
                <a:solidFill>
                  <a:schemeClr val="tx1"/>
                </a:solidFill>
                <a:effectLst/>
                <a:latin typeface="+mn-lt"/>
                <a:ea typeface="+mn-ea"/>
              </a:rPr>
              <a:t> A </a:t>
            </a:r>
            <a:r>
              <a:rPr lang="zh-CN" altLang="en-US" sz="1200" kern="1200" dirty="0">
                <a:solidFill>
                  <a:schemeClr val="tx1"/>
                </a:solidFill>
                <a:effectLst/>
                <a:latin typeface="+mn-lt"/>
                <a:ea typeface="+mn-ea"/>
              </a:rPr>
              <a:t>项</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A </a:t>
            </a:r>
            <a:r>
              <a:rPr lang="zh-CN" altLang="en-US" sz="1200" kern="1200" dirty="0">
                <a:solidFill>
                  <a:schemeClr val="tx1"/>
                </a:solidFill>
                <a:effectLst/>
                <a:latin typeface="+mn-lt"/>
                <a:ea typeface="+mn-ea"/>
              </a:rPr>
              <a:t>选项：修剪树木产生的垃圾被清理利用，核心是处理修剪废弃物，并非</a:t>
            </a:r>
            <a:r>
              <a:rPr lang="en-US" altLang="zh-CN" sz="1200" kern="1200" dirty="0">
                <a:solidFill>
                  <a:schemeClr val="tx1"/>
                </a:solidFill>
                <a:effectLst/>
                <a:latin typeface="+mn-lt"/>
                <a:ea typeface="+mn-ea"/>
              </a:rPr>
              <a:t> “</a:t>
            </a:r>
            <a:r>
              <a:rPr lang="zh-CN" altLang="en-US" sz="1200" kern="1200" dirty="0">
                <a:solidFill>
                  <a:schemeClr val="tx1"/>
                </a:solidFill>
                <a:effectLst/>
                <a:latin typeface="+mn-lt"/>
                <a:ea typeface="+mn-ea"/>
              </a:rPr>
              <a:t>采摘植物本身的可利用部分</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，不符合采集经济的定义。</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B </a:t>
            </a:r>
            <a:r>
              <a:rPr lang="zh-CN" altLang="en-US" sz="1200" kern="1200" dirty="0">
                <a:solidFill>
                  <a:schemeClr val="tx1"/>
                </a:solidFill>
                <a:effectLst/>
                <a:latin typeface="+mn-lt"/>
                <a:ea typeface="+mn-ea"/>
              </a:rPr>
              <a:t>选项：大棚种西瓜并获取收益，属于人工栽种</a:t>
            </a:r>
            <a:r>
              <a:rPr lang="en-US" altLang="zh-CN" sz="1200" kern="1200" dirty="0">
                <a:solidFill>
                  <a:schemeClr val="tx1"/>
                </a:solidFill>
                <a:effectLst/>
                <a:latin typeface="+mn-lt"/>
                <a:ea typeface="+mn-ea"/>
              </a:rPr>
              <a:t> + </a:t>
            </a:r>
            <a:r>
              <a:rPr lang="zh-CN" altLang="en-US" sz="1200" kern="1200" dirty="0">
                <a:solidFill>
                  <a:schemeClr val="tx1"/>
                </a:solidFill>
                <a:effectLst/>
                <a:latin typeface="+mn-lt"/>
                <a:ea typeface="+mn-ea"/>
              </a:rPr>
              <a:t>采摘植物果实，符合现代采集经济的定义。</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C </a:t>
            </a:r>
            <a:r>
              <a:rPr lang="zh-CN" altLang="en-US" sz="1200" kern="1200" dirty="0">
                <a:solidFill>
                  <a:schemeClr val="tx1"/>
                </a:solidFill>
                <a:effectLst/>
                <a:latin typeface="+mn-lt"/>
                <a:ea typeface="+mn-ea"/>
              </a:rPr>
              <a:t>选项：农户上山采摘野生可食用菌，属于采摘自然界现存植物，符合原始采集经济的定义。</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D </a:t>
            </a:r>
            <a:r>
              <a:rPr lang="zh-CN" altLang="en-US" sz="1200" kern="1200" dirty="0">
                <a:solidFill>
                  <a:schemeClr val="tx1"/>
                </a:solidFill>
                <a:effectLst/>
                <a:latin typeface="+mn-lt"/>
                <a:ea typeface="+mn-ea"/>
              </a:rPr>
              <a:t>选项：采摘茶园的茶树芽尖，属于人工栽种</a:t>
            </a:r>
            <a:r>
              <a:rPr lang="en-US" altLang="zh-CN" sz="1200" kern="1200" dirty="0">
                <a:solidFill>
                  <a:schemeClr val="tx1"/>
                </a:solidFill>
                <a:effectLst/>
                <a:latin typeface="+mn-lt"/>
                <a:ea typeface="+mn-ea"/>
              </a:rPr>
              <a:t> + </a:t>
            </a:r>
            <a:r>
              <a:rPr lang="zh-CN" altLang="en-US" sz="1200" kern="1200" dirty="0">
                <a:solidFill>
                  <a:schemeClr val="tx1"/>
                </a:solidFill>
                <a:effectLst/>
                <a:latin typeface="+mn-lt"/>
                <a:ea typeface="+mn-ea"/>
              </a:rPr>
              <a:t>采摘植物可利用部分，符合现代采集经济的定义。</a:t>
            </a:r>
            <a:endParaRPr lang="zh-CN" altLang="en-US" sz="1200" kern="1200" dirty="0">
              <a:solidFill>
                <a:schemeClr val="tx1"/>
              </a:solidFill>
              <a:effectLst/>
              <a:latin typeface="+mn-lt"/>
              <a:ea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ea typeface="+mn-ea"/>
              </a:rPr>
              <a:t>环境知觉：</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在环境外观感觉的基础上</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对地理环境的整体认识和综合解释</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环境刺激与个体已有知识经验相互作用</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环境认知：</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人们对环境信息再现大脑后的认识</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对以前识记的地理环境再度感知</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觉得熟悉，仍能认识，经过进一步分析思考后能够做出知觉判断</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A </a:t>
            </a:r>
            <a:r>
              <a:rPr lang="zh-CN" altLang="en-US" sz="1200" kern="1200" dirty="0">
                <a:solidFill>
                  <a:schemeClr val="tx1"/>
                </a:solidFill>
                <a:effectLst/>
                <a:latin typeface="+mn-lt"/>
                <a:ea typeface="+mn-ea"/>
              </a:rPr>
              <a:t>项：老杨是一座超大城市的老居民，经常在没有地图导航的情况下从北边开车到南边去爬山，符合</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对以前识记的地理环境再度感知</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觉得熟悉，仍能认识，经过进一步分析能做出知觉判断</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，符合</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环境认知</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定义，当选；</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B </a:t>
            </a:r>
            <a:r>
              <a:rPr lang="zh-CN" altLang="en-US" sz="1200" kern="1200" dirty="0">
                <a:solidFill>
                  <a:schemeClr val="tx1"/>
                </a:solidFill>
                <a:effectLst/>
                <a:latin typeface="+mn-lt"/>
                <a:ea typeface="+mn-ea"/>
              </a:rPr>
              <a:t>项：小周是建筑设计师，认为红砖建筑应该暴露建筑材料，但小李却认为建筑物不加装修，外观蹩脚，小周和小李对于建筑物是否加装修都有自己的看法，符合</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在环境外观感觉的基础上</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对地理环境的整体认识和综合解释</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环境刺激与个体已有知识经验相互作用</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，符合</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环境知觉</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定义，不符合</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环境认知</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定义，排除；</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C </a:t>
            </a:r>
            <a:r>
              <a:rPr lang="zh-CN" altLang="en-US" sz="1200" kern="1200" dirty="0">
                <a:solidFill>
                  <a:schemeClr val="tx1"/>
                </a:solidFill>
                <a:effectLst/>
                <a:latin typeface="+mn-lt"/>
                <a:ea typeface="+mn-ea"/>
              </a:rPr>
              <a:t>项：小朱看了很多遍九寨沟的纪录片，当她第一次去九寨沟看到那些美景时，觉得很熟悉，只能说明因为之前总是看九寨沟的纪录片，这一次身临其境了觉得很熟悉，但并没有提到熟悉了之后进一步分析做出知觉判断，不符合</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经过进一步分析能做出知觉判断</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，不符合</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环境认知</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定义，排除；</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D </a:t>
            </a:r>
            <a:r>
              <a:rPr lang="zh-CN" altLang="en-US" sz="1200" kern="1200" dirty="0">
                <a:solidFill>
                  <a:schemeClr val="tx1"/>
                </a:solidFill>
                <a:effectLst/>
                <a:latin typeface="+mn-lt"/>
                <a:ea typeface="+mn-ea"/>
              </a:rPr>
              <a:t>项：小王对所到之处的街景进行测绘后获得测绘数据，最终形成数字化地图，不符合</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人们对环境信息再现大脑后的认识</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对以前识记的地理环境再度感知</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觉得熟悉，仍能认识，经过进一步分析能做出知觉判断</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，不符合</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环境认知</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定义，排除。</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故正确答案为</a:t>
            </a:r>
            <a:r>
              <a:rPr lang="en-US" altLang="zh-CN" sz="1200" kern="1200" dirty="0">
                <a:solidFill>
                  <a:schemeClr val="tx1"/>
                </a:solidFill>
                <a:effectLst/>
                <a:latin typeface="+mn-lt"/>
                <a:ea typeface="+mn-ea"/>
              </a:rPr>
              <a:t> A</a:t>
            </a:r>
            <a:r>
              <a:rPr lang="zh-CN" altLang="en-US" sz="1200" kern="1200" dirty="0">
                <a:solidFill>
                  <a:schemeClr val="tx1"/>
                </a:solidFill>
                <a:effectLst/>
                <a:latin typeface="+mn-lt"/>
                <a:ea typeface="+mn-ea"/>
              </a:rPr>
              <a:t>。</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特征</a:t>
            </a:r>
            <a:r>
              <a:rPr lang="en-US" altLang="zh-CN" sz="1200" kern="1200" dirty="0">
                <a:solidFill>
                  <a:schemeClr val="tx1"/>
                </a:solidFill>
                <a:effectLst/>
                <a:latin typeface="+mn-lt"/>
                <a:ea typeface="+mn-ea"/>
              </a:rPr>
              <a:t>	</a:t>
            </a:r>
            <a:r>
              <a:rPr lang="zh-CN" altLang="en-US" sz="1200" kern="1200" dirty="0">
                <a:solidFill>
                  <a:schemeClr val="tx1"/>
                </a:solidFill>
                <a:effectLst/>
                <a:latin typeface="+mn-lt"/>
                <a:ea typeface="+mn-ea"/>
              </a:rPr>
              <a:t>环境知觉</a:t>
            </a:r>
            <a:r>
              <a:rPr lang="en-US" altLang="zh-CN" sz="1200" kern="1200" dirty="0">
                <a:solidFill>
                  <a:schemeClr val="tx1"/>
                </a:solidFill>
                <a:effectLst/>
                <a:latin typeface="+mn-lt"/>
                <a:ea typeface="+mn-ea"/>
              </a:rPr>
              <a:t>			</a:t>
            </a:r>
            <a:r>
              <a:rPr lang="zh-CN" altLang="en-US" sz="1200" kern="1200" dirty="0">
                <a:solidFill>
                  <a:schemeClr val="tx1"/>
                </a:solidFill>
                <a:effectLst/>
                <a:latin typeface="+mn-lt"/>
                <a:ea typeface="+mn-ea"/>
              </a:rPr>
              <a:t>环境认知</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核心逻辑</a:t>
            </a:r>
            <a:r>
              <a:rPr lang="en-US" altLang="zh-CN" sz="1200" kern="1200" dirty="0">
                <a:solidFill>
                  <a:schemeClr val="tx1"/>
                </a:solidFill>
                <a:effectLst/>
                <a:latin typeface="+mn-lt"/>
                <a:ea typeface="+mn-ea"/>
              </a:rPr>
              <a:t>	</a:t>
            </a:r>
            <a:r>
              <a:rPr lang="zh-CN" altLang="en-US" sz="1200" kern="1200" dirty="0">
                <a:solidFill>
                  <a:schemeClr val="tx1"/>
                </a:solidFill>
                <a:effectLst/>
                <a:latin typeface="+mn-lt"/>
                <a:ea typeface="+mn-ea"/>
              </a:rPr>
              <a:t>环境外观感觉</a:t>
            </a:r>
            <a:r>
              <a:rPr lang="en-US" altLang="zh-CN" sz="1200" kern="1200" dirty="0">
                <a:solidFill>
                  <a:schemeClr val="tx1"/>
                </a:solidFill>
                <a:effectLst/>
                <a:latin typeface="+mn-lt"/>
                <a:ea typeface="+mn-ea"/>
              </a:rPr>
              <a:t> </a:t>
            </a:r>
            <a:r>
              <a:rPr lang="en-US" altLang="en-US" sz="1200" kern="1200" dirty="0">
                <a:solidFill>
                  <a:schemeClr val="tx1"/>
                </a:solidFill>
                <a:effectLst/>
                <a:latin typeface="+mn-lt"/>
                <a:ea typeface="+mn-ea"/>
              </a:rPr>
              <a:t>→</a:t>
            </a:r>
            <a:r>
              <a:rPr lang="en-US" altLang="zh-CN" sz="1200" kern="1200" dirty="0">
                <a:solidFill>
                  <a:schemeClr val="tx1"/>
                </a:solidFill>
                <a:effectLst/>
                <a:latin typeface="+mn-lt"/>
                <a:ea typeface="+mn-ea"/>
              </a:rPr>
              <a:t> </a:t>
            </a:r>
            <a:r>
              <a:rPr lang="zh-CN" altLang="en-US" sz="1200" kern="1200" dirty="0">
                <a:solidFill>
                  <a:schemeClr val="tx1"/>
                </a:solidFill>
                <a:effectLst/>
                <a:latin typeface="+mn-lt"/>
                <a:ea typeface="+mn-ea"/>
              </a:rPr>
              <a:t>整体认识</a:t>
            </a:r>
            <a:r>
              <a:rPr lang="en-US" altLang="zh-CN" sz="1200" kern="1200" dirty="0">
                <a:solidFill>
                  <a:schemeClr val="tx1"/>
                </a:solidFill>
                <a:effectLst/>
                <a:latin typeface="+mn-lt"/>
                <a:ea typeface="+mn-ea"/>
              </a:rPr>
              <a:t> + </a:t>
            </a:r>
            <a:r>
              <a:rPr lang="zh-CN" altLang="en-US" sz="1200" kern="1200" dirty="0">
                <a:solidFill>
                  <a:schemeClr val="tx1"/>
                </a:solidFill>
                <a:effectLst/>
                <a:latin typeface="+mn-lt"/>
                <a:ea typeface="+mn-ea"/>
              </a:rPr>
              <a:t>综合解释</a:t>
            </a:r>
            <a:r>
              <a:rPr lang="en-US" altLang="zh-CN" sz="1200" kern="1200" dirty="0">
                <a:solidFill>
                  <a:schemeClr val="tx1"/>
                </a:solidFill>
                <a:effectLst/>
                <a:latin typeface="+mn-lt"/>
                <a:ea typeface="+mn-ea"/>
              </a:rPr>
              <a:t>	</a:t>
            </a:r>
            <a:r>
              <a:rPr lang="zh-CN" altLang="en-US" sz="1200" kern="1200" dirty="0">
                <a:solidFill>
                  <a:schemeClr val="tx1"/>
                </a:solidFill>
                <a:effectLst/>
                <a:latin typeface="+mn-lt"/>
                <a:ea typeface="+mn-ea"/>
              </a:rPr>
              <a:t>对已识记的环境信息再现</a:t>
            </a:r>
            <a:r>
              <a:rPr lang="en-US" altLang="zh-CN" sz="1200" kern="1200" dirty="0">
                <a:solidFill>
                  <a:schemeClr val="tx1"/>
                </a:solidFill>
                <a:effectLst/>
                <a:latin typeface="+mn-lt"/>
                <a:ea typeface="+mn-ea"/>
              </a:rPr>
              <a:t> </a:t>
            </a:r>
            <a:r>
              <a:rPr lang="en-US" altLang="en-US" sz="1200" kern="1200" dirty="0">
                <a:solidFill>
                  <a:schemeClr val="tx1"/>
                </a:solidFill>
                <a:effectLst/>
                <a:latin typeface="+mn-lt"/>
                <a:ea typeface="+mn-ea"/>
              </a:rPr>
              <a:t>→</a:t>
            </a:r>
            <a:r>
              <a:rPr lang="en-US" altLang="zh-CN" sz="1200" kern="1200" dirty="0">
                <a:solidFill>
                  <a:schemeClr val="tx1"/>
                </a:solidFill>
                <a:effectLst/>
                <a:latin typeface="+mn-lt"/>
                <a:ea typeface="+mn-ea"/>
              </a:rPr>
              <a:t> </a:t>
            </a:r>
            <a:r>
              <a:rPr lang="zh-CN" altLang="en-US" sz="1200" kern="1200" dirty="0">
                <a:solidFill>
                  <a:schemeClr val="tx1"/>
                </a:solidFill>
                <a:effectLst/>
                <a:latin typeface="+mn-lt"/>
                <a:ea typeface="+mn-ea"/>
              </a:rPr>
              <a:t>再度感知时产生熟悉感</a:t>
            </a:r>
            <a:r>
              <a:rPr lang="en-US" altLang="zh-CN" sz="1200" kern="1200" dirty="0">
                <a:solidFill>
                  <a:schemeClr val="tx1"/>
                </a:solidFill>
                <a:effectLst/>
                <a:latin typeface="+mn-lt"/>
                <a:ea typeface="+mn-ea"/>
              </a:rPr>
              <a:t> </a:t>
            </a:r>
            <a:r>
              <a:rPr lang="en-US" altLang="en-US" sz="1200" kern="1200" dirty="0">
                <a:solidFill>
                  <a:schemeClr val="tx1"/>
                </a:solidFill>
                <a:effectLst/>
                <a:latin typeface="+mn-lt"/>
                <a:ea typeface="+mn-ea"/>
              </a:rPr>
              <a:t>→</a:t>
            </a:r>
            <a:r>
              <a:rPr lang="en-US" altLang="zh-CN" sz="1200" kern="1200" dirty="0">
                <a:solidFill>
                  <a:schemeClr val="tx1"/>
                </a:solidFill>
                <a:effectLst/>
                <a:latin typeface="+mn-lt"/>
                <a:ea typeface="+mn-ea"/>
              </a:rPr>
              <a:t> </a:t>
            </a:r>
            <a:r>
              <a:rPr lang="zh-CN" altLang="en-US" sz="1200" kern="1200" dirty="0">
                <a:solidFill>
                  <a:schemeClr val="tx1"/>
                </a:solidFill>
                <a:effectLst/>
                <a:latin typeface="+mn-lt"/>
                <a:ea typeface="+mn-ea"/>
              </a:rPr>
              <a:t>可做出判断</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关键前提</a:t>
            </a:r>
            <a:r>
              <a:rPr lang="en-US" altLang="zh-CN" sz="1200" kern="1200" dirty="0">
                <a:solidFill>
                  <a:schemeClr val="tx1"/>
                </a:solidFill>
                <a:effectLst/>
                <a:latin typeface="+mn-lt"/>
                <a:ea typeface="+mn-ea"/>
              </a:rPr>
              <a:t>	</a:t>
            </a:r>
            <a:r>
              <a:rPr lang="zh-CN" altLang="en-US" sz="1200" kern="1200" dirty="0">
                <a:solidFill>
                  <a:schemeClr val="tx1"/>
                </a:solidFill>
                <a:effectLst/>
                <a:latin typeface="+mn-lt"/>
                <a:ea typeface="+mn-ea"/>
              </a:rPr>
              <a:t>基于当下的环境刺激</a:t>
            </a:r>
            <a:r>
              <a:rPr lang="en-US" altLang="zh-CN" sz="1200" kern="1200" dirty="0">
                <a:solidFill>
                  <a:schemeClr val="tx1"/>
                </a:solidFill>
                <a:effectLst/>
                <a:latin typeface="+mn-lt"/>
                <a:ea typeface="+mn-ea"/>
              </a:rPr>
              <a:t>		</a:t>
            </a:r>
            <a:r>
              <a:rPr lang="zh-CN" altLang="en-US" sz="1200" kern="1200" dirty="0">
                <a:solidFill>
                  <a:schemeClr val="tx1"/>
                </a:solidFill>
                <a:effectLst/>
                <a:latin typeface="+mn-lt"/>
                <a:ea typeface="+mn-ea"/>
              </a:rPr>
              <a:t>基于过往的识记经验</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B </a:t>
            </a:r>
            <a:r>
              <a:rPr lang="zh-CN" altLang="en-US" sz="1200" kern="1200" dirty="0">
                <a:solidFill>
                  <a:schemeClr val="tx1"/>
                </a:solidFill>
                <a:effectLst/>
                <a:latin typeface="+mn-lt"/>
                <a:ea typeface="+mn-ea"/>
              </a:rPr>
              <a:t>选项：小周和小李对红砖建筑的不同看法，是基于各自知识经验对建筑外观的综合解释，属于环境知觉，而非环境认知。</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D </a:t>
            </a:r>
            <a:r>
              <a:rPr lang="zh-CN" altLang="en-US" sz="1200" kern="1200" dirty="0">
                <a:solidFill>
                  <a:schemeClr val="tx1"/>
                </a:solidFill>
                <a:effectLst/>
                <a:latin typeface="+mn-lt"/>
                <a:ea typeface="+mn-ea"/>
              </a:rPr>
              <a:t>选项：小王测绘街景形成数字化地图，是对环境的客观记录，既无</a:t>
            </a:r>
            <a:r>
              <a:rPr lang="en-US" altLang="zh-CN" sz="1200" kern="1200" dirty="0">
                <a:solidFill>
                  <a:schemeClr val="tx1"/>
                </a:solidFill>
                <a:effectLst/>
                <a:latin typeface="+mn-lt"/>
                <a:ea typeface="+mn-ea"/>
              </a:rPr>
              <a:t> “</a:t>
            </a:r>
            <a:r>
              <a:rPr lang="zh-CN" altLang="en-US" sz="1200" kern="1200" dirty="0">
                <a:solidFill>
                  <a:schemeClr val="tx1"/>
                </a:solidFill>
                <a:effectLst/>
                <a:latin typeface="+mn-lt"/>
                <a:ea typeface="+mn-ea"/>
              </a:rPr>
              <a:t>识记再现</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，也无</a:t>
            </a:r>
            <a:r>
              <a:rPr lang="en-US" altLang="zh-CN" sz="1200" kern="1200" dirty="0">
                <a:solidFill>
                  <a:schemeClr val="tx1"/>
                </a:solidFill>
                <a:effectLst/>
                <a:latin typeface="+mn-lt"/>
                <a:ea typeface="+mn-ea"/>
              </a:rPr>
              <a:t> “</a:t>
            </a:r>
            <a:r>
              <a:rPr lang="zh-CN" altLang="en-US" sz="1200" kern="1200" dirty="0">
                <a:solidFill>
                  <a:schemeClr val="tx1"/>
                </a:solidFill>
                <a:effectLst/>
                <a:latin typeface="+mn-lt"/>
                <a:ea typeface="+mn-ea"/>
              </a:rPr>
              <a:t>熟悉感</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，与两个定义均无关。</a:t>
            </a:r>
            <a:endParaRPr lang="zh-CN" altLang="en-US" sz="1200" kern="1200" dirty="0">
              <a:solidFill>
                <a:schemeClr val="tx1"/>
              </a:solidFill>
              <a:effectLst/>
              <a:latin typeface="+mn-lt"/>
              <a:ea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没有任何经济社会效益的运输</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物资中所包含的无使用价值的那部分杂质</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浪费交通运力</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A </a:t>
            </a:r>
            <a:r>
              <a:rPr lang="zh-CN" altLang="en-US" sz="1200" kern="1200" dirty="0">
                <a:solidFill>
                  <a:schemeClr val="tx1"/>
                </a:solidFill>
                <a:effectLst/>
                <a:latin typeface="+mn-lt"/>
                <a:ea typeface="+mn-ea"/>
              </a:rPr>
              <a:t>项：北矿南运、西矿东调的长距离运输，体现了矿产资源的空间调配，有利于社会经济发展，不符合</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没有任何经济社会效益的运输</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，不符合定义，排除；</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B </a:t>
            </a:r>
            <a:r>
              <a:rPr lang="zh-CN" altLang="en-US" sz="1200" kern="1200" dirty="0">
                <a:solidFill>
                  <a:schemeClr val="tx1"/>
                </a:solidFill>
                <a:effectLst/>
                <a:latin typeface="+mn-lt"/>
                <a:ea typeface="+mn-ea"/>
              </a:rPr>
              <a:t>项：原油中掺杂有超量水分会增加机器设备被磨损腐蚀风险，但没有体现对原油中掺杂的超量水分的运输，不符合</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没有任何经济社会效益的运输</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，不符合定义，排除；</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C </a:t>
            </a:r>
            <a:r>
              <a:rPr lang="zh-CN" altLang="en-US" sz="1200" kern="1200" dirty="0">
                <a:solidFill>
                  <a:schemeClr val="tx1"/>
                </a:solidFill>
                <a:effectLst/>
                <a:latin typeface="+mn-lt"/>
                <a:ea typeface="+mn-ea"/>
              </a:rPr>
              <a:t>项：运输的原煤中有</a:t>
            </a:r>
            <a:r>
              <a:rPr lang="en-US" altLang="zh-CN" sz="1200" kern="1200" dirty="0">
                <a:solidFill>
                  <a:schemeClr val="tx1"/>
                </a:solidFill>
                <a:effectLst/>
                <a:latin typeface="+mn-lt"/>
                <a:ea typeface="+mn-ea"/>
              </a:rPr>
              <a:t> 25%</a:t>
            </a:r>
            <a:r>
              <a:rPr lang="zh-CN" altLang="en-US" sz="1200" kern="1200" dirty="0">
                <a:solidFill>
                  <a:schemeClr val="tx1"/>
                </a:solidFill>
                <a:effectLst/>
                <a:latin typeface="+mn-lt"/>
                <a:ea typeface="+mn-ea"/>
              </a:rPr>
              <a:t>是不能用于燃烧的矸石和灰分，符合</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物资中所包含的无使用价值的那部分杂质</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，造成铁路运力的耗费，符合</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浪费交通运力</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，也符合</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没有任何经济社会效益的运输</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，符合定义，当选；</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D </a:t>
            </a:r>
            <a:r>
              <a:rPr lang="zh-CN" altLang="en-US" sz="1200" kern="1200" dirty="0">
                <a:solidFill>
                  <a:schemeClr val="tx1"/>
                </a:solidFill>
                <a:effectLst/>
                <a:latin typeface="+mn-lt"/>
                <a:ea typeface="+mn-ea"/>
              </a:rPr>
              <a:t>项：用航空运输向海外运送瓷器，运送的瓷器会带来经济或社会效益，不符合</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没有任何经济社会效益的运输</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，不符合定义，排除。</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故正确答案为</a:t>
            </a:r>
            <a:r>
              <a:rPr lang="en-US" altLang="zh-CN" sz="1200" kern="1200" dirty="0">
                <a:solidFill>
                  <a:schemeClr val="tx1"/>
                </a:solidFill>
                <a:effectLst/>
                <a:latin typeface="+mn-lt"/>
                <a:ea typeface="+mn-ea"/>
              </a:rPr>
              <a:t> C</a:t>
            </a:r>
            <a:r>
              <a:rPr lang="zh-CN" altLang="en-US" sz="1200" kern="1200" dirty="0">
                <a:solidFill>
                  <a:schemeClr val="tx1"/>
                </a:solidFill>
                <a:effectLst/>
                <a:latin typeface="+mn-lt"/>
                <a:ea typeface="+mn-ea"/>
              </a:rPr>
              <a:t>。</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A </a:t>
            </a:r>
            <a:r>
              <a:rPr lang="zh-CN" altLang="en-US" sz="1200" kern="1200" dirty="0">
                <a:solidFill>
                  <a:schemeClr val="tx1"/>
                </a:solidFill>
                <a:effectLst/>
                <a:latin typeface="+mn-lt"/>
                <a:ea typeface="+mn-ea"/>
              </a:rPr>
              <a:t>选项：北矿南运、西矿东调是基于资源分布不均的正常资源调配，运输的是有使用价值的矿产，无杂质运输，不属于无效运输。</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B </a:t>
            </a:r>
            <a:r>
              <a:rPr lang="zh-CN" altLang="en-US" sz="1200" kern="1200" dirty="0">
                <a:solidFill>
                  <a:schemeClr val="tx1"/>
                </a:solidFill>
                <a:effectLst/>
                <a:latin typeface="+mn-lt"/>
                <a:ea typeface="+mn-ea"/>
              </a:rPr>
              <a:t>选项：仅说明原油中水分超量的危害，未提及运输行为，不符合</a:t>
            </a:r>
            <a:r>
              <a:rPr lang="en-US" altLang="zh-CN" sz="1200" kern="1200" dirty="0">
                <a:solidFill>
                  <a:schemeClr val="tx1"/>
                </a:solidFill>
                <a:effectLst/>
                <a:latin typeface="+mn-lt"/>
                <a:ea typeface="+mn-ea"/>
              </a:rPr>
              <a:t> “</a:t>
            </a:r>
            <a:r>
              <a:rPr lang="zh-CN" altLang="en-US" sz="1200" kern="1200" dirty="0">
                <a:solidFill>
                  <a:schemeClr val="tx1"/>
                </a:solidFill>
                <a:effectLst/>
                <a:latin typeface="+mn-lt"/>
                <a:ea typeface="+mn-ea"/>
              </a:rPr>
              <a:t>无效运输</a:t>
            </a:r>
            <a:r>
              <a:rPr lang="en-US" altLang="zh-CN" sz="1200" kern="1200" dirty="0">
                <a:solidFill>
                  <a:schemeClr val="tx1"/>
                </a:solidFill>
                <a:effectLst/>
                <a:latin typeface="+mn-lt"/>
                <a:ea typeface="+mn-ea"/>
              </a:rPr>
              <a:t>” </a:t>
            </a:r>
            <a:r>
              <a:rPr lang="zh-CN" altLang="en-US" sz="1200" kern="1200" dirty="0">
                <a:solidFill>
                  <a:schemeClr val="tx1"/>
                </a:solidFill>
                <a:effectLst/>
                <a:latin typeface="+mn-lt"/>
                <a:ea typeface="+mn-ea"/>
              </a:rPr>
              <a:t>的核心前提，排除。</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C </a:t>
            </a:r>
            <a:r>
              <a:rPr lang="zh-CN" altLang="en-US" sz="1200" kern="1200" dirty="0">
                <a:solidFill>
                  <a:schemeClr val="tx1"/>
                </a:solidFill>
                <a:effectLst/>
                <a:latin typeface="+mn-lt"/>
                <a:ea typeface="+mn-ea"/>
              </a:rPr>
              <a:t>选项：原煤中</a:t>
            </a:r>
            <a:r>
              <a:rPr lang="en-US" altLang="zh-CN" sz="1200" kern="1200" dirty="0">
                <a:solidFill>
                  <a:schemeClr val="tx1"/>
                </a:solidFill>
                <a:effectLst/>
                <a:latin typeface="+mn-lt"/>
                <a:ea typeface="+mn-ea"/>
              </a:rPr>
              <a:t> 25% </a:t>
            </a:r>
            <a:r>
              <a:rPr lang="zh-CN" altLang="en-US" sz="1200" kern="1200" dirty="0">
                <a:solidFill>
                  <a:schemeClr val="tx1"/>
                </a:solidFill>
                <a:effectLst/>
                <a:latin typeface="+mn-lt"/>
                <a:ea typeface="+mn-ea"/>
              </a:rPr>
              <a:t>是不能燃烧的矸石和灰分（无使用价值的杂质），运输这些杂质造成铁路运力耗费，完全符合无效运输的全部定义要点。</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D </a:t>
            </a:r>
            <a:r>
              <a:rPr lang="zh-CN" altLang="en-US" sz="1200" kern="1200" dirty="0">
                <a:solidFill>
                  <a:schemeClr val="tx1"/>
                </a:solidFill>
                <a:effectLst/>
                <a:latin typeface="+mn-lt"/>
                <a:ea typeface="+mn-ea"/>
              </a:rPr>
              <a:t>选项：航空运输瓷器只是运输方式选择不当，导致成本偏高，运输的瓷器是有完整使用价值的物资，无杂质，不属于无效运输。</a:t>
            </a:r>
            <a:endParaRPr lang="zh-CN" altLang="en-US" sz="1200" kern="1200" dirty="0">
              <a:solidFill>
                <a:schemeClr val="tx1"/>
              </a:solidFill>
              <a:effectLst/>
              <a:latin typeface="+mn-lt"/>
              <a:ea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ea typeface="+mn-ea"/>
              </a:rPr>
              <a:t>结构性进入壁垒：</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企业自身无法支配的、外生的</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由产品技术特点、资源供给条件、社会法律制度、政府行为以及消费者偏好等因素所形成的壁垒</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策略性进入壁垒：</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产业内的企业为保持在市场上的主导地位，获取垄断利润</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利用自身的优势</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通过有意识的策略性行为</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构筑防止潜在进入者进入的壁垒</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A </a:t>
            </a:r>
            <a:r>
              <a:rPr lang="zh-CN" altLang="en-US" sz="1200" kern="1200" dirty="0">
                <a:solidFill>
                  <a:schemeClr val="tx1"/>
                </a:solidFill>
                <a:effectLst/>
                <a:latin typeface="+mn-lt"/>
                <a:ea typeface="+mn-ea"/>
              </a:rPr>
              <a:t>项：动画片成本高、产业链尚未完善等问题是</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产品技术特点、资源供给条件等形成的壁垒</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，符合</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结构性进入壁垒</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定义，不符合</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策略性进入壁垒</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定义，排除；</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B </a:t>
            </a:r>
            <a:r>
              <a:rPr lang="zh-CN" altLang="en-US" sz="1200" kern="1200" dirty="0">
                <a:solidFill>
                  <a:schemeClr val="tx1"/>
                </a:solidFill>
                <a:effectLst/>
                <a:latin typeface="+mn-lt"/>
                <a:ea typeface="+mn-ea"/>
              </a:rPr>
              <a:t>项：推出新车型前需先由政府指定机构对车辆性能进行严格检验，属于由</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政府行为形成的壁垒</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，符合</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结构性进入壁垒</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定义，不符合</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策略性进入壁垒</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定义，排除；</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C </a:t>
            </a:r>
            <a:r>
              <a:rPr lang="zh-CN" altLang="en-US" sz="1200" kern="1200" dirty="0">
                <a:solidFill>
                  <a:schemeClr val="tx1"/>
                </a:solidFill>
                <a:effectLst/>
                <a:latin typeface="+mn-lt"/>
                <a:ea typeface="+mn-ea"/>
              </a:rPr>
              <a:t>项：丙公司难以打开市场是因为许多行业巨头已在该城市运营多年，这说明丙公司不是行业巨头，不具备在市场上的主导地位，不符合</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产业内的企业为保持在市场上的主导地位，获取垄断利润</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，不符合</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策略性进入壁垒</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定义，排除；</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D </a:t>
            </a:r>
            <a:r>
              <a:rPr lang="zh-CN" altLang="en-US" sz="1200" kern="1200" dirty="0">
                <a:solidFill>
                  <a:schemeClr val="tx1"/>
                </a:solidFill>
                <a:effectLst/>
                <a:latin typeface="+mn-lt"/>
                <a:ea typeface="+mn-ea"/>
              </a:rPr>
              <a:t>项：丁公司市场占有量极大，符合</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产业内的企业为保持在市场上的主导地位，获取垄断利润</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，经常靠低价促销来巩固市场地位，符合</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利用自身的优势</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通过有意识的策略性行为</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构筑防止潜在进入者进入的壁垒</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，符合</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策略性进入壁垒</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定义，当选。</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故正确答案为</a:t>
            </a:r>
            <a:r>
              <a:rPr lang="en-US" altLang="zh-CN" sz="1200" kern="1200" dirty="0">
                <a:solidFill>
                  <a:schemeClr val="tx1"/>
                </a:solidFill>
                <a:effectLst/>
                <a:latin typeface="+mn-lt"/>
                <a:ea typeface="+mn-ea"/>
              </a:rPr>
              <a:t> D</a:t>
            </a:r>
            <a:r>
              <a:rPr lang="zh-CN" altLang="en-US" sz="1200" kern="1200" dirty="0">
                <a:solidFill>
                  <a:schemeClr val="tx1"/>
                </a:solidFill>
                <a:effectLst/>
                <a:latin typeface="+mn-lt"/>
                <a:ea typeface="+mn-ea"/>
              </a:rPr>
              <a:t>。</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A </a:t>
            </a:r>
            <a:r>
              <a:rPr lang="zh-CN" altLang="en-US" sz="1200" kern="1200" dirty="0">
                <a:solidFill>
                  <a:schemeClr val="tx1"/>
                </a:solidFill>
                <a:effectLst/>
                <a:latin typeface="+mn-lt"/>
                <a:ea typeface="+mn-ea"/>
              </a:rPr>
              <a:t>选项：动画制作资金门槛高、产业链不完善，属于产品技术特点和资源供给条件形成的壁垒，企业自身无法支配，是结构性进入壁垒。</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B </a:t>
            </a:r>
            <a:r>
              <a:rPr lang="zh-CN" altLang="en-US" sz="1200" kern="1200" dirty="0">
                <a:solidFill>
                  <a:schemeClr val="tx1"/>
                </a:solidFill>
                <a:effectLst/>
                <a:latin typeface="+mn-lt"/>
                <a:ea typeface="+mn-ea"/>
              </a:rPr>
              <a:t>选项：政府指定机构检验的强制规定，属于社会法律制度和政府行为形成的壁垒，是结构性进入壁垒。</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C </a:t>
            </a:r>
            <a:r>
              <a:rPr lang="zh-CN" altLang="en-US" sz="1200" kern="1200" dirty="0">
                <a:solidFill>
                  <a:schemeClr val="tx1"/>
                </a:solidFill>
                <a:effectLst/>
                <a:latin typeface="+mn-lt"/>
                <a:ea typeface="+mn-ea"/>
              </a:rPr>
              <a:t>选项：行业巨头运营多年形成的市场优势，是长期积累的客观地位，未体现</a:t>
            </a:r>
            <a:r>
              <a:rPr lang="en-US" altLang="zh-CN" sz="1200" kern="1200" dirty="0">
                <a:solidFill>
                  <a:schemeClr val="tx1"/>
                </a:solidFill>
                <a:effectLst/>
                <a:latin typeface="+mn-lt"/>
                <a:ea typeface="+mn-ea"/>
              </a:rPr>
              <a:t> “</a:t>
            </a:r>
            <a:r>
              <a:rPr lang="zh-CN" altLang="en-US" sz="1200" kern="1200" dirty="0">
                <a:solidFill>
                  <a:schemeClr val="tx1"/>
                </a:solidFill>
                <a:effectLst/>
                <a:latin typeface="+mn-lt"/>
                <a:ea typeface="+mn-ea"/>
              </a:rPr>
              <a:t>有意识的策略性行为</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，不属于策略性进入壁垒。</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D </a:t>
            </a:r>
            <a:r>
              <a:rPr lang="zh-CN" altLang="en-US" sz="1200" kern="1200" dirty="0">
                <a:solidFill>
                  <a:schemeClr val="tx1"/>
                </a:solidFill>
                <a:effectLst/>
                <a:latin typeface="+mn-lt"/>
                <a:ea typeface="+mn-ea"/>
              </a:rPr>
              <a:t>选项：丁公司作为市场主导者，主动用低价促销的策略巩固地位，防止小公司抢占市场，完全符合策略性进入壁垒的定义。</a:t>
            </a:r>
            <a:endParaRPr lang="zh-CN" altLang="en-US" sz="1200" kern="1200" dirty="0">
              <a:solidFill>
                <a:schemeClr val="tx1"/>
              </a:solidFill>
              <a:effectLst/>
              <a:latin typeface="+mn-lt"/>
              <a:ea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现代信息技术的市场化应用</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将数字化的知识和信息转化为生产要素</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信息技术创新、管理创新和商业模式创新融合</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形成数字产业链和产业集群</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A </a:t>
            </a:r>
            <a:r>
              <a:rPr lang="zh-CN" altLang="en-US" sz="1200" kern="1200" dirty="0">
                <a:solidFill>
                  <a:schemeClr val="tx1"/>
                </a:solidFill>
                <a:effectLst/>
                <a:latin typeface="+mn-lt"/>
                <a:ea typeface="+mn-ea"/>
              </a:rPr>
              <a:t>项：各类打车软件的推出方便人们出行，打车软件符合</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现代信息技术的市场化应用</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将数字化的知识和信息转化为生产要素</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，符合定义，当选；</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B </a:t>
            </a:r>
            <a:r>
              <a:rPr lang="zh-CN" altLang="en-US" sz="1200" kern="1200" dirty="0">
                <a:solidFill>
                  <a:schemeClr val="tx1"/>
                </a:solidFill>
                <a:effectLst/>
                <a:latin typeface="+mn-lt"/>
                <a:ea typeface="+mn-ea"/>
              </a:rPr>
              <a:t>项：人工智能在汽车生产线中得到广泛使用，说明在现代产业中运用到了人工智能，并非是运用人工智能而创新产业链，不符合</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将数字化的知识和信息转化为生产要素</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形成数字产业链和产业集群</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，不符合定义，排除；</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C </a:t>
            </a:r>
            <a:r>
              <a:rPr lang="zh-CN" altLang="en-US" sz="1200" kern="1200" dirty="0">
                <a:solidFill>
                  <a:schemeClr val="tx1"/>
                </a:solidFill>
                <a:effectLst/>
                <a:latin typeface="+mn-lt"/>
                <a:ea typeface="+mn-ea"/>
              </a:rPr>
              <a:t>项：物流公司运用仓储机器人分拣包裹，说明在物流产业中运用到了智能机器，并非是运用人工智能而创新产业链，不符合</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将数字化的知识和信息转化为生产要素</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形成数字产业链和产业集群</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，不符合定义，排除；</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D </a:t>
            </a:r>
            <a:r>
              <a:rPr lang="zh-CN" altLang="en-US" sz="1200" kern="1200" dirty="0">
                <a:solidFill>
                  <a:schemeClr val="tx1"/>
                </a:solidFill>
                <a:effectLst/>
                <a:latin typeface="+mn-lt"/>
                <a:ea typeface="+mn-ea"/>
              </a:rPr>
              <a:t>项：故宫博物馆推出</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数字故宫</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数字故宫</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是传统旅游业融入信息技术而做的创新，是对传统行业的创新和升级，不符合</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将数字化的知识和信息转化为生产要素</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形成数字产业链和产业集群</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，不符合定义，排除。</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故正确答案为</a:t>
            </a:r>
            <a:r>
              <a:rPr lang="en-US" altLang="zh-CN" sz="1200" kern="1200" dirty="0">
                <a:solidFill>
                  <a:schemeClr val="tx1"/>
                </a:solidFill>
                <a:effectLst/>
                <a:latin typeface="+mn-lt"/>
                <a:ea typeface="+mn-ea"/>
              </a:rPr>
              <a:t> A</a:t>
            </a:r>
            <a:r>
              <a:rPr lang="zh-CN" altLang="en-US" sz="1200" kern="1200" dirty="0">
                <a:solidFill>
                  <a:schemeClr val="tx1"/>
                </a:solidFill>
                <a:effectLst/>
                <a:latin typeface="+mn-lt"/>
                <a:ea typeface="+mn-ea"/>
              </a:rPr>
              <a:t>。</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A </a:t>
            </a:r>
            <a:r>
              <a:rPr lang="zh-CN" altLang="en-US" sz="1200" kern="1200" dirty="0">
                <a:solidFill>
                  <a:schemeClr val="tx1"/>
                </a:solidFill>
                <a:effectLst/>
                <a:latin typeface="+mn-lt"/>
                <a:ea typeface="+mn-ea"/>
              </a:rPr>
              <a:t>选项：打车软件是现代信息技术市场化应用的产物，通过整合供需信息创造了</a:t>
            </a:r>
            <a:r>
              <a:rPr lang="en-US" altLang="zh-CN" sz="1200" kern="1200" dirty="0">
                <a:solidFill>
                  <a:schemeClr val="tx1"/>
                </a:solidFill>
                <a:effectLst/>
                <a:latin typeface="+mn-lt"/>
                <a:ea typeface="+mn-ea"/>
              </a:rPr>
              <a:t> “</a:t>
            </a:r>
            <a:r>
              <a:rPr lang="zh-CN" altLang="en-US" sz="1200" kern="1200" dirty="0">
                <a:solidFill>
                  <a:schemeClr val="tx1"/>
                </a:solidFill>
                <a:effectLst/>
                <a:latin typeface="+mn-lt"/>
                <a:ea typeface="+mn-ea"/>
              </a:rPr>
              <a:t>网约车</a:t>
            </a:r>
            <a:r>
              <a:rPr lang="en-US" altLang="zh-CN" sz="1200" kern="1200" dirty="0">
                <a:solidFill>
                  <a:schemeClr val="tx1"/>
                </a:solidFill>
                <a:effectLst/>
                <a:latin typeface="+mn-lt"/>
                <a:ea typeface="+mn-ea"/>
              </a:rPr>
              <a:t>” </a:t>
            </a:r>
            <a:r>
              <a:rPr lang="zh-CN" altLang="en-US" sz="1200" kern="1200" dirty="0">
                <a:solidFill>
                  <a:schemeClr val="tx1"/>
                </a:solidFill>
                <a:effectLst/>
                <a:latin typeface="+mn-lt"/>
                <a:ea typeface="+mn-ea"/>
              </a:rPr>
              <a:t>这一全新出行业态，符合数字产业化</a:t>
            </a:r>
            <a:r>
              <a:rPr lang="en-US" altLang="zh-CN" sz="1200" kern="1200" dirty="0">
                <a:solidFill>
                  <a:schemeClr val="tx1"/>
                </a:solidFill>
                <a:effectLst/>
                <a:latin typeface="+mn-lt"/>
                <a:ea typeface="+mn-ea"/>
              </a:rPr>
              <a:t> “</a:t>
            </a:r>
            <a:r>
              <a:rPr lang="zh-CN" altLang="en-US" sz="1200" kern="1200" dirty="0">
                <a:solidFill>
                  <a:schemeClr val="tx1"/>
                </a:solidFill>
                <a:effectLst/>
                <a:latin typeface="+mn-lt"/>
                <a:ea typeface="+mn-ea"/>
              </a:rPr>
              <a:t>催生新模式、新业态</a:t>
            </a:r>
            <a:r>
              <a:rPr lang="en-US" altLang="zh-CN" sz="1200" kern="1200" dirty="0">
                <a:solidFill>
                  <a:schemeClr val="tx1"/>
                </a:solidFill>
                <a:effectLst/>
                <a:latin typeface="+mn-lt"/>
                <a:ea typeface="+mn-ea"/>
              </a:rPr>
              <a:t>” </a:t>
            </a:r>
            <a:r>
              <a:rPr lang="zh-CN" altLang="en-US" sz="1200" kern="1200" dirty="0">
                <a:solidFill>
                  <a:schemeClr val="tx1"/>
                </a:solidFill>
                <a:effectLst/>
                <a:latin typeface="+mn-lt"/>
                <a:ea typeface="+mn-ea"/>
              </a:rPr>
              <a:t>的核心结果，完全匹配定义。</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B </a:t>
            </a:r>
            <a:r>
              <a:rPr lang="zh-CN" altLang="en-US" sz="1200" kern="1200" dirty="0">
                <a:solidFill>
                  <a:schemeClr val="tx1"/>
                </a:solidFill>
                <a:effectLst/>
                <a:latin typeface="+mn-lt"/>
                <a:ea typeface="+mn-ea"/>
              </a:rPr>
              <a:t>选项：人工智能应用于汽车生产线，是传统制造业的数字化升级，属于</a:t>
            </a:r>
            <a:r>
              <a:rPr lang="en-US" altLang="zh-CN" sz="1200" kern="1200" dirty="0">
                <a:solidFill>
                  <a:schemeClr val="tx1"/>
                </a:solidFill>
                <a:effectLst/>
                <a:latin typeface="+mn-lt"/>
                <a:ea typeface="+mn-ea"/>
              </a:rPr>
              <a:t> “</a:t>
            </a:r>
            <a:r>
              <a:rPr lang="zh-CN" altLang="en-US" sz="1200" kern="1200" dirty="0">
                <a:solidFill>
                  <a:schemeClr val="tx1"/>
                </a:solidFill>
                <a:effectLst/>
                <a:latin typeface="+mn-lt"/>
                <a:ea typeface="+mn-ea"/>
              </a:rPr>
              <a:t>产业数字化</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（传统产业利用数字技术提质增效），并非催生新产业</a:t>
            </a:r>
            <a:r>
              <a:rPr lang="en-US" altLang="zh-CN" sz="1200" kern="1200" dirty="0">
                <a:solidFill>
                  <a:schemeClr val="tx1"/>
                </a:solidFill>
                <a:effectLst/>
                <a:latin typeface="+mn-lt"/>
                <a:ea typeface="+mn-ea"/>
              </a:rPr>
              <a:t> / </a:t>
            </a:r>
            <a:r>
              <a:rPr lang="zh-CN" altLang="en-US" sz="1200" kern="1200" dirty="0">
                <a:solidFill>
                  <a:schemeClr val="tx1"/>
                </a:solidFill>
                <a:effectLst/>
                <a:latin typeface="+mn-lt"/>
                <a:ea typeface="+mn-ea"/>
              </a:rPr>
              <a:t>新业态，排除。</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C </a:t>
            </a:r>
            <a:r>
              <a:rPr lang="zh-CN" altLang="en-US" sz="1200" kern="1200" dirty="0">
                <a:solidFill>
                  <a:schemeClr val="tx1"/>
                </a:solidFill>
                <a:effectLst/>
                <a:latin typeface="+mn-lt"/>
                <a:ea typeface="+mn-ea"/>
              </a:rPr>
              <a:t>选项：物流公司用仓储机器人分拣包裹，是物流行业的技术改造，目的是提升传统业务效率，没有形成新的产业模式，排除。</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D </a:t>
            </a:r>
            <a:r>
              <a:rPr lang="zh-CN" altLang="en-US" sz="1200" kern="1200" dirty="0">
                <a:solidFill>
                  <a:schemeClr val="tx1"/>
                </a:solidFill>
                <a:effectLst/>
                <a:latin typeface="+mn-lt"/>
                <a:ea typeface="+mn-ea"/>
              </a:rPr>
              <a:t>选项：</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数字故宫</a:t>
            </a:r>
            <a:r>
              <a:rPr lang="en-US" altLang="zh-CN" sz="1200" kern="1200" dirty="0">
                <a:solidFill>
                  <a:schemeClr val="tx1"/>
                </a:solidFill>
                <a:effectLst/>
                <a:latin typeface="+mn-lt"/>
                <a:ea typeface="+mn-ea"/>
              </a:rPr>
              <a:t>” </a:t>
            </a:r>
            <a:r>
              <a:rPr lang="zh-CN" altLang="en-US" sz="1200" kern="1200" dirty="0">
                <a:solidFill>
                  <a:schemeClr val="tx1"/>
                </a:solidFill>
                <a:effectLst/>
                <a:latin typeface="+mn-lt"/>
                <a:ea typeface="+mn-ea"/>
              </a:rPr>
              <a:t>是文化领域的数字化展示，属于数字技术在传统文化场景的应用，未催生新产业或形成数字产业链，排除。</a:t>
            </a:r>
            <a:r>
              <a:rPr lang="en-US" altLang="zh-CN" sz="1200" kern="1200" dirty="0">
                <a:solidFill>
                  <a:schemeClr val="tx1"/>
                </a:solidFill>
                <a:effectLst/>
                <a:latin typeface="+mn-lt"/>
                <a:ea typeface="+mn-ea"/>
              </a:rPr>
              <a:t> </a:t>
            </a:r>
            <a:endParaRPr lang="en-US" altLang="zh-CN" sz="1200" kern="1200" dirty="0">
              <a:solidFill>
                <a:schemeClr val="tx1"/>
              </a:solidFill>
              <a:effectLst/>
              <a:latin typeface="+mn-lt"/>
              <a:ea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个体察觉、处理自我及他人情绪</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利用情绪信息指导行动</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A </a:t>
            </a:r>
            <a:r>
              <a:rPr lang="zh-CN" altLang="en-US" sz="1200" kern="1200" dirty="0">
                <a:solidFill>
                  <a:schemeClr val="tx1"/>
                </a:solidFill>
                <a:effectLst/>
                <a:latin typeface="+mn-lt"/>
                <a:ea typeface="+mn-ea"/>
              </a:rPr>
              <a:t>项：小张平复自己紧张的情绪后答题，只是小张对自己情绪的处理，没有体现如何处理他人的情绪，不符合</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个体察觉、处理自我及他人情绪</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，不符合定义，排除；</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B </a:t>
            </a:r>
            <a:r>
              <a:rPr lang="zh-CN" altLang="en-US" sz="1200" kern="1200" dirty="0">
                <a:solidFill>
                  <a:schemeClr val="tx1"/>
                </a:solidFill>
                <a:effectLst/>
                <a:latin typeface="+mn-lt"/>
                <a:ea typeface="+mn-ea"/>
              </a:rPr>
              <a:t>项：小赵遇到恶狗后强装镇定，只是小赵对自己情绪的处理，没有体现如何处理他人的情绪，不符合</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个体察觉、处理自我及他人情绪</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，不符合定义，排除；</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C </a:t>
            </a:r>
            <a:r>
              <a:rPr lang="zh-CN" altLang="en-US" sz="1200" kern="1200" dirty="0">
                <a:solidFill>
                  <a:schemeClr val="tx1"/>
                </a:solidFill>
                <a:effectLst/>
                <a:latin typeface="+mn-lt"/>
                <a:ea typeface="+mn-ea"/>
              </a:rPr>
              <a:t>项：小钱是在得知事情原委后，才向室友道歉，并没有体现出小钱如何处理自己和他人的情绪，不符合</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个体察觉、处理自我及他人情绪</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，不符合定义，排除；</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D </a:t>
            </a:r>
            <a:r>
              <a:rPr lang="zh-CN" altLang="en-US" sz="1200" kern="1200" dirty="0">
                <a:solidFill>
                  <a:schemeClr val="tx1"/>
                </a:solidFill>
                <a:effectLst/>
                <a:latin typeface="+mn-lt"/>
                <a:ea typeface="+mn-ea"/>
              </a:rPr>
              <a:t>项：小李被旅客无端指责后，仍能克制地向其耐心解释，</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克制</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是对自己情绪的处理，利用克制住的情绪耐心地向旅客解释，符合</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利用情绪信息指导行动</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，最终问题得以解决，是对旅客情绪的处理，符合</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个体察觉、处理自我及他人情绪</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，符合定义，当选。</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故正确答案为</a:t>
            </a:r>
            <a:r>
              <a:rPr lang="en-US" altLang="zh-CN" sz="1200" kern="1200" dirty="0">
                <a:solidFill>
                  <a:schemeClr val="tx1"/>
                </a:solidFill>
                <a:effectLst/>
                <a:latin typeface="+mn-lt"/>
                <a:ea typeface="+mn-ea"/>
              </a:rPr>
              <a:t> D</a:t>
            </a:r>
            <a:r>
              <a:rPr lang="zh-CN" altLang="en-US" sz="1200" kern="1200" dirty="0">
                <a:solidFill>
                  <a:schemeClr val="tx1"/>
                </a:solidFill>
                <a:effectLst/>
                <a:latin typeface="+mn-lt"/>
                <a:ea typeface="+mn-ea"/>
              </a:rPr>
              <a:t>。</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A </a:t>
            </a:r>
            <a:r>
              <a:rPr lang="zh-CN" altLang="en-US" sz="1200" kern="1200" dirty="0">
                <a:solidFill>
                  <a:schemeClr val="tx1"/>
                </a:solidFill>
                <a:effectLst/>
                <a:latin typeface="+mn-lt"/>
                <a:ea typeface="+mn-ea"/>
              </a:rPr>
              <a:t>选项：小张察觉自身紧张情绪并调整，仅体现了处理自我情绪，未涉及</a:t>
            </a:r>
            <a:r>
              <a:rPr lang="en-US" altLang="zh-CN" sz="1200" kern="1200" dirty="0">
                <a:solidFill>
                  <a:schemeClr val="tx1"/>
                </a:solidFill>
                <a:effectLst/>
                <a:latin typeface="+mn-lt"/>
                <a:ea typeface="+mn-ea"/>
              </a:rPr>
              <a:t> “</a:t>
            </a:r>
            <a:r>
              <a:rPr lang="zh-CN" altLang="en-US" sz="1200" kern="1200" dirty="0">
                <a:solidFill>
                  <a:schemeClr val="tx1"/>
                </a:solidFill>
                <a:effectLst/>
                <a:latin typeface="+mn-lt"/>
                <a:ea typeface="+mn-ea"/>
              </a:rPr>
              <a:t>察觉他人情绪</a:t>
            </a:r>
            <a:r>
              <a:rPr lang="en-US" altLang="zh-CN" sz="1200" kern="1200" dirty="0">
                <a:solidFill>
                  <a:schemeClr val="tx1"/>
                </a:solidFill>
                <a:effectLst/>
                <a:latin typeface="+mn-lt"/>
                <a:ea typeface="+mn-ea"/>
              </a:rPr>
              <a:t>” </a:t>
            </a:r>
            <a:r>
              <a:rPr lang="zh-CN" altLang="en-US" sz="1200" kern="1200" dirty="0">
                <a:solidFill>
                  <a:schemeClr val="tx1"/>
                </a:solidFill>
                <a:effectLst/>
                <a:latin typeface="+mn-lt"/>
                <a:ea typeface="+mn-ea"/>
              </a:rPr>
              <a:t>或</a:t>
            </a:r>
            <a:r>
              <a:rPr lang="en-US" altLang="zh-CN" sz="1200" kern="1200" dirty="0">
                <a:solidFill>
                  <a:schemeClr val="tx1"/>
                </a:solidFill>
                <a:effectLst/>
                <a:latin typeface="+mn-lt"/>
                <a:ea typeface="+mn-ea"/>
              </a:rPr>
              <a:t> “</a:t>
            </a:r>
            <a:r>
              <a:rPr lang="zh-CN" altLang="en-US" sz="1200" kern="1200" dirty="0">
                <a:solidFill>
                  <a:schemeClr val="tx1"/>
                </a:solidFill>
                <a:effectLst/>
                <a:latin typeface="+mn-lt"/>
                <a:ea typeface="+mn-ea"/>
              </a:rPr>
              <a:t>利用情绪指导行动达成具体目标</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，不完全符合定义。</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B </a:t>
            </a:r>
            <a:r>
              <a:rPr lang="zh-CN" altLang="en-US" sz="1200" kern="1200" dirty="0">
                <a:solidFill>
                  <a:schemeClr val="tx1"/>
                </a:solidFill>
                <a:effectLst/>
                <a:latin typeface="+mn-lt"/>
                <a:ea typeface="+mn-ea"/>
              </a:rPr>
              <a:t>选项：小赵被恶狗吓到后强装镇定，仅体现自我情绪的克制，既无他人情绪参与，也未利用情绪信息指导行动，排除。</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C </a:t>
            </a:r>
            <a:r>
              <a:rPr lang="zh-CN" altLang="en-US" sz="1200" kern="1200" dirty="0">
                <a:solidFill>
                  <a:schemeClr val="tx1"/>
                </a:solidFill>
                <a:effectLst/>
                <a:latin typeface="+mn-lt"/>
                <a:ea typeface="+mn-ea"/>
              </a:rPr>
              <a:t>选项：小钱因矛盾心生不满，了解原委后道歉，核心是纠正认知偏差后的行为，而非</a:t>
            </a:r>
            <a:r>
              <a:rPr lang="en-US" altLang="zh-CN" sz="1200" kern="1200" dirty="0">
                <a:solidFill>
                  <a:schemeClr val="tx1"/>
                </a:solidFill>
                <a:effectLst/>
                <a:latin typeface="+mn-lt"/>
                <a:ea typeface="+mn-ea"/>
              </a:rPr>
              <a:t> “</a:t>
            </a:r>
            <a:r>
              <a:rPr lang="zh-CN" altLang="en-US" sz="1200" kern="1200" dirty="0">
                <a:solidFill>
                  <a:schemeClr val="tx1"/>
                </a:solidFill>
                <a:effectLst/>
                <a:latin typeface="+mn-lt"/>
                <a:ea typeface="+mn-ea"/>
              </a:rPr>
              <a:t>察觉和处理情绪并指导行动</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，未体现情绪智力的核心逻辑。</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D </a:t>
            </a:r>
            <a:r>
              <a:rPr lang="zh-CN" altLang="en-US" sz="1200" kern="1200" dirty="0">
                <a:solidFill>
                  <a:schemeClr val="tx1"/>
                </a:solidFill>
                <a:effectLst/>
                <a:latin typeface="+mn-lt"/>
                <a:ea typeface="+mn-ea"/>
              </a:rPr>
              <a:t>选项：小李被旅客无端指责，察觉了旅客的负面情绪和自身的委屈情绪，同时克制自身情绪，用耐心解释的方式应对，最终解决问题，完全符合</a:t>
            </a:r>
            <a:r>
              <a:rPr lang="en-US" altLang="zh-CN" sz="1200" kern="1200" dirty="0">
                <a:solidFill>
                  <a:schemeClr val="tx1"/>
                </a:solidFill>
                <a:effectLst/>
                <a:latin typeface="+mn-lt"/>
                <a:ea typeface="+mn-ea"/>
              </a:rPr>
              <a:t> “</a:t>
            </a:r>
            <a:r>
              <a:rPr lang="zh-CN" altLang="en-US" sz="1200" kern="1200" dirty="0">
                <a:solidFill>
                  <a:schemeClr val="tx1"/>
                </a:solidFill>
                <a:effectLst/>
                <a:latin typeface="+mn-lt"/>
                <a:ea typeface="+mn-ea"/>
              </a:rPr>
              <a:t>察觉</a:t>
            </a:r>
            <a:r>
              <a:rPr lang="en-US" altLang="zh-CN" sz="1200" kern="1200" dirty="0">
                <a:solidFill>
                  <a:schemeClr val="tx1"/>
                </a:solidFill>
                <a:effectLst/>
                <a:latin typeface="+mn-lt"/>
                <a:ea typeface="+mn-ea"/>
              </a:rPr>
              <a:t> - </a:t>
            </a:r>
            <a:r>
              <a:rPr lang="zh-CN" altLang="en-US" sz="1200" kern="1200" dirty="0">
                <a:solidFill>
                  <a:schemeClr val="tx1"/>
                </a:solidFill>
                <a:effectLst/>
                <a:latin typeface="+mn-lt"/>
                <a:ea typeface="+mn-ea"/>
              </a:rPr>
              <a:t>处理情绪</a:t>
            </a:r>
            <a:r>
              <a:rPr lang="en-US" altLang="zh-CN" sz="1200" kern="1200" dirty="0">
                <a:solidFill>
                  <a:schemeClr val="tx1"/>
                </a:solidFill>
                <a:effectLst/>
                <a:latin typeface="+mn-lt"/>
                <a:ea typeface="+mn-ea"/>
              </a:rPr>
              <a:t> - </a:t>
            </a:r>
            <a:r>
              <a:rPr lang="zh-CN" altLang="en-US" sz="1200" kern="1200" dirty="0">
                <a:solidFill>
                  <a:schemeClr val="tx1"/>
                </a:solidFill>
                <a:effectLst/>
                <a:latin typeface="+mn-lt"/>
                <a:ea typeface="+mn-ea"/>
              </a:rPr>
              <a:t>指导行动</a:t>
            </a:r>
            <a:r>
              <a:rPr lang="en-US" altLang="zh-CN" sz="1200" kern="1200" dirty="0">
                <a:solidFill>
                  <a:schemeClr val="tx1"/>
                </a:solidFill>
                <a:effectLst/>
                <a:latin typeface="+mn-lt"/>
                <a:ea typeface="+mn-ea"/>
              </a:rPr>
              <a:t>” </a:t>
            </a:r>
            <a:r>
              <a:rPr lang="zh-CN" altLang="en-US" sz="1200" kern="1200" dirty="0">
                <a:solidFill>
                  <a:schemeClr val="tx1"/>
                </a:solidFill>
                <a:effectLst/>
                <a:latin typeface="+mn-lt"/>
                <a:ea typeface="+mn-ea"/>
              </a:rPr>
              <a:t>的完整链条。</a:t>
            </a:r>
            <a:endParaRPr lang="zh-CN" altLang="en-US" sz="1200" kern="1200" dirty="0">
              <a:solidFill>
                <a:schemeClr val="tx1"/>
              </a:solidFill>
              <a:effectLst/>
              <a:latin typeface="+mn-lt"/>
              <a:ea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社交场合中</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个体关注他人对自己行为和社会地位的看法和评价程度</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A </a:t>
            </a:r>
            <a:r>
              <a:rPr lang="zh-CN" altLang="en-US" sz="1200" kern="1200" dirty="0">
                <a:solidFill>
                  <a:schemeClr val="tx1"/>
                </a:solidFill>
                <a:effectLst/>
                <a:latin typeface="+mn-lt"/>
                <a:ea typeface="+mn-ea"/>
              </a:rPr>
              <a:t>项：该项指出房产中介</a:t>
            </a:r>
            <a:r>
              <a:rPr lang="en-US" altLang="zh-CN" sz="1200" kern="1200" dirty="0">
                <a:solidFill>
                  <a:schemeClr val="tx1"/>
                </a:solidFill>
                <a:effectLst/>
                <a:latin typeface="+mn-lt"/>
                <a:ea typeface="+mn-ea"/>
              </a:rPr>
              <a:t> 24 </a:t>
            </a:r>
            <a:r>
              <a:rPr lang="zh-CN" altLang="en-US" sz="1200" kern="1200" dirty="0">
                <a:solidFill>
                  <a:schemeClr val="tx1"/>
                </a:solidFill>
                <a:effectLst/>
                <a:latin typeface="+mn-lt"/>
                <a:ea typeface="+mn-ea"/>
              </a:rPr>
              <a:t>小时不关机，随叫随到，这是为了更好地服务客户，不是在关注其客户对他行为和地位的看法与评价，不符合</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个体关注他人对自己行为和社会地位的看法和评价程度</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，不符合定义，排除；</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B </a:t>
            </a:r>
            <a:r>
              <a:rPr lang="zh-CN" altLang="en-US" sz="1200" kern="1200" dirty="0">
                <a:solidFill>
                  <a:schemeClr val="tx1"/>
                </a:solidFill>
                <a:effectLst/>
                <a:latin typeface="+mn-lt"/>
                <a:ea typeface="+mn-ea"/>
              </a:rPr>
              <a:t>项：该项指出某主播变着花样搞怪，这是为了吸引粉丝的关注，获得更多流量支持，不是在关注其粉丝对他行为和地位的看法与评价，不符合</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个体关注他人对自己行为和社会地位的看法和评价程度</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，不符合定义，排除；</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C </a:t>
            </a:r>
            <a:r>
              <a:rPr lang="zh-CN" altLang="en-US" sz="1200" kern="1200" dirty="0">
                <a:solidFill>
                  <a:schemeClr val="tx1"/>
                </a:solidFill>
                <a:effectLst/>
                <a:latin typeface="+mn-lt"/>
                <a:ea typeface="+mn-ea"/>
              </a:rPr>
              <a:t>项：该项指出五年二班的同学在卫生评比中获得流动红旗，这是校园内的评比活动，不算是社交场合，而且目的是为了集体荣誉，不是在关注他人对自己的看法与评价，不符合</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社交场合中</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个体关注他人对自己行为和社会地位的看法和评价程度</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，不符合定义，排除；</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D </a:t>
            </a:r>
            <a:r>
              <a:rPr lang="zh-CN" altLang="en-US" sz="1200" kern="1200" dirty="0">
                <a:solidFill>
                  <a:schemeClr val="tx1"/>
                </a:solidFill>
                <a:effectLst/>
                <a:latin typeface="+mn-lt"/>
                <a:ea typeface="+mn-ea"/>
              </a:rPr>
              <a:t>项：该项指出小刘和朋友们相处的过程中总是迁就大家一起去吃她不喜欢的西餐，说明小刘在关注朋友们对她行为的看法，符合</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社交场合中</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个体关注他人对自己行为和社会地位的看法和评价程度</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，符合定义，当选。</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故正确答案为</a:t>
            </a:r>
            <a:r>
              <a:rPr lang="en-US" altLang="zh-CN" sz="1200" kern="1200" dirty="0">
                <a:solidFill>
                  <a:schemeClr val="tx1"/>
                </a:solidFill>
                <a:effectLst/>
                <a:latin typeface="+mn-lt"/>
                <a:ea typeface="+mn-ea"/>
              </a:rPr>
              <a:t> D</a:t>
            </a:r>
            <a:r>
              <a:rPr lang="zh-CN" altLang="en-US" sz="1200" kern="1200" dirty="0">
                <a:solidFill>
                  <a:schemeClr val="tx1"/>
                </a:solidFill>
                <a:effectLst/>
                <a:latin typeface="+mn-lt"/>
                <a:ea typeface="+mn-ea"/>
              </a:rPr>
              <a:t>。</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A </a:t>
            </a:r>
            <a:r>
              <a:rPr lang="zh-CN" altLang="en-US" sz="1200" kern="1200" dirty="0">
                <a:solidFill>
                  <a:schemeClr val="tx1"/>
                </a:solidFill>
                <a:effectLst/>
                <a:latin typeface="+mn-lt"/>
                <a:ea typeface="+mn-ea"/>
              </a:rPr>
              <a:t>选项：小亮</a:t>
            </a:r>
            <a:r>
              <a:rPr lang="en-US" altLang="zh-CN" sz="1200" kern="1200" dirty="0">
                <a:solidFill>
                  <a:schemeClr val="tx1"/>
                </a:solidFill>
                <a:effectLst/>
                <a:latin typeface="+mn-lt"/>
                <a:ea typeface="+mn-ea"/>
              </a:rPr>
              <a:t> 24 </a:t>
            </a:r>
            <a:r>
              <a:rPr lang="zh-CN" altLang="en-US" sz="1200" kern="1200" dirty="0">
                <a:solidFill>
                  <a:schemeClr val="tx1"/>
                </a:solidFill>
                <a:effectLst/>
                <a:latin typeface="+mn-lt"/>
                <a:ea typeface="+mn-ea"/>
              </a:rPr>
              <a:t>小时不关手机是为了服务客户的工作需求，并非关注客户对自己行为或地位的评价，不符合定义。</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B </a:t>
            </a:r>
            <a:r>
              <a:rPr lang="zh-CN" altLang="en-US" sz="1200" kern="1200" dirty="0">
                <a:solidFill>
                  <a:schemeClr val="tx1"/>
                </a:solidFill>
                <a:effectLst/>
                <a:latin typeface="+mn-lt"/>
                <a:ea typeface="+mn-ea"/>
              </a:rPr>
              <a:t>选项：小红搞怪是为了吸引粉丝关注，目的是增加粉丝量，核心是</a:t>
            </a:r>
            <a:r>
              <a:rPr lang="en-US" altLang="zh-CN" sz="1200" kern="1200" dirty="0">
                <a:solidFill>
                  <a:schemeClr val="tx1"/>
                </a:solidFill>
                <a:effectLst/>
                <a:latin typeface="+mn-lt"/>
                <a:ea typeface="+mn-ea"/>
              </a:rPr>
              <a:t> “</a:t>
            </a:r>
            <a:r>
              <a:rPr lang="zh-CN" altLang="en-US" sz="1200" kern="1200" dirty="0">
                <a:solidFill>
                  <a:schemeClr val="tx1"/>
                </a:solidFill>
                <a:effectLst/>
                <a:latin typeface="+mn-lt"/>
                <a:ea typeface="+mn-ea"/>
              </a:rPr>
              <a:t>获取关注</a:t>
            </a:r>
            <a:r>
              <a:rPr lang="en-US" altLang="zh-CN" sz="1200" kern="1200" dirty="0">
                <a:solidFill>
                  <a:schemeClr val="tx1"/>
                </a:solidFill>
                <a:effectLst/>
                <a:latin typeface="+mn-lt"/>
                <a:ea typeface="+mn-ea"/>
              </a:rPr>
              <a:t>” </a:t>
            </a:r>
            <a:r>
              <a:rPr lang="zh-CN" altLang="en-US" sz="1200" kern="1200" dirty="0">
                <a:solidFill>
                  <a:schemeClr val="tx1"/>
                </a:solidFill>
                <a:effectLst/>
                <a:latin typeface="+mn-lt"/>
                <a:ea typeface="+mn-ea"/>
              </a:rPr>
              <a:t>而非</a:t>
            </a:r>
            <a:r>
              <a:rPr lang="en-US" altLang="zh-CN" sz="1200" kern="1200" dirty="0">
                <a:solidFill>
                  <a:schemeClr val="tx1"/>
                </a:solidFill>
                <a:effectLst/>
                <a:latin typeface="+mn-lt"/>
                <a:ea typeface="+mn-ea"/>
              </a:rPr>
              <a:t> “</a:t>
            </a:r>
            <a:r>
              <a:rPr lang="zh-CN" altLang="en-US" sz="1200" kern="1200" dirty="0">
                <a:solidFill>
                  <a:schemeClr val="tx1"/>
                </a:solidFill>
                <a:effectLst/>
                <a:latin typeface="+mn-lt"/>
                <a:ea typeface="+mn-ea"/>
              </a:rPr>
              <a:t>在意粉丝对自己行为</a:t>
            </a:r>
            <a:r>
              <a:rPr lang="en-US" altLang="zh-CN" sz="1200" kern="1200" dirty="0">
                <a:solidFill>
                  <a:schemeClr val="tx1"/>
                </a:solidFill>
                <a:effectLst/>
                <a:latin typeface="+mn-lt"/>
                <a:ea typeface="+mn-ea"/>
              </a:rPr>
              <a:t> / </a:t>
            </a:r>
            <a:r>
              <a:rPr lang="zh-CN" altLang="en-US" sz="1200" kern="1200" dirty="0">
                <a:solidFill>
                  <a:schemeClr val="tx1"/>
                </a:solidFill>
                <a:effectLst/>
                <a:latin typeface="+mn-lt"/>
                <a:ea typeface="+mn-ea"/>
              </a:rPr>
              <a:t>地位的看法</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，排除。</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C </a:t>
            </a:r>
            <a:r>
              <a:rPr lang="zh-CN" altLang="en-US" sz="1200" kern="1200" dirty="0">
                <a:solidFill>
                  <a:schemeClr val="tx1"/>
                </a:solidFill>
                <a:effectLst/>
                <a:latin typeface="+mn-lt"/>
                <a:ea typeface="+mn-ea"/>
              </a:rPr>
              <a:t>选项：五年二班同学争流动红旗是为了班集体荣誉，是群体目标导向，并非个体关注他人对自己的评价，排除。</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D </a:t>
            </a:r>
            <a:r>
              <a:rPr lang="zh-CN" altLang="en-US" sz="1200" kern="1200" dirty="0">
                <a:solidFill>
                  <a:schemeClr val="tx1"/>
                </a:solidFill>
                <a:effectLst/>
                <a:latin typeface="+mn-lt"/>
                <a:ea typeface="+mn-ea"/>
              </a:rPr>
              <a:t>选项：小刘不喜欢西餐却和大家一起去，是因为在意朋友们对自己</a:t>
            </a:r>
            <a:r>
              <a:rPr lang="en-US" altLang="zh-CN" sz="1200" kern="1200" dirty="0">
                <a:solidFill>
                  <a:schemeClr val="tx1"/>
                </a:solidFill>
                <a:effectLst/>
                <a:latin typeface="+mn-lt"/>
                <a:ea typeface="+mn-ea"/>
              </a:rPr>
              <a:t> “</a:t>
            </a:r>
            <a:r>
              <a:rPr lang="zh-CN" altLang="en-US" sz="1200" kern="1200" dirty="0">
                <a:solidFill>
                  <a:schemeClr val="tx1"/>
                </a:solidFill>
                <a:effectLst/>
                <a:latin typeface="+mn-lt"/>
                <a:ea typeface="+mn-ea"/>
              </a:rPr>
              <a:t>合群</a:t>
            </a:r>
            <a:r>
              <a:rPr lang="en-US" altLang="zh-CN" sz="1200" kern="1200" dirty="0">
                <a:solidFill>
                  <a:schemeClr val="tx1"/>
                </a:solidFill>
                <a:effectLst/>
                <a:latin typeface="+mn-lt"/>
                <a:ea typeface="+mn-ea"/>
              </a:rPr>
              <a:t>” </a:t>
            </a:r>
            <a:r>
              <a:rPr lang="zh-CN" altLang="en-US" sz="1200" kern="1200" dirty="0">
                <a:solidFill>
                  <a:schemeClr val="tx1"/>
                </a:solidFill>
                <a:effectLst/>
                <a:latin typeface="+mn-lt"/>
                <a:ea typeface="+mn-ea"/>
              </a:rPr>
              <a:t>与否的看法，属于在社交场合中关注他人对自己行为的评价，完全符合社交敏感的定义。</a:t>
            </a:r>
            <a:endParaRPr lang="zh-CN" altLang="en-US" sz="1200" kern="1200" dirty="0">
              <a:solidFill>
                <a:schemeClr val="tx1"/>
              </a:solidFill>
              <a:effectLst/>
              <a:latin typeface="+mn-lt"/>
              <a:ea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由新颖的知识、复杂的概念、晦涩难懂的理论或尚未解决的难题</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引起个体想要探究知识的渴望，进而引起探索的行为</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A </a:t>
            </a:r>
            <a:r>
              <a:rPr lang="zh-CN" altLang="en-US" sz="1200" kern="1200" dirty="0">
                <a:solidFill>
                  <a:schemeClr val="tx1"/>
                </a:solidFill>
                <a:effectLst/>
                <a:latin typeface="+mn-lt"/>
                <a:ea typeface="+mn-ea"/>
              </a:rPr>
              <a:t>项：小朋友被飞舞的雪花吸引，试着伸手去抓雪花，</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飞舞的雪花</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不符合</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由新颖的知识、复杂的概念、晦涩难懂的理论或尚未解决的难题</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，不符合定义，排除；</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B </a:t>
            </a:r>
            <a:r>
              <a:rPr lang="zh-CN" altLang="en-US" sz="1200" kern="1200" dirty="0">
                <a:solidFill>
                  <a:schemeClr val="tx1"/>
                </a:solidFill>
                <a:effectLst/>
                <a:latin typeface="+mn-lt"/>
                <a:ea typeface="+mn-ea"/>
              </a:rPr>
              <a:t>项：孩子看到父亲打游戏不由自主凑上去，这里只是孩子对父亲玩的游戏感兴趣，</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游戏</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不符合</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由新颖的知识、复杂的概念、晦涩难懂的理论或尚未解决的难题</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，且不由自主说明孩子是无意识的行为，不符合</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引起个体想要探究知识的渴望，进而引起探索的行为</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，不符合定义，排除；</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C </a:t>
            </a:r>
            <a:r>
              <a:rPr lang="zh-CN" altLang="en-US" sz="1200" kern="1200" dirty="0">
                <a:solidFill>
                  <a:schemeClr val="tx1"/>
                </a:solidFill>
                <a:effectLst/>
                <a:latin typeface="+mn-lt"/>
                <a:ea typeface="+mn-ea"/>
              </a:rPr>
              <a:t>项：小学生遇到自己不认识的字主动去查字典，</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不认识的字</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属于新颖的知识，符合</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由新颖的知识、复杂的概念、晦涩难懂的理论或尚未解决的难题</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主动查字典</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符合</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引起个体想要探究知识的渴望，进而引起探索的行为</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，符合定义，当选；</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D </a:t>
            </a:r>
            <a:r>
              <a:rPr lang="zh-CN" altLang="en-US" sz="1200" kern="1200" dirty="0">
                <a:solidFill>
                  <a:schemeClr val="tx1"/>
                </a:solidFill>
                <a:effectLst/>
                <a:latin typeface="+mn-lt"/>
                <a:ea typeface="+mn-ea"/>
              </a:rPr>
              <a:t>项：老师通过课堂提问的方式督促学生自主思考，说明是老师引起学生思考，而学生是否想要探究，不得而知，不符合</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引起个体想要探究知识的渴望，进而引起探索的行为</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，不符合定义，排除。</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故正确答案为</a:t>
            </a:r>
            <a:r>
              <a:rPr lang="en-US" altLang="zh-CN" sz="1200" kern="1200" dirty="0">
                <a:solidFill>
                  <a:schemeClr val="tx1"/>
                </a:solidFill>
                <a:effectLst/>
                <a:latin typeface="+mn-lt"/>
                <a:ea typeface="+mn-ea"/>
              </a:rPr>
              <a:t> C</a:t>
            </a:r>
            <a:r>
              <a:rPr lang="zh-CN" altLang="en-US" sz="1200" kern="1200" dirty="0">
                <a:solidFill>
                  <a:schemeClr val="tx1"/>
                </a:solidFill>
                <a:effectLst/>
                <a:latin typeface="+mn-lt"/>
                <a:ea typeface="+mn-ea"/>
              </a:rPr>
              <a:t>。</a:t>
            </a:r>
            <a:endParaRPr lang="zh-CN" altLang="en-US" sz="1200" kern="1200" dirty="0">
              <a:solidFill>
                <a:schemeClr val="tx1"/>
              </a:solidFill>
              <a:effectLst/>
              <a:latin typeface="+mn-lt"/>
              <a:ea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ea typeface="+mn-ea"/>
              </a:rPr>
              <a:t>生物多样性评估：</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以生物多样性保护和可持续利用为目的</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基因、物种和生态系统多样性调查和评价活动</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代理指标评估方法：</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与生物多样性及其时空分布具有统计相关性</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特殊生物类群或环境因子</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进行评估的方法</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A </a:t>
            </a:r>
            <a:r>
              <a:rPr lang="zh-CN" altLang="en-US" sz="1200" kern="1200" dirty="0">
                <a:solidFill>
                  <a:schemeClr val="tx1"/>
                </a:solidFill>
                <a:effectLst/>
                <a:latin typeface="+mn-lt"/>
                <a:ea typeface="+mn-ea"/>
              </a:rPr>
              <a:t>项：利用遥感数据绘制景观图，不符合</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与生物多样性及其时空分布具有统计相关性</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特殊生物类群或环境因子</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，不符合</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生物多样性代理指标评估方法</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定义，排除；</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B </a:t>
            </a:r>
            <a:r>
              <a:rPr lang="zh-CN" altLang="en-US" sz="1200" kern="1200" dirty="0">
                <a:solidFill>
                  <a:schemeClr val="tx1"/>
                </a:solidFill>
                <a:effectLst/>
                <a:latin typeface="+mn-lt"/>
                <a:ea typeface="+mn-ea"/>
              </a:rPr>
              <a:t>项：采用的野生鸟类（或蝴蝶）指数判断某区域生态系统的保护状态，符合</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与生物多样性及其时空分布具有统计相关性</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特殊生物类群或环境因子</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，符合</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生物多样性代理指标评估方法</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定义，当选；</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C </a:t>
            </a:r>
            <a:r>
              <a:rPr lang="zh-CN" altLang="en-US" sz="1200" kern="1200" dirty="0">
                <a:solidFill>
                  <a:schemeClr val="tx1"/>
                </a:solidFill>
                <a:effectLst/>
                <a:latin typeface="+mn-lt"/>
                <a:ea typeface="+mn-ea"/>
              </a:rPr>
              <a:t>项：评估某栖息地丧失对特定生物种群的影响，不符合</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与生物多样性及其时空分布具有统计相关性</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特殊生物类群或环境因子</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，不符合</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生物多样性代理指标评估方法</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定义，排除；</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D </a:t>
            </a:r>
            <a:r>
              <a:rPr lang="zh-CN" altLang="en-US" sz="1200" kern="1200" dirty="0">
                <a:solidFill>
                  <a:schemeClr val="tx1"/>
                </a:solidFill>
                <a:effectLst/>
                <a:latin typeface="+mn-lt"/>
                <a:ea typeface="+mn-ea"/>
              </a:rPr>
              <a:t>项：选择地理因子将某区域划分，不符合</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与生物多样性及其时空分布具有统计相关性</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特殊生物类群或环境因子</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，不符合</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生物多样性代理指标评估方法</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定义，排除。</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故正确答案为</a:t>
            </a:r>
            <a:r>
              <a:rPr lang="en-US" altLang="zh-CN" sz="1200" kern="1200" dirty="0">
                <a:solidFill>
                  <a:schemeClr val="tx1"/>
                </a:solidFill>
                <a:effectLst/>
                <a:latin typeface="+mn-lt"/>
                <a:ea typeface="+mn-ea"/>
              </a:rPr>
              <a:t> B</a:t>
            </a:r>
            <a:r>
              <a:rPr lang="zh-CN" altLang="en-US" sz="1200" kern="1200" dirty="0">
                <a:solidFill>
                  <a:schemeClr val="tx1"/>
                </a:solidFill>
                <a:effectLst/>
                <a:latin typeface="+mn-lt"/>
                <a:ea typeface="+mn-ea"/>
              </a:rPr>
              <a:t>。</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A </a:t>
            </a:r>
            <a:r>
              <a:rPr lang="zh-CN" altLang="en-US" sz="1200" kern="1200" dirty="0">
                <a:solidFill>
                  <a:schemeClr val="tx1"/>
                </a:solidFill>
                <a:effectLst/>
                <a:latin typeface="+mn-lt"/>
                <a:ea typeface="+mn-ea"/>
              </a:rPr>
              <a:t>选项：遥感数据绘制景观图像评估物种丰富度，景观图像是环境相关数据，但未明确是</a:t>
            </a:r>
            <a:r>
              <a:rPr lang="en-US" altLang="zh-CN" sz="1200" kern="1200" dirty="0">
                <a:solidFill>
                  <a:schemeClr val="tx1"/>
                </a:solidFill>
                <a:effectLst/>
                <a:latin typeface="+mn-lt"/>
                <a:ea typeface="+mn-ea"/>
              </a:rPr>
              <a:t> “</a:t>
            </a:r>
            <a:r>
              <a:rPr lang="zh-CN" altLang="en-US" sz="1200" kern="1200" dirty="0">
                <a:solidFill>
                  <a:schemeClr val="tx1"/>
                </a:solidFill>
                <a:effectLst/>
                <a:latin typeface="+mn-lt"/>
                <a:ea typeface="+mn-ea"/>
              </a:rPr>
              <a:t>与生物多样性有统计相关性的特殊类群</a:t>
            </a:r>
            <a:r>
              <a:rPr lang="en-US" altLang="zh-CN" sz="1200" kern="1200" dirty="0">
                <a:solidFill>
                  <a:schemeClr val="tx1"/>
                </a:solidFill>
                <a:effectLst/>
                <a:latin typeface="+mn-lt"/>
                <a:ea typeface="+mn-ea"/>
              </a:rPr>
              <a:t> / </a:t>
            </a:r>
            <a:r>
              <a:rPr lang="zh-CN" altLang="en-US" sz="1200" kern="1200" dirty="0">
                <a:solidFill>
                  <a:schemeClr val="tx1"/>
                </a:solidFill>
                <a:effectLst/>
                <a:latin typeface="+mn-lt"/>
                <a:ea typeface="+mn-ea"/>
              </a:rPr>
              <a:t>因子</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，且未体现</a:t>
            </a:r>
            <a:r>
              <a:rPr lang="en-US" altLang="zh-CN" sz="1200" kern="1200" dirty="0">
                <a:solidFill>
                  <a:schemeClr val="tx1"/>
                </a:solidFill>
                <a:effectLst/>
                <a:latin typeface="+mn-lt"/>
                <a:ea typeface="+mn-ea"/>
              </a:rPr>
              <a:t> “</a:t>
            </a:r>
            <a:r>
              <a:rPr lang="zh-CN" altLang="en-US" sz="1200" kern="1200" dirty="0">
                <a:solidFill>
                  <a:schemeClr val="tx1"/>
                </a:solidFill>
                <a:effectLst/>
                <a:latin typeface="+mn-lt"/>
                <a:ea typeface="+mn-ea"/>
              </a:rPr>
              <a:t>代理指标</a:t>
            </a:r>
            <a:r>
              <a:rPr lang="en-US" altLang="zh-CN" sz="1200" kern="1200" dirty="0">
                <a:solidFill>
                  <a:schemeClr val="tx1"/>
                </a:solidFill>
                <a:effectLst/>
                <a:latin typeface="+mn-lt"/>
                <a:ea typeface="+mn-ea"/>
              </a:rPr>
              <a:t>” </a:t>
            </a:r>
            <a:r>
              <a:rPr lang="zh-CN" altLang="en-US" sz="1200" kern="1200" dirty="0">
                <a:solidFill>
                  <a:schemeClr val="tx1"/>
                </a:solidFill>
                <a:effectLst/>
                <a:latin typeface="+mn-lt"/>
                <a:ea typeface="+mn-ea"/>
              </a:rPr>
              <a:t>的替代逻辑，排除。</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B </a:t>
            </a:r>
            <a:r>
              <a:rPr lang="zh-CN" altLang="en-US" sz="1200" kern="1200" dirty="0">
                <a:solidFill>
                  <a:schemeClr val="tx1"/>
                </a:solidFill>
                <a:effectLst/>
                <a:latin typeface="+mn-lt"/>
                <a:ea typeface="+mn-ea"/>
              </a:rPr>
              <a:t>选项：用野生鸟类（或蝴蝶）指数判断生态系统保护状态，野生鸟类、蝴蝶属于与生态系统多样性有统计相关性的特殊生物类群，通过这类生物的指标替代直接评估生态系统，完全符合代理指标评估方法的定义。</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C </a:t>
            </a:r>
            <a:r>
              <a:rPr lang="zh-CN" altLang="en-US" sz="1200" kern="1200" dirty="0">
                <a:solidFill>
                  <a:schemeClr val="tx1"/>
                </a:solidFill>
                <a:effectLst/>
                <a:latin typeface="+mn-lt"/>
                <a:ea typeface="+mn-ea"/>
              </a:rPr>
              <a:t>选项：建立物种</a:t>
            </a:r>
            <a:r>
              <a:rPr lang="en-US" altLang="zh-CN" sz="1200" kern="1200" dirty="0">
                <a:solidFill>
                  <a:schemeClr val="tx1"/>
                </a:solidFill>
                <a:effectLst/>
                <a:latin typeface="+mn-lt"/>
                <a:ea typeface="+mn-ea"/>
              </a:rPr>
              <a:t> - </a:t>
            </a:r>
            <a:r>
              <a:rPr lang="zh-CN" altLang="en-US" sz="1200" kern="1200" dirty="0">
                <a:solidFill>
                  <a:schemeClr val="tx1"/>
                </a:solidFill>
                <a:effectLst/>
                <a:latin typeface="+mn-lt"/>
                <a:ea typeface="+mn-ea"/>
              </a:rPr>
              <a:t>面积关系模型评估栖息地影响，是基于物种与栖息地的直接关联建模，未借助</a:t>
            </a:r>
            <a:r>
              <a:rPr lang="en-US" altLang="zh-CN" sz="1200" kern="1200" dirty="0">
                <a:solidFill>
                  <a:schemeClr val="tx1"/>
                </a:solidFill>
                <a:effectLst/>
                <a:latin typeface="+mn-lt"/>
                <a:ea typeface="+mn-ea"/>
              </a:rPr>
              <a:t> “</a:t>
            </a:r>
            <a:r>
              <a:rPr lang="zh-CN" altLang="en-US" sz="1200" kern="1200" dirty="0">
                <a:solidFill>
                  <a:schemeClr val="tx1"/>
                </a:solidFill>
                <a:effectLst/>
                <a:latin typeface="+mn-lt"/>
                <a:ea typeface="+mn-ea"/>
              </a:rPr>
              <a:t>代理类群或因子</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，属于直接评估思路，排除。</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D </a:t>
            </a:r>
            <a:r>
              <a:rPr lang="zh-CN" altLang="en-US" sz="1200" kern="1200" dirty="0">
                <a:solidFill>
                  <a:schemeClr val="tx1"/>
                </a:solidFill>
                <a:effectLst/>
                <a:latin typeface="+mn-lt"/>
                <a:ea typeface="+mn-ea"/>
              </a:rPr>
              <a:t>选项：用地理因子划分生物区域，是对生物区域的划分归类，而非对生物多样性的评估，不符合定义的核心目的，排除。</a:t>
            </a:r>
            <a:endParaRPr lang="zh-CN" altLang="en-US" sz="1200" kern="1200" dirty="0">
              <a:solidFill>
                <a:schemeClr val="tx1"/>
              </a:solidFill>
              <a:effectLst/>
              <a:latin typeface="+mn-lt"/>
              <a:ea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ea typeface="+mn-ea"/>
              </a:rPr>
              <a:t>霜降是二十四节气中的秋季节气，且是秋季的最后一个节气，二者是对应关系。</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A </a:t>
            </a:r>
            <a:r>
              <a:rPr lang="zh-CN" altLang="en-US" sz="1200" kern="1200" dirty="0">
                <a:solidFill>
                  <a:schemeClr val="tx1"/>
                </a:solidFill>
                <a:effectLst/>
                <a:latin typeface="+mn-lt"/>
                <a:ea typeface="+mn-ea"/>
              </a:rPr>
              <a:t>项：雨水是二十四节气中的春季节气，但春季的最后一个节气是谷雨，而雨水是春季的第二个节气，与题干逻辑关系不一致，排除；</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B </a:t>
            </a:r>
            <a:r>
              <a:rPr lang="zh-CN" altLang="en-US" sz="1200" kern="1200" dirty="0">
                <a:solidFill>
                  <a:schemeClr val="tx1"/>
                </a:solidFill>
                <a:effectLst/>
                <a:latin typeface="+mn-lt"/>
                <a:ea typeface="+mn-ea"/>
              </a:rPr>
              <a:t>项：大暑是二十四节气中的夏季节气，且大暑是夏季的最后一个节气，与题干逻辑关系一致，当选；</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C </a:t>
            </a:r>
            <a:r>
              <a:rPr lang="zh-CN" altLang="en-US" sz="1200" kern="1200" dirty="0">
                <a:solidFill>
                  <a:schemeClr val="tx1"/>
                </a:solidFill>
                <a:effectLst/>
                <a:latin typeface="+mn-lt"/>
                <a:ea typeface="+mn-ea"/>
              </a:rPr>
              <a:t>项：清明是二十四节气中的春季节气，与雨季无关，与题干逻辑关系不一致，排除；</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D </a:t>
            </a:r>
            <a:r>
              <a:rPr lang="zh-CN" altLang="en-US" sz="1200" kern="1200" dirty="0">
                <a:solidFill>
                  <a:schemeClr val="tx1"/>
                </a:solidFill>
                <a:effectLst/>
                <a:latin typeface="+mn-lt"/>
                <a:ea typeface="+mn-ea"/>
              </a:rPr>
              <a:t>项：冬至是二十四节气中的冬季节气，但冬季最后一个节气是大寒，而冬至是冬季的第四个节气，与题干逻辑关系不一致，排除。</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故正确答案为</a:t>
            </a:r>
            <a:r>
              <a:rPr lang="en-US" altLang="zh-CN" sz="1200" kern="1200" dirty="0">
                <a:solidFill>
                  <a:schemeClr val="tx1"/>
                </a:solidFill>
                <a:effectLst/>
                <a:latin typeface="+mn-lt"/>
                <a:ea typeface="+mn-ea"/>
              </a:rPr>
              <a:t> B</a:t>
            </a:r>
            <a:r>
              <a:rPr lang="zh-CN" altLang="en-US" sz="1200" kern="1200" dirty="0">
                <a:solidFill>
                  <a:schemeClr val="tx1"/>
                </a:solidFill>
                <a:effectLst/>
                <a:latin typeface="+mn-lt"/>
                <a:ea typeface="+mn-ea"/>
              </a:rPr>
              <a:t>。</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春季：立春、雨水、惊蛰、春分、清明、谷雨</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夏季：立夏、小满、芒种、夏至、小暑、大暑</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秋季：立秋、处暑、白露、秋分、寒露、霜降</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冬季：立冬、小雪、大雪、冬至、小寒、大寒</a:t>
            </a:r>
            <a:endParaRPr lang="zh-CN" altLang="en-US" sz="1200" kern="1200" dirty="0">
              <a:solidFill>
                <a:schemeClr val="tx1"/>
              </a:solidFill>
              <a:effectLst/>
              <a:latin typeface="+mn-lt"/>
              <a:ea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ea typeface="+mn-ea"/>
              </a:rPr>
              <a:t>报纸编辑和期刊编辑是两种不同的编辑，二者为并列关系，与编辑为包容关系中的种属关系。</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A </a:t>
            </a:r>
            <a:r>
              <a:rPr lang="zh-CN" altLang="en-US" sz="1200" kern="1200" dirty="0">
                <a:solidFill>
                  <a:schemeClr val="tx1"/>
                </a:solidFill>
                <a:effectLst/>
                <a:latin typeface="+mn-lt"/>
                <a:ea typeface="+mn-ea"/>
              </a:rPr>
              <a:t>项：有的小学教师是民办教师，有的民办教师是小学教师，二者为交叉关系，与教师为种属关系，与题干逻辑关系不一致，排除；</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B </a:t>
            </a:r>
            <a:r>
              <a:rPr lang="zh-CN" altLang="en-US" sz="1200" kern="1200" dirty="0">
                <a:solidFill>
                  <a:schemeClr val="tx1"/>
                </a:solidFill>
                <a:effectLst/>
                <a:latin typeface="+mn-lt"/>
                <a:ea typeface="+mn-ea"/>
              </a:rPr>
              <a:t>项：有的青年律师是民事律师，有的民事律师是青年律师，二者为交叉关系，与律师为种属关系，与题干逻辑关系不一致，排除；</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C </a:t>
            </a:r>
            <a:r>
              <a:rPr lang="zh-CN" altLang="en-US" sz="1200" kern="1200" dirty="0">
                <a:solidFill>
                  <a:schemeClr val="tx1"/>
                </a:solidFill>
                <a:effectLst/>
                <a:latin typeface="+mn-lt"/>
                <a:ea typeface="+mn-ea"/>
              </a:rPr>
              <a:t>项：网剧导演是影视导演的一种，二者是种属关系，与题干逻辑关系不一致，排除；</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D </a:t>
            </a:r>
            <a:r>
              <a:rPr lang="zh-CN" altLang="en-US" sz="1200" kern="1200" dirty="0">
                <a:solidFill>
                  <a:schemeClr val="tx1"/>
                </a:solidFill>
                <a:effectLst/>
                <a:latin typeface="+mn-lt"/>
                <a:ea typeface="+mn-ea"/>
              </a:rPr>
              <a:t>项：城市规划和乡村规划是两种不同的规划，二者为并列关系，与规划为种属关系，与题干逻辑关系一致，当选。</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故正确答案为</a:t>
            </a:r>
            <a:r>
              <a:rPr lang="en-US" altLang="zh-CN" sz="1200" kern="1200" dirty="0">
                <a:solidFill>
                  <a:schemeClr val="tx1"/>
                </a:solidFill>
                <a:effectLst/>
                <a:latin typeface="+mn-lt"/>
                <a:ea typeface="+mn-ea"/>
              </a:rPr>
              <a:t> D</a:t>
            </a:r>
            <a:r>
              <a:rPr lang="zh-CN" altLang="en-US" sz="1200" kern="1200" dirty="0">
                <a:solidFill>
                  <a:schemeClr val="tx1"/>
                </a:solidFill>
                <a:effectLst/>
                <a:latin typeface="+mn-lt"/>
                <a:ea typeface="+mn-ea"/>
              </a:rPr>
              <a:t>。</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报纸编辑和期刊编辑的核心区别，在于服务载体的特性差异；报纸编辑以报纸为载体，时效性极强，多为日报</a:t>
            </a:r>
            <a:r>
              <a:rPr lang="en-US" altLang="zh-CN" sz="1200" kern="1200" dirty="0">
                <a:solidFill>
                  <a:schemeClr val="tx1"/>
                </a:solidFill>
                <a:effectLst/>
                <a:latin typeface="+mn-lt"/>
                <a:ea typeface="+mn-ea"/>
              </a:rPr>
              <a:t> / </a:t>
            </a:r>
            <a:r>
              <a:rPr lang="zh-CN" altLang="en-US" sz="1200" kern="1200" dirty="0">
                <a:solidFill>
                  <a:schemeClr val="tx1"/>
                </a:solidFill>
                <a:effectLst/>
                <a:latin typeface="+mn-lt"/>
                <a:ea typeface="+mn-ea"/>
              </a:rPr>
              <a:t>周报，内容偏重新闻资讯；期刊编辑以期刊（杂志、学报等）为载体，时效性较弱，多为月刊</a:t>
            </a:r>
            <a:r>
              <a:rPr lang="en-US" altLang="zh-CN" sz="1200" kern="1200" dirty="0">
                <a:solidFill>
                  <a:schemeClr val="tx1"/>
                </a:solidFill>
                <a:effectLst/>
                <a:latin typeface="+mn-lt"/>
                <a:ea typeface="+mn-ea"/>
              </a:rPr>
              <a:t> / </a:t>
            </a:r>
            <a:r>
              <a:rPr lang="zh-CN" altLang="en-US" sz="1200" kern="1200" dirty="0">
                <a:solidFill>
                  <a:schemeClr val="tx1"/>
                </a:solidFill>
                <a:effectLst/>
                <a:latin typeface="+mn-lt"/>
                <a:ea typeface="+mn-ea"/>
              </a:rPr>
              <a:t>季刊</a:t>
            </a:r>
            <a:r>
              <a:rPr lang="en-US" altLang="zh-CN" sz="1200" kern="1200" dirty="0">
                <a:solidFill>
                  <a:schemeClr val="tx1"/>
                </a:solidFill>
                <a:effectLst/>
                <a:latin typeface="+mn-lt"/>
                <a:ea typeface="+mn-ea"/>
              </a:rPr>
              <a:t> / </a:t>
            </a:r>
            <a:r>
              <a:rPr lang="zh-CN" altLang="en-US" sz="1200" kern="1200" dirty="0">
                <a:solidFill>
                  <a:schemeClr val="tx1"/>
                </a:solidFill>
                <a:effectLst/>
                <a:latin typeface="+mn-lt"/>
                <a:ea typeface="+mn-ea"/>
              </a:rPr>
              <a:t>年刊，内容偏重专题深度、学术研究或特定领域内容</a:t>
            </a:r>
            <a:endParaRPr lang="zh-CN" altLang="en-US" sz="1200" kern="1200" dirty="0">
              <a:solidFill>
                <a:schemeClr val="tx1"/>
              </a:solidFill>
              <a:effectLst/>
              <a:latin typeface="+mn-lt"/>
              <a:ea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ea typeface="+mn-ea"/>
              </a:rPr>
              <a:t>道路和桥梁是两种不同的设施，二者为并列关系，且均与市政设施构成包容关系中的种属关系。</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A </a:t>
            </a:r>
            <a:r>
              <a:rPr lang="zh-CN" altLang="en-US" sz="1200" kern="1200" dirty="0">
                <a:solidFill>
                  <a:schemeClr val="tx1"/>
                </a:solidFill>
                <a:effectLst/>
                <a:latin typeface="+mn-lt"/>
                <a:ea typeface="+mn-ea"/>
              </a:rPr>
              <a:t>项：教育和医疗是两种不同的社会服务，二者为并列关系，且均与社会服务构成种属关系，与题干逻辑关系一致，保留；</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B </a:t>
            </a:r>
            <a:r>
              <a:rPr lang="zh-CN" altLang="en-US" sz="1200" kern="1200" dirty="0">
                <a:solidFill>
                  <a:schemeClr val="tx1"/>
                </a:solidFill>
                <a:effectLst/>
                <a:latin typeface="+mn-lt"/>
                <a:ea typeface="+mn-ea"/>
              </a:rPr>
              <a:t>项：养老和托育是两种不同的社会保障，二者为并列关系，但与社区工作不构成种属关系，与题干逻辑关系不一致，排除；</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C </a:t>
            </a:r>
            <a:r>
              <a:rPr lang="zh-CN" altLang="en-US" sz="1200" kern="1200" dirty="0">
                <a:solidFill>
                  <a:schemeClr val="tx1"/>
                </a:solidFill>
                <a:effectLst/>
                <a:latin typeface="+mn-lt"/>
                <a:ea typeface="+mn-ea"/>
              </a:rPr>
              <a:t>项：在球场踢足球，前两个词为运动与地点的对应关系，足球不是体育设施，足球与体育设施不构成种属关系，与题干逻辑关系不一致，排除；</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D </a:t>
            </a:r>
            <a:r>
              <a:rPr lang="zh-CN" altLang="en-US" sz="1200" kern="1200" dirty="0">
                <a:solidFill>
                  <a:schemeClr val="tx1"/>
                </a:solidFill>
                <a:effectLst/>
                <a:latin typeface="+mn-lt"/>
                <a:ea typeface="+mn-ea"/>
              </a:rPr>
              <a:t>项：防汛和抗震是两种不同的应急管理，二者为并列关系，且均与应急管理构成种属关系，与题干逻辑关系一致，保留。</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比较</a:t>
            </a:r>
            <a:r>
              <a:rPr lang="en-US" altLang="zh-CN" sz="1200" kern="1200" dirty="0">
                <a:solidFill>
                  <a:schemeClr val="tx1"/>
                </a:solidFill>
                <a:effectLst/>
                <a:latin typeface="+mn-lt"/>
                <a:ea typeface="+mn-ea"/>
              </a:rPr>
              <a:t> A.D </a:t>
            </a:r>
            <a:r>
              <a:rPr lang="zh-CN" altLang="en-US" sz="1200" kern="1200" dirty="0">
                <a:solidFill>
                  <a:schemeClr val="tx1"/>
                </a:solidFill>
                <a:effectLst/>
                <a:latin typeface="+mn-lt"/>
                <a:ea typeface="+mn-ea"/>
              </a:rPr>
              <a:t>两项，题干道路和桥梁、</a:t>
            </a:r>
            <a:r>
              <a:rPr lang="en-US" altLang="zh-CN" sz="1200" kern="1200" dirty="0">
                <a:solidFill>
                  <a:schemeClr val="tx1"/>
                </a:solidFill>
                <a:effectLst/>
                <a:latin typeface="+mn-lt"/>
                <a:ea typeface="+mn-ea"/>
              </a:rPr>
              <a:t>A </a:t>
            </a:r>
            <a:r>
              <a:rPr lang="zh-CN" altLang="en-US" sz="1200" kern="1200" dirty="0">
                <a:solidFill>
                  <a:schemeClr val="tx1"/>
                </a:solidFill>
                <a:effectLst/>
                <a:latin typeface="+mn-lt"/>
                <a:ea typeface="+mn-ea"/>
              </a:rPr>
              <a:t>项教育和医疗均为名词，而</a:t>
            </a:r>
            <a:r>
              <a:rPr lang="en-US" altLang="zh-CN" sz="1200" kern="1200" dirty="0">
                <a:solidFill>
                  <a:schemeClr val="tx1"/>
                </a:solidFill>
                <a:effectLst/>
                <a:latin typeface="+mn-lt"/>
                <a:ea typeface="+mn-ea"/>
              </a:rPr>
              <a:t> D </a:t>
            </a:r>
            <a:r>
              <a:rPr lang="zh-CN" altLang="en-US" sz="1200" kern="1200" dirty="0">
                <a:solidFill>
                  <a:schemeClr val="tx1"/>
                </a:solidFill>
                <a:effectLst/>
                <a:latin typeface="+mn-lt"/>
                <a:ea typeface="+mn-ea"/>
              </a:rPr>
              <a:t>项防汛和抗震均为动宾关系，</a:t>
            </a:r>
            <a:r>
              <a:rPr lang="en-US" altLang="zh-CN" sz="1200" kern="1200" dirty="0">
                <a:solidFill>
                  <a:schemeClr val="tx1"/>
                </a:solidFill>
                <a:effectLst/>
                <a:latin typeface="+mn-lt"/>
                <a:ea typeface="+mn-ea"/>
              </a:rPr>
              <a:t>A </a:t>
            </a:r>
            <a:r>
              <a:rPr lang="zh-CN" altLang="en-US" sz="1200" kern="1200" dirty="0">
                <a:solidFill>
                  <a:schemeClr val="tx1"/>
                </a:solidFill>
                <a:effectLst/>
                <a:latin typeface="+mn-lt"/>
                <a:ea typeface="+mn-ea"/>
              </a:rPr>
              <a:t>项与题干逻辑关系更为一致，当选。</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故正确答案为</a:t>
            </a:r>
            <a:r>
              <a:rPr lang="en-US" altLang="zh-CN" sz="1200" kern="1200" dirty="0">
                <a:solidFill>
                  <a:schemeClr val="tx1"/>
                </a:solidFill>
                <a:effectLst/>
                <a:latin typeface="+mn-lt"/>
                <a:ea typeface="+mn-ea"/>
              </a:rPr>
              <a:t> A</a:t>
            </a:r>
            <a:r>
              <a:rPr lang="zh-CN" altLang="en-US" sz="1200" kern="1200" dirty="0">
                <a:solidFill>
                  <a:schemeClr val="tx1"/>
                </a:solidFill>
                <a:effectLst/>
                <a:latin typeface="+mn-lt"/>
                <a:ea typeface="+mn-ea"/>
              </a:rPr>
              <a:t>。</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A</a:t>
            </a:r>
            <a:r>
              <a:rPr lang="zh-CN" altLang="en-US" sz="1200" kern="1200" dirty="0">
                <a:solidFill>
                  <a:schemeClr val="tx1"/>
                </a:solidFill>
                <a:effectLst/>
                <a:latin typeface="+mn-lt"/>
                <a:ea typeface="+mn-ea"/>
              </a:rPr>
              <a:t>：教育、医疗是并列的公共服务，都属于社会服务，逻辑完全匹配。</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B</a:t>
            </a:r>
            <a:r>
              <a:rPr lang="zh-CN" altLang="en-US" sz="1200" kern="1200" dirty="0">
                <a:solidFill>
                  <a:schemeClr val="tx1"/>
                </a:solidFill>
                <a:effectLst/>
                <a:latin typeface="+mn-lt"/>
                <a:ea typeface="+mn-ea"/>
              </a:rPr>
              <a:t>：养老、托育属于社会福利，而非社区工作（社区工作是执行场景），种属不符。</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C</a:t>
            </a:r>
            <a:r>
              <a:rPr lang="zh-CN" altLang="en-US" sz="1200" kern="1200" dirty="0">
                <a:solidFill>
                  <a:schemeClr val="tx1"/>
                </a:solidFill>
                <a:effectLst/>
                <a:latin typeface="+mn-lt"/>
                <a:ea typeface="+mn-ea"/>
              </a:rPr>
              <a:t>：足球是运动项目，球场是场地，二者是对应关系，不是并列，且足球不属于体育设施。</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D</a:t>
            </a:r>
            <a:r>
              <a:rPr lang="zh-CN" altLang="en-US" sz="1200" kern="1200" dirty="0">
                <a:solidFill>
                  <a:schemeClr val="tx1"/>
                </a:solidFill>
                <a:effectLst/>
                <a:latin typeface="+mn-lt"/>
                <a:ea typeface="+mn-ea"/>
              </a:rPr>
              <a:t>：防汛、抗震是应急管理的工作内容，而非应急管理本身，不是种属关系。</a:t>
            </a:r>
            <a:endParaRPr lang="zh-CN" altLang="en-US" sz="1200" kern="1200" dirty="0">
              <a:solidFill>
                <a:schemeClr val="tx1"/>
              </a:solidFill>
              <a:effectLst/>
              <a:latin typeface="+mn-lt"/>
              <a:ea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ea typeface="+mn-ea"/>
              </a:rPr>
              <a:t>国家发展、民族进步、社会和谐，三者构成并列关系。</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A </a:t>
            </a:r>
            <a:r>
              <a:rPr lang="zh-CN" altLang="en-US" sz="1200" kern="1200" dirty="0">
                <a:solidFill>
                  <a:schemeClr val="tx1"/>
                </a:solidFill>
                <a:effectLst/>
                <a:latin typeface="+mn-lt"/>
                <a:ea typeface="+mn-ea"/>
              </a:rPr>
              <a:t>项：民风淳朴是指民间的风尚，风气朴素贴近自然，与农村美丽不构成并列关系，与题干逻辑关系不一致，排除；</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B </a:t>
            </a:r>
            <a:r>
              <a:rPr lang="zh-CN" altLang="en-US" sz="1200" kern="1200" dirty="0">
                <a:solidFill>
                  <a:schemeClr val="tx1"/>
                </a:solidFill>
                <a:effectLst/>
                <a:latin typeface="+mn-lt"/>
                <a:ea typeface="+mn-ea"/>
              </a:rPr>
              <a:t>项：榜样力量能够鼓舞人心，二者不构成并列关系，与题干逻辑关系不一致，排除；</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C </a:t>
            </a:r>
            <a:r>
              <a:rPr lang="zh-CN" altLang="en-US" sz="1200" kern="1200" dirty="0">
                <a:solidFill>
                  <a:schemeClr val="tx1"/>
                </a:solidFill>
                <a:effectLst/>
                <a:latin typeface="+mn-lt"/>
                <a:ea typeface="+mn-ea"/>
              </a:rPr>
              <a:t>项：智慧增长、信心增强、干劲增大，三者构成并列关系，与题干逻辑关系一致，当选；</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D </a:t>
            </a:r>
            <a:r>
              <a:rPr lang="zh-CN" altLang="en-US" sz="1200" kern="1200" dirty="0">
                <a:solidFill>
                  <a:schemeClr val="tx1"/>
                </a:solidFill>
                <a:effectLst/>
                <a:latin typeface="+mn-lt"/>
                <a:ea typeface="+mn-ea"/>
              </a:rPr>
              <a:t>项：传统习惯承载了文化底蕴，二者不构成并列关系，与题干逻辑关系不一致，排除。</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故正确答案为</a:t>
            </a:r>
            <a:r>
              <a:rPr lang="en-US" altLang="zh-CN" sz="1200" kern="1200" dirty="0">
                <a:solidFill>
                  <a:schemeClr val="tx1"/>
                </a:solidFill>
                <a:effectLst/>
                <a:latin typeface="+mn-lt"/>
                <a:ea typeface="+mn-ea"/>
              </a:rPr>
              <a:t> C</a:t>
            </a:r>
            <a:r>
              <a:rPr lang="zh-CN" altLang="en-US" sz="1200" kern="1200" dirty="0">
                <a:solidFill>
                  <a:schemeClr val="tx1"/>
                </a:solidFill>
                <a:effectLst/>
                <a:latin typeface="+mn-lt"/>
                <a:ea typeface="+mn-ea"/>
              </a:rPr>
              <a:t>。</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国家发展、民族进步、社会和谐是三个并列的积极发展状态，结构均为</a:t>
            </a:r>
            <a:r>
              <a:rPr lang="en-US" altLang="zh-CN" sz="1200" kern="1200" dirty="0">
                <a:solidFill>
                  <a:schemeClr val="tx1"/>
                </a:solidFill>
                <a:effectLst/>
                <a:latin typeface="+mn-lt"/>
                <a:ea typeface="+mn-ea"/>
              </a:rPr>
              <a:t> “</a:t>
            </a:r>
            <a:r>
              <a:rPr lang="zh-CN" altLang="en-US" sz="1200" kern="1200" dirty="0">
                <a:solidFill>
                  <a:schemeClr val="tx1"/>
                </a:solidFill>
                <a:effectLst/>
                <a:latin typeface="+mn-lt"/>
                <a:ea typeface="+mn-ea"/>
              </a:rPr>
              <a:t>名词</a:t>
            </a:r>
            <a:r>
              <a:rPr lang="en-US" altLang="zh-CN" sz="1200" kern="1200" dirty="0">
                <a:solidFill>
                  <a:schemeClr val="tx1"/>
                </a:solidFill>
                <a:effectLst/>
                <a:latin typeface="+mn-lt"/>
                <a:ea typeface="+mn-ea"/>
              </a:rPr>
              <a:t> + </a:t>
            </a:r>
            <a:r>
              <a:rPr lang="zh-CN" altLang="en-US" sz="1200" kern="1200" dirty="0">
                <a:solidFill>
                  <a:schemeClr val="tx1"/>
                </a:solidFill>
                <a:effectLst/>
                <a:latin typeface="+mn-lt"/>
                <a:ea typeface="+mn-ea"/>
              </a:rPr>
              <a:t>动词</a:t>
            </a:r>
            <a:r>
              <a:rPr lang="en-US" altLang="zh-CN" sz="1200" kern="1200" dirty="0">
                <a:solidFill>
                  <a:schemeClr val="tx1"/>
                </a:solidFill>
                <a:effectLst/>
                <a:latin typeface="+mn-lt"/>
                <a:ea typeface="+mn-ea"/>
              </a:rPr>
              <a:t>” </a:t>
            </a:r>
            <a:r>
              <a:rPr lang="zh-CN" altLang="en-US" sz="1200" kern="1200" dirty="0">
                <a:solidFill>
                  <a:schemeClr val="tx1"/>
                </a:solidFill>
                <a:effectLst/>
                <a:latin typeface="+mn-lt"/>
                <a:ea typeface="+mn-ea"/>
              </a:rPr>
              <a:t>的主谓短语，且三者属于同一层面的社会发展目标，无包含或因果依赖关系。</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A </a:t>
            </a:r>
            <a:r>
              <a:rPr lang="zh-CN" altLang="en-US" sz="1200" kern="1200" dirty="0">
                <a:solidFill>
                  <a:schemeClr val="tx1"/>
                </a:solidFill>
                <a:effectLst/>
                <a:latin typeface="+mn-lt"/>
                <a:ea typeface="+mn-ea"/>
              </a:rPr>
              <a:t>选项：农村美丽、民风淳朴、农家幸福，虽为并列短语，但</a:t>
            </a:r>
            <a:r>
              <a:rPr lang="en-US" altLang="zh-CN" sz="1200" kern="1200" dirty="0">
                <a:solidFill>
                  <a:schemeClr val="tx1"/>
                </a:solidFill>
                <a:effectLst/>
                <a:latin typeface="+mn-lt"/>
                <a:ea typeface="+mn-ea"/>
              </a:rPr>
              <a:t> “</a:t>
            </a:r>
            <a:r>
              <a:rPr lang="zh-CN" altLang="en-US" sz="1200" kern="1200" dirty="0">
                <a:solidFill>
                  <a:schemeClr val="tx1"/>
                </a:solidFill>
                <a:effectLst/>
                <a:latin typeface="+mn-lt"/>
                <a:ea typeface="+mn-ea"/>
              </a:rPr>
              <a:t>农村</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民风</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农家</a:t>
            </a:r>
            <a:r>
              <a:rPr lang="en-US" altLang="zh-CN" sz="1200" kern="1200" dirty="0">
                <a:solidFill>
                  <a:schemeClr val="tx1"/>
                </a:solidFill>
                <a:effectLst/>
                <a:latin typeface="+mn-lt"/>
                <a:ea typeface="+mn-ea"/>
              </a:rPr>
              <a:t>” </a:t>
            </a:r>
            <a:r>
              <a:rPr lang="zh-CN" altLang="en-US" sz="1200" kern="1200" dirty="0">
                <a:solidFill>
                  <a:schemeClr val="tx1"/>
                </a:solidFill>
                <a:effectLst/>
                <a:latin typeface="+mn-lt"/>
                <a:ea typeface="+mn-ea"/>
              </a:rPr>
              <a:t>是不同范畴的概念（地域、风气、主体），与题干</a:t>
            </a:r>
            <a:r>
              <a:rPr lang="en-US" altLang="zh-CN" sz="1200" kern="1200" dirty="0">
                <a:solidFill>
                  <a:schemeClr val="tx1"/>
                </a:solidFill>
                <a:effectLst/>
                <a:latin typeface="+mn-lt"/>
                <a:ea typeface="+mn-ea"/>
              </a:rPr>
              <a:t> “</a:t>
            </a:r>
            <a:r>
              <a:rPr lang="zh-CN" altLang="en-US" sz="1200" kern="1200" dirty="0">
                <a:solidFill>
                  <a:schemeClr val="tx1"/>
                </a:solidFill>
                <a:effectLst/>
                <a:latin typeface="+mn-lt"/>
                <a:ea typeface="+mn-ea"/>
              </a:rPr>
              <a:t>国家</a:t>
            </a:r>
            <a:r>
              <a:rPr lang="en-US" altLang="zh-CN" sz="1200" kern="1200" dirty="0">
                <a:solidFill>
                  <a:schemeClr val="tx1"/>
                </a:solidFill>
                <a:effectLst/>
                <a:latin typeface="+mn-lt"/>
                <a:ea typeface="+mn-ea"/>
              </a:rPr>
              <a:t> - </a:t>
            </a:r>
            <a:r>
              <a:rPr lang="zh-CN" altLang="en-US" sz="1200" kern="1200" dirty="0">
                <a:solidFill>
                  <a:schemeClr val="tx1"/>
                </a:solidFill>
                <a:effectLst/>
                <a:latin typeface="+mn-lt"/>
                <a:ea typeface="+mn-ea"/>
              </a:rPr>
              <a:t>民族</a:t>
            </a:r>
            <a:r>
              <a:rPr lang="en-US" altLang="zh-CN" sz="1200" kern="1200" dirty="0">
                <a:solidFill>
                  <a:schemeClr val="tx1"/>
                </a:solidFill>
                <a:effectLst/>
                <a:latin typeface="+mn-lt"/>
                <a:ea typeface="+mn-ea"/>
              </a:rPr>
              <a:t> - </a:t>
            </a:r>
            <a:r>
              <a:rPr lang="zh-CN" altLang="en-US" sz="1200" kern="1200" dirty="0">
                <a:solidFill>
                  <a:schemeClr val="tx1"/>
                </a:solidFill>
                <a:effectLst/>
                <a:latin typeface="+mn-lt"/>
                <a:ea typeface="+mn-ea"/>
              </a:rPr>
              <a:t>社会</a:t>
            </a:r>
            <a:r>
              <a:rPr lang="en-US" altLang="zh-CN" sz="1200" kern="1200" dirty="0">
                <a:solidFill>
                  <a:schemeClr val="tx1"/>
                </a:solidFill>
                <a:effectLst/>
                <a:latin typeface="+mn-lt"/>
                <a:ea typeface="+mn-ea"/>
              </a:rPr>
              <a:t>” </a:t>
            </a:r>
            <a:r>
              <a:rPr lang="zh-CN" altLang="en-US" sz="1200" kern="1200" dirty="0">
                <a:solidFill>
                  <a:schemeClr val="tx1"/>
                </a:solidFill>
                <a:effectLst/>
                <a:latin typeface="+mn-lt"/>
                <a:ea typeface="+mn-ea"/>
              </a:rPr>
              <a:t>的同层级范畴不一致。</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B </a:t>
            </a:r>
            <a:r>
              <a:rPr lang="zh-CN" altLang="en-US" sz="1200" kern="1200" dirty="0">
                <a:solidFill>
                  <a:schemeClr val="tx1"/>
                </a:solidFill>
                <a:effectLst/>
                <a:latin typeface="+mn-lt"/>
                <a:ea typeface="+mn-ea"/>
              </a:rPr>
              <a:t>选项：榜样力量是名词短语，鼓舞人心、引导征程是动宾短语，结构不统一；且</a:t>
            </a:r>
            <a:r>
              <a:rPr lang="en-US" altLang="zh-CN" sz="1200" kern="1200" dirty="0">
                <a:solidFill>
                  <a:schemeClr val="tx1"/>
                </a:solidFill>
                <a:effectLst/>
                <a:latin typeface="+mn-lt"/>
                <a:ea typeface="+mn-ea"/>
              </a:rPr>
              <a:t> “</a:t>
            </a:r>
            <a:r>
              <a:rPr lang="zh-CN" altLang="en-US" sz="1200" kern="1200" dirty="0">
                <a:solidFill>
                  <a:schemeClr val="tx1"/>
                </a:solidFill>
                <a:effectLst/>
                <a:latin typeface="+mn-lt"/>
                <a:ea typeface="+mn-ea"/>
              </a:rPr>
              <a:t>榜样力量</a:t>
            </a:r>
            <a:r>
              <a:rPr lang="en-US" altLang="zh-CN" sz="1200" kern="1200" dirty="0">
                <a:solidFill>
                  <a:schemeClr val="tx1"/>
                </a:solidFill>
                <a:effectLst/>
                <a:latin typeface="+mn-lt"/>
                <a:ea typeface="+mn-ea"/>
              </a:rPr>
              <a:t>” </a:t>
            </a:r>
            <a:r>
              <a:rPr lang="zh-CN" altLang="en-US" sz="1200" kern="1200" dirty="0">
                <a:solidFill>
                  <a:schemeClr val="tx1"/>
                </a:solidFill>
                <a:effectLst/>
                <a:latin typeface="+mn-lt"/>
                <a:ea typeface="+mn-ea"/>
              </a:rPr>
              <a:t>是后两者的原因，存在因果关系，不符合题干并列关系。</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C </a:t>
            </a:r>
            <a:r>
              <a:rPr lang="zh-CN" altLang="en-US" sz="1200" kern="1200" dirty="0">
                <a:solidFill>
                  <a:schemeClr val="tx1"/>
                </a:solidFill>
                <a:effectLst/>
                <a:latin typeface="+mn-lt"/>
                <a:ea typeface="+mn-ea"/>
              </a:rPr>
              <a:t>选项：智慧增长、信心增强、干劲增大，均为</a:t>
            </a:r>
            <a:r>
              <a:rPr lang="en-US" altLang="zh-CN" sz="1200" kern="1200" dirty="0">
                <a:solidFill>
                  <a:schemeClr val="tx1"/>
                </a:solidFill>
                <a:effectLst/>
                <a:latin typeface="+mn-lt"/>
                <a:ea typeface="+mn-ea"/>
              </a:rPr>
              <a:t> “</a:t>
            </a:r>
            <a:r>
              <a:rPr lang="zh-CN" altLang="en-US" sz="1200" kern="1200" dirty="0">
                <a:solidFill>
                  <a:schemeClr val="tx1"/>
                </a:solidFill>
                <a:effectLst/>
                <a:latin typeface="+mn-lt"/>
                <a:ea typeface="+mn-ea"/>
              </a:rPr>
              <a:t>名词</a:t>
            </a:r>
            <a:r>
              <a:rPr lang="en-US" altLang="zh-CN" sz="1200" kern="1200" dirty="0">
                <a:solidFill>
                  <a:schemeClr val="tx1"/>
                </a:solidFill>
                <a:effectLst/>
                <a:latin typeface="+mn-lt"/>
                <a:ea typeface="+mn-ea"/>
              </a:rPr>
              <a:t> + </a:t>
            </a:r>
            <a:r>
              <a:rPr lang="zh-CN" altLang="en-US" sz="1200" kern="1200" dirty="0">
                <a:solidFill>
                  <a:schemeClr val="tx1"/>
                </a:solidFill>
                <a:effectLst/>
                <a:latin typeface="+mn-lt"/>
                <a:ea typeface="+mn-ea"/>
              </a:rPr>
              <a:t>动词</a:t>
            </a:r>
            <a:r>
              <a:rPr lang="en-US" altLang="zh-CN" sz="1200" kern="1200" dirty="0">
                <a:solidFill>
                  <a:schemeClr val="tx1"/>
                </a:solidFill>
                <a:effectLst/>
                <a:latin typeface="+mn-lt"/>
                <a:ea typeface="+mn-ea"/>
              </a:rPr>
              <a:t>” </a:t>
            </a:r>
            <a:r>
              <a:rPr lang="zh-CN" altLang="en-US" sz="1200" kern="1200" dirty="0">
                <a:solidFill>
                  <a:schemeClr val="tx1"/>
                </a:solidFill>
                <a:effectLst/>
                <a:latin typeface="+mn-lt"/>
                <a:ea typeface="+mn-ea"/>
              </a:rPr>
              <a:t>的主谓短语，是三个并列的个人积极状态，范畴层级一致，与题干逻辑完全匹配。</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D </a:t>
            </a:r>
            <a:r>
              <a:rPr lang="zh-CN" altLang="en-US" sz="1200" kern="1200" dirty="0">
                <a:solidFill>
                  <a:schemeClr val="tx1"/>
                </a:solidFill>
                <a:effectLst/>
                <a:latin typeface="+mn-lt"/>
                <a:ea typeface="+mn-ea"/>
              </a:rPr>
              <a:t>选项：传统习惯是文化底蕴的组成部分，文化底蕴又承载历史传承，三者是</a:t>
            </a:r>
            <a:r>
              <a:rPr lang="en-US" altLang="zh-CN" sz="1200" kern="1200" dirty="0">
                <a:solidFill>
                  <a:schemeClr val="tx1"/>
                </a:solidFill>
                <a:effectLst/>
                <a:latin typeface="+mn-lt"/>
                <a:ea typeface="+mn-ea"/>
              </a:rPr>
              <a:t> </a:t>
            </a:r>
            <a:r>
              <a:rPr lang="zh-CN" altLang="en-US" sz="1200" kern="1200" dirty="0">
                <a:solidFill>
                  <a:schemeClr val="tx1"/>
                </a:solidFill>
                <a:effectLst/>
                <a:latin typeface="+mn-lt"/>
                <a:ea typeface="+mn-ea"/>
              </a:rPr>
              <a:t>包含与承载关系，并非并列关系。</a:t>
            </a:r>
            <a:endParaRPr lang="zh-CN" altLang="en-US" sz="1200" kern="1200" dirty="0">
              <a:solidFill>
                <a:schemeClr val="tx1"/>
              </a:solidFill>
              <a:effectLst/>
              <a:latin typeface="+mn-lt"/>
              <a:ea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ea typeface="+mn-ea"/>
              </a:rPr>
              <a:t>题干可以造句为：花匠修剪花草，三个词构成主谓宾结构。</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A </a:t>
            </a:r>
            <a:r>
              <a:rPr lang="zh-CN" altLang="en-US" sz="1200" kern="1200" dirty="0">
                <a:solidFill>
                  <a:schemeClr val="tx1"/>
                </a:solidFill>
                <a:effectLst/>
                <a:latin typeface="+mn-lt"/>
                <a:ea typeface="+mn-ea"/>
              </a:rPr>
              <a:t>项：渔民在渔船上捕捞，三个词不是主谓宾结构，与题干逻辑关系不一致，排除；</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B </a:t>
            </a:r>
            <a:r>
              <a:rPr lang="zh-CN" altLang="en-US" sz="1200" kern="1200" dirty="0">
                <a:solidFill>
                  <a:schemeClr val="tx1"/>
                </a:solidFill>
                <a:effectLst/>
                <a:latin typeface="+mn-lt"/>
                <a:ea typeface="+mn-ea"/>
              </a:rPr>
              <a:t>项：病人住院，后两个词构成主谓宾结构，医生治疗病人，第一个词和第三个词构成主宾结构，与题干逻辑关系不一致，排除；</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C </a:t>
            </a:r>
            <a:r>
              <a:rPr lang="zh-CN" altLang="en-US" sz="1200" kern="1200" dirty="0">
                <a:solidFill>
                  <a:schemeClr val="tx1"/>
                </a:solidFill>
                <a:effectLst/>
                <a:latin typeface="+mn-lt"/>
                <a:ea typeface="+mn-ea"/>
              </a:rPr>
              <a:t>项：农民在土地上播种，三个词不是主谓宾结构，与题干逻辑关系不一致，排除；</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D </a:t>
            </a:r>
            <a:r>
              <a:rPr lang="zh-CN" altLang="en-US" sz="1200" kern="1200" dirty="0">
                <a:solidFill>
                  <a:schemeClr val="tx1"/>
                </a:solidFill>
                <a:effectLst/>
                <a:latin typeface="+mn-lt"/>
                <a:ea typeface="+mn-ea"/>
              </a:rPr>
              <a:t>项：学生阅读课本，三个词构成主谓宾结构，与题干逻辑关系一致，当选。</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故正确答案为</a:t>
            </a:r>
            <a:r>
              <a:rPr lang="en-US" altLang="zh-CN" sz="1200" kern="1200" dirty="0">
                <a:solidFill>
                  <a:schemeClr val="tx1"/>
                </a:solidFill>
                <a:effectLst/>
                <a:latin typeface="+mn-lt"/>
                <a:ea typeface="+mn-ea"/>
              </a:rPr>
              <a:t> D</a:t>
            </a:r>
            <a:r>
              <a:rPr lang="zh-CN" altLang="en-US" sz="1200" kern="1200" dirty="0">
                <a:solidFill>
                  <a:schemeClr val="tx1"/>
                </a:solidFill>
                <a:effectLst/>
                <a:latin typeface="+mn-lt"/>
                <a:ea typeface="+mn-ea"/>
              </a:rPr>
              <a:t>。</a:t>
            </a:r>
            <a:endParaRPr lang="zh-CN" altLang="en-US" sz="1200" kern="1200" dirty="0">
              <a:solidFill>
                <a:schemeClr val="tx1"/>
              </a:solidFill>
              <a:effectLst/>
              <a:latin typeface="+mn-lt"/>
              <a:ea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ea typeface="+mn-ea"/>
              </a:rPr>
              <a:t>重量单位包括：斤、两、钱、分。斤、两、钱是重量单位中的三个，三者是并列关系，且三者在重量单位中排列紧密连续。</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A </a:t>
            </a:r>
            <a:r>
              <a:rPr lang="zh-CN" altLang="en-US" sz="1200" kern="1200" dirty="0">
                <a:solidFill>
                  <a:schemeClr val="tx1"/>
                </a:solidFill>
                <a:effectLst/>
                <a:latin typeface="+mn-lt"/>
                <a:ea typeface="+mn-ea"/>
              </a:rPr>
              <a:t>项：眼、口、手是身体中的一部分，三者是并列关系，但是三者不存在紧密连续的关系，与题干逻辑关系不一致，排除；</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B </a:t>
            </a:r>
            <a:r>
              <a:rPr lang="zh-CN" altLang="en-US" sz="1200" kern="1200" dirty="0">
                <a:solidFill>
                  <a:schemeClr val="tx1"/>
                </a:solidFill>
                <a:effectLst/>
                <a:latin typeface="+mn-lt"/>
                <a:ea typeface="+mn-ea"/>
              </a:rPr>
              <a:t>项：年、月、日是计时单位中的三个，三者是并列关系，且三者在计时单位中排列紧密连续，与题干逻辑关系一致，当选；</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C </a:t>
            </a:r>
            <a:r>
              <a:rPr lang="zh-CN" altLang="en-US" sz="1200" kern="1200" dirty="0">
                <a:solidFill>
                  <a:schemeClr val="tx1"/>
                </a:solidFill>
                <a:effectLst/>
                <a:latin typeface="+mn-lt"/>
                <a:ea typeface="+mn-ea"/>
              </a:rPr>
              <a:t>项：天、时、秒是计时单位中的三个，三者是并列关系，但是三者在计时单位中的排列并不是紧密连续的（一般连续的顺序是天、时、分、秒），与题干逻辑关系不一致，排除；</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D </a:t>
            </a:r>
            <a:r>
              <a:rPr lang="zh-CN" altLang="en-US" sz="1200" kern="1200" dirty="0">
                <a:solidFill>
                  <a:schemeClr val="tx1"/>
                </a:solidFill>
                <a:effectLst/>
                <a:latin typeface="+mn-lt"/>
                <a:ea typeface="+mn-ea"/>
              </a:rPr>
              <a:t>项：孟、仲、季为兄弟间的长幼排名顺序，三者是并列关系，但是三者在长幼排名顺序上并不是紧密连续的（一般连续的顺序是孟、仲、叔、季），与题干逻辑关系不一致，排除。</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故正确答案为</a:t>
            </a:r>
            <a:r>
              <a:rPr lang="en-US" altLang="zh-CN" sz="1200" kern="1200" dirty="0">
                <a:solidFill>
                  <a:schemeClr val="tx1"/>
                </a:solidFill>
                <a:effectLst/>
                <a:latin typeface="+mn-lt"/>
                <a:ea typeface="+mn-ea"/>
              </a:rPr>
              <a:t> B</a:t>
            </a:r>
            <a:r>
              <a:rPr lang="zh-CN" altLang="en-US" sz="1200" kern="1200" dirty="0">
                <a:solidFill>
                  <a:schemeClr val="tx1"/>
                </a:solidFill>
                <a:effectLst/>
                <a:latin typeface="+mn-lt"/>
                <a:ea typeface="+mn-ea"/>
              </a:rPr>
              <a:t>。</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斤、两、钱是中国古代及市制中的重量单位，三者为并列关系，且存在从大到小的明确度量层级（</a:t>
            </a:r>
            <a:r>
              <a:rPr lang="en-US" altLang="zh-CN" sz="1200" kern="1200" dirty="0">
                <a:solidFill>
                  <a:schemeClr val="tx1"/>
                </a:solidFill>
                <a:effectLst/>
                <a:latin typeface="+mn-lt"/>
                <a:ea typeface="+mn-ea"/>
              </a:rPr>
              <a:t>1 </a:t>
            </a:r>
            <a:r>
              <a:rPr lang="zh-CN" altLang="en-US" sz="1200" kern="1200" dirty="0">
                <a:solidFill>
                  <a:schemeClr val="tx1"/>
                </a:solidFill>
                <a:effectLst/>
                <a:latin typeface="+mn-lt"/>
                <a:ea typeface="+mn-ea"/>
              </a:rPr>
              <a:t>斤</a:t>
            </a:r>
            <a:r>
              <a:rPr lang="en-US" altLang="zh-CN" sz="1200" kern="1200" dirty="0">
                <a:solidFill>
                  <a:schemeClr val="tx1"/>
                </a:solidFill>
                <a:effectLst/>
                <a:latin typeface="+mn-lt"/>
                <a:ea typeface="+mn-ea"/>
              </a:rPr>
              <a:t> = 10 </a:t>
            </a:r>
            <a:r>
              <a:rPr lang="zh-CN" altLang="en-US" sz="1200" kern="1200" dirty="0">
                <a:solidFill>
                  <a:schemeClr val="tx1"/>
                </a:solidFill>
                <a:effectLst/>
                <a:latin typeface="+mn-lt"/>
                <a:ea typeface="+mn-ea"/>
              </a:rPr>
              <a:t>两，</a:t>
            </a:r>
            <a:r>
              <a:rPr lang="en-US" altLang="zh-CN" sz="1200" kern="1200" dirty="0">
                <a:solidFill>
                  <a:schemeClr val="tx1"/>
                </a:solidFill>
                <a:effectLst/>
                <a:latin typeface="+mn-lt"/>
                <a:ea typeface="+mn-ea"/>
              </a:rPr>
              <a:t>1 </a:t>
            </a:r>
            <a:r>
              <a:rPr lang="zh-CN" altLang="en-US" sz="1200" kern="1200" dirty="0">
                <a:solidFill>
                  <a:schemeClr val="tx1"/>
                </a:solidFill>
                <a:effectLst/>
                <a:latin typeface="+mn-lt"/>
                <a:ea typeface="+mn-ea"/>
              </a:rPr>
              <a:t>两</a:t>
            </a:r>
            <a:r>
              <a:rPr lang="en-US" altLang="zh-CN" sz="1200" kern="1200" dirty="0">
                <a:solidFill>
                  <a:schemeClr val="tx1"/>
                </a:solidFill>
                <a:effectLst/>
                <a:latin typeface="+mn-lt"/>
                <a:ea typeface="+mn-ea"/>
              </a:rPr>
              <a:t> = 10 </a:t>
            </a:r>
            <a:r>
              <a:rPr lang="zh-CN" altLang="en-US" sz="1200" kern="1200" dirty="0">
                <a:solidFill>
                  <a:schemeClr val="tx1"/>
                </a:solidFill>
                <a:effectLst/>
                <a:latin typeface="+mn-lt"/>
                <a:ea typeface="+mn-ea"/>
              </a:rPr>
              <a:t>钱）。</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A </a:t>
            </a:r>
            <a:r>
              <a:rPr lang="zh-CN" altLang="en-US" sz="1200" kern="1200" dirty="0">
                <a:solidFill>
                  <a:schemeClr val="tx1"/>
                </a:solidFill>
                <a:effectLst/>
                <a:latin typeface="+mn-lt"/>
                <a:ea typeface="+mn-ea"/>
              </a:rPr>
              <a:t>选项：眼、口、手是人体不同器官，为并列关系，但无度量层级之分，不符合题干逻辑。</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B </a:t>
            </a:r>
            <a:r>
              <a:rPr lang="zh-CN" altLang="en-US" sz="1200" kern="1200" dirty="0">
                <a:solidFill>
                  <a:schemeClr val="tx1"/>
                </a:solidFill>
                <a:effectLst/>
                <a:latin typeface="+mn-lt"/>
                <a:ea typeface="+mn-ea"/>
              </a:rPr>
              <a:t>选项：年、月、日是时间度量单位，三者为并列关系，且存在从大到小的明确层级（</a:t>
            </a:r>
            <a:r>
              <a:rPr lang="en-US" altLang="zh-CN" sz="1200" kern="1200" dirty="0">
                <a:solidFill>
                  <a:schemeClr val="tx1"/>
                </a:solidFill>
                <a:effectLst/>
                <a:latin typeface="+mn-lt"/>
                <a:ea typeface="+mn-ea"/>
              </a:rPr>
              <a:t>1 </a:t>
            </a:r>
            <a:r>
              <a:rPr lang="zh-CN" altLang="en-US" sz="1200" kern="1200" dirty="0">
                <a:solidFill>
                  <a:schemeClr val="tx1"/>
                </a:solidFill>
                <a:effectLst/>
                <a:latin typeface="+mn-lt"/>
                <a:ea typeface="+mn-ea"/>
              </a:rPr>
              <a:t>年</a:t>
            </a:r>
            <a:r>
              <a:rPr lang="en-US" altLang="zh-CN" sz="1200" kern="1200" dirty="0">
                <a:solidFill>
                  <a:schemeClr val="tx1"/>
                </a:solidFill>
                <a:effectLst/>
                <a:latin typeface="+mn-lt"/>
                <a:ea typeface="+mn-ea"/>
              </a:rPr>
              <a:t> = 12 </a:t>
            </a:r>
            <a:r>
              <a:rPr lang="zh-CN" altLang="en-US" sz="1200" kern="1200" dirty="0">
                <a:solidFill>
                  <a:schemeClr val="tx1"/>
                </a:solidFill>
                <a:effectLst/>
                <a:latin typeface="+mn-lt"/>
                <a:ea typeface="+mn-ea"/>
              </a:rPr>
              <a:t>月，</a:t>
            </a:r>
            <a:r>
              <a:rPr lang="en-US" altLang="zh-CN" sz="1200" kern="1200" dirty="0">
                <a:solidFill>
                  <a:schemeClr val="tx1"/>
                </a:solidFill>
                <a:effectLst/>
                <a:latin typeface="+mn-lt"/>
                <a:ea typeface="+mn-ea"/>
              </a:rPr>
              <a:t>1 </a:t>
            </a:r>
            <a:r>
              <a:rPr lang="zh-CN" altLang="en-US" sz="1200" kern="1200" dirty="0">
                <a:solidFill>
                  <a:schemeClr val="tx1"/>
                </a:solidFill>
                <a:effectLst/>
                <a:latin typeface="+mn-lt"/>
                <a:ea typeface="+mn-ea"/>
              </a:rPr>
              <a:t>月包含若干日），与题干逻辑完全匹配。</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C </a:t>
            </a:r>
            <a:r>
              <a:rPr lang="zh-CN" altLang="en-US" sz="1200" kern="1200" dirty="0">
                <a:solidFill>
                  <a:schemeClr val="tx1"/>
                </a:solidFill>
                <a:effectLst/>
                <a:latin typeface="+mn-lt"/>
                <a:ea typeface="+mn-ea"/>
              </a:rPr>
              <a:t>选项：天、时、秒是时间单位，但层级跳跃（天</a:t>
            </a:r>
            <a:r>
              <a:rPr lang="en-US" altLang="en-US" sz="1200" kern="1200" dirty="0">
                <a:solidFill>
                  <a:schemeClr val="tx1"/>
                </a:solidFill>
                <a:effectLst/>
                <a:latin typeface="+mn-lt"/>
                <a:ea typeface="+mn-ea"/>
              </a:rPr>
              <a:t>→</a:t>
            </a:r>
            <a:r>
              <a:rPr lang="zh-CN" altLang="en-US" sz="1200" kern="1200" dirty="0">
                <a:solidFill>
                  <a:schemeClr val="tx1"/>
                </a:solidFill>
                <a:effectLst/>
                <a:latin typeface="+mn-lt"/>
                <a:ea typeface="+mn-ea"/>
              </a:rPr>
              <a:t>时</a:t>
            </a:r>
            <a:r>
              <a:rPr lang="en-US" altLang="en-US" sz="1200" kern="1200" dirty="0">
                <a:solidFill>
                  <a:schemeClr val="tx1"/>
                </a:solidFill>
                <a:effectLst/>
                <a:latin typeface="+mn-lt"/>
                <a:ea typeface="+mn-ea"/>
              </a:rPr>
              <a:t>→</a:t>
            </a:r>
            <a:r>
              <a:rPr lang="zh-CN" altLang="en-US" sz="1200" kern="1200" dirty="0">
                <a:solidFill>
                  <a:schemeClr val="tx1"/>
                </a:solidFill>
                <a:effectLst/>
                <a:latin typeface="+mn-lt"/>
                <a:ea typeface="+mn-ea"/>
              </a:rPr>
              <a:t>分</a:t>
            </a:r>
            <a:r>
              <a:rPr lang="en-US" altLang="en-US" sz="1200" kern="1200" dirty="0">
                <a:solidFill>
                  <a:schemeClr val="tx1"/>
                </a:solidFill>
                <a:effectLst/>
                <a:latin typeface="+mn-lt"/>
                <a:ea typeface="+mn-ea"/>
              </a:rPr>
              <a:t>→</a:t>
            </a:r>
            <a:r>
              <a:rPr lang="zh-CN" altLang="en-US" sz="1200" kern="1200" dirty="0">
                <a:solidFill>
                  <a:schemeClr val="tx1"/>
                </a:solidFill>
                <a:effectLst/>
                <a:latin typeface="+mn-lt"/>
                <a:ea typeface="+mn-ea"/>
              </a:rPr>
              <a:t>秒），中间缺少</a:t>
            </a:r>
            <a:r>
              <a:rPr lang="en-US" altLang="zh-CN" sz="1200" kern="1200" dirty="0">
                <a:solidFill>
                  <a:schemeClr val="tx1"/>
                </a:solidFill>
                <a:effectLst/>
                <a:latin typeface="+mn-lt"/>
                <a:ea typeface="+mn-ea"/>
              </a:rPr>
              <a:t> “</a:t>
            </a:r>
            <a:r>
              <a:rPr lang="zh-CN" altLang="en-US" sz="1200" kern="1200" dirty="0">
                <a:solidFill>
                  <a:schemeClr val="tx1"/>
                </a:solidFill>
                <a:effectLst/>
                <a:latin typeface="+mn-lt"/>
                <a:ea typeface="+mn-ea"/>
              </a:rPr>
              <a:t>分</a:t>
            </a:r>
            <a:r>
              <a:rPr lang="en-US" altLang="zh-CN" sz="1200" kern="1200" dirty="0">
                <a:solidFill>
                  <a:schemeClr val="tx1"/>
                </a:solidFill>
                <a:effectLst/>
                <a:latin typeface="+mn-lt"/>
                <a:ea typeface="+mn-ea"/>
              </a:rPr>
              <a:t>” </a:t>
            </a:r>
            <a:r>
              <a:rPr lang="zh-CN" altLang="en-US" sz="1200" kern="1200" dirty="0">
                <a:solidFill>
                  <a:schemeClr val="tx1"/>
                </a:solidFill>
                <a:effectLst/>
                <a:latin typeface="+mn-lt"/>
                <a:ea typeface="+mn-ea"/>
              </a:rPr>
              <a:t>这一单位，度量层级不连贯，不如</a:t>
            </a:r>
            <a:r>
              <a:rPr lang="en-US" altLang="zh-CN" sz="1200" kern="1200" dirty="0">
                <a:solidFill>
                  <a:schemeClr val="tx1"/>
                </a:solidFill>
                <a:effectLst/>
                <a:latin typeface="+mn-lt"/>
                <a:ea typeface="+mn-ea"/>
              </a:rPr>
              <a:t> B </a:t>
            </a:r>
            <a:r>
              <a:rPr lang="zh-CN" altLang="en-US" sz="1200" kern="1200" dirty="0">
                <a:solidFill>
                  <a:schemeClr val="tx1"/>
                </a:solidFill>
                <a:effectLst/>
                <a:latin typeface="+mn-lt"/>
                <a:ea typeface="+mn-ea"/>
              </a:rPr>
              <a:t>选项严谨。</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D </a:t>
            </a:r>
            <a:r>
              <a:rPr lang="zh-CN" altLang="en-US" sz="1200" kern="1200" dirty="0">
                <a:solidFill>
                  <a:schemeClr val="tx1"/>
                </a:solidFill>
                <a:effectLst/>
                <a:latin typeface="+mn-lt"/>
                <a:ea typeface="+mn-ea"/>
              </a:rPr>
              <a:t>选项：孟、仲、季是表示季节次序的词（如孟春、仲春、季春），为并列关系，但无度量属性，不符合题干逻辑。</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四者连用（孟、仲、叔、季）时，严格对应</a:t>
            </a:r>
            <a:r>
              <a:rPr lang="en-US" altLang="zh-CN" sz="1200" kern="1200" dirty="0">
                <a:solidFill>
                  <a:schemeClr val="tx1"/>
                </a:solidFill>
                <a:effectLst/>
                <a:latin typeface="+mn-lt"/>
                <a:ea typeface="+mn-ea"/>
              </a:rPr>
              <a:t> “</a:t>
            </a:r>
            <a:r>
              <a:rPr lang="zh-CN" altLang="en-US" sz="1200" kern="1200" dirty="0">
                <a:solidFill>
                  <a:schemeClr val="tx1"/>
                </a:solidFill>
                <a:effectLst/>
                <a:latin typeface="+mn-lt"/>
                <a:ea typeface="+mn-ea"/>
              </a:rPr>
              <a:t>长、次、三、幼</a:t>
            </a:r>
            <a:r>
              <a:rPr lang="en-US" altLang="zh-CN" sz="1200" kern="1200" dirty="0">
                <a:solidFill>
                  <a:schemeClr val="tx1"/>
                </a:solidFill>
                <a:effectLst/>
                <a:latin typeface="+mn-lt"/>
                <a:ea typeface="+mn-ea"/>
              </a:rPr>
              <a:t>” </a:t>
            </a:r>
            <a:r>
              <a:rPr lang="zh-CN" altLang="en-US" sz="1200" kern="1200" dirty="0">
                <a:solidFill>
                  <a:schemeClr val="tx1"/>
                </a:solidFill>
                <a:effectLst/>
                <a:latin typeface="+mn-lt"/>
                <a:ea typeface="+mn-ea"/>
              </a:rPr>
              <a:t>的顺序；若兄弟少于</a:t>
            </a:r>
            <a:r>
              <a:rPr lang="en-US" altLang="zh-CN" sz="1200" kern="1200" dirty="0">
                <a:solidFill>
                  <a:schemeClr val="tx1"/>
                </a:solidFill>
                <a:effectLst/>
                <a:latin typeface="+mn-lt"/>
                <a:ea typeface="+mn-ea"/>
              </a:rPr>
              <a:t> 4 </a:t>
            </a:r>
            <a:r>
              <a:rPr lang="zh-CN" altLang="en-US" sz="1200" kern="1200" dirty="0">
                <a:solidFill>
                  <a:schemeClr val="tx1"/>
                </a:solidFill>
                <a:effectLst/>
                <a:latin typeface="+mn-lt"/>
                <a:ea typeface="+mn-ea"/>
              </a:rPr>
              <a:t>人，</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季</a:t>
            </a:r>
            <a:r>
              <a:rPr lang="en-US" altLang="zh-CN" sz="1200" kern="1200" dirty="0">
                <a:solidFill>
                  <a:schemeClr val="tx1"/>
                </a:solidFill>
                <a:effectLst/>
                <a:latin typeface="+mn-lt"/>
                <a:ea typeface="+mn-ea"/>
              </a:rPr>
              <a:t>” </a:t>
            </a:r>
            <a:r>
              <a:rPr lang="zh-CN" altLang="en-US" sz="1200" kern="1200" dirty="0">
                <a:solidFill>
                  <a:schemeClr val="tx1"/>
                </a:solidFill>
                <a:effectLst/>
                <a:latin typeface="+mn-lt"/>
                <a:ea typeface="+mn-ea"/>
              </a:rPr>
              <a:t>也固定指最小的那个。</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孟春、仲春、季春是农历对春季三个月的时序划分，分别对应春季的第一个月、第二个月、第三个月</a:t>
            </a:r>
            <a:endParaRPr lang="zh-CN" altLang="en-US" sz="1200" kern="1200" dirty="0">
              <a:solidFill>
                <a:schemeClr val="tx1"/>
              </a:solidFill>
              <a:effectLst/>
              <a:latin typeface="+mn-lt"/>
              <a:ea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ea typeface="+mn-ea"/>
              </a:rPr>
              <a:t>锤炼本领为动宾关系，通过奋斗来锤炼本领，第一个词与后两个词构成方式目的的对应关系。</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A </a:t>
            </a:r>
            <a:r>
              <a:rPr lang="zh-CN" altLang="en-US" sz="1200" kern="1200" dirty="0">
                <a:solidFill>
                  <a:schemeClr val="tx1"/>
                </a:solidFill>
                <a:effectLst/>
                <a:latin typeface="+mn-lt"/>
                <a:ea typeface="+mn-ea"/>
              </a:rPr>
              <a:t>项：增长才干为动宾关系，通过磨砺来增长才干，第一个词与后两个词构成方式目的的对应关系，与题干逻辑关系一致，保留；</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B </a:t>
            </a:r>
            <a:r>
              <a:rPr lang="zh-CN" altLang="en-US" sz="1200" kern="1200" dirty="0">
                <a:solidFill>
                  <a:schemeClr val="tx1"/>
                </a:solidFill>
                <a:effectLst/>
                <a:latin typeface="+mn-lt"/>
                <a:ea typeface="+mn-ea"/>
              </a:rPr>
              <a:t>项：奉献社会为动宾关系，通过实践来奉献社会，第一个词与后两个词构成方式目的的对应关系，与题干逻辑关系一致，保留；</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C </a:t>
            </a:r>
            <a:r>
              <a:rPr lang="zh-CN" altLang="en-US" sz="1200" kern="1200" dirty="0">
                <a:solidFill>
                  <a:schemeClr val="tx1"/>
                </a:solidFill>
                <a:effectLst/>
                <a:latin typeface="+mn-lt"/>
                <a:ea typeface="+mn-ea"/>
              </a:rPr>
              <a:t>项：获取阅读并非动宾关系，与题干逻辑关系不一致，排除；</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D </a:t>
            </a:r>
            <a:r>
              <a:rPr lang="zh-CN" altLang="en-US" sz="1200" kern="1200" dirty="0">
                <a:solidFill>
                  <a:schemeClr val="tx1"/>
                </a:solidFill>
                <a:effectLst/>
                <a:latin typeface="+mn-lt"/>
                <a:ea typeface="+mn-ea"/>
              </a:rPr>
              <a:t>项：智慧启迪并非动宾关系，与题干逻辑关系不一致，排除。</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对比</a:t>
            </a:r>
            <a:r>
              <a:rPr lang="en-US" altLang="zh-CN" sz="1200" kern="1200" dirty="0">
                <a:solidFill>
                  <a:schemeClr val="tx1"/>
                </a:solidFill>
                <a:effectLst/>
                <a:latin typeface="+mn-lt"/>
                <a:ea typeface="+mn-ea"/>
              </a:rPr>
              <a:t> A.B </a:t>
            </a:r>
            <a:r>
              <a:rPr lang="zh-CN" altLang="en-US" sz="1200" kern="1200" dirty="0">
                <a:solidFill>
                  <a:schemeClr val="tx1"/>
                </a:solidFill>
                <a:effectLst/>
                <a:latin typeface="+mn-lt"/>
                <a:ea typeface="+mn-ea"/>
              </a:rPr>
              <a:t>两项，题干的锤炼本领属于个人能力的提升，</a:t>
            </a:r>
            <a:r>
              <a:rPr lang="en-US" altLang="zh-CN" sz="1200" kern="1200" dirty="0">
                <a:solidFill>
                  <a:schemeClr val="tx1"/>
                </a:solidFill>
                <a:effectLst/>
                <a:latin typeface="+mn-lt"/>
                <a:ea typeface="+mn-ea"/>
              </a:rPr>
              <a:t>A </a:t>
            </a:r>
            <a:r>
              <a:rPr lang="zh-CN" altLang="en-US" sz="1200" kern="1200" dirty="0">
                <a:solidFill>
                  <a:schemeClr val="tx1"/>
                </a:solidFill>
                <a:effectLst/>
                <a:latin typeface="+mn-lt"/>
                <a:ea typeface="+mn-ea"/>
              </a:rPr>
              <a:t>项的增长才干也属于个人能力的提升，而</a:t>
            </a:r>
            <a:r>
              <a:rPr lang="en-US" altLang="zh-CN" sz="1200" kern="1200" dirty="0">
                <a:solidFill>
                  <a:schemeClr val="tx1"/>
                </a:solidFill>
                <a:effectLst/>
                <a:latin typeface="+mn-lt"/>
                <a:ea typeface="+mn-ea"/>
              </a:rPr>
              <a:t> B </a:t>
            </a:r>
            <a:r>
              <a:rPr lang="zh-CN" altLang="en-US" sz="1200" kern="1200" dirty="0">
                <a:solidFill>
                  <a:schemeClr val="tx1"/>
                </a:solidFill>
                <a:effectLst/>
                <a:latin typeface="+mn-lt"/>
                <a:ea typeface="+mn-ea"/>
              </a:rPr>
              <a:t>项的奉献社会不属于个人能力的提升，故</a:t>
            </a:r>
            <a:r>
              <a:rPr lang="en-US" altLang="zh-CN" sz="1200" kern="1200" dirty="0">
                <a:solidFill>
                  <a:schemeClr val="tx1"/>
                </a:solidFill>
                <a:effectLst/>
                <a:latin typeface="+mn-lt"/>
                <a:ea typeface="+mn-ea"/>
              </a:rPr>
              <a:t> A </a:t>
            </a:r>
            <a:r>
              <a:rPr lang="zh-CN" altLang="en-US" sz="1200" kern="1200" dirty="0">
                <a:solidFill>
                  <a:schemeClr val="tx1"/>
                </a:solidFill>
                <a:effectLst/>
                <a:latin typeface="+mn-lt"/>
                <a:ea typeface="+mn-ea"/>
              </a:rPr>
              <a:t>项与题干逻辑关系更一致，当选。</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故正确答案为</a:t>
            </a:r>
            <a:r>
              <a:rPr lang="en-US" altLang="zh-CN" sz="1200" kern="1200" dirty="0">
                <a:solidFill>
                  <a:schemeClr val="tx1"/>
                </a:solidFill>
                <a:effectLst/>
                <a:latin typeface="+mn-lt"/>
                <a:ea typeface="+mn-ea"/>
              </a:rPr>
              <a:t> A</a:t>
            </a:r>
            <a:r>
              <a:rPr lang="zh-CN" altLang="en-US" sz="1200" kern="1200" dirty="0">
                <a:solidFill>
                  <a:schemeClr val="tx1"/>
                </a:solidFill>
                <a:effectLst/>
                <a:latin typeface="+mn-lt"/>
                <a:ea typeface="+mn-ea"/>
              </a:rPr>
              <a:t>。</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奋斗（方式）</a:t>
            </a:r>
            <a:r>
              <a:rPr lang="en-US" altLang="zh-CN" sz="1200" kern="1200" dirty="0">
                <a:solidFill>
                  <a:schemeClr val="tx1"/>
                </a:solidFill>
                <a:effectLst/>
                <a:latin typeface="+mn-lt"/>
                <a:ea typeface="+mn-ea"/>
              </a:rPr>
              <a:t>+ </a:t>
            </a:r>
            <a:r>
              <a:rPr lang="zh-CN" altLang="en-US" sz="1200" kern="1200" dirty="0">
                <a:solidFill>
                  <a:schemeClr val="tx1"/>
                </a:solidFill>
                <a:effectLst/>
                <a:latin typeface="+mn-lt"/>
                <a:ea typeface="+mn-ea"/>
              </a:rPr>
              <a:t>锤炼（动作）</a:t>
            </a:r>
            <a:r>
              <a:rPr lang="en-US" altLang="en-US" sz="1200" kern="1200" dirty="0">
                <a:solidFill>
                  <a:schemeClr val="tx1"/>
                </a:solidFill>
                <a:effectLst/>
                <a:latin typeface="+mn-lt"/>
                <a:ea typeface="+mn-ea"/>
              </a:rPr>
              <a:t>→</a:t>
            </a:r>
            <a:r>
              <a:rPr lang="en-US" altLang="zh-CN" sz="1200" kern="1200" dirty="0">
                <a:solidFill>
                  <a:schemeClr val="tx1"/>
                </a:solidFill>
                <a:effectLst/>
                <a:latin typeface="+mn-lt"/>
                <a:ea typeface="+mn-ea"/>
              </a:rPr>
              <a:t> </a:t>
            </a:r>
            <a:r>
              <a:rPr lang="zh-CN" altLang="en-US" sz="1200" kern="1200" dirty="0">
                <a:solidFill>
                  <a:schemeClr val="tx1"/>
                </a:solidFill>
                <a:effectLst/>
                <a:latin typeface="+mn-lt"/>
                <a:ea typeface="+mn-ea"/>
              </a:rPr>
              <a:t>本领（对象），即</a:t>
            </a:r>
            <a:r>
              <a:rPr lang="en-US" altLang="zh-CN" sz="1200" kern="1200" dirty="0">
                <a:solidFill>
                  <a:schemeClr val="tx1"/>
                </a:solidFill>
                <a:effectLst/>
                <a:latin typeface="+mn-lt"/>
                <a:ea typeface="+mn-ea"/>
              </a:rPr>
              <a:t> </a:t>
            </a:r>
            <a:r>
              <a:rPr lang="zh-CN" altLang="en-US" sz="1200" kern="1200" dirty="0">
                <a:solidFill>
                  <a:schemeClr val="tx1"/>
                </a:solidFill>
                <a:effectLst/>
                <a:latin typeface="+mn-lt"/>
                <a:ea typeface="+mn-ea"/>
              </a:rPr>
              <a:t>通过奋斗这个方式，锤炼并提升本领，动作与对象是动宾关系，整体是</a:t>
            </a:r>
            <a:r>
              <a:rPr lang="en-US" altLang="zh-CN" sz="1200" kern="1200" dirty="0">
                <a:solidFill>
                  <a:schemeClr val="tx1"/>
                </a:solidFill>
                <a:effectLst/>
                <a:latin typeface="+mn-lt"/>
                <a:ea typeface="+mn-ea"/>
              </a:rPr>
              <a:t> “</a:t>
            </a:r>
            <a:r>
              <a:rPr lang="zh-CN" altLang="en-US" sz="1200" kern="1200" dirty="0">
                <a:solidFill>
                  <a:schemeClr val="tx1"/>
                </a:solidFill>
                <a:effectLst/>
                <a:latin typeface="+mn-lt"/>
                <a:ea typeface="+mn-ea"/>
              </a:rPr>
              <a:t>方式</a:t>
            </a:r>
            <a:r>
              <a:rPr lang="en-US" altLang="zh-CN" sz="1200" kern="1200" dirty="0">
                <a:solidFill>
                  <a:schemeClr val="tx1"/>
                </a:solidFill>
                <a:effectLst/>
                <a:latin typeface="+mn-lt"/>
                <a:ea typeface="+mn-ea"/>
              </a:rPr>
              <a:t> - </a:t>
            </a:r>
            <a:r>
              <a:rPr lang="zh-CN" altLang="en-US" sz="1200" kern="1200" dirty="0">
                <a:solidFill>
                  <a:schemeClr val="tx1"/>
                </a:solidFill>
                <a:effectLst/>
                <a:latin typeface="+mn-lt"/>
                <a:ea typeface="+mn-ea"/>
              </a:rPr>
              <a:t>动作</a:t>
            </a:r>
            <a:r>
              <a:rPr lang="en-US" altLang="zh-CN" sz="1200" kern="1200" dirty="0">
                <a:solidFill>
                  <a:schemeClr val="tx1"/>
                </a:solidFill>
                <a:effectLst/>
                <a:latin typeface="+mn-lt"/>
                <a:ea typeface="+mn-ea"/>
              </a:rPr>
              <a:t> - </a:t>
            </a:r>
            <a:r>
              <a:rPr lang="zh-CN" altLang="en-US" sz="1200" kern="1200" dirty="0">
                <a:solidFill>
                  <a:schemeClr val="tx1"/>
                </a:solidFill>
                <a:effectLst/>
                <a:latin typeface="+mn-lt"/>
                <a:ea typeface="+mn-ea"/>
              </a:rPr>
              <a:t>目标对象</a:t>
            </a:r>
            <a:r>
              <a:rPr lang="en-US" altLang="zh-CN" sz="1200" kern="1200" dirty="0">
                <a:solidFill>
                  <a:schemeClr val="tx1"/>
                </a:solidFill>
                <a:effectLst/>
                <a:latin typeface="+mn-lt"/>
                <a:ea typeface="+mn-ea"/>
              </a:rPr>
              <a:t>” </a:t>
            </a:r>
            <a:r>
              <a:rPr lang="zh-CN" altLang="en-US" sz="1200" kern="1200" dirty="0">
                <a:solidFill>
                  <a:schemeClr val="tx1"/>
                </a:solidFill>
                <a:effectLst/>
                <a:latin typeface="+mn-lt"/>
                <a:ea typeface="+mn-ea"/>
              </a:rPr>
              <a:t>的递进逻辑。</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A </a:t>
            </a:r>
            <a:r>
              <a:rPr lang="zh-CN" altLang="en-US" sz="1200" kern="1200" dirty="0">
                <a:solidFill>
                  <a:schemeClr val="tx1"/>
                </a:solidFill>
                <a:effectLst/>
                <a:latin typeface="+mn-lt"/>
                <a:ea typeface="+mn-ea"/>
              </a:rPr>
              <a:t>选项：磨砺（方式）</a:t>
            </a:r>
            <a:r>
              <a:rPr lang="en-US" altLang="zh-CN" sz="1200" kern="1200" dirty="0">
                <a:solidFill>
                  <a:schemeClr val="tx1"/>
                </a:solidFill>
                <a:effectLst/>
                <a:latin typeface="+mn-lt"/>
                <a:ea typeface="+mn-ea"/>
              </a:rPr>
              <a:t>+ </a:t>
            </a:r>
            <a:r>
              <a:rPr lang="zh-CN" altLang="en-US" sz="1200" kern="1200" dirty="0">
                <a:solidFill>
                  <a:schemeClr val="tx1"/>
                </a:solidFill>
                <a:effectLst/>
                <a:latin typeface="+mn-lt"/>
                <a:ea typeface="+mn-ea"/>
              </a:rPr>
              <a:t>增长（动作）</a:t>
            </a:r>
            <a:r>
              <a:rPr lang="en-US" altLang="en-US" sz="1200" kern="1200" dirty="0">
                <a:solidFill>
                  <a:schemeClr val="tx1"/>
                </a:solidFill>
                <a:effectLst/>
                <a:latin typeface="+mn-lt"/>
                <a:ea typeface="+mn-ea"/>
              </a:rPr>
              <a:t>→</a:t>
            </a:r>
            <a:r>
              <a:rPr lang="en-US" altLang="zh-CN" sz="1200" kern="1200" dirty="0">
                <a:solidFill>
                  <a:schemeClr val="tx1"/>
                </a:solidFill>
                <a:effectLst/>
                <a:latin typeface="+mn-lt"/>
                <a:ea typeface="+mn-ea"/>
              </a:rPr>
              <a:t> </a:t>
            </a:r>
            <a:r>
              <a:rPr lang="zh-CN" altLang="en-US" sz="1200" kern="1200" dirty="0">
                <a:solidFill>
                  <a:schemeClr val="tx1"/>
                </a:solidFill>
                <a:effectLst/>
                <a:latin typeface="+mn-lt"/>
                <a:ea typeface="+mn-ea"/>
              </a:rPr>
              <a:t>才干（对象），即通过磨砺的方式，增长才干。动作与对象为动宾关系，逻辑结构和递进关系与题干完全一致。</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B </a:t>
            </a:r>
            <a:r>
              <a:rPr lang="zh-CN" altLang="en-US" sz="1200" kern="1200" dirty="0">
                <a:solidFill>
                  <a:schemeClr val="tx1"/>
                </a:solidFill>
                <a:effectLst/>
                <a:latin typeface="+mn-lt"/>
                <a:ea typeface="+mn-ea"/>
              </a:rPr>
              <a:t>选项：实践（方式）</a:t>
            </a:r>
            <a:r>
              <a:rPr lang="en-US" altLang="zh-CN" sz="1200" kern="1200" dirty="0">
                <a:solidFill>
                  <a:schemeClr val="tx1"/>
                </a:solidFill>
                <a:effectLst/>
                <a:latin typeface="+mn-lt"/>
                <a:ea typeface="+mn-ea"/>
              </a:rPr>
              <a:t>+ </a:t>
            </a:r>
            <a:r>
              <a:rPr lang="zh-CN" altLang="en-US" sz="1200" kern="1200" dirty="0">
                <a:solidFill>
                  <a:schemeClr val="tx1"/>
                </a:solidFill>
                <a:effectLst/>
                <a:latin typeface="+mn-lt"/>
                <a:ea typeface="+mn-ea"/>
              </a:rPr>
              <a:t>奉献（动作）</a:t>
            </a:r>
            <a:r>
              <a:rPr lang="en-US" altLang="en-US" sz="1200" kern="1200" dirty="0">
                <a:solidFill>
                  <a:schemeClr val="tx1"/>
                </a:solidFill>
                <a:effectLst/>
                <a:latin typeface="+mn-lt"/>
                <a:ea typeface="+mn-ea"/>
              </a:rPr>
              <a:t>→</a:t>
            </a:r>
            <a:r>
              <a:rPr lang="en-US" altLang="zh-CN" sz="1200" kern="1200" dirty="0">
                <a:solidFill>
                  <a:schemeClr val="tx1"/>
                </a:solidFill>
                <a:effectLst/>
                <a:latin typeface="+mn-lt"/>
                <a:ea typeface="+mn-ea"/>
              </a:rPr>
              <a:t> </a:t>
            </a:r>
            <a:r>
              <a:rPr lang="zh-CN" altLang="en-US" sz="1200" kern="1200" dirty="0">
                <a:solidFill>
                  <a:schemeClr val="tx1"/>
                </a:solidFill>
                <a:effectLst/>
                <a:latin typeface="+mn-lt"/>
                <a:ea typeface="+mn-ea"/>
              </a:rPr>
              <a:t>社会（对象），</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奉献社会</a:t>
            </a:r>
            <a:r>
              <a:rPr lang="en-US" altLang="zh-CN" sz="1200" kern="1200" dirty="0">
                <a:solidFill>
                  <a:schemeClr val="tx1"/>
                </a:solidFill>
                <a:effectLst/>
                <a:latin typeface="+mn-lt"/>
                <a:ea typeface="+mn-ea"/>
              </a:rPr>
              <a:t>” </a:t>
            </a:r>
            <a:r>
              <a:rPr lang="zh-CN" altLang="en-US" sz="1200" kern="1200" dirty="0">
                <a:solidFill>
                  <a:schemeClr val="tx1"/>
                </a:solidFill>
                <a:effectLst/>
                <a:latin typeface="+mn-lt"/>
                <a:ea typeface="+mn-ea"/>
              </a:rPr>
              <a:t>是动宾关系，但</a:t>
            </a:r>
            <a:r>
              <a:rPr lang="en-US" altLang="zh-CN" sz="1200" kern="1200" dirty="0">
                <a:solidFill>
                  <a:schemeClr val="tx1"/>
                </a:solidFill>
                <a:effectLst/>
                <a:latin typeface="+mn-lt"/>
                <a:ea typeface="+mn-ea"/>
              </a:rPr>
              <a:t> “</a:t>
            </a:r>
            <a:r>
              <a:rPr lang="zh-CN" altLang="en-US" sz="1200" kern="1200" dirty="0">
                <a:solidFill>
                  <a:schemeClr val="tx1"/>
                </a:solidFill>
                <a:effectLst/>
                <a:latin typeface="+mn-lt"/>
                <a:ea typeface="+mn-ea"/>
              </a:rPr>
              <a:t>实践</a:t>
            </a:r>
            <a:r>
              <a:rPr lang="en-US" altLang="zh-CN" sz="1200" kern="1200" dirty="0">
                <a:solidFill>
                  <a:schemeClr val="tx1"/>
                </a:solidFill>
                <a:effectLst/>
                <a:latin typeface="+mn-lt"/>
                <a:ea typeface="+mn-ea"/>
              </a:rPr>
              <a:t>” </a:t>
            </a:r>
            <a:r>
              <a:rPr lang="zh-CN" altLang="en-US" sz="1200" kern="1200" dirty="0">
                <a:solidFill>
                  <a:schemeClr val="tx1"/>
                </a:solidFill>
                <a:effectLst/>
                <a:latin typeface="+mn-lt"/>
                <a:ea typeface="+mn-ea"/>
              </a:rPr>
              <a:t>是奉献的途径，和题干</a:t>
            </a:r>
            <a:r>
              <a:rPr lang="en-US" altLang="zh-CN" sz="1200" kern="1200" dirty="0">
                <a:solidFill>
                  <a:schemeClr val="tx1"/>
                </a:solidFill>
                <a:effectLst/>
                <a:latin typeface="+mn-lt"/>
                <a:ea typeface="+mn-ea"/>
              </a:rPr>
              <a:t> “</a:t>
            </a:r>
            <a:r>
              <a:rPr lang="zh-CN" altLang="en-US" sz="1200" kern="1200" dirty="0">
                <a:solidFill>
                  <a:schemeClr val="tx1"/>
                </a:solidFill>
                <a:effectLst/>
                <a:latin typeface="+mn-lt"/>
                <a:ea typeface="+mn-ea"/>
              </a:rPr>
              <a:t>奋斗锤炼本领</a:t>
            </a:r>
            <a:r>
              <a:rPr lang="en-US" altLang="zh-CN" sz="1200" kern="1200" dirty="0">
                <a:solidFill>
                  <a:schemeClr val="tx1"/>
                </a:solidFill>
                <a:effectLst/>
                <a:latin typeface="+mn-lt"/>
                <a:ea typeface="+mn-ea"/>
              </a:rPr>
              <a:t>” </a:t>
            </a:r>
            <a:r>
              <a:rPr lang="zh-CN" altLang="en-US" sz="1200" kern="1200" dirty="0">
                <a:solidFill>
                  <a:schemeClr val="tx1"/>
                </a:solidFill>
                <a:effectLst/>
                <a:latin typeface="+mn-lt"/>
                <a:ea typeface="+mn-ea"/>
              </a:rPr>
              <a:t>的</a:t>
            </a:r>
            <a:r>
              <a:rPr lang="en-US" altLang="zh-CN" sz="1200" kern="1200" dirty="0">
                <a:solidFill>
                  <a:schemeClr val="tx1"/>
                </a:solidFill>
                <a:effectLst/>
                <a:latin typeface="+mn-lt"/>
                <a:ea typeface="+mn-ea"/>
              </a:rPr>
              <a:t> “</a:t>
            </a:r>
            <a:r>
              <a:rPr lang="zh-CN" altLang="en-US" sz="1200" kern="1200" dirty="0">
                <a:solidFill>
                  <a:schemeClr val="tx1"/>
                </a:solidFill>
                <a:effectLst/>
                <a:latin typeface="+mn-lt"/>
                <a:ea typeface="+mn-ea"/>
              </a:rPr>
              <a:t>提升能力</a:t>
            </a:r>
            <a:r>
              <a:rPr lang="en-US" altLang="zh-CN" sz="1200" kern="1200" dirty="0">
                <a:solidFill>
                  <a:schemeClr val="tx1"/>
                </a:solidFill>
                <a:effectLst/>
                <a:latin typeface="+mn-lt"/>
                <a:ea typeface="+mn-ea"/>
              </a:rPr>
              <a:t>” </a:t>
            </a:r>
            <a:r>
              <a:rPr lang="zh-CN" altLang="en-US" sz="1200" kern="1200" dirty="0">
                <a:solidFill>
                  <a:schemeClr val="tx1"/>
                </a:solidFill>
                <a:effectLst/>
                <a:latin typeface="+mn-lt"/>
                <a:ea typeface="+mn-ea"/>
              </a:rPr>
              <a:t>导向不同，侧重的是付出而非能力增长。</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C </a:t>
            </a:r>
            <a:r>
              <a:rPr lang="zh-CN" altLang="en-US" sz="1200" kern="1200" dirty="0">
                <a:solidFill>
                  <a:schemeClr val="tx1"/>
                </a:solidFill>
                <a:effectLst/>
                <a:latin typeface="+mn-lt"/>
                <a:ea typeface="+mn-ea"/>
              </a:rPr>
              <a:t>选项：阅读（方式）</a:t>
            </a:r>
            <a:r>
              <a:rPr lang="en-US" altLang="zh-CN" sz="1200" kern="1200" dirty="0">
                <a:solidFill>
                  <a:schemeClr val="tx1"/>
                </a:solidFill>
                <a:effectLst/>
                <a:latin typeface="+mn-lt"/>
                <a:ea typeface="+mn-ea"/>
              </a:rPr>
              <a:t>+ </a:t>
            </a:r>
            <a:r>
              <a:rPr lang="zh-CN" altLang="en-US" sz="1200" kern="1200" dirty="0">
                <a:solidFill>
                  <a:schemeClr val="tx1"/>
                </a:solidFill>
                <a:effectLst/>
                <a:latin typeface="+mn-lt"/>
                <a:ea typeface="+mn-ea"/>
              </a:rPr>
              <a:t>获取（动作）</a:t>
            </a:r>
            <a:r>
              <a:rPr lang="en-US" altLang="en-US" sz="1200" kern="1200" dirty="0">
                <a:solidFill>
                  <a:schemeClr val="tx1"/>
                </a:solidFill>
                <a:effectLst/>
                <a:latin typeface="+mn-lt"/>
                <a:ea typeface="+mn-ea"/>
              </a:rPr>
              <a:t>→</a:t>
            </a:r>
            <a:r>
              <a:rPr lang="en-US" altLang="zh-CN" sz="1200" kern="1200" dirty="0">
                <a:solidFill>
                  <a:schemeClr val="tx1"/>
                </a:solidFill>
                <a:effectLst/>
                <a:latin typeface="+mn-lt"/>
                <a:ea typeface="+mn-ea"/>
              </a:rPr>
              <a:t> </a:t>
            </a:r>
            <a:r>
              <a:rPr lang="zh-CN" altLang="en-US" sz="1200" kern="1200" dirty="0">
                <a:solidFill>
                  <a:schemeClr val="tx1"/>
                </a:solidFill>
                <a:effectLst/>
                <a:latin typeface="+mn-lt"/>
                <a:ea typeface="+mn-ea"/>
              </a:rPr>
              <a:t>知识（对象），词语顺序为</a:t>
            </a:r>
            <a:r>
              <a:rPr lang="en-US" altLang="zh-CN" sz="1200" kern="1200" dirty="0">
                <a:solidFill>
                  <a:schemeClr val="tx1"/>
                </a:solidFill>
                <a:effectLst/>
                <a:latin typeface="+mn-lt"/>
                <a:ea typeface="+mn-ea"/>
              </a:rPr>
              <a:t> “</a:t>
            </a:r>
            <a:r>
              <a:rPr lang="zh-CN" altLang="en-US" sz="1200" kern="1200" dirty="0">
                <a:solidFill>
                  <a:schemeClr val="tx1"/>
                </a:solidFill>
                <a:effectLst/>
                <a:latin typeface="+mn-lt"/>
                <a:ea typeface="+mn-ea"/>
              </a:rPr>
              <a:t>对象</a:t>
            </a:r>
            <a:r>
              <a:rPr lang="en-US" altLang="zh-CN" sz="1200" kern="1200" dirty="0">
                <a:solidFill>
                  <a:schemeClr val="tx1"/>
                </a:solidFill>
                <a:effectLst/>
                <a:latin typeface="+mn-lt"/>
                <a:ea typeface="+mn-ea"/>
              </a:rPr>
              <a:t> - </a:t>
            </a:r>
            <a:r>
              <a:rPr lang="zh-CN" altLang="en-US" sz="1200" kern="1200" dirty="0">
                <a:solidFill>
                  <a:schemeClr val="tx1"/>
                </a:solidFill>
                <a:effectLst/>
                <a:latin typeface="+mn-lt"/>
                <a:ea typeface="+mn-ea"/>
              </a:rPr>
              <a:t>动作</a:t>
            </a:r>
            <a:r>
              <a:rPr lang="en-US" altLang="zh-CN" sz="1200" kern="1200" dirty="0">
                <a:solidFill>
                  <a:schemeClr val="tx1"/>
                </a:solidFill>
                <a:effectLst/>
                <a:latin typeface="+mn-lt"/>
                <a:ea typeface="+mn-ea"/>
              </a:rPr>
              <a:t> - </a:t>
            </a:r>
            <a:r>
              <a:rPr lang="zh-CN" altLang="en-US" sz="1200" kern="1200" dirty="0">
                <a:solidFill>
                  <a:schemeClr val="tx1"/>
                </a:solidFill>
                <a:effectLst/>
                <a:latin typeface="+mn-lt"/>
                <a:ea typeface="+mn-ea"/>
              </a:rPr>
              <a:t>方式</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，和题干</a:t>
            </a:r>
            <a:r>
              <a:rPr lang="en-US" altLang="zh-CN" sz="1200" kern="1200" dirty="0">
                <a:solidFill>
                  <a:schemeClr val="tx1"/>
                </a:solidFill>
                <a:effectLst/>
                <a:latin typeface="+mn-lt"/>
                <a:ea typeface="+mn-ea"/>
              </a:rPr>
              <a:t> “</a:t>
            </a:r>
            <a:r>
              <a:rPr lang="zh-CN" altLang="en-US" sz="1200" kern="1200" dirty="0">
                <a:solidFill>
                  <a:schemeClr val="tx1"/>
                </a:solidFill>
                <a:effectLst/>
                <a:latin typeface="+mn-lt"/>
                <a:ea typeface="+mn-ea"/>
              </a:rPr>
              <a:t>方式</a:t>
            </a:r>
            <a:r>
              <a:rPr lang="en-US" altLang="zh-CN" sz="1200" kern="1200" dirty="0">
                <a:solidFill>
                  <a:schemeClr val="tx1"/>
                </a:solidFill>
                <a:effectLst/>
                <a:latin typeface="+mn-lt"/>
                <a:ea typeface="+mn-ea"/>
              </a:rPr>
              <a:t> - </a:t>
            </a:r>
            <a:r>
              <a:rPr lang="zh-CN" altLang="en-US" sz="1200" kern="1200" dirty="0">
                <a:solidFill>
                  <a:schemeClr val="tx1"/>
                </a:solidFill>
                <a:effectLst/>
                <a:latin typeface="+mn-lt"/>
                <a:ea typeface="+mn-ea"/>
              </a:rPr>
              <a:t>动作</a:t>
            </a:r>
            <a:r>
              <a:rPr lang="en-US" altLang="zh-CN" sz="1200" kern="1200" dirty="0">
                <a:solidFill>
                  <a:schemeClr val="tx1"/>
                </a:solidFill>
                <a:effectLst/>
                <a:latin typeface="+mn-lt"/>
                <a:ea typeface="+mn-ea"/>
              </a:rPr>
              <a:t> - </a:t>
            </a:r>
            <a:r>
              <a:rPr lang="zh-CN" altLang="en-US" sz="1200" kern="1200" dirty="0">
                <a:solidFill>
                  <a:schemeClr val="tx1"/>
                </a:solidFill>
                <a:effectLst/>
                <a:latin typeface="+mn-lt"/>
                <a:ea typeface="+mn-ea"/>
              </a:rPr>
              <a:t>对象</a:t>
            </a:r>
            <a:r>
              <a:rPr lang="en-US" altLang="zh-CN" sz="1200" kern="1200" dirty="0">
                <a:solidFill>
                  <a:schemeClr val="tx1"/>
                </a:solidFill>
                <a:effectLst/>
                <a:latin typeface="+mn-lt"/>
                <a:ea typeface="+mn-ea"/>
              </a:rPr>
              <a:t>” </a:t>
            </a:r>
            <a:r>
              <a:rPr lang="zh-CN" altLang="en-US" sz="1200" kern="1200" dirty="0">
                <a:solidFill>
                  <a:schemeClr val="tx1"/>
                </a:solidFill>
                <a:effectLst/>
                <a:latin typeface="+mn-lt"/>
                <a:ea typeface="+mn-ea"/>
              </a:rPr>
              <a:t>的顺序完全相反。</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D </a:t>
            </a:r>
            <a:r>
              <a:rPr lang="zh-CN" altLang="en-US" sz="1200" kern="1200" dirty="0">
                <a:solidFill>
                  <a:schemeClr val="tx1"/>
                </a:solidFill>
                <a:effectLst/>
                <a:latin typeface="+mn-lt"/>
                <a:ea typeface="+mn-ea"/>
              </a:rPr>
              <a:t>选项：思考（方式）、智慧（对象）、启迪（动作），词语顺序为</a:t>
            </a:r>
            <a:r>
              <a:rPr lang="en-US" altLang="zh-CN" sz="1200" kern="1200" dirty="0">
                <a:solidFill>
                  <a:schemeClr val="tx1"/>
                </a:solidFill>
                <a:effectLst/>
                <a:latin typeface="+mn-lt"/>
                <a:ea typeface="+mn-ea"/>
              </a:rPr>
              <a:t> “</a:t>
            </a:r>
            <a:r>
              <a:rPr lang="zh-CN" altLang="en-US" sz="1200" kern="1200" dirty="0">
                <a:solidFill>
                  <a:schemeClr val="tx1"/>
                </a:solidFill>
                <a:effectLst/>
                <a:latin typeface="+mn-lt"/>
                <a:ea typeface="+mn-ea"/>
              </a:rPr>
              <a:t>方式</a:t>
            </a:r>
            <a:r>
              <a:rPr lang="en-US" altLang="zh-CN" sz="1200" kern="1200" dirty="0">
                <a:solidFill>
                  <a:schemeClr val="tx1"/>
                </a:solidFill>
                <a:effectLst/>
                <a:latin typeface="+mn-lt"/>
                <a:ea typeface="+mn-ea"/>
              </a:rPr>
              <a:t> - </a:t>
            </a:r>
            <a:r>
              <a:rPr lang="zh-CN" altLang="en-US" sz="1200" kern="1200" dirty="0">
                <a:solidFill>
                  <a:schemeClr val="tx1"/>
                </a:solidFill>
                <a:effectLst/>
                <a:latin typeface="+mn-lt"/>
                <a:ea typeface="+mn-ea"/>
              </a:rPr>
              <a:t>对象</a:t>
            </a:r>
            <a:r>
              <a:rPr lang="en-US" altLang="zh-CN" sz="1200" kern="1200" dirty="0">
                <a:solidFill>
                  <a:schemeClr val="tx1"/>
                </a:solidFill>
                <a:effectLst/>
                <a:latin typeface="+mn-lt"/>
                <a:ea typeface="+mn-ea"/>
              </a:rPr>
              <a:t> - </a:t>
            </a:r>
            <a:r>
              <a:rPr lang="zh-CN" altLang="en-US" sz="1200" kern="1200" dirty="0">
                <a:solidFill>
                  <a:schemeClr val="tx1"/>
                </a:solidFill>
                <a:effectLst/>
                <a:latin typeface="+mn-lt"/>
                <a:ea typeface="+mn-ea"/>
              </a:rPr>
              <a:t>动作</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，且</a:t>
            </a:r>
            <a:r>
              <a:rPr lang="en-US" altLang="zh-CN" sz="1200" kern="1200" dirty="0">
                <a:solidFill>
                  <a:schemeClr val="tx1"/>
                </a:solidFill>
                <a:effectLst/>
                <a:latin typeface="+mn-lt"/>
                <a:ea typeface="+mn-ea"/>
              </a:rPr>
              <a:t> “</a:t>
            </a:r>
            <a:r>
              <a:rPr lang="zh-CN" altLang="en-US" sz="1200" kern="1200" dirty="0">
                <a:solidFill>
                  <a:schemeClr val="tx1"/>
                </a:solidFill>
                <a:effectLst/>
                <a:latin typeface="+mn-lt"/>
                <a:ea typeface="+mn-ea"/>
              </a:rPr>
              <a:t>启迪智慧</a:t>
            </a:r>
            <a:r>
              <a:rPr lang="en-US" altLang="zh-CN" sz="1200" kern="1200" dirty="0">
                <a:solidFill>
                  <a:schemeClr val="tx1"/>
                </a:solidFill>
                <a:effectLst/>
                <a:latin typeface="+mn-lt"/>
                <a:ea typeface="+mn-ea"/>
              </a:rPr>
              <a:t>” </a:t>
            </a:r>
            <a:r>
              <a:rPr lang="zh-CN" altLang="en-US" sz="1200" kern="1200" dirty="0">
                <a:solidFill>
                  <a:schemeClr val="tx1"/>
                </a:solidFill>
                <a:effectLst/>
                <a:latin typeface="+mn-lt"/>
                <a:ea typeface="+mn-ea"/>
              </a:rPr>
              <a:t>的动宾顺序和题干</a:t>
            </a:r>
            <a:r>
              <a:rPr lang="en-US" altLang="zh-CN" sz="1200" kern="1200" dirty="0">
                <a:solidFill>
                  <a:schemeClr val="tx1"/>
                </a:solidFill>
                <a:effectLst/>
                <a:latin typeface="+mn-lt"/>
                <a:ea typeface="+mn-ea"/>
              </a:rPr>
              <a:t> “</a:t>
            </a:r>
            <a:r>
              <a:rPr lang="zh-CN" altLang="en-US" sz="1200" kern="1200" dirty="0">
                <a:solidFill>
                  <a:schemeClr val="tx1"/>
                </a:solidFill>
                <a:effectLst/>
                <a:latin typeface="+mn-lt"/>
                <a:ea typeface="+mn-ea"/>
              </a:rPr>
              <a:t>锤炼本领</a:t>
            </a:r>
            <a:r>
              <a:rPr lang="en-US" altLang="zh-CN" sz="1200" kern="1200" dirty="0">
                <a:solidFill>
                  <a:schemeClr val="tx1"/>
                </a:solidFill>
                <a:effectLst/>
                <a:latin typeface="+mn-lt"/>
                <a:ea typeface="+mn-ea"/>
              </a:rPr>
              <a:t>” </a:t>
            </a:r>
            <a:r>
              <a:rPr lang="zh-CN" altLang="en-US" sz="1200" kern="1200" dirty="0">
                <a:solidFill>
                  <a:schemeClr val="tx1"/>
                </a:solidFill>
                <a:effectLst/>
                <a:latin typeface="+mn-lt"/>
                <a:ea typeface="+mn-ea"/>
              </a:rPr>
              <a:t>的逻辑语序不匹配。</a:t>
            </a:r>
            <a:endParaRPr lang="zh-CN" altLang="en-US" sz="1200" kern="1200" dirty="0">
              <a:solidFill>
                <a:schemeClr val="tx1"/>
              </a:solidFill>
              <a:effectLst/>
              <a:latin typeface="+mn-lt"/>
              <a:ea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ea typeface="+mn-ea"/>
              </a:rPr>
              <a:t>春兰和墨兰都是兰花的一种，二者为并列关系，与兰花均为种属关系。</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A </a:t>
            </a:r>
            <a:r>
              <a:rPr lang="zh-CN" altLang="en-US" sz="1200" kern="1200" dirty="0">
                <a:solidFill>
                  <a:schemeClr val="tx1"/>
                </a:solidFill>
                <a:effectLst/>
                <a:latin typeface="+mn-lt"/>
                <a:ea typeface="+mn-ea"/>
              </a:rPr>
              <a:t>项：凤蝶和粉蝶都是蝴蝶的一种，二者为并列关系，与蝴蝶均为种属关系，与题干逻辑关系一致，保留；</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B </a:t>
            </a:r>
            <a:r>
              <a:rPr lang="zh-CN" altLang="en-US" sz="1200" kern="1200" dirty="0">
                <a:solidFill>
                  <a:schemeClr val="tx1"/>
                </a:solidFill>
                <a:effectLst/>
                <a:latin typeface="+mn-lt"/>
                <a:ea typeface="+mn-ea"/>
              </a:rPr>
              <a:t>项：春茶一般指由越冬后茶树在春天里萌发的芽叶采制而成的茶叶，秋茶一般指由秋天采集的芽叶制成的茶叶，二者为并列关系，但二者与茶馆均不构成种属关系，与题干逻辑关系不一致，排除；</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C </a:t>
            </a:r>
            <a:r>
              <a:rPr lang="zh-CN" altLang="en-US" sz="1200" kern="1200" dirty="0">
                <a:solidFill>
                  <a:schemeClr val="tx1"/>
                </a:solidFill>
                <a:effectLst/>
                <a:latin typeface="+mn-lt"/>
                <a:ea typeface="+mn-ea"/>
              </a:rPr>
              <a:t>项：蔬菜和水果都是食物，二者为并列关系，果蔬包括水果和蔬菜，水果、蔬菜与果蔬均为组成关系，与题干逻辑关系不一致，排除；</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D </a:t>
            </a:r>
            <a:r>
              <a:rPr lang="zh-CN" altLang="en-US" sz="1200" kern="1200" dirty="0">
                <a:solidFill>
                  <a:schemeClr val="tx1"/>
                </a:solidFill>
                <a:effectLst/>
                <a:latin typeface="+mn-lt"/>
                <a:ea typeface="+mn-ea"/>
              </a:rPr>
              <a:t>项：菊花和梅花都是花卉，二者为并列关系，与花卉均为种属关系，与题干逻辑关系一致，保留。</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比较</a:t>
            </a:r>
            <a:r>
              <a:rPr lang="en-US" altLang="zh-CN" sz="1200" kern="1200" dirty="0">
                <a:solidFill>
                  <a:schemeClr val="tx1"/>
                </a:solidFill>
                <a:effectLst/>
                <a:latin typeface="+mn-lt"/>
                <a:ea typeface="+mn-ea"/>
              </a:rPr>
              <a:t> A.D </a:t>
            </a:r>
            <a:r>
              <a:rPr lang="zh-CN" altLang="en-US" sz="1200" kern="1200" dirty="0">
                <a:solidFill>
                  <a:schemeClr val="tx1"/>
                </a:solidFill>
                <a:effectLst/>
                <a:latin typeface="+mn-lt"/>
                <a:ea typeface="+mn-ea"/>
              </a:rPr>
              <a:t>两项，题干中春兰和墨兰均是兰花的细分，</a:t>
            </a:r>
            <a:r>
              <a:rPr lang="en-US" altLang="zh-CN" sz="1200" kern="1200" dirty="0">
                <a:solidFill>
                  <a:schemeClr val="tx1"/>
                </a:solidFill>
                <a:effectLst/>
                <a:latin typeface="+mn-lt"/>
                <a:ea typeface="+mn-ea"/>
              </a:rPr>
              <a:t>A </a:t>
            </a:r>
            <a:r>
              <a:rPr lang="zh-CN" altLang="en-US" sz="1200" kern="1200" dirty="0">
                <a:solidFill>
                  <a:schemeClr val="tx1"/>
                </a:solidFill>
                <a:effectLst/>
                <a:latin typeface="+mn-lt"/>
                <a:ea typeface="+mn-ea"/>
              </a:rPr>
              <a:t>项中凤蝶和粉蝶均是蝴蝶的细分，兰花和蝴蝶范围更小，</a:t>
            </a:r>
            <a:r>
              <a:rPr lang="en-US" altLang="zh-CN" sz="1200" kern="1200" dirty="0">
                <a:solidFill>
                  <a:schemeClr val="tx1"/>
                </a:solidFill>
                <a:effectLst/>
                <a:latin typeface="+mn-lt"/>
                <a:ea typeface="+mn-ea"/>
              </a:rPr>
              <a:t>D </a:t>
            </a:r>
            <a:r>
              <a:rPr lang="zh-CN" altLang="en-US" sz="1200" kern="1200" dirty="0">
                <a:solidFill>
                  <a:schemeClr val="tx1"/>
                </a:solidFill>
                <a:effectLst/>
                <a:latin typeface="+mn-lt"/>
                <a:ea typeface="+mn-ea"/>
              </a:rPr>
              <a:t>项中的花卉范围较大，故</a:t>
            </a:r>
            <a:r>
              <a:rPr lang="en-US" altLang="zh-CN" sz="1200" kern="1200" dirty="0">
                <a:solidFill>
                  <a:schemeClr val="tx1"/>
                </a:solidFill>
                <a:effectLst/>
                <a:latin typeface="+mn-lt"/>
                <a:ea typeface="+mn-ea"/>
              </a:rPr>
              <a:t> A </a:t>
            </a:r>
            <a:r>
              <a:rPr lang="zh-CN" altLang="en-US" sz="1200" kern="1200" dirty="0">
                <a:solidFill>
                  <a:schemeClr val="tx1"/>
                </a:solidFill>
                <a:effectLst/>
                <a:latin typeface="+mn-lt"/>
                <a:ea typeface="+mn-ea"/>
              </a:rPr>
              <a:t>项与题干逻辑关系更一致，当选。</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故正确答案为</a:t>
            </a:r>
            <a:r>
              <a:rPr lang="en-US" altLang="zh-CN" sz="1200" kern="1200" dirty="0">
                <a:solidFill>
                  <a:schemeClr val="tx1"/>
                </a:solidFill>
                <a:effectLst/>
                <a:latin typeface="+mn-lt"/>
                <a:ea typeface="+mn-ea"/>
              </a:rPr>
              <a:t> A</a:t>
            </a:r>
            <a:r>
              <a:rPr lang="zh-CN" altLang="en-US" sz="1200" kern="1200" dirty="0">
                <a:solidFill>
                  <a:schemeClr val="tx1"/>
                </a:solidFill>
                <a:effectLst/>
                <a:latin typeface="+mn-lt"/>
                <a:ea typeface="+mn-ea"/>
              </a:rPr>
              <a:t>。</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春兰和墨兰是并列关系（按兰花的品种划分），二者都属于兰花这一属概念，是</a:t>
            </a:r>
            <a:r>
              <a:rPr lang="en-US" altLang="zh-CN" sz="1200" kern="1200" dirty="0">
                <a:solidFill>
                  <a:schemeClr val="tx1"/>
                </a:solidFill>
                <a:effectLst/>
                <a:latin typeface="+mn-lt"/>
                <a:ea typeface="+mn-ea"/>
              </a:rPr>
              <a:t> “</a:t>
            </a:r>
            <a:r>
              <a:rPr lang="zh-CN" altLang="en-US" sz="1200" kern="1200" dirty="0">
                <a:solidFill>
                  <a:schemeClr val="tx1"/>
                </a:solidFill>
                <a:effectLst/>
                <a:latin typeface="+mn-lt"/>
                <a:ea typeface="+mn-ea"/>
              </a:rPr>
              <a:t>并列种概念</a:t>
            </a:r>
            <a:r>
              <a:rPr lang="en-US" altLang="en-US" sz="1200" kern="1200" dirty="0">
                <a:solidFill>
                  <a:schemeClr val="tx1"/>
                </a:solidFill>
                <a:effectLst/>
                <a:latin typeface="+mn-lt"/>
                <a:ea typeface="+mn-ea"/>
              </a:rPr>
              <a:t>→</a:t>
            </a:r>
            <a:r>
              <a:rPr lang="zh-CN" altLang="en-US" sz="1200" kern="1200" dirty="0">
                <a:solidFill>
                  <a:schemeClr val="tx1"/>
                </a:solidFill>
                <a:effectLst/>
                <a:latin typeface="+mn-lt"/>
                <a:ea typeface="+mn-ea"/>
              </a:rPr>
              <a:t>属概念</a:t>
            </a:r>
            <a:r>
              <a:rPr lang="en-US" altLang="zh-CN" sz="1200" kern="1200" dirty="0">
                <a:solidFill>
                  <a:schemeClr val="tx1"/>
                </a:solidFill>
                <a:effectLst/>
                <a:latin typeface="+mn-lt"/>
                <a:ea typeface="+mn-ea"/>
              </a:rPr>
              <a:t>” </a:t>
            </a:r>
            <a:r>
              <a:rPr lang="zh-CN" altLang="en-US" sz="1200" kern="1200" dirty="0">
                <a:solidFill>
                  <a:schemeClr val="tx1"/>
                </a:solidFill>
                <a:effectLst/>
                <a:latin typeface="+mn-lt"/>
                <a:ea typeface="+mn-ea"/>
              </a:rPr>
              <a:t>的严谨种属关系，且春兰、墨兰是兰花的具体品种。</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A </a:t>
            </a:r>
            <a:r>
              <a:rPr lang="zh-CN" altLang="en-US" sz="1200" kern="1200" dirty="0">
                <a:solidFill>
                  <a:schemeClr val="tx1"/>
                </a:solidFill>
                <a:effectLst/>
                <a:latin typeface="+mn-lt"/>
                <a:ea typeface="+mn-ea"/>
              </a:rPr>
              <a:t>选项：凤蝶、粉蝶是并列关系（按蝴蝶的品种划分），二者都属于蝴蝶，与题干逻辑完全匹配。</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B </a:t>
            </a:r>
            <a:r>
              <a:rPr lang="zh-CN" altLang="en-US" sz="1200" kern="1200" dirty="0">
                <a:solidFill>
                  <a:schemeClr val="tx1"/>
                </a:solidFill>
                <a:effectLst/>
                <a:latin typeface="+mn-lt"/>
                <a:ea typeface="+mn-ea"/>
              </a:rPr>
              <a:t>选项：春茶、秋茶是并列关系（按采摘季节划分），但二者属于</a:t>
            </a:r>
            <a:r>
              <a:rPr lang="en-US" altLang="zh-CN" sz="1200" kern="1200" dirty="0">
                <a:solidFill>
                  <a:schemeClr val="tx1"/>
                </a:solidFill>
                <a:effectLst/>
                <a:latin typeface="+mn-lt"/>
                <a:ea typeface="+mn-ea"/>
              </a:rPr>
              <a:t> “</a:t>
            </a:r>
            <a:r>
              <a:rPr lang="zh-CN" altLang="en-US" sz="1200" kern="1200" dirty="0">
                <a:solidFill>
                  <a:schemeClr val="tx1"/>
                </a:solidFill>
                <a:effectLst/>
                <a:latin typeface="+mn-lt"/>
                <a:ea typeface="+mn-ea"/>
              </a:rPr>
              <a:t>茶叶</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，而非</a:t>
            </a:r>
            <a:r>
              <a:rPr lang="en-US" altLang="zh-CN" sz="1200" kern="1200" dirty="0">
                <a:solidFill>
                  <a:schemeClr val="tx1"/>
                </a:solidFill>
                <a:effectLst/>
                <a:latin typeface="+mn-lt"/>
                <a:ea typeface="+mn-ea"/>
              </a:rPr>
              <a:t> “</a:t>
            </a:r>
            <a:r>
              <a:rPr lang="zh-CN" altLang="en-US" sz="1200" kern="1200" dirty="0">
                <a:solidFill>
                  <a:schemeClr val="tx1"/>
                </a:solidFill>
                <a:effectLst/>
                <a:latin typeface="+mn-lt"/>
                <a:ea typeface="+mn-ea"/>
              </a:rPr>
              <a:t>茶馆</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（茶馆是售卖茶叶的场所），种属关系不成立。</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C </a:t>
            </a:r>
            <a:r>
              <a:rPr lang="zh-CN" altLang="en-US" sz="1200" kern="1200" dirty="0">
                <a:solidFill>
                  <a:schemeClr val="tx1"/>
                </a:solidFill>
                <a:effectLst/>
                <a:latin typeface="+mn-lt"/>
                <a:ea typeface="+mn-ea"/>
              </a:rPr>
              <a:t>选项：蔬菜、水果是并列关系，</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果蔬</a:t>
            </a:r>
            <a:r>
              <a:rPr lang="en-US" altLang="zh-CN" sz="1200" kern="1200" dirty="0">
                <a:solidFill>
                  <a:schemeClr val="tx1"/>
                </a:solidFill>
                <a:effectLst/>
                <a:latin typeface="+mn-lt"/>
                <a:ea typeface="+mn-ea"/>
              </a:rPr>
              <a:t>” </a:t>
            </a:r>
            <a:r>
              <a:rPr lang="zh-CN" altLang="en-US" sz="1200" kern="1200" dirty="0">
                <a:solidFill>
                  <a:schemeClr val="tx1"/>
                </a:solidFill>
                <a:effectLst/>
                <a:latin typeface="+mn-lt"/>
                <a:ea typeface="+mn-ea"/>
              </a:rPr>
              <a:t>是二者的合称，是并列概念的统称，而非种属关系。</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D </a:t>
            </a:r>
            <a:r>
              <a:rPr lang="zh-CN" altLang="en-US" sz="1200" kern="1200" dirty="0">
                <a:solidFill>
                  <a:schemeClr val="tx1"/>
                </a:solidFill>
                <a:effectLst/>
                <a:latin typeface="+mn-lt"/>
                <a:ea typeface="+mn-ea"/>
              </a:rPr>
              <a:t>选项：菊花、梅花是并列关系，且都属于花卉，但二者是不同类别的花卉（分属菊科、蔷薇科），而题干春兰、墨兰是同一类下的不同品种，</a:t>
            </a:r>
            <a:r>
              <a:rPr lang="en-US" altLang="zh-CN" sz="1200" kern="1200" dirty="0">
                <a:solidFill>
                  <a:schemeClr val="tx1"/>
                </a:solidFill>
                <a:effectLst/>
                <a:latin typeface="+mn-lt"/>
                <a:ea typeface="+mn-ea"/>
              </a:rPr>
              <a:t>A </a:t>
            </a:r>
            <a:r>
              <a:rPr lang="zh-CN" altLang="en-US" sz="1200" kern="1200" dirty="0">
                <a:solidFill>
                  <a:schemeClr val="tx1"/>
                </a:solidFill>
                <a:effectLst/>
                <a:latin typeface="+mn-lt"/>
                <a:ea typeface="+mn-ea"/>
              </a:rPr>
              <a:t>选项的匹配度更严谨。</a:t>
            </a:r>
            <a:endParaRPr lang="zh-CN" altLang="en-US" sz="1200" kern="1200" dirty="0">
              <a:solidFill>
                <a:schemeClr val="tx1"/>
              </a:solidFill>
              <a:effectLst/>
              <a:latin typeface="+mn-lt"/>
              <a:ea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ea typeface="+mn-ea"/>
              </a:rPr>
              <a:t>A </a:t>
            </a:r>
            <a:r>
              <a:rPr lang="zh-CN" altLang="en-US" sz="1200" kern="1200" dirty="0">
                <a:solidFill>
                  <a:schemeClr val="tx1"/>
                </a:solidFill>
                <a:effectLst/>
                <a:latin typeface="+mn-lt"/>
                <a:ea typeface="+mn-ea"/>
              </a:rPr>
              <a:t>项：</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提纲挈领</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指提起渔网的总绳，拎起衣服的领子，比喻抓住事物的关键和要领，</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网之一孔</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比喻局部在整体中才能起作用，二者无明显逻辑关系；</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德才兼备</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指既有好的品德，又具有才能，</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德高望重</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指品德高尚，很有声望，二者是近义关系，前后逻辑关系不一致，排除；</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B </a:t>
            </a:r>
            <a:r>
              <a:rPr lang="zh-CN" altLang="en-US" sz="1200" kern="1200" dirty="0">
                <a:solidFill>
                  <a:schemeClr val="tx1"/>
                </a:solidFill>
                <a:effectLst/>
                <a:latin typeface="+mn-lt"/>
                <a:ea typeface="+mn-ea"/>
              </a:rPr>
              <a:t>项：</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提纲挈领</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指提起渔网的总绳，拎起衣服的领子，比喻抓住事物的关键和要领，</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中流砥柱</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比喻能担当重任，在艰难环境中起支柱作用的集体或个人，二者无明显逻辑关系；</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德才兼备</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指既有好的品德，又具有才能，</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达士通人</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指学识渊博，心胸豁达的人，二者无明显逻辑关系，前后逻辑关系不一致，排除；</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C </a:t>
            </a:r>
            <a:r>
              <a:rPr lang="zh-CN" altLang="en-US" sz="1200" kern="1200" dirty="0">
                <a:solidFill>
                  <a:schemeClr val="tx1"/>
                </a:solidFill>
                <a:effectLst/>
                <a:latin typeface="+mn-lt"/>
                <a:ea typeface="+mn-ea"/>
              </a:rPr>
              <a:t>项：</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提纲挈领</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指提起渔网的总绳，拎起衣服的领子，比喻抓住事物的关键和要领，</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以一持万</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形容抓住关键，可以控制全局，二者是近义关系；</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德才兼备</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指既有好的品德，又具有才能，</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才高行洁</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指才智高超，操行纯洁，二者是近义关系，前后逻辑关系一致，当选；</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D </a:t>
            </a:r>
            <a:r>
              <a:rPr lang="zh-CN" altLang="en-US" sz="1200" kern="1200" dirty="0">
                <a:solidFill>
                  <a:schemeClr val="tx1"/>
                </a:solidFill>
                <a:effectLst/>
                <a:latin typeface="+mn-lt"/>
                <a:ea typeface="+mn-ea"/>
              </a:rPr>
              <a:t>项：</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提纲挈领</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指提起渔网的总绳，拎起衣服的领子，比喻抓住事物的关键和要领，</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毛举细故</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意思是烦琐地列举像毫毛一样细小轻微的事情，多指用小事情攻击或责难别人，二者无明显逻辑关系；</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德才兼备</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指既有好的品德，又具有才能，</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以德报怨</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指用恩惠回报与别人之间的仇恨，二者无明显逻辑关系，前后逻辑关系不一致，排除。</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故</a:t>
            </a:r>
            <a:r>
              <a:rPr lang="en-US" altLang="zh-CN" sz="1200" kern="1200" dirty="0">
                <a:solidFill>
                  <a:schemeClr val="tx1"/>
                </a:solidFill>
                <a:effectLst/>
                <a:latin typeface="+mn-lt"/>
                <a:ea typeface="+mn-ea"/>
              </a:rPr>
              <a:t>C</a:t>
            </a:r>
            <a:endParaRPr lang="en-US" altLang="zh-CN" sz="1200" kern="1200" dirty="0">
              <a:solidFill>
                <a:schemeClr val="tx1"/>
              </a:solidFill>
              <a:effectLst/>
              <a:latin typeface="+mn-lt"/>
              <a:ea typeface="+mn-ea"/>
            </a:endParaRPr>
          </a:p>
          <a:p>
            <a:r>
              <a:rPr lang="zh-CN" altLang="en-US" sz="1200" kern="1200" dirty="0">
                <a:solidFill>
                  <a:schemeClr val="tx1"/>
                </a:solidFill>
                <a:effectLst/>
                <a:latin typeface="+mn-lt"/>
                <a:ea typeface="+mn-ea"/>
              </a:rPr>
              <a:t>前组：网之一孔比喻局部，和</a:t>
            </a:r>
            <a:r>
              <a:rPr lang="en-US" altLang="zh-CN" sz="1200" kern="1200" dirty="0">
                <a:solidFill>
                  <a:schemeClr val="tx1"/>
                </a:solidFill>
                <a:effectLst/>
                <a:latin typeface="+mn-lt"/>
                <a:ea typeface="+mn-ea"/>
              </a:rPr>
              <a:t> “</a:t>
            </a:r>
            <a:r>
              <a:rPr lang="zh-CN" altLang="en-US" sz="1200" kern="1200" dirty="0">
                <a:solidFill>
                  <a:schemeClr val="tx1"/>
                </a:solidFill>
                <a:effectLst/>
                <a:latin typeface="+mn-lt"/>
                <a:ea typeface="+mn-ea"/>
              </a:rPr>
              <a:t>提纲挈领</a:t>
            </a:r>
            <a:r>
              <a:rPr lang="en-US" altLang="zh-CN" sz="1200" kern="1200" dirty="0">
                <a:solidFill>
                  <a:schemeClr val="tx1"/>
                </a:solidFill>
                <a:effectLst/>
                <a:latin typeface="+mn-lt"/>
                <a:ea typeface="+mn-ea"/>
              </a:rPr>
              <a:t>” </a:t>
            </a:r>
            <a:r>
              <a:rPr lang="zh-CN" altLang="en-US" sz="1200" kern="1200" dirty="0">
                <a:solidFill>
                  <a:schemeClr val="tx1"/>
                </a:solidFill>
                <a:effectLst/>
                <a:latin typeface="+mn-lt"/>
                <a:ea typeface="+mn-ea"/>
              </a:rPr>
              <a:t>无近义关系；后组：德高望重侧重品德高尚、声望高，和</a:t>
            </a:r>
            <a:r>
              <a:rPr lang="en-US" altLang="zh-CN" sz="1200" kern="1200" dirty="0">
                <a:solidFill>
                  <a:schemeClr val="tx1"/>
                </a:solidFill>
                <a:effectLst/>
                <a:latin typeface="+mn-lt"/>
                <a:ea typeface="+mn-ea"/>
              </a:rPr>
              <a:t> “</a:t>
            </a:r>
            <a:r>
              <a:rPr lang="zh-CN" altLang="en-US" sz="1200" kern="1200" dirty="0">
                <a:solidFill>
                  <a:schemeClr val="tx1"/>
                </a:solidFill>
                <a:effectLst/>
                <a:latin typeface="+mn-lt"/>
                <a:ea typeface="+mn-ea"/>
              </a:rPr>
              <a:t>德才兼备</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（德</a:t>
            </a:r>
            <a:r>
              <a:rPr lang="en-US" altLang="zh-CN" sz="1200" kern="1200" dirty="0">
                <a:solidFill>
                  <a:schemeClr val="tx1"/>
                </a:solidFill>
                <a:effectLst/>
                <a:latin typeface="+mn-lt"/>
                <a:ea typeface="+mn-ea"/>
              </a:rPr>
              <a:t> + </a:t>
            </a:r>
            <a:r>
              <a:rPr lang="zh-CN" altLang="en-US" sz="1200" kern="1200" dirty="0">
                <a:solidFill>
                  <a:schemeClr val="tx1"/>
                </a:solidFill>
                <a:effectLst/>
                <a:latin typeface="+mn-lt"/>
                <a:ea typeface="+mn-ea"/>
              </a:rPr>
              <a:t>才）逻辑不符。排除。</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B </a:t>
            </a:r>
            <a:r>
              <a:rPr lang="zh-CN" altLang="en-US" sz="1200" kern="1200" dirty="0">
                <a:solidFill>
                  <a:schemeClr val="tx1"/>
                </a:solidFill>
                <a:effectLst/>
                <a:latin typeface="+mn-lt"/>
                <a:ea typeface="+mn-ea"/>
              </a:rPr>
              <a:t>选项前组：中流砥柱比喻坚强的核心力量，和</a:t>
            </a:r>
            <a:r>
              <a:rPr lang="en-US" altLang="zh-CN" sz="1200" kern="1200" dirty="0">
                <a:solidFill>
                  <a:schemeClr val="tx1"/>
                </a:solidFill>
                <a:effectLst/>
                <a:latin typeface="+mn-lt"/>
                <a:ea typeface="+mn-ea"/>
              </a:rPr>
              <a:t> “</a:t>
            </a:r>
            <a:r>
              <a:rPr lang="zh-CN" altLang="en-US" sz="1200" kern="1200" dirty="0">
                <a:solidFill>
                  <a:schemeClr val="tx1"/>
                </a:solidFill>
                <a:effectLst/>
                <a:latin typeface="+mn-lt"/>
                <a:ea typeface="+mn-ea"/>
              </a:rPr>
              <a:t>提纲挈领</a:t>
            </a:r>
            <a:r>
              <a:rPr lang="en-US" altLang="zh-CN" sz="1200" kern="1200" dirty="0">
                <a:solidFill>
                  <a:schemeClr val="tx1"/>
                </a:solidFill>
                <a:effectLst/>
                <a:latin typeface="+mn-lt"/>
                <a:ea typeface="+mn-ea"/>
              </a:rPr>
              <a:t>” </a:t>
            </a:r>
            <a:r>
              <a:rPr lang="zh-CN" altLang="en-US" sz="1200" kern="1200" dirty="0">
                <a:solidFill>
                  <a:schemeClr val="tx1"/>
                </a:solidFill>
                <a:effectLst/>
                <a:latin typeface="+mn-lt"/>
                <a:ea typeface="+mn-ea"/>
              </a:rPr>
              <a:t>无近义关系；后组：达士通人指学识渊博、豁达的人，和</a:t>
            </a:r>
            <a:r>
              <a:rPr lang="en-US" altLang="zh-CN" sz="1200" kern="1200" dirty="0">
                <a:solidFill>
                  <a:schemeClr val="tx1"/>
                </a:solidFill>
                <a:effectLst/>
                <a:latin typeface="+mn-lt"/>
                <a:ea typeface="+mn-ea"/>
              </a:rPr>
              <a:t> “</a:t>
            </a:r>
            <a:r>
              <a:rPr lang="zh-CN" altLang="en-US" sz="1200" kern="1200" dirty="0">
                <a:solidFill>
                  <a:schemeClr val="tx1"/>
                </a:solidFill>
                <a:effectLst/>
                <a:latin typeface="+mn-lt"/>
                <a:ea typeface="+mn-ea"/>
              </a:rPr>
              <a:t>德才兼备</a:t>
            </a:r>
            <a:r>
              <a:rPr lang="en-US" altLang="zh-CN" sz="1200" kern="1200" dirty="0">
                <a:solidFill>
                  <a:schemeClr val="tx1"/>
                </a:solidFill>
                <a:effectLst/>
                <a:latin typeface="+mn-lt"/>
                <a:ea typeface="+mn-ea"/>
              </a:rPr>
              <a:t>” </a:t>
            </a:r>
            <a:r>
              <a:rPr lang="zh-CN" altLang="en-US" sz="1200" kern="1200" dirty="0">
                <a:solidFill>
                  <a:schemeClr val="tx1"/>
                </a:solidFill>
                <a:effectLst/>
                <a:latin typeface="+mn-lt"/>
                <a:ea typeface="+mn-ea"/>
              </a:rPr>
              <a:t>逻辑不符。排除。</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C </a:t>
            </a:r>
            <a:r>
              <a:rPr lang="zh-CN" altLang="en-US" sz="1200" kern="1200" dirty="0">
                <a:solidFill>
                  <a:schemeClr val="tx1"/>
                </a:solidFill>
                <a:effectLst/>
                <a:latin typeface="+mn-lt"/>
                <a:ea typeface="+mn-ea"/>
              </a:rPr>
              <a:t>选项前组：以一持万指抓住关键就能控制全局，和</a:t>
            </a:r>
            <a:r>
              <a:rPr lang="en-US" altLang="zh-CN" sz="1200" kern="1200" dirty="0">
                <a:solidFill>
                  <a:schemeClr val="tx1"/>
                </a:solidFill>
                <a:effectLst/>
                <a:latin typeface="+mn-lt"/>
                <a:ea typeface="+mn-ea"/>
              </a:rPr>
              <a:t> “</a:t>
            </a:r>
            <a:r>
              <a:rPr lang="zh-CN" altLang="en-US" sz="1200" kern="1200" dirty="0">
                <a:solidFill>
                  <a:schemeClr val="tx1"/>
                </a:solidFill>
                <a:effectLst/>
                <a:latin typeface="+mn-lt"/>
                <a:ea typeface="+mn-ea"/>
              </a:rPr>
              <a:t>提纲挈领</a:t>
            </a:r>
            <a:r>
              <a:rPr lang="en-US" altLang="zh-CN" sz="1200" kern="1200" dirty="0">
                <a:solidFill>
                  <a:schemeClr val="tx1"/>
                </a:solidFill>
                <a:effectLst/>
                <a:latin typeface="+mn-lt"/>
                <a:ea typeface="+mn-ea"/>
              </a:rPr>
              <a:t>” </a:t>
            </a:r>
            <a:r>
              <a:rPr lang="zh-CN" altLang="en-US" sz="1200" kern="1200" dirty="0">
                <a:solidFill>
                  <a:schemeClr val="tx1"/>
                </a:solidFill>
                <a:effectLst/>
                <a:latin typeface="+mn-lt"/>
                <a:ea typeface="+mn-ea"/>
              </a:rPr>
              <a:t>是近义词；后组：才高行洁指才能出众且品行端正，和</a:t>
            </a:r>
            <a:r>
              <a:rPr lang="en-US" altLang="zh-CN" sz="1200" kern="1200" dirty="0">
                <a:solidFill>
                  <a:schemeClr val="tx1"/>
                </a:solidFill>
                <a:effectLst/>
                <a:latin typeface="+mn-lt"/>
                <a:ea typeface="+mn-ea"/>
              </a:rPr>
              <a:t> “</a:t>
            </a:r>
            <a:r>
              <a:rPr lang="zh-CN" altLang="en-US" sz="1200" kern="1200" dirty="0">
                <a:solidFill>
                  <a:schemeClr val="tx1"/>
                </a:solidFill>
                <a:effectLst/>
                <a:latin typeface="+mn-lt"/>
                <a:ea typeface="+mn-ea"/>
              </a:rPr>
              <a:t>德才兼备</a:t>
            </a:r>
            <a:r>
              <a:rPr lang="en-US" altLang="zh-CN" sz="1200" kern="1200" dirty="0">
                <a:solidFill>
                  <a:schemeClr val="tx1"/>
                </a:solidFill>
                <a:effectLst/>
                <a:latin typeface="+mn-lt"/>
                <a:ea typeface="+mn-ea"/>
              </a:rPr>
              <a:t>” </a:t>
            </a:r>
            <a:r>
              <a:rPr lang="zh-CN" altLang="en-US" sz="1200" kern="1200" dirty="0">
                <a:solidFill>
                  <a:schemeClr val="tx1"/>
                </a:solidFill>
                <a:effectLst/>
                <a:latin typeface="+mn-lt"/>
                <a:ea typeface="+mn-ea"/>
              </a:rPr>
              <a:t>是近义词。前后逻辑完全匹配。</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D </a:t>
            </a:r>
            <a:r>
              <a:rPr lang="zh-CN" altLang="en-US" sz="1200" kern="1200" dirty="0">
                <a:solidFill>
                  <a:schemeClr val="tx1"/>
                </a:solidFill>
                <a:effectLst/>
                <a:latin typeface="+mn-lt"/>
                <a:ea typeface="+mn-ea"/>
              </a:rPr>
              <a:t>选项前组：毛举细故指罗列琐碎小事，和</a:t>
            </a:r>
            <a:r>
              <a:rPr lang="en-US" altLang="zh-CN" sz="1200" kern="1200" dirty="0">
                <a:solidFill>
                  <a:schemeClr val="tx1"/>
                </a:solidFill>
                <a:effectLst/>
                <a:latin typeface="+mn-lt"/>
                <a:ea typeface="+mn-ea"/>
              </a:rPr>
              <a:t> “</a:t>
            </a:r>
            <a:r>
              <a:rPr lang="zh-CN" altLang="en-US" sz="1200" kern="1200" dirty="0">
                <a:solidFill>
                  <a:schemeClr val="tx1"/>
                </a:solidFill>
                <a:effectLst/>
                <a:latin typeface="+mn-lt"/>
                <a:ea typeface="+mn-ea"/>
              </a:rPr>
              <a:t>提纲挈领</a:t>
            </a:r>
            <a:r>
              <a:rPr lang="en-US" altLang="zh-CN" sz="1200" kern="1200" dirty="0">
                <a:solidFill>
                  <a:schemeClr val="tx1"/>
                </a:solidFill>
                <a:effectLst/>
                <a:latin typeface="+mn-lt"/>
                <a:ea typeface="+mn-ea"/>
              </a:rPr>
              <a:t>” </a:t>
            </a:r>
            <a:r>
              <a:rPr lang="zh-CN" altLang="en-US" sz="1200" kern="1200" dirty="0">
                <a:solidFill>
                  <a:schemeClr val="tx1"/>
                </a:solidFill>
                <a:effectLst/>
                <a:latin typeface="+mn-lt"/>
                <a:ea typeface="+mn-ea"/>
              </a:rPr>
              <a:t>是反义词；后组：以德报怨指用恩德回报怨恨，和</a:t>
            </a:r>
            <a:r>
              <a:rPr lang="en-US" altLang="zh-CN" sz="1200" kern="1200" dirty="0">
                <a:solidFill>
                  <a:schemeClr val="tx1"/>
                </a:solidFill>
                <a:effectLst/>
                <a:latin typeface="+mn-lt"/>
                <a:ea typeface="+mn-ea"/>
              </a:rPr>
              <a:t> “</a:t>
            </a:r>
            <a:r>
              <a:rPr lang="zh-CN" altLang="en-US" sz="1200" kern="1200" dirty="0">
                <a:solidFill>
                  <a:schemeClr val="tx1"/>
                </a:solidFill>
                <a:effectLst/>
                <a:latin typeface="+mn-lt"/>
                <a:ea typeface="+mn-ea"/>
              </a:rPr>
              <a:t>德才兼备</a:t>
            </a:r>
            <a:r>
              <a:rPr lang="en-US" altLang="zh-CN" sz="1200" kern="1200" dirty="0">
                <a:solidFill>
                  <a:schemeClr val="tx1"/>
                </a:solidFill>
                <a:effectLst/>
                <a:latin typeface="+mn-lt"/>
                <a:ea typeface="+mn-ea"/>
              </a:rPr>
              <a:t>” </a:t>
            </a:r>
            <a:r>
              <a:rPr lang="zh-CN" altLang="en-US" sz="1200" kern="1200" dirty="0">
                <a:solidFill>
                  <a:schemeClr val="tx1"/>
                </a:solidFill>
                <a:effectLst/>
                <a:latin typeface="+mn-lt"/>
                <a:ea typeface="+mn-ea"/>
              </a:rPr>
              <a:t>无逻辑关系。排除。</a:t>
            </a:r>
            <a:endParaRPr lang="zh-CN" altLang="en-US" sz="1200" kern="1200" dirty="0">
              <a:solidFill>
                <a:schemeClr val="tx1"/>
              </a:solidFill>
              <a:effectLst/>
              <a:latin typeface="+mn-lt"/>
              <a:ea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ea typeface="+mn-ea"/>
              </a:rPr>
              <a:t>A </a:t>
            </a:r>
            <a:r>
              <a:rPr lang="zh-CN" altLang="en-US" sz="1200" kern="1200" dirty="0">
                <a:solidFill>
                  <a:schemeClr val="tx1"/>
                </a:solidFill>
                <a:effectLst/>
                <a:latin typeface="+mn-lt"/>
                <a:ea typeface="+mn-ea"/>
              </a:rPr>
              <a:t>项：衣食住行泛指穿衣、吃饭、住房、行路四种日常生活中的基本需要，四字为并列关系，亭台楼阁是四种不同的建筑，四字为并列关系，且二者均属于生活范畴；花鸟鱼虫是观赏用的花草、鸟儿、鱼儿、爬虫，四字为并列关系，琴棋书画指古琴、围棋、书法、国画，四字为并列关系，但二者无明显逻辑关系，前后逻辑关系不一致，排除；</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B </a:t>
            </a:r>
            <a:r>
              <a:rPr lang="zh-CN" altLang="en-US" sz="1200" kern="1200" dirty="0">
                <a:solidFill>
                  <a:schemeClr val="tx1"/>
                </a:solidFill>
                <a:effectLst/>
                <a:latin typeface="+mn-lt"/>
                <a:ea typeface="+mn-ea"/>
              </a:rPr>
              <a:t>项：衣食住行泛指穿衣、吃饭、住房、行路四种日常生活中的基本需要，四字为并列关系，油盐酱醋是四种烹调佐料，四字为并列关系，且二者均属于生活范畴；望闻问切是中医诊断学四种诊察疾病的基本方法，四字为并列关系，琴棋书画指古琴、围棋、书法、国画，四字为并列关系，但二者无明显逻辑关系，前后逻辑关系不一致，排除；</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C </a:t>
            </a:r>
            <a:r>
              <a:rPr lang="zh-CN" altLang="en-US" sz="1200" kern="1200" dirty="0">
                <a:solidFill>
                  <a:schemeClr val="tx1"/>
                </a:solidFill>
                <a:effectLst/>
                <a:latin typeface="+mn-lt"/>
                <a:ea typeface="+mn-ea"/>
              </a:rPr>
              <a:t>项：衣食住行泛指穿衣、吃饭、住房、行路四种日常生活中的基本需要，四字为并列关系，王侯将相为贵族的四种称谓，四字为并列关系，但二者无明显逻辑关系；山川河岳四字不是并列关系，琴棋书画指古琴、围棋、书法、国画，四字为并列关系，二者无明显逻辑关系，前后逻辑关系不一致，排除；</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D </a:t>
            </a:r>
            <a:r>
              <a:rPr lang="zh-CN" altLang="en-US" sz="1200" kern="1200" dirty="0">
                <a:solidFill>
                  <a:schemeClr val="tx1"/>
                </a:solidFill>
                <a:effectLst/>
                <a:latin typeface="+mn-lt"/>
                <a:ea typeface="+mn-ea"/>
              </a:rPr>
              <a:t>项：衣食住行泛指穿衣、吃饭、住房、行路四种日常生活中的基本需要，四字为并列关系，锅碗瓢盆是四种厨房日常生活用品，四字为并列关系，且二者均属于生活范畴；笔墨纸砚是四种书画用具，四字为并列关系，琴棋书画原指古琴、围棋、书法、国画，后泛指弹琴、弈棋、写字、绘画，用来表示个人的文化素养，四字为并列关系，且二者均属于文化范畴，前后逻辑关系一致，当选。</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故正确答案为</a:t>
            </a:r>
            <a:r>
              <a:rPr lang="en-US" altLang="zh-CN" sz="1200" kern="1200" dirty="0">
                <a:solidFill>
                  <a:schemeClr val="tx1"/>
                </a:solidFill>
                <a:effectLst/>
                <a:latin typeface="+mn-lt"/>
                <a:ea typeface="+mn-ea"/>
              </a:rPr>
              <a:t> D</a:t>
            </a:r>
            <a:r>
              <a:rPr lang="zh-CN" altLang="en-US" sz="1200" kern="1200" dirty="0">
                <a:solidFill>
                  <a:schemeClr val="tx1"/>
                </a:solidFill>
                <a:effectLst/>
                <a:latin typeface="+mn-lt"/>
                <a:ea typeface="+mn-ea"/>
              </a:rPr>
              <a:t>。</a:t>
            </a:r>
            <a:endParaRPr lang="zh-CN" altLang="en-US" sz="1200" kern="1200" dirty="0">
              <a:solidFill>
                <a:schemeClr val="tx1"/>
              </a:solidFill>
              <a:effectLst/>
              <a:latin typeface="+mn-lt"/>
              <a:ea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ea typeface="+mn-ea"/>
              </a:rPr>
              <a:t>论点：愤怒和易恼等情绪与饥饿之间存在被诱导的关系，也就是说，饥饿会使人们</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饿怒</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A </a:t>
            </a:r>
            <a:r>
              <a:rPr lang="zh-CN" altLang="en-US" sz="1200" kern="1200" dirty="0">
                <a:solidFill>
                  <a:schemeClr val="tx1"/>
                </a:solidFill>
                <a:effectLst/>
                <a:latin typeface="+mn-lt"/>
                <a:ea typeface="+mn-ea"/>
              </a:rPr>
              <a:t>项：该项说的是饥饿很难使人保持情绪愉悦，而论点说的是饥饿会使人们</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饿怒</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，话题不一致，无法加强，排除；</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B </a:t>
            </a:r>
            <a:r>
              <a:rPr lang="zh-CN" altLang="en-US" sz="1200" kern="1200" dirty="0">
                <a:solidFill>
                  <a:schemeClr val="tx1"/>
                </a:solidFill>
                <a:effectLst/>
                <a:latin typeface="+mn-lt"/>
                <a:ea typeface="+mn-ea"/>
              </a:rPr>
              <a:t>项：该项说的是饥饿与愤怒和易恼情绪以及更低的愉悦感有关，但具体是什么关系不明确，为不明确项，无法加强，排除；</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C </a:t>
            </a:r>
            <a:r>
              <a:rPr lang="zh-CN" altLang="en-US" sz="1200" kern="1200" dirty="0">
                <a:solidFill>
                  <a:schemeClr val="tx1"/>
                </a:solidFill>
                <a:effectLst/>
                <a:latin typeface="+mn-lt"/>
                <a:ea typeface="+mn-ea"/>
              </a:rPr>
              <a:t>项：该项说的是饥饿状态下的受试者出现易恼、愤怒情绪的概率，说明饥饿会导致愤怒和易恼，补充了题干的实验数据，可以加强，当选；</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D </a:t>
            </a:r>
            <a:r>
              <a:rPr lang="zh-CN" altLang="en-US" sz="1200" kern="1200" dirty="0">
                <a:solidFill>
                  <a:schemeClr val="tx1"/>
                </a:solidFill>
                <a:effectLst/>
                <a:latin typeface="+mn-lt"/>
                <a:ea typeface="+mn-ea"/>
              </a:rPr>
              <a:t>项：该项说的是科学家才发现饥饿会导致</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饿怒</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，科学家发现的时间早晚与论点讨论的饥饿会使人们</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饿怒</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无关，为无关项，无法加强，排除。</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故正确答案为</a:t>
            </a:r>
            <a:r>
              <a:rPr lang="en-US" altLang="zh-CN" sz="1200" kern="1200" dirty="0">
                <a:solidFill>
                  <a:schemeClr val="tx1"/>
                </a:solidFill>
                <a:effectLst/>
                <a:latin typeface="+mn-lt"/>
                <a:ea typeface="+mn-ea"/>
              </a:rPr>
              <a:t> C</a:t>
            </a:r>
            <a:r>
              <a:rPr lang="zh-CN" altLang="en-US" sz="1200" kern="1200" dirty="0">
                <a:solidFill>
                  <a:schemeClr val="tx1"/>
                </a:solidFill>
                <a:effectLst/>
                <a:latin typeface="+mn-lt"/>
                <a:ea typeface="+mn-ea"/>
              </a:rPr>
              <a:t>。</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题干结论：饥饿会使人们</a:t>
            </a:r>
            <a:r>
              <a:rPr lang="en-US" altLang="zh-CN" sz="1200" kern="1200" dirty="0">
                <a:solidFill>
                  <a:schemeClr val="tx1"/>
                </a:solidFill>
                <a:effectLst/>
                <a:latin typeface="+mn-lt"/>
                <a:ea typeface="+mn-ea"/>
              </a:rPr>
              <a:t> “</a:t>
            </a:r>
            <a:r>
              <a:rPr lang="zh-CN" altLang="en-US" sz="1200" kern="1200" dirty="0">
                <a:solidFill>
                  <a:schemeClr val="tx1"/>
                </a:solidFill>
                <a:effectLst/>
                <a:latin typeface="+mn-lt"/>
                <a:ea typeface="+mn-ea"/>
              </a:rPr>
              <a:t>饿怒</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（愤怒、易恼等情绪与饥饿之间存在被诱导的关系）。</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支持该结论的关键是直接建立饥饿与愤怒、易恼情绪的正向关联，且关联表述越明确、越具普遍性，支持力度越强。</a:t>
            </a:r>
            <a:endParaRPr lang="zh-CN" altLang="en-US" sz="1200" kern="1200" dirty="0">
              <a:solidFill>
                <a:schemeClr val="tx1"/>
              </a:solidFill>
              <a:effectLst/>
              <a:latin typeface="+mn-lt"/>
              <a:ea typeface="+mn-ea"/>
            </a:endParaRPr>
          </a:p>
          <a:p>
            <a:endParaRPr lang="zh-CN" altLang="en-US" sz="1200" kern="1200" dirty="0">
              <a:solidFill>
                <a:schemeClr val="tx1"/>
              </a:solidFill>
              <a:effectLst/>
              <a:latin typeface="+mn-lt"/>
              <a:ea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ea typeface="+mn-ea"/>
              </a:rPr>
              <a:t>论点：喝红茶能够降低死亡风险。</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论据：近</a:t>
            </a:r>
            <a:r>
              <a:rPr lang="en-US" altLang="zh-CN" sz="1200" kern="1200" dirty="0">
                <a:solidFill>
                  <a:schemeClr val="tx1"/>
                </a:solidFill>
                <a:effectLst/>
                <a:latin typeface="+mn-lt"/>
                <a:ea typeface="+mn-ea"/>
              </a:rPr>
              <a:t> 10 </a:t>
            </a:r>
            <a:r>
              <a:rPr lang="zh-CN" altLang="en-US" sz="1200" kern="1200" dirty="0">
                <a:solidFill>
                  <a:schemeClr val="tx1"/>
                </a:solidFill>
                <a:effectLst/>
                <a:latin typeface="+mn-lt"/>
                <a:ea typeface="+mn-ea"/>
              </a:rPr>
              <a:t>年来，研究人员对</a:t>
            </a:r>
            <a:r>
              <a:rPr lang="en-US" altLang="zh-CN" sz="1200" kern="1200" dirty="0">
                <a:solidFill>
                  <a:schemeClr val="tx1"/>
                </a:solidFill>
                <a:effectLst/>
                <a:latin typeface="+mn-lt"/>
                <a:ea typeface="+mn-ea"/>
              </a:rPr>
              <a:t> 50 </a:t>
            </a:r>
            <a:r>
              <a:rPr lang="zh-CN" altLang="en-US" sz="1200" kern="1200" dirty="0">
                <a:solidFill>
                  <a:schemeClr val="tx1"/>
                </a:solidFill>
                <a:effectLst/>
                <a:latin typeface="+mn-lt"/>
                <a:ea typeface="+mn-ea"/>
              </a:rPr>
              <a:t>万名年龄在</a:t>
            </a:r>
            <a:r>
              <a:rPr lang="en-US" altLang="zh-CN" sz="1200" kern="1200" dirty="0">
                <a:solidFill>
                  <a:schemeClr val="tx1"/>
                </a:solidFill>
                <a:effectLst/>
                <a:latin typeface="+mn-lt"/>
                <a:ea typeface="+mn-ea"/>
              </a:rPr>
              <a:t> 40 </a:t>
            </a:r>
            <a:r>
              <a:rPr lang="zh-CN" altLang="en-US" sz="1200" kern="1200" dirty="0">
                <a:solidFill>
                  <a:schemeClr val="tx1"/>
                </a:solidFill>
                <a:effectLst/>
                <a:latin typeface="+mn-lt"/>
                <a:ea typeface="+mn-ea"/>
              </a:rPr>
              <a:t>至</a:t>
            </a:r>
            <a:r>
              <a:rPr lang="en-US" altLang="zh-CN" sz="1200" kern="1200" dirty="0">
                <a:solidFill>
                  <a:schemeClr val="tx1"/>
                </a:solidFill>
                <a:effectLst/>
                <a:latin typeface="+mn-lt"/>
                <a:ea typeface="+mn-ea"/>
              </a:rPr>
              <a:t> 69 </a:t>
            </a:r>
            <a:r>
              <a:rPr lang="zh-CN" altLang="en-US" sz="1200" kern="1200" dirty="0">
                <a:solidFill>
                  <a:schemeClr val="tx1"/>
                </a:solidFill>
                <a:effectLst/>
                <a:latin typeface="+mn-lt"/>
                <a:ea typeface="+mn-ea"/>
              </a:rPr>
              <a:t>岁之间的男性和女性进行了跟踪研究。这些人中</a:t>
            </a:r>
            <a:r>
              <a:rPr lang="en-US" altLang="zh-CN" sz="1200" kern="1200" dirty="0">
                <a:solidFill>
                  <a:schemeClr val="tx1"/>
                </a:solidFill>
                <a:effectLst/>
                <a:latin typeface="+mn-lt"/>
                <a:ea typeface="+mn-ea"/>
              </a:rPr>
              <a:t> 85%</a:t>
            </a:r>
            <a:r>
              <a:rPr lang="zh-CN" altLang="en-US" sz="1200" kern="1200" dirty="0">
                <a:solidFill>
                  <a:schemeClr val="tx1"/>
                </a:solidFill>
                <a:effectLst/>
                <a:latin typeface="+mn-lt"/>
                <a:ea typeface="+mn-ea"/>
              </a:rPr>
              <a:t>的人经常喝茶，经常喝茶的人群中</a:t>
            </a:r>
            <a:r>
              <a:rPr lang="en-US" altLang="zh-CN" sz="1200" kern="1200" dirty="0">
                <a:solidFill>
                  <a:schemeClr val="tx1"/>
                </a:solidFill>
                <a:effectLst/>
                <a:latin typeface="+mn-lt"/>
                <a:ea typeface="+mn-ea"/>
              </a:rPr>
              <a:t> 89%</a:t>
            </a:r>
            <a:r>
              <a:rPr lang="zh-CN" altLang="en-US" sz="1200" kern="1200" dirty="0">
                <a:solidFill>
                  <a:schemeClr val="tx1"/>
                </a:solidFill>
                <a:effectLst/>
                <a:latin typeface="+mn-lt"/>
                <a:ea typeface="+mn-ea"/>
              </a:rPr>
              <a:t>喝红茶。研究发现，喝红茶的人比不喝茶的人更健康长寿。论据讨论的是</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喝红茶的人更健康长寿</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，论点说的是</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喝红茶能够降低死亡风险</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，论点论据话题一致，加强优先考虑补充论据。</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A </a:t>
            </a:r>
            <a:r>
              <a:rPr lang="zh-CN" altLang="en-US" sz="1200" kern="1200" dirty="0">
                <a:solidFill>
                  <a:schemeClr val="tx1"/>
                </a:solidFill>
                <a:effectLst/>
                <a:latin typeface="+mn-lt"/>
                <a:ea typeface="+mn-ea"/>
              </a:rPr>
              <a:t>项：该项说明只喝红茶而不加牛奶和糖的人患病风险更低，比较的是</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只喝红茶而不加牛奶和糖的人</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与</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喝红茶加牛奶和糖的人</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的患病风险，但无法说明</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喝红茶的人</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与</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不喝红茶的人</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的患病风险，不能证明喝红茶能够降低死亡风险，话题不一致，无法加强，排除；</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B </a:t>
            </a:r>
            <a:r>
              <a:rPr lang="zh-CN" altLang="en-US" sz="1200" kern="1200" dirty="0">
                <a:solidFill>
                  <a:schemeClr val="tx1"/>
                </a:solidFill>
                <a:effectLst/>
                <a:latin typeface="+mn-lt"/>
                <a:ea typeface="+mn-ea"/>
              </a:rPr>
              <a:t>项：该项说明既喝红茶又喝咖啡可乐可以降低死亡风险，但不明确降低死亡风险是因为喝红茶还是喝咖啡可乐，为不明确项，无法加强，排除；</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C </a:t>
            </a:r>
            <a:r>
              <a:rPr lang="zh-CN" altLang="en-US" sz="1200" kern="1200" dirty="0">
                <a:solidFill>
                  <a:schemeClr val="tx1"/>
                </a:solidFill>
                <a:effectLst/>
                <a:latin typeface="+mn-lt"/>
                <a:ea typeface="+mn-ea"/>
              </a:rPr>
              <a:t>项：该项说明红茶摄入量较高有益</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身体健康</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，举了较高红茶摄入量的例子证明喝红茶有利于</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身体健康</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，可以加强，保留；</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D </a:t>
            </a:r>
            <a:r>
              <a:rPr lang="zh-CN" altLang="en-US" sz="1200" kern="1200" dirty="0">
                <a:solidFill>
                  <a:schemeClr val="tx1"/>
                </a:solidFill>
                <a:effectLst/>
                <a:latin typeface="+mn-lt"/>
                <a:ea typeface="+mn-ea"/>
              </a:rPr>
              <a:t>项：该项说明每天喝两杯或更多红茶的人</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死亡风险</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降低了</a:t>
            </a:r>
            <a:r>
              <a:rPr lang="en-US" altLang="zh-CN" sz="1200" kern="1200" dirty="0">
                <a:solidFill>
                  <a:schemeClr val="tx1"/>
                </a:solidFill>
                <a:effectLst/>
                <a:latin typeface="+mn-lt"/>
                <a:ea typeface="+mn-ea"/>
              </a:rPr>
              <a:t> 9%~13%</a:t>
            </a:r>
            <a:r>
              <a:rPr lang="zh-CN" altLang="en-US" sz="1200" kern="1200" dirty="0">
                <a:solidFill>
                  <a:schemeClr val="tx1"/>
                </a:solidFill>
                <a:effectLst/>
                <a:latin typeface="+mn-lt"/>
                <a:ea typeface="+mn-ea"/>
              </a:rPr>
              <a:t>，举例子证明喝红茶能够降低</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死亡风险</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，可以加强，保留。</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比较</a:t>
            </a:r>
            <a:r>
              <a:rPr lang="en-US" altLang="zh-CN" sz="1200" kern="1200" dirty="0">
                <a:solidFill>
                  <a:schemeClr val="tx1"/>
                </a:solidFill>
                <a:effectLst/>
                <a:latin typeface="+mn-lt"/>
                <a:ea typeface="+mn-ea"/>
              </a:rPr>
              <a:t> C.D </a:t>
            </a:r>
            <a:r>
              <a:rPr lang="zh-CN" altLang="en-US" sz="1200" kern="1200" dirty="0">
                <a:solidFill>
                  <a:schemeClr val="tx1"/>
                </a:solidFill>
                <a:effectLst/>
                <a:latin typeface="+mn-lt"/>
                <a:ea typeface="+mn-ea"/>
              </a:rPr>
              <a:t>两项，</a:t>
            </a:r>
            <a:r>
              <a:rPr lang="en-US" altLang="zh-CN" sz="1200" kern="1200" dirty="0">
                <a:solidFill>
                  <a:schemeClr val="tx1"/>
                </a:solidFill>
                <a:effectLst/>
                <a:latin typeface="+mn-lt"/>
                <a:ea typeface="+mn-ea"/>
              </a:rPr>
              <a:t>C </a:t>
            </a:r>
            <a:r>
              <a:rPr lang="zh-CN" altLang="en-US" sz="1200" kern="1200" dirty="0">
                <a:solidFill>
                  <a:schemeClr val="tx1"/>
                </a:solidFill>
                <a:effectLst/>
                <a:latin typeface="+mn-lt"/>
                <a:ea typeface="+mn-ea"/>
              </a:rPr>
              <a:t>项只是说有利于身体健康，</a:t>
            </a:r>
            <a:r>
              <a:rPr lang="en-US" altLang="zh-CN" sz="1200" kern="1200" dirty="0">
                <a:solidFill>
                  <a:schemeClr val="tx1"/>
                </a:solidFill>
                <a:effectLst/>
                <a:latin typeface="+mn-lt"/>
                <a:ea typeface="+mn-ea"/>
              </a:rPr>
              <a:t>D </a:t>
            </a:r>
            <a:r>
              <a:rPr lang="zh-CN" altLang="en-US" sz="1200" kern="1200" dirty="0">
                <a:solidFill>
                  <a:schemeClr val="tx1"/>
                </a:solidFill>
                <a:effectLst/>
                <a:latin typeface="+mn-lt"/>
                <a:ea typeface="+mn-ea"/>
              </a:rPr>
              <a:t>项通过具体的数据说明降低死亡风险，</a:t>
            </a:r>
            <a:r>
              <a:rPr lang="en-US" altLang="zh-CN" sz="1200" kern="1200" dirty="0">
                <a:solidFill>
                  <a:schemeClr val="tx1"/>
                </a:solidFill>
                <a:effectLst/>
                <a:latin typeface="+mn-lt"/>
                <a:ea typeface="+mn-ea"/>
              </a:rPr>
              <a:t>D </a:t>
            </a:r>
            <a:r>
              <a:rPr lang="zh-CN" altLang="en-US" sz="1200" kern="1200" dirty="0">
                <a:solidFill>
                  <a:schemeClr val="tx1"/>
                </a:solidFill>
                <a:effectLst/>
                <a:latin typeface="+mn-lt"/>
                <a:ea typeface="+mn-ea"/>
              </a:rPr>
              <a:t>项更加直接明确，故</a:t>
            </a:r>
            <a:r>
              <a:rPr lang="en-US" altLang="zh-CN" sz="1200" kern="1200" dirty="0">
                <a:solidFill>
                  <a:schemeClr val="tx1"/>
                </a:solidFill>
                <a:effectLst/>
                <a:latin typeface="+mn-lt"/>
                <a:ea typeface="+mn-ea"/>
              </a:rPr>
              <a:t> D </a:t>
            </a:r>
            <a:r>
              <a:rPr lang="zh-CN" altLang="en-US" sz="1200" kern="1200" dirty="0">
                <a:solidFill>
                  <a:schemeClr val="tx1"/>
                </a:solidFill>
                <a:effectLst/>
                <a:latin typeface="+mn-lt"/>
                <a:ea typeface="+mn-ea"/>
              </a:rPr>
              <a:t>项加强力度更强，当选。</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故正确答案为</a:t>
            </a:r>
            <a:r>
              <a:rPr lang="en-US" altLang="zh-CN" sz="1200" kern="1200" dirty="0">
                <a:solidFill>
                  <a:schemeClr val="tx1"/>
                </a:solidFill>
                <a:effectLst/>
                <a:latin typeface="+mn-lt"/>
                <a:ea typeface="+mn-ea"/>
              </a:rPr>
              <a:t> D</a:t>
            </a:r>
            <a:r>
              <a:rPr lang="zh-CN" altLang="en-US" sz="1200" kern="1200" dirty="0">
                <a:solidFill>
                  <a:schemeClr val="tx1"/>
                </a:solidFill>
                <a:effectLst/>
                <a:latin typeface="+mn-lt"/>
                <a:ea typeface="+mn-ea"/>
              </a:rPr>
              <a:t>。</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A </a:t>
            </a:r>
            <a:r>
              <a:rPr lang="zh-CN" altLang="en-US" sz="1200" kern="1200" dirty="0">
                <a:solidFill>
                  <a:schemeClr val="tx1"/>
                </a:solidFill>
                <a:effectLst/>
                <a:latin typeface="+mn-lt"/>
                <a:ea typeface="+mn-ea"/>
              </a:rPr>
              <a:t>选项：强调</a:t>
            </a:r>
            <a:r>
              <a:rPr lang="en-US" altLang="zh-CN" sz="1200" kern="1200" dirty="0">
                <a:solidFill>
                  <a:schemeClr val="tx1"/>
                </a:solidFill>
                <a:effectLst/>
                <a:latin typeface="+mn-lt"/>
                <a:ea typeface="+mn-ea"/>
              </a:rPr>
              <a:t> “</a:t>
            </a:r>
            <a:r>
              <a:rPr lang="zh-CN" altLang="en-US" sz="1200" kern="1200" dirty="0">
                <a:solidFill>
                  <a:schemeClr val="tx1"/>
                </a:solidFill>
                <a:effectLst/>
                <a:latin typeface="+mn-lt"/>
                <a:ea typeface="+mn-ea"/>
              </a:rPr>
              <a:t>不加牛奶和糖的红茶</a:t>
            </a:r>
            <a:r>
              <a:rPr lang="en-US" altLang="zh-CN" sz="1200" kern="1200" dirty="0">
                <a:solidFill>
                  <a:schemeClr val="tx1"/>
                </a:solidFill>
                <a:effectLst/>
                <a:latin typeface="+mn-lt"/>
                <a:ea typeface="+mn-ea"/>
              </a:rPr>
              <a:t>” </a:t>
            </a:r>
            <a:r>
              <a:rPr lang="zh-CN" altLang="en-US" sz="1200" kern="1200" dirty="0">
                <a:solidFill>
                  <a:schemeClr val="tx1"/>
                </a:solidFill>
                <a:effectLst/>
                <a:latin typeface="+mn-lt"/>
                <a:ea typeface="+mn-ea"/>
              </a:rPr>
              <a:t>患病风险更低，这是对喝红茶的附加条件限制，并非直接证明</a:t>
            </a:r>
            <a:r>
              <a:rPr lang="en-US" altLang="zh-CN" sz="1200" kern="1200" dirty="0">
                <a:solidFill>
                  <a:schemeClr val="tx1"/>
                </a:solidFill>
                <a:effectLst/>
                <a:latin typeface="+mn-lt"/>
                <a:ea typeface="+mn-ea"/>
              </a:rPr>
              <a:t> “</a:t>
            </a:r>
            <a:r>
              <a:rPr lang="zh-CN" altLang="en-US" sz="1200" kern="1200" dirty="0">
                <a:solidFill>
                  <a:schemeClr val="tx1"/>
                </a:solidFill>
                <a:effectLst/>
                <a:latin typeface="+mn-lt"/>
                <a:ea typeface="+mn-ea"/>
              </a:rPr>
              <a:t>喝红茶本身能降低死亡风险</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，支持范围狭窄，力度较弱。</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B </a:t>
            </a:r>
            <a:r>
              <a:rPr lang="zh-CN" altLang="en-US" sz="1200" kern="1200" dirty="0">
                <a:solidFill>
                  <a:schemeClr val="tx1"/>
                </a:solidFill>
                <a:effectLst/>
                <a:latin typeface="+mn-lt"/>
                <a:ea typeface="+mn-ea"/>
              </a:rPr>
              <a:t>选项：指出喝红茶同时喝其他饮料的人死亡风险也低，无法排除其他饮料的影响，属于</a:t>
            </a:r>
            <a:r>
              <a:rPr lang="en-US" altLang="zh-CN" sz="1200" kern="1200" dirty="0">
                <a:solidFill>
                  <a:schemeClr val="tx1"/>
                </a:solidFill>
                <a:effectLst/>
                <a:latin typeface="+mn-lt"/>
                <a:ea typeface="+mn-ea"/>
              </a:rPr>
              <a:t> “</a:t>
            </a:r>
            <a:r>
              <a:rPr lang="zh-CN" altLang="en-US" sz="1200" kern="1200" dirty="0">
                <a:solidFill>
                  <a:schemeClr val="tx1"/>
                </a:solidFill>
                <a:effectLst/>
                <a:latin typeface="+mn-lt"/>
                <a:ea typeface="+mn-ea"/>
              </a:rPr>
              <a:t>另有他因</a:t>
            </a:r>
            <a:r>
              <a:rPr lang="en-US" altLang="zh-CN" sz="1200" kern="1200" dirty="0">
                <a:solidFill>
                  <a:schemeClr val="tx1"/>
                </a:solidFill>
                <a:effectLst/>
                <a:latin typeface="+mn-lt"/>
                <a:ea typeface="+mn-ea"/>
              </a:rPr>
              <a:t>” </a:t>
            </a:r>
            <a:r>
              <a:rPr lang="zh-CN" altLang="en-US" sz="1200" kern="1200" dirty="0">
                <a:solidFill>
                  <a:schemeClr val="tx1"/>
                </a:solidFill>
                <a:effectLst/>
                <a:latin typeface="+mn-lt"/>
                <a:ea typeface="+mn-ea"/>
              </a:rPr>
              <a:t>的干扰项，不能明确支持红茶的作用。</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C </a:t>
            </a:r>
            <a:r>
              <a:rPr lang="zh-CN" altLang="en-US" sz="1200" kern="1200" dirty="0">
                <a:solidFill>
                  <a:schemeClr val="tx1"/>
                </a:solidFill>
                <a:effectLst/>
                <a:latin typeface="+mn-lt"/>
                <a:ea typeface="+mn-ea"/>
              </a:rPr>
              <a:t>选项：仅说明红茶属于健康饮食、有益健康，但</a:t>
            </a:r>
            <a:r>
              <a:rPr lang="en-US" altLang="zh-CN" sz="1200" kern="1200" dirty="0">
                <a:solidFill>
                  <a:schemeClr val="tx1"/>
                </a:solidFill>
                <a:effectLst/>
                <a:latin typeface="+mn-lt"/>
                <a:ea typeface="+mn-ea"/>
              </a:rPr>
              <a:t> “</a:t>
            </a:r>
            <a:r>
              <a:rPr lang="zh-CN" altLang="en-US" sz="1200" kern="1200" dirty="0">
                <a:solidFill>
                  <a:schemeClr val="tx1"/>
                </a:solidFill>
                <a:effectLst/>
                <a:latin typeface="+mn-lt"/>
                <a:ea typeface="+mn-ea"/>
              </a:rPr>
              <a:t>有益健康</a:t>
            </a:r>
            <a:r>
              <a:rPr lang="en-US" altLang="zh-CN" sz="1200" kern="1200" dirty="0">
                <a:solidFill>
                  <a:schemeClr val="tx1"/>
                </a:solidFill>
                <a:effectLst/>
                <a:latin typeface="+mn-lt"/>
                <a:ea typeface="+mn-ea"/>
              </a:rPr>
              <a:t>” </a:t>
            </a:r>
            <a:r>
              <a:rPr lang="zh-CN" altLang="en-US" sz="1200" kern="1200" dirty="0">
                <a:solidFill>
                  <a:schemeClr val="tx1"/>
                </a:solidFill>
                <a:effectLst/>
                <a:latin typeface="+mn-lt"/>
                <a:ea typeface="+mn-ea"/>
              </a:rPr>
              <a:t>和</a:t>
            </a:r>
            <a:r>
              <a:rPr lang="en-US" altLang="zh-CN" sz="1200" kern="1200" dirty="0">
                <a:solidFill>
                  <a:schemeClr val="tx1"/>
                </a:solidFill>
                <a:effectLst/>
                <a:latin typeface="+mn-lt"/>
                <a:ea typeface="+mn-ea"/>
              </a:rPr>
              <a:t> “</a:t>
            </a:r>
            <a:r>
              <a:rPr lang="zh-CN" altLang="en-US" sz="1200" kern="1200" dirty="0">
                <a:solidFill>
                  <a:schemeClr val="tx1"/>
                </a:solidFill>
                <a:effectLst/>
                <a:latin typeface="+mn-lt"/>
                <a:ea typeface="+mn-ea"/>
              </a:rPr>
              <a:t>降低死亡风险</a:t>
            </a:r>
            <a:r>
              <a:rPr lang="en-US" altLang="zh-CN" sz="1200" kern="1200" dirty="0">
                <a:solidFill>
                  <a:schemeClr val="tx1"/>
                </a:solidFill>
                <a:effectLst/>
                <a:latin typeface="+mn-lt"/>
                <a:ea typeface="+mn-ea"/>
              </a:rPr>
              <a:t>” </a:t>
            </a:r>
            <a:r>
              <a:rPr lang="zh-CN" altLang="en-US" sz="1200" kern="1200" dirty="0">
                <a:solidFill>
                  <a:schemeClr val="tx1"/>
                </a:solidFill>
                <a:effectLst/>
                <a:latin typeface="+mn-lt"/>
                <a:ea typeface="+mn-ea"/>
              </a:rPr>
              <a:t>是两个不同的概念，属于概念模糊化表述，支持力度不足。</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D </a:t>
            </a:r>
            <a:r>
              <a:rPr lang="zh-CN" altLang="en-US" sz="1200" kern="1200" dirty="0">
                <a:solidFill>
                  <a:schemeClr val="tx1"/>
                </a:solidFill>
                <a:effectLst/>
                <a:latin typeface="+mn-lt"/>
                <a:ea typeface="+mn-ea"/>
              </a:rPr>
              <a:t>选项：用具体数据（每天喝两杯及以上红茶，死亡风险降低</a:t>
            </a:r>
            <a:r>
              <a:rPr lang="en-US" altLang="zh-CN" sz="1200" kern="1200" dirty="0">
                <a:solidFill>
                  <a:schemeClr val="tx1"/>
                </a:solidFill>
                <a:effectLst/>
                <a:latin typeface="+mn-lt"/>
                <a:ea typeface="+mn-ea"/>
              </a:rPr>
              <a:t> 9%~13%</a:t>
            </a:r>
            <a:r>
              <a:rPr lang="zh-CN" altLang="en-US" sz="1200" kern="1200" dirty="0">
                <a:solidFill>
                  <a:schemeClr val="tx1"/>
                </a:solidFill>
                <a:effectLst/>
                <a:latin typeface="+mn-lt"/>
                <a:ea typeface="+mn-ea"/>
              </a:rPr>
              <a:t>），直接量化了喝红茶与死亡风险降低的关联，精准对应题干结论，支持力度最强。</a:t>
            </a:r>
            <a:endParaRPr lang="zh-CN" altLang="en-US" sz="1200" kern="1200" dirty="0">
              <a:solidFill>
                <a:schemeClr val="tx1"/>
              </a:solidFill>
              <a:effectLst/>
              <a:latin typeface="+mn-lt"/>
              <a:ea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ea typeface="+mn-ea"/>
              </a:rPr>
              <a:t>论点：促进海产品替代其他动物蛋白，可改善未来食品安全，帮助应对气候变化。</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论据：海产品可以为人类提供比牛肉、猪肉和鸡肉更多的营养。</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本题论点和论据都在对海产品和牛肉、猪肉和鸡肉这些其他动物蛋白进行比较，二者话题一致，加强优先考虑补充论据，即说明海产品比牛肉、猪肉和鸡肉这些其他动物蛋白更营养、对气候更友好。</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A </a:t>
            </a:r>
            <a:r>
              <a:rPr lang="zh-CN" altLang="en-US" sz="1200" kern="1200" dirty="0">
                <a:solidFill>
                  <a:schemeClr val="tx1"/>
                </a:solidFill>
                <a:effectLst/>
                <a:latin typeface="+mn-lt"/>
                <a:ea typeface="+mn-ea"/>
              </a:rPr>
              <a:t>项：该项说明基于植物的</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绿色</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饮食能够有效降低温室气体排放，但不明确海产品里面有多少属于基于植物的</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绿色</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饮食，不明确海产品能否帮助应对气候变化，属于不明确项，不能加强，排除；</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B </a:t>
            </a:r>
            <a:r>
              <a:rPr lang="zh-CN" altLang="en-US" sz="1200" kern="1200" dirty="0">
                <a:solidFill>
                  <a:schemeClr val="tx1"/>
                </a:solidFill>
                <a:effectLst/>
                <a:latin typeface="+mn-lt"/>
                <a:ea typeface="+mn-ea"/>
              </a:rPr>
              <a:t>项：该项说的是渔业具体如何做才能对气候友好，是具体的措施，未提到目前的海产品是否对气候友好，属于无关项，不能加强，排除；</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C </a:t>
            </a:r>
            <a:r>
              <a:rPr lang="zh-CN" altLang="en-US" sz="1200" kern="1200" dirty="0">
                <a:solidFill>
                  <a:schemeClr val="tx1"/>
                </a:solidFill>
                <a:effectLst/>
                <a:latin typeface="+mn-lt"/>
                <a:ea typeface="+mn-ea"/>
              </a:rPr>
              <a:t>项：该项说明有一半的海产品相比牛肉、猪肉和鸡肉这些饮食更营养且少排放温室气体，说明海产品从营养上可以替代其他动物蛋白，并且能帮助应对气候变化，补充论据，可以加强，当选；</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D </a:t>
            </a:r>
            <a:r>
              <a:rPr lang="zh-CN" altLang="en-US" sz="1200" kern="1200" dirty="0">
                <a:solidFill>
                  <a:schemeClr val="tx1"/>
                </a:solidFill>
                <a:effectLst/>
                <a:latin typeface="+mn-lt"/>
                <a:ea typeface="+mn-ea"/>
              </a:rPr>
              <a:t>项：该项说的是野外捕捞的鲑鱼</a:t>
            </a:r>
            <a:r>
              <a:rPr lang="en-US" altLang="zh-CN" sz="1200" kern="1200" dirty="0">
                <a:solidFill>
                  <a:schemeClr val="tx1"/>
                </a:solidFill>
                <a:effectLst/>
                <a:latin typeface="+mn-lt"/>
                <a:ea typeface="+mn-ea"/>
              </a:rPr>
              <a:t>gu</a:t>
            </a:r>
            <a:r>
              <a:rPr lang="en-US" altLang="en-US" sz="1200" kern="1200" dirty="0">
                <a:solidFill>
                  <a:schemeClr val="tx1"/>
                </a:solidFill>
                <a:effectLst/>
                <a:latin typeface="+mn-lt"/>
                <a:ea typeface="+mn-ea"/>
              </a:rPr>
              <a:t>ī</a:t>
            </a:r>
            <a:r>
              <a:rPr lang="en-US" altLang="zh-CN" sz="1200" kern="1200" dirty="0">
                <a:solidFill>
                  <a:schemeClr val="tx1"/>
                </a:solidFill>
                <a:effectLst/>
                <a:latin typeface="+mn-lt"/>
                <a:ea typeface="+mn-ea"/>
              </a:rPr>
              <a:t> y</a:t>
            </a:r>
            <a:r>
              <a:rPr lang="en-US" altLang="en-US" sz="1200" kern="1200" dirty="0">
                <a:solidFill>
                  <a:schemeClr val="tx1"/>
                </a:solidFill>
                <a:effectLst/>
                <a:latin typeface="+mn-lt"/>
                <a:ea typeface="+mn-ea"/>
              </a:rPr>
              <a:t>ú</a:t>
            </a:r>
            <a:r>
              <a:rPr lang="zh-CN" altLang="en-US" sz="1200" kern="1200" dirty="0">
                <a:solidFill>
                  <a:schemeClr val="tx1"/>
                </a:solidFill>
                <a:effectLst/>
                <a:latin typeface="+mn-lt"/>
                <a:ea typeface="+mn-ea"/>
              </a:rPr>
              <a:t>、鲱鱼</a:t>
            </a:r>
            <a:r>
              <a:rPr lang="en-US" altLang="zh-CN" sz="1200" kern="1200" dirty="0">
                <a:solidFill>
                  <a:schemeClr val="tx1"/>
                </a:solidFill>
                <a:effectLst/>
                <a:latin typeface="+mn-lt"/>
                <a:ea typeface="+mn-ea"/>
              </a:rPr>
              <a:t>f</a:t>
            </a:r>
            <a:r>
              <a:rPr lang="en-US" altLang="en-US" sz="1200" kern="1200" dirty="0">
                <a:solidFill>
                  <a:schemeClr val="tx1"/>
                </a:solidFill>
                <a:effectLst/>
                <a:latin typeface="+mn-lt"/>
                <a:ea typeface="+mn-ea"/>
              </a:rPr>
              <a:t>ē</a:t>
            </a:r>
            <a:r>
              <a:rPr lang="en-US" altLang="zh-CN" sz="1200" kern="1200" dirty="0">
                <a:solidFill>
                  <a:schemeClr val="tx1"/>
                </a:solidFill>
                <a:effectLst/>
                <a:latin typeface="+mn-lt"/>
                <a:ea typeface="+mn-ea"/>
              </a:rPr>
              <a:t>i y</a:t>
            </a:r>
            <a:r>
              <a:rPr lang="en-US" altLang="en-US" sz="1200" kern="1200" dirty="0">
                <a:solidFill>
                  <a:schemeClr val="tx1"/>
                </a:solidFill>
                <a:effectLst/>
                <a:latin typeface="+mn-lt"/>
                <a:ea typeface="+mn-ea"/>
              </a:rPr>
              <a:t>ú</a:t>
            </a:r>
            <a:r>
              <a:rPr lang="zh-CN" altLang="en-US" sz="1200" kern="1200" dirty="0">
                <a:solidFill>
                  <a:schemeClr val="tx1"/>
                </a:solidFill>
                <a:effectLst/>
                <a:latin typeface="+mn-lt"/>
                <a:ea typeface="+mn-ea"/>
              </a:rPr>
              <a:t>和鲭鱼</a:t>
            </a:r>
            <a:r>
              <a:rPr lang="en-US" altLang="zh-CN" sz="1200" kern="1200" dirty="0">
                <a:solidFill>
                  <a:schemeClr val="tx1"/>
                </a:solidFill>
                <a:effectLst/>
                <a:latin typeface="+mn-lt"/>
                <a:ea typeface="+mn-ea"/>
              </a:rPr>
              <a:t>q</a:t>
            </a:r>
            <a:r>
              <a:rPr lang="en-US" altLang="en-US" sz="1200" kern="1200" dirty="0">
                <a:solidFill>
                  <a:schemeClr val="tx1"/>
                </a:solidFill>
                <a:effectLst/>
                <a:latin typeface="+mn-lt"/>
                <a:ea typeface="+mn-ea"/>
              </a:rPr>
              <a:t>ī</a:t>
            </a:r>
            <a:r>
              <a:rPr lang="en-US" altLang="zh-CN" sz="1200" kern="1200" dirty="0">
                <a:solidFill>
                  <a:schemeClr val="tx1"/>
                </a:solidFill>
                <a:effectLst/>
                <a:latin typeface="+mn-lt"/>
                <a:ea typeface="+mn-ea"/>
              </a:rPr>
              <a:t>ng y</a:t>
            </a:r>
            <a:r>
              <a:rPr lang="en-US" altLang="en-US" sz="1200" kern="1200" dirty="0">
                <a:solidFill>
                  <a:schemeClr val="tx1"/>
                </a:solidFill>
                <a:effectLst/>
                <a:latin typeface="+mn-lt"/>
                <a:ea typeface="+mn-ea"/>
              </a:rPr>
              <a:t>ú</a:t>
            </a:r>
            <a:r>
              <a:rPr lang="zh-CN" altLang="en-US" sz="1200" kern="1200" dirty="0">
                <a:solidFill>
                  <a:schemeClr val="tx1"/>
                </a:solidFill>
                <a:effectLst/>
                <a:latin typeface="+mn-lt"/>
                <a:ea typeface="+mn-ea"/>
              </a:rPr>
              <a:t>在相同营养价值下对气候影响更低，但不明确这些野外捕捞的海产品具体与哪些食品对比，不明确这些野外捕捞的海产品是否比牛肉、猪肉和鸡肉这些其他动物蛋白对气候更友好，属于不明确项，不能加强，排除。</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故正确答案为</a:t>
            </a:r>
            <a:r>
              <a:rPr lang="en-US" altLang="zh-CN" sz="1200" kern="1200" dirty="0">
                <a:solidFill>
                  <a:schemeClr val="tx1"/>
                </a:solidFill>
                <a:effectLst/>
                <a:latin typeface="+mn-lt"/>
                <a:ea typeface="+mn-ea"/>
              </a:rPr>
              <a:t> C</a:t>
            </a:r>
            <a:r>
              <a:rPr lang="zh-CN" altLang="en-US" sz="1200" kern="1200" dirty="0">
                <a:solidFill>
                  <a:schemeClr val="tx1"/>
                </a:solidFill>
                <a:effectLst/>
                <a:latin typeface="+mn-lt"/>
                <a:ea typeface="+mn-ea"/>
              </a:rPr>
              <a:t>。</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A </a:t>
            </a:r>
            <a:r>
              <a:rPr lang="zh-CN" altLang="en-US" sz="1200" kern="1200" dirty="0">
                <a:solidFill>
                  <a:schemeClr val="tx1"/>
                </a:solidFill>
                <a:effectLst/>
                <a:latin typeface="+mn-lt"/>
                <a:ea typeface="+mn-ea"/>
              </a:rPr>
              <a:t>选项：讨论的是植物性饮食的作用，和题干的</a:t>
            </a:r>
            <a:r>
              <a:rPr lang="en-US" altLang="zh-CN" sz="1200" kern="1200" dirty="0">
                <a:solidFill>
                  <a:schemeClr val="tx1"/>
                </a:solidFill>
                <a:effectLst/>
                <a:latin typeface="+mn-lt"/>
                <a:ea typeface="+mn-ea"/>
              </a:rPr>
              <a:t> “</a:t>
            </a:r>
            <a:r>
              <a:rPr lang="zh-CN" altLang="en-US" sz="1200" kern="1200" dirty="0">
                <a:solidFill>
                  <a:schemeClr val="tx1"/>
                </a:solidFill>
                <a:effectLst/>
                <a:latin typeface="+mn-lt"/>
                <a:ea typeface="+mn-ea"/>
              </a:rPr>
              <a:t>海产品替代动物蛋白</a:t>
            </a:r>
            <a:r>
              <a:rPr lang="en-US" altLang="zh-CN" sz="1200" kern="1200" dirty="0">
                <a:solidFill>
                  <a:schemeClr val="tx1"/>
                </a:solidFill>
                <a:effectLst/>
                <a:latin typeface="+mn-lt"/>
                <a:ea typeface="+mn-ea"/>
              </a:rPr>
              <a:t>” </a:t>
            </a:r>
            <a:r>
              <a:rPr lang="zh-CN" altLang="en-US" sz="1200" kern="1200" dirty="0">
                <a:solidFill>
                  <a:schemeClr val="tx1"/>
                </a:solidFill>
                <a:effectLst/>
                <a:latin typeface="+mn-lt"/>
                <a:ea typeface="+mn-ea"/>
              </a:rPr>
              <a:t>无关，属于无关项，排除。</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B </a:t>
            </a:r>
            <a:r>
              <a:rPr lang="zh-CN" altLang="en-US" sz="1200" kern="1200" dirty="0">
                <a:solidFill>
                  <a:schemeClr val="tx1"/>
                </a:solidFill>
                <a:effectLst/>
                <a:latin typeface="+mn-lt"/>
                <a:ea typeface="+mn-ea"/>
              </a:rPr>
              <a:t>选项：提出渔业的节能捕捞和环保饲料策略，这是</a:t>
            </a:r>
            <a:r>
              <a:rPr lang="en-US" altLang="zh-CN" sz="1200" kern="1200" dirty="0">
                <a:solidFill>
                  <a:schemeClr val="tx1"/>
                </a:solidFill>
                <a:effectLst/>
                <a:latin typeface="+mn-lt"/>
                <a:ea typeface="+mn-ea"/>
              </a:rPr>
              <a:t> “</a:t>
            </a:r>
            <a:r>
              <a:rPr lang="zh-CN" altLang="en-US" sz="1200" kern="1200" dirty="0">
                <a:solidFill>
                  <a:schemeClr val="tx1"/>
                </a:solidFill>
                <a:effectLst/>
                <a:latin typeface="+mn-lt"/>
                <a:ea typeface="+mn-ea"/>
              </a:rPr>
              <a:t>如何让海产品更低碳</a:t>
            </a:r>
            <a:r>
              <a:rPr lang="en-US" altLang="zh-CN" sz="1200" kern="1200" dirty="0">
                <a:solidFill>
                  <a:schemeClr val="tx1"/>
                </a:solidFill>
                <a:effectLst/>
                <a:latin typeface="+mn-lt"/>
                <a:ea typeface="+mn-ea"/>
              </a:rPr>
              <a:t>” </a:t>
            </a:r>
            <a:r>
              <a:rPr lang="zh-CN" altLang="en-US" sz="1200" kern="1200" dirty="0">
                <a:solidFill>
                  <a:schemeClr val="tx1"/>
                </a:solidFill>
                <a:effectLst/>
                <a:latin typeface="+mn-lt"/>
                <a:ea typeface="+mn-ea"/>
              </a:rPr>
              <a:t>的措施，而非直接证明</a:t>
            </a:r>
            <a:r>
              <a:rPr lang="en-US" altLang="zh-CN" sz="1200" kern="1200" dirty="0">
                <a:solidFill>
                  <a:schemeClr val="tx1"/>
                </a:solidFill>
                <a:effectLst/>
                <a:latin typeface="+mn-lt"/>
                <a:ea typeface="+mn-ea"/>
              </a:rPr>
              <a:t> “</a:t>
            </a:r>
            <a:r>
              <a:rPr lang="zh-CN" altLang="en-US" sz="1200" kern="1200" dirty="0">
                <a:solidFill>
                  <a:schemeClr val="tx1"/>
                </a:solidFill>
                <a:effectLst/>
                <a:latin typeface="+mn-lt"/>
                <a:ea typeface="+mn-ea"/>
              </a:rPr>
              <a:t>海产品本身能替代其他蛋白、应对气候变化</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，属于间接支持，力度较弱。</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C </a:t>
            </a:r>
            <a:r>
              <a:rPr lang="zh-CN" altLang="en-US" sz="1200" kern="1200" dirty="0">
                <a:solidFill>
                  <a:schemeClr val="tx1"/>
                </a:solidFill>
                <a:effectLst/>
                <a:latin typeface="+mn-lt"/>
                <a:ea typeface="+mn-ea"/>
              </a:rPr>
              <a:t>选项：直接指出一半海产品同时满足</a:t>
            </a:r>
            <a:r>
              <a:rPr lang="en-US" altLang="zh-CN" sz="1200" kern="1200" dirty="0">
                <a:solidFill>
                  <a:schemeClr val="tx1"/>
                </a:solidFill>
                <a:effectLst/>
                <a:latin typeface="+mn-lt"/>
                <a:ea typeface="+mn-ea"/>
              </a:rPr>
              <a:t> “</a:t>
            </a:r>
            <a:r>
              <a:rPr lang="zh-CN" altLang="en-US" sz="1200" kern="1200" dirty="0">
                <a:solidFill>
                  <a:schemeClr val="tx1"/>
                </a:solidFill>
                <a:effectLst/>
                <a:latin typeface="+mn-lt"/>
                <a:ea typeface="+mn-ea"/>
              </a:rPr>
              <a:t>营养价值更高</a:t>
            </a:r>
            <a:r>
              <a:rPr lang="en-US" altLang="zh-CN" sz="1200" kern="1200" dirty="0">
                <a:solidFill>
                  <a:schemeClr val="tx1"/>
                </a:solidFill>
                <a:effectLst/>
                <a:latin typeface="+mn-lt"/>
                <a:ea typeface="+mn-ea"/>
              </a:rPr>
              <a:t> + </a:t>
            </a:r>
            <a:r>
              <a:rPr lang="zh-CN" altLang="en-US" sz="1200" kern="1200" dirty="0">
                <a:solidFill>
                  <a:schemeClr val="tx1"/>
                </a:solidFill>
                <a:effectLst/>
                <a:latin typeface="+mn-lt"/>
                <a:ea typeface="+mn-ea"/>
              </a:rPr>
              <a:t>温室气体排放更低</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，完美匹配题干</a:t>
            </a:r>
            <a:r>
              <a:rPr lang="en-US" altLang="zh-CN" sz="1200" kern="1200" dirty="0">
                <a:solidFill>
                  <a:schemeClr val="tx1"/>
                </a:solidFill>
                <a:effectLst/>
                <a:latin typeface="+mn-lt"/>
                <a:ea typeface="+mn-ea"/>
              </a:rPr>
              <a:t> “</a:t>
            </a:r>
            <a:r>
              <a:rPr lang="zh-CN" altLang="en-US" sz="1200" kern="1200" dirty="0">
                <a:solidFill>
                  <a:schemeClr val="tx1"/>
                </a:solidFill>
                <a:effectLst/>
                <a:latin typeface="+mn-lt"/>
                <a:ea typeface="+mn-ea"/>
              </a:rPr>
              <a:t>高营养</a:t>
            </a:r>
            <a:r>
              <a:rPr lang="en-US" altLang="zh-CN" sz="1200" kern="1200" dirty="0">
                <a:solidFill>
                  <a:schemeClr val="tx1"/>
                </a:solidFill>
                <a:effectLst/>
                <a:latin typeface="+mn-lt"/>
                <a:ea typeface="+mn-ea"/>
              </a:rPr>
              <a:t> + </a:t>
            </a:r>
            <a:r>
              <a:rPr lang="zh-CN" altLang="en-US" sz="1200" kern="1200" dirty="0">
                <a:solidFill>
                  <a:schemeClr val="tx1"/>
                </a:solidFill>
                <a:effectLst/>
                <a:latin typeface="+mn-lt"/>
                <a:ea typeface="+mn-ea"/>
              </a:rPr>
              <a:t>低排放</a:t>
            </a:r>
            <a:r>
              <a:rPr lang="en-US" altLang="zh-CN" sz="1200" kern="1200" dirty="0">
                <a:solidFill>
                  <a:schemeClr val="tx1"/>
                </a:solidFill>
                <a:effectLst/>
                <a:latin typeface="+mn-lt"/>
                <a:ea typeface="+mn-ea"/>
              </a:rPr>
              <a:t>” </a:t>
            </a:r>
            <a:r>
              <a:rPr lang="zh-CN" altLang="en-US" sz="1200" kern="1200" dirty="0">
                <a:solidFill>
                  <a:schemeClr val="tx1"/>
                </a:solidFill>
                <a:effectLst/>
                <a:latin typeface="+mn-lt"/>
                <a:ea typeface="+mn-ea"/>
              </a:rPr>
              <a:t>的核心需求，同时覆盖了</a:t>
            </a:r>
            <a:r>
              <a:rPr lang="en-US" altLang="zh-CN" sz="1200" kern="1200" dirty="0">
                <a:solidFill>
                  <a:schemeClr val="tx1"/>
                </a:solidFill>
                <a:effectLst/>
                <a:latin typeface="+mn-lt"/>
                <a:ea typeface="+mn-ea"/>
              </a:rPr>
              <a:t> “</a:t>
            </a:r>
            <a:r>
              <a:rPr lang="zh-CN" altLang="en-US" sz="1200" kern="1200" dirty="0">
                <a:solidFill>
                  <a:schemeClr val="tx1"/>
                </a:solidFill>
                <a:effectLst/>
                <a:latin typeface="+mn-lt"/>
                <a:ea typeface="+mn-ea"/>
              </a:rPr>
              <a:t>营养价值</a:t>
            </a:r>
            <a:r>
              <a:rPr lang="en-US" altLang="zh-CN" sz="1200" kern="1200" dirty="0">
                <a:solidFill>
                  <a:schemeClr val="tx1"/>
                </a:solidFill>
                <a:effectLst/>
                <a:latin typeface="+mn-lt"/>
                <a:ea typeface="+mn-ea"/>
              </a:rPr>
              <a:t>” </a:t>
            </a:r>
            <a:r>
              <a:rPr lang="zh-CN" altLang="en-US" sz="1200" kern="1200" dirty="0">
                <a:solidFill>
                  <a:schemeClr val="tx1"/>
                </a:solidFill>
                <a:effectLst/>
                <a:latin typeface="+mn-lt"/>
                <a:ea typeface="+mn-ea"/>
              </a:rPr>
              <a:t>和</a:t>
            </a:r>
            <a:r>
              <a:rPr lang="en-US" altLang="zh-CN" sz="1200" kern="1200" dirty="0">
                <a:solidFill>
                  <a:schemeClr val="tx1"/>
                </a:solidFill>
                <a:effectLst/>
                <a:latin typeface="+mn-lt"/>
                <a:ea typeface="+mn-ea"/>
              </a:rPr>
              <a:t> “</a:t>
            </a:r>
            <a:r>
              <a:rPr lang="zh-CN" altLang="en-US" sz="1200" kern="1200" dirty="0">
                <a:solidFill>
                  <a:schemeClr val="tx1"/>
                </a:solidFill>
                <a:effectLst/>
                <a:latin typeface="+mn-lt"/>
                <a:ea typeface="+mn-ea"/>
              </a:rPr>
              <a:t>气候影响</a:t>
            </a:r>
            <a:r>
              <a:rPr lang="en-US" altLang="zh-CN" sz="1200" kern="1200" dirty="0">
                <a:solidFill>
                  <a:schemeClr val="tx1"/>
                </a:solidFill>
                <a:effectLst/>
                <a:latin typeface="+mn-lt"/>
                <a:ea typeface="+mn-ea"/>
              </a:rPr>
              <a:t>” </a:t>
            </a:r>
            <a:r>
              <a:rPr lang="zh-CN" altLang="en-US" sz="1200" kern="1200" dirty="0">
                <a:solidFill>
                  <a:schemeClr val="tx1"/>
                </a:solidFill>
                <a:effectLst/>
                <a:latin typeface="+mn-lt"/>
                <a:ea typeface="+mn-ea"/>
              </a:rPr>
              <a:t>两个论证关键点，支持力度最强。</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D </a:t>
            </a:r>
            <a:r>
              <a:rPr lang="zh-CN" altLang="en-US" sz="1200" kern="1200" dirty="0">
                <a:solidFill>
                  <a:schemeClr val="tx1"/>
                </a:solidFill>
                <a:effectLst/>
                <a:latin typeface="+mn-lt"/>
                <a:ea typeface="+mn-ea"/>
              </a:rPr>
              <a:t>选项：以鲑鱼、鲱鱼等几种特定海产品为例，说明其相同营养价值下气候影响更低，属于个案支持。相比</a:t>
            </a:r>
            <a:r>
              <a:rPr lang="en-US" altLang="zh-CN" sz="1200" kern="1200" dirty="0">
                <a:solidFill>
                  <a:schemeClr val="tx1"/>
                </a:solidFill>
                <a:effectLst/>
                <a:latin typeface="+mn-lt"/>
                <a:ea typeface="+mn-ea"/>
              </a:rPr>
              <a:t> C </a:t>
            </a:r>
            <a:r>
              <a:rPr lang="zh-CN" altLang="en-US" sz="1200" kern="1200" dirty="0">
                <a:solidFill>
                  <a:schemeClr val="tx1"/>
                </a:solidFill>
                <a:effectLst/>
                <a:latin typeface="+mn-lt"/>
                <a:ea typeface="+mn-ea"/>
              </a:rPr>
              <a:t>选项的</a:t>
            </a:r>
            <a:r>
              <a:rPr lang="en-US" altLang="zh-CN" sz="1200" kern="1200" dirty="0">
                <a:solidFill>
                  <a:schemeClr val="tx1"/>
                </a:solidFill>
                <a:effectLst/>
                <a:latin typeface="+mn-lt"/>
                <a:ea typeface="+mn-ea"/>
              </a:rPr>
              <a:t> “</a:t>
            </a:r>
            <a:r>
              <a:rPr lang="zh-CN" altLang="en-US" sz="1200" kern="1200" dirty="0">
                <a:solidFill>
                  <a:schemeClr val="tx1"/>
                </a:solidFill>
                <a:effectLst/>
                <a:latin typeface="+mn-lt"/>
                <a:ea typeface="+mn-ea"/>
              </a:rPr>
              <a:t>一半海产品</a:t>
            </a:r>
            <a:r>
              <a:rPr lang="en-US" altLang="zh-CN" sz="1200" kern="1200" dirty="0">
                <a:solidFill>
                  <a:schemeClr val="tx1"/>
                </a:solidFill>
                <a:effectLst/>
                <a:latin typeface="+mn-lt"/>
                <a:ea typeface="+mn-ea"/>
              </a:rPr>
              <a:t>” </a:t>
            </a:r>
            <a:r>
              <a:rPr lang="zh-CN" altLang="en-US" sz="1200" kern="1200" dirty="0">
                <a:solidFill>
                  <a:schemeClr val="tx1"/>
                </a:solidFill>
                <a:effectLst/>
                <a:latin typeface="+mn-lt"/>
                <a:ea typeface="+mn-ea"/>
              </a:rPr>
              <a:t>的大范围覆盖，支持力度更弱</a:t>
            </a:r>
            <a:endParaRPr lang="zh-CN" altLang="en-US" sz="1200" kern="1200" dirty="0">
              <a:solidFill>
                <a:schemeClr val="tx1"/>
              </a:solidFill>
              <a:effectLst/>
              <a:latin typeface="+mn-lt"/>
              <a:ea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ea typeface="+mn-ea"/>
              </a:rPr>
              <a:t>论点：生活在空气污染暴露指数较高区域的儿童出现广泛性焦虑症。</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论据：无。</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本题讨论的是空气污染和焦虑症之间的关系，且只有论点，因此可预设到补充论据的方式加强，要么解释空气污染和焦虑症之间的关系，要么通过举例子说明空气污染和焦虑症之间有关。</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A </a:t>
            </a:r>
            <a:r>
              <a:rPr lang="zh-CN" altLang="en-US" sz="1200" kern="1200" dirty="0">
                <a:solidFill>
                  <a:schemeClr val="tx1"/>
                </a:solidFill>
                <a:effectLst/>
                <a:latin typeface="+mn-lt"/>
                <a:ea typeface="+mn-ea"/>
              </a:rPr>
              <a:t>项：出生前接触污染的儿童，左脑白质体积较少，白质会使神经元绝缘，但白质使神经元绝缘之后与题干所说的广泛性焦虑症有什么关系是不明确的，因此属于不明确项，无法加强，排除；</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B </a:t>
            </a:r>
            <a:r>
              <a:rPr lang="zh-CN" altLang="en-US" sz="1200" kern="1200" dirty="0">
                <a:solidFill>
                  <a:schemeClr val="tx1"/>
                </a:solidFill>
                <a:effectLst/>
                <a:latin typeface="+mn-lt"/>
                <a:ea typeface="+mn-ea"/>
              </a:rPr>
              <a:t>项：肌醇异常引起的大脑功能紊乱与交通污染和焦虑症之间关联性不高，但题干讨论的是空气污染和焦虑症之间的关系，话题不一致，无法加强，排除；</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C </a:t>
            </a:r>
            <a:r>
              <a:rPr lang="zh-CN" altLang="en-US" sz="1200" kern="1200" dirty="0">
                <a:solidFill>
                  <a:schemeClr val="tx1"/>
                </a:solidFill>
                <a:effectLst/>
                <a:latin typeface="+mn-lt"/>
                <a:ea typeface="+mn-ea"/>
              </a:rPr>
              <a:t>项：多环芳烃暴露水平较高的儿童也会存在其他一些不利的情况，但多环芳烃与空气污染之间的关系无从得知，所存在的这些不利情况与焦虑症的关系也不明确，因此属于不明确项，无法加强，排除；</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D </a:t>
            </a:r>
            <a:r>
              <a:rPr lang="zh-CN" altLang="en-US" sz="1200" kern="1200" dirty="0">
                <a:solidFill>
                  <a:schemeClr val="tx1"/>
                </a:solidFill>
                <a:effectLst/>
                <a:latin typeface="+mn-lt"/>
                <a:ea typeface="+mn-ea"/>
              </a:rPr>
              <a:t>项：空气污染会影响大脑，污染颗粒会对精神健康产生影响，而焦虑症也是与大脑精神健康相关，补充论据，解释了为什么生活在空气污染较高的区域会出现焦虑症，解释原因，可以加强，当选。</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故正确答案为</a:t>
            </a:r>
            <a:r>
              <a:rPr lang="en-US" altLang="zh-CN" sz="1200" kern="1200" dirty="0">
                <a:solidFill>
                  <a:schemeClr val="tx1"/>
                </a:solidFill>
                <a:effectLst/>
                <a:latin typeface="+mn-lt"/>
                <a:ea typeface="+mn-ea"/>
              </a:rPr>
              <a:t> D</a:t>
            </a:r>
            <a:endParaRPr lang="en-US" altLang="zh-CN" sz="1200" kern="1200" dirty="0">
              <a:solidFill>
                <a:schemeClr val="tx1"/>
              </a:solidFill>
              <a:effectLst/>
              <a:latin typeface="+mn-lt"/>
              <a:ea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ea typeface="+mn-ea"/>
              </a:rPr>
              <a:t>论点：科学家成功复活了一头猪。</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论据：一头猪在死亡一小时之后，实验人员将一种特殊的灌注液注入它的身体，在其静脉和动脉中循环，新鲜的氧气也在其中流动。接下来猪的心脏、肝脏、肾脏和大脑中部分细胞开始恢复功能与活性，循环系统也逐步恢复。猪的心脏可以扫描到电生理活动，部分新陈代谢重启。</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本题的论点讨论的是</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复活了一头猪</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，论据讨论的是</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死亡后被灌注液注入身体的猪的部分细胞开始恢复活性，部分新陈代谢重启</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，细胞有活性和新陈代谢重启不等于复活，二者讨论话题不一致，削弱优先考虑拆桥，即拆开论点</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复活</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和论据</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部分细胞开始恢复活性，部分新陈代谢重启</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之间的联系。</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A </a:t>
            </a:r>
            <a:r>
              <a:rPr lang="zh-CN" altLang="en-US" sz="1200" kern="1200" dirty="0">
                <a:solidFill>
                  <a:schemeClr val="tx1"/>
                </a:solidFill>
                <a:effectLst/>
                <a:latin typeface="+mn-lt"/>
                <a:ea typeface="+mn-ea"/>
              </a:rPr>
              <a:t>项：说明什么是脑死亡及脑死亡后大脑功能完全丧失且不可逆，即脑死亡后大脑功能无法恢复，但脑死亡后大脑的生物活性是否能够恢复不明确，无法削弱，排除；</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B </a:t>
            </a:r>
            <a:r>
              <a:rPr lang="zh-CN" altLang="en-US" sz="1200" kern="1200" dirty="0">
                <a:solidFill>
                  <a:schemeClr val="tx1"/>
                </a:solidFill>
                <a:effectLst/>
                <a:latin typeface="+mn-lt"/>
                <a:ea typeface="+mn-ea"/>
              </a:rPr>
              <a:t>项：说明猪死后，血液停止循环流动无法提供所需物质导致细胞死亡，但是通过题干实验注入灌注液，重新供给细胞所需物质后，细胞是否能够恢复活性，以及猪能否复活不明确，无法削弱，排除；</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C </a:t>
            </a:r>
            <a:r>
              <a:rPr lang="zh-CN" altLang="en-US" sz="1200" kern="1200" dirty="0">
                <a:solidFill>
                  <a:schemeClr val="tx1"/>
                </a:solidFill>
                <a:effectLst/>
                <a:latin typeface="+mn-lt"/>
                <a:ea typeface="+mn-ea"/>
              </a:rPr>
              <a:t>项：说明哺乳动物的器官缺氧</a:t>
            </a:r>
            <a:r>
              <a:rPr lang="en-US" altLang="zh-CN" sz="1200" kern="1200" dirty="0">
                <a:solidFill>
                  <a:schemeClr val="tx1"/>
                </a:solidFill>
                <a:effectLst/>
                <a:latin typeface="+mn-lt"/>
                <a:ea typeface="+mn-ea"/>
              </a:rPr>
              <a:t> 15 </a:t>
            </a:r>
            <a:r>
              <a:rPr lang="zh-CN" altLang="en-US" sz="1200" kern="1200" dirty="0">
                <a:solidFill>
                  <a:schemeClr val="tx1"/>
                </a:solidFill>
                <a:effectLst/>
                <a:latin typeface="+mn-lt"/>
                <a:ea typeface="+mn-ea"/>
              </a:rPr>
              <a:t>分钟左右会彻底死亡且不可逆，彻底死亡且不可逆代表无法复活，因此，即使部分细胞能恢复活性也不代表猪能复活，拆桥项，可以削弱，当选；</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D </a:t>
            </a:r>
            <a:r>
              <a:rPr lang="zh-CN" altLang="en-US" sz="1200" kern="1200" dirty="0">
                <a:solidFill>
                  <a:schemeClr val="tx1"/>
                </a:solidFill>
                <a:effectLst/>
                <a:latin typeface="+mn-lt"/>
                <a:ea typeface="+mn-ea"/>
              </a:rPr>
              <a:t>项：举例说明给猪注射特殊灌注液，成功让实验猪多个器官重新出现活力，加强项，无法削弱，排除。</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故正确答案为</a:t>
            </a:r>
            <a:r>
              <a:rPr lang="en-US" altLang="zh-CN" sz="1200" kern="1200" dirty="0">
                <a:solidFill>
                  <a:schemeClr val="tx1"/>
                </a:solidFill>
                <a:effectLst/>
                <a:latin typeface="+mn-lt"/>
                <a:ea typeface="+mn-ea"/>
              </a:rPr>
              <a:t> C</a:t>
            </a:r>
            <a:r>
              <a:rPr lang="zh-CN" altLang="en-US" sz="1200" kern="1200" dirty="0">
                <a:solidFill>
                  <a:schemeClr val="tx1"/>
                </a:solidFill>
                <a:effectLst/>
                <a:latin typeface="+mn-lt"/>
                <a:ea typeface="+mn-ea"/>
              </a:rPr>
              <a:t>。</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A </a:t>
            </a:r>
            <a:r>
              <a:rPr lang="zh-CN" altLang="en-US" sz="1200" kern="1200" dirty="0">
                <a:solidFill>
                  <a:schemeClr val="tx1"/>
                </a:solidFill>
                <a:effectLst/>
                <a:latin typeface="+mn-lt"/>
                <a:ea typeface="+mn-ea"/>
              </a:rPr>
              <a:t>选项：阐述了脑死亡的判定标准，但题干实验中并未提及猪的脑电波状态，无法判断这头猪是否达到脑死亡标准，与</a:t>
            </a:r>
            <a:r>
              <a:rPr lang="en-US" altLang="zh-CN" sz="1200" kern="1200" dirty="0">
                <a:solidFill>
                  <a:schemeClr val="tx1"/>
                </a:solidFill>
                <a:effectLst/>
                <a:latin typeface="+mn-lt"/>
                <a:ea typeface="+mn-ea"/>
              </a:rPr>
              <a:t> “</a:t>
            </a:r>
            <a:r>
              <a:rPr lang="zh-CN" altLang="en-US" sz="1200" kern="1200" dirty="0">
                <a:solidFill>
                  <a:schemeClr val="tx1"/>
                </a:solidFill>
                <a:effectLst/>
                <a:latin typeface="+mn-lt"/>
                <a:ea typeface="+mn-ea"/>
              </a:rPr>
              <a:t>是否复活</a:t>
            </a:r>
            <a:r>
              <a:rPr lang="en-US" altLang="zh-CN" sz="1200" kern="1200" dirty="0">
                <a:solidFill>
                  <a:schemeClr val="tx1"/>
                </a:solidFill>
                <a:effectLst/>
                <a:latin typeface="+mn-lt"/>
                <a:ea typeface="+mn-ea"/>
              </a:rPr>
              <a:t>” </a:t>
            </a:r>
            <a:r>
              <a:rPr lang="zh-CN" altLang="en-US" sz="1200" kern="1200" dirty="0">
                <a:solidFill>
                  <a:schemeClr val="tx1"/>
                </a:solidFill>
                <a:effectLst/>
                <a:latin typeface="+mn-lt"/>
                <a:ea typeface="+mn-ea"/>
              </a:rPr>
              <a:t>的核心论证无关，排除。</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B </a:t>
            </a:r>
            <a:r>
              <a:rPr lang="zh-CN" altLang="en-US" sz="1200" kern="1200" dirty="0">
                <a:solidFill>
                  <a:schemeClr val="tx1"/>
                </a:solidFill>
                <a:effectLst/>
                <a:latin typeface="+mn-lt"/>
                <a:ea typeface="+mn-ea"/>
              </a:rPr>
              <a:t>选项：解释了猪死后细胞死亡的原因（血液停止循环，无法供氧供能），但题干实验已经通过灌注液让细胞恢复了部分活性，该选项未针对实验结果和结论的关联进行反驳，属于无关项，排除。</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C </a:t>
            </a:r>
            <a:r>
              <a:rPr lang="zh-CN" altLang="en-US" sz="1200" kern="1200" dirty="0">
                <a:solidFill>
                  <a:schemeClr val="tx1"/>
                </a:solidFill>
                <a:effectLst/>
                <a:latin typeface="+mn-lt"/>
                <a:ea typeface="+mn-ea"/>
              </a:rPr>
              <a:t>选项：指出哺乳动物器官缺氧</a:t>
            </a:r>
            <a:r>
              <a:rPr lang="en-US" altLang="zh-CN" sz="1200" kern="1200" dirty="0">
                <a:solidFill>
                  <a:schemeClr val="tx1"/>
                </a:solidFill>
                <a:effectLst/>
                <a:latin typeface="+mn-lt"/>
                <a:ea typeface="+mn-ea"/>
              </a:rPr>
              <a:t> 15 </a:t>
            </a:r>
            <a:r>
              <a:rPr lang="zh-CN" altLang="en-US" sz="1200" kern="1200" dirty="0">
                <a:solidFill>
                  <a:schemeClr val="tx1"/>
                </a:solidFill>
                <a:effectLst/>
                <a:latin typeface="+mn-lt"/>
                <a:ea typeface="+mn-ea"/>
              </a:rPr>
              <a:t>分钟左右就会彻底死亡，且该过程不可逆。题干中猪已经死亡</a:t>
            </a:r>
            <a:r>
              <a:rPr lang="en-US" altLang="zh-CN" sz="1200" kern="1200" dirty="0">
                <a:solidFill>
                  <a:schemeClr val="tx1"/>
                </a:solidFill>
                <a:effectLst/>
                <a:latin typeface="+mn-lt"/>
                <a:ea typeface="+mn-ea"/>
              </a:rPr>
              <a:t> 1 </a:t>
            </a:r>
            <a:r>
              <a:rPr lang="zh-CN" altLang="en-US" sz="1200" kern="1200" dirty="0">
                <a:solidFill>
                  <a:schemeClr val="tx1"/>
                </a:solidFill>
                <a:effectLst/>
                <a:latin typeface="+mn-lt"/>
                <a:ea typeface="+mn-ea"/>
              </a:rPr>
              <a:t>小时（远超</a:t>
            </a:r>
            <a:r>
              <a:rPr lang="en-US" altLang="zh-CN" sz="1200" kern="1200" dirty="0">
                <a:solidFill>
                  <a:schemeClr val="tx1"/>
                </a:solidFill>
                <a:effectLst/>
                <a:latin typeface="+mn-lt"/>
                <a:ea typeface="+mn-ea"/>
              </a:rPr>
              <a:t> 15 </a:t>
            </a:r>
            <a:r>
              <a:rPr lang="zh-CN" altLang="en-US" sz="1200" kern="1200" dirty="0">
                <a:solidFill>
                  <a:schemeClr val="tx1"/>
                </a:solidFill>
                <a:effectLst/>
                <a:latin typeface="+mn-lt"/>
                <a:ea typeface="+mn-ea"/>
              </a:rPr>
              <a:t>分钟），理论上器官已彻底坏死，即便后续细胞出现部分活性，也违背了</a:t>
            </a:r>
            <a:r>
              <a:rPr lang="en-US" altLang="zh-CN" sz="1200" kern="1200" dirty="0">
                <a:solidFill>
                  <a:schemeClr val="tx1"/>
                </a:solidFill>
                <a:effectLst/>
                <a:latin typeface="+mn-lt"/>
                <a:ea typeface="+mn-ea"/>
              </a:rPr>
              <a:t> “</a:t>
            </a:r>
            <a:r>
              <a:rPr lang="zh-CN" altLang="en-US" sz="1200" kern="1200" dirty="0">
                <a:solidFill>
                  <a:schemeClr val="tx1"/>
                </a:solidFill>
                <a:effectLst/>
                <a:latin typeface="+mn-lt"/>
                <a:ea typeface="+mn-ea"/>
              </a:rPr>
              <a:t>不可逆</a:t>
            </a:r>
            <a:r>
              <a:rPr lang="en-US" altLang="zh-CN" sz="1200" kern="1200" dirty="0">
                <a:solidFill>
                  <a:schemeClr val="tx1"/>
                </a:solidFill>
                <a:effectLst/>
                <a:latin typeface="+mn-lt"/>
                <a:ea typeface="+mn-ea"/>
              </a:rPr>
              <a:t>” </a:t>
            </a:r>
            <a:r>
              <a:rPr lang="zh-CN" altLang="en-US" sz="1200" kern="1200" dirty="0">
                <a:solidFill>
                  <a:schemeClr val="tx1"/>
                </a:solidFill>
                <a:effectLst/>
                <a:latin typeface="+mn-lt"/>
                <a:ea typeface="+mn-ea"/>
              </a:rPr>
              <a:t>的生理规律，说明这种局部恢复并非真正的</a:t>
            </a:r>
            <a:r>
              <a:rPr lang="en-US" altLang="zh-CN" sz="1200" kern="1200" dirty="0">
                <a:solidFill>
                  <a:schemeClr val="tx1"/>
                </a:solidFill>
                <a:effectLst/>
                <a:latin typeface="+mn-lt"/>
                <a:ea typeface="+mn-ea"/>
              </a:rPr>
              <a:t> “</a:t>
            </a:r>
            <a:r>
              <a:rPr lang="zh-CN" altLang="en-US" sz="1200" kern="1200" dirty="0">
                <a:solidFill>
                  <a:schemeClr val="tx1"/>
                </a:solidFill>
                <a:effectLst/>
                <a:latin typeface="+mn-lt"/>
                <a:ea typeface="+mn-ea"/>
              </a:rPr>
              <a:t>复活</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，直接从根本上否定了结论的合理性，质疑力度最强。</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D </a:t>
            </a:r>
            <a:r>
              <a:rPr lang="zh-CN" altLang="en-US" sz="1200" kern="1200" dirty="0">
                <a:solidFill>
                  <a:schemeClr val="tx1"/>
                </a:solidFill>
                <a:effectLst/>
                <a:latin typeface="+mn-lt"/>
                <a:ea typeface="+mn-ea"/>
              </a:rPr>
              <a:t>选项：举例证明其他团队也能实现类似的器官活性恢复，这是对题干实验结果的佐证和支持，而非质疑，排除。</a:t>
            </a:r>
            <a:endParaRPr lang="zh-CN" altLang="en-US" sz="1200" kern="1200" dirty="0">
              <a:solidFill>
                <a:schemeClr val="tx1"/>
              </a:solidFill>
              <a:effectLst/>
              <a:latin typeface="+mn-lt"/>
              <a:ea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ea typeface="+mn-ea"/>
              </a:rPr>
              <a:t>论点：鉴于目前睡眠不足的普遍性，以及人类互帮互助维持合作对于社会的重要性，睡眠对现实世界的影响不可小觑。</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论据：睡眠不足会导致人在社交上消极，从而变得更加孤立，导致孤独感倍增。还会影响到周围的人</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损害了人的基本社会良知，放弃了帮助他人的意愿。</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本题论点和论据话题一致，都在讨论</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睡眠不足的影响</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，加强优先考虑补充论据。</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A </a:t>
            </a:r>
            <a:r>
              <a:rPr lang="zh-CN" altLang="en-US" sz="1200" kern="1200" dirty="0">
                <a:solidFill>
                  <a:schemeClr val="tx1"/>
                </a:solidFill>
                <a:effectLst/>
                <a:latin typeface="+mn-lt"/>
                <a:ea typeface="+mn-ea"/>
              </a:rPr>
              <a:t>项：该项说的是睡眠在确保人类具有亲社会、有同情心、善良和慷慨的行为方面是一个</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不可或缺</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的润滑剂，通过证据表明睡眠对现实世界的影响确实</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不可小觑</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，补充论据，能够加强，保留；</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B </a:t>
            </a:r>
            <a:r>
              <a:rPr lang="zh-CN" altLang="en-US" sz="1200" kern="1200" dirty="0">
                <a:solidFill>
                  <a:schemeClr val="tx1"/>
                </a:solidFill>
                <a:effectLst/>
                <a:latin typeface="+mn-lt"/>
                <a:ea typeface="+mn-ea"/>
              </a:rPr>
              <a:t>项：该项说的是睡眠不足会让人更缺乏同情心，更不慷慨，在社交上更孤独与孤僻，而孤独感是会传染的，说的是睡眠不足的不利影响，说明睡眠确实很重要，补充论据，能够加强，保留；</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C </a:t>
            </a:r>
            <a:r>
              <a:rPr lang="zh-CN" altLang="en-US" sz="1200" kern="1200" dirty="0">
                <a:solidFill>
                  <a:schemeClr val="tx1"/>
                </a:solidFill>
                <a:effectLst/>
                <a:latin typeface="+mn-lt"/>
                <a:ea typeface="+mn-ea"/>
              </a:rPr>
              <a:t>项：该项说的是睡眠不足的人，其大脑中的社会认知网络变得不活跃，且助人意愿也显著下降，说的是睡眠不足在助人方面的不利影响，说明睡眠确实很重要，补充论据，能够加强，保留；</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D </a:t>
            </a:r>
            <a:r>
              <a:rPr lang="zh-CN" altLang="en-US" sz="1200" kern="1200" dirty="0">
                <a:solidFill>
                  <a:schemeClr val="tx1"/>
                </a:solidFill>
                <a:effectLst/>
                <a:latin typeface="+mn-lt"/>
                <a:ea typeface="+mn-ea"/>
              </a:rPr>
              <a:t>项：该项说的是在与他人进行互助时，睡眠不足的人将自己的孤独感传染给了其他人，说的是睡眠不足在与人互助方面的不利影响，说明睡眠确实很重要，补充论据，能够加强，保留。</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对比四个选项，论点虽然说的是</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睡眠</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对现实世界的影响不可小觑，但是这里的</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睡眠</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联系上下文，其实应该是</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睡眠不足</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对现实世界的影响不可小觑，论点和论据都是在强调睡眠不足不仅对自己有影响，也会影响别人。</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只有</a:t>
            </a:r>
            <a:r>
              <a:rPr lang="en-US" altLang="zh-CN" sz="1200" kern="1200" dirty="0">
                <a:solidFill>
                  <a:schemeClr val="tx1"/>
                </a:solidFill>
                <a:effectLst/>
                <a:latin typeface="+mn-lt"/>
                <a:ea typeface="+mn-ea"/>
              </a:rPr>
              <a:t> B </a:t>
            </a:r>
            <a:r>
              <a:rPr lang="zh-CN" altLang="en-US" sz="1200" kern="1200" dirty="0">
                <a:solidFill>
                  <a:schemeClr val="tx1"/>
                </a:solidFill>
                <a:effectLst/>
                <a:latin typeface="+mn-lt"/>
                <a:ea typeface="+mn-ea"/>
              </a:rPr>
              <a:t>项同时提到了</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睡眠不足</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让人更缺乏同情心，更不慷慨（即对自己的影响）</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孤独感是会传染的（即对别人的影响）</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A </a:t>
            </a:r>
            <a:r>
              <a:rPr lang="zh-CN" altLang="en-US" sz="1200" kern="1200" dirty="0">
                <a:solidFill>
                  <a:schemeClr val="tx1"/>
                </a:solidFill>
                <a:effectLst/>
                <a:latin typeface="+mn-lt"/>
                <a:ea typeface="+mn-ea"/>
              </a:rPr>
              <a:t>项说睡眠是润滑剂，就是强调一定要睡觉，但是</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睡多睡少</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的具体影响并不清楚；</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C </a:t>
            </a:r>
            <a:r>
              <a:rPr lang="zh-CN" altLang="en-US" sz="1200" kern="1200" dirty="0">
                <a:solidFill>
                  <a:schemeClr val="tx1"/>
                </a:solidFill>
                <a:effectLst/>
                <a:latin typeface="+mn-lt"/>
                <a:ea typeface="+mn-ea"/>
              </a:rPr>
              <a:t>项只说自己不想帮别人（即对自己的影响），没有涉及对别人的影响；</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D </a:t>
            </a:r>
            <a:r>
              <a:rPr lang="zh-CN" altLang="en-US" sz="1200" kern="1200" dirty="0">
                <a:solidFill>
                  <a:schemeClr val="tx1"/>
                </a:solidFill>
                <a:effectLst/>
                <a:latin typeface="+mn-lt"/>
                <a:ea typeface="+mn-ea"/>
              </a:rPr>
              <a:t>项更侧重</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孤独感是会传染的（即对别人的影响）</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，没有</a:t>
            </a:r>
            <a:r>
              <a:rPr lang="en-US" altLang="zh-CN" sz="1200" kern="1200" dirty="0">
                <a:solidFill>
                  <a:schemeClr val="tx1"/>
                </a:solidFill>
                <a:effectLst/>
                <a:latin typeface="+mn-lt"/>
                <a:ea typeface="+mn-ea"/>
              </a:rPr>
              <a:t> B </a:t>
            </a:r>
            <a:r>
              <a:rPr lang="zh-CN" altLang="en-US" sz="1200" kern="1200" dirty="0">
                <a:solidFill>
                  <a:schemeClr val="tx1"/>
                </a:solidFill>
                <a:effectLst/>
                <a:latin typeface="+mn-lt"/>
                <a:ea typeface="+mn-ea"/>
              </a:rPr>
              <a:t>项全面；</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综上，从与题干关键词对应更全面的角度，</a:t>
            </a:r>
            <a:r>
              <a:rPr lang="en-US" altLang="zh-CN" sz="1200" kern="1200" dirty="0">
                <a:solidFill>
                  <a:schemeClr val="tx1"/>
                </a:solidFill>
                <a:effectLst/>
                <a:latin typeface="+mn-lt"/>
                <a:ea typeface="+mn-ea"/>
              </a:rPr>
              <a:t>B </a:t>
            </a:r>
            <a:r>
              <a:rPr lang="zh-CN" altLang="en-US" sz="1200" kern="1200" dirty="0">
                <a:solidFill>
                  <a:schemeClr val="tx1"/>
                </a:solidFill>
                <a:effectLst/>
                <a:latin typeface="+mn-lt"/>
                <a:ea typeface="+mn-ea"/>
              </a:rPr>
              <a:t>项优于其他选项。</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故正确答案为</a:t>
            </a:r>
            <a:r>
              <a:rPr lang="en-US" altLang="zh-CN" sz="1200" kern="1200" dirty="0">
                <a:solidFill>
                  <a:schemeClr val="tx1"/>
                </a:solidFill>
                <a:effectLst/>
                <a:latin typeface="+mn-lt"/>
                <a:ea typeface="+mn-ea"/>
              </a:rPr>
              <a:t> B</a:t>
            </a:r>
            <a:r>
              <a:rPr lang="zh-CN" altLang="en-US" sz="1200" kern="1200" dirty="0">
                <a:solidFill>
                  <a:schemeClr val="tx1"/>
                </a:solidFill>
                <a:effectLst/>
                <a:latin typeface="+mn-lt"/>
                <a:ea typeface="+mn-ea"/>
              </a:rPr>
              <a:t>。</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A </a:t>
            </a:r>
            <a:r>
              <a:rPr lang="zh-CN" altLang="en-US" sz="1200" kern="1200" dirty="0">
                <a:solidFill>
                  <a:schemeClr val="tx1"/>
                </a:solidFill>
                <a:effectLst/>
                <a:latin typeface="+mn-lt"/>
                <a:ea typeface="+mn-ea"/>
              </a:rPr>
              <a:t>选项：指出睡眠是亲社会行为的</a:t>
            </a:r>
            <a:r>
              <a:rPr lang="en-US" altLang="zh-CN" sz="1200" kern="1200" dirty="0">
                <a:solidFill>
                  <a:schemeClr val="tx1"/>
                </a:solidFill>
                <a:effectLst/>
                <a:latin typeface="+mn-lt"/>
                <a:ea typeface="+mn-ea"/>
              </a:rPr>
              <a:t> “</a:t>
            </a:r>
            <a:r>
              <a:rPr lang="zh-CN" altLang="en-US" sz="1200" kern="1200" dirty="0">
                <a:solidFill>
                  <a:schemeClr val="tx1"/>
                </a:solidFill>
                <a:effectLst/>
                <a:latin typeface="+mn-lt"/>
                <a:ea typeface="+mn-ea"/>
              </a:rPr>
              <a:t>润滑剂</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，仅强调了睡眠对个体亲社会行为的重要性，但未提及睡眠不足对周围人的影响，只覆盖了论证的单一维度，支持力度有限。</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B </a:t>
            </a:r>
            <a:r>
              <a:rPr lang="zh-CN" altLang="en-US" sz="1200" kern="1200" dirty="0">
                <a:solidFill>
                  <a:schemeClr val="tx1"/>
                </a:solidFill>
                <a:effectLst/>
                <a:latin typeface="+mn-lt"/>
                <a:ea typeface="+mn-ea"/>
              </a:rPr>
              <a:t>选项：一方面明确睡眠不足会导致个体</a:t>
            </a:r>
            <a:r>
              <a:rPr lang="en-US" altLang="zh-CN" sz="1200" kern="1200" dirty="0">
                <a:solidFill>
                  <a:schemeClr val="tx1"/>
                </a:solidFill>
                <a:effectLst/>
                <a:latin typeface="+mn-lt"/>
                <a:ea typeface="+mn-ea"/>
              </a:rPr>
              <a:t> “</a:t>
            </a:r>
            <a:r>
              <a:rPr lang="zh-CN" altLang="en-US" sz="1200" kern="1200" dirty="0">
                <a:solidFill>
                  <a:schemeClr val="tx1"/>
                </a:solidFill>
                <a:effectLst/>
                <a:latin typeface="+mn-lt"/>
                <a:ea typeface="+mn-ea"/>
              </a:rPr>
              <a:t>缺乏同情心、不慷慨、孤独孤僻</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（对应个体层面影响）；另一方面直接点出</a:t>
            </a:r>
            <a:r>
              <a:rPr lang="en-US" altLang="zh-CN" sz="1200" kern="1200" dirty="0">
                <a:solidFill>
                  <a:schemeClr val="tx1"/>
                </a:solidFill>
                <a:effectLst/>
                <a:latin typeface="+mn-lt"/>
                <a:ea typeface="+mn-ea"/>
              </a:rPr>
              <a:t> “</a:t>
            </a:r>
            <a:r>
              <a:rPr lang="zh-CN" altLang="en-US" sz="1200" kern="1200" dirty="0">
                <a:solidFill>
                  <a:schemeClr val="tx1"/>
                </a:solidFill>
                <a:effectLst/>
                <a:latin typeface="+mn-lt"/>
                <a:ea typeface="+mn-ea"/>
              </a:rPr>
              <a:t>孤独感是会传染的</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（对应群体层面影响），完美覆盖题干论证的两个核心维度，将个体危害和群体扩散效应结合，支持力度最强。</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C </a:t>
            </a:r>
            <a:r>
              <a:rPr lang="zh-CN" altLang="en-US" sz="1200" kern="1200" dirty="0">
                <a:solidFill>
                  <a:schemeClr val="tx1"/>
                </a:solidFill>
                <a:effectLst/>
                <a:latin typeface="+mn-lt"/>
                <a:ea typeface="+mn-ea"/>
              </a:rPr>
              <a:t>选项：通过实验说明睡眠不足会导致大脑社会认知网络不活跃、助人意愿下降，仅验证了群体层面的部分论据（损害社会良知、降低助人意愿），未涉及个体社交孤立和群体间的传染效应，支持维度不完整。</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D </a:t>
            </a:r>
            <a:r>
              <a:rPr lang="zh-CN" altLang="en-US" sz="1200" kern="1200" dirty="0">
                <a:solidFill>
                  <a:schemeClr val="tx1"/>
                </a:solidFill>
                <a:effectLst/>
                <a:latin typeface="+mn-lt"/>
                <a:ea typeface="+mn-ea"/>
              </a:rPr>
              <a:t>选项：强调睡眠不足的人会将孤独感传染给他人，仅突出了群体扩散效应，但未提及睡眠不足对个体社交消极、助人意愿的直接影响，同样缺少一个核心维度，支持力度弱于</a:t>
            </a:r>
            <a:r>
              <a:rPr lang="en-US" altLang="zh-CN" sz="1200" kern="1200" dirty="0">
                <a:solidFill>
                  <a:schemeClr val="tx1"/>
                </a:solidFill>
                <a:effectLst/>
                <a:latin typeface="+mn-lt"/>
                <a:ea typeface="+mn-ea"/>
              </a:rPr>
              <a:t> B</a:t>
            </a:r>
            <a:r>
              <a:rPr lang="zh-CN" altLang="en-US" sz="1200" kern="1200" dirty="0">
                <a:solidFill>
                  <a:schemeClr val="tx1"/>
                </a:solidFill>
                <a:effectLst/>
                <a:latin typeface="+mn-lt"/>
                <a:ea typeface="+mn-ea"/>
              </a:rPr>
              <a:t>。</a:t>
            </a:r>
            <a:endParaRPr lang="zh-CN" altLang="en-US" sz="1200" kern="1200" dirty="0">
              <a:solidFill>
                <a:schemeClr val="tx1"/>
              </a:solidFill>
              <a:effectLst/>
              <a:latin typeface="+mn-lt"/>
              <a:ea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ea typeface="+mn-ea"/>
              </a:rPr>
              <a:t>论点：靶向药物递送与微型机器人的主动运动相结合可提高治疗效果。</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论据：抗肺炎微型机器人由藻类细胞制成，表面点缀着抗生素填充的纳米颗粒，由藻类提供运动能力，使微型机器人能够四处游动，并将抗生素直接输送到肺部的更多细菌中，通过提供的药物清除危及生命的细菌性肺炎感染。</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本题论点和论据均在讨论</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微型机器人输送药物</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与</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肺炎感染治疗效果</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之间的关系，论点论据话题一致，加强优先考虑补充论据。</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A </a:t>
            </a:r>
            <a:r>
              <a:rPr lang="zh-CN" altLang="en-US" sz="1200" kern="1200" dirty="0">
                <a:solidFill>
                  <a:schemeClr val="tx1"/>
                </a:solidFill>
                <a:effectLst/>
                <a:latin typeface="+mn-lt"/>
                <a:ea typeface="+mn-ea"/>
              </a:rPr>
              <a:t>项：该项通过举小鼠试验的例子，指出微型机器人安全地消除了引起肺炎的细菌，小鼠存活率达</a:t>
            </a:r>
            <a:r>
              <a:rPr lang="en-US" altLang="zh-CN" sz="1200" kern="1200" dirty="0">
                <a:solidFill>
                  <a:schemeClr val="tx1"/>
                </a:solidFill>
                <a:effectLst/>
                <a:latin typeface="+mn-lt"/>
                <a:ea typeface="+mn-ea"/>
              </a:rPr>
              <a:t> 100%</a:t>
            </a:r>
            <a:r>
              <a:rPr lang="zh-CN" altLang="en-US" sz="1200" kern="1200" dirty="0">
                <a:solidFill>
                  <a:schemeClr val="tx1"/>
                </a:solidFill>
                <a:effectLst/>
                <a:latin typeface="+mn-lt"/>
                <a:ea typeface="+mn-ea"/>
              </a:rPr>
              <a:t>，说明微型机器人确实能通过提供的药物清除危及生命的细菌性肺炎感染，举例支持，可以加强，保留；</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B </a:t>
            </a:r>
            <a:r>
              <a:rPr lang="zh-CN" altLang="en-US" sz="1200" kern="1200" dirty="0">
                <a:solidFill>
                  <a:schemeClr val="tx1"/>
                </a:solidFill>
                <a:effectLst/>
                <a:latin typeface="+mn-lt"/>
                <a:ea typeface="+mn-ea"/>
              </a:rPr>
              <a:t>项：该项指出微型机器人会将药物运输到需要的地方，而不是扩散到身体其他部位，如果微型机器人无法将药物运输到需要的地方，那么就无法起到相应的治疗效果，该项是论点成立的必要条件，可以加强，保留；</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C </a:t>
            </a:r>
            <a:r>
              <a:rPr lang="zh-CN" altLang="en-US" sz="1200" kern="1200" dirty="0">
                <a:solidFill>
                  <a:schemeClr val="tx1"/>
                </a:solidFill>
                <a:effectLst/>
                <a:latin typeface="+mn-lt"/>
                <a:ea typeface="+mn-ea"/>
              </a:rPr>
              <a:t>项：该项指出微型机器人能够减少有害炎症，从而更有效地对抗肺部感染，与论点讨论的靶向药物递送与微型机器人的主动运动相结合无关，话题不一致，无法加强，排除；</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D </a:t>
            </a:r>
            <a:r>
              <a:rPr lang="zh-CN" altLang="en-US" sz="1200" kern="1200" dirty="0">
                <a:solidFill>
                  <a:schemeClr val="tx1"/>
                </a:solidFill>
                <a:effectLst/>
                <a:latin typeface="+mn-lt"/>
                <a:ea typeface="+mn-ea"/>
              </a:rPr>
              <a:t>项：该项指出使用微型机器人进行治疗比静脉注射抗生素更快产生药效，强调的是产生药效的时间，与论点讨论的微型机器人对肺炎的治疗效果无关，话题不一致，无法加强，排除。</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对比</a:t>
            </a:r>
            <a:r>
              <a:rPr lang="en-US" altLang="zh-CN" sz="1200" kern="1200" dirty="0">
                <a:solidFill>
                  <a:schemeClr val="tx1"/>
                </a:solidFill>
                <a:effectLst/>
                <a:latin typeface="+mn-lt"/>
                <a:ea typeface="+mn-ea"/>
              </a:rPr>
              <a:t> A.B </a:t>
            </a:r>
            <a:r>
              <a:rPr lang="zh-CN" altLang="en-US" sz="1200" kern="1200" dirty="0">
                <a:solidFill>
                  <a:schemeClr val="tx1"/>
                </a:solidFill>
                <a:effectLst/>
                <a:latin typeface="+mn-lt"/>
                <a:ea typeface="+mn-ea"/>
              </a:rPr>
              <a:t>两项，</a:t>
            </a:r>
            <a:r>
              <a:rPr lang="en-US" altLang="zh-CN" sz="1200" kern="1200" dirty="0">
                <a:solidFill>
                  <a:schemeClr val="tx1"/>
                </a:solidFill>
                <a:effectLst/>
                <a:latin typeface="+mn-lt"/>
                <a:ea typeface="+mn-ea"/>
              </a:rPr>
              <a:t>A </a:t>
            </a:r>
            <a:r>
              <a:rPr lang="zh-CN" altLang="en-US" sz="1200" kern="1200" dirty="0">
                <a:solidFill>
                  <a:schemeClr val="tx1"/>
                </a:solidFill>
                <a:effectLst/>
                <a:latin typeface="+mn-lt"/>
                <a:ea typeface="+mn-ea"/>
              </a:rPr>
              <a:t>项为举例子，</a:t>
            </a:r>
            <a:r>
              <a:rPr lang="en-US" altLang="zh-CN" sz="1200" kern="1200" dirty="0">
                <a:solidFill>
                  <a:schemeClr val="tx1"/>
                </a:solidFill>
                <a:effectLst/>
                <a:latin typeface="+mn-lt"/>
                <a:ea typeface="+mn-ea"/>
              </a:rPr>
              <a:t>B </a:t>
            </a:r>
            <a:r>
              <a:rPr lang="zh-CN" altLang="en-US" sz="1200" kern="1200" dirty="0">
                <a:solidFill>
                  <a:schemeClr val="tx1"/>
                </a:solidFill>
                <a:effectLst/>
                <a:latin typeface="+mn-lt"/>
                <a:ea typeface="+mn-ea"/>
              </a:rPr>
              <a:t>项为必要条件，必要条件的力度大于举例子，故</a:t>
            </a:r>
            <a:r>
              <a:rPr lang="en-US" altLang="zh-CN" sz="1200" kern="1200" dirty="0">
                <a:solidFill>
                  <a:schemeClr val="tx1"/>
                </a:solidFill>
                <a:effectLst/>
                <a:latin typeface="+mn-lt"/>
                <a:ea typeface="+mn-ea"/>
              </a:rPr>
              <a:t> B </a:t>
            </a:r>
            <a:r>
              <a:rPr lang="zh-CN" altLang="en-US" sz="1200" kern="1200" dirty="0">
                <a:solidFill>
                  <a:schemeClr val="tx1"/>
                </a:solidFill>
                <a:effectLst/>
                <a:latin typeface="+mn-lt"/>
                <a:ea typeface="+mn-ea"/>
              </a:rPr>
              <a:t>项当选。</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故正确答案为</a:t>
            </a:r>
            <a:r>
              <a:rPr lang="en-US" altLang="zh-CN" sz="1200" kern="1200" dirty="0">
                <a:solidFill>
                  <a:schemeClr val="tx1"/>
                </a:solidFill>
                <a:effectLst/>
                <a:latin typeface="+mn-lt"/>
                <a:ea typeface="+mn-ea"/>
              </a:rPr>
              <a:t> B</a:t>
            </a:r>
            <a:r>
              <a:rPr lang="zh-CN" altLang="en-US" sz="1200" kern="1200" dirty="0">
                <a:solidFill>
                  <a:schemeClr val="tx1"/>
                </a:solidFill>
                <a:effectLst/>
                <a:latin typeface="+mn-lt"/>
                <a:ea typeface="+mn-ea"/>
              </a:rPr>
              <a:t>。</a:t>
            </a:r>
            <a:endParaRPr lang="zh-CN" altLang="en-US" sz="1200" kern="1200" dirty="0">
              <a:solidFill>
                <a:schemeClr val="tx1"/>
              </a:solidFill>
              <a:effectLst/>
              <a:latin typeface="+mn-lt"/>
              <a:ea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ea typeface="+mn-ea"/>
              </a:rPr>
              <a:t>论点：这意味着小行星可能是太阳系内部和地球的主要水源。</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论据：彗星上的水分与地球水分并不匹配，而去年坠落在英国温奇科姆镇上的陨石中的水分与地球水分更匹配。</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本题论点讨论的是小行星可能是太阳系内部和地球的主要水源，论据讨论的是坠落在英国温奇科姆镇上的陨石的水分与地球水分更匹配，论点与论据话题不一致，削弱优先考虑拆桥，切断陨石中和地球中的水分匹配和小行星是太阳系内部和地球的主要水源间的必然联系。</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A </a:t>
            </a:r>
            <a:r>
              <a:rPr lang="zh-CN" altLang="en-US" sz="1200" kern="1200" dirty="0">
                <a:solidFill>
                  <a:schemeClr val="tx1"/>
                </a:solidFill>
                <a:effectLst/>
                <a:latin typeface="+mn-lt"/>
                <a:ea typeface="+mn-ea"/>
              </a:rPr>
              <a:t>项：该项说的是温奇科姆镇的陨石被发现的时候当天刚下过雨，说明陨石身上有地球自身水分存在，不能确定陨石中的水分与地球水分是否更匹配，因此不能通过陨石和地球中的水分更匹配得出小行星是太阳系内部和地球的主要水源，拆桥项，可以削弱，当选；</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B </a:t>
            </a:r>
            <a:r>
              <a:rPr lang="zh-CN" altLang="en-US" sz="1200" kern="1200" dirty="0">
                <a:solidFill>
                  <a:schemeClr val="tx1"/>
                </a:solidFill>
                <a:effectLst/>
                <a:latin typeface="+mn-lt"/>
                <a:ea typeface="+mn-ea"/>
              </a:rPr>
              <a:t>项：该项说的是陨石上水的组成与地球海洋中水的组成较为相似，可以进一步说明陨石中的水分与地球水分更匹配，补充论据加强，无法削弱，排除；</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C </a:t>
            </a:r>
            <a:r>
              <a:rPr lang="zh-CN" altLang="en-US" sz="1200" kern="1200" dirty="0">
                <a:solidFill>
                  <a:schemeClr val="tx1"/>
                </a:solidFill>
                <a:effectLst/>
                <a:latin typeface="+mn-lt"/>
                <a:ea typeface="+mn-ea"/>
              </a:rPr>
              <a:t>项：该项说的是该陨石属于碳质球粒陨石，而碳质球粒陨石含水可能性较小，但不明确该陨石是否一定不存在水，为不明确项，无法削弱，排除；</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D </a:t>
            </a:r>
            <a:r>
              <a:rPr lang="zh-CN" altLang="en-US" sz="1200" kern="1200" dirty="0">
                <a:solidFill>
                  <a:schemeClr val="tx1"/>
                </a:solidFill>
                <a:effectLst/>
                <a:latin typeface="+mn-lt"/>
                <a:ea typeface="+mn-ea"/>
              </a:rPr>
              <a:t>项：该项说的是该陨石的来源，与论点讨论的太阳系内部和地球的主要水源的话题不一致，为无关项，无法削弱，排除。</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故正确答案为</a:t>
            </a:r>
            <a:r>
              <a:rPr lang="en-US" altLang="zh-CN" sz="1200" kern="1200" dirty="0">
                <a:solidFill>
                  <a:schemeClr val="tx1"/>
                </a:solidFill>
                <a:effectLst/>
                <a:latin typeface="+mn-lt"/>
                <a:ea typeface="+mn-ea"/>
              </a:rPr>
              <a:t> A</a:t>
            </a:r>
            <a:r>
              <a:rPr lang="zh-CN" altLang="en-US" sz="1200" kern="1200" dirty="0">
                <a:solidFill>
                  <a:schemeClr val="tx1"/>
                </a:solidFill>
                <a:effectLst/>
                <a:latin typeface="+mn-lt"/>
                <a:ea typeface="+mn-ea"/>
              </a:rPr>
              <a:t>。</a:t>
            </a:r>
            <a:endParaRPr lang="zh-CN" altLang="en-US" sz="1200" kern="1200" dirty="0">
              <a:solidFill>
                <a:schemeClr val="tx1"/>
              </a:solidFill>
              <a:effectLst/>
              <a:latin typeface="+mn-lt"/>
              <a:ea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en-US" sz="1200" kern="1200" dirty="0">
                <a:solidFill>
                  <a:schemeClr val="tx1"/>
                </a:solidFill>
                <a:effectLst/>
                <a:latin typeface="+mn-lt"/>
                <a:ea typeface="+mn-ea"/>
              </a:rPr>
              <a:t>①</a:t>
            </a:r>
            <a:r>
              <a:rPr lang="zh-CN" altLang="en-US" sz="1200" kern="1200" dirty="0">
                <a:solidFill>
                  <a:schemeClr val="tx1"/>
                </a:solidFill>
                <a:effectLst/>
                <a:latin typeface="+mn-lt"/>
                <a:ea typeface="+mn-ea"/>
              </a:rPr>
              <a:t>去四姑娘山</a:t>
            </a:r>
            <a:r>
              <a:rPr lang="en-US" altLang="zh-CN" sz="1200" kern="1200" dirty="0">
                <a:solidFill>
                  <a:schemeClr val="tx1"/>
                </a:solidFill>
                <a:effectLst/>
                <a:latin typeface="+mn-lt"/>
                <a:ea typeface="+mn-ea"/>
              </a:rPr>
              <a:t> →-</a:t>
            </a:r>
            <a:r>
              <a:rPr lang="zh-CN" altLang="en-US" sz="1200" kern="1200" dirty="0">
                <a:solidFill>
                  <a:schemeClr val="tx1"/>
                </a:solidFill>
                <a:effectLst/>
                <a:latin typeface="+mn-lt"/>
                <a:ea typeface="+mn-ea"/>
              </a:rPr>
              <a:t>去墨石公园；</a:t>
            </a:r>
            <a:endParaRPr lang="zh-CN" altLang="en-US" sz="1200" kern="1200" dirty="0">
              <a:solidFill>
                <a:schemeClr val="tx1"/>
              </a:solidFill>
              <a:effectLst/>
              <a:latin typeface="+mn-lt"/>
              <a:ea typeface="+mn-ea"/>
            </a:endParaRPr>
          </a:p>
          <a:p>
            <a:r>
              <a:rPr lang="en-US" altLang="en-US" sz="1200" kern="1200" dirty="0">
                <a:solidFill>
                  <a:schemeClr val="tx1"/>
                </a:solidFill>
                <a:effectLst/>
                <a:latin typeface="+mn-lt"/>
                <a:ea typeface="+mn-ea"/>
              </a:rPr>
              <a:t>②</a:t>
            </a:r>
            <a:r>
              <a:rPr lang="zh-CN" altLang="en-US" sz="1200" kern="1200" dirty="0">
                <a:solidFill>
                  <a:schemeClr val="tx1"/>
                </a:solidFill>
                <a:effectLst/>
                <a:latin typeface="+mn-lt"/>
                <a:ea typeface="+mn-ea"/>
              </a:rPr>
              <a:t>要么去塔公草原，要么去墨石公园；</a:t>
            </a:r>
            <a:endParaRPr lang="zh-CN" altLang="en-US" sz="1200" kern="1200" dirty="0">
              <a:solidFill>
                <a:schemeClr val="tx1"/>
              </a:solidFill>
              <a:effectLst/>
              <a:latin typeface="+mn-lt"/>
              <a:ea typeface="+mn-ea"/>
            </a:endParaRPr>
          </a:p>
          <a:p>
            <a:r>
              <a:rPr lang="en-US" altLang="en-US" sz="1200" kern="1200" dirty="0">
                <a:solidFill>
                  <a:schemeClr val="tx1"/>
                </a:solidFill>
                <a:effectLst/>
                <a:latin typeface="+mn-lt"/>
                <a:ea typeface="+mn-ea"/>
              </a:rPr>
              <a:t>③</a:t>
            </a:r>
            <a:r>
              <a:rPr lang="en-US" altLang="zh-CN" sz="1200" kern="1200" dirty="0">
                <a:solidFill>
                  <a:schemeClr val="tx1"/>
                </a:solidFill>
                <a:effectLst/>
                <a:latin typeface="+mn-lt"/>
                <a:ea typeface="+mn-ea"/>
              </a:rPr>
              <a:t> -</a:t>
            </a:r>
            <a:r>
              <a:rPr lang="zh-CN" altLang="en-US" sz="1200" kern="1200" dirty="0">
                <a:solidFill>
                  <a:schemeClr val="tx1"/>
                </a:solidFill>
                <a:effectLst/>
                <a:latin typeface="+mn-lt"/>
                <a:ea typeface="+mn-ea"/>
              </a:rPr>
              <a:t>去塔公草原</a:t>
            </a:r>
            <a:r>
              <a:rPr lang="en-US" altLang="zh-CN" sz="1200" kern="1200" dirty="0">
                <a:solidFill>
                  <a:schemeClr val="tx1"/>
                </a:solidFill>
                <a:effectLst/>
                <a:latin typeface="+mn-lt"/>
                <a:ea typeface="+mn-ea"/>
              </a:rPr>
              <a:t> </a:t>
            </a:r>
            <a:r>
              <a:rPr lang="zh-CN" altLang="en-US" sz="1200" kern="1200" dirty="0">
                <a:solidFill>
                  <a:schemeClr val="tx1"/>
                </a:solidFill>
                <a:effectLst/>
                <a:latin typeface="+mn-lt"/>
                <a:ea typeface="+mn-ea"/>
              </a:rPr>
              <a:t>且</a:t>
            </a:r>
            <a:r>
              <a:rPr lang="en-US" altLang="zh-CN" sz="1200" kern="1200" dirty="0">
                <a:solidFill>
                  <a:schemeClr val="tx1"/>
                </a:solidFill>
                <a:effectLst/>
                <a:latin typeface="+mn-lt"/>
                <a:ea typeface="+mn-ea"/>
              </a:rPr>
              <a:t> -</a:t>
            </a:r>
            <a:r>
              <a:rPr lang="zh-CN" altLang="en-US" sz="1200" kern="1200" dirty="0">
                <a:solidFill>
                  <a:schemeClr val="tx1"/>
                </a:solidFill>
                <a:effectLst/>
                <a:latin typeface="+mn-lt"/>
                <a:ea typeface="+mn-ea"/>
              </a:rPr>
              <a:t>去墨石公园。</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根据题干可知，三个建议都没采纳，则三个命题均为假，其矛盾命题均为真，由此可以推出：</a:t>
            </a:r>
            <a:endParaRPr lang="zh-CN" altLang="en-US" sz="1200" kern="1200" dirty="0">
              <a:solidFill>
                <a:schemeClr val="tx1"/>
              </a:solidFill>
              <a:effectLst/>
              <a:latin typeface="+mn-lt"/>
              <a:ea typeface="+mn-ea"/>
            </a:endParaRPr>
          </a:p>
          <a:p>
            <a:r>
              <a:rPr lang="en-US" altLang="en-US" sz="1200" kern="1200" dirty="0">
                <a:solidFill>
                  <a:schemeClr val="tx1"/>
                </a:solidFill>
                <a:effectLst/>
                <a:latin typeface="+mn-lt"/>
                <a:ea typeface="+mn-ea"/>
              </a:rPr>
              <a:t>①</a:t>
            </a:r>
            <a:r>
              <a:rPr lang="zh-CN" altLang="en-US" sz="1200" kern="1200" dirty="0">
                <a:solidFill>
                  <a:schemeClr val="tx1"/>
                </a:solidFill>
                <a:effectLst/>
                <a:latin typeface="+mn-lt"/>
                <a:ea typeface="+mn-ea"/>
              </a:rPr>
              <a:t>去四姑娘山</a:t>
            </a:r>
            <a:r>
              <a:rPr lang="en-US" altLang="zh-CN" sz="1200" kern="1200" dirty="0">
                <a:solidFill>
                  <a:schemeClr val="tx1"/>
                </a:solidFill>
                <a:effectLst/>
                <a:latin typeface="+mn-lt"/>
                <a:ea typeface="+mn-ea"/>
              </a:rPr>
              <a:t> </a:t>
            </a:r>
            <a:r>
              <a:rPr lang="zh-CN" altLang="en-US" sz="1200" kern="1200" dirty="0">
                <a:solidFill>
                  <a:schemeClr val="tx1"/>
                </a:solidFill>
                <a:effectLst/>
                <a:latin typeface="+mn-lt"/>
                <a:ea typeface="+mn-ea"/>
              </a:rPr>
              <a:t>且</a:t>
            </a:r>
            <a:r>
              <a:rPr lang="en-US" altLang="zh-CN" sz="1200" kern="1200" dirty="0">
                <a:solidFill>
                  <a:schemeClr val="tx1"/>
                </a:solidFill>
                <a:effectLst/>
                <a:latin typeface="+mn-lt"/>
                <a:ea typeface="+mn-ea"/>
              </a:rPr>
              <a:t> </a:t>
            </a:r>
            <a:r>
              <a:rPr lang="zh-CN" altLang="en-US" sz="1200" kern="1200" dirty="0">
                <a:solidFill>
                  <a:schemeClr val="tx1"/>
                </a:solidFill>
                <a:effectLst/>
                <a:latin typeface="+mn-lt"/>
                <a:ea typeface="+mn-ea"/>
              </a:rPr>
              <a:t>去墨石公园；</a:t>
            </a:r>
            <a:endParaRPr lang="zh-CN" altLang="en-US" sz="1200" kern="1200" dirty="0">
              <a:solidFill>
                <a:schemeClr val="tx1"/>
              </a:solidFill>
              <a:effectLst/>
              <a:latin typeface="+mn-lt"/>
              <a:ea typeface="+mn-ea"/>
            </a:endParaRPr>
          </a:p>
          <a:p>
            <a:r>
              <a:rPr lang="en-US" altLang="en-US" sz="1200" kern="1200" dirty="0">
                <a:solidFill>
                  <a:schemeClr val="tx1"/>
                </a:solidFill>
                <a:effectLst/>
                <a:latin typeface="+mn-lt"/>
                <a:ea typeface="+mn-ea"/>
              </a:rPr>
              <a:t>②</a:t>
            </a:r>
            <a:r>
              <a:rPr lang="zh-CN" altLang="en-US" sz="1200" kern="1200" dirty="0">
                <a:solidFill>
                  <a:schemeClr val="tx1"/>
                </a:solidFill>
                <a:effectLst/>
                <a:latin typeface="+mn-lt"/>
                <a:ea typeface="+mn-ea"/>
              </a:rPr>
              <a:t>去塔公草原和墨石公园，或不去塔公草原和墨石公园；</a:t>
            </a:r>
            <a:endParaRPr lang="zh-CN" altLang="en-US" sz="1200" kern="1200" dirty="0">
              <a:solidFill>
                <a:schemeClr val="tx1"/>
              </a:solidFill>
              <a:effectLst/>
              <a:latin typeface="+mn-lt"/>
              <a:ea typeface="+mn-ea"/>
            </a:endParaRPr>
          </a:p>
          <a:p>
            <a:r>
              <a:rPr lang="en-US" altLang="en-US" sz="1200" kern="1200" dirty="0">
                <a:solidFill>
                  <a:schemeClr val="tx1"/>
                </a:solidFill>
                <a:effectLst/>
                <a:latin typeface="+mn-lt"/>
                <a:ea typeface="+mn-ea"/>
              </a:rPr>
              <a:t>③</a:t>
            </a:r>
            <a:r>
              <a:rPr lang="zh-CN" altLang="en-US" sz="1200" kern="1200" dirty="0">
                <a:solidFill>
                  <a:schemeClr val="tx1"/>
                </a:solidFill>
                <a:effectLst/>
                <a:latin typeface="+mn-lt"/>
                <a:ea typeface="+mn-ea"/>
              </a:rPr>
              <a:t>去塔公草原</a:t>
            </a:r>
            <a:r>
              <a:rPr lang="en-US" altLang="zh-CN" sz="1200" kern="1200" dirty="0">
                <a:solidFill>
                  <a:schemeClr val="tx1"/>
                </a:solidFill>
                <a:effectLst/>
                <a:latin typeface="+mn-lt"/>
                <a:ea typeface="+mn-ea"/>
              </a:rPr>
              <a:t> </a:t>
            </a:r>
            <a:r>
              <a:rPr lang="zh-CN" altLang="en-US" sz="1200" kern="1200" dirty="0">
                <a:solidFill>
                  <a:schemeClr val="tx1"/>
                </a:solidFill>
                <a:effectLst/>
                <a:latin typeface="+mn-lt"/>
                <a:ea typeface="+mn-ea"/>
              </a:rPr>
              <a:t>或</a:t>
            </a:r>
            <a:r>
              <a:rPr lang="en-US" altLang="zh-CN" sz="1200" kern="1200" dirty="0">
                <a:solidFill>
                  <a:schemeClr val="tx1"/>
                </a:solidFill>
                <a:effectLst/>
                <a:latin typeface="+mn-lt"/>
                <a:ea typeface="+mn-ea"/>
              </a:rPr>
              <a:t> </a:t>
            </a:r>
            <a:r>
              <a:rPr lang="zh-CN" altLang="en-US" sz="1200" kern="1200" dirty="0">
                <a:solidFill>
                  <a:schemeClr val="tx1"/>
                </a:solidFill>
                <a:effectLst/>
                <a:latin typeface="+mn-lt"/>
                <a:ea typeface="+mn-ea"/>
              </a:rPr>
              <a:t>去墨石公园。</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根据确定信息，即条件</a:t>
            </a:r>
            <a:r>
              <a:rPr lang="en-US" altLang="en-US" sz="1200" kern="1200" dirty="0">
                <a:solidFill>
                  <a:schemeClr val="tx1"/>
                </a:solidFill>
                <a:effectLst/>
                <a:latin typeface="+mn-lt"/>
                <a:ea typeface="+mn-ea"/>
              </a:rPr>
              <a:t>①</a:t>
            </a:r>
            <a:r>
              <a:rPr lang="zh-CN" altLang="en-US" sz="1200" kern="1200" dirty="0">
                <a:solidFill>
                  <a:schemeClr val="tx1"/>
                </a:solidFill>
                <a:effectLst/>
                <a:latin typeface="+mn-lt"/>
                <a:ea typeface="+mn-ea"/>
              </a:rPr>
              <a:t>和条件</a:t>
            </a:r>
            <a:r>
              <a:rPr lang="en-US" altLang="en-US" sz="1200" kern="1200" dirty="0">
                <a:solidFill>
                  <a:schemeClr val="tx1"/>
                </a:solidFill>
                <a:effectLst/>
                <a:latin typeface="+mn-lt"/>
                <a:ea typeface="+mn-ea"/>
              </a:rPr>
              <a:t>③</a:t>
            </a:r>
            <a:r>
              <a:rPr lang="zh-CN" altLang="en-US" sz="1200" kern="1200" dirty="0">
                <a:solidFill>
                  <a:schemeClr val="tx1"/>
                </a:solidFill>
                <a:effectLst/>
                <a:latin typeface="+mn-lt"/>
                <a:ea typeface="+mn-ea"/>
              </a:rPr>
              <a:t>可以直接确定去四姑娘山和墨石公园，要想符合条件</a:t>
            </a:r>
            <a:r>
              <a:rPr lang="en-US" altLang="en-US" sz="1200" kern="1200" dirty="0">
                <a:solidFill>
                  <a:schemeClr val="tx1"/>
                </a:solidFill>
                <a:effectLst/>
                <a:latin typeface="+mn-lt"/>
                <a:ea typeface="+mn-ea"/>
              </a:rPr>
              <a:t>②</a:t>
            </a:r>
            <a:r>
              <a:rPr lang="zh-CN" altLang="en-US" sz="1200" kern="1200" dirty="0">
                <a:solidFill>
                  <a:schemeClr val="tx1"/>
                </a:solidFill>
                <a:effectLst/>
                <a:latin typeface="+mn-lt"/>
                <a:ea typeface="+mn-ea"/>
              </a:rPr>
              <a:t>，只能同时也去</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塔公草原，即去了四姑娘山、塔公草原和墨石公园。</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故正确答案为</a:t>
            </a:r>
            <a:r>
              <a:rPr lang="en-US" altLang="zh-CN" sz="1200" kern="1200" dirty="0">
                <a:solidFill>
                  <a:schemeClr val="tx1"/>
                </a:solidFill>
                <a:effectLst/>
                <a:latin typeface="+mn-lt"/>
                <a:ea typeface="+mn-ea"/>
              </a:rPr>
              <a:t> A</a:t>
            </a:r>
            <a:r>
              <a:rPr lang="zh-CN" altLang="en-US" sz="1200" kern="1200" dirty="0">
                <a:solidFill>
                  <a:schemeClr val="tx1"/>
                </a:solidFill>
                <a:effectLst/>
                <a:latin typeface="+mn-lt"/>
                <a:ea typeface="+mn-ea"/>
              </a:rPr>
              <a:t>。</a:t>
            </a:r>
            <a:endParaRPr lang="zh-CN" altLang="en-US" sz="1200" kern="1200" dirty="0">
              <a:solidFill>
                <a:schemeClr val="tx1"/>
              </a:solidFill>
              <a:effectLst/>
              <a:latin typeface="+mn-lt"/>
              <a:ea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en-US" sz="1200" kern="1200" dirty="0">
                <a:solidFill>
                  <a:schemeClr val="tx1"/>
                </a:solidFill>
                <a:effectLst/>
                <a:latin typeface="+mn-lt"/>
                <a:ea typeface="+mn-ea"/>
              </a:rPr>
              <a:t>①</a:t>
            </a:r>
            <a:r>
              <a:rPr lang="zh-CN" altLang="en-US" sz="1200" kern="1200" dirty="0">
                <a:solidFill>
                  <a:schemeClr val="tx1"/>
                </a:solidFill>
                <a:effectLst/>
                <a:latin typeface="+mn-lt"/>
                <a:ea typeface="+mn-ea"/>
              </a:rPr>
              <a:t>丁购物；</a:t>
            </a:r>
            <a:endParaRPr lang="zh-CN" altLang="en-US" sz="1200" kern="1200" dirty="0">
              <a:solidFill>
                <a:schemeClr val="tx1"/>
              </a:solidFill>
              <a:effectLst/>
              <a:latin typeface="+mn-lt"/>
              <a:ea typeface="+mn-ea"/>
            </a:endParaRPr>
          </a:p>
          <a:p>
            <a:r>
              <a:rPr lang="en-US" altLang="en-US" sz="1200" kern="1200" dirty="0">
                <a:solidFill>
                  <a:schemeClr val="tx1"/>
                </a:solidFill>
                <a:effectLst/>
                <a:latin typeface="+mn-lt"/>
                <a:ea typeface="+mn-ea"/>
              </a:rPr>
              <a:t>②</a:t>
            </a:r>
            <a:r>
              <a:rPr lang="zh-CN" altLang="en-US" sz="1200" kern="1200" dirty="0">
                <a:solidFill>
                  <a:schemeClr val="tx1"/>
                </a:solidFill>
                <a:effectLst/>
                <a:latin typeface="+mn-lt"/>
                <a:ea typeface="+mn-ea"/>
              </a:rPr>
              <a:t>甲购物</a:t>
            </a:r>
            <a:r>
              <a:rPr lang="en-US" altLang="zh-CN" sz="1200" kern="1200" dirty="0">
                <a:solidFill>
                  <a:schemeClr val="tx1"/>
                </a:solidFill>
                <a:effectLst/>
                <a:latin typeface="+mn-lt"/>
                <a:ea typeface="+mn-ea"/>
              </a:rPr>
              <a:t> </a:t>
            </a:r>
            <a:r>
              <a:rPr lang="zh-CN" altLang="en-US" sz="1200" kern="1200" dirty="0">
                <a:solidFill>
                  <a:schemeClr val="tx1"/>
                </a:solidFill>
                <a:effectLst/>
                <a:latin typeface="+mn-lt"/>
                <a:ea typeface="+mn-ea"/>
              </a:rPr>
              <a:t>乙电影；</a:t>
            </a:r>
            <a:endParaRPr lang="zh-CN" altLang="en-US" sz="1200" kern="1200" dirty="0">
              <a:solidFill>
                <a:schemeClr val="tx1"/>
              </a:solidFill>
              <a:effectLst/>
              <a:latin typeface="+mn-lt"/>
              <a:ea typeface="+mn-ea"/>
            </a:endParaRPr>
          </a:p>
          <a:p>
            <a:r>
              <a:rPr lang="en-US" altLang="en-US" sz="1200" kern="1200" dirty="0">
                <a:solidFill>
                  <a:schemeClr val="tx1"/>
                </a:solidFill>
                <a:effectLst/>
                <a:latin typeface="+mn-lt"/>
                <a:ea typeface="+mn-ea"/>
              </a:rPr>
              <a:t>③</a:t>
            </a:r>
            <a:r>
              <a:rPr lang="en-US" altLang="zh-CN" sz="1200" kern="1200" dirty="0">
                <a:solidFill>
                  <a:schemeClr val="tx1"/>
                </a:solidFill>
                <a:effectLst/>
                <a:latin typeface="+mn-lt"/>
                <a:ea typeface="+mn-ea"/>
              </a:rPr>
              <a:t> </a:t>
            </a:r>
            <a:r>
              <a:rPr lang="zh-CN" altLang="en-US" sz="1200" kern="1200" dirty="0">
                <a:solidFill>
                  <a:schemeClr val="tx1"/>
                </a:solidFill>
                <a:effectLst/>
                <a:latin typeface="+mn-lt"/>
                <a:ea typeface="+mn-ea"/>
              </a:rPr>
              <a:t>丁购物</a:t>
            </a:r>
            <a:r>
              <a:rPr lang="en-US" altLang="zh-CN" sz="1200" kern="1200" dirty="0">
                <a:solidFill>
                  <a:schemeClr val="tx1"/>
                </a:solidFill>
                <a:effectLst/>
                <a:latin typeface="+mn-lt"/>
                <a:ea typeface="+mn-ea"/>
              </a:rPr>
              <a:t> </a:t>
            </a:r>
            <a:r>
              <a:rPr lang="zh-CN" altLang="en-US" sz="1200" kern="1200" dirty="0">
                <a:solidFill>
                  <a:schemeClr val="tx1"/>
                </a:solidFill>
                <a:effectLst/>
                <a:latin typeface="+mn-lt"/>
                <a:ea typeface="+mn-ea"/>
              </a:rPr>
              <a:t>丙电影；</a:t>
            </a:r>
            <a:endParaRPr lang="zh-CN" altLang="en-US" sz="1200" kern="1200" dirty="0">
              <a:solidFill>
                <a:schemeClr val="tx1"/>
              </a:solidFill>
              <a:effectLst/>
              <a:latin typeface="+mn-lt"/>
              <a:ea typeface="+mn-ea"/>
            </a:endParaRPr>
          </a:p>
          <a:p>
            <a:r>
              <a:rPr lang="en-US" altLang="en-US" sz="1200" kern="1200" dirty="0">
                <a:solidFill>
                  <a:schemeClr val="tx1"/>
                </a:solidFill>
                <a:effectLst/>
                <a:latin typeface="+mn-lt"/>
                <a:ea typeface="+mn-ea"/>
              </a:rPr>
              <a:t>④</a:t>
            </a:r>
            <a:r>
              <a:rPr lang="zh-CN" altLang="en-US" sz="1200" kern="1200" dirty="0">
                <a:solidFill>
                  <a:schemeClr val="tx1"/>
                </a:solidFill>
                <a:effectLst/>
                <a:latin typeface="+mn-lt"/>
                <a:ea typeface="+mn-ea"/>
              </a:rPr>
              <a:t>甲购物</a:t>
            </a:r>
            <a:r>
              <a:rPr lang="en-US" altLang="zh-CN" sz="1200" kern="1200" dirty="0">
                <a:solidFill>
                  <a:schemeClr val="tx1"/>
                </a:solidFill>
                <a:effectLst/>
                <a:latin typeface="+mn-lt"/>
                <a:ea typeface="+mn-ea"/>
              </a:rPr>
              <a:t> </a:t>
            </a:r>
            <a:r>
              <a:rPr lang="zh-CN" altLang="en-US" sz="1200" kern="1200" dirty="0">
                <a:solidFill>
                  <a:schemeClr val="tx1"/>
                </a:solidFill>
                <a:effectLst/>
                <a:latin typeface="+mn-lt"/>
                <a:ea typeface="+mn-ea"/>
              </a:rPr>
              <a:t>且</a:t>
            </a:r>
            <a:r>
              <a:rPr lang="en-US" altLang="zh-CN" sz="1200" kern="1200" dirty="0">
                <a:solidFill>
                  <a:schemeClr val="tx1"/>
                </a:solidFill>
                <a:effectLst/>
                <a:latin typeface="+mn-lt"/>
                <a:ea typeface="+mn-ea"/>
              </a:rPr>
              <a:t> </a:t>
            </a:r>
            <a:r>
              <a:rPr lang="zh-CN" altLang="en-US" sz="1200" kern="1200" dirty="0">
                <a:solidFill>
                  <a:schemeClr val="tx1"/>
                </a:solidFill>
                <a:effectLst/>
                <a:latin typeface="+mn-lt"/>
                <a:ea typeface="+mn-ea"/>
              </a:rPr>
              <a:t>乙购物。</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根据题干条件甲、乙、丙、丁四人要么只看电影，要么只购物可知，条件</a:t>
            </a:r>
            <a:r>
              <a:rPr lang="en-US" altLang="en-US" sz="1200" kern="1200" dirty="0">
                <a:solidFill>
                  <a:schemeClr val="tx1"/>
                </a:solidFill>
                <a:effectLst/>
                <a:latin typeface="+mn-lt"/>
                <a:ea typeface="+mn-ea"/>
              </a:rPr>
              <a:t>④</a:t>
            </a:r>
            <a:r>
              <a:rPr lang="zh-CN" altLang="en-US" sz="1200" kern="1200" dirty="0">
                <a:solidFill>
                  <a:schemeClr val="tx1"/>
                </a:solidFill>
                <a:effectLst/>
                <a:latin typeface="+mn-lt"/>
                <a:ea typeface="+mn-ea"/>
              </a:rPr>
              <a:t>等价于</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甲购物</a:t>
            </a:r>
            <a:r>
              <a:rPr lang="en-US" altLang="zh-CN" sz="1200" kern="1200" dirty="0">
                <a:solidFill>
                  <a:schemeClr val="tx1"/>
                </a:solidFill>
                <a:effectLst/>
                <a:latin typeface="+mn-lt"/>
                <a:ea typeface="+mn-ea"/>
              </a:rPr>
              <a:t> </a:t>
            </a:r>
            <a:r>
              <a:rPr lang="zh-CN" altLang="en-US" sz="1200" kern="1200" dirty="0">
                <a:solidFill>
                  <a:schemeClr val="tx1"/>
                </a:solidFill>
                <a:effectLst/>
                <a:latin typeface="+mn-lt"/>
                <a:ea typeface="+mn-ea"/>
              </a:rPr>
              <a:t>且</a:t>
            </a:r>
            <a:r>
              <a:rPr lang="en-US" altLang="zh-CN" sz="1200" kern="1200" dirty="0">
                <a:solidFill>
                  <a:schemeClr val="tx1"/>
                </a:solidFill>
                <a:effectLst/>
                <a:latin typeface="+mn-lt"/>
                <a:ea typeface="+mn-ea"/>
              </a:rPr>
              <a:t> </a:t>
            </a:r>
            <a:r>
              <a:rPr lang="zh-CN" altLang="en-US" sz="1200" kern="1200" dirty="0">
                <a:solidFill>
                  <a:schemeClr val="tx1"/>
                </a:solidFill>
                <a:effectLst/>
                <a:latin typeface="+mn-lt"/>
                <a:ea typeface="+mn-ea"/>
              </a:rPr>
              <a:t>乙电</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影</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，与条件</a:t>
            </a:r>
            <a:r>
              <a:rPr lang="en-US" altLang="en-US" sz="1200" kern="1200" dirty="0">
                <a:solidFill>
                  <a:schemeClr val="tx1"/>
                </a:solidFill>
                <a:effectLst/>
                <a:latin typeface="+mn-lt"/>
                <a:ea typeface="+mn-ea"/>
              </a:rPr>
              <a:t>②</a:t>
            </a:r>
            <a:r>
              <a:rPr lang="zh-CN" altLang="en-US" sz="1200" kern="1200" dirty="0">
                <a:solidFill>
                  <a:schemeClr val="tx1"/>
                </a:solidFill>
                <a:effectLst/>
                <a:latin typeface="+mn-lt"/>
                <a:ea typeface="+mn-ea"/>
              </a:rPr>
              <a:t>为矛盾关系，必有一真一假。</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第二步：根据题干条件进行推理。</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根据题干条件可知，四个条件中只有一项为真，故条件</a:t>
            </a:r>
            <a:r>
              <a:rPr lang="en-US" altLang="en-US" sz="1200" kern="1200" dirty="0">
                <a:solidFill>
                  <a:schemeClr val="tx1"/>
                </a:solidFill>
                <a:effectLst/>
                <a:latin typeface="+mn-lt"/>
                <a:ea typeface="+mn-ea"/>
              </a:rPr>
              <a:t>①</a:t>
            </a:r>
            <a:r>
              <a:rPr lang="zh-CN" altLang="en-US" sz="1200" kern="1200" dirty="0">
                <a:solidFill>
                  <a:schemeClr val="tx1"/>
                </a:solidFill>
                <a:effectLst/>
                <a:latin typeface="+mn-lt"/>
                <a:ea typeface="+mn-ea"/>
              </a:rPr>
              <a:t>和条件</a:t>
            </a:r>
            <a:r>
              <a:rPr lang="en-US" altLang="en-US" sz="1200" kern="1200" dirty="0">
                <a:solidFill>
                  <a:schemeClr val="tx1"/>
                </a:solidFill>
                <a:effectLst/>
                <a:latin typeface="+mn-lt"/>
                <a:ea typeface="+mn-ea"/>
              </a:rPr>
              <a:t>③</a:t>
            </a:r>
            <a:r>
              <a:rPr lang="zh-CN" altLang="en-US" sz="1200" kern="1200" dirty="0">
                <a:solidFill>
                  <a:schemeClr val="tx1"/>
                </a:solidFill>
                <a:effectLst/>
                <a:latin typeface="+mn-lt"/>
                <a:ea typeface="+mn-ea"/>
              </a:rPr>
              <a:t>为假；根据条件</a:t>
            </a:r>
            <a:r>
              <a:rPr lang="en-US" altLang="en-US" sz="1200" kern="1200" dirty="0">
                <a:solidFill>
                  <a:schemeClr val="tx1"/>
                </a:solidFill>
                <a:effectLst/>
                <a:latin typeface="+mn-lt"/>
                <a:ea typeface="+mn-ea"/>
              </a:rPr>
              <a:t>①</a:t>
            </a:r>
            <a:r>
              <a:rPr lang="zh-CN" altLang="en-US" sz="1200" kern="1200" dirty="0">
                <a:solidFill>
                  <a:schemeClr val="tx1"/>
                </a:solidFill>
                <a:effectLst/>
                <a:latin typeface="+mn-lt"/>
                <a:ea typeface="+mn-ea"/>
              </a:rPr>
              <a:t>和条件</a:t>
            </a:r>
            <a:r>
              <a:rPr lang="en-US" altLang="en-US" sz="1200" kern="1200" dirty="0">
                <a:solidFill>
                  <a:schemeClr val="tx1"/>
                </a:solidFill>
                <a:effectLst/>
                <a:latin typeface="+mn-lt"/>
                <a:ea typeface="+mn-ea"/>
              </a:rPr>
              <a:t>③</a:t>
            </a:r>
            <a:r>
              <a:rPr lang="zh-CN" altLang="en-US" sz="1200" kern="1200" dirty="0">
                <a:solidFill>
                  <a:schemeClr val="tx1"/>
                </a:solidFill>
                <a:effectLst/>
                <a:latin typeface="+mn-lt"/>
                <a:ea typeface="+mn-ea"/>
              </a:rPr>
              <a:t>为假可知，</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其矛盾命题</a:t>
            </a:r>
            <a:r>
              <a:rPr lang="en-US" altLang="zh-CN" sz="1200" kern="1200" dirty="0">
                <a:solidFill>
                  <a:schemeClr val="tx1"/>
                </a:solidFill>
                <a:effectLst/>
                <a:latin typeface="+mn-lt"/>
                <a:ea typeface="+mn-ea"/>
              </a:rPr>
              <a:t>“ </a:t>
            </a:r>
            <a:r>
              <a:rPr lang="zh-CN" altLang="en-US" sz="1200" kern="1200" dirty="0">
                <a:solidFill>
                  <a:schemeClr val="tx1"/>
                </a:solidFill>
                <a:effectLst/>
                <a:latin typeface="+mn-lt"/>
                <a:ea typeface="+mn-ea"/>
              </a:rPr>
              <a:t>丁购物</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和</a:t>
            </a:r>
            <a:r>
              <a:rPr lang="en-US" altLang="zh-CN" sz="1200" kern="1200" dirty="0">
                <a:solidFill>
                  <a:schemeClr val="tx1"/>
                </a:solidFill>
                <a:effectLst/>
                <a:latin typeface="+mn-lt"/>
                <a:ea typeface="+mn-ea"/>
              </a:rPr>
              <a:t>“ </a:t>
            </a:r>
            <a:r>
              <a:rPr lang="zh-CN" altLang="en-US" sz="1200" kern="1200" dirty="0">
                <a:solidFill>
                  <a:schemeClr val="tx1"/>
                </a:solidFill>
                <a:effectLst/>
                <a:latin typeface="+mn-lt"/>
                <a:ea typeface="+mn-ea"/>
              </a:rPr>
              <a:t>丁购物</a:t>
            </a:r>
            <a:r>
              <a:rPr lang="en-US" altLang="zh-CN" sz="1200" kern="1200" dirty="0">
                <a:solidFill>
                  <a:schemeClr val="tx1"/>
                </a:solidFill>
                <a:effectLst/>
                <a:latin typeface="+mn-lt"/>
                <a:ea typeface="+mn-ea"/>
              </a:rPr>
              <a:t> </a:t>
            </a:r>
            <a:r>
              <a:rPr lang="zh-CN" altLang="en-US" sz="1200" kern="1200" dirty="0">
                <a:solidFill>
                  <a:schemeClr val="tx1"/>
                </a:solidFill>
                <a:effectLst/>
                <a:latin typeface="+mn-lt"/>
                <a:ea typeface="+mn-ea"/>
              </a:rPr>
              <a:t>且</a:t>
            </a:r>
            <a:r>
              <a:rPr lang="en-US" altLang="zh-CN" sz="1200" kern="1200" dirty="0">
                <a:solidFill>
                  <a:schemeClr val="tx1"/>
                </a:solidFill>
                <a:effectLst/>
                <a:latin typeface="+mn-lt"/>
                <a:ea typeface="+mn-ea"/>
              </a:rPr>
              <a:t> </a:t>
            </a:r>
            <a:r>
              <a:rPr lang="zh-CN" altLang="en-US" sz="1200" kern="1200" dirty="0">
                <a:solidFill>
                  <a:schemeClr val="tx1"/>
                </a:solidFill>
                <a:effectLst/>
                <a:latin typeface="+mn-lt"/>
                <a:ea typeface="+mn-ea"/>
              </a:rPr>
              <a:t>丙电影</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为真，因此丁看了电影，丙有购物，对应</a:t>
            </a:r>
            <a:r>
              <a:rPr lang="en-US" altLang="zh-CN" sz="1200" kern="1200" dirty="0">
                <a:solidFill>
                  <a:schemeClr val="tx1"/>
                </a:solidFill>
                <a:effectLst/>
                <a:latin typeface="+mn-lt"/>
                <a:ea typeface="+mn-ea"/>
              </a:rPr>
              <a:t> C </a:t>
            </a:r>
            <a:r>
              <a:rPr lang="zh-CN" altLang="en-US" sz="1200" kern="1200" dirty="0">
                <a:solidFill>
                  <a:schemeClr val="tx1"/>
                </a:solidFill>
                <a:effectLst/>
                <a:latin typeface="+mn-lt"/>
                <a:ea typeface="+mn-ea"/>
              </a:rPr>
              <a:t>项。</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故正确答案为</a:t>
            </a:r>
            <a:r>
              <a:rPr lang="en-US" altLang="zh-CN" sz="1200" kern="1200" dirty="0">
                <a:solidFill>
                  <a:schemeClr val="tx1"/>
                </a:solidFill>
                <a:effectLst/>
                <a:latin typeface="+mn-lt"/>
                <a:ea typeface="+mn-ea"/>
              </a:rPr>
              <a:t> C</a:t>
            </a:r>
            <a:r>
              <a:rPr lang="zh-CN" altLang="en-US" sz="1200" kern="1200" dirty="0">
                <a:solidFill>
                  <a:schemeClr val="tx1"/>
                </a:solidFill>
                <a:effectLst/>
                <a:latin typeface="+mn-lt"/>
                <a:ea typeface="+mn-ea"/>
              </a:rPr>
              <a:t>。</a:t>
            </a:r>
            <a:endParaRPr lang="zh-CN" altLang="en-US" sz="1200" kern="1200" dirty="0">
              <a:solidFill>
                <a:schemeClr val="tx1"/>
              </a:solidFill>
              <a:effectLst/>
              <a:latin typeface="+mn-lt"/>
              <a:ea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4" name="矩形 3"/>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cs typeface="楷体" panose="02010609060101010101" charset="-122"/>
            </a:endParaRPr>
          </a:p>
        </p:txBody>
      </p:sp>
      <p:pic>
        <p:nvPicPr>
          <p:cNvPr id="5" name="图片 4"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7" name="文本框 6"/>
          <p:cNvSpPr txBox="1"/>
          <p:nvPr userDrawn="1"/>
        </p:nvSpPr>
        <p:spPr>
          <a:xfrm>
            <a:off x="5644594" y="6453345"/>
            <a:ext cx="894080" cy="306705"/>
          </a:xfrm>
          <a:prstGeom prst="rect">
            <a:avLst/>
          </a:prstGeom>
          <a:noFill/>
        </p:spPr>
        <p:txBody>
          <a:bodyPr wrap="none" rtlCol="0">
            <a:spAutoFit/>
          </a:bodyPr>
          <a:lstStyle/>
          <a:p>
            <a:r>
              <a:rPr kumimoji="1" lang="zh-CN" altLang="en-US" sz="1400" b="0" i="0" dirty="0">
                <a:solidFill>
                  <a:schemeClr val="bg1"/>
                </a:solidFill>
                <a:latin typeface="楷体" panose="02010609060101010101" charset="-122"/>
                <a:ea typeface="楷体" panose="02010609060101010101" charset="-122"/>
                <a:cs typeface="楷体" panose="02010609060101010101" charset="-122"/>
              </a:rPr>
              <a:t>陆羽老师</a:t>
            </a:r>
            <a:endParaRPr kumimoji="1" lang="zh-CN" altLang="en-US" sz="1400" b="0" i="0" dirty="0">
              <a:solidFill>
                <a:schemeClr val="bg1"/>
              </a:solidFill>
              <a:latin typeface="楷体" panose="02010609060101010101" charset="-122"/>
              <a:ea typeface="楷体" panose="02010609060101010101" charset="-122"/>
              <a:cs typeface="楷体" panose="02010609060101010101" charset="-122"/>
            </a:endParaRPr>
          </a:p>
        </p:txBody>
      </p:sp>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7" name="矩形 6"/>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cs typeface="楷体" panose="02010609060101010101" charset="-122"/>
            </a:endParaRPr>
          </a:p>
        </p:txBody>
      </p:sp>
      <p:pic>
        <p:nvPicPr>
          <p:cNvPr id="8" name="图片 7"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1" name="文本框 10"/>
          <p:cNvSpPr txBox="1"/>
          <p:nvPr userDrawn="1"/>
        </p:nvSpPr>
        <p:spPr>
          <a:xfrm>
            <a:off x="5644594" y="6453345"/>
            <a:ext cx="894080" cy="306705"/>
          </a:xfrm>
          <a:prstGeom prst="rect">
            <a:avLst/>
          </a:prstGeom>
          <a:noFill/>
        </p:spPr>
        <p:txBody>
          <a:bodyPr wrap="none" rtlCol="0">
            <a:spAutoFit/>
          </a:bodyPr>
          <a:lstStyle/>
          <a:p>
            <a:r>
              <a:rPr kumimoji="1" lang="zh-CN" altLang="en-US" sz="1400" b="0" i="0" dirty="0">
                <a:solidFill>
                  <a:schemeClr val="bg1"/>
                </a:solidFill>
                <a:latin typeface="楷体" panose="02010609060101010101" charset="-122"/>
                <a:ea typeface="楷体" panose="02010609060101010101" charset="-122"/>
                <a:cs typeface="楷体" panose="02010609060101010101" charset="-122"/>
              </a:rPr>
              <a:t>陆羽老师</a:t>
            </a:r>
            <a:endParaRPr kumimoji="1" lang="zh-CN" altLang="en-US" sz="1400" b="0" i="0" dirty="0">
              <a:solidFill>
                <a:schemeClr val="bg1"/>
              </a:solidFill>
              <a:latin typeface="楷体" panose="02010609060101010101" charset="-122"/>
              <a:ea typeface="楷体" panose="02010609060101010101" charset="-122"/>
              <a:cs typeface="楷体" panose="02010609060101010101" charset="-122"/>
            </a:endParaRPr>
          </a:p>
        </p:txBody>
      </p:sp>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6" name="矩形 5"/>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cs typeface="楷体" panose="02010609060101010101" charset="-122"/>
            </a:endParaRPr>
          </a:p>
        </p:txBody>
      </p:sp>
      <p:pic>
        <p:nvPicPr>
          <p:cNvPr id="7" name="图片 6"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8" name="文本框 7"/>
          <p:cNvSpPr txBox="1"/>
          <p:nvPr userDrawn="1"/>
        </p:nvSpPr>
        <p:spPr>
          <a:xfrm>
            <a:off x="5644594" y="6453345"/>
            <a:ext cx="894080" cy="306705"/>
          </a:xfrm>
          <a:prstGeom prst="rect">
            <a:avLst/>
          </a:prstGeom>
          <a:noFill/>
        </p:spPr>
        <p:txBody>
          <a:bodyPr wrap="none" rtlCol="0">
            <a:spAutoFit/>
          </a:bodyPr>
          <a:lstStyle/>
          <a:p>
            <a:r>
              <a:rPr kumimoji="1" lang="zh-CN" altLang="en-US" sz="1400" b="0" i="0" dirty="0">
                <a:solidFill>
                  <a:schemeClr val="bg1"/>
                </a:solidFill>
                <a:latin typeface="楷体" panose="02010609060101010101" charset="-122"/>
                <a:ea typeface="楷体" panose="02010609060101010101" charset="-122"/>
                <a:cs typeface="楷体" panose="02010609060101010101" charset="-122"/>
              </a:rPr>
              <a:t>陆羽老师</a:t>
            </a:r>
            <a:endParaRPr kumimoji="1" lang="zh-CN" altLang="en-US" sz="1400" b="0" i="0" dirty="0">
              <a:solidFill>
                <a:schemeClr val="bg1"/>
              </a:solidFill>
              <a:latin typeface="楷体" panose="02010609060101010101" charset="-122"/>
              <a:ea typeface="楷体" panose="02010609060101010101" charset="-122"/>
              <a:cs typeface="楷体" panose="02010609060101010101" charset="-122"/>
            </a:endParaRPr>
          </a:p>
        </p:txBody>
      </p:sp>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标题幻灯片">
    <p:bg>
      <p:bgPr>
        <a:blipFill rotWithShape="1">
          <a:blip r:embed="rId2"/>
          <a:stretch>
            <a:fillRect/>
          </a:stretch>
        </a:blipFill>
        <a:effectLst/>
      </p:bgPr>
    </p:bg>
    <p:spTree>
      <p:nvGrpSpPr>
        <p:cNvPr id="1" name=""/>
        <p:cNvGrpSpPr/>
        <p:nvPr/>
      </p:nvGrpSpPr>
      <p:grpSpPr>
        <a:xfrm>
          <a:off x="0" y="0"/>
          <a:ext cx="0" cy="0"/>
          <a:chOff x="0" y="0"/>
          <a:chExt cx="0" cy="0"/>
        </a:xfrm>
      </p:grpSpPr>
      <p:sp>
        <p:nvSpPr>
          <p:cNvPr id="10" name="文本框 9"/>
          <p:cNvSpPr txBox="1"/>
          <p:nvPr userDrawn="1"/>
        </p:nvSpPr>
        <p:spPr>
          <a:xfrm>
            <a:off x="545123" y="-1028700"/>
            <a:ext cx="184731" cy="369332"/>
          </a:xfrm>
          <a:prstGeom prst="rect">
            <a:avLst/>
          </a:prstGeom>
          <a:noFill/>
        </p:spPr>
        <p:txBody>
          <a:bodyPr wrap="none" rtlCol="0">
            <a:spAutoFit/>
          </a:bodyPr>
          <a:lstStyle/>
          <a:p>
            <a:endParaRPr kumimoji="1" lang="zh-CN" altLang="en-US" dirty="0">
              <a:cs typeface="楷体" panose="02010609060101010101" charset="-122"/>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7" Type="http://schemas.openxmlformats.org/officeDocument/2006/relationships/tags" Target="../tags/tag3.xml"/><Relationship Id="rId6" Type="http://schemas.openxmlformats.org/officeDocument/2006/relationships/tags" Target="../tags/tag2.xml"/><Relationship Id="rId5" Type="http://schemas.openxmlformats.org/officeDocument/2006/relationships/tags" Target="../tags/tag1.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custDataLst>
              <p:tags r:id="rId5"/>
            </p:custDataLst>
          </p:nvPr>
        </p:nvSpPr>
        <p:spPr>
          <a:xfrm>
            <a:off x="608400" y="608400"/>
            <a:ext cx="10969200" cy="705600"/>
          </a:xfrm>
          <a:prstGeom prst="rect">
            <a:avLst/>
          </a:prstGeom>
        </p:spPr>
        <p:txBody>
          <a:bodyPr vert="horz" lIns="90170" tIns="46990" rIns="90170" bIns="46990" rtlCol="0" anchor="ctr" anchorCtr="0">
            <a:normAutofit/>
          </a:bodyPr>
          <a:lstStyle/>
          <a:p>
            <a:r>
              <a:rPr lang="zh-CN" altLang="en-US" dirty="0"/>
              <a:t>单击此处编辑母版标题样式</a:t>
            </a:r>
            <a:endParaRPr lang="zh-CN" altLang="en-US" dirty="0"/>
          </a:p>
        </p:txBody>
      </p:sp>
      <p:sp>
        <p:nvSpPr>
          <p:cNvPr id="3" name="文本占位符 2"/>
          <p:cNvSpPr>
            <a:spLocks noGrp="1"/>
          </p:cNvSpPr>
          <p:nvPr>
            <p:ph type="body" idx="1"/>
            <p:custDataLst>
              <p:tags r:id="rId6"/>
            </p:custDataLst>
          </p:nvPr>
        </p:nvSpPr>
        <p:spPr>
          <a:xfrm>
            <a:off x="608400" y="1490400"/>
            <a:ext cx="10969200" cy="4759200"/>
          </a:xfrm>
          <a:prstGeom prst="rect">
            <a:avLst/>
          </a:prstGeom>
        </p:spPr>
        <p:txBody>
          <a:bodyPr vert="horz" lIns="90000" tIns="46800" rIns="90000" bIns="4680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ustDataLst>
      <p:tags r:id="rId7"/>
    </p:custData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txStyles>
    <p:titleStyle>
      <a:lvl1pPr algn="l" defTabSz="914400" rtl="0" eaLnBrk="1" fontAlgn="auto" latinLnBrk="0" hangingPunct="1">
        <a:lnSpc>
          <a:spcPct val="100000"/>
        </a:lnSpc>
        <a:spcBef>
          <a:spcPct val="0"/>
        </a:spcBef>
        <a:buNone/>
        <a:defRPr sz="3600" b="0" u="none" strike="noStrike" kern="1200" cap="none" spc="300" normalizeH="0" baseline="0">
          <a:solidFill>
            <a:schemeClr val="tx1">
              <a:lumMod val="85000"/>
              <a:lumOff val="15000"/>
            </a:schemeClr>
          </a:solidFill>
          <a:uFillTx/>
          <a:latin typeface="楷体" panose="02010609060101010101" charset="-122"/>
          <a:ea typeface="楷体" panose="02010609060101010101" charset="-122"/>
          <a:cs typeface="楷体" panose="02010609060101010101" charset="-122"/>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楷体" panose="02010609060101010101" charset="-122"/>
          <a:ea typeface="楷体" panose="02010609060101010101" charset="-122"/>
          <a:cs typeface="楷体" panose="02010609060101010101" charset="-122"/>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楷体" panose="02010609060101010101" charset="-122"/>
          <a:ea typeface="楷体" panose="02010609060101010101" charset="-122"/>
          <a:cs typeface="楷体" panose="02010609060101010101" charset="-122"/>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楷体" panose="02010609060101010101" charset="-122"/>
          <a:ea typeface="楷体" panose="02010609060101010101" charset="-122"/>
          <a:cs typeface="楷体" panose="02010609060101010101" charset="-122"/>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楷体" panose="02010609060101010101" charset="-122"/>
          <a:ea typeface="楷体" panose="02010609060101010101" charset="-122"/>
          <a:cs typeface="楷体" panose="02010609060101010101" charset="-122"/>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楷体" panose="02010609060101010101" charset="-122"/>
          <a:ea typeface="楷体" panose="02010609060101010101" charset="-122"/>
          <a:cs typeface="楷体" panose="02010609060101010101" charset="-122"/>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4.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xml"/><Relationship Id="rId1" Type="http://schemas.openxmlformats.org/officeDocument/2006/relationships/image" Target="../media/image7.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notesSlide" Target="../notesSlides/notesSlide37.xml"/><Relationship Id="rId2" Type="http://schemas.openxmlformats.org/officeDocument/2006/relationships/slideLayout" Target="../slideLayouts/slideLayout4.xml"/><Relationship Id="rId1"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descr="徽标&#10;&#10;AI 生成的内容可能不正确。"/>
          <p:cNvPicPr>
            <a:picLocks noChangeAspect="1"/>
          </p:cNvPicPr>
          <p:nvPr/>
        </p:nvPicPr>
        <p:blipFill>
          <a:blip r:embed="rId1"/>
          <a:srcRect t="9991" b="18252"/>
          <a:stretch>
            <a:fillRect/>
          </a:stretch>
        </p:blipFill>
        <p:spPr>
          <a:xfrm>
            <a:off x="4437879" y="883627"/>
            <a:ext cx="2976453" cy="950430"/>
          </a:xfrm>
          <a:prstGeom prst="rect">
            <a:avLst/>
          </a:prstGeom>
        </p:spPr>
      </p:pic>
      <p:sp>
        <p:nvSpPr>
          <p:cNvPr id="4" name="文本框 3"/>
          <p:cNvSpPr txBox="1"/>
          <p:nvPr/>
        </p:nvSpPr>
        <p:spPr>
          <a:xfrm>
            <a:off x="2807628" y="2367459"/>
            <a:ext cx="6576647" cy="2122805"/>
          </a:xfrm>
          <a:prstGeom prst="rect">
            <a:avLst/>
          </a:prstGeom>
          <a:noFill/>
        </p:spPr>
        <p:txBody>
          <a:bodyPr wrap="square" rtlCol="0">
            <a:spAutoFit/>
          </a:bodyPr>
          <a:lstStyle/>
          <a:p>
            <a:pPr algn="ctr">
              <a:lnSpc>
                <a:spcPct val="100000"/>
              </a:lnSpc>
              <a:spcBef>
                <a:spcPts val="0"/>
              </a:spcBef>
              <a:spcAft>
                <a:spcPts val="0"/>
              </a:spcAft>
            </a:pPr>
            <a:r>
              <a:rPr kumimoji="1" lang="zh-CN" altLang="en-US" sz="4400" b="1" dirty="0">
                <a:solidFill>
                  <a:srgbClr val="DC5037"/>
                </a:solidFill>
                <a:latin typeface="楷体" panose="02010609060101010101" charset="-122"/>
                <a:ea typeface="楷体" panose="02010609060101010101" charset="-122"/>
                <a:cs typeface="楷体" panose="02010609060101010101" charset="-122"/>
              </a:rPr>
              <a:t>福建</a:t>
            </a:r>
            <a:r>
              <a:rPr kumimoji="1" lang="en-US" altLang="zh-CN" sz="4400" b="1" dirty="0">
                <a:solidFill>
                  <a:srgbClr val="DC5037"/>
                </a:solidFill>
                <a:latin typeface="楷体" panose="02010609060101010101" charset="-122"/>
                <a:ea typeface="楷体" panose="02010609060101010101" charset="-122"/>
                <a:cs typeface="楷体" panose="02010609060101010101" charset="-122"/>
              </a:rPr>
              <a:t>2023</a:t>
            </a:r>
            <a:r>
              <a:rPr kumimoji="1" lang="zh-CN" altLang="en-US" sz="4400" b="1" dirty="0">
                <a:solidFill>
                  <a:srgbClr val="DC5037"/>
                </a:solidFill>
                <a:latin typeface="楷体" panose="02010609060101010101" charset="-122"/>
                <a:ea typeface="楷体" panose="02010609060101010101" charset="-122"/>
                <a:cs typeface="楷体" panose="02010609060101010101" charset="-122"/>
              </a:rPr>
              <a:t>年</a:t>
            </a:r>
            <a:endParaRPr kumimoji="1" lang="zh-CN" altLang="en-US" sz="4400" b="1" dirty="0">
              <a:solidFill>
                <a:srgbClr val="DC5037"/>
              </a:solidFill>
              <a:latin typeface="楷体" panose="02010609060101010101" charset="-122"/>
              <a:ea typeface="楷体" panose="02010609060101010101" charset="-122"/>
              <a:cs typeface="楷体" panose="02010609060101010101" charset="-122"/>
            </a:endParaRPr>
          </a:p>
          <a:p>
            <a:pPr algn="ctr">
              <a:lnSpc>
                <a:spcPct val="100000"/>
              </a:lnSpc>
              <a:spcBef>
                <a:spcPts val="0"/>
              </a:spcBef>
              <a:spcAft>
                <a:spcPts val="0"/>
              </a:spcAft>
            </a:pPr>
            <a:r>
              <a:rPr kumimoji="1" lang="zh-CN" altLang="en-US" sz="4400" b="1" dirty="0">
                <a:solidFill>
                  <a:srgbClr val="DC5037"/>
                </a:solidFill>
                <a:latin typeface="楷体" panose="02010609060101010101" charset="-122"/>
                <a:ea typeface="楷体" panose="02010609060101010101" charset="-122"/>
                <a:cs typeface="楷体" panose="02010609060101010101" charset="-122"/>
              </a:rPr>
              <a:t>真题解析</a:t>
            </a:r>
            <a:endParaRPr kumimoji="1" lang="zh-CN" altLang="en-US" sz="4400" b="1" dirty="0">
              <a:solidFill>
                <a:srgbClr val="DC5037"/>
              </a:solidFill>
              <a:latin typeface="楷体" panose="02010609060101010101" charset="-122"/>
              <a:ea typeface="楷体" panose="02010609060101010101" charset="-122"/>
              <a:cs typeface="楷体" panose="02010609060101010101" charset="-122"/>
            </a:endParaRPr>
          </a:p>
          <a:p>
            <a:pPr algn="ctr">
              <a:lnSpc>
                <a:spcPct val="100000"/>
              </a:lnSpc>
              <a:spcBef>
                <a:spcPts val="0"/>
              </a:spcBef>
              <a:spcAft>
                <a:spcPts val="0"/>
              </a:spcAft>
            </a:pPr>
            <a:endParaRPr kumimoji="1" lang="zh-CN" altLang="en-US" sz="4400" b="1" dirty="0">
              <a:solidFill>
                <a:srgbClr val="DC5037"/>
              </a:solidFill>
              <a:latin typeface="楷体" panose="02010609060101010101" charset="-122"/>
              <a:ea typeface="楷体" panose="02010609060101010101" charset="-122"/>
              <a:cs typeface="楷体" panose="02010609060101010101" charset="-122"/>
            </a:endParaRPr>
          </a:p>
        </p:txBody>
      </p:sp>
      <p:sp>
        <p:nvSpPr>
          <p:cNvPr id="5" name="文本框 4"/>
          <p:cNvSpPr txBox="1"/>
          <p:nvPr/>
        </p:nvSpPr>
        <p:spPr>
          <a:xfrm>
            <a:off x="4675016" y="4612428"/>
            <a:ext cx="2502877" cy="398780"/>
          </a:xfrm>
          <a:prstGeom prst="rect">
            <a:avLst/>
          </a:prstGeom>
          <a:noFill/>
        </p:spPr>
        <p:txBody>
          <a:bodyPr wrap="square" rtlCol="0">
            <a:spAutoFit/>
          </a:bodyPr>
          <a:lstStyle/>
          <a:p>
            <a:r>
              <a:rPr kumimoji="1" lang="zh-CN" altLang="en-US" sz="2000" dirty="0">
                <a:solidFill>
                  <a:srgbClr val="DC5037"/>
                </a:solidFill>
                <a:latin typeface="楷体" panose="02010609060101010101" charset="-122"/>
                <a:ea typeface="楷体" panose="02010609060101010101" charset="-122"/>
                <a:cs typeface="楷体" panose="02010609060101010101" charset="-122"/>
              </a:rPr>
              <a:t>主讲老师：陆羽老师</a:t>
            </a:r>
            <a:endParaRPr kumimoji="1" lang="zh-CN" altLang="en-US" sz="2000" dirty="0">
              <a:solidFill>
                <a:srgbClr val="DC5037"/>
              </a:solidFill>
              <a:latin typeface="楷体" panose="02010609060101010101" charset="-122"/>
              <a:ea typeface="楷体" panose="02010609060101010101" charset="-122"/>
              <a:cs typeface="楷体" panose="02010609060101010101" charset="-122"/>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608400" y="208350"/>
            <a:ext cx="10969200" cy="705600"/>
          </a:xfrm>
        </p:spPr>
        <p:txBody>
          <a:bodyPr/>
          <a:lstStyle/>
          <a:p>
            <a:pPr algn="l">
              <a:buClrTx/>
              <a:buSzTx/>
              <a:buFontTx/>
            </a:pPr>
            <a:r>
              <a:rPr kumimoji="1" lang="zh-CN" sz="3735" b="1" dirty="0">
                <a:solidFill>
                  <a:srgbClr val="FF653F"/>
                </a:solidFill>
                <a:latin typeface="+mj-lt"/>
                <a:ea typeface="+mj-lt"/>
                <a:cs typeface="+mj-lt"/>
              </a:rPr>
              <a:t>题</a:t>
            </a:r>
            <a:r>
              <a:rPr kumimoji="1" lang="en-US" altLang="zh-CN" sz="3735" b="1" dirty="0">
                <a:solidFill>
                  <a:srgbClr val="FF653F"/>
                </a:solidFill>
                <a:latin typeface="+mj-lt"/>
                <a:ea typeface="+mj-lt"/>
                <a:cs typeface="+mj-lt"/>
              </a:rPr>
              <a:t>71</a:t>
            </a:r>
            <a:endParaRPr kumimoji="1" lang="en-US" altLang="zh-CN" sz="3735" b="1" dirty="0">
              <a:solidFill>
                <a:srgbClr val="FF653F"/>
              </a:solidFill>
              <a:latin typeface="+mj-lt"/>
              <a:ea typeface="+mj-lt"/>
              <a:cs typeface="+mj-lt"/>
            </a:endParaRPr>
          </a:p>
        </p:txBody>
      </p:sp>
      <p:sp>
        <p:nvSpPr>
          <p:cNvPr id="4" name="文本框 3"/>
          <p:cNvSpPr txBox="1"/>
          <p:nvPr/>
        </p:nvSpPr>
        <p:spPr>
          <a:xfrm>
            <a:off x="608330" y="774065"/>
            <a:ext cx="10968355" cy="5631180"/>
          </a:xfrm>
          <a:prstGeom prst="rect">
            <a:avLst/>
          </a:prstGeom>
          <a:noFill/>
        </p:spPr>
        <p:txBody>
          <a:bodyPr wrap="square" rtlCol="0" anchor="t">
            <a:spAutoFit/>
          </a:bodyPr>
          <a:p>
            <a:pPr indent="0" algn="l" fontAlgn="auto">
              <a:lnSpc>
                <a:spcPct val="150000"/>
              </a:lnSpc>
            </a:pP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把下面的六个图形分为两类，使每一类图形都有各自的共同特征或规律，分类正确的一项是：</a:t>
            </a:r>
            <a:endParaRPr lang="zh-CN" altLang="en-US" sz="24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endParaRPr lang="zh-CN" altLang="en-US" sz="24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endParaRPr lang="zh-CN" altLang="en-US" sz="24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endParaRPr lang="zh-CN" altLang="en-US" sz="24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endParaRPr lang="zh-CN" altLang="en-US" sz="24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endParaRPr lang="zh-CN" altLang="en-US" sz="24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endParaRPr lang="zh-CN" altLang="en-US" sz="24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A.</a:t>
            </a:r>
            <a:r>
              <a:rPr lang="en-US" altLang="en-US" sz="2400" dirty="0">
                <a:latin typeface="楷体" panose="02010609060101010101" charset="-122"/>
                <a:ea typeface="楷体" panose="02010609060101010101" charset="-122"/>
                <a:cs typeface="楷体" panose="02010609060101010101" charset="-122"/>
                <a:sym typeface="楷体" panose="02010609060101010101" charset="-122"/>
              </a:rPr>
              <a:t>①②③</a:t>
            </a: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a:t>
            </a:r>
            <a:r>
              <a:rPr lang="en-US" altLang="en-US" sz="2400" dirty="0">
                <a:latin typeface="楷体" panose="02010609060101010101" charset="-122"/>
                <a:ea typeface="楷体" panose="02010609060101010101" charset="-122"/>
                <a:cs typeface="楷体" panose="02010609060101010101" charset="-122"/>
                <a:sym typeface="楷体" panose="02010609060101010101" charset="-122"/>
              </a:rPr>
              <a:t>④⑤⑥			</a:t>
            </a: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B.</a:t>
            </a:r>
            <a:r>
              <a:rPr lang="en-US" altLang="en-US" sz="2400" dirty="0">
                <a:latin typeface="楷体" panose="02010609060101010101" charset="-122"/>
                <a:ea typeface="楷体" panose="02010609060101010101" charset="-122"/>
                <a:cs typeface="楷体" panose="02010609060101010101" charset="-122"/>
                <a:sym typeface="楷体" panose="02010609060101010101" charset="-122"/>
              </a:rPr>
              <a:t>①②⑥</a:t>
            </a: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a:t>
            </a:r>
            <a:r>
              <a:rPr lang="en-US" altLang="en-US" sz="2400" dirty="0">
                <a:latin typeface="楷体" panose="02010609060101010101" charset="-122"/>
                <a:ea typeface="楷体" panose="02010609060101010101" charset="-122"/>
                <a:cs typeface="楷体" panose="02010609060101010101" charset="-122"/>
                <a:sym typeface="楷体" panose="02010609060101010101" charset="-122"/>
              </a:rPr>
              <a:t>③④⑤</a:t>
            </a:r>
            <a:endParaRPr lang="en-US" altLang="en-US" sz="24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C.</a:t>
            </a:r>
            <a:r>
              <a:rPr lang="en-US" altLang="en-US" sz="2400" dirty="0">
                <a:latin typeface="楷体" panose="02010609060101010101" charset="-122"/>
                <a:ea typeface="楷体" panose="02010609060101010101" charset="-122"/>
                <a:cs typeface="楷体" panose="02010609060101010101" charset="-122"/>
                <a:sym typeface="楷体" panose="02010609060101010101" charset="-122"/>
              </a:rPr>
              <a:t>①②④</a:t>
            </a: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a:t>
            </a:r>
            <a:r>
              <a:rPr lang="en-US" altLang="en-US" sz="2400" dirty="0">
                <a:latin typeface="楷体" panose="02010609060101010101" charset="-122"/>
                <a:ea typeface="楷体" panose="02010609060101010101" charset="-122"/>
                <a:cs typeface="楷体" panose="02010609060101010101" charset="-122"/>
                <a:sym typeface="楷体" panose="02010609060101010101" charset="-122"/>
              </a:rPr>
              <a:t>③⑤⑥			</a:t>
            </a: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D.</a:t>
            </a:r>
            <a:r>
              <a:rPr lang="en-US" altLang="en-US" sz="2400" dirty="0">
                <a:latin typeface="楷体" panose="02010609060101010101" charset="-122"/>
                <a:ea typeface="楷体" panose="02010609060101010101" charset="-122"/>
                <a:cs typeface="楷体" panose="02010609060101010101" charset="-122"/>
                <a:sym typeface="楷体" panose="02010609060101010101" charset="-122"/>
              </a:rPr>
              <a:t>①④⑥</a:t>
            </a: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a:t>
            </a:r>
            <a:r>
              <a:rPr lang="en-US" altLang="en-US" sz="2400" dirty="0">
                <a:latin typeface="楷体" panose="02010609060101010101" charset="-122"/>
                <a:ea typeface="楷体" panose="02010609060101010101" charset="-122"/>
                <a:cs typeface="楷体" panose="02010609060101010101" charset="-122"/>
                <a:sym typeface="楷体" panose="02010609060101010101" charset="-122"/>
              </a:rPr>
              <a:t>②③⑤</a:t>
            </a:r>
            <a:endParaRPr lang="en-US" altLang="en-US" sz="2400" dirty="0">
              <a:latin typeface="楷体" panose="02010609060101010101" charset="-122"/>
              <a:ea typeface="楷体" panose="02010609060101010101" charset="-122"/>
              <a:cs typeface="楷体" panose="02010609060101010101" charset="-122"/>
              <a:sym typeface="楷体" panose="02010609060101010101" charset="-122"/>
            </a:endParaRPr>
          </a:p>
        </p:txBody>
      </p:sp>
      <p:pic>
        <p:nvPicPr>
          <p:cNvPr id="5" name="图片 4"/>
          <p:cNvPicPr>
            <a:picLocks noChangeAspect="1"/>
          </p:cNvPicPr>
          <p:nvPr/>
        </p:nvPicPr>
        <p:blipFill>
          <a:blip r:embed="rId1"/>
          <a:stretch>
            <a:fillRect/>
          </a:stretch>
        </p:blipFill>
        <p:spPr>
          <a:xfrm>
            <a:off x="3714750" y="1566545"/>
            <a:ext cx="4762500" cy="3724275"/>
          </a:xfrm>
          <a:prstGeom prst="rect">
            <a:avLst/>
          </a:prstGeom>
        </p:spPr>
      </p:pic>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608400" y="208350"/>
            <a:ext cx="10969200" cy="705600"/>
          </a:xfrm>
        </p:spPr>
        <p:txBody>
          <a:bodyPr/>
          <a:lstStyle/>
          <a:p>
            <a:pPr algn="l">
              <a:buClrTx/>
              <a:buSzTx/>
              <a:buFontTx/>
            </a:pPr>
            <a:r>
              <a:rPr kumimoji="1" lang="zh-CN" sz="3735" b="1" dirty="0">
                <a:solidFill>
                  <a:srgbClr val="FF653F"/>
                </a:solidFill>
                <a:latin typeface="+mj-lt"/>
                <a:ea typeface="+mj-lt"/>
                <a:cs typeface="+mj-lt"/>
              </a:rPr>
              <a:t>题</a:t>
            </a:r>
            <a:r>
              <a:rPr kumimoji="1" lang="en-US" altLang="zh-CN" sz="3735" b="1" dirty="0">
                <a:solidFill>
                  <a:srgbClr val="FF653F"/>
                </a:solidFill>
                <a:latin typeface="+mj-lt"/>
                <a:ea typeface="+mj-lt"/>
                <a:cs typeface="+mj-lt"/>
              </a:rPr>
              <a:t>72</a:t>
            </a:r>
            <a:endParaRPr kumimoji="1" lang="en-US" altLang="zh-CN" sz="3735" b="1" dirty="0">
              <a:solidFill>
                <a:srgbClr val="FF653F"/>
              </a:solidFill>
              <a:latin typeface="+mj-lt"/>
              <a:ea typeface="+mj-lt"/>
              <a:cs typeface="+mj-lt"/>
            </a:endParaRPr>
          </a:p>
        </p:txBody>
      </p:sp>
      <p:sp>
        <p:nvSpPr>
          <p:cNvPr id="4" name="文本框 3"/>
          <p:cNvSpPr txBox="1"/>
          <p:nvPr/>
        </p:nvSpPr>
        <p:spPr>
          <a:xfrm>
            <a:off x="608330" y="913765"/>
            <a:ext cx="10968355" cy="598805"/>
          </a:xfrm>
          <a:prstGeom prst="rect">
            <a:avLst/>
          </a:prstGeom>
          <a:noFill/>
        </p:spPr>
        <p:txBody>
          <a:bodyPr wrap="square" rtlCol="0" anchor="t">
            <a:spAutoFit/>
          </a:bodyPr>
          <a:p>
            <a:pPr indent="0" algn="l" fontAlgn="auto">
              <a:lnSpc>
                <a:spcPct val="150000"/>
              </a:lnSpc>
            </a:pPr>
            <a:r>
              <a:rPr lang="zh-CN" altLang="en-US" sz="2200" dirty="0">
                <a:latin typeface="楷体" panose="02010609060101010101" charset="-122"/>
                <a:ea typeface="楷体" panose="02010609060101010101" charset="-122"/>
                <a:cs typeface="楷体" panose="02010609060101010101" charset="-122"/>
                <a:sym typeface="楷体" panose="02010609060101010101" charset="-122"/>
              </a:rPr>
              <a:t>从所给的四个选项中，选择最合适的一个填入问号处，使之呈现一定规律性：</a:t>
            </a:r>
            <a:endParaRPr lang="zh-CN" altLang="en-US" sz="2200" dirty="0">
              <a:latin typeface="楷体" panose="02010609060101010101" charset="-122"/>
              <a:ea typeface="楷体" panose="02010609060101010101" charset="-122"/>
              <a:cs typeface="楷体" panose="02010609060101010101" charset="-122"/>
              <a:sym typeface="楷体" panose="02010609060101010101" charset="-122"/>
            </a:endParaRPr>
          </a:p>
        </p:txBody>
      </p:sp>
      <p:pic>
        <p:nvPicPr>
          <p:cNvPr id="3" name="图片 2"/>
          <p:cNvPicPr>
            <a:picLocks noChangeAspect="1"/>
          </p:cNvPicPr>
          <p:nvPr/>
        </p:nvPicPr>
        <p:blipFill>
          <a:blip r:embed="rId1"/>
          <a:stretch>
            <a:fillRect/>
          </a:stretch>
        </p:blipFill>
        <p:spPr>
          <a:xfrm>
            <a:off x="2588895" y="1512570"/>
            <a:ext cx="6508750" cy="4556125"/>
          </a:xfrm>
          <a:prstGeom prst="rect">
            <a:avLst/>
          </a:prstGeom>
        </p:spPr>
      </p:pic>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608400" y="208350"/>
            <a:ext cx="10969200" cy="705600"/>
          </a:xfrm>
        </p:spPr>
        <p:txBody>
          <a:bodyPr/>
          <a:lstStyle/>
          <a:p>
            <a:pPr algn="l">
              <a:buClrTx/>
              <a:buSzTx/>
              <a:buFontTx/>
            </a:pPr>
            <a:r>
              <a:rPr kumimoji="1" lang="zh-CN" sz="3735" b="1" dirty="0">
                <a:solidFill>
                  <a:srgbClr val="FF653F"/>
                </a:solidFill>
                <a:latin typeface="+mj-lt"/>
                <a:ea typeface="+mj-lt"/>
                <a:cs typeface="+mj-lt"/>
              </a:rPr>
              <a:t>题</a:t>
            </a:r>
            <a:r>
              <a:rPr kumimoji="1" lang="en-US" altLang="zh-CN" sz="3735" b="1" dirty="0">
                <a:solidFill>
                  <a:srgbClr val="FF653F"/>
                </a:solidFill>
                <a:latin typeface="+mj-lt"/>
                <a:ea typeface="+mj-lt"/>
                <a:cs typeface="+mj-lt"/>
              </a:rPr>
              <a:t>73</a:t>
            </a:r>
            <a:endParaRPr kumimoji="1" lang="en-US" altLang="zh-CN" sz="3735" b="1" dirty="0">
              <a:solidFill>
                <a:srgbClr val="FF653F"/>
              </a:solidFill>
              <a:latin typeface="+mj-lt"/>
              <a:ea typeface="+mj-lt"/>
              <a:cs typeface="+mj-lt"/>
            </a:endParaRPr>
          </a:p>
        </p:txBody>
      </p:sp>
      <p:sp>
        <p:nvSpPr>
          <p:cNvPr id="4" name="文本框 3"/>
          <p:cNvSpPr txBox="1"/>
          <p:nvPr/>
        </p:nvSpPr>
        <p:spPr>
          <a:xfrm>
            <a:off x="608330" y="756285"/>
            <a:ext cx="10968355" cy="645160"/>
          </a:xfrm>
          <a:prstGeom prst="rect">
            <a:avLst/>
          </a:prstGeom>
          <a:noFill/>
        </p:spPr>
        <p:txBody>
          <a:bodyPr wrap="square" rtlCol="0" anchor="t">
            <a:spAutoFit/>
          </a:bodyPr>
          <a:p>
            <a:pPr indent="0" algn="l" fontAlgn="auto">
              <a:lnSpc>
                <a:spcPct val="150000"/>
              </a:lnSpc>
            </a:pP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从所给的四个选项中，选择最合适的一个填入问号处，使之呈现一定的规律性：</a:t>
            </a:r>
            <a:endParaRPr lang="zh-CN" altLang="en-US" sz="2400" dirty="0">
              <a:latin typeface="楷体" panose="02010609060101010101" charset="-122"/>
              <a:ea typeface="楷体" panose="02010609060101010101" charset="-122"/>
              <a:cs typeface="楷体" panose="02010609060101010101" charset="-122"/>
              <a:sym typeface="楷体" panose="02010609060101010101" charset="-122"/>
            </a:endParaRPr>
          </a:p>
        </p:txBody>
      </p:sp>
      <p:pic>
        <p:nvPicPr>
          <p:cNvPr id="3" name="图片 2"/>
          <p:cNvPicPr>
            <a:picLocks noChangeAspect="1"/>
          </p:cNvPicPr>
          <p:nvPr/>
        </p:nvPicPr>
        <p:blipFill>
          <a:blip r:embed="rId1"/>
          <a:stretch>
            <a:fillRect/>
          </a:stretch>
        </p:blipFill>
        <p:spPr>
          <a:xfrm>
            <a:off x="2329180" y="1675765"/>
            <a:ext cx="7533640" cy="3888105"/>
          </a:xfrm>
          <a:prstGeom prst="rect">
            <a:avLst/>
          </a:prstGeom>
        </p:spPr>
      </p:pic>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608400" y="208350"/>
            <a:ext cx="10969200" cy="705600"/>
          </a:xfrm>
        </p:spPr>
        <p:txBody>
          <a:bodyPr/>
          <a:lstStyle/>
          <a:p>
            <a:pPr algn="l">
              <a:buClrTx/>
              <a:buSzTx/>
              <a:buFontTx/>
            </a:pPr>
            <a:r>
              <a:rPr kumimoji="1" lang="zh-CN" sz="3735" b="1" dirty="0">
                <a:solidFill>
                  <a:srgbClr val="FF653F"/>
                </a:solidFill>
                <a:latin typeface="+mj-lt"/>
                <a:ea typeface="+mj-lt"/>
                <a:cs typeface="+mj-lt"/>
              </a:rPr>
              <a:t>题</a:t>
            </a:r>
            <a:r>
              <a:rPr kumimoji="1" lang="en-US" altLang="zh-CN" sz="3735" b="1" dirty="0">
                <a:solidFill>
                  <a:srgbClr val="FF653F"/>
                </a:solidFill>
                <a:latin typeface="+mj-lt"/>
                <a:ea typeface="+mj-lt"/>
                <a:cs typeface="+mj-lt"/>
              </a:rPr>
              <a:t>74</a:t>
            </a:r>
            <a:endParaRPr kumimoji="1" lang="en-US" altLang="zh-CN" sz="3735" b="1" dirty="0">
              <a:solidFill>
                <a:srgbClr val="FF653F"/>
              </a:solidFill>
              <a:latin typeface="+mj-lt"/>
              <a:ea typeface="+mj-lt"/>
              <a:cs typeface="+mj-lt"/>
            </a:endParaRPr>
          </a:p>
        </p:txBody>
      </p:sp>
      <p:sp>
        <p:nvSpPr>
          <p:cNvPr id="4" name="文本框 3"/>
          <p:cNvSpPr txBox="1"/>
          <p:nvPr/>
        </p:nvSpPr>
        <p:spPr>
          <a:xfrm>
            <a:off x="608330" y="913765"/>
            <a:ext cx="10968355" cy="530860"/>
          </a:xfrm>
          <a:prstGeom prst="rect">
            <a:avLst/>
          </a:prstGeom>
          <a:noFill/>
        </p:spPr>
        <p:txBody>
          <a:bodyPr wrap="square" rtlCol="0" anchor="t">
            <a:spAutoFit/>
          </a:bodyPr>
          <a:p>
            <a:pPr indent="0" algn="l" fontAlgn="auto">
              <a:lnSpc>
                <a:spcPct val="130000"/>
              </a:lnSpc>
            </a:pPr>
            <a:r>
              <a:rPr lang="zh-CN" altLang="en-US" sz="2200" dirty="0">
                <a:latin typeface="楷体" panose="02010609060101010101" charset="-122"/>
                <a:ea typeface="楷体" panose="02010609060101010101" charset="-122"/>
                <a:cs typeface="楷体" panose="02010609060101010101" charset="-122"/>
                <a:sym typeface="楷体" panose="02010609060101010101" charset="-122"/>
              </a:rPr>
              <a:t>从所给的四个选项中，选择最合适的一个填入问号处，使之呈现一定的规律性：</a:t>
            </a:r>
            <a:endParaRPr lang="zh-CN" altLang="en-US" sz="2200" dirty="0">
              <a:latin typeface="楷体" panose="02010609060101010101" charset="-122"/>
              <a:ea typeface="楷体" panose="02010609060101010101" charset="-122"/>
              <a:cs typeface="楷体" panose="02010609060101010101" charset="-122"/>
              <a:sym typeface="楷体" panose="02010609060101010101" charset="-122"/>
            </a:endParaRPr>
          </a:p>
        </p:txBody>
      </p:sp>
      <p:pic>
        <p:nvPicPr>
          <p:cNvPr id="3" name="图片 2"/>
          <p:cNvPicPr>
            <a:picLocks noChangeAspect="1"/>
          </p:cNvPicPr>
          <p:nvPr/>
        </p:nvPicPr>
        <p:blipFill>
          <a:blip r:embed="rId1"/>
          <a:stretch>
            <a:fillRect/>
          </a:stretch>
        </p:blipFill>
        <p:spPr>
          <a:xfrm>
            <a:off x="2917190" y="1444625"/>
            <a:ext cx="6350000" cy="4373880"/>
          </a:xfrm>
          <a:prstGeom prst="rect">
            <a:avLst/>
          </a:prstGeom>
        </p:spPr>
      </p:pic>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608400" y="208350"/>
            <a:ext cx="10969200" cy="705600"/>
          </a:xfrm>
        </p:spPr>
        <p:txBody>
          <a:bodyPr/>
          <a:lstStyle/>
          <a:p>
            <a:pPr algn="l">
              <a:buClrTx/>
              <a:buSzTx/>
              <a:buFontTx/>
            </a:pPr>
            <a:r>
              <a:rPr kumimoji="1" lang="zh-CN" sz="3735" b="1" dirty="0">
                <a:solidFill>
                  <a:srgbClr val="FF653F"/>
                </a:solidFill>
                <a:latin typeface="+mj-lt"/>
                <a:ea typeface="+mj-lt"/>
                <a:cs typeface="+mj-lt"/>
              </a:rPr>
              <a:t>题</a:t>
            </a:r>
            <a:r>
              <a:rPr kumimoji="1" lang="en-US" altLang="zh-CN" sz="3735" b="1" dirty="0">
                <a:solidFill>
                  <a:srgbClr val="FF653F"/>
                </a:solidFill>
                <a:latin typeface="+mj-lt"/>
                <a:ea typeface="+mj-lt"/>
                <a:cs typeface="+mj-lt"/>
              </a:rPr>
              <a:t>75</a:t>
            </a:r>
            <a:endParaRPr kumimoji="1" lang="en-US" altLang="zh-CN" sz="3735" b="1" dirty="0">
              <a:solidFill>
                <a:srgbClr val="FF653F"/>
              </a:solidFill>
              <a:latin typeface="+mj-lt"/>
              <a:ea typeface="+mj-lt"/>
              <a:cs typeface="+mj-lt"/>
            </a:endParaRPr>
          </a:p>
        </p:txBody>
      </p:sp>
      <p:sp>
        <p:nvSpPr>
          <p:cNvPr id="4" name="文本框 3"/>
          <p:cNvSpPr txBox="1"/>
          <p:nvPr/>
        </p:nvSpPr>
        <p:spPr>
          <a:xfrm>
            <a:off x="608330" y="756285"/>
            <a:ext cx="10968355" cy="553085"/>
          </a:xfrm>
          <a:prstGeom prst="rect">
            <a:avLst/>
          </a:prstGeom>
          <a:noFill/>
        </p:spPr>
        <p:txBody>
          <a:bodyPr wrap="square" rtlCol="0" anchor="t">
            <a:spAutoFit/>
          </a:bodyPr>
          <a:p>
            <a:pPr indent="0" algn="l" fontAlgn="auto">
              <a:lnSpc>
                <a:spcPct val="150000"/>
              </a:lnSpc>
            </a:pPr>
            <a:r>
              <a:rPr lang="zh-CN" altLang="en-US" sz="2000" dirty="0">
                <a:latin typeface="楷体" panose="02010609060101010101" charset="-122"/>
                <a:ea typeface="楷体" panose="02010609060101010101" charset="-122"/>
                <a:cs typeface="楷体" panose="02010609060101010101" charset="-122"/>
                <a:sym typeface="楷体" panose="02010609060101010101" charset="-122"/>
              </a:rPr>
              <a:t>下面四个正方体纸盒的外表面展开图中，与其他三个折叠成的纸盒不相同的是：</a:t>
            </a:r>
            <a:endParaRPr lang="zh-CN" altLang="en-US" sz="2000" dirty="0">
              <a:latin typeface="楷体" panose="02010609060101010101" charset="-122"/>
              <a:ea typeface="楷体" panose="02010609060101010101" charset="-122"/>
              <a:cs typeface="楷体" panose="02010609060101010101" charset="-122"/>
              <a:sym typeface="楷体" panose="02010609060101010101" charset="-122"/>
            </a:endParaRPr>
          </a:p>
        </p:txBody>
      </p:sp>
      <p:pic>
        <p:nvPicPr>
          <p:cNvPr id="3" name="图片 2"/>
          <p:cNvPicPr>
            <a:picLocks noChangeAspect="1"/>
          </p:cNvPicPr>
          <p:nvPr/>
        </p:nvPicPr>
        <p:blipFill>
          <a:blip r:embed="rId1"/>
          <a:stretch>
            <a:fillRect/>
          </a:stretch>
        </p:blipFill>
        <p:spPr>
          <a:xfrm>
            <a:off x="1336040" y="1664335"/>
            <a:ext cx="9519920" cy="3139440"/>
          </a:xfrm>
          <a:prstGeom prst="rect">
            <a:avLst/>
          </a:prstGeom>
        </p:spPr>
      </p:pic>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608400" y="208350"/>
            <a:ext cx="10969200" cy="705600"/>
          </a:xfrm>
        </p:spPr>
        <p:txBody>
          <a:bodyPr/>
          <a:lstStyle/>
          <a:p>
            <a:pPr algn="l">
              <a:buClrTx/>
              <a:buSzTx/>
              <a:buFontTx/>
            </a:pPr>
            <a:r>
              <a:rPr kumimoji="1" lang="zh-CN" sz="3735" b="1" dirty="0">
                <a:solidFill>
                  <a:srgbClr val="FF653F"/>
                </a:solidFill>
                <a:latin typeface="+mj-lt"/>
                <a:ea typeface="+mj-lt"/>
                <a:cs typeface="+mj-lt"/>
              </a:rPr>
              <a:t>题</a:t>
            </a:r>
            <a:r>
              <a:rPr kumimoji="1" lang="en-US" altLang="zh-CN" sz="3735" b="1" dirty="0">
                <a:solidFill>
                  <a:srgbClr val="FF653F"/>
                </a:solidFill>
                <a:latin typeface="+mj-lt"/>
                <a:ea typeface="+mj-lt"/>
                <a:cs typeface="+mj-lt"/>
              </a:rPr>
              <a:t>76</a:t>
            </a:r>
            <a:endParaRPr kumimoji="1" lang="en-US" altLang="zh-CN" sz="3735" b="1" dirty="0">
              <a:solidFill>
                <a:srgbClr val="FF653F"/>
              </a:solidFill>
              <a:latin typeface="+mj-lt"/>
              <a:ea typeface="+mj-lt"/>
              <a:cs typeface="+mj-lt"/>
            </a:endParaRPr>
          </a:p>
        </p:txBody>
      </p:sp>
      <p:sp>
        <p:nvSpPr>
          <p:cNvPr id="4" name="文本框 3"/>
          <p:cNvSpPr txBox="1"/>
          <p:nvPr/>
        </p:nvSpPr>
        <p:spPr>
          <a:xfrm>
            <a:off x="608330" y="756285"/>
            <a:ext cx="10968355" cy="5077460"/>
          </a:xfrm>
          <a:prstGeom prst="rect">
            <a:avLst/>
          </a:prstGeom>
          <a:noFill/>
        </p:spPr>
        <p:txBody>
          <a:bodyPr wrap="square" rtlCol="0" anchor="t">
            <a:spAutoFit/>
          </a:bodyPr>
          <a:p>
            <a:pPr indent="0" algn="l" fontAlgn="auto">
              <a:lnSpc>
                <a:spcPct val="150000"/>
              </a:lnSpc>
            </a:pP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档案管理是指档案馆（室）以维护档案的真实、完整、准确、安全，便于社会和其他各方面利用为原则，对档案进行收集、整理、保管、鉴定、统计并提供利用的各种业务工作。按管理门类分为文书档案管理和专业档案管理；按档案载体形式分为传统档案管理和电子档案管理。</a:t>
            </a:r>
            <a:endParaRPr lang="zh-CN" altLang="en-US" sz="24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根据上述定义，下列属于档案管理的是：</a:t>
            </a:r>
            <a:endParaRPr lang="zh-CN" altLang="en-US" sz="24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A.</a:t>
            </a: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甲档案馆近期向社会开放经济、教育、科技、文化类档案查询</a:t>
            </a:r>
            <a:endParaRPr lang="zh-CN" altLang="en-US" sz="24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B.</a:t>
            </a: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乙知识网站从</a:t>
            </a: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 1999 </a:t>
            </a: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年开始向用户提供有偿资料查阅和下载服务</a:t>
            </a:r>
            <a:endParaRPr lang="zh-CN" altLang="en-US" sz="24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C.</a:t>
            </a: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丙资料库收录了从</a:t>
            </a: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 1995 </a:t>
            </a: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年至今的</a:t>
            </a: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 100 </a:t>
            </a: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多个社科专题全文复印资料</a:t>
            </a:r>
            <a:endParaRPr lang="zh-CN" altLang="en-US" sz="24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D.</a:t>
            </a: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丁单位的档案室决定建立档案工作责任制，依法健全档案管理制度</a:t>
            </a:r>
            <a:endParaRPr lang="zh-CN" altLang="en-US" sz="2400" dirty="0">
              <a:latin typeface="楷体" panose="02010609060101010101" charset="-122"/>
              <a:ea typeface="楷体" panose="02010609060101010101" charset="-122"/>
              <a:cs typeface="楷体" panose="02010609060101010101" charset="-122"/>
              <a:sym typeface="楷体" panose="02010609060101010101" charset="-122"/>
            </a:endParaRP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608400" y="208350"/>
            <a:ext cx="10969200" cy="705600"/>
          </a:xfrm>
        </p:spPr>
        <p:txBody>
          <a:bodyPr/>
          <a:lstStyle/>
          <a:p>
            <a:pPr algn="l">
              <a:buClrTx/>
              <a:buSzTx/>
              <a:buFontTx/>
            </a:pPr>
            <a:r>
              <a:rPr kumimoji="1" lang="zh-CN" sz="3735" b="1" dirty="0">
                <a:solidFill>
                  <a:srgbClr val="FF653F"/>
                </a:solidFill>
                <a:latin typeface="+mj-lt"/>
                <a:ea typeface="+mj-lt"/>
                <a:cs typeface="+mj-lt"/>
              </a:rPr>
              <a:t>题</a:t>
            </a:r>
            <a:r>
              <a:rPr kumimoji="1" lang="en-US" altLang="zh-CN" sz="3735" b="1" dirty="0">
                <a:solidFill>
                  <a:srgbClr val="FF653F"/>
                </a:solidFill>
                <a:latin typeface="+mj-lt"/>
                <a:ea typeface="+mj-lt"/>
                <a:cs typeface="+mj-lt"/>
              </a:rPr>
              <a:t>77</a:t>
            </a:r>
            <a:endParaRPr kumimoji="1" lang="en-US" altLang="zh-CN" sz="3735" b="1" dirty="0">
              <a:solidFill>
                <a:srgbClr val="FF653F"/>
              </a:solidFill>
              <a:latin typeface="+mj-lt"/>
              <a:ea typeface="+mj-lt"/>
              <a:cs typeface="+mj-lt"/>
            </a:endParaRPr>
          </a:p>
        </p:txBody>
      </p:sp>
      <p:sp>
        <p:nvSpPr>
          <p:cNvPr id="4" name="文本框 3"/>
          <p:cNvSpPr txBox="1"/>
          <p:nvPr/>
        </p:nvSpPr>
        <p:spPr>
          <a:xfrm>
            <a:off x="608330" y="756285"/>
            <a:ext cx="11170285" cy="5077460"/>
          </a:xfrm>
          <a:prstGeom prst="rect">
            <a:avLst/>
          </a:prstGeom>
          <a:noFill/>
        </p:spPr>
        <p:txBody>
          <a:bodyPr wrap="square" rtlCol="0" anchor="t">
            <a:spAutoFit/>
          </a:bodyPr>
          <a:p>
            <a:pPr indent="0" algn="l" fontAlgn="auto">
              <a:lnSpc>
                <a:spcPct val="150000"/>
              </a:lnSpc>
            </a:pP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采集经济指人类以采摘自然界现存植物为生的经济。原始社会初期，人类生产能力低下，只能用双手和石块、树枝等简陋工具采集植物果实或根茎等作为食物。随着人类对植物效用和生长规律认识逐步提高和对生产工具的改进，出现了大规模人工或机器栽种采集的现代采集经济。</a:t>
            </a:r>
            <a:endParaRPr lang="zh-CN" altLang="en-US" sz="24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根据上述定义，下列不属于采集经济的是：</a:t>
            </a:r>
            <a:endParaRPr lang="zh-CN" altLang="en-US" sz="24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A.</a:t>
            </a: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主干道两旁的树木被修剪整理维护一新，修剪垃圾由园林部门清理利用</a:t>
            </a:r>
            <a:endParaRPr lang="zh-CN" altLang="en-US" sz="24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B.</a:t>
            </a: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大棚种西瓜，每棚收入</a:t>
            </a: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 1.2 </a:t>
            </a: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万元左右，小李今年种了</a:t>
            </a: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 9 </a:t>
            </a: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棚能收入</a:t>
            </a: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 10 </a:t>
            </a: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万多元</a:t>
            </a:r>
            <a:endParaRPr lang="zh-CN" altLang="en-US" sz="24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C.</a:t>
            </a: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山林里生长着许多可食用菌，一些周边农户上山采摘供自身食用及售卖</a:t>
            </a:r>
            <a:endParaRPr lang="zh-CN" altLang="en-US" sz="24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D.</a:t>
            </a: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茶园的茶树已抽出鲜嫩的芽尖，采茶姑娘们穿梭其中，忙着采摘春茶</a:t>
            </a:r>
            <a:endParaRPr lang="zh-CN" altLang="en-US" sz="2400" dirty="0">
              <a:latin typeface="楷体" panose="02010609060101010101" charset="-122"/>
              <a:ea typeface="楷体" panose="02010609060101010101" charset="-122"/>
              <a:cs typeface="楷体" panose="02010609060101010101" charset="-122"/>
              <a:sym typeface="楷体" panose="02010609060101010101" charset="-122"/>
            </a:endParaRP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608400" y="208350"/>
            <a:ext cx="10969200" cy="705600"/>
          </a:xfrm>
        </p:spPr>
        <p:txBody>
          <a:bodyPr/>
          <a:lstStyle/>
          <a:p>
            <a:pPr algn="l">
              <a:buClrTx/>
              <a:buSzTx/>
              <a:buFontTx/>
            </a:pPr>
            <a:r>
              <a:rPr kumimoji="1" lang="zh-CN" sz="3735" b="1" dirty="0">
                <a:solidFill>
                  <a:srgbClr val="FF653F"/>
                </a:solidFill>
                <a:latin typeface="+mj-lt"/>
                <a:ea typeface="+mj-lt"/>
                <a:cs typeface="+mj-lt"/>
              </a:rPr>
              <a:t>题</a:t>
            </a:r>
            <a:r>
              <a:rPr kumimoji="1" lang="en-US" altLang="zh-CN" sz="3735" b="1" dirty="0">
                <a:solidFill>
                  <a:srgbClr val="FF653F"/>
                </a:solidFill>
                <a:latin typeface="+mj-lt"/>
                <a:ea typeface="+mj-lt"/>
                <a:cs typeface="+mj-lt"/>
              </a:rPr>
              <a:t>78</a:t>
            </a:r>
            <a:endParaRPr kumimoji="1" lang="en-US" altLang="zh-CN" sz="3735" b="1" dirty="0">
              <a:solidFill>
                <a:srgbClr val="FF653F"/>
              </a:solidFill>
              <a:latin typeface="+mj-lt"/>
              <a:ea typeface="+mj-lt"/>
              <a:cs typeface="+mj-lt"/>
            </a:endParaRPr>
          </a:p>
        </p:txBody>
      </p:sp>
      <p:sp>
        <p:nvSpPr>
          <p:cNvPr id="4" name="文本框 3"/>
          <p:cNvSpPr txBox="1"/>
          <p:nvPr/>
        </p:nvSpPr>
        <p:spPr>
          <a:xfrm>
            <a:off x="608330" y="756285"/>
            <a:ext cx="10968355" cy="5292725"/>
          </a:xfrm>
          <a:prstGeom prst="rect">
            <a:avLst/>
          </a:prstGeom>
          <a:noFill/>
        </p:spPr>
        <p:txBody>
          <a:bodyPr wrap="square" rtlCol="0" anchor="t">
            <a:spAutoFit/>
          </a:bodyPr>
          <a:p>
            <a:pPr indent="0" algn="l" fontAlgn="auto">
              <a:lnSpc>
                <a:spcPct val="130000"/>
              </a:lnSpc>
            </a:pPr>
            <a:r>
              <a:rPr lang="zh-CN" altLang="en-US" sz="2000" dirty="0">
                <a:latin typeface="楷体" panose="02010609060101010101" charset="-122"/>
                <a:ea typeface="楷体" panose="02010609060101010101" charset="-122"/>
                <a:cs typeface="楷体" panose="02010609060101010101" charset="-122"/>
                <a:sym typeface="楷体" panose="02010609060101010101" charset="-122"/>
              </a:rPr>
              <a:t>环境知觉是人们在环境外观感觉的基础上对地理环境的整体认识和综合解释的过程，是环境刺激与个体已有知识经验相互作用的结果。环境认知是人们对环境信息再现大脑后的认识，它是人们对地理环境识记再现的一种形态，当人们对以前识记的地理环境再度感知的时候，觉得熟悉，仍能认识，经过进一步分析思考后能够做出知觉判断。</a:t>
            </a:r>
            <a:endParaRPr lang="zh-CN" altLang="en-US" sz="20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30000"/>
              </a:lnSpc>
            </a:pPr>
            <a:r>
              <a:rPr lang="zh-CN" altLang="en-US" sz="2000" dirty="0">
                <a:latin typeface="楷体" panose="02010609060101010101" charset="-122"/>
                <a:ea typeface="楷体" panose="02010609060101010101" charset="-122"/>
                <a:cs typeface="楷体" panose="02010609060101010101" charset="-122"/>
                <a:sym typeface="楷体" panose="02010609060101010101" charset="-122"/>
              </a:rPr>
              <a:t>根据上述定义，下列涉及环境认知的是：</a:t>
            </a:r>
            <a:endParaRPr lang="zh-CN" altLang="en-US" sz="20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30000"/>
              </a:lnSpc>
            </a:pPr>
            <a:r>
              <a:rPr lang="en-US" altLang="zh-CN" sz="2000" dirty="0">
                <a:latin typeface="楷体" panose="02010609060101010101" charset="-122"/>
                <a:ea typeface="楷体" panose="02010609060101010101" charset="-122"/>
                <a:cs typeface="楷体" panose="02010609060101010101" charset="-122"/>
                <a:sym typeface="楷体" panose="02010609060101010101" charset="-122"/>
              </a:rPr>
              <a:t>A.</a:t>
            </a:r>
            <a:r>
              <a:rPr lang="zh-CN" altLang="en-US" sz="2000" dirty="0">
                <a:latin typeface="楷体" panose="02010609060101010101" charset="-122"/>
                <a:ea typeface="楷体" panose="02010609060101010101" charset="-122"/>
                <a:cs typeface="楷体" panose="02010609060101010101" charset="-122"/>
                <a:sym typeface="楷体" panose="02010609060101010101" charset="-122"/>
              </a:rPr>
              <a:t>老杨是生活在一座超大城市的老居民，经常在没有地图导航的情况下从城市北边开车到南边去爬山</a:t>
            </a:r>
            <a:endParaRPr lang="zh-CN" altLang="en-US" sz="20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30000"/>
              </a:lnSpc>
            </a:pPr>
            <a:r>
              <a:rPr lang="en-US" altLang="zh-CN" sz="2000" dirty="0">
                <a:latin typeface="楷体" panose="02010609060101010101" charset="-122"/>
                <a:ea typeface="楷体" panose="02010609060101010101" charset="-122"/>
                <a:cs typeface="楷体" panose="02010609060101010101" charset="-122"/>
                <a:sym typeface="楷体" panose="02010609060101010101" charset="-122"/>
              </a:rPr>
              <a:t>B.</a:t>
            </a:r>
            <a:r>
              <a:rPr lang="zh-CN" altLang="en-US" sz="2000" dirty="0">
                <a:latin typeface="楷体" panose="02010609060101010101" charset="-122"/>
                <a:ea typeface="楷体" panose="02010609060101010101" charset="-122"/>
                <a:cs typeface="楷体" panose="02010609060101010101" charset="-122"/>
                <a:sym typeface="楷体" panose="02010609060101010101" charset="-122"/>
              </a:rPr>
              <a:t>小周是建筑设计师，认为红砖建筑直接暴露建筑材料是</a:t>
            </a:r>
            <a:r>
              <a:rPr lang="en-US" altLang="zh-CN" sz="2000" dirty="0">
                <a:latin typeface="楷体" panose="02010609060101010101" charset="-122"/>
                <a:ea typeface="楷体" panose="02010609060101010101" charset="-122"/>
                <a:cs typeface="楷体" panose="02010609060101010101" charset="-122"/>
                <a:sym typeface="楷体" panose="02010609060101010101" charset="-122"/>
              </a:rPr>
              <a:t>“</a:t>
            </a:r>
            <a:r>
              <a:rPr lang="zh-CN" altLang="en-US" sz="2000" dirty="0">
                <a:latin typeface="楷体" panose="02010609060101010101" charset="-122"/>
                <a:ea typeface="楷体" panose="02010609060101010101" charset="-122"/>
                <a:cs typeface="楷体" panose="02010609060101010101" charset="-122"/>
                <a:sym typeface="楷体" panose="02010609060101010101" charset="-122"/>
              </a:rPr>
              <a:t>纯粹</a:t>
            </a:r>
            <a:r>
              <a:rPr lang="en-US" altLang="zh-CN" sz="2000" dirty="0">
                <a:latin typeface="楷体" panose="02010609060101010101" charset="-122"/>
                <a:ea typeface="楷体" panose="02010609060101010101" charset="-122"/>
                <a:cs typeface="楷体" panose="02010609060101010101" charset="-122"/>
                <a:sym typeface="楷体" panose="02010609060101010101" charset="-122"/>
              </a:rPr>
              <a:t>”</a:t>
            </a:r>
            <a:r>
              <a:rPr lang="zh-CN" altLang="en-US" sz="2000" dirty="0">
                <a:latin typeface="楷体" panose="02010609060101010101" charset="-122"/>
                <a:ea typeface="楷体" panose="02010609060101010101" charset="-122"/>
                <a:cs typeface="楷体" panose="02010609060101010101" charset="-122"/>
                <a:sym typeface="楷体" panose="02010609060101010101" charset="-122"/>
              </a:rPr>
              <a:t>的表现，但小李却认为建筑物不加装修，外观蹩脚</a:t>
            </a:r>
            <a:endParaRPr lang="zh-CN" altLang="en-US" sz="20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30000"/>
              </a:lnSpc>
            </a:pPr>
            <a:r>
              <a:rPr lang="en-US" altLang="zh-CN" sz="2000" dirty="0">
                <a:latin typeface="楷体" panose="02010609060101010101" charset="-122"/>
                <a:ea typeface="楷体" panose="02010609060101010101" charset="-122"/>
                <a:cs typeface="楷体" panose="02010609060101010101" charset="-122"/>
                <a:sym typeface="楷体" panose="02010609060101010101" charset="-122"/>
              </a:rPr>
              <a:t>C.</a:t>
            </a:r>
            <a:r>
              <a:rPr lang="zh-CN" altLang="en-US" sz="2000" dirty="0">
                <a:latin typeface="楷体" panose="02010609060101010101" charset="-122"/>
                <a:ea typeface="楷体" panose="02010609060101010101" charset="-122"/>
                <a:cs typeface="楷体" panose="02010609060101010101" charset="-122"/>
                <a:sym typeface="楷体" panose="02010609060101010101" charset="-122"/>
              </a:rPr>
              <a:t>小朱平时喜欢观看介绍风景名胜的纪录片，特别是关于九寨沟的反复看了好多遍。当她第一次去九寨沟看到那些美景时，一种强烈的熟悉感涌上心头</a:t>
            </a:r>
            <a:endParaRPr lang="zh-CN" altLang="en-US" sz="20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30000"/>
              </a:lnSpc>
            </a:pPr>
            <a:r>
              <a:rPr lang="en-US" altLang="zh-CN" sz="2000" dirty="0">
                <a:latin typeface="楷体" panose="02010609060101010101" charset="-122"/>
                <a:ea typeface="楷体" panose="02010609060101010101" charset="-122"/>
                <a:cs typeface="楷体" panose="02010609060101010101" charset="-122"/>
                <a:sym typeface="楷体" panose="02010609060101010101" charset="-122"/>
              </a:rPr>
              <a:t>D.</a:t>
            </a:r>
            <a:r>
              <a:rPr lang="zh-CN" altLang="en-US" sz="2000" dirty="0">
                <a:latin typeface="楷体" panose="02010609060101010101" charset="-122"/>
                <a:ea typeface="楷体" panose="02010609060101010101" charset="-122"/>
                <a:cs typeface="楷体" panose="02010609060101010101" charset="-122"/>
                <a:sym typeface="楷体" panose="02010609060101010101" charset="-122"/>
              </a:rPr>
              <a:t>小王是专业的地图测绘员，工作时开着装有摄像头和激光雷达的测绘车，对所到之处的街景进行测绘后获得测绘数据，最终形成一份高精度的数字化地图</a:t>
            </a:r>
            <a:endParaRPr lang="zh-CN" altLang="en-US" sz="2000" dirty="0">
              <a:latin typeface="楷体" panose="02010609060101010101" charset="-122"/>
              <a:ea typeface="楷体" panose="02010609060101010101" charset="-122"/>
              <a:cs typeface="楷体" panose="02010609060101010101" charset="-122"/>
              <a:sym typeface="楷体" panose="02010609060101010101" charset="-122"/>
            </a:endParaRP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608400" y="208350"/>
            <a:ext cx="10969200" cy="705600"/>
          </a:xfrm>
        </p:spPr>
        <p:txBody>
          <a:bodyPr/>
          <a:lstStyle/>
          <a:p>
            <a:pPr algn="l">
              <a:buClrTx/>
              <a:buSzTx/>
              <a:buFontTx/>
            </a:pPr>
            <a:r>
              <a:rPr kumimoji="1" lang="zh-CN" sz="3735" b="1" dirty="0">
                <a:solidFill>
                  <a:srgbClr val="FF653F"/>
                </a:solidFill>
                <a:latin typeface="+mj-lt"/>
                <a:ea typeface="+mj-lt"/>
                <a:cs typeface="+mj-lt"/>
              </a:rPr>
              <a:t>题</a:t>
            </a:r>
            <a:r>
              <a:rPr kumimoji="1" lang="en-US" altLang="zh-CN" sz="3735" b="1" dirty="0">
                <a:solidFill>
                  <a:srgbClr val="FF653F"/>
                </a:solidFill>
                <a:latin typeface="+mj-lt"/>
                <a:ea typeface="+mj-lt"/>
                <a:cs typeface="+mj-lt"/>
              </a:rPr>
              <a:t>79</a:t>
            </a:r>
            <a:endParaRPr kumimoji="1" lang="en-US" altLang="zh-CN" sz="3735" b="1" dirty="0">
              <a:solidFill>
                <a:srgbClr val="FF653F"/>
              </a:solidFill>
              <a:latin typeface="+mj-lt"/>
              <a:ea typeface="+mj-lt"/>
              <a:cs typeface="+mj-lt"/>
            </a:endParaRPr>
          </a:p>
        </p:txBody>
      </p:sp>
      <p:sp>
        <p:nvSpPr>
          <p:cNvPr id="4" name="文本框 3"/>
          <p:cNvSpPr txBox="1"/>
          <p:nvPr/>
        </p:nvSpPr>
        <p:spPr>
          <a:xfrm>
            <a:off x="608330" y="756285"/>
            <a:ext cx="10968355" cy="4523105"/>
          </a:xfrm>
          <a:prstGeom prst="rect">
            <a:avLst/>
          </a:prstGeom>
          <a:noFill/>
        </p:spPr>
        <p:txBody>
          <a:bodyPr wrap="square" rtlCol="0" anchor="t">
            <a:spAutoFit/>
          </a:bodyPr>
          <a:p>
            <a:pPr indent="0" algn="l" fontAlgn="auto">
              <a:lnSpc>
                <a:spcPct val="150000"/>
              </a:lnSpc>
            </a:pP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无效运输指的是没有任何经济社会效益的运输，具体是指物资中所包含的无使用价值的那部分杂质的运输，这种运输不仅浪费交通运力，而且消费该物资的单位或企业也得不到保质保量的产品。</a:t>
            </a:r>
            <a:endParaRPr lang="zh-CN" altLang="en-US" sz="24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根据上述定义，下列属于无效运输的是：</a:t>
            </a:r>
            <a:endParaRPr lang="zh-CN" altLang="en-US" sz="24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A.</a:t>
            </a: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某国矿产资源分布不均，由此形成北矿南运、西矿东调的长距离运输</a:t>
            </a:r>
            <a:endParaRPr lang="zh-CN" altLang="en-US" sz="24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B.</a:t>
            </a: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原油中掺杂有超量水分并投入使用时，会增加机器设备被磨损腐蚀风险</a:t>
            </a:r>
            <a:endParaRPr lang="zh-CN" altLang="en-US" sz="24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C.</a:t>
            </a: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运输的原煤中有</a:t>
            </a: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 25%</a:t>
            </a: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是不能用于燃烧的矸石和灰分，造成铁路运力的耗费</a:t>
            </a:r>
            <a:endParaRPr lang="zh-CN" altLang="en-US" sz="24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D.</a:t>
            </a: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向海外运送瓷器时，选择了成本较高的航空运输，没有发挥出水路运输的优势</a:t>
            </a:r>
            <a:endParaRPr lang="zh-CN" altLang="en-US" sz="2400" dirty="0">
              <a:latin typeface="楷体" panose="02010609060101010101" charset="-122"/>
              <a:ea typeface="楷体" panose="02010609060101010101" charset="-122"/>
              <a:cs typeface="楷体" panose="02010609060101010101" charset="-122"/>
              <a:sym typeface="楷体" panose="02010609060101010101" charset="-122"/>
            </a:endParaRP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608400" y="208350"/>
            <a:ext cx="10969200" cy="705600"/>
          </a:xfrm>
        </p:spPr>
        <p:txBody>
          <a:bodyPr/>
          <a:lstStyle/>
          <a:p>
            <a:pPr algn="l">
              <a:buClrTx/>
              <a:buSzTx/>
              <a:buFontTx/>
            </a:pPr>
            <a:r>
              <a:rPr kumimoji="1" lang="zh-CN" sz="3735" b="1" dirty="0">
                <a:solidFill>
                  <a:srgbClr val="FF653F"/>
                </a:solidFill>
                <a:latin typeface="+mj-lt"/>
                <a:ea typeface="+mj-lt"/>
                <a:cs typeface="+mj-lt"/>
              </a:rPr>
              <a:t>题</a:t>
            </a:r>
            <a:r>
              <a:rPr kumimoji="1" lang="en-US" altLang="zh-CN" sz="3735" b="1" dirty="0">
                <a:solidFill>
                  <a:srgbClr val="FF653F"/>
                </a:solidFill>
                <a:latin typeface="+mj-lt"/>
                <a:ea typeface="+mj-lt"/>
                <a:cs typeface="+mj-lt"/>
              </a:rPr>
              <a:t>80</a:t>
            </a:r>
            <a:endParaRPr kumimoji="1" lang="en-US" altLang="zh-CN" sz="3735" b="1" dirty="0">
              <a:solidFill>
                <a:srgbClr val="FF653F"/>
              </a:solidFill>
              <a:latin typeface="+mj-lt"/>
              <a:ea typeface="+mj-lt"/>
              <a:cs typeface="+mj-lt"/>
            </a:endParaRPr>
          </a:p>
        </p:txBody>
      </p:sp>
      <p:sp>
        <p:nvSpPr>
          <p:cNvPr id="4" name="文本框 3"/>
          <p:cNvSpPr txBox="1"/>
          <p:nvPr/>
        </p:nvSpPr>
        <p:spPr>
          <a:xfrm>
            <a:off x="608330" y="756285"/>
            <a:ext cx="10968355" cy="5292725"/>
          </a:xfrm>
          <a:prstGeom prst="rect">
            <a:avLst/>
          </a:prstGeom>
          <a:noFill/>
        </p:spPr>
        <p:txBody>
          <a:bodyPr wrap="square" rtlCol="0" anchor="t">
            <a:spAutoFit/>
          </a:bodyPr>
          <a:p>
            <a:pPr indent="0" algn="l" fontAlgn="auto">
              <a:lnSpc>
                <a:spcPct val="130000"/>
              </a:lnSpc>
            </a:pPr>
            <a:r>
              <a:rPr lang="zh-CN" altLang="en-US" sz="2000" dirty="0">
                <a:latin typeface="楷体" panose="02010609060101010101" charset="-122"/>
                <a:ea typeface="楷体" panose="02010609060101010101" charset="-122"/>
                <a:cs typeface="楷体" panose="02010609060101010101" charset="-122"/>
                <a:sym typeface="楷体" panose="02010609060101010101" charset="-122"/>
              </a:rPr>
              <a:t>结构性进入壁垒是指企业自身无法支配的、外生的，由产品技术特点、资源供给条件、社会法律制度、政府行为以及消费者偏好等因素所形成的壁垒。策略性进入壁垒是指产业内的企业为保持在市场上的主导地位，获取垄断利润，利用自身的优势通过一系列的有意识的策略性行为构筑起的防止潜在进入者进入的壁垒。</a:t>
            </a:r>
            <a:endParaRPr lang="zh-CN" altLang="en-US" sz="20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30000"/>
              </a:lnSpc>
            </a:pPr>
            <a:r>
              <a:rPr lang="zh-CN" altLang="en-US" sz="2000" dirty="0">
                <a:latin typeface="楷体" panose="02010609060101010101" charset="-122"/>
                <a:ea typeface="楷体" panose="02010609060101010101" charset="-122"/>
                <a:cs typeface="楷体" panose="02010609060101010101" charset="-122"/>
                <a:sym typeface="楷体" panose="02010609060101010101" charset="-122"/>
              </a:rPr>
              <a:t>根据上述定义，下列属于策略性进入壁垒的是：</a:t>
            </a:r>
            <a:endParaRPr lang="zh-CN" altLang="en-US" sz="20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30000"/>
              </a:lnSpc>
            </a:pPr>
            <a:r>
              <a:rPr lang="en-US" altLang="zh-CN" sz="2000" dirty="0">
                <a:latin typeface="楷体" panose="02010609060101010101" charset="-122"/>
                <a:ea typeface="楷体" panose="02010609060101010101" charset="-122"/>
                <a:cs typeface="楷体" panose="02010609060101010101" charset="-122"/>
                <a:sym typeface="楷体" panose="02010609060101010101" charset="-122"/>
              </a:rPr>
              <a:t>A.</a:t>
            </a:r>
            <a:r>
              <a:rPr lang="zh-CN" altLang="en-US" sz="2000" dirty="0">
                <a:latin typeface="楷体" panose="02010609060101010101" charset="-122"/>
                <a:ea typeface="楷体" panose="02010609060101010101" charset="-122"/>
                <a:cs typeface="楷体" panose="02010609060101010101" charset="-122"/>
                <a:sym typeface="楷体" panose="02010609060101010101" charset="-122"/>
              </a:rPr>
              <a:t>我国拍摄一部动画片动辄需上百万、数千万人民币资金，且产业链尚未完善，使得规模较小的甲动画投资公司只能望而却步</a:t>
            </a:r>
            <a:endParaRPr lang="zh-CN" altLang="en-US" sz="20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30000"/>
              </a:lnSpc>
            </a:pPr>
            <a:r>
              <a:rPr lang="en-US" altLang="zh-CN" sz="2000" dirty="0">
                <a:latin typeface="楷体" panose="02010609060101010101" charset="-122"/>
                <a:ea typeface="楷体" panose="02010609060101010101" charset="-122"/>
                <a:cs typeface="楷体" panose="02010609060101010101" charset="-122"/>
                <a:sym typeface="楷体" panose="02010609060101010101" charset="-122"/>
              </a:rPr>
              <a:t>B.</a:t>
            </a:r>
            <a:r>
              <a:rPr lang="zh-CN" altLang="en-US" sz="2000" dirty="0">
                <a:latin typeface="楷体" panose="02010609060101010101" charset="-122"/>
                <a:ea typeface="楷体" panose="02010609060101010101" charset="-122"/>
                <a:cs typeface="楷体" panose="02010609060101010101" charset="-122"/>
                <a:sym typeface="楷体" panose="02010609060101010101" charset="-122"/>
              </a:rPr>
              <a:t>乙国汽车厂商在推出一款新车型之前，必须先由政府指定机构对车辆性能进行严格检验，未经检验或未通过检验的车型不得生产</a:t>
            </a:r>
            <a:endParaRPr lang="zh-CN" altLang="en-US" sz="20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30000"/>
              </a:lnSpc>
            </a:pPr>
            <a:r>
              <a:rPr lang="en-US" altLang="zh-CN" sz="2000" dirty="0">
                <a:latin typeface="楷体" panose="02010609060101010101" charset="-122"/>
                <a:ea typeface="楷体" panose="02010609060101010101" charset="-122"/>
                <a:cs typeface="楷体" panose="02010609060101010101" charset="-122"/>
                <a:sym typeface="楷体" panose="02010609060101010101" charset="-122"/>
              </a:rPr>
              <a:t>C.</a:t>
            </a:r>
            <a:r>
              <a:rPr lang="zh-CN" altLang="en-US" sz="2000" dirty="0">
                <a:latin typeface="楷体" panose="02010609060101010101" charset="-122"/>
                <a:ea typeface="楷体" panose="02010609060101010101" charset="-122"/>
                <a:cs typeface="楷体" panose="02010609060101010101" charset="-122"/>
                <a:sym typeface="楷体" panose="02010609060101010101" charset="-122"/>
              </a:rPr>
              <a:t>丙公司在疫情期间看到线上卖菜的商机，在某市设置了多个卖点。但因许多行业巨头已在该城市运营多年，导致丙公司迟迟打不开市场</a:t>
            </a:r>
            <a:endParaRPr lang="zh-CN" altLang="en-US" sz="20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30000"/>
              </a:lnSpc>
            </a:pPr>
            <a:r>
              <a:rPr lang="en-US" altLang="zh-CN" sz="2000" dirty="0">
                <a:latin typeface="楷体" panose="02010609060101010101" charset="-122"/>
                <a:ea typeface="楷体" panose="02010609060101010101" charset="-122"/>
                <a:cs typeface="楷体" panose="02010609060101010101" charset="-122"/>
                <a:sym typeface="楷体" panose="02010609060101010101" charset="-122"/>
              </a:rPr>
              <a:t>D.</a:t>
            </a:r>
            <a:r>
              <a:rPr lang="zh-CN" altLang="en-US" sz="2000" dirty="0">
                <a:latin typeface="楷体" panose="02010609060101010101" charset="-122"/>
                <a:ea typeface="楷体" panose="02010609060101010101" charset="-122"/>
                <a:cs typeface="楷体" panose="02010609060101010101" charset="-122"/>
                <a:sym typeface="楷体" panose="02010609060101010101" charset="-122"/>
              </a:rPr>
              <a:t>乳制品丁公司在某地方市场占有量极大，随着该地乳制品消费量增加，小公司纷纷试水。在此情况下，丁公司经常靠低价促销来巩固市场地位</a:t>
            </a:r>
            <a:endParaRPr lang="zh-CN" altLang="en-US" sz="2000" dirty="0">
              <a:latin typeface="楷体" panose="02010609060101010101" charset="-122"/>
              <a:ea typeface="楷体" panose="02010609060101010101" charset="-122"/>
              <a:cs typeface="楷体" panose="02010609060101010101" charset="-122"/>
              <a:sym typeface="楷体" panose="02010609060101010101" charset="-122"/>
            </a:endParaRP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608400" y="208350"/>
            <a:ext cx="10969200" cy="705600"/>
          </a:xfrm>
        </p:spPr>
        <p:txBody>
          <a:bodyPr/>
          <a:lstStyle/>
          <a:p>
            <a:pPr algn="l">
              <a:buClrTx/>
              <a:buSzTx/>
              <a:buFontTx/>
            </a:pPr>
            <a:r>
              <a:rPr kumimoji="1" lang="zh-CN" sz="3735" b="1" dirty="0">
                <a:solidFill>
                  <a:srgbClr val="FF653F"/>
                </a:solidFill>
                <a:latin typeface="+mj-lt"/>
                <a:ea typeface="+mj-lt"/>
                <a:cs typeface="+mj-lt"/>
              </a:rPr>
              <a:t>题</a:t>
            </a:r>
            <a:r>
              <a:rPr kumimoji="1" lang="en-US" altLang="zh-CN" sz="3735" b="1" dirty="0">
                <a:solidFill>
                  <a:srgbClr val="FF653F"/>
                </a:solidFill>
                <a:latin typeface="+mj-lt"/>
                <a:ea typeface="+mj-lt"/>
                <a:cs typeface="+mj-lt"/>
              </a:rPr>
              <a:t>81</a:t>
            </a:r>
            <a:endParaRPr kumimoji="1" lang="en-US" altLang="zh-CN" sz="3735" b="1" dirty="0">
              <a:solidFill>
                <a:srgbClr val="FF653F"/>
              </a:solidFill>
              <a:latin typeface="+mj-lt"/>
              <a:ea typeface="+mj-lt"/>
              <a:cs typeface="+mj-lt"/>
            </a:endParaRPr>
          </a:p>
        </p:txBody>
      </p:sp>
      <p:sp>
        <p:nvSpPr>
          <p:cNvPr id="4" name="文本框 3"/>
          <p:cNvSpPr txBox="1"/>
          <p:nvPr/>
        </p:nvSpPr>
        <p:spPr>
          <a:xfrm>
            <a:off x="608330" y="756285"/>
            <a:ext cx="10968355" cy="5077460"/>
          </a:xfrm>
          <a:prstGeom prst="rect">
            <a:avLst/>
          </a:prstGeom>
          <a:noFill/>
        </p:spPr>
        <p:txBody>
          <a:bodyPr wrap="square" rtlCol="0" anchor="t">
            <a:spAutoFit/>
          </a:bodyPr>
          <a:p>
            <a:pPr indent="0" algn="l" fontAlgn="auto">
              <a:lnSpc>
                <a:spcPct val="150000"/>
              </a:lnSpc>
            </a:pP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数字产业化，就是通过现代信息技术的市场化应用，将数字化的知识和信息转化为生产要素，通过信息技术创新、管理创新和商业模式创新融合，不断催生新产业、新业态、新模式，最终形成数字产业链和产业集群。</a:t>
            </a:r>
            <a:endParaRPr lang="zh-CN" altLang="en-US" sz="24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根据上述定义，下列属于数字产业化的是：</a:t>
            </a:r>
            <a:endParaRPr lang="zh-CN" altLang="en-US" sz="24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A.</a:t>
            </a: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当下各类打车软件的推出，极大方便了人们的出行</a:t>
            </a:r>
            <a:endParaRPr lang="zh-CN" altLang="en-US" sz="24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B.</a:t>
            </a: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人工智能在汽车生产线中得到广泛应用，极大提升了生产效率</a:t>
            </a:r>
            <a:endParaRPr lang="zh-CN" altLang="en-US" sz="24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C.</a:t>
            </a: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物流公司运用仓储机器人分拣包裏，既减少了人力成本又提升了效率</a:t>
            </a:r>
            <a:endParaRPr lang="zh-CN" altLang="en-US" sz="24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D.</a:t>
            </a: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故宫博物院推出的</a:t>
            </a: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a:t>
            </a: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数字故宫</a:t>
            </a: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a:t>
            </a: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，让世界各地观众身临其境体验到参观故宫的乐趣</a:t>
            </a:r>
            <a:endParaRPr lang="zh-CN" altLang="en-US" sz="2400" dirty="0">
              <a:latin typeface="楷体" panose="02010609060101010101" charset="-122"/>
              <a:ea typeface="楷体" panose="02010609060101010101" charset="-122"/>
              <a:cs typeface="楷体" panose="02010609060101010101" charset="-122"/>
              <a:sym typeface="楷体" panose="02010609060101010101" charset="-122"/>
            </a:endParaRP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608400" y="208350"/>
            <a:ext cx="10969200" cy="705600"/>
          </a:xfrm>
        </p:spPr>
        <p:txBody>
          <a:bodyPr/>
          <a:lstStyle/>
          <a:p>
            <a:pPr algn="l">
              <a:buClrTx/>
              <a:buSzTx/>
              <a:buFontTx/>
            </a:pPr>
            <a:r>
              <a:rPr kumimoji="1" lang="zh-CN" sz="3735" b="1" dirty="0">
                <a:solidFill>
                  <a:srgbClr val="FF653F"/>
                </a:solidFill>
                <a:latin typeface="+mj-lt"/>
                <a:ea typeface="+mj-lt"/>
                <a:cs typeface="+mj-lt"/>
              </a:rPr>
              <a:t>题</a:t>
            </a:r>
            <a:r>
              <a:rPr kumimoji="1" lang="en-US" altLang="zh-CN" sz="3735" b="1" dirty="0">
                <a:solidFill>
                  <a:srgbClr val="FF653F"/>
                </a:solidFill>
                <a:latin typeface="+mj-lt"/>
                <a:ea typeface="+mj-lt"/>
                <a:cs typeface="+mj-lt"/>
              </a:rPr>
              <a:t>82</a:t>
            </a:r>
            <a:endParaRPr kumimoji="1" lang="en-US" altLang="zh-CN" sz="3735" b="1" dirty="0">
              <a:solidFill>
                <a:srgbClr val="FF653F"/>
              </a:solidFill>
              <a:latin typeface="+mj-lt"/>
              <a:ea typeface="+mj-lt"/>
              <a:cs typeface="+mj-lt"/>
            </a:endParaRPr>
          </a:p>
        </p:txBody>
      </p:sp>
      <p:sp>
        <p:nvSpPr>
          <p:cNvPr id="4" name="文本框 3"/>
          <p:cNvSpPr txBox="1"/>
          <p:nvPr/>
        </p:nvSpPr>
        <p:spPr>
          <a:xfrm>
            <a:off x="608330" y="756285"/>
            <a:ext cx="10968355" cy="5631180"/>
          </a:xfrm>
          <a:prstGeom prst="rect">
            <a:avLst/>
          </a:prstGeom>
          <a:noFill/>
        </p:spPr>
        <p:txBody>
          <a:bodyPr wrap="square" rtlCol="0" anchor="t">
            <a:spAutoFit/>
          </a:bodyPr>
          <a:p>
            <a:pPr indent="0" algn="l" fontAlgn="auto">
              <a:lnSpc>
                <a:spcPct val="150000"/>
              </a:lnSpc>
            </a:pP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情绪智力是指个体察觉、处理自我及他人情绪，并利用情绪信息指导行动的能力。</a:t>
            </a:r>
            <a:endParaRPr lang="zh-CN" altLang="en-US" sz="24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根据上述定义，下列属于情绪智力的是：</a:t>
            </a:r>
            <a:endParaRPr lang="zh-CN" altLang="en-US" sz="24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A.</a:t>
            </a: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考试时由于过度紧张，小张脑子一片空白，经过一番调整，终于可以平静地答题了</a:t>
            </a:r>
            <a:endParaRPr lang="zh-CN" altLang="en-US" sz="24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B.</a:t>
            </a: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小赵在路上遇到一条恶狗，吓得她浑身冒冷汗，还好她强装镇定，恶狗终于走开了</a:t>
            </a:r>
            <a:endParaRPr lang="zh-CN" altLang="en-US" sz="24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C.</a:t>
            </a: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小钱与室友发生了矛盾并心生不满，但当她了解到事情原委后，立即主动向室友诚恳道歉</a:t>
            </a:r>
            <a:endParaRPr lang="zh-CN" altLang="en-US" sz="24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D.</a:t>
            </a: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列车乘务员小李被旅客无端指责后，仍然克制地向旅客耐心解释，最终帮旅客解决了问题</a:t>
            </a:r>
            <a:endParaRPr lang="zh-CN" altLang="en-US" sz="2400" dirty="0">
              <a:latin typeface="楷体" panose="02010609060101010101" charset="-122"/>
              <a:ea typeface="楷体" panose="02010609060101010101" charset="-122"/>
              <a:cs typeface="楷体" panose="02010609060101010101" charset="-122"/>
              <a:sym typeface="楷体" panose="02010609060101010101" charset="-122"/>
            </a:endParaRPr>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608400" y="208350"/>
            <a:ext cx="10969200" cy="705600"/>
          </a:xfrm>
        </p:spPr>
        <p:txBody>
          <a:bodyPr/>
          <a:lstStyle/>
          <a:p>
            <a:pPr algn="l">
              <a:buClrTx/>
              <a:buSzTx/>
              <a:buFontTx/>
            </a:pPr>
            <a:r>
              <a:rPr kumimoji="1" lang="zh-CN" sz="3735" b="1" dirty="0">
                <a:solidFill>
                  <a:srgbClr val="FF653F"/>
                </a:solidFill>
                <a:latin typeface="+mj-lt"/>
                <a:ea typeface="+mj-lt"/>
                <a:cs typeface="+mj-lt"/>
              </a:rPr>
              <a:t>题</a:t>
            </a:r>
            <a:r>
              <a:rPr kumimoji="1" lang="en-US" altLang="zh-CN" sz="3735" b="1" dirty="0">
                <a:solidFill>
                  <a:srgbClr val="FF653F"/>
                </a:solidFill>
                <a:latin typeface="+mj-lt"/>
                <a:ea typeface="+mj-lt"/>
                <a:cs typeface="+mj-lt"/>
              </a:rPr>
              <a:t>83</a:t>
            </a:r>
            <a:endParaRPr kumimoji="1" lang="en-US" altLang="zh-CN" sz="3735" b="1" dirty="0">
              <a:solidFill>
                <a:srgbClr val="FF653F"/>
              </a:solidFill>
              <a:latin typeface="+mj-lt"/>
              <a:ea typeface="+mj-lt"/>
              <a:cs typeface="+mj-lt"/>
            </a:endParaRPr>
          </a:p>
        </p:txBody>
      </p:sp>
      <p:sp>
        <p:nvSpPr>
          <p:cNvPr id="4" name="文本框 3"/>
          <p:cNvSpPr txBox="1"/>
          <p:nvPr/>
        </p:nvSpPr>
        <p:spPr>
          <a:xfrm>
            <a:off x="608330" y="756285"/>
            <a:ext cx="10968355" cy="3969385"/>
          </a:xfrm>
          <a:prstGeom prst="rect">
            <a:avLst/>
          </a:prstGeom>
          <a:noFill/>
        </p:spPr>
        <p:txBody>
          <a:bodyPr wrap="square" rtlCol="0" anchor="t">
            <a:spAutoFit/>
          </a:bodyPr>
          <a:p>
            <a:pPr indent="0" algn="l" fontAlgn="auto">
              <a:lnSpc>
                <a:spcPct val="150000"/>
              </a:lnSpc>
            </a:pP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社交敏感指社交场合中个体关注他人对自己行为和社会地位的看法和评价程度。</a:t>
            </a:r>
            <a:endParaRPr lang="zh-CN" altLang="en-US" sz="24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根据上述定义，下列属于社交敏感的是：</a:t>
            </a:r>
            <a:endParaRPr lang="zh-CN" altLang="en-US" sz="24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A.</a:t>
            </a: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为了更好地服务客户，房产中介小亮</a:t>
            </a: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 24 </a:t>
            </a: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小时不关手机，随叫随到</a:t>
            </a:r>
            <a:endParaRPr lang="zh-CN" altLang="en-US" sz="24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B.</a:t>
            </a: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为了吸引粉丝的持续关注，某平台主播小红每天都会变着花样搞怪</a:t>
            </a:r>
            <a:endParaRPr lang="zh-CN" altLang="en-US" sz="24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C.</a:t>
            </a: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为了班集体的荣誉，五年二班的同学力争在本月的卫生评比中赢得流动小红旗</a:t>
            </a:r>
            <a:endParaRPr lang="zh-CN" altLang="en-US" sz="24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D.</a:t>
            </a: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为了让朋友们觉得自己合群，小刘总是和大家一起去西餐厅用餐，尽管她并不喜欢西餐</a:t>
            </a:r>
            <a:endParaRPr lang="zh-CN" altLang="en-US" sz="2400" dirty="0">
              <a:latin typeface="楷体" panose="02010609060101010101" charset="-122"/>
              <a:ea typeface="楷体" panose="02010609060101010101" charset="-122"/>
              <a:cs typeface="楷体" panose="02010609060101010101" charset="-122"/>
              <a:sym typeface="楷体" panose="02010609060101010101" charset="-122"/>
            </a:endParaRP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608400" y="208350"/>
            <a:ext cx="10969200" cy="705600"/>
          </a:xfrm>
        </p:spPr>
        <p:txBody>
          <a:bodyPr/>
          <a:lstStyle/>
          <a:p>
            <a:pPr algn="l">
              <a:buClrTx/>
              <a:buSzTx/>
              <a:buFontTx/>
            </a:pPr>
            <a:r>
              <a:rPr kumimoji="1" lang="zh-CN" sz="3735" b="1" dirty="0">
                <a:solidFill>
                  <a:srgbClr val="FF653F"/>
                </a:solidFill>
                <a:latin typeface="+mj-lt"/>
                <a:ea typeface="+mj-lt"/>
                <a:cs typeface="+mj-lt"/>
              </a:rPr>
              <a:t>题</a:t>
            </a:r>
            <a:r>
              <a:rPr kumimoji="1" lang="en-US" altLang="zh-CN" sz="3735" b="1" dirty="0">
                <a:solidFill>
                  <a:srgbClr val="FF653F"/>
                </a:solidFill>
                <a:latin typeface="+mj-lt"/>
                <a:ea typeface="+mj-lt"/>
                <a:cs typeface="+mj-lt"/>
              </a:rPr>
              <a:t>84</a:t>
            </a:r>
            <a:endParaRPr kumimoji="1" lang="en-US" altLang="zh-CN" sz="3735" b="1" dirty="0">
              <a:solidFill>
                <a:srgbClr val="FF653F"/>
              </a:solidFill>
              <a:latin typeface="+mj-lt"/>
              <a:ea typeface="+mj-lt"/>
              <a:cs typeface="+mj-lt"/>
            </a:endParaRPr>
          </a:p>
        </p:txBody>
      </p:sp>
      <p:sp>
        <p:nvSpPr>
          <p:cNvPr id="4" name="文本框 3"/>
          <p:cNvSpPr txBox="1"/>
          <p:nvPr/>
        </p:nvSpPr>
        <p:spPr>
          <a:xfrm>
            <a:off x="608330" y="756285"/>
            <a:ext cx="10968355" cy="3969385"/>
          </a:xfrm>
          <a:prstGeom prst="rect">
            <a:avLst/>
          </a:prstGeom>
          <a:noFill/>
        </p:spPr>
        <p:txBody>
          <a:bodyPr wrap="square" rtlCol="0" anchor="t">
            <a:spAutoFit/>
          </a:bodyPr>
          <a:p>
            <a:pPr indent="0" algn="l" fontAlgn="auto">
              <a:lnSpc>
                <a:spcPct val="150000"/>
              </a:lnSpc>
            </a:pP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认识性好奇心是由新颖的知识、复杂的概念、晦涩难懂的理论或尚未解决的难题引起的个体想要探究知识的渴望，进而引起探索的行为。</a:t>
            </a:r>
            <a:endParaRPr lang="zh-CN" altLang="en-US" sz="24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根据上述定义，下列属于认识性好奇心的是：</a:t>
            </a:r>
            <a:endParaRPr lang="zh-CN" altLang="en-US" sz="24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A.</a:t>
            </a: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小朋友被空中飞舞的雪花所吸引，试着伸手去抓</a:t>
            </a:r>
            <a:endParaRPr lang="zh-CN" altLang="en-US" sz="24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B.</a:t>
            </a: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孩子看到父亲在房间打游戏，不由自主凑了上去</a:t>
            </a:r>
            <a:endParaRPr lang="zh-CN" altLang="en-US" sz="24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C.</a:t>
            </a: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二年级的小学生遇到不认识的字会主动去查字典</a:t>
            </a:r>
            <a:endParaRPr lang="zh-CN" altLang="en-US" sz="24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D.</a:t>
            </a: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老师通过课堂提问的方式督促学生进行自主思考</a:t>
            </a:r>
            <a:endParaRPr lang="zh-CN" altLang="en-US" sz="2400" dirty="0">
              <a:latin typeface="楷体" panose="02010609060101010101" charset="-122"/>
              <a:ea typeface="楷体" panose="02010609060101010101" charset="-122"/>
              <a:cs typeface="楷体" panose="02010609060101010101" charset="-122"/>
              <a:sym typeface="楷体" panose="02010609060101010101" charset="-122"/>
            </a:endParaRPr>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608400" y="208350"/>
            <a:ext cx="10969200" cy="705600"/>
          </a:xfrm>
        </p:spPr>
        <p:txBody>
          <a:bodyPr/>
          <a:lstStyle/>
          <a:p>
            <a:pPr algn="l">
              <a:buClrTx/>
              <a:buSzTx/>
              <a:buFontTx/>
            </a:pPr>
            <a:r>
              <a:rPr kumimoji="1" lang="zh-CN" sz="3735" b="1" dirty="0">
                <a:solidFill>
                  <a:srgbClr val="FF653F"/>
                </a:solidFill>
                <a:latin typeface="+mj-lt"/>
                <a:ea typeface="+mj-lt"/>
                <a:cs typeface="+mj-lt"/>
              </a:rPr>
              <a:t>题</a:t>
            </a:r>
            <a:r>
              <a:rPr kumimoji="1" lang="en-US" altLang="zh-CN" sz="3735" b="1" dirty="0">
                <a:solidFill>
                  <a:srgbClr val="FF653F"/>
                </a:solidFill>
                <a:latin typeface="+mj-lt"/>
                <a:ea typeface="+mj-lt"/>
                <a:cs typeface="+mj-lt"/>
              </a:rPr>
              <a:t>85</a:t>
            </a:r>
            <a:endParaRPr kumimoji="1" lang="en-US" altLang="zh-CN" sz="3735" b="1" dirty="0">
              <a:solidFill>
                <a:srgbClr val="FF653F"/>
              </a:solidFill>
              <a:latin typeface="+mj-lt"/>
              <a:ea typeface="+mj-lt"/>
              <a:cs typeface="+mj-lt"/>
            </a:endParaRPr>
          </a:p>
        </p:txBody>
      </p:sp>
      <p:sp>
        <p:nvSpPr>
          <p:cNvPr id="4" name="文本框 3"/>
          <p:cNvSpPr txBox="1"/>
          <p:nvPr/>
        </p:nvSpPr>
        <p:spPr>
          <a:xfrm>
            <a:off x="608330" y="756285"/>
            <a:ext cx="10968355" cy="4661535"/>
          </a:xfrm>
          <a:prstGeom prst="rect">
            <a:avLst/>
          </a:prstGeom>
          <a:noFill/>
        </p:spPr>
        <p:txBody>
          <a:bodyPr wrap="square" rtlCol="0" anchor="t">
            <a:spAutoFit/>
          </a:bodyPr>
          <a:p>
            <a:pPr indent="0" algn="l" fontAlgn="auto">
              <a:lnSpc>
                <a:spcPct val="150000"/>
              </a:lnSpc>
            </a:pPr>
            <a:r>
              <a:rPr lang="zh-CN" altLang="en-US" sz="2200" dirty="0">
                <a:latin typeface="楷体" panose="02010609060101010101" charset="-122"/>
                <a:ea typeface="楷体" panose="02010609060101010101" charset="-122"/>
                <a:cs typeface="楷体" panose="02010609060101010101" charset="-122"/>
                <a:sym typeface="楷体" panose="02010609060101010101" charset="-122"/>
              </a:rPr>
              <a:t>生物多样性评估是指以生物多样性保护和可持续利用为目的而开展的基因、物种和生态系统多样性调查和评价活动。由于生物多样性评估依赖于数据的可获取性，许多情况下受直接测定的限制，人们不得不采取代理指标评估方法，即运用一类与生物多样性及其时空分布具有统计相关性的特殊生物类群或环境因子进行评估的方法。</a:t>
            </a:r>
            <a:endParaRPr lang="zh-CN" altLang="en-US" sz="22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zh-CN" altLang="en-US" sz="2200" dirty="0">
                <a:latin typeface="楷体" panose="02010609060101010101" charset="-122"/>
                <a:ea typeface="楷体" panose="02010609060101010101" charset="-122"/>
                <a:cs typeface="楷体" panose="02010609060101010101" charset="-122"/>
                <a:sym typeface="楷体" panose="02010609060101010101" charset="-122"/>
              </a:rPr>
              <a:t>根据上述定义，下列体现了生物多样性代理指标评估方法的是：</a:t>
            </a:r>
            <a:endParaRPr lang="zh-CN" altLang="en-US" sz="22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200" dirty="0">
                <a:latin typeface="楷体" panose="02010609060101010101" charset="-122"/>
                <a:ea typeface="楷体" panose="02010609060101010101" charset="-122"/>
                <a:cs typeface="楷体" panose="02010609060101010101" charset="-122"/>
                <a:sym typeface="楷体" panose="02010609060101010101" charset="-122"/>
              </a:rPr>
              <a:t>A.</a:t>
            </a:r>
            <a:r>
              <a:rPr lang="zh-CN" altLang="en-US" sz="2200" dirty="0">
                <a:latin typeface="楷体" panose="02010609060101010101" charset="-122"/>
                <a:ea typeface="楷体" panose="02010609060101010101" charset="-122"/>
                <a:cs typeface="楷体" panose="02010609060101010101" charset="-122"/>
                <a:sym typeface="楷体" panose="02010609060101010101" charset="-122"/>
              </a:rPr>
              <a:t>利用遥感数据绘制景观图像，评估某地区物种组成的丰富度</a:t>
            </a:r>
            <a:endParaRPr lang="zh-CN" altLang="en-US" sz="22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200" dirty="0">
                <a:latin typeface="楷体" panose="02010609060101010101" charset="-122"/>
                <a:ea typeface="楷体" panose="02010609060101010101" charset="-122"/>
                <a:cs typeface="楷体" panose="02010609060101010101" charset="-122"/>
                <a:sym typeface="楷体" panose="02010609060101010101" charset="-122"/>
              </a:rPr>
              <a:t>B.</a:t>
            </a:r>
            <a:r>
              <a:rPr lang="zh-CN" altLang="en-US" sz="2200" dirty="0">
                <a:latin typeface="楷体" panose="02010609060101010101" charset="-122"/>
                <a:ea typeface="楷体" panose="02010609060101010101" charset="-122"/>
                <a:cs typeface="楷体" panose="02010609060101010101" charset="-122"/>
                <a:sym typeface="楷体" panose="02010609060101010101" charset="-122"/>
              </a:rPr>
              <a:t>采用野生鸟类（或蝴蝶）指数判断某区域生态系统的保护状态</a:t>
            </a:r>
            <a:endParaRPr lang="zh-CN" altLang="en-US" sz="22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200" dirty="0">
                <a:latin typeface="楷体" panose="02010609060101010101" charset="-122"/>
                <a:ea typeface="楷体" panose="02010609060101010101" charset="-122"/>
                <a:cs typeface="楷体" panose="02010609060101010101" charset="-122"/>
                <a:sym typeface="楷体" panose="02010609060101010101" charset="-122"/>
              </a:rPr>
              <a:t>C.</a:t>
            </a:r>
            <a:r>
              <a:rPr lang="zh-CN" altLang="en-US" sz="2200" dirty="0">
                <a:latin typeface="楷体" panose="02010609060101010101" charset="-122"/>
                <a:ea typeface="楷体" panose="02010609060101010101" charset="-122"/>
                <a:cs typeface="楷体" panose="02010609060101010101" charset="-122"/>
                <a:sym typeface="楷体" panose="02010609060101010101" charset="-122"/>
              </a:rPr>
              <a:t>建立物种</a:t>
            </a:r>
            <a:r>
              <a:rPr lang="en-US" altLang="zh-CN" sz="2200" dirty="0">
                <a:latin typeface="楷体" panose="02010609060101010101" charset="-122"/>
                <a:ea typeface="楷体" panose="02010609060101010101" charset="-122"/>
                <a:cs typeface="楷体" panose="02010609060101010101" charset="-122"/>
                <a:sym typeface="楷体" panose="02010609060101010101" charset="-122"/>
              </a:rPr>
              <a:t>-</a:t>
            </a:r>
            <a:r>
              <a:rPr lang="zh-CN" altLang="en-US" sz="2200" dirty="0">
                <a:latin typeface="楷体" panose="02010609060101010101" charset="-122"/>
                <a:ea typeface="楷体" panose="02010609060101010101" charset="-122"/>
                <a:cs typeface="楷体" panose="02010609060101010101" charset="-122"/>
                <a:sym typeface="楷体" panose="02010609060101010101" charset="-122"/>
              </a:rPr>
              <a:t>面积关系模型，评估某栖息地丧失对特定生物种群的影响</a:t>
            </a:r>
            <a:endParaRPr lang="zh-CN" altLang="en-US" sz="22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200" dirty="0">
                <a:latin typeface="楷体" panose="02010609060101010101" charset="-122"/>
                <a:ea typeface="楷体" panose="02010609060101010101" charset="-122"/>
                <a:cs typeface="楷体" panose="02010609060101010101" charset="-122"/>
                <a:sym typeface="楷体" panose="02010609060101010101" charset="-122"/>
              </a:rPr>
              <a:t>D.</a:t>
            </a:r>
            <a:r>
              <a:rPr lang="zh-CN" altLang="en-US" sz="2200" dirty="0">
                <a:latin typeface="楷体" panose="02010609060101010101" charset="-122"/>
                <a:ea typeface="楷体" panose="02010609060101010101" charset="-122"/>
                <a:cs typeface="楷体" panose="02010609060101010101" charset="-122"/>
                <a:sym typeface="楷体" panose="02010609060101010101" charset="-122"/>
              </a:rPr>
              <a:t>选择地理因子将某区域划分为</a:t>
            </a:r>
            <a:r>
              <a:rPr lang="en-US" altLang="zh-CN" sz="2200" dirty="0">
                <a:latin typeface="楷体" panose="02010609060101010101" charset="-122"/>
                <a:ea typeface="楷体" panose="02010609060101010101" charset="-122"/>
                <a:cs typeface="楷体" panose="02010609060101010101" charset="-122"/>
                <a:sym typeface="楷体" panose="02010609060101010101" charset="-122"/>
              </a:rPr>
              <a:t> 5 </a:t>
            </a:r>
            <a:r>
              <a:rPr lang="zh-CN" altLang="en-US" sz="2200" dirty="0">
                <a:latin typeface="楷体" panose="02010609060101010101" charset="-122"/>
                <a:ea typeface="楷体" panose="02010609060101010101" charset="-122"/>
                <a:cs typeface="楷体" panose="02010609060101010101" charset="-122"/>
                <a:sym typeface="楷体" panose="02010609060101010101" charset="-122"/>
              </a:rPr>
              <a:t>个生物大区、</a:t>
            </a:r>
            <a:r>
              <a:rPr lang="en-US" altLang="zh-CN" sz="2200" dirty="0">
                <a:latin typeface="楷体" panose="02010609060101010101" charset="-122"/>
                <a:ea typeface="楷体" panose="02010609060101010101" charset="-122"/>
                <a:cs typeface="楷体" panose="02010609060101010101" charset="-122"/>
                <a:sym typeface="楷体" panose="02010609060101010101" charset="-122"/>
              </a:rPr>
              <a:t>7 </a:t>
            </a:r>
            <a:r>
              <a:rPr lang="zh-CN" altLang="en-US" sz="2200" dirty="0">
                <a:latin typeface="楷体" panose="02010609060101010101" charset="-122"/>
                <a:ea typeface="楷体" panose="02010609060101010101" charset="-122"/>
                <a:cs typeface="楷体" panose="02010609060101010101" charset="-122"/>
                <a:sym typeface="楷体" panose="02010609060101010101" charset="-122"/>
              </a:rPr>
              <a:t>个生物亚区和</a:t>
            </a:r>
            <a:r>
              <a:rPr lang="en-US" altLang="zh-CN" sz="2200" dirty="0">
                <a:latin typeface="楷体" panose="02010609060101010101" charset="-122"/>
                <a:ea typeface="楷体" panose="02010609060101010101" charset="-122"/>
                <a:cs typeface="楷体" panose="02010609060101010101" charset="-122"/>
                <a:sym typeface="楷体" panose="02010609060101010101" charset="-122"/>
              </a:rPr>
              <a:t> 18 </a:t>
            </a:r>
            <a:r>
              <a:rPr lang="zh-CN" altLang="en-US" sz="2200" dirty="0">
                <a:latin typeface="楷体" panose="02010609060101010101" charset="-122"/>
                <a:ea typeface="楷体" panose="02010609060101010101" charset="-122"/>
                <a:cs typeface="楷体" panose="02010609060101010101" charset="-122"/>
                <a:sym typeface="楷体" panose="02010609060101010101" charset="-122"/>
              </a:rPr>
              <a:t>个生物群区</a:t>
            </a:r>
            <a:endParaRPr lang="zh-CN" altLang="en-US" sz="2200" dirty="0">
              <a:latin typeface="楷体" panose="02010609060101010101" charset="-122"/>
              <a:ea typeface="楷体" panose="02010609060101010101" charset="-122"/>
              <a:cs typeface="楷体" panose="02010609060101010101" charset="-122"/>
              <a:sym typeface="楷体" panose="02010609060101010101" charset="-122"/>
            </a:endParaRPr>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608400" y="208350"/>
            <a:ext cx="10969200" cy="705600"/>
          </a:xfrm>
        </p:spPr>
        <p:txBody>
          <a:bodyPr/>
          <a:lstStyle/>
          <a:p>
            <a:pPr algn="l">
              <a:buClrTx/>
              <a:buSzTx/>
              <a:buFontTx/>
            </a:pPr>
            <a:r>
              <a:rPr kumimoji="1" lang="zh-CN" sz="3735" b="1" dirty="0">
                <a:solidFill>
                  <a:srgbClr val="FF653F"/>
                </a:solidFill>
                <a:latin typeface="+mj-lt"/>
                <a:ea typeface="+mj-lt"/>
                <a:cs typeface="+mj-lt"/>
              </a:rPr>
              <a:t>题</a:t>
            </a:r>
            <a:r>
              <a:rPr kumimoji="1" lang="en-US" altLang="zh-CN" sz="3735" b="1" dirty="0">
                <a:solidFill>
                  <a:srgbClr val="FF653F"/>
                </a:solidFill>
                <a:latin typeface="+mj-lt"/>
                <a:ea typeface="+mj-lt"/>
                <a:cs typeface="+mj-lt"/>
              </a:rPr>
              <a:t>86</a:t>
            </a:r>
            <a:endParaRPr kumimoji="1" lang="en-US" altLang="zh-CN" sz="3735" b="1" dirty="0">
              <a:solidFill>
                <a:srgbClr val="FF653F"/>
              </a:solidFill>
              <a:latin typeface="+mj-lt"/>
              <a:ea typeface="+mj-lt"/>
              <a:cs typeface="+mj-lt"/>
            </a:endParaRPr>
          </a:p>
        </p:txBody>
      </p:sp>
      <p:sp>
        <p:nvSpPr>
          <p:cNvPr id="4" name="文本框 3"/>
          <p:cNvSpPr txBox="1"/>
          <p:nvPr/>
        </p:nvSpPr>
        <p:spPr>
          <a:xfrm>
            <a:off x="608330" y="756285"/>
            <a:ext cx="10968355" cy="2861310"/>
          </a:xfrm>
          <a:prstGeom prst="rect">
            <a:avLst/>
          </a:prstGeom>
          <a:noFill/>
        </p:spPr>
        <p:txBody>
          <a:bodyPr wrap="square" rtlCol="0" anchor="t">
            <a:spAutoFit/>
          </a:bodyPr>
          <a:p>
            <a:pPr indent="0" algn="l" fontAlgn="auto">
              <a:lnSpc>
                <a:spcPct val="150000"/>
              </a:lnSpc>
            </a:pP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霜降：秋季</a:t>
            </a:r>
            <a:endParaRPr lang="zh-CN" altLang="en-US" sz="24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A.</a:t>
            </a: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雨水：春季</a:t>
            </a:r>
            <a:endParaRPr lang="zh-CN" altLang="en-US" sz="24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B.</a:t>
            </a: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大暑：夏季</a:t>
            </a:r>
            <a:endParaRPr lang="zh-CN" altLang="en-US" sz="24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C.</a:t>
            </a: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清明：雨季</a:t>
            </a:r>
            <a:endParaRPr lang="zh-CN" altLang="en-US" sz="24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D.</a:t>
            </a: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冬至：冬季</a:t>
            </a:r>
            <a:endParaRPr lang="zh-CN" altLang="en-US" sz="2400" dirty="0">
              <a:latin typeface="楷体" panose="02010609060101010101" charset="-122"/>
              <a:ea typeface="楷体" panose="02010609060101010101" charset="-122"/>
              <a:cs typeface="楷体" panose="02010609060101010101" charset="-122"/>
              <a:sym typeface="楷体" panose="02010609060101010101" charset="-122"/>
            </a:endParaRPr>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608400" y="208350"/>
            <a:ext cx="10969200" cy="705600"/>
          </a:xfrm>
        </p:spPr>
        <p:txBody>
          <a:bodyPr/>
          <a:lstStyle/>
          <a:p>
            <a:pPr algn="l">
              <a:buClrTx/>
              <a:buSzTx/>
              <a:buFontTx/>
            </a:pPr>
            <a:r>
              <a:rPr kumimoji="1" lang="zh-CN" sz="3735" b="1" dirty="0">
                <a:solidFill>
                  <a:srgbClr val="FF653F"/>
                </a:solidFill>
                <a:latin typeface="+mj-lt"/>
                <a:ea typeface="+mj-lt"/>
                <a:cs typeface="+mj-lt"/>
              </a:rPr>
              <a:t>题</a:t>
            </a:r>
            <a:r>
              <a:rPr kumimoji="1" lang="en-US" altLang="zh-CN" sz="3735" b="1" dirty="0">
                <a:solidFill>
                  <a:srgbClr val="FF653F"/>
                </a:solidFill>
                <a:latin typeface="+mj-lt"/>
                <a:ea typeface="+mj-lt"/>
                <a:cs typeface="+mj-lt"/>
              </a:rPr>
              <a:t>87</a:t>
            </a:r>
            <a:endParaRPr kumimoji="1" lang="en-US" altLang="zh-CN" sz="3735" b="1" dirty="0">
              <a:solidFill>
                <a:srgbClr val="FF653F"/>
              </a:solidFill>
              <a:latin typeface="+mj-lt"/>
              <a:ea typeface="+mj-lt"/>
              <a:cs typeface="+mj-lt"/>
            </a:endParaRPr>
          </a:p>
        </p:txBody>
      </p:sp>
      <p:sp>
        <p:nvSpPr>
          <p:cNvPr id="4" name="文本框 3"/>
          <p:cNvSpPr txBox="1"/>
          <p:nvPr/>
        </p:nvSpPr>
        <p:spPr>
          <a:xfrm>
            <a:off x="608330" y="756285"/>
            <a:ext cx="10968355" cy="2861310"/>
          </a:xfrm>
          <a:prstGeom prst="rect">
            <a:avLst/>
          </a:prstGeom>
          <a:noFill/>
        </p:spPr>
        <p:txBody>
          <a:bodyPr wrap="square" rtlCol="0" anchor="t">
            <a:spAutoFit/>
          </a:bodyPr>
          <a:p>
            <a:pPr indent="0" algn="l" fontAlgn="auto">
              <a:lnSpc>
                <a:spcPct val="150000"/>
              </a:lnSpc>
            </a:pP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报纸编辑：期刊编辑：编辑</a:t>
            </a:r>
            <a:endParaRPr lang="zh-CN" altLang="en-US" sz="24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A.</a:t>
            </a: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小学教师：民办教师：教师</a:t>
            </a:r>
            <a:endParaRPr lang="zh-CN" altLang="en-US" sz="24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B.</a:t>
            </a: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青年律师：民事律师：律师</a:t>
            </a:r>
            <a:endParaRPr lang="zh-CN" altLang="en-US" sz="24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C.</a:t>
            </a: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影视导演：网剧导演：导演</a:t>
            </a:r>
            <a:endParaRPr lang="zh-CN" altLang="en-US" sz="24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D.</a:t>
            </a: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城市规划：乡村规划：规划</a:t>
            </a:r>
            <a:endParaRPr lang="zh-CN" altLang="en-US" sz="2400" dirty="0">
              <a:latin typeface="楷体" panose="02010609060101010101" charset="-122"/>
              <a:ea typeface="楷体" panose="02010609060101010101" charset="-122"/>
              <a:cs typeface="楷体" panose="02010609060101010101" charset="-122"/>
              <a:sym typeface="楷体" panose="02010609060101010101" charset="-122"/>
            </a:endParaRPr>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608400" y="208350"/>
            <a:ext cx="10969200" cy="705600"/>
          </a:xfrm>
        </p:spPr>
        <p:txBody>
          <a:bodyPr/>
          <a:lstStyle/>
          <a:p>
            <a:pPr algn="l">
              <a:buClrTx/>
              <a:buSzTx/>
              <a:buFontTx/>
            </a:pPr>
            <a:r>
              <a:rPr kumimoji="1" lang="zh-CN" sz="3735" b="1" dirty="0">
                <a:solidFill>
                  <a:srgbClr val="FF653F"/>
                </a:solidFill>
                <a:latin typeface="+mj-lt"/>
                <a:ea typeface="+mj-lt"/>
                <a:cs typeface="+mj-lt"/>
              </a:rPr>
              <a:t>题</a:t>
            </a:r>
            <a:r>
              <a:rPr kumimoji="1" lang="en-US" altLang="zh-CN" sz="3735" b="1" dirty="0">
                <a:solidFill>
                  <a:srgbClr val="FF653F"/>
                </a:solidFill>
                <a:latin typeface="+mj-lt"/>
                <a:ea typeface="+mj-lt"/>
                <a:cs typeface="+mj-lt"/>
              </a:rPr>
              <a:t>88</a:t>
            </a:r>
            <a:endParaRPr kumimoji="1" lang="en-US" altLang="zh-CN" sz="3735" b="1" dirty="0">
              <a:solidFill>
                <a:srgbClr val="FF653F"/>
              </a:solidFill>
              <a:latin typeface="+mj-lt"/>
              <a:ea typeface="+mj-lt"/>
              <a:cs typeface="+mj-lt"/>
            </a:endParaRPr>
          </a:p>
        </p:txBody>
      </p:sp>
      <p:sp>
        <p:nvSpPr>
          <p:cNvPr id="4" name="文本框 3"/>
          <p:cNvSpPr txBox="1"/>
          <p:nvPr/>
        </p:nvSpPr>
        <p:spPr>
          <a:xfrm>
            <a:off x="608330" y="756285"/>
            <a:ext cx="10968355" cy="2861310"/>
          </a:xfrm>
          <a:prstGeom prst="rect">
            <a:avLst/>
          </a:prstGeom>
          <a:noFill/>
        </p:spPr>
        <p:txBody>
          <a:bodyPr wrap="square" rtlCol="0" anchor="t">
            <a:spAutoFit/>
          </a:bodyPr>
          <a:p>
            <a:pPr indent="0" algn="l" fontAlgn="auto">
              <a:lnSpc>
                <a:spcPct val="150000"/>
              </a:lnSpc>
            </a:pP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道路：桥梁：市政设施</a:t>
            </a:r>
            <a:endParaRPr lang="zh-CN" altLang="en-US" sz="24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A.</a:t>
            </a: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教育：医疗：社会服务</a:t>
            </a:r>
            <a:endParaRPr lang="zh-CN" altLang="en-US" sz="24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B.</a:t>
            </a: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养老：托育：社区工作</a:t>
            </a:r>
            <a:endParaRPr lang="zh-CN" altLang="en-US" sz="24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C.</a:t>
            </a: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足球：球场：体育设施</a:t>
            </a:r>
            <a:endParaRPr lang="zh-CN" altLang="en-US" sz="24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D.</a:t>
            </a: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防汛：抗震：应急管理</a:t>
            </a:r>
            <a:endParaRPr lang="zh-CN" altLang="en-US" sz="2400" dirty="0">
              <a:latin typeface="楷体" panose="02010609060101010101" charset="-122"/>
              <a:ea typeface="楷体" panose="02010609060101010101" charset="-122"/>
              <a:cs typeface="楷体" panose="02010609060101010101" charset="-122"/>
              <a:sym typeface="楷体" panose="02010609060101010101" charset="-122"/>
            </a:endParaRPr>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608400" y="208350"/>
            <a:ext cx="10969200" cy="705600"/>
          </a:xfrm>
        </p:spPr>
        <p:txBody>
          <a:bodyPr/>
          <a:lstStyle/>
          <a:p>
            <a:pPr algn="l">
              <a:buClrTx/>
              <a:buSzTx/>
              <a:buFontTx/>
            </a:pPr>
            <a:r>
              <a:rPr kumimoji="1" lang="zh-CN" sz="3735" b="1" dirty="0">
                <a:solidFill>
                  <a:srgbClr val="FF653F"/>
                </a:solidFill>
                <a:latin typeface="+mj-lt"/>
                <a:ea typeface="+mj-lt"/>
                <a:cs typeface="+mj-lt"/>
              </a:rPr>
              <a:t>题</a:t>
            </a:r>
            <a:r>
              <a:rPr kumimoji="1" lang="en-US" altLang="zh-CN" sz="3735" b="1" dirty="0">
                <a:solidFill>
                  <a:srgbClr val="FF653F"/>
                </a:solidFill>
                <a:latin typeface="+mj-lt"/>
                <a:ea typeface="+mj-lt"/>
                <a:cs typeface="+mj-lt"/>
              </a:rPr>
              <a:t>89</a:t>
            </a:r>
            <a:endParaRPr kumimoji="1" lang="en-US" altLang="zh-CN" sz="3735" b="1" dirty="0">
              <a:solidFill>
                <a:srgbClr val="FF653F"/>
              </a:solidFill>
              <a:latin typeface="+mj-lt"/>
              <a:ea typeface="+mj-lt"/>
              <a:cs typeface="+mj-lt"/>
            </a:endParaRPr>
          </a:p>
        </p:txBody>
      </p:sp>
      <p:sp>
        <p:nvSpPr>
          <p:cNvPr id="4" name="文本框 3"/>
          <p:cNvSpPr txBox="1"/>
          <p:nvPr/>
        </p:nvSpPr>
        <p:spPr>
          <a:xfrm>
            <a:off x="608330" y="756285"/>
            <a:ext cx="10968355" cy="2861310"/>
          </a:xfrm>
          <a:prstGeom prst="rect">
            <a:avLst/>
          </a:prstGeom>
          <a:noFill/>
        </p:spPr>
        <p:txBody>
          <a:bodyPr wrap="square" rtlCol="0" anchor="t">
            <a:spAutoFit/>
          </a:bodyPr>
          <a:p>
            <a:pPr indent="0" algn="l" fontAlgn="auto">
              <a:lnSpc>
                <a:spcPct val="150000"/>
              </a:lnSpc>
            </a:pP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国家发展：民族进步：社会和谐</a:t>
            </a:r>
            <a:endParaRPr lang="zh-CN" altLang="en-US" sz="24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A.</a:t>
            </a: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农村美丽：民风淳朴：农家幸福</a:t>
            </a:r>
            <a:endParaRPr lang="zh-CN" altLang="en-US" sz="24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B.</a:t>
            </a: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榜样力量：鼓舞人心：引导征程</a:t>
            </a:r>
            <a:endParaRPr lang="zh-CN" altLang="en-US" sz="24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C.</a:t>
            </a: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智慧增长：信心增强：干劲增大</a:t>
            </a:r>
            <a:endParaRPr lang="zh-CN" altLang="en-US" sz="24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D.</a:t>
            </a: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传统习惯：文化底蕴：历史传承</a:t>
            </a:r>
            <a:endParaRPr lang="zh-CN" altLang="en-US" sz="2400" dirty="0">
              <a:latin typeface="楷体" panose="02010609060101010101" charset="-122"/>
              <a:ea typeface="楷体" panose="02010609060101010101" charset="-122"/>
              <a:cs typeface="楷体" panose="02010609060101010101" charset="-122"/>
              <a:sym typeface="楷体" panose="02010609060101010101" charset="-122"/>
            </a:endParaRPr>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608400" y="208350"/>
            <a:ext cx="10969200" cy="705600"/>
          </a:xfrm>
        </p:spPr>
        <p:txBody>
          <a:bodyPr/>
          <a:lstStyle/>
          <a:p>
            <a:pPr algn="l">
              <a:buClrTx/>
              <a:buSzTx/>
              <a:buFontTx/>
            </a:pPr>
            <a:r>
              <a:rPr kumimoji="1" lang="zh-CN" sz="3735" b="1" dirty="0">
                <a:solidFill>
                  <a:srgbClr val="FF653F"/>
                </a:solidFill>
                <a:latin typeface="+mj-lt"/>
                <a:ea typeface="+mj-lt"/>
                <a:cs typeface="+mj-lt"/>
              </a:rPr>
              <a:t>题</a:t>
            </a:r>
            <a:r>
              <a:rPr kumimoji="1" lang="en-US" altLang="zh-CN" sz="3735" b="1" dirty="0">
                <a:solidFill>
                  <a:srgbClr val="FF653F"/>
                </a:solidFill>
                <a:latin typeface="+mj-lt"/>
                <a:ea typeface="+mj-lt"/>
                <a:cs typeface="+mj-lt"/>
              </a:rPr>
              <a:t>90</a:t>
            </a:r>
            <a:endParaRPr kumimoji="1" lang="en-US" altLang="zh-CN" sz="3735" b="1" dirty="0">
              <a:solidFill>
                <a:srgbClr val="FF653F"/>
              </a:solidFill>
              <a:latin typeface="+mj-lt"/>
              <a:ea typeface="+mj-lt"/>
              <a:cs typeface="+mj-lt"/>
            </a:endParaRPr>
          </a:p>
        </p:txBody>
      </p:sp>
      <p:sp>
        <p:nvSpPr>
          <p:cNvPr id="4" name="文本框 3"/>
          <p:cNvSpPr txBox="1"/>
          <p:nvPr/>
        </p:nvSpPr>
        <p:spPr>
          <a:xfrm>
            <a:off x="608330" y="756285"/>
            <a:ext cx="10968355" cy="2861310"/>
          </a:xfrm>
          <a:prstGeom prst="rect">
            <a:avLst/>
          </a:prstGeom>
          <a:noFill/>
        </p:spPr>
        <p:txBody>
          <a:bodyPr wrap="square" rtlCol="0" anchor="t">
            <a:spAutoFit/>
          </a:bodyPr>
          <a:p>
            <a:pPr indent="0" algn="l" fontAlgn="auto">
              <a:lnSpc>
                <a:spcPct val="150000"/>
              </a:lnSpc>
            </a:pP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花匠：修剪：花草</a:t>
            </a:r>
            <a:endParaRPr lang="zh-CN" altLang="en-US" sz="24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A.</a:t>
            </a: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渔民：捕捞：渔船</a:t>
            </a:r>
            <a:endParaRPr lang="zh-CN" altLang="en-US" sz="24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B.</a:t>
            </a: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医生：住院：病人</a:t>
            </a:r>
            <a:endParaRPr lang="zh-CN" altLang="en-US" sz="24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C.</a:t>
            </a: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农民：播种：土地</a:t>
            </a:r>
            <a:endParaRPr lang="zh-CN" altLang="en-US" sz="24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D.</a:t>
            </a: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学生：阅读：课本</a:t>
            </a:r>
            <a:endParaRPr lang="zh-CN" altLang="en-US" sz="2400" dirty="0">
              <a:latin typeface="楷体" panose="02010609060101010101" charset="-122"/>
              <a:ea typeface="楷体" panose="02010609060101010101" charset="-122"/>
              <a:cs typeface="楷体" panose="02010609060101010101" charset="-122"/>
              <a:sym typeface="楷体" panose="02010609060101010101" charset="-122"/>
            </a:endParaRPr>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608400" y="208350"/>
            <a:ext cx="10969200" cy="705600"/>
          </a:xfrm>
        </p:spPr>
        <p:txBody>
          <a:bodyPr/>
          <a:lstStyle/>
          <a:p>
            <a:pPr algn="l">
              <a:buClrTx/>
              <a:buSzTx/>
              <a:buFontTx/>
            </a:pPr>
            <a:r>
              <a:rPr kumimoji="1" lang="zh-CN" sz="3735" b="1" dirty="0">
                <a:solidFill>
                  <a:srgbClr val="FF653F"/>
                </a:solidFill>
                <a:latin typeface="+mj-lt"/>
                <a:ea typeface="+mj-lt"/>
                <a:cs typeface="+mj-lt"/>
              </a:rPr>
              <a:t>题</a:t>
            </a:r>
            <a:r>
              <a:rPr kumimoji="1" lang="en-US" altLang="zh-CN" sz="3735" b="1" dirty="0">
                <a:solidFill>
                  <a:srgbClr val="FF653F"/>
                </a:solidFill>
                <a:latin typeface="+mj-lt"/>
                <a:ea typeface="+mj-lt"/>
                <a:cs typeface="+mj-lt"/>
              </a:rPr>
              <a:t>91</a:t>
            </a:r>
            <a:endParaRPr kumimoji="1" lang="en-US" altLang="zh-CN" sz="3735" b="1" dirty="0">
              <a:solidFill>
                <a:srgbClr val="FF653F"/>
              </a:solidFill>
              <a:latin typeface="+mj-lt"/>
              <a:ea typeface="+mj-lt"/>
              <a:cs typeface="+mj-lt"/>
            </a:endParaRPr>
          </a:p>
        </p:txBody>
      </p:sp>
      <p:sp>
        <p:nvSpPr>
          <p:cNvPr id="4" name="文本框 3"/>
          <p:cNvSpPr txBox="1"/>
          <p:nvPr/>
        </p:nvSpPr>
        <p:spPr>
          <a:xfrm>
            <a:off x="608330" y="756285"/>
            <a:ext cx="10968355" cy="2861310"/>
          </a:xfrm>
          <a:prstGeom prst="rect">
            <a:avLst/>
          </a:prstGeom>
          <a:noFill/>
        </p:spPr>
        <p:txBody>
          <a:bodyPr wrap="square" rtlCol="0" anchor="t">
            <a:spAutoFit/>
          </a:bodyPr>
          <a:p>
            <a:pPr indent="0" algn="l" fontAlgn="auto">
              <a:lnSpc>
                <a:spcPct val="150000"/>
              </a:lnSpc>
            </a:pP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斤：两：钱</a:t>
            </a:r>
            <a:endParaRPr lang="zh-CN" altLang="en-US" sz="24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A.</a:t>
            </a: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眼：口：手</a:t>
            </a:r>
            <a:endParaRPr lang="zh-CN" altLang="en-US" sz="24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B.</a:t>
            </a: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年：月：日</a:t>
            </a:r>
            <a:endParaRPr lang="zh-CN" altLang="en-US" sz="24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C.</a:t>
            </a: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天：时：秒</a:t>
            </a:r>
            <a:endParaRPr lang="zh-CN" altLang="en-US" sz="24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D.</a:t>
            </a: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孟：仲：季</a:t>
            </a:r>
            <a:endParaRPr lang="zh-CN" altLang="en-US" sz="2400" dirty="0">
              <a:latin typeface="楷体" panose="02010609060101010101" charset="-122"/>
              <a:ea typeface="楷体" panose="02010609060101010101" charset="-122"/>
              <a:cs typeface="楷体" panose="02010609060101010101" charset="-122"/>
              <a:sym typeface="楷体" panose="02010609060101010101" charset="-122"/>
            </a:endParaRPr>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608400" y="208350"/>
            <a:ext cx="10969200" cy="705600"/>
          </a:xfrm>
        </p:spPr>
        <p:txBody>
          <a:bodyPr/>
          <a:lstStyle/>
          <a:p>
            <a:pPr algn="l">
              <a:buClrTx/>
              <a:buSzTx/>
              <a:buFontTx/>
            </a:pPr>
            <a:r>
              <a:rPr kumimoji="1" lang="zh-CN" sz="3735" b="1" dirty="0">
                <a:solidFill>
                  <a:srgbClr val="FF653F"/>
                </a:solidFill>
                <a:latin typeface="+mj-lt"/>
                <a:ea typeface="+mj-lt"/>
                <a:cs typeface="+mj-lt"/>
              </a:rPr>
              <a:t>题</a:t>
            </a:r>
            <a:r>
              <a:rPr kumimoji="1" lang="en-US" altLang="zh-CN" sz="3735" b="1" dirty="0">
                <a:solidFill>
                  <a:srgbClr val="FF653F"/>
                </a:solidFill>
                <a:latin typeface="+mj-lt"/>
                <a:ea typeface="+mj-lt"/>
                <a:cs typeface="+mj-lt"/>
              </a:rPr>
              <a:t>92</a:t>
            </a:r>
            <a:endParaRPr kumimoji="1" lang="en-US" altLang="zh-CN" sz="3735" b="1" dirty="0">
              <a:solidFill>
                <a:srgbClr val="FF653F"/>
              </a:solidFill>
              <a:latin typeface="+mj-lt"/>
              <a:ea typeface="+mj-lt"/>
              <a:cs typeface="+mj-lt"/>
            </a:endParaRPr>
          </a:p>
        </p:txBody>
      </p:sp>
      <p:sp>
        <p:nvSpPr>
          <p:cNvPr id="4" name="文本框 3"/>
          <p:cNvSpPr txBox="1"/>
          <p:nvPr/>
        </p:nvSpPr>
        <p:spPr>
          <a:xfrm>
            <a:off x="608330" y="756285"/>
            <a:ext cx="10968355" cy="2861310"/>
          </a:xfrm>
          <a:prstGeom prst="rect">
            <a:avLst/>
          </a:prstGeom>
          <a:noFill/>
        </p:spPr>
        <p:txBody>
          <a:bodyPr wrap="square" rtlCol="0" anchor="t">
            <a:spAutoFit/>
          </a:bodyPr>
          <a:p>
            <a:pPr indent="0" algn="l" fontAlgn="auto">
              <a:lnSpc>
                <a:spcPct val="150000"/>
              </a:lnSpc>
            </a:pP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奋斗：锤炼：本领</a:t>
            </a:r>
            <a:endParaRPr lang="zh-CN" altLang="en-US" sz="24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A.</a:t>
            </a: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磨砺：增长：才干</a:t>
            </a:r>
            <a:endParaRPr lang="zh-CN" altLang="en-US" sz="24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B.</a:t>
            </a: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实践：奉献：社会</a:t>
            </a:r>
            <a:endParaRPr lang="zh-CN" altLang="en-US" sz="24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C.</a:t>
            </a: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知识：获取：阅读</a:t>
            </a:r>
            <a:endParaRPr lang="zh-CN" altLang="en-US" sz="24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D.</a:t>
            </a: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思考：智慧：启迪</a:t>
            </a:r>
            <a:endParaRPr lang="zh-CN" altLang="en-US" sz="2400" dirty="0">
              <a:latin typeface="楷体" panose="02010609060101010101" charset="-122"/>
              <a:ea typeface="楷体" panose="02010609060101010101" charset="-122"/>
              <a:cs typeface="楷体" panose="02010609060101010101" charset="-122"/>
              <a:sym typeface="楷体" panose="02010609060101010101" charset="-122"/>
            </a:endParaRPr>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608400" y="208350"/>
            <a:ext cx="10969200" cy="705600"/>
          </a:xfrm>
        </p:spPr>
        <p:txBody>
          <a:bodyPr/>
          <a:lstStyle/>
          <a:p>
            <a:pPr algn="l">
              <a:buClrTx/>
              <a:buSzTx/>
              <a:buFontTx/>
            </a:pPr>
            <a:r>
              <a:rPr kumimoji="1" lang="zh-CN" sz="3735" b="1" dirty="0">
                <a:solidFill>
                  <a:srgbClr val="FF653F"/>
                </a:solidFill>
                <a:latin typeface="+mj-lt"/>
                <a:ea typeface="+mj-lt"/>
                <a:cs typeface="+mj-lt"/>
              </a:rPr>
              <a:t>题</a:t>
            </a:r>
            <a:r>
              <a:rPr kumimoji="1" lang="en-US" altLang="zh-CN" sz="3735" b="1" dirty="0">
                <a:solidFill>
                  <a:srgbClr val="FF653F"/>
                </a:solidFill>
                <a:latin typeface="+mj-lt"/>
                <a:ea typeface="+mj-lt"/>
                <a:cs typeface="+mj-lt"/>
              </a:rPr>
              <a:t>93</a:t>
            </a:r>
            <a:endParaRPr kumimoji="1" lang="en-US" altLang="zh-CN" sz="3735" b="1" dirty="0">
              <a:solidFill>
                <a:srgbClr val="FF653F"/>
              </a:solidFill>
              <a:latin typeface="+mj-lt"/>
              <a:ea typeface="+mj-lt"/>
              <a:cs typeface="+mj-lt"/>
            </a:endParaRPr>
          </a:p>
        </p:txBody>
      </p:sp>
      <p:sp>
        <p:nvSpPr>
          <p:cNvPr id="4" name="文本框 3"/>
          <p:cNvSpPr txBox="1"/>
          <p:nvPr/>
        </p:nvSpPr>
        <p:spPr>
          <a:xfrm>
            <a:off x="608330" y="756285"/>
            <a:ext cx="10968355" cy="2861310"/>
          </a:xfrm>
          <a:prstGeom prst="rect">
            <a:avLst/>
          </a:prstGeom>
          <a:noFill/>
        </p:spPr>
        <p:txBody>
          <a:bodyPr wrap="square" rtlCol="0" anchor="t">
            <a:spAutoFit/>
          </a:bodyPr>
          <a:p>
            <a:pPr indent="0" algn="l" fontAlgn="auto">
              <a:lnSpc>
                <a:spcPct val="150000"/>
              </a:lnSpc>
            </a:pP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春兰：墨兰：兰花</a:t>
            </a:r>
            <a:endParaRPr lang="zh-CN" altLang="en-US" sz="24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A.</a:t>
            </a: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凤蝶：粉蝶：蝴蝶</a:t>
            </a:r>
            <a:endParaRPr lang="zh-CN" altLang="en-US" sz="24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B.</a:t>
            </a: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春茶：秋茶：茶馆</a:t>
            </a:r>
            <a:endParaRPr lang="zh-CN" altLang="en-US" sz="24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C.</a:t>
            </a: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蔬菜：水果：果蔬</a:t>
            </a:r>
            <a:endParaRPr lang="zh-CN" altLang="en-US" sz="24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D.</a:t>
            </a: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菊花：梅花：花卉</a:t>
            </a:r>
            <a:endParaRPr lang="zh-CN" altLang="en-US" sz="2400" dirty="0">
              <a:latin typeface="楷体" panose="02010609060101010101" charset="-122"/>
              <a:ea typeface="楷体" panose="02010609060101010101" charset="-122"/>
              <a:cs typeface="楷体" panose="02010609060101010101" charset="-122"/>
              <a:sym typeface="楷体" panose="02010609060101010101" charset="-122"/>
            </a:endParaRPr>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608400" y="208350"/>
            <a:ext cx="10969200" cy="705600"/>
          </a:xfrm>
        </p:spPr>
        <p:txBody>
          <a:bodyPr/>
          <a:lstStyle/>
          <a:p>
            <a:pPr algn="l">
              <a:buClrTx/>
              <a:buSzTx/>
              <a:buFontTx/>
            </a:pPr>
            <a:r>
              <a:rPr kumimoji="1" lang="zh-CN" sz="3735" b="1" dirty="0">
                <a:solidFill>
                  <a:srgbClr val="FF653F"/>
                </a:solidFill>
                <a:latin typeface="+mj-lt"/>
                <a:ea typeface="+mj-lt"/>
                <a:cs typeface="+mj-lt"/>
              </a:rPr>
              <a:t>题</a:t>
            </a:r>
            <a:r>
              <a:rPr kumimoji="1" lang="en-US" altLang="zh-CN" sz="3735" b="1" dirty="0">
                <a:solidFill>
                  <a:srgbClr val="FF653F"/>
                </a:solidFill>
                <a:latin typeface="+mj-lt"/>
                <a:ea typeface="+mj-lt"/>
                <a:cs typeface="+mj-lt"/>
              </a:rPr>
              <a:t>94</a:t>
            </a:r>
            <a:endParaRPr kumimoji="1" lang="en-US" altLang="zh-CN" sz="3735" b="1" dirty="0">
              <a:solidFill>
                <a:srgbClr val="FF653F"/>
              </a:solidFill>
              <a:latin typeface="+mj-lt"/>
              <a:ea typeface="+mj-lt"/>
              <a:cs typeface="+mj-lt"/>
            </a:endParaRPr>
          </a:p>
        </p:txBody>
      </p:sp>
      <p:sp>
        <p:nvSpPr>
          <p:cNvPr id="4" name="文本框 3"/>
          <p:cNvSpPr txBox="1"/>
          <p:nvPr/>
        </p:nvSpPr>
        <p:spPr>
          <a:xfrm>
            <a:off x="608330" y="756285"/>
            <a:ext cx="10968355" cy="2861310"/>
          </a:xfrm>
          <a:prstGeom prst="rect">
            <a:avLst/>
          </a:prstGeom>
          <a:noFill/>
        </p:spPr>
        <p:txBody>
          <a:bodyPr wrap="square" rtlCol="0" anchor="t">
            <a:spAutoFit/>
          </a:bodyPr>
          <a:p>
            <a:pPr indent="0" algn="l" fontAlgn="auto">
              <a:lnSpc>
                <a:spcPct val="150000"/>
              </a:lnSpc>
            </a:pP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提纲挈领</a:t>
            </a: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 </a:t>
            </a: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对于</a:t>
            </a: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 </a:t>
            </a: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a:t>
            </a: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 </a:t>
            </a: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a:t>
            </a: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 </a:t>
            </a: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相当于</a:t>
            </a: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 </a:t>
            </a: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德才兼备</a:t>
            </a: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 </a:t>
            </a: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对于</a:t>
            </a: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 </a:t>
            </a: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a:t>
            </a: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 </a:t>
            </a: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a:t>
            </a:r>
            <a:endParaRPr lang="zh-CN" altLang="en-US" sz="24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A.</a:t>
            </a: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网之一孔；德高望重</a:t>
            </a:r>
            <a:endParaRPr lang="zh-CN" altLang="en-US" sz="24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B.</a:t>
            </a: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中流砥柱；达士通人</a:t>
            </a:r>
            <a:endParaRPr lang="zh-CN" altLang="en-US" sz="24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C.</a:t>
            </a: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以一持万；才高行洁</a:t>
            </a:r>
            <a:endParaRPr lang="zh-CN" altLang="en-US" sz="24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D.</a:t>
            </a: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毛举细故；以德报怨</a:t>
            </a:r>
            <a:endParaRPr lang="zh-CN" altLang="en-US" sz="2400" dirty="0">
              <a:latin typeface="楷体" panose="02010609060101010101" charset="-122"/>
              <a:ea typeface="楷体" panose="02010609060101010101" charset="-122"/>
              <a:cs typeface="楷体" panose="02010609060101010101" charset="-122"/>
              <a:sym typeface="楷体" panose="02010609060101010101" charset="-122"/>
            </a:endParaRPr>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608400" y="208350"/>
            <a:ext cx="10969200" cy="705600"/>
          </a:xfrm>
        </p:spPr>
        <p:txBody>
          <a:bodyPr/>
          <a:lstStyle/>
          <a:p>
            <a:pPr algn="l">
              <a:buClrTx/>
              <a:buSzTx/>
              <a:buFontTx/>
            </a:pPr>
            <a:r>
              <a:rPr kumimoji="1" lang="zh-CN" sz="3735" b="1" dirty="0">
                <a:solidFill>
                  <a:srgbClr val="FF653F"/>
                </a:solidFill>
                <a:latin typeface="+mj-lt"/>
                <a:ea typeface="+mj-lt"/>
                <a:cs typeface="+mj-lt"/>
              </a:rPr>
              <a:t>题</a:t>
            </a:r>
            <a:r>
              <a:rPr kumimoji="1" lang="en-US" altLang="zh-CN" sz="3735" b="1" dirty="0">
                <a:solidFill>
                  <a:srgbClr val="FF653F"/>
                </a:solidFill>
                <a:latin typeface="+mj-lt"/>
                <a:ea typeface="+mj-lt"/>
                <a:cs typeface="+mj-lt"/>
              </a:rPr>
              <a:t>95</a:t>
            </a:r>
            <a:endParaRPr kumimoji="1" lang="en-US" altLang="zh-CN" sz="3735" b="1" dirty="0">
              <a:solidFill>
                <a:srgbClr val="FF653F"/>
              </a:solidFill>
              <a:latin typeface="+mj-lt"/>
              <a:ea typeface="+mj-lt"/>
              <a:cs typeface="+mj-lt"/>
            </a:endParaRPr>
          </a:p>
        </p:txBody>
      </p:sp>
      <p:sp>
        <p:nvSpPr>
          <p:cNvPr id="4" name="文本框 3"/>
          <p:cNvSpPr txBox="1"/>
          <p:nvPr/>
        </p:nvSpPr>
        <p:spPr>
          <a:xfrm>
            <a:off x="608330" y="756285"/>
            <a:ext cx="10968355" cy="2861310"/>
          </a:xfrm>
          <a:prstGeom prst="rect">
            <a:avLst/>
          </a:prstGeom>
          <a:noFill/>
        </p:spPr>
        <p:txBody>
          <a:bodyPr wrap="square" rtlCol="0" anchor="t">
            <a:spAutoFit/>
          </a:bodyPr>
          <a:p>
            <a:pPr indent="0" algn="l" fontAlgn="auto">
              <a:lnSpc>
                <a:spcPct val="150000"/>
              </a:lnSpc>
            </a:pP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衣食住行</a:t>
            </a: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 </a:t>
            </a: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对于</a:t>
            </a: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 </a:t>
            </a: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a:t>
            </a: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 </a:t>
            </a: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a:t>
            </a: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 </a:t>
            </a: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相当于</a:t>
            </a: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 </a:t>
            </a: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a:t>
            </a: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 </a:t>
            </a: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a:t>
            </a: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 </a:t>
            </a: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对于</a:t>
            </a: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 </a:t>
            </a: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琴棋书画</a:t>
            </a:r>
            <a:endParaRPr lang="zh-CN" altLang="en-US" sz="24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A.</a:t>
            </a: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亭台楼阁；花鸟鱼虫</a:t>
            </a:r>
            <a:endParaRPr lang="zh-CN" altLang="en-US" sz="24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B.</a:t>
            </a: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油盐酱醋；望闻问切</a:t>
            </a:r>
            <a:endParaRPr lang="zh-CN" altLang="en-US" sz="24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C.</a:t>
            </a: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王侯将相；山川河岳</a:t>
            </a:r>
            <a:endParaRPr lang="zh-CN" altLang="en-US" sz="24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D.</a:t>
            </a: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锅碗瓢盆；笔墨纸砚</a:t>
            </a:r>
            <a:endParaRPr lang="zh-CN" altLang="en-US" sz="2400" dirty="0">
              <a:latin typeface="楷体" panose="02010609060101010101" charset="-122"/>
              <a:ea typeface="楷体" panose="02010609060101010101" charset="-122"/>
              <a:cs typeface="楷体" panose="02010609060101010101" charset="-122"/>
              <a:sym typeface="楷体" panose="02010609060101010101" charset="-122"/>
            </a:endParaRPr>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608400" y="208350"/>
            <a:ext cx="10969200" cy="705600"/>
          </a:xfrm>
        </p:spPr>
        <p:txBody>
          <a:bodyPr/>
          <a:lstStyle/>
          <a:p>
            <a:pPr algn="l">
              <a:buClrTx/>
              <a:buSzTx/>
              <a:buFontTx/>
            </a:pPr>
            <a:r>
              <a:rPr kumimoji="1" lang="zh-CN" sz="3735" b="1" dirty="0">
                <a:solidFill>
                  <a:srgbClr val="FF653F"/>
                </a:solidFill>
                <a:latin typeface="+mj-lt"/>
                <a:ea typeface="+mj-lt"/>
                <a:cs typeface="+mj-lt"/>
              </a:rPr>
              <a:t>题</a:t>
            </a:r>
            <a:r>
              <a:rPr kumimoji="1" lang="en-US" altLang="zh-CN" sz="3735" b="1" dirty="0">
                <a:solidFill>
                  <a:srgbClr val="FF653F"/>
                </a:solidFill>
                <a:latin typeface="+mj-lt"/>
                <a:ea typeface="+mj-lt"/>
                <a:cs typeface="+mj-lt"/>
              </a:rPr>
              <a:t>96</a:t>
            </a:r>
            <a:endParaRPr kumimoji="1" lang="en-US" altLang="zh-CN" sz="3735" b="1" dirty="0">
              <a:solidFill>
                <a:srgbClr val="FF653F"/>
              </a:solidFill>
              <a:latin typeface="+mj-lt"/>
              <a:ea typeface="+mj-lt"/>
              <a:cs typeface="+mj-lt"/>
            </a:endParaRPr>
          </a:p>
        </p:txBody>
      </p:sp>
      <p:sp>
        <p:nvSpPr>
          <p:cNvPr id="4" name="文本框 3"/>
          <p:cNvSpPr txBox="1"/>
          <p:nvPr/>
        </p:nvSpPr>
        <p:spPr>
          <a:xfrm>
            <a:off x="608330" y="913765"/>
            <a:ext cx="10968355" cy="5077460"/>
          </a:xfrm>
          <a:prstGeom prst="rect">
            <a:avLst/>
          </a:prstGeom>
          <a:noFill/>
        </p:spPr>
        <p:txBody>
          <a:bodyPr wrap="square" rtlCol="0" anchor="t">
            <a:spAutoFit/>
          </a:bodyPr>
          <a:p>
            <a:pPr indent="0" algn="l" fontAlgn="auto">
              <a:lnSpc>
                <a:spcPct val="150000"/>
              </a:lnSpc>
            </a:pP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a:t>
            </a: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饿怒</a:t>
            </a: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a:t>
            </a: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是</a:t>
            </a: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a:t>
            </a: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饥饿</a:t>
            </a: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a:t>
            </a: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和</a:t>
            </a: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a:t>
            </a: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愤怒</a:t>
            </a: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a:t>
            </a: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两个词的合成词。最近，研究人员在欧洲招募了</a:t>
            </a: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 64 </a:t>
            </a: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位自愿受试者，在</a:t>
            </a: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 21</a:t>
            </a: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天里，对他们在日常工作和生活环境中，处于饥饿状态时的情绪变化数据进行了收集整理分析。得出的结论是，愤怒和易恼等情绪与饥饿之间存在被诱导的关系，也就是说，饥饿会使人们</a:t>
            </a: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a:t>
            </a: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饿怒</a:t>
            </a: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a:t>
            </a: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a:t>
            </a:r>
            <a:endParaRPr lang="zh-CN" altLang="en-US" sz="24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以下哪项如果为真，最能支持上述结论</a:t>
            </a: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a:t>
            </a:r>
            <a:endParaRPr lang="en-US" altLang="zh-CN" sz="24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A.</a:t>
            </a: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受试者在饥饿状态下，能保持情绪愉悦的只有不到</a:t>
            </a: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 10%</a:t>
            </a:r>
            <a:endParaRPr lang="en-US" altLang="zh-CN" sz="24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B.</a:t>
            </a: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饥饿与更强烈的愤怒和易恼情绪以及更低的愉悦感有关</a:t>
            </a:r>
            <a:endParaRPr lang="zh-CN" altLang="en-US" sz="24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C.</a:t>
            </a: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饥饿状态下的受试者，</a:t>
            </a: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47%</a:t>
            </a: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出现易恼情绪，</a:t>
            </a: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44%</a:t>
            </a: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出现愤怒情绪</a:t>
            </a:r>
            <a:endParaRPr lang="zh-CN" altLang="en-US" sz="24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D.</a:t>
            </a: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科学家早已知道饥饿会影响人的情绪，但才发现会导致</a:t>
            </a: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a:t>
            </a: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饿怒</a:t>
            </a: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a:t>
            </a:r>
            <a:endParaRPr lang="en-US" altLang="zh-CN" sz="2400" dirty="0">
              <a:latin typeface="楷体" panose="02010609060101010101" charset="-122"/>
              <a:ea typeface="楷体" panose="02010609060101010101" charset="-122"/>
              <a:cs typeface="楷体" panose="02010609060101010101" charset="-122"/>
              <a:sym typeface="楷体" panose="02010609060101010101" charset="-122"/>
            </a:endParaRPr>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608400" y="208350"/>
            <a:ext cx="10969200" cy="705600"/>
          </a:xfrm>
        </p:spPr>
        <p:txBody>
          <a:bodyPr/>
          <a:lstStyle/>
          <a:p>
            <a:pPr algn="l">
              <a:buClrTx/>
              <a:buSzTx/>
              <a:buFontTx/>
            </a:pPr>
            <a:r>
              <a:rPr kumimoji="1" lang="zh-CN" sz="3735" b="1" dirty="0">
                <a:solidFill>
                  <a:srgbClr val="FF653F"/>
                </a:solidFill>
                <a:latin typeface="+mj-lt"/>
                <a:ea typeface="+mj-lt"/>
                <a:cs typeface="+mj-lt"/>
              </a:rPr>
              <a:t>题</a:t>
            </a:r>
            <a:r>
              <a:rPr kumimoji="1" lang="en-US" altLang="zh-CN" sz="3735" b="1" dirty="0">
                <a:solidFill>
                  <a:srgbClr val="FF653F"/>
                </a:solidFill>
                <a:latin typeface="+mj-lt"/>
                <a:ea typeface="+mj-lt"/>
                <a:cs typeface="+mj-lt"/>
              </a:rPr>
              <a:t>97</a:t>
            </a:r>
            <a:endParaRPr kumimoji="1" lang="en-US" altLang="zh-CN" sz="3735" b="1" dirty="0">
              <a:solidFill>
                <a:srgbClr val="FF653F"/>
              </a:solidFill>
              <a:latin typeface="+mj-lt"/>
              <a:ea typeface="+mj-lt"/>
              <a:cs typeface="+mj-lt"/>
            </a:endParaRPr>
          </a:p>
        </p:txBody>
      </p:sp>
      <p:sp>
        <p:nvSpPr>
          <p:cNvPr id="4" name="文本框 3"/>
          <p:cNvSpPr txBox="1"/>
          <p:nvPr/>
        </p:nvSpPr>
        <p:spPr>
          <a:xfrm>
            <a:off x="608330" y="913765"/>
            <a:ext cx="10968355" cy="5077460"/>
          </a:xfrm>
          <a:prstGeom prst="rect">
            <a:avLst/>
          </a:prstGeom>
          <a:noFill/>
        </p:spPr>
        <p:txBody>
          <a:bodyPr wrap="square" rtlCol="0" anchor="t">
            <a:spAutoFit/>
          </a:bodyPr>
          <a:p>
            <a:pPr indent="0" algn="l" fontAlgn="auto">
              <a:lnSpc>
                <a:spcPct val="150000"/>
              </a:lnSpc>
            </a:pP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研究表明，喝红茶与较低的死亡风险之间存在关联。近</a:t>
            </a: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 10 </a:t>
            </a: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年来，研究人员对</a:t>
            </a: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 50 </a:t>
            </a: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万名年龄在</a:t>
            </a: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 40 </a:t>
            </a: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至</a:t>
            </a: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 69 </a:t>
            </a: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岁之间的男性和女性进行了跟踪研究。这些人中</a:t>
            </a: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 85%</a:t>
            </a: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的人经常喝茶，经常喝茶的人群中</a:t>
            </a: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 89%</a:t>
            </a: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喝红茶。研究发现，喝红茶的人比不喝茶的人更健康长寿。研究结论是：喝红茶能够降低死亡风险。</a:t>
            </a:r>
            <a:endParaRPr lang="zh-CN" altLang="en-US" sz="24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以下哪项如果为真，最能支持上述研究结论？</a:t>
            </a:r>
            <a:endParaRPr lang="zh-CN" altLang="en-US" sz="24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A.</a:t>
            </a: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只喝红茶而不在喝茶时加牛奶和糖的人患病风险更低</a:t>
            </a:r>
            <a:endParaRPr lang="zh-CN" altLang="en-US" sz="24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B.</a:t>
            </a: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既喝红茶又喝咖啡可乐等饮料的人死亡风险也会降低</a:t>
            </a:r>
            <a:endParaRPr lang="zh-CN" altLang="en-US" sz="24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C.</a:t>
            </a: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即使红茶摄入量较高也属于健康饮食，有益身体健康</a:t>
            </a:r>
            <a:endParaRPr lang="zh-CN" altLang="en-US" sz="24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D.</a:t>
            </a: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每天喝两杯或更多红茶的人死亡风险降低了</a:t>
            </a: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 9%~13%</a:t>
            </a:r>
            <a:endParaRPr lang="en-US" altLang="zh-CN" sz="2400" dirty="0">
              <a:latin typeface="楷体" panose="02010609060101010101" charset="-122"/>
              <a:ea typeface="楷体" panose="02010609060101010101" charset="-122"/>
              <a:cs typeface="楷体" panose="02010609060101010101" charset="-122"/>
              <a:sym typeface="楷体" panose="02010609060101010101" charset="-122"/>
            </a:endParaRPr>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608400" y="208350"/>
            <a:ext cx="10969200" cy="705600"/>
          </a:xfrm>
        </p:spPr>
        <p:txBody>
          <a:bodyPr/>
          <a:lstStyle/>
          <a:p>
            <a:pPr algn="l">
              <a:buClrTx/>
              <a:buSzTx/>
              <a:buFontTx/>
            </a:pPr>
            <a:r>
              <a:rPr kumimoji="1" lang="zh-CN" sz="3735" b="1" dirty="0">
                <a:solidFill>
                  <a:srgbClr val="FF653F"/>
                </a:solidFill>
                <a:latin typeface="+mj-lt"/>
                <a:ea typeface="+mj-lt"/>
                <a:cs typeface="+mj-lt"/>
              </a:rPr>
              <a:t>题</a:t>
            </a:r>
            <a:r>
              <a:rPr kumimoji="1" lang="en-US" altLang="zh-CN" sz="3735" b="1" dirty="0">
                <a:solidFill>
                  <a:srgbClr val="FF653F"/>
                </a:solidFill>
                <a:latin typeface="+mj-lt"/>
                <a:ea typeface="+mj-lt"/>
                <a:cs typeface="+mj-lt"/>
              </a:rPr>
              <a:t>98</a:t>
            </a:r>
            <a:endParaRPr kumimoji="1" lang="en-US" altLang="zh-CN" sz="3735" b="1" dirty="0">
              <a:solidFill>
                <a:srgbClr val="FF653F"/>
              </a:solidFill>
              <a:latin typeface="+mj-lt"/>
              <a:ea typeface="+mj-lt"/>
              <a:cs typeface="+mj-lt"/>
            </a:endParaRPr>
          </a:p>
        </p:txBody>
      </p:sp>
      <p:sp>
        <p:nvSpPr>
          <p:cNvPr id="4" name="文本框 3"/>
          <p:cNvSpPr txBox="1"/>
          <p:nvPr/>
        </p:nvSpPr>
        <p:spPr>
          <a:xfrm>
            <a:off x="608330" y="913765"/>
            <a:ext cx="10968355" cy="5077460"/>
          </a:xfrm>
          <a:prstGeom prst="rect">
            <a:avLst/>
          </a:prstGeom>
          <a:noFill/>
        </p:spPr>
        <p:txBody>
          <a:bodyPr wrap="square" rtlCol="0" anchor="t">
            <a:spAutoFit/>
          </a:bodyPr>
          <a:p>
            <a:pPr indent="0" algn="l" fontAlgn="auto">
              <a:lnSpc>
                <a:spcPct val="150000"/>
              </a:lnSpc>
            </a:pP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为减少不断增长的人口规模对气候的影响，全球人类饮食要在更具营养价值的同时降低温室气体排放。有研究指出，海产品可以为人类提供比牛肉、猪肉和鸡肉更多的营养。这项研究表明，促进海产品替代其他动物蛋白，可改善未来食品安全，帮助应对气候变化。</a:t>
            </a:r>
            <a:endParaRPr lang="zh-CN" altLang="en-US" sz="24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以下哪项如果为真，最能加强上述论证？</a:t>
            </a:r>
            <a:endParaRPr lang="zh-CN" altLang="en-US" sz="24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A.</a:t>
            </a: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基于植物的</a:t>
            </a: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a:t>
            </a: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绿色</a:t>
            </a: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a:t>
            </a: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饮食是能够有效降低温室气体排放的未来饮食策略</a:t>
            </a:r>
            <a:endParaRPr lang="zh-CN" altLang="en-US" sz="24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B.</a:t>
            </a: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渔业应采用节能高效的捕捞技术，同时找出更多气候友好的鱼饲料来源</a:t>
            </a:r>
            <a:endParaRPr lang="zh-CN" altLang="en-US" sz="24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C.</a:t>
            </a: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有一半海产品的营养价值高于牛肉、猪肉和鸡肉，而温室气体排放较之更低</a:t>
            </a:r>
            <a:endParaRPr lang="zh-CN" altLang="en-US" sz="24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D.</a:t>
            </a: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野外捕捞的鲑鱼、鲱鱼和鲭鱼等海产品，在相同营养价值下对气候影响更低</a:t>
            </a:r>
            <a:endParaRPr lang="zh-CN" altLang="en-US" sz="2400" dirty="0">
              <a:latin typeface="楷体" panose="02010609060101010101" charset="-122"/>
              <a:ea typeface="楷体" panose="02010609060101010101" charset="-122"/>
              <a:cs typeface="楷体" panose="02010609060101010101" charset="-122"/>
              <a:sym typeface="楷体" panose="02010609060101010101" charset="-122"/>
            </a:endParaRPr>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608400" y="208350"/>
            <a:ext cx="10969200" cy="705600"/>
          </a:xfrm>
        </p:spPr>
        <p:txBody>
          <a:bodyPr/>
          <a:lstStyle/>
          <a:p>
            <a:pPr algn="l">
              <a:buClrTx/>
              <a:buSzTx/>
              <a:buFontTx/>
            </a:pPr>
            <a:r>
              <a:rPr kumimoji="1" lang="zh-CN" sz="3735" b="1" dirty="0">
                <a:solidFill>
                  <a:srgbClr val="FF653F"/>
                </a:solidFill>
                <a:latin typeface="+mj-lt"/>
                <a:ea typeface="+mj-lt"/>
                <a:cs typeface="+mj-lt"/>
              </a:rPr>
              <a:t>题</a:t>
            </a:r>
            <a:r>
              <a:rPr kumimoji="1" lang="en-US" altLang="zh-CN" sz="3735" b="1" dirty="0">
                <a:solidFill>
                  <a:srgbClr val="FF653F"/>
                </a:solidFill>
                <a:latin typeface="+mj-lt"/>
                <a:ea typeface="+mj-lt"/>
                <a:cs typeface="+mj-lt"/>
              </a:rPr>
              <a:t>99</a:t>
            </a:r>
            <a:endParaRPr kumimoji="1" lang="en-US" altLang="zh-CN" sz="3735" b="1" dirty="0">
              <a:solidFill>
                <a:srgbClr val="FF653F"/>
              </a:solidFill>
              <a:latin typeface="+mj-lt"/>
              <a:ea typeface="+mj-lt"/>
              <a:cs typeface="+mj-lt"/>
            </a:endParaRPr>
          </a:p>
        </p:txBody>
      </p:sp>
      <p:sp>
        <p:nvSpPr>
          <p:cNvPr id="4" name="文本框 3"/>
          <p:cNvSpPr txBox="1"/>
          <p:nvPr/>
        </p:nvSpPr>
        <p:spPr>
          <a:xfrm>
            <a:off x="608330" y="913765"/>
            <a:ext cx="11141075" cy="5169535"/>
          </a:xfrm>
          <a:prstGeom prst="rect">
            <a:avLst/>
          </a:prstGeom>
          <a:noFill/>
        </p:spPr>
        <p:txBody>
          <a:bodyPr wrap="square" rtlCol="0" anchor="t">
            <a:spAutoFit/>
          </a:bodyPr>
          <a:p>
            <a:pPr indent="0" algn="l" fontAlgn="auto">
              <a:lnSpc>
                <a:spcPct val="150000"/>
              </a:lnSpc>
            </a:pPr>
            <a:r>
              <a:rPr lang="zh-CN" altLang="en-US" sz="2000" dirty="0">
                <a:latin typeface="楷体" panose="02010609060101010101" charset="-122"/>
                <a:ea typeface="楷体" panose="02010609060101010101" charset="-122"/>
                <a:cs typeface="楷体" panose="02010609060101010101" charset="-122"/>
                <a:sym typeface="楷体" panose="02010609060101010101" charset="-122"/>
              </a:rPr>
              <a:t>有研究小组通过分析</a:t>
            </a:r>
            <a:r>
              <a:rPr lang="en-US" altLang="zh-CN" sz="2000" dirty="0">
                <a:latin typeface="楷体" panose="02010609060101010101" charset="-122"/>
                <a:ea typeface="楷体" panose="02010609060101010101" charset="-122"/>
                <a:cs typeface="楷体" panose="02010609060101010101" charset="-122"/>
                <a:sym typeface="楷体" panose="02010609060101010101" charset="-122"/>
              </a:rPr>
              <a:t> 145 </a:t>
            </a:r>
            <a:r>
              <a:rPr lang="zh-CN" altLang="en-US" sz="2000" dirty="0">
                <a:latin typeface="楷体" panose="02010609060101010101" charset="-122"/>
                <a:ea typeface="楷体" panose="02010609060101010101" charset="-122"/>
                <a:cs typeface="楷体" panose="02010609060101010101" charset="-122"/>
                <a:sym typeface="楷体" panose="02010609060101010101" charset="-122"/>
              </a:rPr>
              <a:t>名</a:t>
            </a:r>
            <a:r>
              <a:rPr lang="en-US" altLang="zh-CN" sz="2000" dirty="0">
                <a:latin typeface="楷体" panose="02010609060101010101" charset="-122"/>
                <a:ea typeface="楷体" panose="02010609060101010101" charset="-122"/>
                <a:cs typeface="楷体" panose="02010609060101010101" charset="-122"/>
                <a:sym typeface="楷体" panose="02010609060101010101" charset="-122"/>
              </a:rPr>
              <a:t> 12 </a:t>
            </a:r>
            <a:r>
              <a:rPr lang="zh-CN" altLang="en-US" sz="2000" dirty="0">
                <a:latin typeface="楷体" panose="02010609060101010101" charset="-122"/>
                <a:ea typeface="楷体" panose="02010609060101010101" charset="-122"/>
                <a:cs typeface="楷体" panose="02010609060101010101" charset="-122"/>
                <a:sym typeface="楷体" panose="02010609060101010101" charset="-122"/>
              </a:rPr>
              <a:t>岁儿童的核磁共振成像扫描结果，并基于儿童的住址信息评估他们近期接触的大气污染情况，其中包括细颗粒物质等。研究人员还将人口统计信息纳入分析，从而分析社会经济地位和种族因素是否会对研究结果造成影响。研究小组对比分析儿童近期与交通相关的空气污染暴露指数、报告的焦虑症和脑成像数据之后，发现生活在空气污染暴露指数较高区域的儿童出现广泛性焦虑症。</a:t>
            </a:r>
            <a:endParaRPr lang="zh-CN" altLang="en-US" sz="20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zh-CN" altLang="en-US" sz="2000" dirty="0">
                <a:latin typeface="楷体" panose="02010609060101010101" charset="-122"/>
                <a:ea typeface="楷体" panose="02010609060101010101" charset="-122"/>
                <a:cs typeface="楷体" panose="02010609060101010101" charset="-122"/>
                <a:sym typeface="楷体" panose="02010609060101010101" charset="-122"/>
              </a:rPr>
              <a:t>以下哪项如果为真，最能加强上述论证？</a:t>
            </a:r>
            <a:endParaRPr lang="zh-CN" altLang="en-US" sz="20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000" dirty="0">
                <a:latin typeface="楷体" panose="02010609060101010101" charset="-122"/>
                <a:ea typeface="楷体" panose="02010609060101010101" charset="-122"/>
                <a:cs typeface="楷体" panose="02010609060101010101" charset="-122"/>
                <a:sym typeface="楷体" panose="02010609060101010101" charset="-122"/>
              </a:rPr>
              <a:t>A.</a:t>
            </a:r>
            <a:r>
              <a:rPr lang="zh-CN" altLang="en-US" sz="2000" dirty="0">
                <a:latin typeface="楷体" panose="02010609060101010101" charset="-122"/>
                <a:ea typeface="楷体" panose="02010609060101010101" charset="-122"/>
                <a:cs typeface="楷体" panose="02010609060101010101" charset="-122"/>
                <a:sym typeface="楷体" panose="02010609060101010101" charset="-122"/>
              </a:rPr>
              <a:t>出生前接触多环芳烃等污染颗粒较多的儿童，其左脑白质体积较少，白质是一种白色脂肪物质，它能使神经元绝缘</a:t>
            </a:r>
            <a:endParaRPr lang="zh-CN" altLang="en-US" sz="20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000" dirty="0">
                <a:latin typeface="楷体" panose="02010609060101010101" charset="-122"/>
                <a:ea typeface="楷体" panose="02010609060101010101" charset="-122"/>
                <a:cs typeface="楷体" panose="02010609060101010101" charset="-122"/>
                <a:sym typeface="楷体" panose="02010609060101010101" charset="-122"/>
              </a:rPr>
              <a:t>B.</a:t>
            </a:r>
            <a:r>
              <a:rPr lang="zh-CN" altLang="en-US" sz="2000" dirty="0">
                <a:latin typeface="楷体" panose="02010609060101010101" charset="-122"/>
                <a:ea typeface="楷体" panose="02010609060101010101" charset="-122"/>
                <a:cs typeface="楷体" panose="02010609060101010101" charset="-122"/>
                <a:sym typeface="楷体" panose="02010609060101010101" charset="-122"/>
              </a:rPr>
              <a:t>焦虑症是一种复杂的疾病，肌醇异常引起的大脑功能紊乱与交通污染和焦虑症之间关联性不高</a:t>
            </a:r>
            <a:endParaRPr lang="zh-CN" altLang="en-US" sz="20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000" dirty="0">
                <a:latin typeface="楷体" panose="02010609060101010101" charset="-122"/>
                <a:ea typeface="楷体" panose="02010609060101010101" charset="-122"/>
                <a:cs typeface="楷体" panose="02010609060101010101" charset="-122"/>
                <a:sym typeface="楷体" panose="02010609060101010101" charset="-122"/>
              </a:rPr>
              <a:t>C.</a:t>
            </a:r>
            <a:r>
              <a:rPr lang="zh-CN" altLang="en-US" sz="2000" dirty="0">
                <a:latin typeface="楷体" panose="02010609060101010101" charset="-122"/>
                <a:ea typeface="楷体" panose="02010609060101010101" charset="-122"/>
                <a:cs typeface="楷体" panose="02010609060101010101" charset="-122"/>
                <a:sym typeface="楷体" panose="02010609060101010101" charset="-122"/>
              </a:rPr>
              <a:t>多环芳烃暴露水平较高的儿童，常缺乏营养食物，相应的住房条件和享用的公共设施也较差</a:t>
            </a:r>
            <a:endParaRPr lang="zh-CN" altLang="en-US" sz="20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000" dirty="0">
                <a:latin typeface="楷体" panose="02010609060101010101" charset="-122"/>
                <a:ea typeface="楷体" panose="02010609060101010101" charset="-122"/>
                <a:cs typeface="楷体" panose="02010609060101010101" charset="-122"/>
                <a:sym typeface="楷体" panose="02010609060101010101" charset="-122"/>
              </a:rPr>
              <a:t>D.</a:t>
            </a:r>
            <a:r>
              <a:rPr lang="zh-CN" altLang="en-US" sz="2000" dirty="0">
                <a:latin typeface="楷体" panose="02010609060101010101" charset="-122"/>
                <a:ea typeface="楷体" panose="02010609060101010101" charset="-122"/>
                <a:cs typeface="楷体" panose="02010609060101010101" charset="-122"/>
                <a:sym typeface="楷体" panose="02010609060101010101" charset="-122"/>
              </a:rPr>
              <a:t>有充分理由表明空气污染会直接影响大脑，这些细微污染颗粒会对人类精神健康产生影响</a:t>
            </a:r>
            <a:endParaRPr lang="zh-CN" altLang="en-US" sz="2000" dirty="0">
              <a:latin typeface="楷体" panose="02010609060101010101" charset="-122"/>
              <a:ea typeface="楷体" panose="02010609060101010101" charset="-122"/>
              <a:cs typeface="楷体" panose="02010609060101010101" charset="-122"/>
              <a:sym typeface="楷体" panose="02010609060101010101" charset="-122"/>
            </a:endParaRPr>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608400" y="208350"/>
            <a:ext cx="10969200" cy="705600"/>
          </a:xfrm>
        </p:spPr>
        <p:txBody>
          <a:bodyPr/>
          <a:lstStyle/>
          <a:p>
            <a:pPr algn="l">
              <a:buClrTx/>
              <a:buSzTx/>
              <a:buFontTx/>
            </a:pPr>
            <a:r>
              <a:rPr kumimoji="1" lang="zh-CN" sz="3735" b="1" dirty="0">
                <a:solidFill>
                  <a:srgbClr val="FF653F"/>
                </a:solidFill>
                <a:latin typeface="+mj-lt"/>
                <a:ea typeface="+mj-lt"/>
                <a:cs typeface="+mj-lt"/>
              </a:rPr>
              <a:t>题</a:t>
            </a:r>
            <a:r>
              <a:rPr kumimoji="1" lang="en-US" altLang="zh-CN" sz="3735" b="1" dirty="0">
                <a:solidFill>
                  <a:srgbClr val="FF653F"/>
                </a:solidFill>
                <a:latin typeface="+mj-lt"/>
                <a:ea typeface="+mj-lt"/>
                <a:cs typeface="+mj-lt"/>
              </a:rPr>
              <a:t>100</a:t>
            </a:r>
            <a:endParaRPr kumimoji="1" lang="en-US" altLang="zh-CN" sz="3735" b="1" dirty="0">
              <a:solidFill>
                <a:srgbClr val="FF653F"/>
              </a:solidFill>
              <a:latin typeface="+mj-lt"/>
              <a:ea typeface="+mj-lt"/>
              <a:cs typeface="+mj-lt"/>
            </a:endParaRPr>
          </a:p>
        </p:txBody>
      </p:sp>
      <p:sp>
        <p:nvSpPr>
          <p:cNvPr id="4" name="文本框 3"/>
          <p:cNvSpPr txBox="1"/>
          <p:nvPr/>
        </p:nvSpPr>
        <p:spPr>
          <a:xfrm>
            <a:off x="608330" y="913765"/>
            <a:ext cx="10968355" cy="4246245"/>
          </a:xfrm>
          <a:prstGeom prst="rect">
            <a:avLst/>
          </a:prstGeom>
          <a:noFill/>
        </p:spPr>
        <p:txBody>
          <a:bodyPr wrap="square" rtlCol="0" anchor="t">
            <a:spAutoFit/>
          </a:bodyPr>
          <a:p>
            <a:pPr indent="0" algn="l" fontAlgn="auto">
              <a:lnSpc>
                <a:spcPct val="150000"/>
              </a:lnSpc>
            </a:pPr>
            <a:r>
              <a:rPr lang="zh-CN" altLang="en-US" dirty="0">
                <a:latin typeface="楷体" panose="02010609060101010101" charset="-122"/>
                <a:ea typeface="楷体" panose="02010609060101010101" charset="-122"/>
                <a:cs typeface="楷体" panose="02010609060101010101" charset="-122"/>
                <a:sym typeface="楷体" panose="02010609060101010101" charset="-122"/>
              </a:rPr>
              <a:t>某大学神经生物学家做过这样的实验：一头猪在死亡一小时之后，实验人员将一种特殊的灌注液注入它的身体，在其静脉和动脉中循环，新鲜的氧气也在其中流动。接下来的六小时中，实验人员发现，猪的心脏、肝脏、肾脏和大脑中部分细胞开始恢复功能与活性，循环系统也逐步恢复。猪的心脏虽未完全恢复跳动，但可以扫描到电生理活动，说明它具有收缩能力。每个重要器官中，细胞对葡萄糖的反应都较强，说明它们正重启部分新陈代谢。实验结果表明，科学家成功复活了一头猪。</a:t>
            </a:r>
            <a:endParaRPr lang="zh-CN" altLang="en-US"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zh-CN" altLang="en-US" dirty="0">
                <a:latin typeface="楷体" panose="02010609060101010101" charset="-122"/>
                <a:ea typeface="楷体" panose="02010609060101010101" charset="-122"/>
                <a:cs typeface="楷体" panose="02010609060101010101" charset="-122"/>
                <a:sym typeface="楷体" panose="02010609060101010101" charset="-122"/>
              </a:rPr>
              <a:t>以下哪项如果为真，最能质疑上述论证？</a:t>
            </a:r>
            <a:endParaRPr lang="zh-CN" altLang="en-US"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dirty="0">
                <a:latin typeface="楷体" panose="02010609060101010101" charset="-122"/>
                <a:ea typeface="楷体" panose="02010609060101010101" charset="-122"/>
                <a:cs typeface="楷体" panose="02010609060101010101" charset="-122"/>
                <a:sym typeface="楷体" panose="02010609060101010101" charset="-122"/>
              </a:rPr>
              <a:t>A.</a:t>
            </a:r>
            <a:r>
              <a:rPr lang="zh-CN" altLang="en-US" dirty="0">
                <a:latin typeface="楷体" panose="02010609060101010101" charset="-122"/>
                <a:ea typeface="楷体" panose="02010609060101010101" charset="-122"/>
                <a:cs typeface="楷体" panose="02010609060101010101" charset="-122"/>
                <a:sym typeface="楷体" panose="02010609060101010101" charset="-122"/>
              </a:rPr>
              <a:t>对脑死亡的判定为间隔一天两次所测的脑电图呈直线，即脑电波消失，大脑功能处于完全及不可逆性丧失</a:t>
            </a:r>
            <a:endParaRPr lang="zh-CN" altLang="en-US"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dirty="0">
                <a:latin typeface="楷体" panose="02010609060101010101" charset="-122"/>
                <a:ea typeface="楷体" panose="02010609060101010101" charset="-122"/>
                <a:cs typeface="楷体" panose="02010609060101010101" charset="-122"/>
                <a:sym typeface="楷体" panose="02010609060101010101" charset="-122"/>
              </a:rPr>
              <a:t>B.</a:t>
            </a:r>
            <a:r>
              <a:rPr lang="zh-CN" altLang="en-US" dirty="0">
                <a:latin typeface="楷体" panose="02010609060101010101" charset="-122"/>
                <a:ea typeface="楷体" panose="02010609060101010101" charset="-122"/>
                <a:cs typeface="楷体" panose="02010609060101010101" charset="-122"/>
                <a:sym typeface="楷体" panose="02010609060101010101" charset="-122"/>
              </a:rPr>
              <a:t>猪在死后血液便停止循环流动，血液也就不能为其机体的各种细胞提供营养物质和氧气，细胞就会死亡</a:t>
            </a:r>
            <a:endParaRPr lang="zh-CN" altLang="en-US"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dirty="0">
                <a:latin typeface="楷体" panose="02010609060101010101" charset="-122"/>
                <a:ea typeface="楷体" panose="02010609060101010101" charset="-122"/>
                <a:cs typeface="楷体" panose="02010609060101010101" charset="-122"/>
                <a:sym typeface="楷体" panose="02010609060101010101" charset="-122"/>
              </a:rPr>
              <a:t>C.</a:t>
            </a:r>
            <a:r>
              <a:rPr lang="zh-CN" altLang="en-US" dirty="0">
                <a:latin typeface="楷体" panose="02010609060101010101" charset="-122"/>
                <a:ea typeface="楷体" panose="02010609060101010101" charset="-122"/>
                <a:cs typeface="楷体" panose="02010609060101010101" charset="-122"/>
                <a:sym typeface="楷体" panose="02010609060101010101" charset="-122"/>
              </a:rPr>
              <a:t>从一般意义上看，哺乳动物的器官如果缺氧</a:t>
            </a:r>
            <a:r>
              <a:rPr lang="en-US" altLang="zh-CN" dirty="0">
                <a:latin typeface="楷体" panose="02010609060101010101" charset="-122"/>
                <a:ea typeface="楷体" panose="02010609060101010101" charset="-122"/>
                <a:cs typeface="楷体" panose="02010609060101010101" charset="-122"/>
                <a:sym typeface="楷体" panose="02010609060101010101" charset="-122"/>
              </a:rPr>
              <a:t> 15 </a:t>
            </a:r>
            <a:r>
              <a:rPr lang="zh-CN" altLang="en-US" dirty="0">
                <a:latin typeface="楷体" panose="02010609060101010101" charset="-122"/>
                <a:ea typeface="楷体" panose="02010609060101010101" charset="-122"/>
                <a:cs typeface="楷体" panose="02010609060101010101" charset="-122"/>
                <a:sym typeface="楷体" panose="02010609060101010101" charset="-122"/>
              </a:rPr>
              <a:t>分钟左右，就会彻底死亡，这被视为一个不可逆的过程</a:t>
            </a:r>
            <a:endParaRPr lang="zh-CN" altLang="en-US"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dirty="0">
                <a:latin typeface="楷体" panose="02010609060101010101" charset="-122"/>
                <a:ea typeface="楷体" panose="02010609060101010101" charset="-122"/>
                <a:cs typeface="楷体" panose="02010609060101010101" charset="-122"/>
                <a:sym typeface="楷体" panose="02010609060101010101" charset="-122"/>
              </a:rPr>
              <a:t>D.</a:t>
            </a:r>
            <a:r>
              <a:rPr lang="zh-CN" altLang="en-US" dirty="0">
                <a:latin typeface="楷体" panose="02010609060101010101" charset="-122"/>
                <a:ea typeface="楷体" panose="02010609060101010101" charset="-122"/>
                <a:cs typeface="楷体" panose="02010609060101010101" charset="-122"/>
                <a:sym typeface="楷体" panose="02010609060101010101" charset="-122"/>
              </a:rPr>
              <a:t>有研究团队在猪缺血缺氧死亡一小时后给猪注射特殊灌注液，成功让实验猪身上多个器官重新出现活力</a:t>
            </a:r>
            <a:endParaRPr lang="zh-CN" altLang="en-US" dirty="0">
              <a:latin typeface="楷体" panose="02010609060101010101" charset="-122"/>
              <a:ea typeface="楷体" panose="02010609060101010101" charset="-122"/>
              <a:cs typeface="楷体" panose="02010609060101010101" charset="-122"/>
              <a:sym typeface="楷体" panose="02010609060101010101" charset="-122"/>
            </a:endParaRPr>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608400" y="208350"/>
            <a:ext cx="10969200" cy="705600"/>
          </a:xfrm>
        </p:spPr>
        <p:txBody>
          <a:bodyPr/>
          <a:lstStyle/>
          <a:p>
            <a:pPr algn="l">
              <a:buClrTx/>
              <a:buSzTx/>
              <a:buFontTx/>
            </a:pPr>
            <a:r>
              <a:rPr kumimoji="1" lang="zh-CN" sz="3735" b="1" dirty="0">
                <a:solidFill>
                  <a:srgbClr val="FF653F"/>
                </a:solidFill>
                <a:latin typeface="+mj-lt"/>
                <a:ea typeface="+mj-lt"/>
                <a:cs typeface="+mj-lt"/>
              </a:rPr>
              <a:t>题</a:t>
            </a:r>
            <a:r>
              <a:rPr kumimoji="1" lang="en-US" altLang="zh-CN" sz="3735" b="1" dirty="0">
                <a:solidFill>
                  <a:srgbClr val="FF653F"/>
                </a:solidFill>
                <a:latin typeface="+mj-lt"/>
                <a:ea typeface="+mj-lt"/>
                <a:cs typeface="+mj-lt"/>
              </a:rPr>
              <a:t>101</a:t>
            </a:r>
            <a:endParaRPr kumimoji="1" lang="en-US" altLang="zh-CN" sz="3735" b="1" dirty="0">
              <a:solidFill>
                <a:srgbClr val="FF653F"/>
              </a:solidFill>
              <a:latin typeface="+mj-lt"/>
              <a:ea typeface="+mj-lt"/>
              <a:cs typeface="+mj-lt"/>
            </a:endParaRPr>
          </a:p>
        </p:txBody>
      </p:sp>
      <p:sp>
        <p:nvSpPr>
          <p:cNvPr id="4" name="文本框 3"/>
          <p:cNvSpPr txBox="1"/>
          <p:nvPr/>
        </p:nvSpPr>
        <p:spPr>
          <a:xfrm>
            <a:off x="608330" y="913765"/>
            <a:ext cx="10968355" cy="4707890"/>
          </a:xfrm>
          <a:prstGeom prst="rect">
            <a:avLst/>
          </a:prstGeom>
          <a:noFill/>
        </p:spPr>
        <p:txBody>
          <a:bodyPr wrap="square" rtlCol="0" anchor="t">
            <a:spAutoFit/>
          </a:bodyPr>
          <a:p>
            <a:pPr indent="0" algn="l" fontAlgn="auto">
              <a:lnSpc>
                <a:spcPct val="150000"/>
              </a:lnSpc>
            </a:pPr>
            <a:r>
              <a:rPr lang="zh-CN" altLang="en-US" sz="2000" dirty="0">
                <a:latin typeface="楷体" panose="02010609060101010101" charset="-122"/>
                <a:ea typeface="楷体" panose="02010609060101010101" charset="-122"/>
                <a:cs typeface="楷体" panose="02010609060101010101" charset="-122"/>
                <a:sym typeface="楷体" panose="02010609060101010101" charset="-122"/>
              </a:rPr>
              <a:t>有研究表明，睡眠不足会导致人在社交上消极，从而变得更加孤立，导致孤独感倍增。而且睡眠不足的影响不仅局限于个体，还会影响到周围的人</a:t>
            </a:r>
            <a:r>
              <a:rPr lang="en-US" altLang="zh-CN" sz="2000" dirty="0">
                <a:latin typeface="楷体" panose="02010609060101010101" charset="-122"/>
                <a:ea typeface="楷体" panose="02010609060101010101" charset="-122"/>
                <a:cs typeface="楷体" panose="02010609060101010101" charset="-122"/>
                <a:sym typeface="楷体" panose="02010609060101010101" charset="-122"/>
              </a:rPr>
              <a:t>——</a:t>
            </a:r>
            <a:r>
              <a:rPr lang="zh-CN" altLang="en-US" sz="2000" dirty="0">
                <a:latin typeface="楷体" panose="02010609060101010101" charset="-122"/>
                <a:ea typeface="楷体" panose="02010609060101010101" charset="-122"/>
                <a:cs typeface="楷体" panose="02010609060101010101" charset="-122"/>
                <a:sym typeface="楷体" panose="02010609060101010101" charset="-122"/>
              </a:rPr>
              <a:t>损害了人的基本社会良知，放弃了帮助他人的意愿，因此，鉴于目前睡眠不足的普遍性，以及人类互帮互助维持合作对于社会的重要性，睡眠对现实世界的影响不可小觑。</a:t>
            </a:r>
            <a:endParaRPr lang="zh-CN" altLang="en-US" sz="20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zh-CN" altLang="en-US" sz="2000" dirty="0">
                <a:latin typeface="楷体" panose="02010609060101010101" charset="-122"/>
                <a:ea typeface="楷体" panose="02010609060101010101" charset="-122"/>
                <a:cs typeface="楷体" panose="02010609060101010101" charset="-122"/>
                <a:sym typeface="楷体" panose="02010609060101010101" charset="-122"/>
              </a:rPr>
              <a:t>以下哪项如果为真，最能加强上述论证？</a:t>
            </a:r>
            <a:endParaRPr lang="zh-CN" altLang="en-US" sz="20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000" dirty="0">
                <a:latin typeface="楷体" panose="02010609060101010101" charset="-122"/>
                <a:ea typeface="楷体" panose="02010609060101010101" charset="-122"/>
                <a:cs typeface="楷体" panose="02010609060101010101" charset="-122"/>
                <a:sym typeface="楷体" panose="02010609060101010101" charset="-122"/>
              </a:rPr>
              <a:t>A.</a:t>
            </a:r>
            <a:r>
              <a:rPr lang="zh-CN" altLang="en-US" sz="2000" dirty="0">
                <a:latin typeface="楷体" panose="02010609060101010101" charset="-122"/>
                <a:ea typeface="楷体" panose="02010609060101010101" charset="-122"/>
                <a:cs typeface="楷体" panose="02010609060101010101" charset="-122"/>
                <a:sym typeface="楷体" panose="02010609060101010101" charset="-122"/>
              </a:rPr>
              <a:t>有证据表明，为确保人类具有亲社会、有同情心、善良和慷慨的行为，睡眠是一个不可或缺的润滑剂</a:t>
            </a:r>
            <a:endParaRPr lang="zh-CN" altLang="en-US" sz="20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000" dirty="0">
                <a:latin typeface="楷体" panose="02010609060101010101" charset="-122"/>
                <a:ea typeface="楷体" panose="02010609060101010101" charset="-122"/>
                <a:cs typeface="楷体" panose="02010609060101010101" charset="-122"/>
                <a:sym typeface="楷体" panose="02010609060101010101" charset="-122"/>
              </a:rPr>
              <a:t>B.</a:t>
            </a:r>
            <a:r>
              <a:rPr lang="zh-CN" altLang="en-US" sz="2000" dirty="0">
                <a:latin typeface="楷体" panose="02010609060101010101" charset="-122"/>
                <a:ea typeface="楷体" panose="02010609060101010101" charset="-122"/>
                <a:cs typeface="楷体" panose="02010609060101010101" charset="-122"/>
                <a:sym typeface="楷体" panose="02010609060101010101" charset="-122"/>
              </a:rPr>
              <a:t>睡眠不足会让人更缺乏同情心，更不慷慨，在社交上更孤独与孤僻，而孤独感是会传染的</a:t>
            </a:r>
            <a:endParaRPr lang="zh-CN" altLang="en-US" sz="20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000" dirty="0">
                <a:latin typeface="楷体" panose="02010609060101010101" charset="-122"/>
                <a:ea typeface="楷体" panose="02010609060101010101" charset="-122"/>
                <a:cs typeface="楷体" panose="02010609060101010101" charset="-122"/>
                <a:sym typeface="楷体" panose="02010609060101010101" charset="-122"/>
              </a:rPr>
              <a:t>C.</a:t>
            </a:r>
            <a:r>
              <a:rPr lang="zh-CN" altLang="en-US" sz="2000" dirty="0">
                <a:latin typeface="楷体" panose="02010609060101010101" charset="-122"/>
                <a:ea typeface="楷体" panose="02010609060101010101" charset="-122"/>
                <a:cs typeface="楷体" panose="02010609060101010101" charset="-122"/>
                <a:sym typeface="楷体" panose="02010609060101010101" charset="-122"/>
              </a:rPr>
              <a:t>被试者在睡眠不足条件下，其大脑中的社会认知网络变得不活跃，且助人意愿也显著下降</a:t>
            </a:r>
            <a:endParaRPr lang="zh-CN" altLang="en-US" sz="20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000" dirty="0">
                <a:latin typeface="楷体" panose="02010609060101010101" charset="-122"/>
                <a:ea typeface="楷体" panose="02010609060101010101" charset="-122"/>
                <a:cs typeface="楷体" panose="02010609060101010101" charset="-122"/>
                <a:sym typeface="楷体" panose="02010609060101010101" charset="-122"/>
              </a:rPr>
              <a:t>D.</a:t>
            </a:r>
            <a:r>
              <a:rPr lang="zh-CN" altLang="en-US" sz="2000" dirty="0">
                <a:latin typeface="楷体" panose="02010609060101010101" charset="-122"/>
                <a:ea typeface="楷体" panose="02010609060101010101" charset="-122"/>
                <a:cs typeface="楷体" panose="02010609060101010101" charset="-122"/>
                <a:sym typeface="楷体" panose="02010609060101010101" charset="-122"/>
              </a:rPr>
              <a:t>在与他人进行互助时，那些睡眠不足的人几乎像病毒一样将自己的孤独感传染给了其他人</a:t>
            </a:r>
            <a:endParaRPr lang="zh-CN" altLang="en-US" sz="2000" dirty="0">
              <a:latin typeface="楷体" panose="02010609060101010101" charset="-122"/>
              <a:ea typeface="楷体" panose="02010609060101010101" charset="-122"/>
              <a:cs typeface="楷体" panose="02010609060101010101" charset="-122"/>
              <a:sym typeface="楷体" panose="02010609060101010101" charset="-122"/>
            </a:endParaRPr>
          </a:p>
        </p:txBody>
      </p:sp>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608400" y="208350"/>
            <a:ext cx="10969200" cy="705600"/>
          </a:xfrm>
        </p:spPr>
        <p:txBody>
          <a:bodyPr/>
          <a:lstStyle/>
          <a:p>
            <a:pPr algn="l">
              <a:buClrTx/>
              <a:buSzTx/>
              <a:buFontTx/>
            </a:pPr>
            <a:r>
              <a:rPr kumimoji="1" lang="zh-CN" sz="3735" b="1" dirty="0">
                <a:solidFill>
                  <a:srgbClr val="FF653F"/>
                </a:solidFill>
                <a:latin typeface="+mj-lt"/>
                <a:ea typeface="+mj-lt"/>
                <a:cs typeface="+mj-lt"/>
              </a:rPr>
              <a:t>题</a:t>
            </a:r>
            <a:r>
              <a:rPr kumimoji="1" lang="en-US" altLang="zh-CN" sz="3735" b="1" dirty="0">
                <a:solidFill>
                  <a:srgbClr val="FF653F"/>
                </a:solidFill>
                <a:latin typeface="+mj-lt"/>
                <a:ea typeface="+mj-lt"/>
                <a:cs typeface="+mj-lt"/>
              </a:rPr>
              <a:t>102</a:t>
            </a:r>
            <a:endParaRPr kumimoji="1" lang="en-US" altLang="zh-CN" sz="3735" b="1" dirty="0">
              <a:solidFill>
                <a:srgbClr val="FF653F"/>
              </a:solidFill>
              <a:latin typeface="+mj-lt"/>
              <a:ea typeface="+mj-lt"/>
              <a:cs typeface="+mj-lt"/>
            </a:endParaRPr>
          </a:p>
        </p:txBody>
      </p:sp>
      <p:sp>
        <p:nvSpPr>
          <p:cNvPr id="4" name="文本框 3"/>
          <p:cNvSpPr txBox="1"/>
          <p:nvPr/>
        </p:nvSpPr>
        <p:spPr>
          <a:xfrm>
            <a:off x="608330" y="913765"/>
            <a:ext cx="10968355" cy="4661535"/>
          </a:xfrm>
          <a:prstGeom prst="rect">
            <a:avLst/>
          </a:prstGeom>
          <a:noFill/>
        </p:spPr>
        <p:txBody>
          <a:bodyPr wrap="square" rtlCol="0" anchor="t">
            <a:spAutoFit/>
          </a:bodyPr>
          <a:p>
            <a:pPr indent="0" algn="l" fontAlgn="auto">
              <a:lnSpc>
                <a:spcPct val="150000"/>
              </a:lnSpc>
            </a:pPr>
            <a:r>
              <a:rPr lang="zh-CN" altLang="en-US" sz="2200" dirty="0">
                <a:latin typeface="楷体" panose="02010609060101010101" charset="-122"/>
                <a:ea typeface="楷体" panose="02010609060101010101" charset="-122"/>
                <a:cs typeface="楷体" panose="02010609060101010101" charset="-122"/>
                <a:sym typeface="楷体" panose="02010609060101010101" charset="-122"/>
              </a:rPr>
              <a:t>国外有纳米工程师已开发出抗肺炎微型机器人，其由藻类细胞制成，表面点缀着抗生素填充的纳米颗粒，由藻类提供运动能力，使微型机器人能够四处游动，并将抗生素直接输送到肺部的更多细菌中，通过提供的药物清除危及生命的细菌性肺炎感染。研究结果表明，靶向药物递送与微型机器人的主动运动相结合可提高治疗效果。</a:t>
            </a:r>
            <a:endParaRPr lang="zh-CN" altLang="en-US" sz="22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zh-CN" altLang="en-US" sz="2200" dirty="0">
                <a:latin typeface="楷体" panose="02010609060101010101" charset="-122"/>
                <a:ea typeface="楷体" panose="02010609060101010101" charset="-122"/>
                <a:cs typeface="楷体" panose="02010609060101010101" charset="-122"/>
                <a:sym typeface="楷体" panose="02010609060101010101" charset="-122"/>
              </a:rPr>
              <a:t>以下哪项如果为真，最能加强上述论证？</a:t>
            </a:r>
            <a:endParaRPr lang="zh-CN" altLang="en-US" sz="22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200" dirty="0">
                <a:latin typeface="楷体" panose="02010609060101010101" charset="-122"/>
                <a:ea typeface="楷体" panose="02010609060101010101" charset="-122"/>
                <a:cs typeface="楷体" panose="02010609060101010101" charset="-122"/>
                <a:sym typeface="楷体" panose="02010609060101010101" charset="-122"/>
              </a:rPr>
              <a:t>A.</a:t>
            </a:r>
            <a:r>
              <a:rPr lang="zh-CN" altLang="en-US" sz="2200" dirty="0">
                <a:latin typeface="楷体" panose="02010609060101010101" charset="-122"/>
                <a:ea typeface="楷体" panose="02010609060101010101" charset="-122"/>
                <a:cs typeface="楷体" panose="02010609060101010101" charset="-122"/>
                <a:sym typeface="楷体" panose="02010609060101010101" charset="-122"/>
              </a:rPr>
              <a:t>在小鼠试验中，微型机器人安全地消除了引起肺炎的细菌，小鼠存活率达</a:t>
            </a:r>
            <a:r>
              <a:rPr lang="en-US" altLang="zh-CN" sz="2200" dirty="0">
                <a:latin typeface="楷体" panose="02010609060101010101" charset="-122"/>
                <a:ea typeface="楷体" panose="02010609060101010101" charset="-122"/>
                <a:cs typeface="楷体" panose="02010609060101010101" charset="-122"/>
                <a:sym typeface="楷体" panose="02010609060101010101" charset="-122"/>
              </a:rPr>
              <a:t> 100%</a:t>
            </a:r>
            <a:endParaRPr lang="en-US" altLang="zh-CN" sz="22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200" dirty="0">
                <a:latin typeface="楷体" panose="02010609060101010101" charset="-122"/>
                <a:ea typeface="楷体" panose="02010609060101010101" charset="-122"/>
                <a:cs typeface="楷体" panose="02010609060101010101" charset="-122"/>
                <a:sym typeface="楷体" panose="02010609060101010101" charset="-122"/>
              </a:rPr>
              <a:t>B.</a:t>
            </a:r>
            <a:r>
              <a:rPr lang="zh-CN" altLang="en-US" sz="2200" dirty="0">
                <a:latin typeface="楷体" panose="02010609060101010101" charset="-122"/>
                <a:ea typeface="楷体" panose="02010609060101010101" charset="-122"/>
                <a:cs typeface="楷体" panose="02010609060101010101" charset="-122"/>
                <a:sym typeface="楷体" panose="02010609060101010101" charset="-122"/>
              </a:rPr>
              <a:t>微型机器人会将药物运输到需要的地方，而不是扩散到身体其他部位</a:t>
            </a:r>
            <a:endParaRPr lang="zh-CN" altLang="en-US" sz="22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200" dirty="0">
                <a:latin typeface="楷体" panose="02010609060101010101" charset="-122"/>
                <a:ea typeface="楷体" panose="02010609060101010101" charset="-122"/>
                <a:cs typeface="楷体" panose="02010609060101010101" charset="-122"/>
                <a:sym typeface="楷体" panose="02010609060101010101" charset="-122"/>
              </a:rPr>
              <a:t>C.</a:t>
            </a:r>
            <a:r>
              <a:rPr lang="zh-CN" altLang="en-US" sz="2200" dirty="0">
                <a:latin typeface="楷体" panose="02010609060101010101" charset="-122"/>
                <a:ea typeface="楷体" panose="02010609060101010101" charset="-122"/>
                <a:cs typeface="楷体" panose="02010609060101010101" charset="-122"/>
                <a:sym typeface="楷体" panose="02010609060101010101" charset="-122"/>
              </a:rPr>
              <a:t>微型机器人能够减少有害炎症，从而更有效地对抗肺部感染</a:t>
            </a:r>
            <a:endParaRPr lang="zh-CN" altLang="en-US" sz="22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200" dirty="0">
                <a:latin typeface="楷体" panose="02010609060101010101" charset="-122"/>
                <a:ea typeface="楷体" panose="02010609060101010101" charset="-122"/>
                <a:cs typeface="楷体" panose="02010609060101010101" charset="-122"/>
                <a:sym typeface="楷体" panose="02010609060101010101" charset="-122"/>
              </a:rPr>
              <a:t>D.</a:t>
            </a:r>
            <a:r>
              <a:rPr lang="zh-CN" altLang="en-US" sz="2200" dirty="0">
                <a:latin typeface="楷体" panose="02010609060101010101" charset="-122"/>
                <a:ea typeface="楷体" panose="02010609060101010101" charset="-122"/>
                <a:cs typeface="楷体" panose="02010609060101010101" charset="-122"/>
                <a:sym typeface="楷体" panose="02010609060101010101" charset="-122"/>
              </a:rPr>
              <a:t>使用微型机器人进行治疗比静脉注射抗生素更快产生药效</a:t>
            </a:r>
            <a:endParaRPr lang="zh-CN" altLang="en-US" sz="2200" dirty="0">
              <a:latin typeface="楷体" panose="02010609060101010101" charset="-122"/>
              <a:ea typeface="楷体" panose="02010609060101010101" charset="-122"/>
              <a:cs typeface="楷体" panose="02010609060101010101" charset="-122"/>
              <a:sym typeface="楷体" panose="02010609060101010101" charset="-122"/>
            </a:endParaRPr>
          </a:p>
        </p:txBody>
      </p:sp>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608400" y="208350"/>
            <a:ext cx="10969200" cy="705600"/>
          </a:xfrm>
        </p:spPr>
        <p:txBody>
          <a:bodyPr/>
          <a:lstStyle/>
          <a:p>
            <a:pPr algn="l">
              <a:buClrTx/>
              <a:buSzTx/>
              <a:buFontTx/>
            </a:pPr>
            <a:r>
              <a:rPr kumimoji="1" lang="zh-CN" sz="3735" b="1" dirty="0">
                <a:solidFill>
                  <a:srgbClr val="FF653F"/>
                </a:solidFill>
                <a:latin typeface="+mj-lt"/>
                <a:ea typeface="+mj-lt"/>
                <a:cs typeface="+mj-lt"/>
              </a:rPr>
              <a:t>题</a:t>
            </a:r>
            <a:r>
              <a:rPr kumimoji="1" lang="en-US" altLang="zh-CN" sz="3735" b="1" dirty="0">
                <a:solidFill>
                  <a:srgbClr val="FF653F"/>
                </a:solidFill>
                <a:latin typeface="+mj-lt"/>
                <a:ea typeface="+mj-lt"/>
                <a:cs typeface="+mj-lt"/>
              </a:rPr>
              <a:t>103</a:t>
            </a:r>
            <a:endParaRPr kumimoji="1" lang="en-US" altLang="zh-CN" sz="3735" b="1" dirty="0">
              <a:solidFill>
                <a:srgbClr val="FF653F"/>
              </a:solidFill>
              <a:latin typeface="+mj-lt"/>
              <a:ea typeface="+mj-lt"/>
              <a:cs typeface="+mj-lt"/>
            </a:endParaRPr>
          </a:p>
        </p:txBody>
      </p:sp>
      <p:sp>
        <p:nvSpPr>
          <p:cNvPr id="4" name="文本框 3"/>
          <p:cNvSpPr txBox="1"/>
          <p:nvPr/>
        </p:nvSpPr>
        <p:spPr>
          <a:xfrm>
            <a:off x="608330" y="913765"/>
            <a:ext cx="10968355" cy="5169535"/>
          </a:xfrm>
          <a:prstGeom prst="rect">
            <a:avLst/>
          </a:prstGeom>
          <a:noFill/>
        </p:spPr>
        <p:txBody>
          <a:bodyPr wrap="square" rtlCol="0" anchor="t">
            <a:spAutoFit/>
          </a:bodyPr>
          <a:p>
            <a:pPr indent="0" algn="l" fontAlgn="auto">
              <a:lnSpc>
                <a:spcPct val="150000"/>
              </a:lnSpc>
            </a:pPr>
            <a:r>
              <a:rPr lang="zh-CN" altLang="en-US" sz="2200" dirty="0">
                <a:latin typeface="楷体" panose="02010609060101010101" charset="-122"/>
                <a:ea typeface="楷体" panose="02010609060101010101" charset="-122"/>
                <a:cs typeface="楷体" panose="02010609060101010101" charset="-122"/>
                <a:sym typeface="楷体" panose="02010609060101010101" charset="-122"/>
              </a:rPr>
              <a:t>地球上水来自哪里？有研究认为彗星或小行星是主要来源。研究数据表明，彗星上的水分与地球水分并不匹配，而去年坠落在英国温奇科姆镇上的陨石中的水分与地球水分更匹配，这意味着小行星可能是太阳系内部和地球的主要水源。</a:t>
            </a:r>
            <a:endParaRPr lang="zh-CN" altLang="en-US" sz="22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zh-CN" altLang="en-US" sz="2200" dirty="0">
                <a:latin typeface="楷体" panose="02010609060101010101" charset="-122"/>
                <a:ea typeface="楷体" panose="02010609060101010101" charset="-122"/>
                <a:cs typeface="楷体" panose="02010609060101010101" charset="-122"/>
                <a:sym typeface="楷体" panose="02010609060101010101" charset="-122"/>
              </a:rPr>
              <a:t>以下哪项如果为真，最能削弱上述论证？</a:t>
            </a:r>
            <a:endParaRPr lang="zh-CN" altLang="en-US" sz="22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200" dirty="0">
                <a:latin typeface="楷体" panose="02010609060101010101" charset="-122"/>
                <a:ea typeface="楷体" panose="02010609060101010101" charset="-122"/>
                <a:cs typeface="楷体" panose="02010609060101010101" charset="-122"/>
                <a:sym typeface="楷体" panose="02010609060101010101" charset="-122"/>
              </a:rPr>
              <a:t>A.</a:t>
            </a:r>
            <a:r>
              <a:rPr lang="zh-CN" altLang="en-US" sz="2200" dirty="0">
                <a:latin typeface="楷体" panose="02010609060101010101" charset="-122"/>
                <a:ea typeface="楷体" panose="02010609060101010101" charset="-122"/>
                <a:cs typeface="楷体" panose="02010609060101010101" charset="-122"/>
                <a:sym typeface="楷体" panose="02010609060101010101" charset="-122"/>
              </a:rPr>
              <a:t>温奇科姆镇的陨石被发现的时候，当地正是雨季并且当天刚下过雨</a:t>
            </a:r>
            <a:endParaRPr lang="zh-CN" altLang="en-US" sz="22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200" dirty="0">
                <a:latin typeface="楷体" panose="02010609060101010101" charset="-122"/>
                <a:ea typeface="楷体" panose="02010609060101010101" charset="-122"/>
                <a:cs typeface="楷体" panose="02010609060101010101" charset="-122"/>
                <a:sym typeface="楷体" panose="02010609060101010101" charset="-122"/>
              </a:rPr>
              <a:t>B.</a:t>
            </a:r>
            <a:r>
              <a:rPr lang="zh-CN" altLang="en-US" sz="2200" dirty="0">
                <a:latin typeface="楷体" panose="02010609060101010101" charset="-122"/>
                <a:ea typeface="楷体" panose="02010609060101010101" charset="-122"/>
                <a:cs typeface="楷体" panose="02010609060101010101" charset="-122"/>
                <a:sym typeface="楷体" panose="02010609060101010101" charset="-122"/>
              </a:rPr>
              <a:t>温奇科姆镇的陨石较少部分由水组成，这些水的组成与地球海洋中水的组成较为相似</a:t>
            </a:r>
            <a:endParaRPr lang="zh-CN" altLang="en-US" sz="22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200" dirty="0">
                <a:latin typeface="楷体" panose="02010609060101010101" charset="-122"/>
                <a:ea typeface="楷体" panose="02010609060101010101" charset="-122"/>
                <a:cs typeface="楷体" panose="02010609060101010101" charset="-122"/>
                <a:sym typeface="楷体" panose="02010609060101010101" charset="-122"/>
              </a:rPr>
              <a:t>C.</a:t>
            </a:r>
            <a:r>
              <a:rPr lang="zh-CN" altLang="en-US" sz="2200" dirty="0">
                <a:latin typeface="楷体" panose="02010609060101010101" charset="-122"/>
                <a:ea typeface="楷体" panose="02010609060101010101" charset="-122"/>
                <a:cs typeface="楷体" panose="02010609060101010101" charset="-122"/>
                <a:sym typeface="楷体" panose="02010609060101010101" charset="-122"/>
              </a:rPr>
              <a:t>温奇科姆镇发现的陨石是英国已知的第一颗碳质球粒陨石，碳质球粒陨石含水可能性较小</a:t>
            </a:r>
            <a:endParaRPr lang="zh-CN" altLang="en-US" sz="22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200" dirty="0">
                <a:latin typeface="楷体" panose="02010609060101010101" charset="-122"/>
                <a:ea typeface="楷体" panose="02010609060101010101" charset="-122"/>
                <a:cs typeface="楷体" panose="02010609060101010101" charset="-122"/>
                <a:sym typeface="楷体" panose="02010609060101010101" charset="-122"/>
              </a:rPr>
              <a:t>D.</a:t>
            </a:r>
            <a:r>
              <a:rPr lang="zh-CN" altLang="en-US" sz="2200" dirty="0">
                <a:latin typeface="楷体" panose="02010609060101010101" charset="-122"/>
                <a:ea typeface="楷体" panose="02010609060101010101" charset="-122"/>
                <a:cs typeface="楷体" panose="02010609060101010101" charset="-122"/>
                <a:sym typeface="楷体" panose="02010609060101010101" charset="-122"/>
              </a:rPr>
              <a:t>温奇科姆镇这块陨石来自木星附近的一颗小行星，它形成于大约</a:t>
            </a:r>
            <a:r>
              <a:rPr lang="en-US" altLang="zh-CN" sz="2200" dirty="0">
                <a:latin typeface="楷体" panose="02010609060101010101" charset="-122"/>
                <a:ea typeface="楷体" panose="02010609060101010101" charset="-122"/>
                <a:cs typeface="楷体" panose="02010609060101010101" charset="-122"/>
                <a:sym typeface="楷体" panose="02010609060101010101" charset="-122"/>
              </a:rPr>
              <a:t> 50 </a:t>
            </a:r>
            <a:r>
              <a:rPr lang="zh-CN" altLang="en-US" sz="2200" dirty="0">
                <a:latin typeface="楷体" panose="02010609060101010101" charset="-122"/>
                <a:ea typeface="楷体" panose="02010609060101010101" charset="-122"/>
                <a:cs typeface="楷体" panose="02010609060101010101" charset="-122"/>
                <a:sym typeface="楷体" panose="02010609060101010101" charset="-122"/>
              </a:rPr>
              <a:t>亿年前，比地球的形成要早</a:t>
            </a:r>
            <a:endParaRPr lang="zh-CN" altLang="en-US" sz="2200" dirty="0">
              <a:latin typeface="楷体" panose="02010609060101010101" charset="-122"/>
              <a:ea typeface="楷体" panose="02010609060101010101" charset="-122"/>
              <a:cs typeface="楷体" panose="02010609060101010101" charset="-122"/>
              <a:sym typeface="楷体" panose="02010609060101010101" charset="-122"/>
            </a:endParaRPr>
          </a:p>
        </p:txBody>
      </p:sp>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608400" y="208350"/>
            <a:ext cx="10969200" cy="705600"/>
          </a:xfrm>
        </p:spPr>
        <p:txBody>
          <a:bodyPr/>
          <a:lstStyle/>
          <a:p>
            <a:pPr algn="l">
              <a:buClrTx/>
              <a:buSzTx/>
              <a:buFontTx/>
            </a:pPr>
            <a:r>
              <a:rPr kumimoji="1" lang="zh-CN" sz="3735" b="1" dirty="0">
                <a:solidFill>
                  <a:srgbClr val="FF653F"/>
                </a:solidFill>
                <a:latin typeface="+mj-lt"/>
                <a:ea typeface="+mj-lt"/>
                <a:cs typeface="+mj-lt"/>
              </a:rPr>
              <a:t>题</a:t>
            </a:r>
            <a:r>
              <a:rPr kumimoji="1" lang="en-US" altLang="zh-CN" sz="3735" b="1" dirty="0">
                <a:solidFill>
                  <a:srgbClr val="FF653F"/>
                </a:solidFill>
                <a:latin typeface="+mj-lt"/>
                <a:ea typeface="+mj-lt"/>
                <a:cs typeface="+mj-lt"/>
              </a:rPr>
              <a:t>104</a:t>
            </a:r>
            <a:endParaRPr kumimoji="1" lang="en-US" altLang="zh-CN" sz="3735" b="1" dirty="0">
              <a:solidFill>
                <a:srgbClr val="FF653F"/>
              </a:solidFill>
              <a:latin typeface="+mj-lt"/>
              <a:ea typeface="+mj-lt"/>
              <a:cs typeface="+mj-lt"/>
            </a:endParaRPr>
          </a:p>
        </p:txBody>
      </p:sp>
      <p:sp>
        <p:nvSpPr>
          <p:cNvPr id="4" name="文本框 3"/>
          <p:cNvSpPr txBox="1"/>
          <p:nvPr/>
        </p:nvSpPr>
        <p:spPr>
          <a:xfrm>
            <a:off x="608330" y="913765"/>
            <a:ext cx="10968355" cy="5077460"/>
          </a:xfrm>
          <a:prstGeom prst="rect">
            <a:avLst/>
          </a:prstGeom>
          <a:noFill/>
        </p:spPr>
        <p:txBody>
          <a:bodyPr wrap="square" rtlCol="0" anchor="t">
            <a:spAutoFit/>
          </a:bodyPr>
          <a:p>
            <a:pPr indent="0" algn="l" fontAlgn="auto">
              <a:lnSpc>
                <a:spcPct val="150000"/>
              </a:lnSpc>
            </a:pP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小张想利用三天假期自驾川西小环线，去过的同事给出了如下建议：</a:t>
            </a:r>
            <a:endParaRPr lang="zh-CN" altLang="en-US" sz="24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en-US" sz="2400" dirty="0">
                <a:latin typeface="楷体" panose="02010609060101010101" charset="-122"/>
                <a:ea typeface="楷体" panose="02010609060101010101" charset="-122"/>
                <a:cs typeface="楷体" panose="02010609060101010101" charset="-122"/>
                <a:sym typeface="楷体" panose="02010609060101010101" charset="-122"/>
              </a:rPr>
              <a:t>①</a:t>
            </a: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如果去四姑娘山，就不去墨石公园</a:t>
            </a:r>
            <a:endParaRPr lang="zh-CN" altLang="en-US" sz="24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en-US" sz="2400" dirty="0">
                <a:latin typeface="楷体" panose="02010609060101010101" charset="-122"/>
                <a:ea typeface="楷体" panose="02010609060101010101" charset="-122"/>
                <a:cs typeface="楷体" panose="02010609060101010101" charset="-122"/>
                <a:sym typeface="楷体" panose="02010609060101010101" charset="-122"/>
              </a:rPr>
              <a:t>②</a:t>
            </a: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塔公草原和墨石公园去一个就好</a:t>
            </a:r>
            <a:endParaRPr lang="zh-CN" altLang="en-US" sz="24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en-US" sz="2400" dirty="0">
                <a:latin typeface="楷体" panose="02010609060101010101" charset="-122"/>
                <a:ea typeface="楷体" panose="02010609060101010101" charset="-122"/>
                <a:cs typeface="楷体" panose="02010609060101010101" charset="-122"/>
                <a:sym typeface="楷体" panose="02010609060101010101" charset="-122"/>
              </a:rPr>
              <a:t>③</a:t>
            </a: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塔公草原和墨石公园都不去</a:t>
            </a:r>
            <a:endParaRPr lang="zh-CN" altLang="en-US" sz="24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小张犹豫了一下，对于同事的建议都没采纳，那么小张游玩了哪些景点</a:t>
            </a: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a:t>
            </a:r>
            <a:endParaRPr lang="en-US" altLang="zh-CN" sz="24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A.</a:t>
            </a: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去了四姑娘山、塔公草原、墨石公园</a:t>
            </a:r>
            <a:endParaRPr lang="zh-CN" altLang="en-US" sz="24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B.</a:t>
            </a: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去了塔公草原、墨石公园，没去四姑娘山</a:t>
            </a:r>
            <a:endParaRPr lang="zh-CN" altLang="en-US" sz="24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C.</a:t>
            </a: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去了四姑娘山，没去塔公草原、墨石公园</a:t>
            </a:r>
            <a:endParaRPr lang="zh-CN" altLang="en-US" sz="24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D.</a:t>
            </a: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没去四姑娘山、塔公草原，去了墨石公园</a:t>
            </a:r>
            <a:endParaRPr lang="zh-CN" altLang="en-US" sz="2400" dirty="0">
              <a:latin typeface="楷体" panose="02010609060101010101" charset="-122"/>
              <a:ea typeface="楷体" panose="02010609060101010101" charset="-122"/>
              <a:cs typeface="楷体" panose="02010609060101010101" charset="-122"/>
              <a:sym typeface="楷体" panose="02010609060101010101" charset="-122"/>
            </a:endParaRPr>
          </a:p>
        </p:txBody>
      </p:sp>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608400" y="208350"/>
            <a:ext cx="10969200" cy="705600"/>
          </a:xfrm>
        </p:spPr>
        <p:txBody>
          <a:bodyPr/>
          <a:lstStyle/>
          <a:p>
            <a:pPr algn="l">
              <a:buClrTx/>
              <a:buSzTx/>
              <a:buFontTx/>
            </a:pPr>
            <a:r>
              <a:rPr kumimoji="1" lang="zh-CN" sz="3735" b="1" dirty="0">
                <a:solidFill>
                  <a:srgbClr val="FF653F"/>
                </a:solidFill>
                <a:latin typeface="+mj-lt"/>
                <a:ea typeface="+mj-lt"/>
                <a:cs typeface="+mj-lt"/>
              </a:rPr>
              <a:t>题</a:t>
            </a:r>
            <a:r>
              <a:rPr kumimoji="1" lang="en-US" altLang="zh-CN" sz="3735" b="1" dirty="0">
                <a:solidFill>
                  <a:srgbClr val="FF653F"/>
                </a:solidFill>
                <a:latin typeface="+mj-lt"/>
                <a:ea typeface="+mj-lt"/>
                <a:cs typeface="+mj-lt"/>
              </a:rPr>
              <a:t>105</a:t>
            </a:r>
            <a:endParaRPr kumimoji="1" lang="en-US" altLang="zh-CN" sz="3735" b="1" dirty="0">
              <a:solidFill>
                <a:srgbClr val="FF653F"/>
              </a:solidFill>
              <a:latin typeface="+mj-lt"/>
              <a:ea typeface="+mj-lt"/>
              <a:cs typeface="+mj-lt"/>
            </a:endParaRPr>
          </a:p>
        </p:txBody>
      </p:sp>
      <p:sp>
        <p:nvSpPr>
          <p:cNvPr id="4" name="文本框 3"/>
          <p:cNvSpPr txBox="1"/>
          <p:nvPr/>
        </p:nvSpPr>
        <p:spPr>
          <a:xfrm>
            <a:off x="608330" y="913765"/>
            <a:ext cx="10968355" cy="5303520"/>
          </a:xfrm>
          <a:prstGeom prst="rect">
            <a:avLst/>
          </a:prstGeom>
          <a:noFill/>
        </p:spPr>
        <p:txBody>
          <a:bodyPr wrap="square" rtlCol="0" anchor="t">
            <a:spAutoFit/>
          </a:bodyPr>
          <a:p>
            <a:pPr indent="0" algn="l" fontAlgn="auto">
              <a:lnSpc>
                <a:spcPct val="140000"/>
              </a:lnSpc>
            </a:pPr>
            <a:r>
              <a:rPr lang="zh-CN" altLang="en-US" sz="2200" dirty="0">
                <a:latin typeface="楷体" panose="02010609060101010101" charset="-122"/>
                <a:ea typeface="楷体" panose="02010609060101010101" charset="-122"/>
                <a:cs typeface="楷体" panose="02010609060101010101" charset="-122"/>
                <a:sym typeface="楷体" panose="02010609060101010101" charset="-122"/>
              </a:rPr>
              <a:t>周末，甲、乙、丙、丁在商场偶遇，一阵寒暄过后得知，他们几人在商场要么只看了电影，要么只购了物：</a:t>
            </a:r>
            <a:endParaRPr lang="zh-CN" altLang="en-US" sz="22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40000"/>
              </a:lnSpc>
            </a:pPr>
            <a:r>
              <a:rPr lang="en-US" altLang="en-US" sz="2200" dirty="0">
                <a:latin typeface="楷体" panose="02010609060101010101" charset="-122"/>
                <a:ea typeface="楷体" panose="02010609060101010101" charset="-122"/>
                <a:cs typeface="楷体" panose="02010609060101010101" charset="-122"/>
                <a:sym typeface="楷体" panose="02010609060101010101" charset="-122"/>
              </a:rPr>
              <a:t>①</a:t>
            </a:r>
            <a:r>
              <a:rPr lang="zh-CN" altLang="en-US" sz="2200" dirty="0">
                <a:latin typeface="楷体" panose="02010609060101010101" charset="-122"/>
                <a:ea typeface="楷体" panose="02010609060101010101" charset="-122"/>
                <a:cs typeface="楷体" panose="02010609060101010101" charset="-122"/>
                <a:sym typeface="楷体" panose="02010609060101010101" charset="-122"/>
              </a:rPr>
              <a:t>丁有购物</a:t>
            </a:r>
            <a:endParaRPr lang="zh-CN" altLang="en-US" sz="22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40000"/>
              </a:lnSpc>
            </a:pPr>
            <a:r>
              <a:rPr lang="en-US" altLang="en-US" sz="2200" dirty="0">
                <a:latin typeface="楷体" panose="02010609060101010101" charset="-122"/>
                <a:ea typeface="楷体" panose="02010609060101010101" charset="-122"/>
                <a:cs typeface="楷体" panose="02010609060101010101" charset="-122"/>
                <a:sym typeface="楷体" panose="02010609060101010101" charset="-122"/>
              </a:rPr>
              <a:t>②</a:t>
            </a:r>
            <a:r>
              <a:rPr lang="zh-CN" altLang="en-US" sz="2200" dirty="0">
                <a:latin typeface="楷体" panose="02010609060101010101" charset="-122"/>
                <a:ea typeface="楷体" panose="02010609060101010101" charset="-122"/>
                <a:cs typeface="楷体" panose="02010609060101010101" charset="-122"/>
                <a:sym typeface="楷体" panose="02010609060101010101" charset="-122"/>
              </a:rPr>
              <a:t>如果甲有购物，那么乙去看了电影</a:t>
            </a:r>
            <a:endParaRPr lang="zh-CN" altLang="en-US" sz="22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40000"/>
              </a:lnSpc>
            </a:pPr>
            <a:r>
              <a:rPr lang="en-US" altLang="en-US" sz="2200" dirty="0">
                <a:latin typeface="楷体" panose="02010609060101010101" charset="-122"/>
                <a:ea typeface="楷体" panose="02010609060101010101" charset="-122"/>
                <a:cs typeface="楷体" panose="02010609060101010101" charset="-122"/>
                <a:sym typeface="楷体" panose="02010609060101010101" charset="-122"/>
              </a:rPr>
              <a:t>③</a:t>
            </a:r>
            <a:r>
              <a:rPr lang="zh-CN" altLang="en-US" sz="2200" dirty="0">
                <a:latin typeface="楷体" panose="02010609060101010101" charset="-122"/>
                <a:ea typeface="楷体" panose="02010609060101010101" charset="-122"/>
                <a:cs typeface="楷体" panose="02010609060101010101" charset="-122"/>
                <a:sym typeface="楷体" panose="02010609060101010101" charset="-122"/>
              </a:rPr>
              <a:t>如果丁没有购物，那么丙去看了电影</a:t>
            </a:r>
            <a:endParaRPr lang="zh-CN" altLang="en-US" sz="22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40000"/>
              </a:lnSpc>
            </a:pPr>
            <a:r>
              <a:rPr lang="en-US" altLang="en-US" sz="2200" dirty="0">
                <a:latin typeface="楷体" panose="02010609060101010101" charset="-122"/>
                <a:ea typeface="楷体" panose="02010609060101010101" charset="-122"/>
                <a:cs typeface="楷体" panose="02010609060101010101" charset="-122"/>
                <a:sym typeface="楷体" panose="02010609060101010101" charset="-122"/>
              </a:rPr>
              <a:t>④</a:t>
            </a:r>
            <a:r>
              <a:rPr lang="zh-CN" altLang="en-US" sz="2200" dirty="0">
                <a:latin typeface="楷体" panose="02010609060101010101" charset="-122"/>
                <a:ea typeface="楷体" panose="02010609060101010101" charset="-122"/>
                <a:cs typeface="楷体" panose="02010609060101010101" charset="-122"/>
                <a:sym typeface="楷体" panose="02010609060101010101" charset="-122"/>
              </a:rPr>
              <a:t>甲和乙都有购物</a:t>
            </a:r>
            <a:endParaRPr lang="zh-CN" altLang="en-US" sz="22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40000"/>
              </a:lnSpc>
            </a:pPr>
            <a:r>
              <a:rPr lang="zh-CN" altLang="en-US" sz="2200" dirty="0">
                <a:latin typeface="楷体" panose="02010609060101010101" charset="-122"/>
                <a:ea typeface="楷体" panose="02010609060101010101" charset="-122"/>
                <a:cs typeface="楷体" panose="02010609060101010101" charset="-122"/>
                <a:sym typeface="楷体" panose="02010609060101010101" charset="-122"/>
              </a:rPr>
              <a:t>如果以上陈述只有一项为真，可以推出：</a:t>
            </a:r>
            <a:endParaRPr lang="zh-CN" altLang="en-US" sz="22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40000"/>
              </a:lnSpc>
            </a:pPr>
            <a:r>
              <a:rPr lang="en-US" altLang="zh-CN" sz="2200" dirty="0">
                <a:latin typeface="楷体" panose="02010609060101010101" charset="-122"/>
                <a:ea typeface="楷体" panose="02010609060101010101" charset="-122"/>
                <a:cs typeface="楷体" panose="02010609060101010101" charset="-122"/>
                <a:sym typeface="楷体" panose="02010609060101010101" charset="-122"/>
              </a:rPr>
              <a:t>A.</a:t>
            </a:r>
            <a:r>
              <a:rPr lang="zh-CN" altLang="en-US" sz="2200" dirty="0">
                <a:latin typeface="楷体" panose="02010609060101010101" charset="-122"/>
                <a:ea typeface="楷体" panose="02010609060101010101" charset="-122"/>
                <a:cs typeface="楷体" panose="02010609060101010101" charset="-122"/>
                <a:sym typeface="楷体" panose="02010609060101010101" charset="-122"/>
              </a:rPr>
              <a:t>乙有购物，甲看了电影</a:t>
            </a:r>
            <a:endParaRPr lang="zh-CN" altLang="en-US" sz="22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40000"/>
              </a:lnSpc>
            </a:pPr>
            <a:r>
              <a:rPr lang="en-US" altLang="zh-CN" sz="2200" dirty="0">
                <a:latin typeface="楷体" panose="02010609060101010101" charset="-122"/>
                <a:ea typeface="楷体" panose="02010609060101010101" charset="-122"/>
                <a:cs typeface="楷体" panose="02010609060101010101" charset="-122"/>
                <a:sym typeface="楷体" panose="02010609060101010101" charset="-122"/>
              </a:rPr>
              <a:t>B.</a:t>
            </a:r>
            <a:r>
              <a:rPr lang="zh-CN" altLang="en-US" sz="2200" dirty="0">
                <a:latin typeface="楷体" panose="02010609060101010101" charset="-122"/>
                <a:ea typeface="楷体" panose="02010609060101010101" charset="-122"/>
                <a:cs typeface="楷体" panose="02010609060101010101" charset="-122"/>
                <a:sym typeface="楷体" panose="02010609060101010101" charset="-122"/>
              </a:rPr>
              <a:t>丙有购物，乙看了电影</a:t>
            </a:r>
            <a:endParaRPr lang="zh-CN" altLang="en-US" sz="22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40000"/>
              </a:lnSpc>
            </a:pPr>
            <a:r>
              <a:rPr lang="en-US" altLang="zh-CN" sz="2200" dirty="0">
                <a:latin typeface="楷体" panose="02010609060101010101" charset="-122"/>
                <a:ea typeface="楷体" panose="02010609060101010101" charset="-122"/>
                <a:cs typeface="楷体" panose="02010609060101010101" charset="-122"/>
                <a:sym typeface="楷体" panose="02010609060101010101" charset="-122"/>
              </a:rPr>
              <a:t>C.</a:t>
            </a:r>
            <a:r>
              <a:rPr lang="zh-CN" altLang="en-US" sz="2200" dirty="0">
                <a:latin typeface="楷体" panose="02010609060101010101" charset="-122"/>
                <a:ea typeface="楷体" panose="02010609060101010101" charset="-122"/>
                <a:cs typeface="楷体" panose="02010609060101010101" charset="-122"/>
                <a:sym typeface="楷体" panose="02010609060101010101" charset="-122"/>
              </a:rPr>
              <a:t>丙有购物，丁看了电影</a:t>
            </a:r>
            <a:endParaRPr lang="zh-CN" altLang="en-US" sz="22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40000"/>
              </a:lnSpc>
            </a:pPr>
            <a:r>
              <a:rPr lang="en-US" altLang="zh-CN" sz="2200" dirty="0">
                <a:latin typeface="楷体" panose="02010609060101010101" charset="-122"/>
                <a:ea typeface="楷体" panose="02010609060101010101" charset="-122"/>
                <a:cs typeface="楷体" panose="02010609060101010101" charset="-122"/>
                <a:sym typeface="楷体" panose="02010609060101010101" charset="-122"/>
              </a:rPr>
              <a:t>D.</a:t>
            </a:r>
            <a:r>
              <a:rPr lang="zh-CN" altLang="en-US" sz="2200" dirty="0">
                <a:latin typeface="楷体" panose="02010609060101010101" charset="-122"/>
                <a:ea typeface="楷体" panose="02010609060101010101" charset="-122"/>
                <a:cs typeface="楷体" panose="02010609060101010101" charset="-122"/>
                <a:sym typeface="楷体" panose="02010609060101010101" charset="-122"/>
              </a:rPr>
              <a:t>甲和乙都看了电影</a:t>
            </a:r>
            <a:endParaRPr lang="zh-CN" altLang="en-US" sz="2200" dirty="0">
              <a:latin typeface="楷体" panose="02010609060101010101" charset="-122"/>
              <a:ea typeface="楷体" panose="02010609060101010101" charset="-122"/>
              <a:cs typeface="楷体" panose="02010609060101010101" charset="-122"/>
              <a:sym typeface="楷体" panose="02010609060101010101" charset="-122"/>
            </a:endParaRPr>
          </a:p>
        </p:txBody>
      </p:sp>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descr="徽标&#10;&#10;AI 生成的内容可能不正确。"/>
          <p:cNvPicPr>
            <a:picLocks noChangeAspect="1"/>
          </p:cNvPicPr>
          <p:nvPr/>
        </p:nvPicPr>
        <p:blipFill>
          <a:blip r:embed="rId1"/>
          <a:srcRect t="9991" b="18252"/>
          <a:stretch>
            <a:fillRect/>
          </a:stretch>
        </p:blipFill>
        <p:spPr>
          <a:xfrm>
            <a:off x="4437879" y="883627"/>
            <a:ext cx="2976453" cy="950430"/>
          </a:xfrm>
          <a:prstGeom prst="rect">
            <a:avLst/>
          </a:prstGeom>
        </p:spPr>
      </p:pic>
      <p:sp>
        <p:nvSpPr>
          <p:cNvPr id="4" name="文本框 3"/>
          <p:cNvSpPr txBox="1"/>
          <p:nvPr/>
        </p:nvSpPr>
        <p:spPr>
          <a:xfrm>
            <a:off x="4844561" y="2711751"/>
            <a:ext cx="2795954" cy="769441"/>
          </a:xfrm>
          <a:prstGeom prst="rect">
            <a:avLst/>
          </a:prstGeom>
          <a:noFill/>
        </p:spPr>
        <p:txBody>
          <a:bodyPr wrap="square" rtlCol="0">
            <a:spAutoFit/>
          </a:bodyPr>
          <a:lstStyle/>
          <a:p>
            <a:r>
              <a:rPr kumimoji="1" lang="zh-CN" altLang="en-US" sz="4400" b="1" dirty="0">
                <a:solidFill>
                  <a:srgbClr val="DC5037"/>
                </a:solidFill>
                <a:latin typeface="楷体" panose="02010609060101010101" charset="-122"/>
                <a:ea typeface="楷体" panose="02010609060101010101" charset="-122"/>
                <a:cs typeface="楷体" panose="02010609060101010101" charset="-122"/>
              </a:rPr>
              <a:t>感谢收看！</a:t>
            </a:r>
            <a:endParaRPr kumimoji="1" lang="zh-CN" altLang="en-US" sz="4400" b="1" dirty="0">
              <a:solidFill>
                <a:srgbClr val="DC5037"/>
              </a:solidFill>
              <a:latin typeface="楷体" panose="02010609060101010101" charset="-122"/>
              <a:ea typeface="楷体" panose="02010609060101010101" charset="-122"/>
              <a:cs typeface="楷体" panose="02010609060101010101" charset="-122"/>
            </a:endParaRPr>
          </a:p>
        </p:txBody>
      </p:sp>
    </p:spTree>
  </p:cSld>
  <p:clrMapOvr>
    <a:masterClrMapping/>
  </p:clrMapOvr>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3.xml><?xml version="1.0" encoding="utf-8"?>
<p:tagLst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081"/>
  <p:tag name="KSO_WM_TEMPLATE_MASTER_TYPE" val="0"/>
  <p:tag name="KSO_WM_TEMPLATE_COLOR_TYPE" val="1"/>
  <p:tag name="KSO_WM_UNIT_SHOW_EDIT_AREA_INDICATION" val="1"/>
</p:tagLst>
</file>

<file path=ppt/tags/tag4.xml><?xml version="1.0" encoding="utf-8"?>
<p:tagLst xmlns:p="http://schemas.openxmlformats.org/presentationml/2006/main">
  <p:tag name="resource_record_key" val="{&quot;13&quot;:[20481828,4364903,4364924],&quot;65&quot;:[20205081]}"/>
</p:tagLst>
</file>

<file path=ppt/theme/theme1.xml><?xml version="1.0" encoding="utf-8"?>
<a:theme xmlns:a="http://schemas.openxmlformats.org/drawingml/2006/main" name="自定义设计方案">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楷体"/>
        <a:ea typeface="楷体"/>
        <a:cs typeface=""/>
      </a:majorFont>
      <a:minorFont>
        <a:latin typeface="楷体"/>
        <a:ea typeface="楷体"/>
        <a:cs typeface=""/>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楷体"/>
        <a:ea typeface=""/>
        <a:cs typeface=""/>
        <a:font script="Jpan" typeface="ＭＳ Ｐゴシック"/>
        <a:font script="Hang" typeface="맑은 고딕"/>
        <a:font script="Hans" typeface="楷体"/>
        <a:font script="Hant" typeface="新細明體"/>
        <a:font script="Arab" typeface="楷体"/>
        <a:font script="Hebr" typeface="楷体"/>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楷体"/>
        <a:font script="Uigh" typeface="Microsoft Uighur"/>
        <a:font script="Geor" typeface="Sylfaen"/>
      </a:majorFont>
      <a:minorFont>
        <a:latin typeface="楷体"/>
        <a:ea typeface=""/>
        <a:cs typeface=""/>
        <a:font script="Jpan" typeface="ＭＳ Ｐゴシック"/>
        <a:font script="Hang" typeface="맑은 고딕"/>
        <a:font script="Hans" typeface="楷体"/>
        <a:font script="Hant" typeface="新細明體"/>
        <a:font script="Arab" typeface="楷体"/>
        <a:font script="Hebr" typeface="楷体"/>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楷体"/>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楷体"/>
        <a:ea typeface=""/>
        <a:cs typeface=""/>
        <a:font script="Jpan" typeface="ＭＳ Ｐゴシック"/>
        <a:font script="Hang" typeface="맑은 고딕"/>
        <a:font script="Hans" typeface="楷体"/>
        <a:font script="Hant" typeface="新細明體"/>
        <a:font script="Arab" typeface="楷体"/>
        <a:font script="Hebr" typeface="楷体"/>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楷体"/>
        <a:font script="Uigh" typeface="Microsoft Uighur"/>
        <a:font script="Geor" typeface="Sylfaen"/>
      </a:majorFont>
      <a:minorFont>
        <a:latin typeface="楷体"/>
        <a:ea typeface=""/>
        <a:cs typeface=""/>
        <a:font script="Jpan" typeface="ＭＳ Ｐゴシック"/>
        <a:font script="Hang" typeface="맑은 고딕"/>
        <a:font script="Hans" typeface="楷体"/>
        <a:font script="Hant" typeface="新細明體"/>
        <a:font script="Arab" typeface="楷体"/>
        <a:font script="Hebr" typeface="楷体"/>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楷体"/>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6471</Words>
  <Application>WPS 演示</Application>
  <PresentationFormat>宽屏</PresentationFormat>
  <Paragraphs>303</Paragraphs>
  <Slides>37</Slides>
  <Notes>4</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37</vt:i4>
      </vt:variant>
    </vt:vector>
  </HeadingPairs>
  <TitlesOfParts>
    <vt:vector size="46" baseType="lpstr">
      <vt:lpstr>Arial</vt:lpstr>
      <vt:lpstr>宋体</vt:lpstr>
      <vt:lpstr>Wingdings</vt:lpstr>
      <vt:lpstr>楷体</vt:lpstr>
      <vt:lpstr>Wingdings</vt:lpstr>
      <vt:lpstr>微软雅黑 Light</vt:lpstr>
      <vt:lpstr>微软雅黑</vt:lpstr>
      <vt:lpstr>Arial Unicode MS</vt:lpstr>
      <vt:lpstr>自定义设计方案</vt:lpstr>
      <vt:lpstr>PowerPoint 演示文稿</vt:lpstr>
      <vt:lpstr>题71</vt:lpstr>
      <vt:lpstr>题72</vt:lpstr>
      <vt:lpstr>题73</vt:lpstr>
      <vt:lpstr>题74</vt:lpstr>
      <vt:lpstr>题75</vt:lpstr>
      <vt:lpstr>题76</vt:lpstr>
      <vt:lpstr>题77</vt:lpstr>
      <vt:lpstr>题78</vt:lpstr>
      <vt:lpstr>题79</vt:lpstr>
      <vt:lpstr>题80</vt:lpstr>
      <vt:lpstr>题81</vt:lpstr>
      <vt:lpstr>题82</vt:lpstr>
      <vt:lpstr>题83</vt:lpstr>
      <vt:lpstr>题84</vt:lpstr>
      <vt:lpstr>题85</vt:lpstr>
      <vt:lpstr>题86</vt:lpstr>
      <vt:lpstr>题87</vt:lpstr>
      <vt:lpstr>题88</vt:lpstr>
      <vt:lpstr>题89</vt:lpstr>
      <vt:lpstr>题90</vt:lpstr>
      <vt:lpstr>题91</vt:lpstr>
      <vt:lpstr>题92</vt:lpstr>
      <vt:lpstr>题93</vt:lpstr>
      <vt:lpstr>题94</vt:lpstr>
      <vt:lpstr>题95</vt:lpstr>
      <vt:lpstr>题96</vt:lpstr>
      <vt:lpstr>题97</vt:lpstr>
      <vt:lpstr>题98</vt:lpstr>
      <vt:lpstr>题99</vt:lpstr>
      <vt:lpstr>题100</vt:lpstr>
      <vt:lpstr>题101</vt:lpstr>
      <vt:lpstr>题102</vt:lpstr>
      <vt:lpstr>题103</vt:lpstr>
      <vt:lpstr>题104</vt:lpstr>
      <vt:lpstr>题105</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空白演示</dc:title>
  <dc:creator/>
  <cp:lastModifiedBy>桑桑</cp:lastModifiedBy>
  <cp:revision>237</cp:revision>
  <dcterms:created xsi:type="dcterms:W3CDTF">2019-06-19T02:08:00Z</dcterms:created>
  <dcterms:modified xsi:type="dcterms:W3CDTF">2026-01-06T07:13:24Z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2052-12.1.0.24034</vt:lpwstr>
  </property>
  <property fmtid="{D5CDD505-2E9C-101B-9397-08002B2CF9AE}" pid="3" name="ICV">
    <vt:lpwstr>7E0F0589F6D94CFE8A4BC2AEA01394FF_11</vt:lpwstr>
  </property>
</Properties>
</file>