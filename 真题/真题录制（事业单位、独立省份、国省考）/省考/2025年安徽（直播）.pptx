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handoutMasterIdLst>
    <p:handoutMasterId r:id="rId41"/>
  </p:handoutMasterIdLst>
  <p:sldIdLst>
    <p:sldId id="1794" r:id="rId3"/>
    <p:sldId id="1823" r:id="rId5"/>
    <p:sldId id="1824" r:id="rId6"/>
    <p:sldId id="1825" r:id="rId7"/>
    <p:sldId id="1826" r:id="rId8"/>
    <p:sldId id="1827" r:id="rId9"/>
    <p:sldId id="1828" r:id="rId10"/>
    <p:sldId id="1829" r:id="rId11"/>
    <p:sldId id="1830" r:id="rId12"/>
    <p:sldId id="1831" r:id="rId13"/>
    <p:sldId id="1832" r:id="rId14"/>
    <p:sldId id="1833" r:id="rId15"/>
    <p:sldId id="1834" r:id="rId16"/>
    <p:sldId id="1835" r:id="rId17"/>
    <p:sldId id="1836" r:id="rId18"/>
    <p:sldId id="1837" r:id="rId19"/>
    <p:sldId id="1838" r:id="rId20"/>
    <p:sldId id="1839" r:id="rId21"/>
    <p:sldId id="1840" r:id="rId22"/>
    <p:sldId id="1841" r:id="rId23"/>
    <p:sldId id="1842" r:id="rId24"/>
    <p:sldId id="1843" r:id="rId25"/>
    <p:sldId id="1844" r:id="rId26"/>
    <p:sldId id="1845" r:id="rId27"/>
    <p:sldId id="1846" r:id="rId28"/>
    <p:sldId id="1847" r:id="rId29"/>
    <p:sldId id="1848" r:id="rId30"/>
    <p:sldId id="1849" r:id="rId31"/>
    <p:sldId id="1850" r:id="rId32"/>
    <p:sldId id="1851" r:id="rId33"/>
    <p:sldId id="1852" r:id="rId34"/>
    <p:sldId id="1853" r:id="rId35"/>
    <p:sldId id="1854" r:id="rId36"/>
    <p:sldId id="1855" r:id="rId37"/>
    <p:sldId id="1856" r:id="rId38"/>
    <p:sldId id="1857" r:id="rId39"/>
    <p:sldId id="1796" r:id="rId40"/>
  </p:sldIdLst>
  <p:sldSz cx="12192000" cy="6858000"/>
  <p:notesSz cx="6858000" cy="9144000"/>
  <p:custDataLst>
    <p:tags r:id="rId46"/>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250" userDrawn="1">
          <p15:clr>
            <a:srgbClr val="A4A3A4"/>
          </p15:clr>
        </p15:guide>
        <p15:guide id="2" pos="3837"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Wei" initials="2" lastIdx="9" clrIdx="0"/>
  <p:cmAuthor id="1" name="作者" initials="作" lastIdx="3" clrIdx="2"/>
  <p:cmAuthor id="2" name="许远超" initials="许" lastIdx="8" clrIdx="3"/>
  <p:cmAuthor id="3" name="Administrator" initials="A" lastIdx="1" clrIdx="2"/>
  <p:cmAuthor id="4" name="kingsoft" initials="k" lastIdx="1" clrIdx="0"/>
  <p:cmAuthor id="5" name="刘 译璟" initials="刘" lastIdx="32" clrIdx="0"/>
  <p:cmAuthor id="6" name="番茄花园" initials="番" lastIdx="1" clrIdx="0"/>
  <p:cmAuthor id="7" name="李鹏飞_6bQfzI3a" initials="李" lastIdx="0" clrIdx="0"/>
  <p:cmAuthor id="8" name="小珞_QjMfU7FR" initials="小" lastIdx="0" clrIdx="0"/>
  <p:cmAuthor id="9" name="骆倩怡_Znauj26B" initials="authorId_382814100" lastIdx="0" clrIdx="0"/>
  <p:cmAuthor id="249246244" name="桑桑" initials="桑" lastIdx="1" clrIdx="0"/>
  <p:cmAuthor id="10" name="caoyue" initials="c" lastIdx="1" clrIdx="9"/>
  <p:cmAuthor id="12" name="18309297108" initials="1" lastIdx="1" clrIdx="11"/>
  <p:cmAuthor id="13" name="xmiles" initials="x" lastIdx="1" clrIdx="12"/>
  <p:cmAuthor id="2001" name="Microsoft Office User" initials="MOU" lastIdx="1" clrIdx="2"/>
  <p:cmAuthor id="11" name="ibm" initials="i" lastIdx="5" clrIdx="10"/>
  <p:cmAuthor id="14" name="kobe" initials="k" lastIdx="1" clrIdx="13"/>
  <p:cmAuthor id="15" name="MIAI" initials="M" lastIdx="1" clrIdx="14"/>
  <p:cmAuthor id="16" name="HP" initials="H" lastIdx="1" clrIdx="15"/>
  <p:cmAuthor id="17" name="yangyaqin" initials="y" lastIdx="1" clrIdx="16"/>
  <p:cmAuthor id="18" name="ASUS" initials="A" lastIdx="1" clrIdx="1"/>
  <p:cmAuthor id="76" name="Yongqiang ZHOU" initials="YZ" lastIdx="1" clrIdx="25"/>
  <p:cmAuthor id="2000" name="Beck_jUrevum2" initials="authorId_724972424" lastIdx="0" clrIdx="0"/>
  <p:cmAuthor id="1483810881" name="WPS_1679281038" initials="W" lastIdx="1" clrIdx="2"/>
  <p:cmAuthor id="667521689" name="小蕊" initials="小" lastIdx="1" clrIdx="0"/>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FFFFFF"/>
    <a:srgbClr val="01368F"/>
    <a:srgbClr val="DCDCDC"/>
    <a:srgbClr val="F0F0F0"/>
    <a:srgbClr val="E6E6E6"/>
    <a:srgbClr val="C8C8C8"/>
    <a:srgbClr val="FAFAFA"/>
    <a:srgbClr val="BEBEB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778" autoAdjust="0"/>
    <p:restoredTop sz="94660"/>
  </p:normalViewPr>
  <p:slideViewPr>
    <p:cSldViewPr snapToGrid="0" showGuides="1">
      <p:cViewPr varScale="1">
        <p:scale>
          <a:sx n="99" d="100"/>
          <a:sy n="99" d="100"/>
        </p:scale>
        <p:origin x="84" y="582"/>
      </p:cViewPr>
      <p:guideLst>
        <p:guide orient="horz" pos="2250"/>
        <p:guide pos="3837"/>
      </p:guideLst>
    </p:cSldViewPr>
  </p:slideViewPr>
  <p:notesTextViewPr>
    <p:cViewPr>
      <p:scale>
        <a:sx n="3" d="2"/>
        <a:sy n="3" d="2"/>
      </p:scale>
      <p:origin x="0" y="0"/>
    </p:cViewPr>
  </p:notesTextViewPr>
  <p:notesViewPr>
    <p:cSldViewPr snapToGrid="0">
      <p:cViewPr varScale="1">
        <p:scale>
          <a:sx n="92" d="100"/>
          <a:sy n="92" d="100"/>
        </p:scale>
        <p:origin x="2550" y="102"/>
      </p:cViewPr>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6" Type="http://schemas.openxmlformats.org/officeDocument/2006/relationships/tags" Target="tags/tag4.xml"/><Relationship Id="rId45" Type="http://schemas.openxmlformats.org/officeDocument/2006/relationships/commentAuthors" Target="commentAuthors.xml"/><Relationship Id="rId44" Type="http://schemas.openxmlformats.org/officeDocument/2006/relationships/tableStyles" Target="tableStyles.xml"/><Relationship Id="rId43" Type="http://schemas.openxmlformats.org/officeDocument/2006/relationships/viewProps" Target="viewProps.xml"/><Relationship Id="rId42" Type="http://schemas.openxmlformats.org/officeDocument/2006/relationships/presProps" Target="presProps.xml"/><Relationship Id="rId41" Type="http://schemas.openxmlformats.org/officeDocument/2006/relationships/handoutMaster" Target="handoutMasters/handoutMaster1.xml"/><Relationship Id="rId40" Type="http://schemas.openxmlformats.org/officeDocument/2006/relationships/slide" Target="slides/slide37.xml"/><Relationship Id="rId4" Type="http://schemas.openxmlformats.org/officeDocument/2006/relationships/notesMaster" Target="notesMasters/notesMaster1.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latin typeface="楷体" panose="02010609060101010101" charset="-122"/>
              <a:ea typeface="楷体" panose="02010609060101010101" charset="-122"/>
              <a:cs typeface="楷体" panose="02010609060101010101" charset="-122"/>
            </a:endParaRPr>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latin typeface="楷体" panose="02010609060101010101" charset="-122"/>
                <a:ea typeface="楷体" panose="02010609060101010101" charset="-122"/>
                <a:cs typeface="楷体" panose="02010609060101010101" charset="-122"/>
              </a:rPr>
            </a:fld>
            <a:endParaRPr lang="zh-CN" altLang="en-US">
              <a:latin typeface="楷体" panose="02010609060101010101" charset="-122"/>
              <a:ea typeface="楷体" panose="02010609060101010101" charset="-122"/>
              <a:cs typeface="楷体" panose="02010609060101010101" charset="-122"/>
            </a:endParaRPr>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latin typeface="楷体" panose="02010609060101010101" charset="-122"/>
              <a:ea typeface="楷体" panose="02010609060101010101" charset="-122"/>
              <a:cs typeface="楷体" panose="02010609060101010101" charset="-122"/>
            </a:endParaRPr>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latin typeface="楷体" panose="02010609060101010101" charset="-122"/>
                <a:ea typeface="楷体" panose="02010609060101010101" charset="-122"/>
                <a:cs typeface="楷体" panose="02010609060101010101" charset="-122"/>
              </a:rPr>
            </a:fld>
            <a:endParaRPr lang="zh-CN" altLang="en-US">
              <a:latin typeface="楷体" panose="02010609060101010101" charset="-122"/>
              <a:ea typeface="楷体" panose="02010609060101010101" charset="-122"/>
              <a:cs typeface="楷体" panose="02010609060101010101" charset="-122"/>
            </a:endParaRPr>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atin typeface="楷体" panose="02010609060101010101" charset="-122"/>
                <a:ea typeface="楷体" panose="02010609060101010101" charset="-122"/>
                <a:cs typeface="楷体" panose="02010609060101010101" charset="-122"/>
              </a:defRPr>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atin typeface="楷体" panose="02010609060101010101" charset="-122"/>
                <a:ea typeface="楷体" panose="02010609060101010101" charset="-122"/>
                <a:cs typeface="楷体" panose="02010609060101010101" charset="-122"/>
              </a:defRPr>
            </a:lvl1pPr>
          </a:lstStyle>
          <a:p>
            <a:fld id="{D2A48B96-639E-45A3-A0BA-2464DFDB1F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atin typeface="楷体" panose="02010609060101010101" charset="-122"/>
                <a:ea typeface="楷体" panose="02010609060101010101" charset="-122"/>
                <a:cs typeface="楷体" panose="02010609060101010101" charset="-122"/>
              </a:defRPr>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atin typeface="楷体" panose="02010609060101010101" charset="-122"/>
                <a:ea typeface="楷体" panose="02010609060101010101" charset="-122"/>
                <a:cs typeface="楷体" panose="02010609060101010101" charset="-122"/>
              </a:defRPr>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楷体" panose="02010609060101010101" charset="-122"/>
        <a:ea typeface="楷体" panose="02010609060101010101" charset="-122"/>
        <a:cs typeface="楷体" panose="02010609060101010101" charset="-122"/>
      </a:defRPr>
    </a:lvl1pPr>
    <a:lvl2pPr marL="457200" algn="l" defTabSz="914400" rtl="0" eaLnBrk="1" latinLnBrk="0" hangingPunct="1">
      <a:defRPr sz="1200" kern="1200">
        <a:solidFill>
          <a:schemeClr val="tx1"/>
        </a:solidFill>
        <a:latin typeface="楷体" panose="02010609060101010101" charset="-122"/>
        <a:ea typeface="楷体" panose="02010609060101010101" charset="-122"/>
        <a:cs typeface="楷体" panose="02010609060101010101" charset="-122"/>
      </a:defRPr>
    </a:lvl2pPr>
    <a:lvl3pPr marL="914400" algn="l" defTabSz="914400" rtl="0" eaLnBrk="1" latinLnBrk="0" hangingPunct="1">
      <a:defRPr sz="1200" kern="1200">
        <a:solidFill>
          <a:schemeClr val="tx1"/>
        </a:solidFill>
        <a:latin typeface="楷体" panose="02010609060101010101" charset="-122"/>
        <a:ea typeface="楷体" panose="02010609060101010101" charset="-122"/>
        <a:cs typeface="楷体" panose="02010609060101010101" charset="-122"/>
      </a:defRPr>
    </a:lvl3pPr>
    <a:lvl4pPr marL="1371600" algn="l" defTabSz="914400" rtl="0" eaLnBrk="1" latinLnBrk="0" hangingPunct="1">
      <a:defRPr sz="1200" kern="1200">
        <a:solidFill>
          <a:schemeClr val="tx1"/>
        </a:solidFill>
        <a:latin typeface="楷体" panose="02010609060101010101" charset="-122"/>
        <a:ea typeface="楷体" panose="02010609060101010101" charset="-122"/>
        <a:cs typeface="楷体" panose="02010609060101010101" charset="-122"/>
      </a:defRPr>
    </a:lvl4pPr>
    <a:lvl5pPr marL="1828800" algn="l" defTabSz="914400" rtl="0" eaLnBrk="1" latinLnBrk="0" hangingPunct="1">
      <a:defRPr sz="1200" kern="1200">
        <a:solidFill>
          <a:schemeClr val="tx1"/>
        </a:solidFill>
        <a:latin typeface="楷体" panose="02010609060101010101" charset="-122"/>
        <a:ea typeface="楷体" panose="02010609060101010101" charset="-122"/>
        <a:cs typeface="楷体" panose="02010609060101010101" charset="-122"/>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各种元素物质</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在生物体和非生物环境之间</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往复循环运转</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第二步：逐一分析选项。</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A </a:t>
            </a:r>
            <a:r>
              <a:rPr lang="zh-CN" altLang="en-US" sz="1200" kern="1200" dirty="0">
                <a:solidFill>
                  <a:schemeClr val="tx1"/>
                </a:solidFill>
                <a:effectLst/>
                <a:latin typeface="+mn-lt"/>
                <a:ea typeface="+mn-ea"/>
              </a:rPr>
              <a:t>项：选项意思是：不时有落花随溪水飘流而至，远远地就可闻到水中的芳香。表明落花及其香味在非</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生物环境中运转，但未提及生物体环境，不符合</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在生物体和非生物环境之间</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，不符合定义，排除；</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B </a:t>
            </a:r>
            <a:r>
              <a:rPr lang="zh-CN" altLang="en-US" sz="1200" kern="1200" dirty="0">
                <a:solidFill>
                  <a:schemeClr val="tx1"/>
                </a:solidFill>
                <a:effectLst/>
                <a:latin typeface="+mn-lt"/>
                <a:ea typeface="+mn-ea"/>
              </a:rPr>
              <a:t>项：选项意思是：不要像绕山云般循环往复，没有固定的周期。表明云在非生物环境中循环运转，但</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未提及生物体环境，不符合</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在生物体和非生物环境之间</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，不符合定义，排除；</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C </a:t>
            </a:r>
            <a:r>
              <a:rPr lang="zh-CN" altLang="en-US" sz="1200" kern="1200" dirty="0">
                <a:solidFill>
                  <a:schemeClr val="tx1"/>
                </a:solidFill>
                <a:effectLst/>
                <a:latin typeface="+mn-lt"/>
                <a:ea typeface="+mn-ea"/>
              </a:rPr>
              <a:t>项：选项意思是：那黄河之水犹如从天上倾泻而来，波涛翻滚直奔大海从来不会再往回流。表明黄河</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水在非生物环境中流动，但未提及生物体环境，且流动过程不是往复循环的，不符合</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在生物体和非生</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物环境之间</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往复循环运转</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，不符合定义，排除；</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D </a:t>
            </a:r>
            <a:r>
              <a:rPr lang="zh-CN" altLang="en-US" sz="1200" kern="1200" dirty="0">
                <a:solidFill>
                  <a:schemeClr val="tx1"/>
                </a:solidFill>
                <a:effectLst/>
                <a:latin typeface="+mn-lt"/>
                <a:ea typeface="+mn-ea"/>
              </a:rPr>
              <a:t>项：选项意思是：从枝头上掉下来的落花不是无情之物，即使化作春泥，也甘愿化作养料，滋养美丽</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的春花成长。表明落花的元素物质在生物体和非生物环境之间运转，符合</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各种元素物质</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在生物</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体和非生物环境之间</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往复循环运转</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，符合定义，当选。</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故正确答案为</a:t>
            </a:r>
            <a:r>
              <a:rPr lang="en-US" altLang="zh-CN" sz="1200" kern="1200" dirty="0">
                <a:solidFill>
                  <a:schemeClr val="tx1"/>
                </a:solidFill>
                <a:effectLst/>
                <a:latin typeface="+mn-lt"/>
                <a:ea typeface="+mn-ea"/>
              </a:rPr>
              <a:t> D</a:t>
            </a:r>
            <a:r>
              <a:rPr lang="zh-CN" altLang="en-US" sz="1200" kern="1200" dirty="0">
                <a:solidFill>
                  <a:schemeClr val="tx1"/>
                </a:solidFill>
                <a:effectLst/>
                <a:latin typeface="+mn-lt"/>
                <a:ea typeface="+mn-ea"/>
              </a:rPr>
              <a:t>。</a:t>
            </a:r>
            <a:endParaRPr lang="zh-CN" altLang="en-US" sz="1200" kern="1200" dirty="0">
              <a:solidFill>
                <a:schemeClr val="tx1"/>
              </a:solidFill>
              <a:effectLst/>
              <a:latin typeface="+mn-lt"/>
              <a:ea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由于外界物理作用，比如温度、外力或者磁场的变化</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材料外形发生明显变化并能恢复原态</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第二步：逐一分析选项。</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A </a:t>
            </a:r>
            <a:r>
              <a:rPr lang="zh-CN" altLang="en-US" sz="1200" kern="1200" dirty="0">
                <a:solidFill>
                  <a:schemeClr val="tx1"/>
                </a:solidFill>
                <a:effectLst/>
                <a:latin typeface="+mn-lt"/>
                <a:ea typeface="+mn-ea"/>
              </a:rPr>
              <a:t>项：形状扭曲的别针放到热水里，立刻就能恢复原状，说明由于温度的作用，别针的外形发生变化并</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恢复原状，符合</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由于外界物理作用，比如温度、外力或者磁场的变化</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材料外形发生明显变化并</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能恢复原态</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，符合定义，排除；</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B </a:t>
            </a:r>
            <a:r>
              <a:rPr lang="zh-CN" altLang="en-US" sz="1200" kern="1200" dirty="0">
                <a:solidFill>
                  <a:schemeClr val="tx1"/>
                </a:solidFill>
                <a:effectLst/>
                <a:latin typeface="+mn-lt"/>
                <a:ea typeface="+mn-ea"/>
              </a:rPr>
              <a:t>项：心脏支架因为挤压而变形，说明由于外力的作用，支架的外形发生变化，但未体现支架是否可以</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恢复原状，不符合</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材料外形发生明显变化并能恢复原态</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，不符合定义，当选；</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C </a:t>
            </a:r>
            <a:r>
              <a:rPr lang="zh-CN" altLang="en-US" sz="1200" kern="1200" dirty="0">
                <a:solidFill>
                  <a:schemeClr val="tx1"/>
                </a:solidFill>
                <a:effectLst/>
                <a:latin typeface="+mn-lt"/>
                <a:ea typeface="+mn-ea"/>
              </a:rPr>
              <a:t>项：通过加热控制合金网状结构变化，制造了能模仿蠕虫前进的机器人，蠕虫的前进需要重复进行肢</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体的伸缩，说明由于温度的作用，机器人的外形发生变化并恢复原状，符合</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由于外界物理作用，比如</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温度、外力或者磁场的变化</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材料外形发生明显变化并能恢复原态</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，符合定义，排除；</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D </a:t>
            </a:r>
            <a:r>
              <a:rPr lang="zh-CN" altLang="en-US" sz="1200" kern="1200" dirty="0">
                <a:solidFill>
                  <a:schemeClr val="tx1"/>
                </a:solidFill>
                <a:effectLst/>
                <a:latin typeface="+mn-lt"/>
                <a:ea typeface="+mn-ea"/>
              </a:rPr>
              <a:t>项：镍钛弓丝的牙齿矫形器受口腔温度影响，可产生形状恢复力，说明由于温度的作用，牙齿矫形器</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的外形发生变化并恢复原状，符合</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由于外界物理作用，比如温度、外力或者磁场的变化</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材料外</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形发生明显变化并能恢复原态</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，符合定义，排除。</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本题为选非题，故正确答案为</a:t>
            </a:r>
            <a:r>
              <a:rPr lang="en-US" altLang="zh-CN" sz="1200" kern="1200" dirty="0">
                <a:solidFill>
                  <a:schemeClr val="tx1"/>
                </a:solidFill>
                <a:effectLst/>
                <a:latin typeface="+mn-lt"/>
                <a:ea typeface="+mn-ea"/>
              </a:rPr>
              <a:t> B</a:t>
            </a:r>
            <a:r>
              <a:rPr lang="zh-CN" altLang="en-US" sz="1200" kern="1200" dirty="0">
                <a:solidFill>
                  <a:schemeClr val="tx1"/>
                </a:solidFill>
                <a:effectLst/>
                <a:latin typeface="+mn-lt"/>
                <a:ea typeface="+mn-ea"/>
              </a:rPr>
              <a:t>。</a:t>
            </a:r>
            <a:endParaRPr lang="zh-CN" altLang="en-US" sz="1200" kern="1200" dirty="0">
              <a:solidFill>
                <a:schemeClr val="tx1"/>
              </a:solidFill>
              <a:effectLst/>
              <a:latin typeface="+mn-lt"/>
              <a:ea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kern="1200" dirty="0">
                <a:solidFill>
                  <a:schemeClr val="tx1"/>
                </a:solidFill>
                <a:effectLst/>
                <a:latin typeface="+mn-lt"/>
                <a:ea typeface="+mn-ea"/>
              </a:rPr>
              <a:t>第一步：找出定义关键词。</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如果</a:t>
            </a:r>
            <a:r>
              <a:rPr lang="en-US" altLang="zh-CN" sz="1200" kern="1200" dirty="0">
                <a:solidFill>
                  <a:schemeClr val="tx1"/>
                </a:solidFill>
                <a:effectLst/>
                <a:latin typeface="+mn-lt"/>
                <a:ea typeface="+mn-ea"/>
              </a:rPr>
              <a:t> w</a:t>
            </a:r>
            <a:r>
              <a:rPr lang="zh-CN" altLang="en-US" sz="1200" kern="1200" dirty="0">
                <a:solidFill>
                  <a:schemeClr val="tx1"/>
                </a:solidFill>
                <a:effectLst/>
                <a:latin typeface="+mn-lt"/>
                <a:ea typeface="+mn-ea"/>
              </a:rPr>
              <a:t>，对于定义域范围内的每个数</a:t>
            </a:r>
            <a:r>
              <a:rPr lang="en-US" altLang="zh-CN" sz="1200" kern="1200" dirty="0">
                <a:solidFill>
                  <a:schemeClr val="tx1"/>
                </a:solidFill>
                <a:effectLst/>
                <a:latin typeface="+mn-lt"/>
                <a:ea typeface="+mn-ea"/>
              </a:rPr>
              <a:t> m</a:t>
            </a:r>
            <a:r>
              <a:rPr lang="zh-CN" altLang="en-US" sz="1200" kern="1200" dirty="0">
                <a:solidFill>
                  <a:schemeClr val="tx1"/>
                </a:solidFill>
                <a:effectLst/>
                <a:latin typeface="+mn-lt"/>
                <a:ea typeface="+mn-ea"/>
              </a:rPr>
              <a:t>（包括</a:t>
            </a:r>
            <a:r>
              <a:rPr lang="en-US" altLang="zh-CN" sz="1200" kern="1200" dirty="0">
                <a:solidFill>
                  <a:schemeClr val="tx1"/>
                </a:solidFill>
                <a:effectLst/>
                <a:latin typeface="+mn-lt"/>
                <a:ea typeface="+mn-ea"/>
              </a:rPr>
              <a:t> w</a:t>
            </a:r>
            <a:r>
              <a:rPr lang="zh-CN" altLang="en-US" sz="1200" kern="1200" dirty="0">
                <a:solidFill>
                  <a:schemeClr val="tx1"/>
                </a:solidFill>
                <a:effectLst/>
                <a:latin typeface="+mn-lt"/>
                <a:ea typeface="+mn-ea"/>
              </a:rPr>
              <a:t>），都有</a:t>
            </a:r>
            <a:r>
              <a:rPr lang="en-US" altLang="zh-CN" sz="1200" kern="1200" dirty="0">
                <a:solidFill>
                  <a:schemeClr val="tx1"/>
                </a:solidFill>
                <a:effectLst/>
                <a:latin typeface="+mn-lt"/>
                <a:ea typeface="+mn-ea"/>
              </a:rPr>
              <a:t> w</a:t>
            </a:r>
            <a:r>
              <a:rPr lang="zh-CN" altLang="en-US" sz="1200" kern="1200" dirty="0">
                <a:solidFill>
                  <a:schemeClr val="tx1"/>
                </a:solidFill>
                <a:effectLst/>
                <a:latin typeface="+mn-lt"/>
                <a:ea typeface="+mn-ea"/>
              </a:rPr>
              <a:t>★</a:t>
            </a:r>
            <a:r>
              <a:rPr lang="en-US" altLang="zh-CN" sz="1200" kern="1200" dirty="0">
                <a:solidFill>
                  <a:schemeClr val="tx1"/>
                </a:solidFill>
                <a:effectLst/>
                <a:latin typeface="+mn-lt"/>
                <a:ea typeface="+mn-ea"/>
              </a:rPr>
              <a:t>m=m”</a:t>
            </a:r>
            <a:r>
              <a:rPr lang="zh-CN" altLang="en-US" sz="1200" kern="1200" dirty="0">
                <a:solidFill>
                  <a:schemeClr val="tx1"/>
                </a:solidFill>
                <a:effectLst/>
                <a:latin typeface="+mn-lt"/>
                <a:ea typeface="+mn-ea"/>
              </a:rPr>
              <a:t>。</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第二步：逐一分析选项。</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A </a:t>
            </a:r>
            <a:r>
              <a:rPr lang="zh-CN" altLang="en-US" sz="1200" kern="1200" dirty="0">
                <a:solidFill>
                  <a:schemeClr val="tx1"/>
                </a:solidFill>
                <a:effectLst/>
                <a:latin typeface="+mn-lt"/>
                <a:ea typeface="+mn-ea"/>
              </a:rPr>
              <a:t>项：</a:t>
            </a:r>
            <a:r>
              <a:rPr lang="en-US" altLang="zh-CN" sz="1200" kern="1200" dirty="0">
                <a:solidFill>
                  <a:schemeClr val="tx1"/>
                </a:solidFill>
                <a:effectLst/>
                <a:latin typeface="+mn-lt"/>
                <a:ea typeface="+mn-ea"/>
              </a:rPr>
              <a:t>1 </a:t>
            </a:r>
            <a:r>
              <a:rPr lang="zh-CN" altLang="en-US" sz="1200" kern="1200" dirty="0">
                <a:solidFill>
                  <a:schemeClr val="tx1"/>
                </a:solidFill>
                <a:effectLst/>
                <a:latin typeface="+mn-lt"/>
                <a:ea typeface="+mn-ea"/>
              </a:rPr>
              <a:t>乘以任何整数都等于原来的数，符合</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如果</a:t>
            </a:r>
            <a:r>
              <a:rPr lang="en-US" altLang="zh-CN" sz="1200" kern="1200" dirty="0">
                <a:solidFill>
                  <a:schemeClr val="tx1"/>
                </a:solidFill>
                <a:effectLst/>
                <a:latin typeface="+mn-lt"/>
                <a:ea typeface="+mn-ea"/>
              </a:rPr>
              <a:t> w</a:t>
            </a:r>
            <a:r>
              <a:rPr lang="zh-CN" altLang="en-US" sz="1200" kern="1200" dirty="0">
                <a:solidFill>
                  <a:schemeClr val="tx1"/>
                </a:solidFill>
                <a:effectLst/>
                <a:latin typeface="+mn-lt"/>
                <a:ea typeface="+mn-ea"/>
              </a:rPr>
              <a:t>，对于定义域范围内的每个数</a:t>
            </a:r>
            <a:r>
              <a:rPr lang="en-US" altLang="zh-CN" sz="1200" kern="1200" dirty="0">
                <a:solidFill>
                  <a:schemeClr val="tx1"/>
                </a:solidFill>
                <a:effectLst/>
                <a:latin typeface="+mn-lt"/>
                <a:ea typeface="+mn-ea"/>
              </a:rPr>
              <a:t> m</a:t>
            </a:r>
            <a:r>
              <a:rPr lang="zh-CN" altLang="en-US" sz="1200" kern="1200" dirty="0">
                <a:solidFill>
                  <a:schemeClr val="tx1"/>
                </a:solidFill>
                <a:effectLst/>
                <a:latin typeface="+mn-lt"/>
                <a:ea typeface="+mn-ea"/>
              </a:rPr>
              <a:t>（包括</a:t>
            </a:r>
            <a:r>
              <a:rPr lang="en-US" altLang="zh-CN" sz="1200" kern="1200" dirty="0">
                <a:solidFill>
                  <a:schemeClr val="tx1"/>
                </a:solidFill>
                <a:effectLst/>
                <a:latin typeface="+mn-lt"/>
                <a:ea typeface="+mn-ea"/>
              </a:rPr>
              <a:t> w</a:t>
            </a:r>
            <a:r>
              <a:rPr lang="zh-CN" altLang="en-US" sz="1200" kern="1200" dirty="0">
                <a:solidFill>
                  <a:schemeClr val="tx1"/>
                </a:solidFill>
                <a:effectLst/>
                <a:latin typeface="+mn-lt"/>
                <a:ea typeface="+mn-ea"/>
              </a:rPr>
              <a:t>），都有</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w</a:t>
            </a:r>
            <a:r>
              <a:rPr lang="zh-CN" altLang="en-US" sz="1200" kern="1200" dirty="0">
                <a:solidFill>
                  <a:schemeClr val="tx1"/>
                </a:solidFill>
                <a:effectLst/>
                <a:latin typeface="+mn-lt"/>
                <a:ea typeface="+mn-ea"/>
              </a:rPr>
              <a:t>★</a:t>
            </a:r>
            <a:r>
              <a:rPr lang="en-US" altLang="zh-CN" sz="1200" kern="1200" dirty="0">
                <a:solidFill>
                  <a:schemeClr val="tx1"/>
                </a:solidFill>
                <a:effectLst/>
                <a:latin typeface="+mn-lt"/>
                <a:ea typeface="+mn-ea"/>
              </a:rPr>
              <a:t>m=m”</a:t>
            </a:r>
            <a:r>
              <a:rPr lang="zh-CN" altLang="en-US" sz="1200" kern="1200" dirty="0">
                <a:solidFill>
                  <a:schemeClr val="tx1"/>
                </a:solidFill>
                <a:effectLst/>
                <a:latin typeface="+mn-lt"/>
                <a:ea typeface="+mn-ea"/>
              </a:rPr>
              <a:t>，符合定义，当选；</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B </a:t>
            </a:r>
            <a:r>
              <a:rPr lang="zh-CN" altLang="en-US" sz="1200" kern="1200" dirty="0">
                <a:solidFill>
                  <a:schemeClr val="tx1"/>
                </a:solidFill>
                <a:effectLst/>
                <a:latin typeface="+mn-lt"/>
                <a:ea typeface="+mn-ea"/>
              </a:rPr>
              <a:t>项：</a:t>
            </a:r>
            <a:r>
              <a:rPr lang="en-US" altLang="zh-CN" sz="1200" kern="1200" dirty="0">
                <a:solidFill>
                  <a:schemeClr val="tx1"/>
                </a:solidFill>
                <a:effectLst/>
                <a:latin typeface="+mn-lt"/>
                <a:ea typeface="+mn-ea"/>
              </a:rPr>
              <a:t>1 </a:t>
            </a:r>
            <a:r>
              <a:rPr lang="zh-CN" altLang="en-US" sz="1200" kern="1200" dirty="0">
                <a:solidFill>
                  <a:schemeClr val="tx1"/>
                </a:solidFill>
                <a:effectLst/>
                <a:latin typeface="+mn-lt"/>
                <a:ea typeface="+mn-ea"/>
              </a:rPr>
              <a:t>加任何整数都不等于原来的数，不符合</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如果</a:t>
            </a:r>
            <a:r>
              <a:rPr lang="en-US" altLang="zh-CN" sz="1200" kern="1200" dirty="0">
                <a:solidFill>
                  <a:schemeClr val="tx1"/>
                </a:solidFill>
                <a:effectLst/>
                <a:latin typeface="+mn-lt"/>
                <a:ea typeface="+mn-ea"/>
              </a:rPr>
              <a:t> w</a:t>
            </a:r>
            <a:r>
              <a:rPr lang="zh-CN" altLang="en-US" sz="1200" kern="1200" dirty="0">
                <a:solidFill>
                  <a:schemeClr val="tx1"/>
                </a:solidFill>
                <a:effectLst/>
                <a:latin typeface="+mn-lt"/>
                <a:ea typeface="+mn-ea"/>
              </a:rPr>
              <a:t>，对于定义域范围内的每个数</a:t>
            </a:r>
            <a:r>
              <a:rPr lang="en-US" altLang="zh-CN" sz="1200" kern="1200" dirty="0">
                <a:solidFill>
                  <a:schemeClr val="tx1"/>
                </a:solidFill>
                <a:effectLst/>
                <a:latin typeface="+mn-lt"/>
                <a:ea typeface="+mn-ea"/>
              </a:rPr>
              <a:t> m</a:t>
            </a:r>
            <a:r>
              <a:rPr lang="zh-CN" altLang="en-US" sz="1200" kern="1200" dirty="0">
                <a:solidFill>
                  <a:schemeClr val="tx1"/>
                </a:solidFill>
                <a:effectLst/>
                <a:latin typeface="+mn-lt"/>
                <a:ea typeface="+mn-ea"/>
              </a:rPr>
              <a:t>（包括</a:t>
            </a:r>
            <a:r>
              <a:rPr lang="en-US" altLang="zh-CN" sz="1200" kern="1200" dirty="0">
                <a:solidFill>
                  <a:schemeClr val="tx1"/>
                </a:solidFill>
                <a:effectLst/>
                <a:latin typeface="+mn-lt"/>
                <a:ea typeface="+mn-ea"/>
              </a:rPr>
              <a:t> w</a:t>
            </a:r>
            <a:r>
              <a:rPr lang="zh-CN" altLang="en-US" sz="1200" kern="1200" dirty="0">
                <a:solidFill>
                  <a:schemeClr val="tx1"/>
                </a:solidFill>
                <a:effectLst/>
                <a:latin typeface="+mn-lt"/>
                <a:ea typeface="+mn-ea"/>
              </a:rPr>
              <a:t>），都</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有</a:t>
            </a:r>
            <a:r>
              <a:rPr lang="en-US" altLang="zh-CN" sz="1200" kern="1200" dirty="0">
                <a:solidFill>
                  <a:schemeClr val="tx1"/>
                </a:solidFill>
                <a:effectLst/>
                <a:latin typeface="+mn-lt"/>
                <a:ea typeface="+mn-ea"/>
              </a:rPr>
              <a:t> w</a:t>
            </a:r>
            <a:r>
              <a:rPr lang="zh-CN" altLang="en-US" sz="1200" kern="1200" dirty="0">
                <a:solidFill>
                  <a:schemeClr val="tx1"/>
                </a:solidFill>
                <a:effectLst/>
                <a:latin typeface="+mn-lt"/>
                <a:ea typeface="+mn-ea"/>
              </a:rPr>
              <a:t>★</a:t>
            </a:r>
            <a:r>
              <a:rPr lang="en-US" altLang="zh-CN" sz="1200" kern="1200" dirty="0">
                <a:solidFill>
                  <a:schemeClr val="tx1"/>
                </a:solidFill>
                <a:effectLst/>
                <a:latin typeface="+mn-lt"/>
                <a:ea typeface="+mn-ea"/>
              </a:rPr>
              <a:t>m=m”</a:t>
            </a:r>
            <a:r>
              <a:rPr lang="zh-CN" altLang="en-US" sz="1200" kern="1200" dirty="0">
                <a:solidFill>
                  <a:schemeClr val="tx1"/>
                </a:solidFill>
                <a:effectLst/>
                <a:latin typeface="+mn-lt"/>
                <a:ea typeface="+mn-ea"/>
              </a:rPr>
              <a:t>，不符合定义，排除；</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C </a:t>
            </a:r>
            <a:r>
              <a:rPr lang="zh-CN" altLang="en-US" sz="1200" kern="1200" dirty="0">
                <a:solidFill>
                  <a:schemeClr val="tx1"/>
                </a:solidFill>
                <a:effectLst/>
                <a:latin typeface="+mn-lt"/>
                <a:ea typeface="+mn-ea"/>
              </a:rPr>
              <a:t>项：</a:t>
            </a:r>
            <a:r>
              <a:rPr lang="en-US" altLang="zh-CN" sz="1200" kern="1200" dirty="0">
                <a:solidFill>
                  <a:schemeClr val="tx1"/>
                </a:solidFill>
                <a:effectLst/>
                <a:latin typeface="+mn-lt"/>
                <a:ea typeface="+mn-ea"/>
              </a:rPr>
              <a:t>0 </a:t>
            </a:r>
            <a:r>
              <a:rPr lang="zh-CN" altLang="en-US" sz="1200" kern="1200" dirty="0">
                <a:solidFill>
                  <a:schemeClr val="tx1"/>
                </a:solidFill>
                <a:effectLst/>
                <a:latin typeface="+mn-lt"/>
                <a:ea typeface="+mn-ea"/>
              </a:rPr>
              <a:t>减去除</a:t>
            </a:r>
            <a:r>
              <a:rPr lang="en-US" altLang="zh-CN" sz="1200" kern="1200" dirty="0">
                <a:solidFill>
                  <a:schemeClr val="tx1"/>
                </a:solidFill>
                <a:effectLst/>
                <a:latin typeface="+mn-lt"/>
                <a:ea typeface="+mn-ea"/>
              </a:rPr>
              <a:t> 0 </a:t>
            </a:r>
            <a:r>
              <a:rPr lang="zh-CN" altLang="en-US" sz="1200" kern="1200" dirty="0">
                <a:solidFill>
                  <a:schemeClr val="tx1"/>
                </a:solidFill>
                <a:effectLst/>
                <a:latin typeface="+mn-lt"/>
                <a:ea typeface="+mn-ea"/>
              </a:rPr>
              <a:t>外的任何整数都不等于原来的数，不符合</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如果</a:t>
            </a:r>
            <a:r>
              <a:rPr lang="en-US" altLang="zh-CN" sz="1200" kern="1200" dirty="0">
                <a:solidFill>
                  <a:schemeClr val="tx1"/>
                </a:solidFill>
                <a:effectLst/>
                <a:latin typeface="+mn-lt"/>
                <a:ea typeface="+mn-ea"/>
              </a:rPr>
              <a:t> w</a:t>
            </a:r>
            <a:r>
              <a:rPr lang="zh-CN" altLang="en-US" sz="1200" kern="1200" dirty="0">
                <a:solidFill>
                  <a:schemeClr val="tx1"/>
                </a:solidFill>
                <a:effectLst/>
                <a:latin typeface="+mn-lt"/>
                <a:ea typeface="+mn-ea"/>
              </a:rPr>
              <a:t>，对于定义域范围内的每个数</a:t>
            </a:r>
            <a:r>
              <a:rPr lang="en-US" altLang="zh-CN" sz="1200" kern="1200" dirty="0">
                <a:solidFill>
                  <a:schemeClr val="tx1"/>
                </a:solidFill>
                <a:effectLst/>
                <a:latin typeface="+mn-lt"/>
                <a:ea typeface="+mn-ea"/>
              </a:rPr>
              <a:t> m</a:t>
            </a:r>
            <a:r>
              <a:rPr lang="zh-CN" altLang="en-US" sz="1200" kern="1200" dirty="0">
                <a:solidFill>
                  <a:schemeClr val="tx1"/>
                </a:solidFill>
                <a:effectLst/>
                <a:latin typeface="+mn-lt"/>
                <a:ea typeface="+mn-ea"/>
              </a:rPr>
              <a:t>（包</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括</a:t>
            </a:r>
            <a:r>
              <a:rPr lang="en-US" altLang="zh-CN" sz="1200" kern="1200" dirty="0">
                <a:solidFill>
                  <a:schemeClr val="tx1"/>
                </a:solidFill>
                <a:effectLst/>
                <a:latin typeface="+mn-lt"/>
                <a:ea typeface="+mn-ea"/>
              </a:rPr>
              <a:t> w</a:t>
            </a:r>
            <a:r>
              <a:rPr lang="zh-CN" altLang="en-US" sz="1200" kern="1200" dirty="0">
                <a:solidFill>
                  <a:schemeClr val="tx1"/>
                </a:solidFill>
                <a:effectLst/>
                <a:latin typeface="+mn-lt"/>
                <a:ea typeface="+mn-ea"/>
              </a:rPr>
              <a:t>），都有</a:t>
            </a:r>
            <a:r>
              <a:rPr lang="en-US" altLang="zh-CN" sz="1200" kern="1200" dirty="0">
                <a:solidFill>
                  <a:schemeClr val="tx1"/>
                </a:solidFill>
                <a:effectLst/>
                <a:latin typeface="+mn-lt"/>
                <a:ea typeface="+mn-ea"/>
              </a:rPr>
              <a:t> w</a:t>
            </a:r>
            <a:r>
              <a:rPr lang="zh-CN" altLang="en-US" sz="1200" kern="1200" dirty="0">
                <a:solidFill>
                  <a:schemeClr val="tx1"/>
                </a:solidFill>
                <a:effectLst/>
                <a:latin typeface="+mn-lt"/>
                <a:ea typeface="+mn-ea"/>
              </a:rPr>
              <a:t>★</a:t>
            </a:r>
            <a:r>
              <a:rPr lang="en-US" altLang="zh-CN" sz="1200" kern="1200" dirty="0">
                <a:solidFill>
                  <a:schemeClr val="tx1"/>
                </a:solidFill>
                <a:effectLst/>
                <a:latin typeface="+mn-lt"/>
                <a:ea typeface="+mn-ea"/>
              </a:rPr>
              <a:t>m=m”</a:t>
            </a:r>
            <a:r>
              <a:rPr lang="zh-CN" altLang="en-US" sz="1200" kern="1200" dirty="0">
                <a:solidFill>
                  <a:schemeClr val="tx1"/>
                </a:solidFill>
                <a:effectLst/>
                <a:latin typeface="+mn-lt"/>
                <a:ea typeface="+mn-ea"/>
              </a:rPr>
              <a:t>，不符合定义，排除；</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D </a:t>
            </a:r>
            <a:r>
              <a:rPr lang="zh-CN" altLang="en-US" sz="1200" kern="1200" dirty="0">
                <a:solidFill>
                  <a:schemeClr val="tx1"/>
                </a:solidFill>
                <a:effectLst/>
                <a:latin typeface="+mn-lt"/>
                <a:ea typeface="+mn-ea"/>
              </a:rPr>
              <a:t>项：</a:t>
            </a:r>
            <a:r>
              <a:rPr lang="en-US" altLang="zh-CN" sz="1200" kern="1200" dirty="0">
                <a:solidFill>
                  <a:schemeClr val="tx1"/>
                </a:solidFill>
                <a:effectLst/>
                <a:latin typeface="+mn-lt"/>
                <a:ea typeface="+mn-ea"/>
              </a:rPr>
              <a:t>0 </a:t>
            </a:r>
            <a:r>
              <a:rPr lang="zh-CN" altLang="en-US" sz="1200" kern="1200" dirty="0">
                <a:solidFill>
                  <a:schemeClr val="tx1"/>
                </a:solidFill>
                <a:effectLst/>
                <a:latin typeface="+mn-lt"/>
                <a:ea typeface="+mn-ea"/>
              </a:rPr>
              <a:t>除以除</a:t>
            </a:r>
            <a:r>
              <a:rPr lang="en-US" altLang="zh-CN" sz="1200" kern="1200" dirty="0">
                <a:solidFill>
                  <a:schemeClr val="tx1"/>
                </a:solidFill>
                <a:effectLst/>
                <a:latin typeface="+mn-lt"/>
                <a:ea typeface="+mn-ea"/>
              </a:rPr>
              <a:t> 0 </a:t>
            </a:r>
            <a:r>
              <a:rPr lang="zh-CN" altLang="en-US" sz="1200" kern="1200" dirty="0">
                <a:solidFill>
                  <a:schemeClr val="tx1"/>
                </a:solidFill>
                <a:effectLst/>
                <a:latin typeface="+mn-lt"/>
                <a:ea typeface="+mn-ea"/>
              </a:rPr>
              <a:t>外的任何整数都不等于原来的数，不符合</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如果</a:t>
            </a:r>
            <a:r>
              <a:rPr lang="en-US" altLang="zh-CN" sz="1200" kern="1200" dirty="0">
                <a:solidFill>
                  <a:schemeClr val="tx1"/>
                </a:solidFill>
                <a:effectLst/>
                <a:latin typeface="+mn-lt"/>
                <a:ea typeface="+mn-ea"/>
              </a:rPr>
              <a:t> w</a:t>
            </a:r>
            <a:r>
              <a:rPr lang="zh-CN" altLang="en-US" sz="1200" kern="1200" dirty="0">
                <a:solidFill>
                  <a:schemeClr val="tx1"/>
                </a:solidFill>
                <a:effectLst/>
                <a:latin typeface="+mn-lt"/>
                <a:ea typeface="+mn-ea"/>
              </a:rPr>
              <a:t>，对于定义域范围内的每个数</a:t>
            </a:r>
            <a:r>
              <a:rPr lang="en-US" altLang="zh-CN" sz="1200" kern="1200" dirty="0">
                <a:solidFill>
                  <a:schemeClr val="tx1"/>
                </a:solidFill>
                <a:effectLst/>
                <a:latin typeface="+mn-lt"/>
                <a:ea typeface="+mn-ea"/>
              </a:rPr>
              <a:t> m</a:t>
            </a:r>
            <a:r>
              <a:rPr lang="zh-CN" altLang="en-US" sz="1200" kern="1200" dirty="0">
                <a:solidFill>
                  <a:schemeClr val="tx1"/>
                </a:solidFill>
                <a:effectLst/>
                <a:latin typeface="+mn-lt"/>
                <a:ea typeface="+mn-ea"/>
              </a:rPr>
              <a:t>（包</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括</a:t>
            </a:r>
            <a:r>
              <a:rPr lang="en-US" altLang="zh-CN" sz="1200" kern="1200" dirty="0">
                <a:solidFill>
                  <a:schemeClr val="tx1"/>
                </a:solidFill>
                <a:effectLst/>
                <a:latin typeface="+mn-lt"/>
                <a:ea typeface="+mn-ea"/>
              </a:rPr>
              <a:t> w</a:t>
            </a:r>
            <a:r>
              <a:rPr lang="zh-CN" altLang="en-US" sz="1200" kern="1200" dirty="0">
                <a:solidFill>
                  <a:schemeClr val="tx1"/>
                </a:solidFill>
                <a:effectLst/>
                <a:latin typeface="+mn-lt"/>
                <a:ea typeface="+mn-ea"/>
              </a:rPr>
              <a:t>），都有</a:t>
            </a:r>
            <a:r>
              <a:rPr lang="en-US" altLang="zh-CN" sz="1200" kern="1200" dirty="0">
                <a:solidFill>
                  <a:schemeClr val="tx1"/>
                </a:solidFill>
                <a:effectLst/>
                <a:latin typeface="+mn-lt"/>
                <a:ea typeface="+mn-ea"/>
              </a:rPr>
              <a:t> w</a:t>
            </a:r>
            <a:r>
              <a:rPr lang="zh-CN" altLang="en-US" sz="1200" kern="1200" dirty="0">
                <a:solidFill>
                  <a:schemeClr val="tx1"/>
                </a:solidFill>
                <a:effectLst/>
                <a:latin typeface="+mn-lt"/>
                <a:ea typeface="+mn-ea"/>
              </a:rPr>
              <a:t>★</a:t>
            </a:r>
            <a:r>
              <a:rPr lang="en-US" altLang="zh-CN" sz="1200" kern="1200" dirty="0">
                <a:solidFill>
                  <a:schemeClr val="tx1"/>
                </a:solidFill>
                <a:effectLst/>
                <a:latin typeface="+mn-lt"/>
                <a:ea typeface="+mn-ea"/>
              </a:rPr>
              <a:t>m=m”</a:t>
            </a:r>
            <a:r>
              <a:rPr lang="zh-CN" altLang="en-US" sz="1200" kern="1200" dirty="0">
                <a:solidFill>
                  <a:schemeClr val="tx1"/>
                </a:solidFill>
                <a:effectLst/>
                <a:latin typeface="+mn-lt"/>
                <a:ea typeface="+mn-ea"/>
              </a:rPr>
              <a:t>，不符合定义，排除。</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故正确答案为</a:t>
            </a:r>
            <a:r>
              <a:rPr lang="en-US" altLang="zh-CN" sz="1200" kern="1200" dirty="0">
                <a:solidFill>
                  <a:schemeClr val="tx1"/>
                </a:solidFill>
                <a:effectLst/>
                <a:latin typeface="+mn-lt"/>
                <a:ea typeface="+mn-ea"/>
              </a:rPr>
              <a:t> A</a:t>
            </a:r>
            <a:r>
              <a:rPr lang="zh-CN" altLang="en-US" sz="1200" kern="1200" dirty="0">
                <a:solidFill>
                  <a:schemeClr val="tx1"/>
                </a:solidFill>
                <a:effectLst/>
                <a:latin typeface="+mn-lt"/>
                <a:ea typeface="+mn-ea"/>
              </a:rPr>
              <a:t>。</a:t>
            </a:r>
            <a:endParaRPr lang="zh-CN" altLang="en-US" sz="1200" kern="1200" dirty="0">
              <a:solidFill>
                <a:schemeClr val="tx1"/>
              </a:solidFill>
              <a:effectLst/>
              <a:latin typeface="+mn-lt"/>
              <a:ea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把自己在网络平台上所写的、画的、摘录的任何文字和图片整理成册</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自己制作或请人制作成印</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刷品</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第二步：逐一分析选项。</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A </a:t>
            </a:r>
            <a:r>
              <a:rPr lang="zh-CN" altLang="en-US" sz="1200" kern="1200" dirty="0">
                <a:solidFill>
                  <a:schemeClr val="tx1"/>
                </a:solidFill>
                <a:effectLst/>
                <a:latin typeface="+mn-lt"/>
                <a:ea typeface="+mn-ea"/>
              </a:rPr>
              <a:t>项：大学教师小楠将撰写的学术文章整理成册并准备印刷，但没有体现这些学术文章是在网络平台上</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写的，不符合</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把自己在网络平台上所写的、画的、摘录的任何文字和图片整理成册</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，不符合定义，</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排除；</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B </a:t>
            </a:r>
            <a:r>
              <a:rPr lang="zh-CN" altLang="en-US" sz="1200" kern="1200" dirty="0">
                <a:solidFill>
                  <a:schemeClr val="tx1"/>
                </a:solidFill>
                <a:effectLst/>
                <a:latin typeface="+mn-lt"/>
                <a:ea typeface="+mn-ea"/>
              </a:rPr>
              <a:t>项：小雪是美化处理</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客户</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发来的图片和文字，并非是</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自己</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在网上写、画或摘录的文字和图片，</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不符合</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把自己在网络平台上所写的、画的、摘录的任何文字和图片整理成册</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，不符合定义，排除；</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C </a:t>
            </a:r>
            <a:r>
              <a:rPr lang="zh-CN" altLang="en-US" sz="1200" kern="1200" dirty="0">
                <a:solidFill>
                  <a:schemeClr val="tx1"/>
                </a:solidFill>
                <a:effectLst/>
                <a:latin typeface="+mn-lt"/>
                <a:ea typeface="+mn-ea"/>
              </a:rPr>
              <a:t>项：读者将小影在网络平台上写的文章打印出来，并非小影自己将这些文章打印出来，也未体现小影</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请读者打印，不符合</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自己制作或请人制作成印刷品</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，不符合定义，排除；</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D </a:t>
            </a:r>
            <a:r>
              <a:rPr lang="zh-CN" altLang="en-US" sz="1200" kern="1200" dirty="0">
                <a:solidFill>
                  <a:schemeClr val="tx1"/>
                </a:solidFill>
                <a:effectLst/>
                <a:latin typeface="+mn-lt"/>
                <a:ea typeface="+mn-ea"/>
              </a:rPr>
              <a:t>项：小芳定期收集自己在微博上用图片加文字所表达出来的内容，并请专业人士印刷成册，符合</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把</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自己在网络平台上所写的、画的、摘录的任何文字和图片整理成册</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自己制作或请人制作成印刷品</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符合定义，当选。</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故正确答案为</a:t>
            </a:r>
            <a:r>
              <a:rPr lang="en-US" altLang="zh-CN" sz="1200" kern="1200" dirty="0">
                <a:solidFill>
                  <a:schemeClr val="tx1"/>
                </a:solidFill>
                <a:effectLst/>
                <a:latin typeface="+mn-lt"/>
                <a:ea typeface="+mn-ea"/>
              </a:rPr>
              <a:t> D</a:t>
            </a:r>
            <a:r>
              <a:rPr lang="zh-CN" altLang="en-US" sz="1200" kern="1200" dirty="0">
                <a:solidFill>
                  <a:schemeClr val="tx1"/>
                </a:solidFill>
                <a:effectLst/>
                <a:latin typeface="+mn-lt"/>
                <a:ea typeface="+mn-ea"/>
              </a:rPr>
              <a:t>。</a:t>
            </a:r>
            <a:endParaRPr lang="zh-CN" altLang="en-US" sz="1200" kern="1200" dirty="0">
              <a:solidFill>
                <a:schemeClr val="tx1"/>
              </a:solidFill>
              <a:effectLst/>
              <a:latin typeface="+mn-lt"/>
              <a:ea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ea typeface="+mn-ea"/>
              </a:rPr>
              <a:t>C“</a:t>
            </a:r>
            <a:r>
              <a:rPr lang="zh-CN" altLang="en-US" sz="1200" kern="1200" dirty="0">
                <a:solidFill>
                  <a:schemeClr val="tx1"/>
                </a:solidFill>
                <a:effectLst/>
                <a:latin typeface="+mn-lt"/>
                <a:ea typeface="+mn-ea"/>
              </a:rPr>
              <a:t>内部绝缘、界面允许电荷移动的材料</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第二步：逐一分析选项。</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A </a:t>
            </a:r>
            <a:r>
              <a:rPr lang="zh-CN" altLang="en-US" sz="1200" kern="1200" dirty="0">
                <a:solidFill>
                  <a:schemeClr val="tx1"/>
                </a:solidFill>
                <a:effectLst/>
                <a:latin typeface="+mn-lt"/>
                <a:ea typeface="+mn-ea"/>
              </a:rPr>
              <a:t>项：量子点接触可以通过调整器件的尺寸和形状来调控整体的导电性，未提及其内部和外部的导电情</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况，不符合</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内部绝缘、界面允许电荷移动的材料</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，不符合定义，排除；</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B </a:t>
            </a:r>
            <a:r>
              <a:rPr lang="zh-CN" altLang="en-US" sz="1200" kern="1200" dirty="0">
                <a:solidFill>
                  <a:schemeClr val="tx1"/>
                </a:solidFill>
                <a:effectLst/>
                <a:latin typeface="+mn-lt"/>
                <a:ea typeface="+mn-ea"/>
              </a:rPr>
              <a:t>项：氮化镓中的二维电子气在一定条件下能够导电，不符合</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内部绝缘、界面允许电荷移动的材料</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不符合定义，排除；</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C </a:t>
            </a:r>
            <a:r>
              <a:rPr lang="zh-CN" altLang="en-US" sz="1200" kern="1200" dirty="0">
                <a:solidFill>
                  <a:schemeClr val="tx1"/>
                </a:solidFill>
                <a:effectLst/>
                <a:latin typeface="+mn-lt"/>
                <a:ea typeface="+mn-ea"/>
              </a:rPr>
              <a:t>项：纯石墨烯本身不导电，符合</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内部绝缘</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，经过一些工艺加工后可以允许表面电荷移动形成导电</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能力，符合</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界面允许电荷移动</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，符合定义，当选；</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D </a:t>
            </a:r>
            <a:r>
              <a:rPr lang="zh-CN" altLang="en-US" sz="1200" kern="1200" dirty="0">
                <a:solidFill>
                  <a:schemeClr val="tx1"/>
                </a:solidFill>
                <a:effectLst/>
                <a:latin typeface="+mn-lt"/>
                <a:ea typeface="+mn-ea"/>
              </a:rPr>
              <a:t>项：镧钡铜氧体系的超导陶瓷是一类在临界温度时电阻为零的陶瓷材料，没有提及其导电性，不符合</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内部绝缘、界面允许电荷移动的材料</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，不符合定义，排除。</a:t>
            </a:r>
            <a:endParaRPr lang="zh-CN" altLang="en-US" sz="1200" kern="1200" dirty="0">
              <a:solidFill>
                <a:schemeClr val="tx1"/>
              </a:solidFill>
              <a:effectLst/>
              <a:latin typeface="+mn-lt"/>
              <a:ea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持续的睡眠困难（入睡困难，即入睡时间超过三十分钟；睡眠维持障碍，即整夜觉醒次数不少于两次；</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早醒、睡眠质量下降以及总睡眠时间减少）</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有充足的睡眠机会</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日间功能受损</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不是因</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当前的客观条件让人无法睡觉</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想睡却持续性睡不着</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第二步：逐一分析选项。</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A </a:t>
            </a:r>
            <a:r>
              <a:rPr lang="zh-CN" altLang="en-US" sz="1200" kern="1200" dirty="0">
                <a:solidFill>
                  <a:schemeClr val="tx1"/>
                </a:solidFill>
                <a:effectLst/>
                <a:latin typeface="+mn-lt"/>
                <a:ea typeface="+mn-ea"/>
              </a:rPr>
              <a:t>项：意思是</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刚刚辞去官职回到家中时，已经是夜晚了，但在天色将明未明之时，诗人就已经醒来</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官初罢后</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不符合</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持续性睡不着</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，不符合定义，排除；</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B </a:t>
            </a:r>
            <a:r>
              <a:rPr lang="zh-CN" altLang="en-US" sz="1200" kern="1200" dirty="0">
                <a:solidFill>
                  <a:schemeClr val="tx1"/>
                </a:solidFill>
                <a:effectLst/>
                <a:latin typeface="+mn-lt"/>
                <a:ea typeface="+mn-ea"/>
              </a:rPr>
              <a:t>项：意思是</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自从安史之乱之后，我睡眠的时间很少，长夜漫漫，屋漏床湿，怎能挨到天亮</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自</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经丧乱少睡眠</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符合</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持续的睡眠困难</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长夜</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符合</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有充足的睡眠机会</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丧乱</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符合</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不是</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因当前的客观条件让人无法睡觉</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，符合定义，当选；</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C </a:t>
            </a:r>
            <a:r>
              <a:rPr lang="zh-CN" altLang="en-US" sz="1200" kern="1200" dirty="0">
                <a:solidFill>
                  <a:schemeClr val="tx1"/>
                </a:solidFill>
                <a:effectLst/>
                <a:latin typeface="+mn-lt"/>
                <a:ea typeface="+mn-ea"/>
              </a:rPr>
              <a:t>项：意思是</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此番风雨之夜辗转无眠，起来把新诗一遍一遍地写下</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，是因为</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风雨之夜</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无法入眠，</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不符合</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持续的睡眠困难</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，不符合</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不是因当前的客观条件让人无法睡觉</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，不符合定义，排除；</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D </a:t>
            </a:r>
            <a:r>
              <a:rPr lang="zh-CN" altLang="en-US" sz="1200" kern="1200" dirty="0">
                <a:solidFill>
                  <a:schemeClr val="tx1"/>
                </a:solidFill>
                <a:effectLst/>
                <a:latin typeface="+mn-lt"/>
                <a:ea typeface="+mn-ea"/>
              </a:rPr>
              <a:t>项：意思是</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怀着秋日的感伤无法入眠，向着屏风移动流泪的蜡烛</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不忍眠</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体现的是不想睡，</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不符合</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想睡却持续性睡不着</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，不符合定义，排除。</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故正确答案为</a:t>
            </a:r>
            <a:r>
              <a:rPr lang="en-US" altLang="zh-CN" sz="1200" kern="1200" dirty="0">
                <a:solidFill>
                  <a:schemeClr val="tx1"/>
                </a:solidFill>
                <a:effectLst/>
                <a:latin typeface="+mn-lt"/>
                <a:ea typeface="+mn-ea"/>
              </a:rPr>
              <a:t> B</a:t>
            </a:r>
            <a:r>
              <a:rPr lang="zh-CN" altLang="en-US" sz="1200" kern="1200" dirty="0">
                <a:solidFill>
                  <a:schemeClr val="tx1"/>
                </a:solidFill>
                <a:effectLst/>
                <a:latin typeface="+mn-lt"/>
                <a:ea typeface="+mn-ea"/>
              </a:rPr>
              <a:t>。</a:t>
            </a:r>
            <a:endParaRPr lang="zh-CN" altLang="en-US" sz="1200" kern="1200" dirty="0">
              <a:solidFill>
                <a:schemeClr val="tx1"/>
              </a:solidFill>
              <a:effectLst/>
              <a:latin typeface="+mn-lt"/>
              <a:ea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sz="1200" kern="1200" dirty="0">
              <a:solidFill>
                <a:schemeClr val="tx1"/>
              </a:solidFill>
              <a:effectLst/>
              <a:latin typeface="+mn-lt"/>
              <a:ea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将抗原抗体反应的特异性和电子显微镜的高分辨率相结合</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在亚细胞和超微结构水平上对抗原进</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行定位分析</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第二步：逐一分析选项。</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A </a:t>
            </a:r>
            <a:r>
              <a:rPr lang="zh-CN" altLang="en-US" sz="1200" kern="1200" dirty="0">
                <a:solidFill>
                  <a:schemeClr val="tx1"/>
                </a:solidFill>
                <a:effectLst/>
                <a:latin typeface="+mn-lt"/>
                <a:ea typeface="+mn-ea"/>
              </a:rPr>
              <a:t>项：该项中运用电子显微镜观察酶的催化作用，符合</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将抗原抗体反应的特异性和电子显微镜的高分</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辨率相结合</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，通过确定酶的存在来对抗原进行定位，符合</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在亚细胞和超微结构水平上对抗原进行定</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位分析</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，符合定义，排除；</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B </a:t>
            </a:r>
            <a:r>
              <a:rPr lang="zh-CN" altLang="en-US" sz="1200" kern="1200" dirty="0">
                <a:solidFill>
                  <a:schemeClr val="tx1"/>
                </a:solidFill>
                <a:effectLst/>
                <a:latin typeface="+mn-lt"/>
                <a:ea typeface="+mn-ea"/>
              </a:rPr>
              <a:t>项：该项中将沙门氏菌的抗血清与胶体金颗粒结合，利用电子显微镜明确抗原定位，符合</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将抗原抗</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体反应的特异性和电子显微镜的高分辨率相结合</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在亚细胞和超微结构水平上对抗原进行定位分</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析</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，符合定义，排除；</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C </a:t>
            </a:r>
            <a:r>
              <a:rPr lang="zh-CN" altLang="en-US" sz="1200" kern="1200" dirty="0">
                <a:solidFill>
                  <a:schemeClr val="tx1"/>
                </a:solidFill>
                <a:effectLst/>
                <a:latin typeface="+mn-lt"/>
                <a:ea typeface="+mn-ea"/>
              </a:rPr>
              <a:t>项：该项中铁蛋白通过交联剂与抗体等物质的共价结合，借助电镜准确描述抗原抗体复合物的定位，</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符合</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将抗原抗体反应的特异性和电子显微镜的高分辨率相结合</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在亚细胞和超微结构水平上对抗</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原进行定位分析</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，符合定义，排除；</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D </a:t>
            </a:r>
            <a:r>
              <a:rPr lang="zh-CN" altLang="en-US" sz="1200" kern="1200" dirty="0">
                <a:solidFill>
                  <a:schemeClr val="tx1"/>
                </a:solidFill>
                <a:effectLst/>
                <a:latin typeface="+mn-lt"/>
                <a:ea typeface="+mn-ea"/>
              </a:rPr>
              <a:t>项：该项中只是提到微流体检测芯片中的免疫电极体系有不同的层结构来提高检测定位水平，但没有</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提及使用电子显微镜，不符合</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将抗原抗体反应的特异性和电子显微镜的高分辨率相结合</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，不符合定</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义，当选。</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本题为选非题，故正确答案为</a:t>
            </a:r>
            <a:r>
              <a:rPr lang="en-US" altLang="zh-CN" sz="1200" kern="1200" dirty="0">
                <a:solidFill>
                  <a:schemeClr val="tx1"/>
                </a:solidFill>
                <a:effectLst/>
                <a:latin typeface="+mn-lt"/>
                <a:ea typeface="+mn-ea"/>
              </a:rPr>
              <a:t> D</a:t>
            </a:r>
            <a:r>
              <a:rPr lang="zh-CN" altLang="en-US" sz="1200" kern="1200" dirty="0">
                <a:solidFill>
                  <a:schemeClr val="tx1"/>
                </a:solidFill>
                <a:effectLst/>
                <a:latin typeface="+mn-lt"/>
                <a:ea typeface="+mn-ea"/>
              </a:rPr>
              <a:t>。</a:t>
            </a:r>
            <a:endParaRPr lang="zh-CN" altLang="en-US" sz="1200" kern="1200" dirty="0">
              <a:solidFill>
                <a:schemeClr val="tx1"/>
              </a:solidFill>
              <a:effectLst/>
              <a:latin typeface="+mn-lt"/>
              <a:ea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kern="1200" dirty="0">
                <a:solidFill>
                  <a:schemeClr val="tx1"/>
                </a:solidFill>
                <a:effectLst/>
                <a:latin typeface="+mn-lt"/>
                <a:ea typeface="+mn-ea"/>
              </a:rPr>
              <a:t>意思主义：</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按照言语者内心所欲表达的真实意思来确定语言含义</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表示主义：</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按照社会公众的通常理解来确定语言的含义</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第二步：逐一分析选项。</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A </a:t>
            </a:r>
            <a:r>
              <a:rPr lang="zh-CN" altLang="en-US" sz="1200" kern="1200" dirty="0">
                <a:solidFill>
                  <a:schemeClr val="tx1"/>
                </a:solidFill>
                <a:effectLst/>
                <a:latin typeface="+mn-lt"/>
                <a:ea typeface="+mn-ea"/>
              </a:rPr>
              <a:t>项：</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误载不害真意</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指表意人与相对人已达成意思表示一致，不因合同文本中出现的用词错误而影</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响双方已经达成的真实合意，强调要按照表意人（言语者）内心真实的意思来确定，符合</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按照言语者</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内心所欲表达的真实意思来确定语言含义</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，符合</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意思主义</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定义，当选；</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B </a:t>
            </a:r>
            <a:r>
              <a:rPr lang="zh-CN" altLang="en-US" sz="1200" kern="1200" dirty="0">
                <a:solidFill>
                  <a:schemeClr val="tx1"/>
                </a:solidFill>
                <a:effectLst/>
                <a:latin typeface="+mn-lt"/>
                <a:ea typeface="+mn-ea"/>
              </a:rPr>
              <a:t>项：</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人同此心，心同此理</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的意思是合情合理的事，大家想法都会相同，不符合</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按照言语者内心</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所欲表达的真实意思来确定语言含义</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，不符合</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意思主义</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定义，排除；</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C </a:t>
            </a:r>
            <a:r>
              <a:rPr lang="zh-CN" altLang="en-US" sz="1200" kern="1200" dirty="0">
                <a:solidFill>
                  <a:schemeClr val="tx1"/>
                </a:solidFill>
                <a:effectLst/>
                <a:latin typeface="+mn-lt"/>
                <a:ea typeface="+mn-ea"/>
              </a:rPr>
              <a:t>项：</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一千个读者有一千个哈姆雷特</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指人们对同一艺术作品的解读因个体差异而呈现多样性，不符</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合</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按照言语者内心所欲表达的真实意思来确定语言含义</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，不符合</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意思主义</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定义，排除；</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D </a:t>
            </a:r>
            <a:r>
              <a:rPr lang="zh-CN" altLang="en-US" sz="1200" kern="1200" dirty="0">
                <a:solidFill>
                  <a:schemeClr val="tx1"/>
                </a:solidFill>
                <a:effectLst/>
                <a:latin typeface="+mn-lt"/>
                <a:ea typeface="+mn-ea"/>
              </a:rPr>
              <a:t>项：</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横看成岭侧成峰，远近高低各不同</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的意思是从正面、侧面看庐山山岭连绵起伏、山峰耸立，</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从远处、近处、高处、低处看庐山，庐山呈现各种不同的样子，不符合</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按照言语者内心所欲表达的真</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实意思来确定语言含义</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，不符合</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意思主义</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定义，排除。</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故正确答案为</a:t>
            </a:r>
            <a:r>
              <a:rPr lang="en-US" altLang="zh-CN" sz="1200" kern="1200" dirty="0">
                <a:solidFill>
                  <a:schemeClr val="tx1"/>
                </a:solidFill>
                <a:effectLst/>
                <a:latin typeface="+mn-lt"/>
                <a:ea typeface="+mn-ea"/>
              </a:rPr>
              <a:t> A</a:t>
            </a:r>
            <a:r>
              <a:rPr lang="zh-CN" altLang="en-US" sz="1200" kern="1200" dirty="0">
                <a:solidFill>
                  <a:schemeClr val="tx1"/>
                </a:solidFill>
                <a:effectLst/>
                <a:latin typeface="+mn-lt"/>
                <a:ea typeface="+mn-ea"/>
              </a:rPr>
              <a:t>。</a:t>
            </a:r>
            <a:endParaRPr lang="zh-CN" altLang="en-US" sz="1200" kern="1200" dirty="0">
              <a:solidFill>
                <a:schemeClr val="tx1"/>
              </a:solidFill>
              <a:effectLst/>
              <a:latin typeface="+mn-lt"/>
              <a:ea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kern="1200" dirty="0">
                <a:solidFill>
                  <a:schemeClr val="tx1"/>
                </a:solidFill>
                <a:effectLst/>
                <a:latin typeface="+mn-lt"/>
                <a:ea typeface="+mn-ea"/>
              </a:rPr>
              <a:t>合意：</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当事人双方或者多方意思表示达成一致</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决议：</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多个主体</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根据表决原则做出的决定</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经由多数决策程序机制得出的意思表示</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决</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议结果对团体内部全体成员都有效</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第二步：逐一分析选项。</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A </a:t>
            </a:r>
            <a:r>
              <a:rPr lang="zh-CN" altLang="en-US" sz="1200" kern="1200" dirty="0">
                <a:solidFill>
                  <a:schemeClr val="tx1"/>
                </a:solidFill>
                <a:effectLst/>
                <a:latin typeface="+mn-lt"/>
                <a:ea typeface="+mn-ea"/>
              </a:rPr>
              <a:t>项：李某、王某驾车和陈某的车相撞，最后就交通事故赔偿金额达成一致意见，是当事人双方意思达</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成一致，并非由决策程序机制得出的意思表示，符合</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当事人双方或者多方意思表示达成一致</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，不符</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合</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经由多数决策程序机制得出的意思表示</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，符合合意的定义，不符合决议的定义，排除；</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B </a:t>
            </a:r>
            <a:r>
              <a:rPr lang="zh-CN" altLang="en-US" sz="1200" kern="1200" dirty="0">
                <a:solidFill>
                  <a:schemeClr val="tx1"/>
                </a:solidFill>
                <a:effectLst/>
                <a:latin typeface="+mn-lt"/>
                <a:ea typeface="+mn-ea"/>
              </a:rPr>
              <a:t>项：上市公司召开股东会进行投票，最终通过了决定，是多个主体经过决策程序机制得出的结果，对</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团体内部成员都有效，符合</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多个主体</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根据表决原则做出的决定</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经由多数决策程序机制得</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出的意思表示</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决议结果对团体内部全体成员都有效</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，符合决议的定义，当选；</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C </a:t>
            </a:r>
            <a:r>
              <a:rPr lang="zh-CN" altLang="en-US" sz="1200" kern="1200" dirty="0">
                <a:solidFill>
                  <a:schemeClr val="tx1"/>
                </a:solidFill>
                <a:effectLst/>
                <a:latin typeface="+mn-lt"/>
                <a:ea typeface="+mn-ea"/>
              </a:rPr>
              <a:t>项：黄某要求解除婚姻关系，其妻子不同意，只是夫妻双方的意见分歧，并非是由多数决策程序机制</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得出的意思表示，不符合</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经由多数决策程序机制得出的意思表示</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，不符合决议的定义，排除；</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D </a:t>
            </a:r>
            <a:r>
              <a:rPr lang="zh-CN" altLang="en-US" sz="1200" kern="1200" dirty="0">
                <a:solidFill>
                  <a:schemeClr val="tx1"/>
                </a:solidFill>
                <a:effectLst/>
                <a:latin typeface="+mn-lt"/>
                <a:ea typeface="+mn-ea"/>
              </a:rPr>
              <a:t>项：学院组织全体教师投票推选优秀教师，只是处在投票阶段，并未做出最后的决定，不符合</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根据</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表决原则做出的决定</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决议结果对团体内部全体成员都有效</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，不符合决议的定义，排除。</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故正确答案为</a:t>
            </a:r>
            <a:r>
              <a:rPr lang="en-US" altLang="zh-CN" sz="1200" kern="1200" dirty="0">
                <a:solidFill>
                  <a:schemeClr val="tx1"/>
                </a:solidFill>
                <a:effectLst/>
                <a:latin typeface="+mn-lt"/>
                <a:ea typeface="+mn-ea"/>
              </a:rPr>
              <a:t> B</a:t>
            </a:r>
            <a:r>
              <a:rPr lang="zh-CN" altLang="en-US" sz="1200" kern="1200" dirty="0">
                <a:solidFill>
                  <a:schemeClr val="tx1"/>
                </a:solidFill>
                <a:effectLst/>
                <a:latin typeface="+mn-lt"/>
                <a:ea typeface="+mn-ea"/>
              </a:rPr>
              <a:t>。</a:t>
            </a:r>
            <a:endParaRPr lang="zh-CN" altLang="en-US" sz="1200" kern="1200" dirty="0">
              <a:solidFill>
                <a:schemeClr val="tx1"/>
              </a:solidFill>
              <a:effectLst/>
              <a:latin typeface="+mn-lt"/>
              <a:ea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kern="1200" dirty="0">
                <a:solidFill>
                  <a:schemeClr val="tx1"/>
                </a:solidFill>
                <a:effectLst/>
                <a:latin typeface="+mn-lt"/>
                <a:ea typeface="+mn-ea"/>
              </a:rPr>
              <a:t>论点：睡眠时间短导致癌症风险升高。</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论据：和睡眠时间为</a:t>
            </a:r>
            <a:r>
              <a:rPr lang="en-US" altLang="zh-CN" sz="1200" kern="1200" dirty="0">
                <a:solidFill>
                  <a:schemeClr val="tx1"/>
                </a:solidFill>
                <a:effectLst/>
                <a:latin typeface="+mn-lt"/>
                <a:ea typeface="+mn-ea"/>
              </a:rPr>
              <a:t> 6-8 </a:t>
            </a:r>
            <a:r>
              <a:rPr lang="zh-CN" altLang="en-US" sz="1200" kern="1200" dirty="0">
                <a:solidFill>
                  <a:schemeClr val="tx1"/>
                </a:solidFill>
                <a:effectLst/>
                <a:latin typeface="+mn-lt"/>
                <a:ea typeface="+mn-ea"/>
              </a:rPr>
              <a:t>小时的参与者相比，夜间睡眠时间少于</a:t>
            </a:r>
            <a:r>
              <a:rPr lang="en-US" altLang="zh-CN" sz="1200" kern="1200" dirty="0">
                <a:solidFill>
                  <a:schemeClr val="tx1"/>
                </a:solidFill>
                <a:effectLst/>
                <a:latin typeface="+mn-lt"/>
                <a:ea typeface="+mn-ea"/>
              </a:rPr>
              <a:t> 6 </a:t>
            </a:r>
            <a:r>
              <a:rPr lang="zh-CN" altLang="en-US" sz="1200" kern="1200" dirty="0">
                <a:solidFill>
                  <a:schemeClr val="tx1"/>
                </a:solidFill>
                <a:effectLst/>
                <a:latin typeface="+mn-lt"/>
                <a:ea typeface="+mn-ea"/>
              </a:rPr>
              <a:t>小时的人，患癌风险升高</a:t>
            </a:r>
            <a:r>
              <a:rPr lang="en-US" altLang="zh-CN" sz="1200" kern="1200" dirty="0">
                <a:solidFill>
                  <a:schemeClr val="tx1"/>
                </a:solidFill>
                <a:effectLst/>
                <a:latin typeface="+mn-lt"/>
                <a:ea typeface="+mn-ea"/>
              </a:rPr>
              <a:t> 41%</a:t>
            </a:r>
            <a:r>
              <a:rPr lang="zh-CN" altLang="en-US" sz="1200" kern="1200" dirty="0">
                <a:solidFill>
                  <a:schemeClr val="tx1"/>
                </a:solidFill>
                <a:effectLst/>
                <a:latin typeface="+mn-lt"/>
                <a:ea typeface="+mn-ea"/>
              </a:rPr>
              <a:t>，和午睡时间多于</a:t>
            </a:r>
            <a:r>
              <a:rPr lang="en-US" altLang="zh-CN" sz="1200" kern="1200" dirty="0">
                <a:solidFill>
                  <a:schemeClr val="tx1"/>
                </a:solidFill>
                <a:effectLst/>
                <a:latin typeface="+mn-lt"/>
                <a:ea typeface="+mn-ea"/>
              </a:rPr>
              <a:t> 60 </a:t>
            </a:r>
            <a:r>
              <a:rPr lang="zh-CN" altLang="en-US" sz="1200" kern="1200" dirty="0">
                <a:solidFill>
                  <a:schemeClr val="tx1"/>
                </a:solidFill>
                <a:effectLst/>
                <a:latin typeface="+mn-lt"/>
                <a:ea typeface="+mn-ea"/>
              </a:rPr>
              <a:t>分钟的参与者相比，从不午睡的参与者患癌风险升高</a:t>
            </a:r>
            <a:r>
              <a:rPr lang="en-US" altLang="zh-CN" sz="1200" kern="1200" dirty="0">
                <a:solidFill>
                  <a:schemeClr val="tx1"/>
                </a:solidFill>
                <a:effectLst/>
                <a:latin typeface="+mn-lt"/>
                <a:ea typeface="+mn-ea"/>
              </a:rPr>
              <a:t> 60%</a:t>
            </a:r>
            <a:r>
              <a:rPr lang="zh-CN" altLang="en-US" sz="1200" kern="1200" dirty="0">
                <a:solidFill>
                  <a:schemeClr val="tx1"/>
                </a:solidFill>
                <a:effectLst/>
                <a:latin typeface="+mn-lt"/>
                <a:ea typeface="+mn-ea"/>
              </a:rPr>
              <a:t>。</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论据在说夜间睡眠时间短和从不午睡的参与者患癌风险高，论点在说睡眠时间短导致癌症风险升高，二</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者话题一致，加强考虑补充论据。</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第二步：逐一分析选项。</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A </a:t>
            </a:r>
            <a:r>
              <a:rPr lang="zh-CN" altLang="en-US" sz="1200" kern="1200" dirty="0">
                <a:solidFill>
                  <a:schemeClr val="tx1"/>
                </a:solidFill>
                <a:effectLst/>
                <a:latin typeface="+mn-lt"/>
                <a:ea typeface="+mn-ea"/>
              </a:rPr>
              <a:t>项：该项指出</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睡眠时间短会损害免疫功能、降低人体对肿瘤细胞的识别和消灭能力</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，解释了睡眠</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时间短与患癌风险高之间的关系，补充论据，可以加强，保留；</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B </a:t>
            </a:r>
            <a:r>
              <a:rPr lang="zh-CN" altLang="en-US" sz="1200" kern="1200" dirty="0">
                <a:solidFill>
                  <a:schemeClr val="tx1"/>
                </a:solidFill>
                <a:effectLst/>
                <a:latin typeface="+mn-lt"/>
                <a:ea typeface="+mn-ea"/>
              </a:rPr>
              <a:t>项：该项指出人类环境、卫生资源和睡眠习惯的变化使得癌症发病原因发生了变化，并未说明睡眠时</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间短和癌症风险高有关系，无法加强，排除；</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C </a:t>
            </a:r>
            <a:r>
              <a:rPr lang="zh-CN" altLang="en-US" sz="1200" kern="1200" dirty="0">
                <a:solidFill>
                  <a:schemeClr val="tx1"/>
                </a:solidFill>
                <a:effectLst/>
                <a:latin typeface="+mn-lt"/>
                <a:ea typeface="+mn-ea"/>
              </a:rPr>
              <a:t>项：该项指出夜间睡眠时间短或不午睡的参与者，年龄较大且缺少锻炼，但并未说明年龄较大、缺少</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锻炼是否癌症风险就会高，为不明确项，无法加强，排除；</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D </a:t>
            </a:r>
            <a:r>
              <a:rPr lang="zh-CN" altLang="en-US" sz="1200" kern="1200" dirty="0">
                <a:solidFill>
                  <a:schemeClr val="tx1"/>
                </a:solidFill>
                <a:effectLst/>
                <a:latin typeface="+mn-lt"/>
                <a:ea typeface="+mn-ea"/>
              </a:rPr>
              <a:t>项：该项指出睡眠时间短于</a:t>
            </a:r>
            <a:r>
              <a:rPr lang="en-US" altLang="zh-CN" sz="1200" kern="1200" dirty="0">
                <a:solidFill>
                  <a:schemeClr val="tx1"/>
                </a:solidFill>
                <a:effectLst/>
                <a:latin typeface="+mn-lt"/>
                <a:ea typeface="+mn-ea"/>
              </a:rPr>
              <a:t> 7 </a:t>
            </a:r>
            <a:r>
              <a:rPr lang="zh-CN" altLang="en-US" sz="1200" kern="1200" dirty="0">
                <a:solidFill>
                  <a:schemeClr val="tx1"/>
                </a:solidFill>
                <a:effectLst/>
                <a:latin typeface="+mn-lt"/>
                <a:ea typeface="+mn-ea"/>
              </a:rPr>
              <a:t>小时的男性患癌风险升高了</a:t>
            </a:r>
            <a:r>
              <a:rPr lang="en-US" altLang="zh-CN" sz="1200" kern="1200" dirty="0">
                <a:solidFill>
                  <a:schemeClr val="tx1"/>
                </a:solidFill>
                <a:effectLst/>
                <a:latin typeface="+mn-lt"/>
                <a:ea typeface="+mn-ea"/>
              </a:rPr>
              <a:t> 69%</a:t>
            </a:r>
            <a:r>
              <a:rPr lang="zh-CN" altLang="en-US" sz="1200" kern="1200" dirty="0">
                <a:solidFill>
                  <a:schemeClr val="tx1"/>
                </a:solidFill>
                <a:effectLst/>
                <a:latin typeface="+mn-lt"/>
                <a:ea typeface="+mn-ea"/>
              </a:rPr>
              <a:t>，举例说明睡眠时间短与患癌风险高之</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间存在关系，补充论据，可以加强，保留。</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比较</a:t>
            </a:r>
            <a:r>
              <a:rPr lang="en-US" altLang="zh-CN" sz="1200" kern="1200" dirty="0">
                <a:solidFill>
                  <a:schemeClr val="tx1"/>
                </a:solidFill>
                <a:effectLst/>
                <a:latin typeface="+mn-lt"/>
                <a:ea typeface="+mn-ea"/>
              </a:rPr>
              <a:t> A</a:t>
            </a:r>
            <a:r>
              <a:rPr lang="zh-CN" altLang="en-US" sz="1200" kern="1200" dirty="0">
                <a:solidFill>
                  <a:schemeClr val="tx1"/>
                </a:solidFill>
                <a:effectLst/>
                <a:latin typeface="+mn-lt"/>
                <a:ea typeface="+mn-ea"/>
              </a:rPr>
              <a:t>、</a:t>
            </a:r>
            <a:r>
              <a:rPr lang="en-US" altLang="zh-CN" sz="1200" kern="1200" dirty="0">
                <a:solidFill>
                  <a:schemeClr val="tx1"/>
                </a:solidFill>
                <a:effectLst/>
                <a:latin typeface="+mn-lt"/>
                <a:ea typeface="+mn-ea"/>
              </a:rPr>
              <a:t>D </a:t>
            </a:r>
            <a:r>
              <a:rPr lang="zh-CN" altLang="en-US" sz="1200" kern="1200" dirty="0">
                <a:solidFill>
                  <a:schemeClr val="tx1"/>
                </a:solidFill>
                <a:effectLst/>
                <a:latin typeface="+mn-lt"/>
                <a:ea typeface="+mn-ea"/>
              </a:rPr>
              <a:t>两项，</a:t>
            </a:r>
            <a:r>
              <a:rPr lang="en-US" altLang="zh-CN" sz="1200" kern="1200" dirty="0">
                <a:solidFill>
                  <a:schemeClr val="tx1"/>
                </a:solidFill>
                <a:effectLst/>
                <a:latin typeface="+mn-lt"/>
                <a:ea typeface="+mn-ea"/>
              </a:rPr>
              <a:t>A </a:t>
            </a:r>
            <a:r>
              <a:rPr lang="zh-CN" altLang="en-US" sz="1200" kern="1200" dirty="0">
                <a:solidFill>
                  <a:schemeClr val="tx1"/>
                </a:solidFill>
                <a:effectLst/>
                <a:latin typeface="+mn-lt"/>
                <a:ea typeface="+mn-ea"/>
              </a:rPr>
              <a:t>项是解释原因，</a:t>
            </a:r>
            <a:r>
              <a:rPr lang="en-US" altLang="zh-CN" sz="1200" kern="1200" dirty="0">
                <a:solidFill>
                  <a:schemeClr val="tx1"/>
                </a:solidFill>
                <a:effectLst/>
                <a:latin typeface="+mn-lt"/>
                <a:ea typeface="+mn-ea"/>
              </a:rPr>
              <a:t>D </a:t>
            </a:r>
            <a:r>
              <a:rPr lang="zh-CN" altLang="en-US" sz="1200" kern="1200" dirty="0">
                <a:solidFill>
                  <a:schemeClr val="tx1"/>
                </a:solidFill>
                <a:effectLst/>
                <a:latin typeface="+mn-lt"/>
                <a:ea typeface="+mn-ea"/>
              </a:rPr>
              <a:t>项举例，解释原因的加强力度大于举例，</a:t>
            </a:r>
            <a:r>
              <a:rPr lang="en-US" altLang="zh-CN" sz="1200" kern="1200" dirty="0">
                <a:solidFill>
                  <a:schemeClr val="tx1"/>
                </a:solidFill>
                <a:effectLst/>
                <a:latin typeface="+mn-lt"/>
                <a:ea typeface="+mn-ea"/>
              </a:rPr>
              <a:t>A </a:t>
            </a:r>
            <a:r>
              <a:rPr lang="zh-CN" altLang="en-US" sz="1200" kern="1200" dirty="0">
                <a:solidFill>
                  <a:schemeClr val="tx1"/>
                </a:solidFill>
                <a:effectLst/>
                <a:latin typeface="+mn-lt"/>
                <a:ea typeface="+mn-ea"/>
              </a:rPr>
              <a:t>项的加强力度更强。</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故正确答案为</a:t>
            </a:r>
            <a:r>
              <a:rPr lang="en-US" altLang="zh-CN" sz="1200" kern="1200" dirty="0">
                <a:solidFill>
                  <a:schemeClr val="tx1"/>
                </a:solidFill>
                <a:effectLst/>
                <a:latin typeface="+mn-lt"/>
                <a:ea typeface="+mn-ea"/>
              </a:rPr>
              <a:t> A</a:t>
            </a:r>
            <a:r>
              <a:rPr lang="zh-CN" altLang="en-US" sz="1200" kern="1200" dirty="0">
                <a:solidFill>
                  <a:schemeClr val="tx1"/>
                </a:solidFill>
                <a:effectLst/>
                <a:latin typeface="+mn-lt"/>
                <a:ea typeface="+mn-ea"/>
              </a:rPr>
              <a:t>。</a:t>
            </a:r>
            <a:endParaRPr lang="zh-CN" altLang="en-US" sz="1200" kern="1200" dirty="0">
              <a:solidFill>
                <a:schemeClr val="tx1"/>
              </a:solidFill>
              <a:effectLst/>
              <a:latin typeface="+mn-lt"/>
              <a:ea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ea typeface="+mn-ea"/>
              </a:rPr>
              <a:t>C</a:t>
            </a:r>
            <a:r>
              <a:rPr lang="zh-CN" altLang="en-US" sz="1200" kern="1200" dirty="0">
                <a:solidFill>
                  <a:schemeClr val="tx1"/>
                </a:solidFill>
                <a:effectLst/>
                <a:latin typeface="+mn-lt"/>
                <a:ea typeface="+mn-ea"/>
              </a:rPr>
              <a:t>论点：蝙蝠的夜行性和飞行能力可以降低它们被捕食的风险，这可能对其寿命的延长有所帮助。</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论据：在长期的进化过程中，蝙蝠（狐蝠除外）获得了对夜间飞行十分有利的回声定位能力，可以将喉</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咙和鼻子处生成的超声波以短脉冲形式发射到周围，并且能用耳朵接收反射回的声波，以此来确定自身</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到物体的距离、物体所在方向以及物体形状等。一般来说，蝙蝠的寿命比其他相同体型的哺乳类动物要</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长</a:t>
            </a:r>
            <a:r>
              <a:rPr lang="en-US" altLang="zh-CN" sz="1200" kern="1200" dirty="0">
                <a:solidFill>
                  <a:schemeClr val="tx1"/>
                </a:solidFill>
                <a:effectLst/>
                <a:latin typeface="+mn-lt"/>
                <a:ea typeface="+mn-ea"/>
              </a:rPr>
              <a:t> 3.5 </a:t>
            </a:r>
            <a:r>
              <a:rPr lang="zh-CN" altLang="en-US" sz="1200" kern="1200" dirty="0">
                <a:solidFill>
                  <a:schemeClr val="tx1"/>
                </a:solidFill>
                <a:effectLst/>
                <a:latin typeface="+mn-lt"/>
                <a:ea typeface="+mn-ea"/>
              </a:rPr>
              <a:t>倍。</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本题只有论点，没有论据，加强优先考虑补充论据。</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第二步：逐一分析选项。</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A </a:t>
            </a:r>
            <a:r>
              <a:rPr lang="zh-CN" altLang="en-US" sz="1200" kern="1200" dirty="0">
                <a:solidFill>
                  <a:schemeClr val="tx1"/>
                </a:solidFill>
                <a:effectLst/>
                <a:latin typeface="+mn-lt"/>
                <a:ea typeface="+mn-ea"/>
              </a:rPr>
              <a:t>项：选项说的是在夜间飞行时，如果蝙蝠的耳朵被堵住，它们就无法顺利地躲避障碍物，说明蝙蝠的</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耳朵对其顺利地躲避障碍物的重要性，是在重复论据，与论点讨论的蝙蝠的夜行性和飞行能力是否可以</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降低它们被捕食的风险，以及这是否可能对其寿命的延长有所帮助无关，无关项，无法加强，排除；</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B </a:t>
            </a:r>
            <a:r>
              <a:rPr lang="zh-CN" altLang="en-US" sz="1200" kern="1200" dirty="0">
                <a:solidFill>
                  <a:schemeClr val="tx1"/>
                </a:solidFill>
                <a:effectLst/>
                <a:latin typeface="+mn-lt"/>
                <a:ea typeface="+mn-ea"/>
              </a:rPr>
              <a:t>项：选项说的是倒挂姿势不仅有助于蝙蝠起飞，还可以使它们睡在洞穴顶部等隐蔽场所，是在讨论蝙</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蝠倒挂姿势的好处，但论点讨论的是蝙蝠的夜行性和飞行能力是否可以降低它们被捕食的风险，以及这</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是否可能对其寿命的延长有所帮助，话题不一致，无法加强，排除；</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C </a:t>
            </a:r>
            <a:r>
              <a:rPr lang="zh-CN" altLang="en-US" sz="1200" kern="1200" dirty="0">
                <a:solidFill>
                  <a:schemeClr val="tx1"/>
                </a:solidFill>
                <a:effectLst/>
                <a:latin typeface="+mn-lt"/>
                <a:ea typeface="+mn-ea"/>
              </a:rPr>
              <a:t>项：选项说的是黑暗中蝙蝠能够正确识别周围环境，这有助于它们成功躲避天敌的侵扰，是在解释为</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什么蝙蝠的夜行性可以降低它们被捕食的风险，补充论据，可以加强，当选；</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D </a:t>
            </a:r>
            <a:r>
              <a:rPr lang="zh-CN" altLang="en-US" sz="1200" kern="1200" dirty="0">
                <a:solidFill>
                  <a:schemeClr val="tx1"/>
                </a:solidFill>
                <a:effectLst/>
                <a:latin typeface="+mn-lt"/>
                <a:ea typeface="+mn-ea"/>
              </a:rPr>
              <a:t>项：选项说的是蝙蝠体内抑制病毒感染和增殖的蛋白质较多，即使感染病毒也不会发病，但论点讨论</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的是蝙蝠的夜行性和飞行能力是否可以降低它们被捕食的风险，以及这是否可能对其寿命的延长有所帮</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助，话题不一致，无法加强，排除。</a:t>
            </a:r>
            <a:endParaRPr lang="zh-CN" altLang="en-US" sz="1200" kern="1200" dirty="0">
              <a:solidFill>
                <a:schemeClr val="tx1"/>
              </a:solidFill>
              <a:effectLst/>
              <a:latin typeface="+mn-lt"/>
              <a:ea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kern="1200" dirty="0">
                <a:solidFill>
                  <a:schemeClr val="tx1"/>
                </a:solidFill>
                <a:effectLst/>
                <a:latin typeface="+mn-lt"/>
                <a:ea typeface="+mn-ea"/>
              </a:rPr>
              <a:t>论点：水闸不会对生态环境造成负面影响，甚至能够优化当地物种的生存环境。</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论据：无。</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本题只有论点，没有论据，削弱优先考虑削弱论点。</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第二步：逐一分析选项。</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A </a:t>
            </a:r>
            <a:r>
              <a:rPr lang="zh-CN" altLang="en-US" sz="1200" kern="1200" dirty="0">
                <a:solidFill>
                  <a:schemeClr val="tx1"/>
                </a:solidFill>
                <a:effectLst/>
                <a:latin typeface="+mn-lt"/>
                <a:ea typeface="+mn-ea"/>
              </a:rPr>
              <a:t>项：该项指出该湖泊是某些候鸟的栖息地，每年都会吸引它们来此越冬，而论点讨论的是水闸对生态</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环境、当地物种的影响，话题不一致，无法削弱，排除；</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B </a:t>
            </a:r>
            <a:r>
              <a:rPr lang="zh-CN" altLang="en-US" sz="1200" kern="1200" dirty="0">
                <a:solidFill>
                  <a:schemeClr val="tx1"/>
                </a:solidFill>
                <a:effectLst/>
                <a:latin typeface="+mn-lt"/>
                <a:ea typeface="+mn-ea"/>
              </a:rPr>
              <a:t>项：该项指出蓄水会导致湖泊的冬季水位上涨，某些种类的候鸟喜爱浮水游动，说明水闸建设优化了</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候鸟的生存环境，为加强项，无法削弱，排除；</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C </a:t>
            </a:r>
            <a:r>
              <a:rPr lang="zh-CN" altLang="en-US" sz="1200" kern="1200" dirty="0">
                <a:solidFill>
                  <a:schemeClr val="tx1"/>
                </a:solidFill>
                <a:effectLst/>
                <a:latin typeface="+mn-lt"/>
                <a:ea typeface="+mn-ea"/>
              </a:rPr>
              <a:t>项：该项指出水闸上会预留数个</a:t>
            </a:r>
            <a:r>
              <a:rPr lang="en-US" altLang="zh-CN" sz="1200" kern="1200" dirty="0">
                <a:solidFill>
                  <a:schemeClr val="tx1"/>
                </a:solidFill>
                <a:effectLst/>
                <a:latin typeface="+mn-lt"/>
                <a:ea typeface="+mn-ea"/>
              </a:rPr>
              <a:t> 60 </a:t>
            </a:r>
            <a:r>
              <a:rPr lang="zh-CN" altLang="en-US" sz="1200" kern="1200" dirty="0">
                <a:solidFill>
                  <a:schemeClr val="tx1"/>
                </a:solidFill>
                <a:effectLst/>
                <a:latin typeface="+mn-lt"/>
                <a:ea typeface="+mn-ea"/>
              </a:rPr>
              <a:t>米宽的洄游通道，供江豚等水生动物洄游觅食，说明水闸建设不会</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影响江豚等水生动物的生存环境，不会对生态环境造成负面影响，为加强项，无法削弱，排除；</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D </a:t>
            </a:r>
            <a:r>
              <a:rPr lang="zh-CN" altLang="en-US" sz="1200" kern="1200" dirty="0">
                <a:solidFill>
                  <a:schemeClr val="tx1"/>
                </a:solidFill>
                <a:effectLst/>
                <a:latin typeface="+mn-lt"/>
                <a:ea typeface="+mn-ea"/>
              </a:rPr>
              <a:t>项：该项指出湖泊周围主要的鸟类种群需要栖息在较浅的水陆交错环境，说明水闸建设带来的高蓄水</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量不利于鸟类种群的栖息，削弱论点，可以削弱，当选。</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故正确答案为</a:t>
            </a:r>
            <a:r>
              <a:rPr lang="en-US" altLang="zh-CN" sz="1200" kern="1200" dirty="0">
                <a:solidFill>
                  <a:schemeClr val="tx1"/>
                </a:solidFill>
                <a:effectLst/>
                <a:latin typeface="+mn-lt"/>
                <a:ea typeface="+mn-ea"/>
              </a:rPr>
              <a:t> D</a:t>
            </a:r>
            <a:r>
              <a:rPr lang="zh-CN" altLang="en-US" sz="1200" kern="1200" dirty="0">
                <a:solidFill>
                  <a:schemeClr val="tx1"/>
                </a:solidFill>
                <a:effectLst/>
                <a:latin typeface="+mn-lt"/>
                <a:ea typeface="+mn-ea"/>
              </a:rPr>
              <a:t>。</a:t>
            </a:r>
            <a:endParaRPr lang="zh-CN" altLang="en-US" sz="1200" kern="1200" dirty="0">
              <a:solidFill>
                <a:schemeClr val="tx1"/>
              </a:solidFill>
              <a:effectLst/>
              <a:latin typeface="+mn-lt"/>
              <a:ea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kern="1200" dirty="0">
                <a:solidFill>
                  <a:schemeClr val="tx1"/>
                </a:solidFill>
                <a:effectLst/>
                <a:latin typeface="+mn-lt"/>
                <a:ea typeface="+mn-ea"/>
              </a:rPr>
              <a:t>论点：大蚕蛾的</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锦衣华服</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是用于吸引异性，从而增加交配繁殖的几率。</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论据：在自然界中，为了吸引异性，许多动物都拥有鲜艳美丽的外形。</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本题论点和论据均在讨论</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外形</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和</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吸引异性</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的关系，二者话题一致，削弱优先考虑削弱论点。</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第二步：逐一分析选项。</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A </a:t>
            </a:r>
            <a:r>
              <a:rPr lang="zh-CN" altLang="en-US" sz="1200" kern="1200" dirty="0">
                <a:solidFill>
                  <a:schemeClr val="tx1"/>
                </a:solidFill>
                <a:effectLst/>
                <a:latin typeface="+mn-lt"/>
                <a:ea typeface="+mn-ea"/>
              </a:rPr>
              <a:t>项：该项指出绝大部分种类的大蚕蛾生存繁衍于群山密林，无法看清同类的翅膀，说明大蚕蛾无法依</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靠外形吸引异性，增加交配繁殖的几率，削弱论点，可以削弱，当选；</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B </a:t>
            </a:r>
            <a:r>
              <a:rPr lang="zh-CN" altLang="en-US" sz="1200" kern="1200" dirty="0">
                <a:solidFill>
                  <a:schemeClr val="tx1"/>
                </a:solidFill>
                <a:effectLst/>
                <a:latin typeface="+mn-lt"/>
                <a:ea typeface="+mn-ea"/>
              </a:rPr>
              <a:t>项：该项指出大蚕蛾翅膀绚丽的原因，绚丽的翅膀能让天敌分心或疑惑，但并未提及绚丽翅膀能否吸</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引异性，增加交配繁殖的几率，话题不一致，无法削弱，排除；</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C </a:t>
            </a:r>
            <a:r>
              <a:rPr lang="zh-CN" altLang="en-US" sz="1200" kern="1200" dirty="0">
                <a:solidFill>
                  <a:schemeClr val="tx1"/>
                </a:solidFill>
                <a:effectLst/>
                <a:latin typeface="+mn-lt"/>
                <a:ea typeface="+mn-ea"/>
              </a:rPr>
              <a:t>项：该项指出大蚕蛾头顶的触角能起到哪些作用，而论点讨论的是大蚕蛾的绚丽翅膀能否吸引异性，</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增加交配繁殖的几率，话题不一致，无法削弱，排除；</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D </a:t>
            </a:r>
            <a:r>
              <a:rPr lang="zh-CN" altLang="en-US" sz="1200" kern="1200" dirty="0">
                <a:solidFill>
                  <a:schemeClr val="tx1"/>
                </a:solidFill>
                <a:effectLst/>
                <a:latin typeface="+mn-lt"/>
                <a:ea typeface="+mn-ea"/>
              </a:rPr>
              <a:t>项：该项指出大蚕蛾雌雄两性的色泽区别，而论点讨论的是大蚕蛾的绚丽翅膀能否吸引异性，增加交</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配繁殖的几率，话题不一致，无法削弱，排除。</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故正确答案为</a:t>
            </a:r>
            <a:r>
              <a:rPr lang="en-US" altLang="zh-CN" sz="1200" kern="1200" dirty="0">
                <a:solidFill>
                  <a:schemeClr val="tx1"/>
                </a:solidFill>
                <a:effectLst/>
                <a:latin typeface="+mn-lt"/>
                <a:ea typeface="+mn-ea"/>
              </a:rPr>
              <a:t> A</a:t>
            </a:r>
            <a:r>
              <a:rPr lang="zh-CN" altLang="en-US" sz="1200" kern="1200" dirty="0">
                <a:solidFill>
                  <a:schemeClr val="tx1"/>
                </a:solidFill>
                <a:effectLst/>
                <a:latin typeface="+mn-lt"/>
                <a:ea typeface="+mn-ea"/>
              </a:rPr>
              <a:t>。</a:t>
            </a:r>
            <a:endParaRPr lang="zh-CN" altLang="en-US" sz="1200" kern="1200" dirty="0">
              <a:solidFill>
                <a:schemeClr val="tx1"/>
              </a:solidFill>
              <a:effectLst/>
              <a:latin typeface="+mn-lt"/>
              <a:ea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kern="1200" dirty="0">
                <a:solidFill>
                  <a:schemeClr val="tx1"/>
                </a:solidFill>
                <a:effectLst/>
                <a:latin typeface="+mn-lt"/>
                <a:ea typeface="+mn-ea"/>
              </a:rPr>
              <a:t>（</a:t>
            </a:r>
            <a:r>
              <a:rPr lang="en-US" altLang="zh-CN" sz="1200" kern="1200" dirty="0">
                <a:solidFill>
                  <a:schemeClr val="tx1"/>
                </a:solidFill>
                <a:effectLst/>
                <a:latin typeface="+mn-lt"/>
                <a:ea typeface="+mn-ea"/>
              </a:rPr>
              <a:t>1</a:t>
            </a:r>
            <a:r>
              <a:rPr lang="zh-CN" altLang="en-US" sz="1200" kern="1200" dirty="0">
                <a:solidFill>
                  <a:schemeClr val="tx1"/>
                </a:solidFill>
                <a:effectLst/>
                <a:latin typeface="+mn-lt"/>
                <a:ea typeface="+mn-ea"/>
              </a:rPr>
              <a:t>）桃树</a:t>
            </a:r>
            <a:r>
              <a:rPr lang="en-US" altLang="zh-CN" sz="1200" kern="1200" dirty="0">
                <a:solidFill>
                  <a:schemeClr val="tx1"/>
                </a:solidFill>
                <a:effectLst/>
                <a:latin typeface="+mn-lt"/>
                <a:ea typeface="+mn-ea"/>
              </a:rPr>
              <a:t> </a:t>
            </a:r>
            <a:r>
              <a:rPr lang="zh-CN" altLang="en-US" sz="1200" kern="1200" dirty="0">
                <a:solidFill>
                  <a:schemeClr val="tx1"/>
                </a:solidFill>
                <a:effectLst/>
                <a:latin typeface="+mn-lt"/>
                <a:ea typeface="+mn-ea"/>
              </a:rPr>
              <a:t>松树；</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a:t>
            </a:r>
            <a:r>
              <a:rPr lang="en-US" altLang="zh-CN" sz="1200" kern="1200" dirty="0">
                <a:solidFill>
                  <a:schemeClr val="tx1"/>
                </a:solidFill>
                <a:effectLst/>
                <a:latin typeface="+mn-lt"/>
                <a:ea typeface="+mn-ea"/>
              </a:rPr>
              <a:t>2</a:t>
            </a:r>
            <a:r>
              <a:rPr lang="zh-CN" altLang="en-US" sz="1200" kern="1200" dirty="0">
                <a:solidFill>
                  <a:schemeClr val="tx1"/>
                </a:solidFill>
                <a:effectLst/>
                <a:latin typeface="+mn-lt"/>
                <a:ea typeface="+mn-ea"/>
              </a:rPr>
              <a:t>）要么选桃树，要么选李树；</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a:t>
            </a:r>
            <a:r>
              <a:rPr lang="en-US" altLang="zh-CN" sz="1200" kern="1200" dirty="0">
                <a:solidFill>
                  <a:schemeClr val="tx1"/>
                </a:solidFill>
                <a:effectLst/>
                <a:latin typeface="+mn-lt"/>
                <a:ea typeface="+mn-ea"/>
              </a:rPr>
              <a:t>3</a:t>
            </a:r>
            <a:r>
              <a:rPr lang="zh-CN" altLang="en-US" sz="1200" kern="1200" dirty="0">
                <a:solidFill>
                  <a:schemeClr val="tx1"/>
                </a:solidFill>
                <a:effectLst/>
                <a:latin typeface="+mn-lt"/>
                <a:ea typeface="+mn-ea"/>
              </a:rPr>
              <a:t>）至少选</a:t>
            </a:r>
            <a:r>
              <a:rPr lang="en-US" altLang="zh-CN" sz="1200" kern="1200" dirty="0">
                <a:solidFill>
                  <a:schemeClr val="tx1"/>
                </a:solidFill>
                <a:effectLst/>
                <a:latin typeface="+mn-lt"/>
                <a:ea typeface="+mn-ea"/>
              </a:rPr>
              <a:t> 3 </a:t>
            </a:r>
            <a:r>
              <a:rPr lang="zh-CN" altLang="en-US" sz="1200" kern="1200" dirty="0">
                <a:solidFill>
                  <a:schemeClr val="tx1"/>
                </a:solidFill>
                <a:effectLst/>
                <a:latin typeface="+mn-lt"/>
                <a:ea typeface="+mn-ea"/>
              </a:rPr>
              <a:t>种树种植；</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a:t>
            </a:r>
            <a:r>
              <a:rPr lang="en-US" altLang="zh-CN" sz="1200" kern="1200" dirty="0">
                <a:solidFill>
                  <a:schemeClr val="tx1"/>
                </a:solidFill>
                <a:effectLst/>
                <a:latin typeface="+mn-lt"/>
                <a:ea typeface="+mn-ea"/>
              </a:rPr>
              <a:t>4</a:t>
            </a:r>
            <a:r>
              <a:rPr lang="zh-CN" altLang="en-US" sz="1200" kern="1200" dirty="0">
                <a:solidFill>
                  <a:schemeClr val="tx1"/>
                </a:solidFill>
                <a:effectLst/>
                <a:latin typeface="+mn-lt"/>
                <a:ea typeface="+mn-ea"/>
              </a:rPr>
              <a:t>）</a:t>
            </a:r>
            <a:r>
              <a:rPr lang="en-US" altLang="zh-CN" sz="1200" kern="1200" dirty="0">
                <a:solidFill>
                  <a:schemeClr val="tx1"/>
                </a:solidFill>
                <a:effectLst/>
                <a:latin typeface="+mn-lt"/>
                <a:ea typeface="+mn-ea"/>
              </a:rPr>
              <a:t> </a:t>
            </a:r>
            <a:r>
              <a:rPr lang="zh-CN" altLang="en-US" sz="1200" kern="1200" dirty="0">
                <a:solidFill>
                  <a:schemeClr val="tx1"/>
                </a:solidFill>
                <a:effectLst/>
                <a:latin typeface="+mn-lt"/>
                <a:ea typeface="+mn-ea"/>
              </a:rPr>
              <a:t>桃树</a:t>
            </a:r>
            <a:r>
              <a:rPr lang="en-US" altLang="zh-CN" sz="1200" kern="1200" dirty="0">
                <a:solidFill>
                  <a:schemeClr val="tx1"/>
                </a:solidFill>
                <a:effectLst/>
                <a:latin typeface="+mn-lt"/>
                <a:ea typeface="+mn-ea"/>
              </a:rPr>
              <a:t> </a:t>
            </a:r>
            <a:r>
              <a:rPr lang="zh-CN" altLang="en-US" sz="1200" kern="1200" dirty="0">
                <a:solidFill>
                  <a:schemeClr val="tx1"/>
                </a:solidFill>
                <a:effectLst/>
                <a:latin typeface="+mn-lt"/>
                <a:ea typeface="+mn-ea"/>
              </a:rPr>
              <a:t>或</a:t>
            </a:r>
            <a:r>
              <a:rPr lang="en-US" altLang="zh-CN" sz="1200" kern="1200" dirty="0">
                <a:solidFill>
                  <a:schemeClr val="tx1"/>
                </a:solidFill>
                <a:effectLst/>
                <a:latin typeface="+mn-lt"/>
                <a:ea typeface="+mn-ea"/>
              </a:rPr>
              <a:t> </a:t>
            </a:r>
            <a:r>
              <a:rPr lang="zh-CN" altLang="en-US" sz="1200" kern="1200" dirty="0">
                <a:solidFill>
                  <a:schemeClr val="tx1"/>
                </a:solidFill>
                <a:effectLst/>
                <a:latin typeface="+mn-lt"/>
                <a:ea typeface="+mn-ea"/>
              </a:rPr>
              <a:t>杨树；</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a:t>
            </a:r>
            <a:r>
              <a:rPr lang="en-US" altLang="zh-CN" sz="1200" kern="1200" dirty="0">
                <a:solidFill>
                  <a:schemeClr val="tx1"/>
                </a:solidFill>
                <a:effectLst/>
                <a:latin typeface="+mn-lt"/>
                <a:ea typeface="+mn-ea"/>
              </a:rPr>
              <a:t>5</a:t>
            </a:r>
            <a:r>
              <a:rPr lang="zh-CN" altLang="en-US" sz="1200" kern="1200" dirty="0">
                <a:solidFill>
                  <a:schemeClr val="tx1"/>
                </a:solidFill>
                <a:effectLst/>
                <a:latin typeface="+mn-lt"/>
                <a:ea typeface="+mn-ea"/>
              </a:rPr>
              <a:t>）</a:t>
            </a:r>
            <a:r>
              <a:rPr lang="en-US" altLang="zh-CN" sz="1200" kern="1200" dirty="0">
                <a:solidFill>
                  <a:schemeClr val="tx1"/>
                </a:solidFill>
                <a:effectLst/>
                <a:latin typeface="+mn-lt"/>
                <a:ea typeface="+mn-ea"/>
              </a:rPr>
              <a:t> </a:t>
            </a:r>
            <a:r>
              <a:rPr lang="zh-CN" altLang="en-US" sz="1200" kern="1200" dirty="0">
                <a:solidFill>
                  <a:schemeClr val="tx1"/>
                </a:solidFill>
                <a:effectLst/>
                <a:latin typeface="+mn-lt"/>
                <a:ea typeface="+mn-ea"/>
              </a:rPr>
              <a:t>李树</a:t>
            </a:r>
            <a:r>
              <a:rPr lang="en-US" altLang="zh-CN" sz="1200" kern="1200" dirty="0">
                <a:solidFill>
                  <a:schemeClr val="tx1"/>
                </a:solidFill>
                <a:effectLst/>
                <a:latin typeface="+mn-lt"/>
                <a:ea typeface="+mn-ea"/>
              </a:rPr>
              <a:t> </a:t>
            </a:r>
            <a:r>
              <a:rPr lang="zh-CN" altLang="en-US" sz="1200" kern="1200" dirty="0">
                <a:solidFill>
                  <a:schemeClr val="tx1"/>
                </a:solidFill>
                <a:effectLst/>
                <a:latin typeface="+mn-lt"/>
                <a:ea typeface="+mn-ea"/>
              </a:rPr>
              <a:t>或</a:t>
            </a:r>
            <a:r>
              <a:rPr lang="en-US" altLang="zh-CN" sz="1200" kern="1200" dirty="0">
                <a:solidFill>
                  <a:schemeClr val="tx1"/>
                </a:solidFill>
                <a:effectLst/>
                <a:latin typeface="+mn-lt"/>
                <a:ea typeface="+mn-ea"/>
              </a:rPr>
              <a:t> </a:t>
            </a:r>
            <a:r>
              <a:rPr lang="zh-CN" altLang="en-US" sz="1200" kern="1200" dirty="0">
                <a:solidFill>
                  <a:schemeClr val="tx1"/>
                </a:solidFill>
                <a:effectLst/>
                <a:latin typeface="+mn-lt"/>
                <a:ea typeface="+mn-ea"/>
              </a:rPr>
              <a:t>柳树。</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第二步：根据题干条件进行推理。</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题干条件中</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桃树</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提及次数最多，可优先从此处入手进行推理。</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若种桃树，结合条件（</a:t>
            </a:r>
            <a:r>
              <a:rPr lang="en-US" altLang="zh-CN" sz="1200" kern="1200" dirty="0">
                <a:solidFill>
                  <a:schemeClr val="tx1"/>
                </a:solidFill>
                <a:effectLst/>
                <a:latin typeface="+mn-lt"/>
                <a:ea typeface="+mn-ea"/>
              </a:rPr>
              <a:t>1</a:t>
            </a:r>
            <a:r>
              <a:rPr lang="zh-CN" altLang="en-US" sz="1200" kern="1200" dirty="0">
                <a:solidFill>
                  <a:schemeClr val="tx1"/>
                </a:solidFill>
                <a:effectLst/>
                <a:latin typeface="+mn-lt"/>
                <a:ea typeface="+mn-ea"/>
              </a:rPr>
              <a:t>）（</a:t>
            </a:r>
            <a:r>
              <a:rPr lang="en-US" altLang="zh-CN" sz="1200" kern="1200" dirty="0">
                <a:solidFill>
                  <a:schemeClr val="tx1"/>
                </a:solidFill>
                <a:effectLst/>
                <a:latin typeface="+mn-lt"/>
                <a:ea typeface="+mn-ea"/>
              </a:rPr>
              <a:t>2</a:t>
            </a:r>
            <a:r>
              <a:rPr lang="zh-CN" altLang="en-US" sz="1200" kern="1200" dirty="0">
                <a:solidFill>
                  <a:schemeClr val="tx1"/>
                </a:solidFill>
                <a:effectLst/>
                <a:latin typeface="+mn-lt"/>
                <a:ea typeface="+mn-ea"/>
              </a:rPr>
              <a:t>）（</a:t>
            </a:r>
            <a:r>
              <a:rPr lang="en-US" altLang="zh-CN" sz="1200" kern="1200" dirty="0">
                <a:solidFill>
                  <a:schemeClr val="tx1"/>
                </a:solidFill>
                <a:effectLst/>
                <a:latin typeface="+mn-lt"/>
                <a:ea typeface="+mn-ea"/>
              </a:rPr>
              <a:t>4</a:t>
            </a:r>
            <a:r>
              <a:rPr lang="zh-CN" altLang="en-US" sz="1200" kern="1200" dirty="0">
                <a:solidFill>
                  <a:schemeClr val="tx1"/>
                </a:solidFill>
                <a:effectLst/>
                <a:latin typeface="+mn-lt"/>
                <a:ea typeface="+mn-ea"/>
              </a:rPr>
              <a:t>）可得，不能种松树、李树和杨树，结合题干信息共有</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桃树、李</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树、杨树、柳树、松树</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这</a:t>
            </a:r>
            <a:r>
              <a:rPr lang="en-US" altLang="zh-CN" sz="1200" kern="1200" dirty="0">
                <a:solidFill>
                  <a:schemeClr val="tx1"/>
                </a:solidFill>
                <a:effectLst/>
                <a:latin typeface="+mn-lt"/>
                <a:ea typeface="+mn-ea"/>
              </a:rPr>
              <a:t> 5 </a:t>
            </a:r>
            <a:r>
              <a:rPr lang="zh-CN" altLang="en-US" sz="1200" kern="1200" dirty="0">
                <a:solidFill>
                  <a:schemeClr val="tx1"/>
                </a:solidFill>
                <a:effectLst/>
                <a:latin typeface="+mn-lt"/>
                <a:ea typeface="+mn-ea"/>
              </a:rPr>
              <a:t>种树，则此时只能种桃树和柳树这两种树，与条件（</a:t>
            </a:r>
            <a:r>
              <a:rPr lang="en-US" altLang="zh-CN" sz="1200" kern="1200" dirty="0">
                <a:solidFill>
                  <a:schemeClr val="tx1"/>
                </a:solidFill>
                <a:effectLst/>
                <a:latin typeface="+mn-lt"/>
                <a:ea typeface="+mn-ea"/>
              </a:rPr>
              <a:t>3</a:t>
            </a:r>
            <a:r>
              <a:rPr lang="zh-CN" altLang="en-US" sz="1200" kern="1200" dirty="0">
                <a:solidFill>
                  <a:schemeClr val="tx1"/>
                </a:solidFill>
                <a:effectLst/>
                <a:latin typeface="+mn-lt"/>
                <a:ea typeface="+mn-ea"/>
              </a:rPr>
              <a:t>）矛盾，故不能种</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桃树。</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不种桃树，结合条件（</a:t>
            </a:r>
            <a:r>
              <a:rPr lang="en-US" altLang="zh-CN" sz="1200" kern="1200" dirty="0">
                <a:solidFill>
                  <a:schemeClr val="tx1"/>
                </a:solidFill>
                <a:effectLst/>
                <a:latin typeface="+mn-lt"/>
                <a:ea typeface="+mn-ea"/>
              </a:rPr>
              <a:t>2</a:t>
            </a:r>
            <a:r>
              <a:rPr lang="zh-CN" altLang="en-US" sz="1200" kern="1200" dirty="0">
                <a:solidFill>
                  <a:schemeClr val="tx1"/>
                </a:solidFill>
                <a:effectLst/>
                <a:latin typeface="+mn-lt"/>
                <a:ea typeface="+mn-ea"/>
              </a:rPr>
              <a:t>）可得，要种植李树；结合条件（</a:t>
            </a:r>
            <a:r>
              <a:rPr lang="en-US" altLang="zh-CN" sz="1200" kern="1200" dirty="0">
                <a:solidFill>
                  <a:schemeClr val="tx1"/>
                </a:solidFill>
                <a:effectLst/>
                <a:latin typeface="+mn-lt"/>
                <a:ea typeface="+mn-ea"/>
              </a:rPr>
              <a:t>5</a:t>
            </a:r>
            <a:r>
              <a:rPr lang="zh-CN" altLang="en-US" sz="1200" kern="1200" dirty="0">
                <a:solidFill>
                  <a:schemeClr val="tx1"/>
                </a:solidFill>
                <a:effectLst/>
                <a:latin typeface="+mn-lt"/>
                <a:ea typeface="+mn-ea"/>
              </a:rPr>
              <a:t>）否一推一可得，不种柳树。结合题干信息</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共有</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桃树、李树、杨树、柳树、松树</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这</a:t>
            </a:r>
            <a:r>
              <a:rPr lang="en-US" altLang="zh-CN" sz="1200" kern="1200" dirty="0">
                <a:solidFill>
                  <a:schemeClr val="tx1"/>
                </a:solidFill>
                <a:effectLst/>
                <a:latin typeface="+mn-lt"/>
                <a:ea typeface="+mn-ea"/>
              </a:rPr>
              <a:t> 5 </a:t>
            </a:r>
            <a:r>
              <a:rPr lang="zh-CN" altLang="en-US" sz="1200" kern="1200" dirty="0">
                <a:solidFill>
                  <a:schemeClr val="tx1"/>
                </a:solidFill>
                <a:effectLst/>
                <a:latin typeface="+mn-lt"/>
                <a:ea typeface="+mn-ea"/>
              </a:rPr>
              <a:t>种树，根据上述结论</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不种桃树</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和</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不种柳树</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，结合</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条件（</a:t>
            </a:r>
            <a:r>
              <a:rPr lang="en-US" altLang="zh-CN" sz="1200" kern="1200" dirty="0">
                <a:solidFill>
                  <a:schemeClr val="tx1"/>
                </a:solidFill>
                <a:effectLst/>
                <a:latin typeface="+mn-lt"/>
                <a:ea typeface="+mn-ea"/>
              </a:rPr>
              <a:t>3</a:t>
            </a:r>
            <a:r>
              <a:rPr lang="zh-CN" altLang="en-US" sz="1200" kern="1200" dirty="0">
                <a:solidFill>
                  <a:schemeClr val="tx1"/>
                </a:solidFill>
                <a:effectLst/>
                <a:latin typeface="+mn-lt"/>
                <a:ea typeface="+mn-ea"/>
              </a:rPr>
              <a:t>）可得，种李树、杨树和松树，只有</a:t>
            </a:r>
            <a:r>
              <a:rPr lang="en-US" altLang="zh-CN" sz="1200" kern="1200" dirty="0">
                <a:solidFill>
                  <a:schemeClr val="tx1"/>
                </a:solidFill>
                <a:effectLst/>
                <a:latin typeface="+mn-lt"/>
                <a:ea typeface="+mn-ea"/>
              </a:rPr>
              <a:t> D </a:t>
            </a:r>
            <a:r>
              <a:rPr lang="zh-CN" altLang="en-US" sz="1200" kern="1200" dirty="0">
                <a:solidFill>
                  <a:schemeClr val="tx1"/>
                </a:solidFill>
                <a:effectLst/>
                <a:latin typeface="+mn-lt"/>
                <a:ea typeface="+mn-ea"/>
              </a:rPr>
              <a:t>项说法完全正确。</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故正确答案为</a:t>
            </a:r>
            <a:r>
              <a:rPr lang="en-US" altLang="zh-CN" sz="1200" kern="1200" dirty="0">
                <a:solidFill>
                  <a:schemeClr val="tx1"/>
                </a:solidFill>
                <a:effectLst/>
                <a:latin typeface="+mn-lt"/>
                <a:ea typeface="+mn-ea"/>
              </a:rPr>
              <a:t> D</a:t>
            </a:r>
            <a:r>
              <a:rPr lang="zh-CN" altLang="en-US" sz="1200" kern="1200" dirty="0">
                <a:solidFill>
                  <a:schemeClr val="tx1"/>
                </a:solidFill>
                <a:effectLst/>
                <a:latin typeface="+mn-lt"/>
                <a:ea typeface="+mn-ea"/>
              </a:rPr>
              <a:t>。</a:t>
            </a:r>
            <a:endParaRPr lang="zh-CN" altLang="en-US" sz="1200" kern="1200" dirty="0">
              <a:solidFill>
                <a:schemeClr val="tx1"/>
              </a:solidFill>
              <a:effectLst/>
              <a:latin typeface="+mn-lt"/>
              <a:ea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kern="1200" dirty="0">
                <a:solidFill>
                  <a:schemeClr val="tx1"/>
                </a:solidFill>
                <a:effectLst/>
                <a:latin typeface="+mn-lt"/>
                <a:ea typeface="+mn-ea"/>
              </a:rPr>
              <a:t>论点：这（瓷器的辉煌在景德镇）与景德镇地处河流密布的水运区紧密相关。</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论据：景德镇是著名的瓷器之都，一条名为昌河的河流从景德镇北方流过。船通过昌河进入鄱阳湖再进</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入长江，最终入海把景德镇的瓷器行销世界。</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本题论点和论据都在讨论景德镇瓷器的辉煌与水运密切相关，二者话题一致，提问为</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前提</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，加强优</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先考虑必要条件。</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第二步：逐一分析选项。</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A </a:t>
            </a:r>
            <a:r>
              <a:rPr lang="zh-CN" altLang="en-US" sz="1200" kern="1200" dirty="0">
                <a:solidFill>
                  <a:schemeClr val="tx1"/>
                </a:solidFill>
                <a:effectLst/>
                <a:latin typeface="+mn-lt"/>
                <a:ea typeface="+mn-ea"/>
              </a:rPr>
              <a:t>项：昌河为景德镇烧制瓷器提供了合适、丰富的水源，说明昌河水作为</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原材料</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有助于烧制景德镇</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瓷器，而论点讨论的是景德镇瓷器的辉煌是否与水运密切相关，话题不一致，为无关项，无法加强，排</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除；</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B </a:t>
            </a:r>
            <a:r>
              <a:rPr lang="zh-CN" altLang="en-US" sz="1200" kern="1200" dirty="0">
                <a:solidFill>
                  <a:schemeClr val="tx1"/>
                </a:solidFill>
                <a:effectLst/>
                <a:latin typeface="+mn-lt"/>
                <a:ea typeface="+mn-ea"/>
              </a:rPr>
              <a:t>项：水运平稳的特点适合运输贵重物品，但并不清楚其中是否包含瓷器，为不明确项，无法加强，排</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除；</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C </a:t>
            </a:r>
            <a:r>
              <a:rPr lang="zh-CN" altLang="en-US" sz="1200" kern="1200" dirty="0">
                <a:solidFill>
                  <a:schemeClr val="tx1"/>
                </a:solidFill>
                <a:effectLst/>
                <a:latin typeface="+mn-lt"/>
                <a:ea typeface="+mn-ea"/>
              </a:rPr>
              <a:t>项：有人考证</a:t>
            </a:r>
            <a:r>
              <a:rPr lang="en-US" altLang="zh-CN" sz="1200" kern="1200" dirty="0">
                <a:solidFill>
                  <a:schemeClr val="tx1"/>
                </a:solidFill>
                <a:effectLst/>
                <a:latin typeface="+mn-lt"/>
                <a:ea typeface="+mn-ea"/>
              </a:rPr>
              <a:t> China </a:t>
            </a:r>
            <a:r>
              <a:rPr lang="zh-CN" altLang="en-US" sz="1200" kern="1200" dirty="0">
                <a:solidFill>
                  <a:schemeClr val="tx1"/>
                </a:solidFill>
                <a:effectLst/>
                <a:latin typeface="+mn-lt"/>
                <a:ea typeface="+mn-ea"/>
              </a:rPr>
              <a:t>是昌江之南的音译，而论点讨论的是景德镇瓷器的辉煌是否与水运密切相关，话</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题不一致，为无关项，无法加强，排除；</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D </a:t>
            </a:r>
            <a:r>
              <a:rPr lang="zh-CN" altLang="en-US" sz="1200" kern="1200" dirty="0">
                <a:solidFill>
                  <a:schemeClr val="tx1"/>
                </a:solidFill>
                <a:effectLst/>
                <a:latin typeface="+mn-lt"/>
                <a:ea typeface="+mn-ea"/>
              </a:rPr>
              <a:t>项：如果水路不是中国贸易的重要渠道，瓷器大部分不是通过水路运往全国乃至世界各地的，那么说</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明瓷器的贸易与水运关系不大，景德镇瓷器的辉煌就不可能与水运密切相关，论点无法成立，因此该项</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是论点成立的必要条件，可以加强，当选。</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故正确答案为</a:t>
            </a:r>
            <a:r>
              <a:rPr lang="en-US" altLang="zh-CN" sz="1200" kern="1200" dirty="0">
                <a:solidFill>
                  <a:schemeClr val="tx1"/>
                </a:solidFill>
                <a:effectLst/>
                <a:latin typeface="+mn-lt"/>
                <a:ea typeface="+mn-ea"/>
              </a:rPr>
              <a:t> D</a:t>
            </a:r>
            <a:r>
              <a:rPr lang="zh-CN" altLang="en-US" sz="1200" kern="1200" dirty="0">
                <a:solidFill>
                  <a:schemeClr val="tx1"/>
                </a:solidFill>
                <a:effectLst/>
                <a:latin typeface="+mn-lt"/>
                <a:ea typeface="+mn-ea"/>
              </a:rPr>
              <a:t>。</a:t>
            </a:r>
            <a:endParaRPr lang="zh-CN" altLang="en-US" sz="1200" kern="1200" dirty="0">
              <a:solidFill>
                <a:schemeClr val="tx1"/>
              </a:solidFill>
              <a:effectLst/>
              <a:latin typeface="+mn-lt"/>
              <a:ea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kern="1200" dirty="0">
                <a:solidFill>
                  <a:schemeClr val="tx1"/>
                </a:solidFill>
                <a:effectLst/>
                <a:latin typeface="+mn-lt"/>
                <a:ea typeface="+mn-ea"/>
              </a:rPr>
              <a:t>论点：阻力训练可以帮助预防或延缓阿尔茨海默病。</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论据：研究者给小鼠的尾部绑上拉力带，将其放置在一个倾斜的木板上并训练向上爬，训练四周后，小</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鼠的血液样本分析表明，参与阻力训练小鼠的大脑中很少出现</a:t>
            </a:r>
            <a:r>
              <a:rPr lang="en-US" altLang="zh-CN" sz="1200" kern="1200" dirty="0">
                <a:solidFill>
                  <a:schemeClr val="tx1"/>
                </a:solidFill>
                <a:effectLst/>
                <a:latin typeface="+mn-lt"/>
                <a:ea typeface="+mn-ea"/>
              </a:rPr>
              <a:t>β-</a:t>
            </a:r>
            <a:r>
              <a:rPr lang="zh-CN" altLang="en-US" sz="1200" kern="1200" dirty="0">
                <a:solidFill>
                  <a:schemeClr val="tx1"/>
                </a:solidFill>
                <a:effectLst/>
                <a:latin typeface="+mn-lt"/>
                <a:ea typeface="+mn-ea"/>
              </a:rPr>
              <a:t>淀粉样蛋白累积，皮质酮（相当于人</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类分泌的皮质醇）也处于正常水平。除此之外，阻力训练增加了小鼠大脑中小胶质细胞的数量，这种细</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胞在</a:t>
            </a:r>
            <a:r>
              <a:rPr lang="en-US" altLang="zh-CN" sz="1200" kern="1200" dirty="0">
                <a:solidFill>
                  <a:schemeClr val="tx1"/>
                </a:solidFill>
                <a:effectLst/>
                <a:latin typeface="+mn-lt"/>
                <a:ea typeface="+mn-ea"/>
              </a:rPr>
              <a:t> AD </a:t>
            </a:r>
            <a:r>
              <a:rPr lang="zh-CN" altLang="en-US" sz="1200" kern="1200" dirty="0">
                <a:solidFill>
                  <a:schemeClr val="tx1"/>
                </a:solidFill>
                <a:effectLst/>
                <a:latin typeface="+mn-lt"/>
                <a:ea typeface="+mn-ea"/>
              </a:rPr>
              <a:t>早期对大脑有重要保护作用。</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本题论点讨论的是阻力训练可以帮助预防或延缓阿尔茨海默病（</a:t>
            </a:r>
            <a:r>
              <a:rPr lang="en-US" altLang="zh-CN" sz="1200" kern="1200" dirty="0">
                <a:solidFill>
                  <a:schemeClr val="tx1"/>
                </a:solidFill>
                <a:effectLst/>
                <a:latin typeface="+mn-lt"/>
                <a:ea typeface="+mn-ea"/>
              </a:rPr>
              <a:t>AD</a:t>
            </a:r>
            <a:r>
              <a:rPr lang="zh-CN" altLang="en-US" sz="1200" kern="1200" dirty="0">
                <a:solidFill>
                  <a:schemeClr val="tx1"/>
                </a:solidFill>
                <a:effectLst/>
                <a:latin typeface="+mn-lt"/>
                <a:ea typeface="+mn-ea"/>
              </a:rPr>
              <a:t>），论据讨论的是阻力训练可以减少</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β-</a:t>
            </a:r>
            <a:r>
              <a:rPr lang="zh-CN" altLang="en-US" sz="1200" kern="1200" dirty="0">
                <a:solidFill>
                  <a:schemeClr val="tx1"/>
                </a:solidFill>
                <a:effectLst/>
                <a:latin typeface="+mn-lt"/>
                <a:ea typeface="+mn-ea"/>
              </a:rPr>
              <a:t>淀粉样蛋白累积、使皮质醇处于正常水平；同时阻力训练也可以增加小胶质细胞的数量，从而保护</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早期</a:t>
            </a:r>
            <a:r>
              <a:rPr lang="en-US" altLang="zh-CN" sz="1200" kern="1200" dirty="0">
                <a:solidFill>
                  <a:schemeClr val="tx1"/>
                </a:solidFill>
                <a:effectLst/>
                <a:latin typeface="+mn-lt"/>
                <a:ea typeface="+mn-ea"/>
              </a:rPr>
              <a:t> AD </a:t>
            </a:r>
            <a:r>
              <a:rPr lang="zh-CN" altLang="en-US" sz="1200" kern="1200" dirty="0">
                <a:solidFill>
                  <a:schemeClr val="tx1"/>
                </a:solidFill>
                <a:effectLst/>
                <a:latin typeface="+mn-lt"/>
                <a:ea typeface="+mn-ea"/>
              </a:rPr>
              <a:t>患者的大脑。其中，论据中的</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减少</a:t>
            </a:r>
            <a:r>
              <a:rPr lang="en-US" altLang="zh-CN" sz="1200" kern="1200" dirty="0">
                <a:solidFill>
                  <a:schemeClr val="tx1"/>
                </a:solidFill>
                <a:effectLst/>
                <a:latin typeface="+mn-lt"/>
                <a:ea typeface="+mn-ea"/>
              </a:rPr>
              <a:t>β-</a:t>
            </a:r>
            <a:r>
              <a:rPr lang="zh-CN" altLang="en-US" sz="1200" kern="1200" dirty="0">
                <a:solidFill>
                  <a:schemeClr val="tx1"/>
                </a:solidFill>
                <a:effectLst/>
                <a:latin typeface="+mn-lt"/>
                <a:ea typeface="+mn-ea"/>
              </a:rPr>
              <a:t>淀粉样蛋白累积、使皮质醇处于正常水平</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与论点中的</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帮助预防或延缓阿尔茨海默病（</a:t>
            </a:r>
            <a:r>
              <a:rPr lang="en-US" altLang="zh-CN" sz="1200" kern="1200" dirty="0">
                <a:solidFill>
                  <a:schemeClr val="tx1"/>
                </a:solidFill>
                <a:effectLst/>
                <a:latin typeface="+mn-lt"/>
                <a:ea typeface="+mn-ea"/>
              </a:rPr>
              <a:t>AD</a:t>
            </a:r>
            <a:r>
              <a:rPr lang="zh-CN" altLang="en-US" sz="1200" kern="1200" dirty="0">
                <a:solidFill>
                  <a:schemeClr val="tx1"/>
                </a:solidFill>
                <a:effectLst/>
                <a:latin typeface="+mn-lt"/>
                <a:ea typeface="+mn-ea"/>
              </a:rPr>
              <a:t>）</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话题不一致，且提问方式为</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前提</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，优先考虑搭桥，即建立</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减少</a:t>
            </a:r>
            <a:r>
              <a:rPr lang="en-US" altLang="zh-CN" sz="1200" kern="1200" dirty="0">
                <a:solidFill>
                  <a:schemeClr val="tx1"/>
                </a:solidFill>
                <a:effectLst/>
                <a:latin typeface="+mn-lt"/>
                <a:ea typeface="+mn-ea"/>
              </a:rPr>
              <a:t>β-</a:t>
            </a:r>
            <a:r>
              <a:rPr lang="zh-CN" altLang="en-US" sz="1200" kern="1200" dirty="0">
                <a:solidFill>
                  <a:schemeClr val="tx1"/>
                </a:solidFill>
                <a:effectLst/>
                <a:latin typeface="+mn-lt"/>
                <a:ea typeface="+mn-ea"/>
              </a:rPr>
              <a:t>淀粉样蛋白累积、使皮质醇处于正常水平</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与</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帮助预防或延缓阿尔茨海默病（</a:t>
            </a:r>
            <a:r>
              <a:rPr lang="en-US" altLang="zh-CN" sz="1200" kern="1200" dirty="0">
                <a:solidFill>
                  <a:schemeClr val="tx1"/>
                </a:solidFill>
                <a:effectLst/>
                <a:latin typeface="+mn-lt"/>
                <a:ea typeface="+mn-ea"/>
              </a:rPr>
              <a:t>AD</a:t>
            </a:r>
            <a:r>
              <a:rPr lang="zh-CN" altLang="en-US" sz="1200" kern="1200" dirty="0">
                <a:solidFill>
                  <a:schemeClr val="tx1"/>
                </a:solidFill>
                <a:effectLst/>
                <a:latin typeface="+mn-lt"/>
                <a:ea typeface="+mn-ea"/>
              </a:rPr>
              <a:t>）</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的联</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系。</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第二步：逐一分析选项。</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A </a:t>
            </a:r>
            <a:r>
              <a:rPr lang="zh-CN" altLang="en-US" sz="1200" kern="1200" dirty="0">
                <a:solidFill>
                  <a:schemeClr val="tx1"/>
                </a:solidFill>
                <a:effectLst/>
                <a:latin typeface="+mn-lt"/>
                <a:ea typeface="+mn-ea"/>
              </a:rPr>
              <a:t>项：指出皮质醇水平在</a:t>
            </a:r>
            <a:r>
              <a:rPr lang="en-US" altLang="zh-CN" sz="1200" kern="1200" dirty="0">
                <a:solidFill>
                  <a:schemeClr val="tx1"/>
                </a:solidFill>
                <a:effectLst/>
                <a:latin typeface="+mn-lt"/>
                <a:ea typeface="+mn-ea"/>
              </a:rPr>
              <a:t> AD </a:t>
            </a:r>
            <a:r>
              <a:rPr lang="zh-CN" altLang="en-US" sz="1200" kern="1200" dirty="0">
                <a:solidFill>
                  <a:schemeClr val="tx1"/>
                </a:solidFill>
                <a:effectLst/>
                <a:latin typeface="+mn-lt"/>
                <a:ea typeface="+mn-ea"/>
              </a:rPr>
              <a:t>早期阶段会呈现升高的趋势，但不明确使皮质醇处于正常水平是否有助于预</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防或延缓阿尔茨海默病，为不明确项，无法加强，排除；</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B </a:t>
            </a:r>
            <a:r>
              <a:rPr lang="zh-CN" altLang="en-US" sz="1200" kern="1200" dirty="0">
                <a:solidFill>
                  <a:schemeClr val="tx1"/>
                </a:solidFill>
                <a:effectLst/>
                <a:latin typeface="+mn-lt"/>
                <a:ea typeface="+mn-ea"/>
              </a:rPr>
              <a:t>项：指出</a:t>
            </a:r>
            <a:r>
              <a:rPr lang="en-US" altLang="zh-CN" sz="1200" kern="1200" dirty="0">
                <a:solidFill>
                  <a:schemeClr val="tx1"/>
                </a:solidFill>
                <a:effectLst/>
                <a:latin typeface="+mn-lt"/>
                <a:ea typeface="+mn-ea"/>
              </a:rPr>
              <a:t>β-</a:t>
            </a:r>
            <a:r>
              <a:rPr lang="zh-CN" altLang="en-US" sz="1200" kern="1200" dirty="0">
                <a:solidFill>
                  <a:schemeClr val="tx1"/>
                </a:solidFill>
                <a:effectLst/>
                <a:latin typeface="+mn-lt"/>
                <a:ea typeface="+mn-ea"/>
              </a:rPr>
              <a:t>淀粉样蛋白积累会导致罹患</a:t>
            </a:r>
            <a:r>
              <a:rPr lang="en-US" altLang="zh-CN" sz="1200" kern="1200" dirty="0">
                <a:solidFill>
                  <a:schemeClr val="tx1"/>
                </a:solidFill>
                <a:effectLst/>
                <a:latin typeface="+mn-lt"/>
                <a:ea typeface="+mn-ea"/>
              </a:rPr>
              <a:t> AD</a:t>
            </a:r>
            <a:r>
              <a:rPr lang="zh-CN" altLang="en-US" sz="1200" kern="1200" dirty="0">
                <a:solidFill>
                  <a:schemeClr val="tx1"/>
                </a:solidFill>
                <a:effectLst/>
                <a:latin typeface="+mn-lt"/>
                <a:ea typeface="+mn-ea"/>
              </a:rPr>
              <a:t>，说明</a:t>
            </a:r>
            <a:r>
              <a:rPr lang="en-US" altLang="zh-CN" sz="1200" kern="1200" dirty="0">
                <a:solidFill>
                  <a:schemeClr val="tx1"/>
                </a:solidFill>
                <a:effectLst/>
                <a:latin typeface="+mn-lt"/>
                <a:ea typeface="+mn-ea"/>
              </a:rPr>
              <a:t>β-</a:t>
            </a:r>
            <a:r>
              <a:rPr lang="zh-CN" altLang="en-US" sz="1200" kern="1200" dirty="0">
                <a:solidFill>
                  <a:schemeClr val="tx1"/>
                </a:solidFill>
                <a:effectLst/>
                <a:latin typeface="+mn-lt"/>
                <a:ea typeface="+mn-ea"/>
              </a:rPr>
              <a:t>淀粉样蛋白是</a:t>
            </a:r>
            <a:r>
              <a:rPr lang="en-US" altLang="zh-CN" sz="1200" kern="1200" dirty="0">
                <a:solidFill>
                  <a:schemeClr val="tx1"/>
                </a:solidFill>
                <a:effectLst/>
                <a:latin typeface="+mn-lt"/>
                <a:ea typeface="+mn-ea"/>
              </a:rPr>
              <a:t> AD </a:t>
            </a:r>
            <a:r>
              <a:rPr lang="zh-CN" altLang="en-US" sz="1200" kern="1200" dirty="0">
                <a:solidFill>
                  <a:schemeClr val="tx1"/>
                </a:solidFill>
                <a:effectLst/>
                <a:latin typeface="+mn-lt"/>
                <a:ea typeface="+mn-ea"/>
              </a:rPr>
              <a:t>的病因，即减少</a:t>
            </a:r>
            <a:r>
              <a:rPr lang="en-US" altLang="zh-CN" sz="1200" kern="1200" dirty="0">
                <a:solidFill>
                  <a:schemeClr val="tx1"/>
                </a:solidFill>
                <a:effectLst/>
                <a:latin typeface="+mn-lt"/>
                <a:ea typeface="+mn-ea"/>
              </a:rPr>
              <a:t>β-</a:t>
            </a:r>
            <a:r>
              <a:rPr lang="zh-CN" altLang="en-US" sz="1200" kern="1200" dirty="0">
                <a:solidFill>
                  <a:schemeClr val="tx1"/>
                </a:solidFill>
                <a:effectLst/>
                <a:latin typeface="+mn-lt"/>
                <a:ea typeface="+mn-ea"/>
              </a:rPr>
              <a:t>淀粉样蛋白</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有助于预防罹患</a:t>
            </a:r>
            <a:r>
              <a:rPr lang="en-US" altLang="zh-CN" sz="1200" kern="1200" dirty="0">
                <a:solidFill>
                  <a:schemeClr val="tx1"/>
                </a:solidFill>
                <a:effectLst/>
                <a:latin typeface="+mn-lt"/>
                <a:ea typeface="+mn-ea"/>
              </a:rPr>
              <a:t> AD</a:t>
            </a:r>
            <a:r>
              <a:rPr lang="zh-CN" altLang="en-US" sz="1200" kern="1200" dirty="0">
                <a:solidFill>
                  <a:schemeClr val="tx1"/>
                </a:solidFill>
                <a:effectLst/>
                <a:latin typeface="+mn-lt"/>
                <a:ea typeface="+mn-ea"/>
              </a:rPr>
              <a:t>，在</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减少</a:t>
            </a:r>
            <a:r>
              <a:rPr lang="en-US" altLang="zh-CN" sz="1200" kern="1200" dirty="0">
                <a:solidFill>
                  <a:schemeClr val="tx1"/>
                </a:solidFill>
                <a:effectLst/>
                <a:latin typeface="+mn-lt"/>
                <a:ea typeface="+mn-ea"/>
              </a:rPr>
              <a:t>β-</a:t>
            </a:r>
            <a:r>
              <a:rPr lang="zh-CN" altLang="en-US" sz="1200" kern="1200" dirty="0">
                <a:solidFill>
                  <a:schemeClr val="tx1"/>
                </a:solidFill>
                <a:effectLst/>
                <a:latin typeface="+mn-lt"/>
                <a:ea typeface="+mn-ea"/>
              </a:rPr>
              <a:t>淀粉样蛋白累积</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与</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帮助预防或延缓阿尔茨海默病</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之间建立联系，</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为搭桥项，是论述成立的前提，当选；</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C </a:t>
            </a:r>
            <a:r>
              <a:rPr lang="zh-CN" altLang="en-US" sz="1200" kern="1200" dirty="0">
                <a:solidFill>
                  <a:schemeClr val="tx1"/>
                </a:solidFill>
                <a:effectLst/>
                <a:latin typeface="+mn-lt"/>
                <a:ea typeface="+mn-ea"/>
              </a:rPr>
              <a:t>项：指出阻力训练会使小胶质细胞从促炎状态转变成抗炎症状态，而减少炎症在</a:t>
            </a:r>
            <a:r>
              <a:rPr lang="en-US" altLang="zh-CN" sz="1200" kern="1200" dirty="0">
                <a:solidFill>
                  <a:schemeClr val="tx1"/>
                </a:solidFill>
                <a:effectLst/>
                <a:latin typeface="+mn-lt"/>
                <a:ea typeface="+mn-ea"/>
              </a:rPr>
              <a:t> AD </a:t>
            </a:r>
            <a:r>
              <a:rPr lang="zh-CN" altLang="en-US" sz="1200" kern="1200" dirty="0">
                <a:solidFill>
                  <a:schemeClr val="tx1"/>
                </a:solidFill>
                <a:effectLst/>
                <a:latin typeface="+mn-lt"/>
                <a:ea typeface="+mn-ea"/>
              </a:rPr>
              <a:t>早期对大脑有保护</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作用，解释了阻力训练有可能帮助预防或延缓阿尔茨海默病，补充论据，但并非论述成立的前提，排除；</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D </a:t>
            </a:r>
            <a:r>
              <a:rPr lang="zh-CN" altLang="en-US" sz="1200" kern="1200" dirty="0">
                <a:solidFill>
                  <a:schemeClr val="tx1"/>
                </a:solidFill>
                <a:effectLst/>
                <a:latin typeface="+mn-lt"/>
                <a:ea typeface="+mn-ea"/>
              </a:rPr>
              <a:t>项：指出皮质醇会在压力过大时生成并使得个体容易</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焦虑和躁动</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，与论点讨论的</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阿尔茨海默病</a:t>
            </a:r>
            <a:r>
              <a:rPr lang="en-US" altLang="zh-CN" sz="1200" kern="1200" dirty="0">
                <a:solidFill>
                  <a:schemeClr val="tx1"/>
                </a:solidFill>
                <a:effectLst/>
                <a:latin typeface="+mn-lt"/>
                <a:ea typeface="+mn-ea"/>
              </a:rPr>
              <a:t>”</a:t>
            </a:r>
            <a:endParaRPr lang="en-US" altLang="zh-CN" sz="1200" kern="1200" dirty="0">
              <a:solidFill>
                <a:schemeClr val="tx1"/>
              </a:solidFill>
              <a:effectLst/>
              <a:latin typeface="+mn-lt"/>
              <a:ea typeface="+mn-ea"/>
            </a:endParaRPr>
          </a:p>
          <a:p>
            <a:r>
              <a:rPr lang="zh-CN" altLang="en-US" sz="1200" kern="1200" dirty="0">
                <a:solidFill>
                  <a:schemeClr val="tx1"/>
                </a:solidFill>
                <a:effectLst/>
                <a:latin typeface="+mn-lt"/>
                <a:ea typeface="+mn-ea"/>
              </a:rPr>
              <a:t>无关，为无关项，无法加强，排除。</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故正确答案为</a:t>
            </a:r>
            <a:r>
              <a:rPr lang="en-US" altLang="zh-CN" sz="1200" kern="1200" dirty="0">
                <a:solidFill>
                  <a:schemeClr val="tx1"/>
                </a:solidFill>
                <a:effectLst/>
                <a:latin typeface="+mn-lt"/>
                <a:ea typeface="+mn-ea"/>
              </a:rPr>
              <a:t> B</a:t>
            </a:r>
            <a:r>
              <a:rPr lang="zh-CN" altLang="en-US" sz="1200" kern="1200" dirty="0">
                <a:solidFill>
                  <a:schemeClr val="tx1"/>
                </a:solidFill>
                <a:effectLst/>
                <a:latin typeface="+mn-lt"/>
                <a:ea typeface="+mn-ea"/>
              </a:rPr>
              <a:t>。</a:t>
            </a:r>
            <a:endParaRPr lang="zh-CN" altLang="en-US" sz="1200" kern="1200" dirty="0">
              <a:solidFill>
                <a:schemeClr val="tx1"/>
              </a:solidFill>
              <a:effectLst/>
              <a:latin typeface="+mn-lt"/>
              <a:ea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ea typeface="+mn-ea"/>
              </a:rPr>
              <a:t>A </a:t>
            </a:r>
            <a:r>
              <a:rPr lang="zh-CN" altLang="en-US" sz="1200" kern="1200" dirty="0">
                <a:solidFill>
                  <a:schemeClr val="tx1"/>
                </a:solidFill>
                <a:effectLst/>
                <a:latin typeface="+mn-lt"/>
                <a:ea typeface="+mn-ea"/>
              </a:rPr>
              <a:t>项：题干并未提及应采用哪种捕捞技术，无中生有，无法推出，排除；</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B </a:t>
            </a:r>
            <a:r>
              <a:rPr lang="zh-CN" altLang="en-US" sz="1200" kern="1200" dirty="0">
                <a:solidFill>
                  <a:schemeClr val="tx1"/>
                </a:solidFill>
                <a:effectLst/>
                <a:latin typeface="+mn-lt"/>
                <a:ea typeface="+mn-ea"/>
              </a:rPr>
              <a:t>项：题干仅指出未来应</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多考虑</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基于海产的</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蓝色</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饮食，但这不意味着人们在饮食策略中将</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大</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量采用</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海产品替代其他肉类，建议不代表一定会发生，且表述过于绝对，无法推出，排除；</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C </a:t>
            </a:r>
            <a:r>
              <a:rPr lang="zh-CN" altLang="en-US" sz="1200" kern="1200" dirty="0">
                <a:solidFill>
                  <a:schemeClr val="tx1"/>
                </a:solidFill>
                <a:effectLst/>
                <a:latin typeface="+mn-lt"/>
                <a:ea typeface="+mn-ea"/>
              </a:rPr>
              <a:t>项：题干仅针对野外捕捞鲑鱼、鲱鱼及养殖贻贝、牡蛎等部分海产品进行了温室气体排放量以及对气</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候影响的分析，并未提及</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每一物种</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的生产或捕获方法差异对气候变化有</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很大不同</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，范围扩大，</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且表述过于绝对，无法推出，排除；</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D </a:t>
            </a:r>
            <a:r>
              <a:rPr lang="zh-CN" altLang="en-US" sz="1200" kern="1200" dirty="0">
                <a:solidFill>
                  <a:schemeClr val="tx1"/>
                </a:solidFill>
                <a:effectLst/>
                <a:latin typeface="+mn-lt"/>
                <a:ea typeface="+mn-ea"/>
              </a:rPr>
              <a:t>项：题干第二句指出降低温室气体排放应多考虑基于海产的</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蓝色</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饮食，题干的第四句指出部分海</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产品温室气体排放量较低，最后一句指出可持续的海产品消费能够减轻环境压力，说明鼓励以基于海产</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的</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蓝色</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饮食代替其他动物蛋白，可能能够帮助应对气候变化，可以推出，当选。</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故正确答案为</a:t>
            </a:r>
            <a:r>
              <a:rPr lang="en-US" altLang="zh-CN" sz="1200" kern="1200" dirty="0">
                <a:solidFill>
                  <a:schemeClr val="tx1"/>
                </a:solidFill>
                <a:effectLst/>
                <a:latin typeface="+mn-lt"/>
                <a:ea typeface="+mn-ea"/>
              </a:rPr>
              <a:t> D</a:t>
            </a:r>
            <a:r>
              <a:rPr lang="zh-CN" altLang="en-US" sz="1200" kern="1200" dirty="0">
                <a:solidFill>
                  <a:schemeClr val="tx1"/>
                </a:solidFill>
                <a:effectLst/>
                <a:latin typeface="+mn-lt"/>
                <a:ea typeface="+mn-ea"/>
              </a:rPr>
              <a:t>。</a:t>
            </a:r>
            <a:endParaRPr lang="zh-CN" altLang="en-US" sz="1200" kern="1200" dirty="0">
              <a:solidFill>
                <a:schemeClr val="tx1"/>
              </a:solidFill>
              <a:effectLst/>
              <a:latin typeface="+mn-lt"/>
              <a:ea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kern="1200" dirty="0">
                <a:solidFill>
                  <a:schemeClr val="tx1"/>
                </a:solidFill>
                <a:effectLst/>
                <a:latin typeface="+mn-lt"/>
                <a:ea typeface="+mn-ea"/>
              </a:rPr>
              <a:t>论点：黑碳暴露会导致神经系统损伤。</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论据：有研究发现，儿童受试者考夫曼简明智力测验得分下降与其居住地点黑碳浓度的提高有关。此外，</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在老年男性群体中，黑碳浓度水平升高</a:t>
            </a:r>
            <a:r>
              <a:rPr lang="en-US" altLang="zh-CN" sz="1200" kern="1200" dirty="0">
                <a:solidFill>
                  <a:schemeClr val="tx1"/>
                </a:solidFill>
                <a:effectLst/>
                <a:latin typeface="+mn-lt"/>
                <a:ea typeface="+mn-ea"/>
              </a:rPr>
              <a:t> 1 </a:t>
            </a:r>
            <a:r>
              <a:rPr lang="zh-CN" altLang="en-US" sz="1200" kern="1200" dirty="0">
                <a:solidFill>
                  <a:schemeClr val="tx1"/>
                </a:solidFill>
                <a:effectLst/>
                <a:latin typeface="+mn-lt"/>
                <a:ea typeface="+mn-ea"/>
              </a:rPr>
              <a:t>倍，其简易智力状态检查量表（</a:t>
            </a:r>
            <a:r>
              <a:rPr lang="en-US" altLang="zh-CN" sz="1200" kern="1200" dirty="0">
                <a:solidFill>
                  <a:schemeClr val="tx1"/>
                </a:solidFill>
                <a:effectLst/>
                <a:latin typeface="+mn-lt"/>
                <a:ea typeface="+mn-ea"/>
              </a:rPr>
              <a:t>MMSE</a:t>
            </a:r>
            <a:r>
              <a:rPr lang="zh-CN" altLang="en-US" sz="1200" kern="1200" dirty="0">
                <a:solidFill>
                  <a:schemeClr val="tx1"/>
                </a:solidFill>
                <a:effectLst/>
                <a:latin typeface="+mn-lt"/>
                <a:ea typeface="+mn-ea"/>
              </a:rPr>
              <a:t>）得分小于</a:t>
            </a:r>
            <a:r>
              <a:rPr lang="en-US" altLang="zh-CN" sz="1200" kern="1200" dirty="0">
                <a:solidFill>
                  <a:schemeClr val="tx1"/>
                </a:solidFill>
                <a:effectLst/>
                <a:latin typeface="+mn-lt"/>
                <a:ea typeface="+mn-ea"/>
              </a:rPr>
              <a:t> 25 </a:t>
            </a:r>
            <a:r>
              <a:rPr lang="zh-CN" altLang="en-US" sz="1200" kern="1200" dirty="0">
                <a:solidFill>
                  <a:schemeClr val="tx1"/>
                </a:solidFill>
                <a:effectLst/>
                <a:latin typeface="+mn-lt"/>
                <a:ea typeface="+mn-ea"/>
              </a:rPr>
              <a:t>的</a:t>
            </a:r>
            <a:r>
              <a:rPr lang="en-US" altLang="zh-CN" sz="1200" kern="1200" dirty="0">
                <a:solidFill>
                  <a:schemeClr val="tx1"/>
                </a:solidFill>
                <a:effectLst/>
                <a:latin typeface="+mn-lt"/>
                <a:ea typeface="+mn-ea"/>
              </a:rPr>
              <a:t> OR </a:t>
            </a:r>
            <a:r>
              <a:rPr lang="zh-CN" altLang="en-US" sz="1200" kern="1200" dirty="0">
                <a:solidFill>
                  <a:schemeClr val="tx1"/>
                </a:solidFill>
                <a:effectLst/>
                <a:latin typeface="+mn-lt"/>
                <a:ea typeface="+mn-ea"/>
              </a:rPr>
              <a:t>值为</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1.3</a:t>
            </a:r>
            <a:r>
              <a:rPr lang="zh-CN" altLang="en-US" sz="1200" kern="1200" dirty="0">
                <a:solidFill>
                  <a:schemeClr val="tx1"/>
                </a:solidFill>
                <a:effectLst/>
                <a:latin typeface="+mn-lt"/>
                <a:ea typeface="+mn-ea"/>
              </a:rPr>
              <a:t>，相当于衰老</a:t>
            </a:r>
            <a:r>
              <a:rPr lang="en-US" altLang="zh-CN" sz="1200" kern="1200" dirty="0">
                <a:solidFill>
                  <a:schemeClr val="tx1"/>
                </a:solidFill>
                <a:effectLst/>
                <a:latin typeface="+mn-lt"/>
                <a:ea typeface="+mn-ea"/>
              </a:rPr>
              <a:t> 1.9 </a:t>
            </a:r>
            <a:r>
              <a:rPr lang="zh-CN" altLang="en-US" sz="1200" kern="1200" dirty="0">
                <a:solidFill>
                  <a:schemeClr val="tx1"/>
                </a:solidFill>
                <a:effectLst/>
                <a:latin typeface="+mn-lt"/>
                <a:ea typeface="+mn-ea"/>
              </a:rPr>
              <a:t>年。</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论据说的是</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黑碳暴露与智力下降有关</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，进而得出论点</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黑碳暴露会导致神经系统损伤</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，话题一致，</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削弱优先考虑削弱论点。</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第二步：逐一分析选项。</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A </a:t>
            </a:r>
            <a:r>
              <a:rPr lang="zh-CN" altLang="en-US" sz="1200" kern="1200" dirty="0">
                <a:solidFill>
                  <a:schemeClr val="tx1"/>
                </a:solidFill>
                <a:effectLst/>
                <a:latin typeface="+mn-lt"/>
                <a:ea typeface="+mn-ea"/>
              </a:rPr>
              <a:t>项：该项指出论据中的儿童和老人群体的血脑屏障较为脆弱，易受黑碳暴露影响，解释了为什么这些</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人容易受到黑碳暴露的影响，具有加强作用，无法削弱，排除；</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B </a:t>
            </a:r>
            <a:r>
              <a:rPr lang="zh-CN" altLang="en-US" sz="1200" kern="1200" dirty="0">
                <a:solidFill>
                  <a:schemeClr val="tx1"/>
                </a:solidFill>
                <a:effectLst/>
                <a:latin typeface="+mn-lt"/>
                <a:ea typeface="+mn-ea"/>
              </a:rPr>
              <a:t>项：指出颗粒物可以通过嗅球，沿嗅觉神经元传输到大脑，对神经系统产生不良影响，黑碳属于颗粒</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物，解释了黑碳暴露会导致神经系统损伤的原因，属于加强项，无法削弱，排除；</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C </a:t>
            </a:r>
            <a:r>
              <a:rPr lang="zh-CN" altLang="en-US" sz="1200" kern="1200" dirty="0">
                <a:solidFill>
                  <a:schemeClr val="tx1"/>
                </a:solidFill>
                <a:effectLst/>
                <a:latin typeface="+mn-lt"/>
                <a:ea typeface="+mn-ea"/>
              </a:rPr>
              <a:t>项：指出黑碳因其特有的物化属性可能具有比细颗粒物更大的健康影响，但不知道是什么样的影响，</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不明确是否会导致神经系统损伤，无法削弱，排除；</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D </a:t>
            </a:r>
            <a:r>
              <a:rPr lang="zh-CN" altLang="en-US" sz="1200" kern="1200" dirty="0">
                <a:solidFill>
                  <a:schemeClr val="tx1"/>
                </a:solidFill>
                <a:effectLst/>
                <a:latin typeface="+mn-lt"/>
                <a:ea typeface="+mn-ea"/>
              </a:rPr>
              <a:t>项：指出黑碳暴露与男孩在考夫曼简明智力测验中的反应时间延长和错误率增加有关，而在女孩中未</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观察到显著相关性，补充女孩的反例，说明该结论不具有普遍性，削弱论点，当选。</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故正确答案为</a:t>
            </a:r>
            <a:r>
              <a:rPr lang="en-US" altLang="zh-CN" sz="1200" kern="1200" dirty="0">
                <a:solidFill>
                  <a:schemeClr val="tx1"/>
                </a:solidFill>
                <a:effectLst/>
                <a:latin typeface="+mn-lt"/>
                <a:ea typeface="+mn-ea"/>
              </a:rPr>
              <a:t> D</a:t>
            </a:r>
            <a:r>
              <a:rPr lang="zh-CN" altLang="en-US" sz="1200" kern="1200" dirty="0">
                <a:solidFill>
                  <a:schemeClr val="tx1"/>
                </a:solidFill>
                <a:effectLst/>
                <a:latin typeface="+mn-lt"/>
                <a:ea typeface="+mn-ea"/>
              </a:rPr>
              <a:t>。</a:t>
            </a:r>
            <a:endParaRPr lang="zh-CN" altLang="en-US" sz="1200" kern="1200" dirty="0">
              <a:solidFill>
                <a:schemeClr val="tx1"/>
              </a:solidFill>
              <a:effectLst/>
              <a:latin typeface="+mn-lt"/>
              <a:ea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ea typeface="+mn-ea"/>
              </a:rPr>
              <a:t>A </a:t>
            </a:r>
            <a:r>
              <a:rPr lang="zh-CN" altLang="en-US" sz="1200" kern="1200" dirty="0">
                <a:solidFill>
                  <a:schemeClr val="tx1"/>
                </a:solidFill>
                <a:effectLst/>
                <a:latin typeface="+mn-lt"/>
                <a:ea typeface="+mn-ea"/>
              </a:rPr>
              <a:t>项：题干中第一句介绍了鸟类的眼球构造，但没有提及此眼球构造有助于形成更锐利的远视力，无中</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生有，排除；</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B </a:t>
            </a:r>
            <a:r>
              <a:rPr lang="zh-CN" altLang="en-US" sz="1200" kern="1200" dirty="0">
                <a:solidFill>
                  <a:schemeClr val="tx1"/>
                </a:solidFill>
                <a:effectLst/>
                <a:latin typeface="+mn-lt"/>
                <a:ea typeface="+mn-ea"/>
              </a:rPr>
              <a:t>项：题干中指出鸟类走路时脖子的伸缩有助于保持视觉的稳定，但没有提及有助于维持身体的平衡，</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无中生有，排除；</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C </a:t>
            </a:r>
            <a:r>
              <a:rPr lang="zh-CN" altLang="en-US" sz="1200" kern="1200" dirty="0">
                <a:solidFill>
                  <a:schemeClr val="tx1"/>
                </a:solidFill>
                <a:effectLst/>
                <a:latin typeface="+mn-lt"/>
                <a:ea typeface="+mn-ea"/>
              </a:rPr>
              <a:t>项：题干中指出鸟类无法大幅度地转动眼球来保持视觉的稳定。因此，鸟类走路时，让头部先移至前</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方保持稳定，身体再前进，出现脖子一伸一缩的样子，可以推出鸟类是通过颈部运动让眼睛成像保持更</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持久的稳定，当选；</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D </a:t>
            </a:r>
            <a:r>
              <a:rPr lang="zh-CN" altLang="en-US" sz="1200" kern="1200" dirty="0">
                <a:solidFill>
                  <a:schemeClr val="tx1"/>
                </a:solidFill>
                <a:effectLst/>
                <a:latin typeface="+mn-lt"/>
                <a:ea typeface="+mn-ea"/>
              </a:rPr>
              <a:t>项：题干中指出鸟类通过运动头部来保持视觉的稳定，但没有提及通过运动头部来获得视差以增强空</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间的深度感知，无中生有，排除。</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故正确答案为</a:t>
            </a:r>
            <a:r>
              <a:rPr lang="en-US" altLang="zh-CN" sz="1200" kern="1200" dirty="0">
                <a:solidFill>
                  <a:schemeClr val="tx1"/>
                </a:solidFill>
                <a:effectLst/>
                <a:latin typeface="+mn-lt"/>
                <a:ea typeface="+mn-ea"/>
              </a:rPr>
              <a:t> C</a:t>
            </a:r>
            <a:r>
              <a:rPr lang="zh-CN" altLang="en-US" sz="1200" kern="1200" dirty="0">
                <a:solidFill>
                  <a:schemeClr val="tx1"/>
                </a:solidFill>
                <a:effectLst/>
                <a:latin typeface="+mn-lt"/>
                <a:ea typeface="+mn-ea"/>
              </a:rPr>
              <a:t>。</a:t>
            </a:r>
            <a:endParaRPr lang="zh-CN" altLang="en-US" sz="1200" kern="1200" dirty="0">
              <a:solidFill>
                <a:schemeClr val="tx1"/>
              </a:solidFill>
              <a:effectLst/>
              <a:latin typeface="+mn-lt"/>
              <a:ea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kern="1200" dirty="0">
                <a:solidFill>
                  <a:schemeClr val="tx1"/>
                </a:solidFill>
                <a:effectLst/>
                <a:latin typeface="+mn-lt"/>
                <a:ea typeface="+mn-ea"/>
              </a:rPr>
              <a:t>元素组成不同，且无明显属性规律，考虑数量规律。题干图形出现</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日</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字变形图及出头端点，优先考</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虑笔画数。观察发现，图</a:t>
            </a:r>
            <a:r>
              <a:rPr lang="en-US" altLang="en-US" sz="1200" kern="1200" dirty="0">
                <a:solidFill>
                  <a:schemeClr val="tx1"/>
                </a:solidFill>
                <a:effectLst/>
                <a:latin typeface="+mn-lt"/>
                <a:ea typeface="+mn-ea"/>
              </a:rPr>
              <a:t>①②⑥</a:t>
            </a:r>
            <a:r>
              <a:rPr lang="zh-CN" altLang="en-US" sz="1200" kern="1200" dirty="0">
                <a:solidFill>
                  <a:schemeClr val="tx1"/>
                </a:solidFill>
                <a:effectLst/>
                <a:latin typeface="+mn-lt"/>
                <a:ea typeface="+mn-ea"/>
              </a:rPr>
              <a:t>均为</a:t>
            </a:r>
            <a:r>
              <a:rPr lang="en-US" altLang="zh-CN" sz="1200" kern="1200" dirty="0">
                <a:solidFill>
                  <a:schemeClr val="tx1"/>
                </a:solidFill>
                <a:effectLst/>
                <a:latin typeface="+mn-lt"/>
                <a:ea typeface="+mn-ea"/>
              </a:rPr>
              <a:t> 2 </a:t>
            </a:r>
            <a:r>
              <a:rPr lang="zh-CN" altLang="en-US" sz="1200" kern="1200" dirty="0">
                <a:solidFill>
                  <a:schemeClr val="tx1"/>
                </a:solidFill>
                <a:effectLst/>
                <a:latin typeface="+mn-lt"/>
                <a:ea typeface="+mn-ea"/>
              </a:rPr>
              <a:t>笔画图形，图</a:t>
            </a:r>
            <a:r>
              <a:rPr lang="en-US" altLang="en-US" sz="1200" kern="1200" dirty="0">
                <a:solidFill>
                  <a:schemeClr val="tx1"/>
                </a:solidFill>
                <a:effectLst/>
                <a:latin typeface="+mn-lt"/>
                <a:ea typeface="+mn-ea"/>
              </a:rPr>
              <a:t>③④⑤</a:t>
            </a:r>
            <a:r>
              <a:rPr lang="zh-CN" altLang="en-US" sz="1200" kern="1200" dirty="0">
                <a:solidFill>
                  <a:schemeClr val="tx1"/>
                </a:solidFill>
                <a:effectLst/>
                <a:latin typeface="+mn-lt"/>
                <a:ea typeface="+mn-ea"/>
              </a:rPr>
              <a:t>均为</a:t>
            </a:r>
            <a:r>
              <a:rPr lang="en-US" altLang="zh-CN" sz="1200" kern="1200" dirty="0">
                <a:solidFill>
                  <a:schemeClr val="tx1"/>
                </a:solidFill>
                <a:effectLst/>
                <a:latin typeface="+mn-lt"/>
                <a:ea typeface="+mn-ea"/>
              </a:rPr>
              <a:t> 3 </a:t>
            </a:r>
            <a:r>
              <a:rPr lang="zh-CN" altLang="en-US" sz="1200" kern="1200" dirty="0">
                <a:solidFill>
                  <a:schemeClr val="tx1"/>
                </a:solidFill>
                <a:effectLst/>
                <a:latin typeface="+mn-lt"/>
                <a:ea typeface="+mn-ea"/>
              </a:rPr>
              <a:t>笔画图形。即图</a:t>
            </a:r>
            <a:r>
              <a:rPr lang="en-US" altLang="en-US" sz="1200" kern="1200" dirty="0">
                <a:solidFill>
                  <a:schemeClr val="tx1"/>
                </a:solidFill>
                <a:effectLst/>
                <a:latin typeface="+mn-lt"/>
                <a:ea typeface="+mn-ea"/>
              </a:rPr>
              <a:t>①②⑥</a:t>
            </a:r>
            <a:r>
              <a:rPr lang="zh-CN" altLang="en-US" sz="1200" kern="1200" dirty="0">
                <a:solidFill>
                  <a:schemeClr val="tx1"/>
                </a:solidFill>
                <a:effectLst/>
                <a:latin typeface="+mn-lt"/>
                <a:ea typeface="+mn-ea"/>
              </a:rPr>
              <a:t>为一组，图</a:t>
            </a:r>
            <a:endParaRPr lang="zh-CN" altLang="en-US" sz="1200" kern="1200" dirty="0">
              <a:solidFill>
                <a:schemeClr val="tx1"/>
              </a:solidFill>
              <a:effectLst/>
              <a:latin typeface="+mn-lt"/>
              <a:ea typeface="+mn-ea"/>
            </a:endParaRPr>
          </a:p>
          <a:p>
            <a:r>
              <a:rPr lang="en-US" altLang="en-US" sz="1200" kern="1200" dirty="0">
                <a:solidFill>
                  <a:schemeClr val="tx1"/>
                </a:solidFill>
                <a:effectLst/>
                <a:latin typeface="+mn-lt"/>
                <a:ea typeface="+mn-ea"/>
              </a:rPr>
              <a:t>③④⑤</a:t>
            </a:r>
            <a:r>
              <a:rPr lang="zh-CN" altLang="en-US" sz="1200" kern="1200" dirty="0">
                <a:solidFill>
                  <a:schemeClr val="tx1"/>
                </a:solidFill>
                <a:effectLst/>
                <a:latin typeface="+mn-lt"/>
                <a:ea typeface="+mn-ea"/>
              </a:rPr>
              <a:t>为一组。</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故正确答案为</a:t>
            </a:r>
            <a:r>
              <a:rPr lang="en-US" altLang="zh-CN" sz="1200" kern="1200" dirty="0">
                <a:solidFill>
                  <a:schemeClr val="tx1"/>
                </a:solidFill>
                <a:effectLst/>
                <a:latin typeface="+mn-lt"/>
                <a:ea typeface="+mn-ea"/>
              </a:rPr>
              <a:t> B</a:t>
            </a:r>
            <a:r>
              <a:rPr lang="zh-CN" altLang="en-US" sz="1200" kern="1200" dirty="0">
                <a:solidFill>
                  <a:schemeClr val="tx1"/>
                </a:solidFill>
                <a:effectLst/>
                <a:latin typeface="+mn-lt"/>
                <a:ea typeface="+mn-ea"/>
              </a:rPr>
              <a:t>。</a:t>
            </a:r>
            <a:endParaRPr lang="zh-CN" altLang="en-US" sz="1200" kern="1200" dirty="0">
              <a:solidFill>
                <a:schemeClr val="tx1"/>
              </a:solidFill>
              <a:effectLst/>
              <a:latin typeface="+mn-lt"/>
              <a:ea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kern="1200" dirty="0">
                <a:solidFill>
                  <a:schemeClr val="tx1"/>
                </a:solidFill>
                <a:effectLst/>
                <a:latin typeface="+mn-lt"/>
                <a:ea typeface="+mn-ea"/>
              </a:rPr>
              <a:t>本题为分组分类题目。元素组成不同，且无明显属性规律，考虑数量规律。题干图形均由多个小元素组</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成，考虑元素的种类或个数。观察发现，图</a:t>
            </a:r>
            <a:r>
              <a:rPr lang="en-US" altLang="en-US" sz="1200" kern="1200" dirty="0">
                <a:solidFill>
                  <a:schemeClr val="tx1"/>
                </a:solidFill>
                <a:effectLst/>
                <a:latin typeface="+mn-lt"/>
                <a:ea typeface="+mn-ea"/>
              </a:rPr>
              <a:t>①④⑤</a:t>
            </a:r>
            <a:r>
              <a:rPr lang="zh-CN" altLang="en-US" sz="1200" kern="1200" dirty="0">
                <a:solidFill>
                  <a:schemeClr val="tx1"/>
                </a:solidFill>
                <a:effectLst/>
                <a:latin typeface="+mn-lt"/>
                <a:ea typeface="+mn-ea"/>
              </a:rPr>
              <a:t>中元素种类均为</a:t>
            </a:r>
            <a:r>
              <a:rPr lang="en-US" altLang="zh-CN" sz="1200" kern="1200" dirty="0">
                <a:solidFill>
                  <a:schemeClr val="tx1"/>
                </a:solidFill>
                <a:effectLst/>
                <a:latin typeface="+mn-lt"/>
                <a:ea typeface="+mn-ea"/>
              </a:rPr>
              <a:t> 2</a:t>
            </a:r>
            <a:r>
              <a:rPr lang="zh-CN" altLang="en-US" sz="1200" kern="1200" dirty="0">
                <a:solidFill>
                  <a:schemeClr val="tx1"/>
                </a:solidFill>
                <a:effectLst/>
                <a:latin typeface="+mn-lt"/>
                <a:ea typeface="+mn-ea"/>
              </a:rPr>
              <a:t>，图</a:t>
            </a:r>
            <a:r>
              <a:rPr lang="en-US" altLang="en-US" sz="1200" kern="1200" dirty="0">
                <a:solidFill>
                  <a:schemeClr val="tx1"/>
                </a:solidFill>
                <a:effectLst/>
                <a:latin typeface="+mn-lt"/>
                <a:ea typeface="+mn-ea"/>
              </a:rPr>
              <a:t>②③⑥</a:t>
            </a:r>
            <a:r>
              <a:rPr lang="zh-CN" altLang="en-US" sz="1200" kern="1200" dirty="0">
                <a:solidFill>
                  <a:schemeClr val="tx1"/>
                </a:solidFill>
                <a:effectLst/>
                <a:latin typeface="+mn-lt"/>
                <a:ea typeface="+mn-ea"/>
              </a:rPr>
              <a:t>中元素种类均为</a:t>
            </a:r>
            <a:r>
              <a:rPr lang="en-US" altLang="zh-CN" sz="1200" kern="1200" dirty="0">
                <a:solidFill>
                  <a:schemeClr val="tx1"/>
                </a:solidFill>
                <a:effectLst/>
                <a:latin typeface="+mn-lt"/>
                <a:ea typeface="+mn-ea"/>
              </a:rPr>
              <a:t> 1</a:t>
            </a:r>
            <a:r>
              <a:rPr lang="zh-CN" altLang="en-US" sz="1200" kern="1200" dirty="0">
                <a:solidFill>
                  <a:schemeClr val="tx1"/>
                </a:solidFill>
                <a:effectLst/>
                <a:latin typeface="+mn-lt"/>
                <a:ea typeface="+mn-ea"/>
              </a:rPr>
              <a:t>，即</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图</a:t>
            </a:r>
            <a:r>
              <a:rPr lang="en-US" altLang="en-US" sz="1200" kern="1200" dirty="0">
                <a:solidFill>
                  <a:schemeClr val="tx1"/>
                </a:solidFill>
                <a:effectLst/>
                <a:latin typeface="+mn-lt"/>
                <a:ea typeface="+mn-ea"/>
              </a:rPr>
              <a:t>①④⑤</a:t>
            </a:r>
            <a:r>
              <a:rPr lang="zh-CN" altLang="en-US" sz="1200" kern="1200" dirty="0">
                <a:solidFill>
                  <a:schemeClr val="tx1"/>
                </a:solidFill>
                <a:effectLst/>
                <a:latin typeface="+mn-lt"/>
                <a:ea typeface="+mn-ea"/>
              </a:rPr>
              <a:t>为一组，图</a:t>
            </a:r>
            <a:r>
              <a:rPr lang="en-US" altLang="en-US" sz="1200" kern="1200" dirty="0">
                <a:solidFill>
                  <a:schemeClr val="tx1"/>
                </a:solidFill>
                <a:effectLst/>
                <a:latin typeface="+mn-lt"/>
                <a:ea typeface="+mn-ea"/>
              </a:rPr>
              <a:t>②③⑥</a:t>
            </a:r>
            <a:r>
              <a:rPr lang="zh-CN" altLang="en-US" sz="1200" kern="1200" dirty="0">
                <a:solidFill>
                  <a:schemeClr val="tx1"/>
                </a:solidFill>
                <a:effectLst/>
                <a:latin typeface="+mn-lt"/>
                <a:ea typeface="+mn-ea"/>
              </a:rPr>
              <a:t>为一组。</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故正确答案为</a:t>
            </a:r>
            <a:r>
              <a:rPr lang="en-US" altLang="zh-CN" sz="1200" kern="1200" dirty="0">
                <a:solidFill>
                  <a:schemeClr val="tx1"/>
                </a:solidFill>
                <a:effectLst/>
                <a:latin typeface="+mn-lt"/>
                <a:ea typeface="+mn-ea"/>
              </a:rPr>
              <a:t> A</a:t>
            </a:r>
            <a:r>
              <a:rPr lang="zh-CN" altLang="en-US" sz="1200" kern="1200" dirty="0">
                <a:solidFill>
                  <a:schemeClr val="tx1"/>
                </a:solidFill>
                <a:effectLst/>
                <a:latin typeface="+mn-lt"/>
                <a:ea typeface="+mn-ea"/>
              </a:rPr>
              <a:t>。</a:t>
            </a:r>
            <a:endParaRPr lang="zh-CN" altLang="en-US" sz="1200" kern="1200" dirty="0">
              <a:solidFill>
                <a:schemeClr val="tx1"/>
              </a:solidFill>
              <a:effectLst/>
              <a:latin typeface="+mn-lt"/>
              <a:ea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kern="1200" dirty="0">
                <a:solidFill>
                  <a:schemeClr val="tx1"/>
                </a:solidFill>
                <a:effectLst/>
                <a:latin typeface="+mn-lt"/>
                <a:ea typeface="+mn-ea"/>
              </a:rPr>
              <a:t>元素组成相同，考虑位置规律。观察第一组图形位置可知，从图一到图三，田字格中每一区域都是由前</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一幅图同位置顺时针旋转</a:t>
            </a:r>
            <a:r>
              <a:rPr lang="en-US" altLang="zh-CN" sz="1200" kern="1200" dirty="0">
                <a:solidFill>
                  <a:schemeClr val="tx1"/>
                </a:solidFill>
                <a:effectLst/>
                <a:latin typeface="+mn-lt"/>
                <a:ea typeface="+mn-ea"/>
              </a:rPr>
              <a:t> 90</a:t>
            </a:r>
            <a:r>
              <a:rPr lang="" altLang="en-US" sz="1200" kern="1200" dirty="0">
                <a:solidFill>
                  <a:schemeClr val="tx1"/>
                </a:solidFill>
                <a:effectLst/>
                <a:latin typeface="+mn-lt"/>
                <a:ea typeface="+mn-ea"/>
              </a:rPr>
              <a:t>°</a:t>
            </a:r>
            <a:r>
              <a:rPr lang="zh-CN" altLang="en-US" sz="1200" kern="1200" dirty="0">
                <a:solidFill>
                  <a:schemeClr val="tx1"/>
                </a:solidFill>
                <a:effectLst/>
                <a:latin typeface="+mn-lt"/>
                <a:ea typeface="+mn-ea"/>
              </a:rPr>
              <a:t>得到，第二组应遵循相同的旋转规律，田字格中每一区域都是由前一幅图</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同位置顺时针旋转</a:t>
            </a:r>
            <a:r>
              <a:rPr lang="en-US" altLang="zh-CN" sz="1200" kern="1200" dirty="0">
                <a:solidFill>
                  <a:schemeClr val="tx1"/>
                </a:solidFill>
                <a:effectLst/>
                <a:latin typeface="+mn-lt"/>
                <a:ea typeface="+mn-ea"/>
              </a:rPr>
              <a:t> 90</a:t>
            </a:r>
            <a:r>
              <a:rPr lang="" altLang="en-US" sz="1200" kern="1200" dirty="0">
                <a:solidFill>
                  <a:schemeClr val="tx1"/>
                </a:solidFill>
                <a:effectLst/>
                <a:latin typeface="+mn-lt"/>
                <a:ea typeface="+mn-ea"/>
              </a:rPr>
              <a:t>°</a:t>
            </a:r>
            <a:r>
              <a:rPr lang="zh-CN" altLang="en-US" sz="1200" kern="1200" dirty="0">
                <a:solidFill>
                  <a:schemeClr val="tx1"/>
                </a:solidFill>
                <a:effectLst/>
                <a:latin typeface="+mn-lt"/>
                <a:ea typeface="+mn-ea"/>
              </a:rPr>
              <a:t>得到，只有</a:t>
            </a:r>
            <a:r>
              <a:rPr lang="en-US" altLang="zh-CN" sz="1200" kern="1200" dirty="0">
                <a:solidFill>
                  <a:schemeClr val="tx1"/>
                </a:solidFill>
                <a:effectLst/>
                <a:latin typeface="+mn-lt"/>
                <a:ea typeface="+mn-ea"/>
              </a:rPr>
              <a:t> C </a:t>
            </a:r>
            <a:r>
              <a:rPr lang="zh-CN" altLang="en-US" sz="1200" kern="1200" dirty="0">
                <a:solidFill>
                  <a:schemeClr val="tx1"/>
                </a:solidFill>
                <a:effectLst/>
                <a:latin typeface="+mn-lt"/>
                <a:ea typeface="+mn-ea"/>
              </a:rPr>
              <a:t>项符合。</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故正确答案为</a:t>
            </a:r>
            <a:r>
              <a:rPr lang="en-US" altLang="zh-CN" sz="1200" kern="1200" dirty="0">
                <a:solidFill>
                  <a:schemeClr val="tx1"/>
                </a:solidFill>
                <a:effectLst/>
                <a:latin typeface="+mn-lt"/>
                <a:ea typeface="+mn-ea"/>
              </a:rPr>
              <a:t> C</a:t>
            </a:r>
            <a:r>
              <a:rPr lang="zh-CN" altLang="en-US" sz="1200" kern="1200" dirty="0">
                <a:solidFill>
                  <a:schemeClr val="tx1"/>
                </a:solidFill>
                <a:effectLst/>
                <a:latin typeface="+mn-lt"/>
                <a:ea typeface="+mn-ea"/>
              </a:rPr>
              <a:t>。</a:t>
            </a:r>
            <a:endParaRPr lang="zh-CN" altLang="en-US" sz="1200" kern="1200" dirty="0">
              <a:solidFill>
                <a:schemeClr val="tx1"/>
              </a:solidFill>
              <a:effectLst/>
              <a:latin typeface="+mn-lt"/>
              <a:ea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kern="1200" dirty="0">
                <a:solidFill>
                  <a:schemeClr val="tx1"/>
                </a:solidFill>
                <a:effectLst/>
                <a:latin typeface="+mn-lt"/>
                <a:ea typeface="+mn-ea"/>
              </a:rPr>
              <a:t>元素组成不同，优先考虑属性规律。观察发现，题干出现全直线、全曲线图形，考虑曲直性。九宫格优</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先看横行，第一行图形分别为全曲线图形、全直线图形、有曲有直图形；经验证，第二行符合此规律；</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第三行应用此规律，故</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处图形应是有曲有直图形，只有</a:t>
            </a:r>
            <a:r>
              <a:rPr lang="en-US" altLang="zh-CN" sz="1200" kern="1200" dirty="0">
                <a:solidFill>
                  <a:schemeClr val="tx1"/>
                </a:solidFill>
                <a:effectLst/>
                <a:latin typeface="+mn-lt"/>
                <a:ea typeface="+mn-ea"/>
              </a:rPr>
              <a:t> D </a:t>
            </a:r>
            <a:r>
              <a:rPr lang="zh-CN" altLang="en-US" sz="1200" kern="1200" dirty="0">
                <a:solidFill>
                  <a:schemeClr val="tx1"/>
                </a:solidFill>
                <a:effectLst/>
                <a:latin typeface="+mn-lt"/>
                <a:ea typeface="+mn-ea"/>
              </a:rPr>
              <a:t>项符合。</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故正确答案为</a:t>
            </a:r>
            <a:r>
              <a:rPr lang="en-US" altLang="zh-CN" sz="1200" kern="1200" dirty="0">
                <a:solidFill>
                  <a:schemeClr val="tx1"/>
                </a:solidFill>
                <a:effectLst/>
                <a:latin typeface="+mn-lt"/>
                <a:ea typeface="+mn-ea"/>
              </a:rPr>
              <a:t> D</a:t>
            </a:r>
            <a:r>
              <a:rPr lang="zh-CN" altLang="en-US" sz="1200" kern="1200" dirty="0">
                <a:solidFill>
                  <a:schemeClr val="tx1"/>
                </a:solidFill>
                <a:effectLst/>
                <a:latin typeface="+mn-lt"/>
                <a:ea typeface="+mn-ea"/>
              </a:rPr>
              <a:t>。</a:t>
            </a:r>
            <a:endParaRPr lang="zh-CN" altLang="en-US" sz="1200" kern="1200" dirty="0">
              <a:solidFill>
                <a:schemeClr val="tx1"/>
              </a:solidFill>
              <a:effectLst/>
              <a:latin typeface="+mn-lt"/>
              <a:ea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kern="1200" dirty="0">
                <a:solidFill>
                  <a:schemeClr val="tx1"/>
                </a:solidFill>
                <a:effectLst/>
                <a:latin typeface="+mn-lt"/>
                <a:ea typeface="+mn-ea"/>
              </a:rPr>
              <a:t>本题考查三视图。图一左上方是</a:t>
            </a:r>
            <a:r>
              <a:rPr lang="en-US" altLang="en-US" sz="1200" kern="1200" dirty="0">
                <a:solidFill>
                  <a:schemeClr val="tx1"/>
                </a:solidFill>
                <a:effectLst/>
                <a:latin typeface="+mn-lt"/>
                <a:ea typeface="+mn-ea"/>
              </a:rPr>
              <a:t>③</a:t>
            </a:r>
            <a:r>
              <a:rPr lang="zh-CN" altLang="en-US" sz="1200" kern="1200" dirty="0">
                <a:solidFill>
                  <a:schemeClr val="tx1"/>
                </a:solidFill>
                <a:effectLst/>
                <a:latin typeface="+mn-lt"/>
                <a:ea typeface="+mn-ea"/>
              </a:rPr>
              <a:t>的主视图，图一右上方是</a:t>
            </a:r>
            <a:r>
              <a:rPr lang="en-US" altLang="en-US" sz="1200" kern="1200" dirty="0">
                <a:solidFill>
                  <a:schemeClr val="tx1"/>
                </a:solidFill>
                <a:effectLst/>
                <a:latin typeface="+mn-lt"/>
                <a:ea typeface="+mn-ea"/>
              </a:rPr>
              <a:t>③</a:t>
            </a:r>
            <a:r>
              <a:rPr lang="zh-CN" altLang="en-US" sz="1200" kern="1200" dirty="0">
                <a:solidFill>
                  <a:schemeClr val="tx1"/>
                </a:solidFill>
                <a:effectLst/>
                <a:latin typeface="+mn-lt"/>
                <a:ea typeface="+mn-ea"/>
              </a:rPr>
              <a:t>的左视图，图一左下方是</a:t>
            </a:r>
            <a:r>
              <a:rPr lang="en-US" altLang="en-US" sz="1200" kern="1200" dirty="0">
                <a:solidFill>
                  <a:schemeClr val="tx1"/>
                </a:solidFill>
                <a:effectLst/>
                <a:latin typeface="+mn-lt"/>
                <a:ea typeface="+mn-ea"/>
              </a:rPr>
              <a:t>③</a:t>
            </a:r>
            <a:r>
              <a:rPr lang="zh-CN" altLang="en-US" sz="1200" kern="1200" dirty="0">
                <a:solidFill>
                  <a:schemeClr val="tx1"/>
                </a:solidFill>
                <a:effectLst/>
                <a:latin typeface="+mn-lt"/>
                <a:ea typeface="+mn-ea"/>
              </a:rPr>
              <a:t>的俯视图；图</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二左上方是</a:t>
            </a:r>
            <a:r>
              <a:rPr lang="en-US" altLang="en-US" sz="1200" kern="1200" dirty="0">
                <a:solidFill>
                  <a:schemeClr val="tx1"/>
                </a:solidFill>
                <a:effectLst/>
                <a:latin typeface="+mn-lt"/>
                <a:ea typeface="+mn-ea"/>
              </a:rPr>
              <a:t>①</a:t>
            </a:r>
            <a:r>
              <a:rPr lang="zh-CN" altLang="en-US" sz="1200" kern="1200" dirty="0">
                <a:solidFill>
                  <a:schemeClr val="tx1"/>
                </a:solidFill>
                <a:effectLst/>
                <a:latin typeface="+mn-lt"/>
                <a:ea typeface="+mn-ea"/>
              </a:rPr>
              <a:t>的主视图，图二右上方是</a:t>
            </a:r>
            <a:r>
              <a:rPr lang="en-US" altLang="en-US" sz="1200" kern="1200" dirty="0">
                <a:solidFill>
                  <a:schemeClr val="tx1"/>
                </a:solidFill>
                <a:effectLst/>
                <a:latin typeface="+mn-lt"/>
                <a:ea typeface="+mn-ea"/>
              </a:rPr>
              <a:t>①</a:t>
            </a:r>
            <a:r>
              <a:rPr lang="zh-CN" altLang="en-US" sz="1200" kern="1200" dirty="0">
                <a:solidFill>
                  <a:schemeClr val="tx1"/>
                </a:solidFill>
                <a:effectLst/>
                <a:latin typeface="+mn-lt"/>
                <a:ea typeface="+mn-ea"/>
              </a:rPr>
              <a:t>的左视图，图二左下方是</a:t>
            </a:r>
            <a:r>
              <a:rPr lang="en-US" altLang="en-US" sz="1200" kern="1200" dirty="0">
                <a:solidFill>
                  <a:schemeClr val="tx1"/>
                </a:solidFill>
                <a:effectLst/>
                <a:latin typeface="+mn-lt"/>
                <a:ea typeface="+mn-ea"/>
              </a:rPr>
              <a:t>①</a:t>
            </a:r>
            <a:r>
              <a:rPr lang="zh-CN" altLang="en-US" sz="1200" kern="1200" dirty="0">
                <a:solidFill>
                  <a:schemeClr val="tx1"/>
                </a:solidFill>
                <a:effectLst/>
                <a:latin typeface="+mn-lt"/>
                <a:ea typeface="+mn-ea"/>
              </a:rPr>
              <a:t>的俯视图；图三左上方是</a:t>
            </a:r>
            <a:r>
              <a:rPr lang="en-US" altLang="en-US" sz="1200" kern="1200" dirty="0">
                <a:solidFill>
                  <a:schemeClr val="tx1"/>
                </a:solidFill>
                <a:effectLst/>
                <a:latin typeface="+mn-lt"/>
                <a:ea typeface="+mn-ea"/>
              </a:rPr>
              <a:t>②</a:t>
            </a:r>
            <a:r>
              <a:rPr lang="zh-CN" altLang="en-US" sz="1200" kern="1200" dirty="0">
                <a:solidFill>
                  <a:schemeClr val="tx1"/>
                </a:solidFill>
                <a:effectLst/>
                <a:latin typeface="+mn-lt"/>
                <a:ea typeface="+mn-ea"/>
              </a:rPr>
              <a:t>的主视</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图，图三右上方是</a:t>
            </a:r>
            <a:r>
              <a:rPr lang="en-US" altLang="en-US" sz="1200" kern="1200" dirty="0">
                <a:solidFill>
                  <a:schemeClr val="tx1"/>
                </a:solidFill>
                <a:effectLst/>
                <a:latin typeface="+mn-lt"/>
                <a:ea typeface="+mn-ea"/>
              </a:rPr>
              <a:t>②</a:t>
            </a:r>
            <a:r>
              <a:rPr lang="zh-CN" altLang="en-US" sz="1200" kern="1200" dirty="0">
                <a:solidFill>
                  <a:schemeClr val="tx1"/>
                </a:solidFill>
                <a:effectLst/>
                <a:latin typeface="+mn-lt"/>
                <a:ea typeface="+mn-ea"/>
              </a:rPr>
              <a:t>的左视图，图三左下方是</a:t>
            </a:r>
            <a:r>
              <a:rPr lang="en-US" altLang="en-US" sz="1200" kern="1200" dirty="0">
                <a:solidFill>
                  <a:schemeClr val="tx1"/>
                </a:solidFill>
                <a:effectLst/>
                <a:latin typeface="+mn-lt"/>
                <a:ea typeface="+mn-ea"/>
              </a:rPr>
              <a:t>②</a:t>
            </a:r>
            <a:r>
              <a:rPr lang="zh-CN" altLang="en-US" sz="1200" kern="1200" dirty="0">
                <a:solidFill>
                  <a:schemeClr val="tx1"/>
                </a:solidFill>
                <a:effectLst/>
                <a:latin typeface="+mn-lt"/>
                <a:ea typeface="+mn-ea"/>
              </a:rPr>
              <a:t>的俯视图。</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故正确答案为</a:t>
            </a:r>
            <a:r>
              <a:rPr lang="en-US" altLang="zh-CN" sz="1200" kern="1200" dirty="0">
                <a:solidFill>
                  <a:schemeClr val="tx1"/>
                </a:solidFill>
                <a:effectLst/>
                <a:latin typeface="+mn-lt"/>
                <a:ea typeface="+mn-ea"/>
              </a:rPr>
              <a:t> D</a:t>
            </a:r>
            <a:r>
              <a:rPr lang="zh-CN" altLang="en-US" sz="1200" kern="1200" dirty="0">
                <a:solidFill>
                  <a:schemeClr val="tx1"/>
                </a:solidFill>
                <a:effectLst/>
                <a:latin typeface="+mn-lt"/>
                <a:ea typeface="+mn-ea"/>
              </a:rPr>
              <a:t>。</a:t>
            </a:r>
            <a:endParaRPr lang="zh-CN" altLang="en-US" sz="1200" kern="1200" dirty="0">
              <a:solidFill>
                <a:schemeClr val="tx1"/>
              </a:solidFill>
              <a:effectLst/>
              <a:latin typeface="+mn-lt"/>
              <a:ea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kern="1200" dirty="0">
                <a:solidFill>
                  <a:schemeClr val="tx1"/>
                </a:solidFill>
                <a:effectLst/>
                <a:latin typeface="+mn-lt"/>
                <a:ea typeface="+mn-ea"/>
              </a:rPr>
              <a:t>第一步：判断题干词语间逻辑关系。</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细菌和真菌都是微生物的一种，细菌是原核微生物，真菌为真核微生物，除此之外还有非细胞类微生物，</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比如病毒，二者为并列关系中的反对关系。</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第二步：判断选项词语间逻辑关系。</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A </a:t>
            </a:r>
            <a:r>
              <a:rPr lang="zh-CN" altLang="en-US" sz="1200" kern="1200" dirty="0">
                <a:solidFill>
                  <a:schemeClr val="tx1"/>
                </a:solidFill>
                <a:effectLst/>
                <a:latin typeface="+mn-lt"/>
                <a:ea typeface="+mn-ea"/>
              </a:rPr>
              <a:t>项：鸳鸯中的鸳意指雄鸟，鸯意指雌鸟，二者为并列关系中的矛盾关系，与题干逻辑关系不一致，排</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除；</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B </a:t>
            </a:r>
            <a:r>
              <a:rPr lang="zh-CN" altLang="en-US" sz="1200" kern="1200" dirty="0">
                <a:solidFill>
                  <a:schemeClr val="tx1"/>
                </a:solidFill>
                <a:effectLst/>
                <a:latin typeface="+mn-lt"/>
                <a:ea typeface="+mn-ea"/>
              </a:rPr>
              <a:t>项：地下水是指赋存于地面以下岩石空隙中的水，饮用水是指可以不经处理、直接供给人体饮用的水，</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有的地下水是饮用水，有的地下水不是饮用水，有的饮用水是地下水，有的饮用水不是地下水，二者为</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交叉关系，与题干逻辑关系不一致，排除；</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C </a:t>
            </a:r>
            <a:r>
              <a:rPr lang="zh-CN" altLang="en-US" sz="1200" kern="1200" dirty="0">
                <a:solidFill>
                  <a:schemeClr val="tx1"/>
                </a:solidFill>
                <a:effectLst/>
                <a:latin typeface="+mn-lt"/>
                <a:ea typeface="+mn-ea"/>
              </a:rPr>
              <a:t>项：原子包含带一个基本电荷的正电的质子和不带电的中子组成的原子核以及与质子数相同的核外电</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子，二者为组成关系，与题干逻辑关系不一致，排除；</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D </a:t>
            </a:r>
            <a:r>
              <a:rPr lang="zh-CN" altLang="en-US" sz="1200" kern="1200" dirty="0">
                <a:solidFill>
                  <a:schemeClr val="tx1"/>
                </a:solidFill>
                <a:effectLst/>
                <a:latin typeface="+mn-lt"/>
                <a:ea typeface="+mn-ea"/>
              </a:rPr>
              <a:t>项：蛾眉月，农历月底和月初的月亮或月相，下弦月，农历每月二十二、二十三日的月亮或月相，除</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此之外还有上弦月等，二者为并列关系中的反对关系，与题干逻辑关系一致，当选。</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故正确答案为</a:t>
            </a:r>
            <a:r>
              <a:rPr lang="en-US" altLang="zh-CN" sz="1200" kern="1200" dirty="0">
                <a:solidFill>
                  <a:schemeClr val="tx1"/>
                </a:solidFill>
                <a:effectLst/>
                <a:latin typeface="+mn-lt"/>
                <a:ea typeface="+mn-ea"/>
              </a:rPr>
              <a:t> D</a:t>
            </a:r>
            <a:r>
              <a:rPr lang="zh-CN" altLang="en-US" sz="1200" kern="1200" dirty="0">
                <a:solidFill>
                  <a:schemeClr val="tx1"/>
                </a:solidFill>
                <a:effectLst/>
                <a:latin typeface="+mn-lt"/>
                <a:ea typeface="+mn-ea"/>
              </a:rPr>
              <a:t>。</a:t>
            </a:r>
            <a:endParaRPr lang="zh-CN" altLang="en-US" sz="1200" kern="1200" dirty="0">
              <a:solidFill>
                <a:schemeClr val="tx1"/>
              </a:solidFill>
              <a:effectLst/>
              <a:latin typeface="+mn-lt"/>
              <a:ea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柠檬水</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和</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酸梅汤</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是两种不同的饮品，二者为并列关系。</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第二步：判断选项词语间逻辑关系。</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A </a:t>
            </a:r>
            <a:r>
              <a:rPr lang="zh-CN" altLang="en-US" sz="1200" kern="1200" dirty="0">
                <a:solidFill>
                  <a:schemeClr val="tx1"/>
                </a:solidFill>
                <a:effectLst/>
                <a:latin typeface="+mn-lt"/>
                <a:ea typeface="+mn-ea"/>
              </a:rPr>
              <a:t>项：</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橘子汁</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是橘子压榨出的汁水，</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香蕉水</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是由多种有机溶剂混合而成的无色透明液体，因具</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香蕉气味而得名，二者不是并列关系，与题干逻辑关系不一致，排除；</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B </a:t>
            </a:r>
            <a:r>
              <a:rPr lang="zh-CN" altLang="en-US" sz="1200" kern="1200" dirty="0">
                <a:solidFill>
                  <a:schemeClr val="tx1"/>
                </a:solidFill>
                <a:effectLst/>
                <a:latin typeface="+mn-lt"/>
                <a:ea typeface="+mn-ea"/>
              </a:rPr>
              <a:t>项：</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梅子酒</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是将梅子放置于米类蒸馏酒里长时间浸泡入味的一种浸泡酒，</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葡萄干</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是借助于太</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阳热或人工加热使葡萄果实脱水形成的固态食品，二者不是并列关系，与题干逻辑关系不一致，排除；</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C </a:t>
            </a:r>
            <a:r>
              <a:rPr lang="zh-CN" altLang="en-US" sz="1200" kern="1200" dirty="0">
                <a:solidFill>
                  <a:schemeClr val="tx1"/>
                </a:solidFill>
                <a:effectLst/>
                <a:latin typeface="+mn-lt"/>
                <a:ea typeface="+mn-ea"/>
              </a:rPr>
              <a:t>项：</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苹果派</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是以苹果、面粉、黄油等为原材料加工而成的一种甜点，</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草莓挞</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是以草莓、面粉、</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黄油、糖、牛奶等为原材料制作的一种甜品，二者为并列关系，与题干逻辑关系一致，当选；</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D </a:t>
            </a:r>
            <a:r>
              <a:rPr lang="zh-CN" altLang="en-US" sz="1200" kern="1200" dirty="0">
                <a:solidFill>
                  <a:schemeClr val="tx1"/>
                </a:solidFill>
                <a:effectLst/>
                <a:latin typeface="+mn-lt"/>
                <a:ea typeface="+mn-ea"/>
              </a:rPr>
              <a:t>项：</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西瓜霜</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是西瓜的成熟果实与芒硝经加工而成的白色结晶粉末，也是一种中药，</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荔枝蜜</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是</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采用荔枝的花而酿制的蜂蜜，是南方地区生产的上等蜂蜜，带有清淡的荔枝花香味，二者不是并列关系，</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与题干逻辑关系不一致，排除。</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故正确答案为</a:t>
            </a:r>
            <a:r>
              <a:rPr lang="en-US" altLang="zh-CN" sz="1200" kern="1200" dirty="0">
                <a:solidFill>
                  <a:schemeClr val="tx1"/>
                </a:solidFill>
                <a:effectLst/>
                <a:latin typeface="+mn-lt"/>
                <a:ea typeface="+mn-ea"/>
              </a:rPr>
              <a:t> C</a:t>
            </a:r>
            <a:r>
              <a:rPr lang="zh-CN" altLang="en-US" sz="1200" kern="1200" dirty="0">
                <a:solidFill>
                  <a:schemeClr val="tx1"/>
                </a:solidFill>
                <a:effectLst/>
                <a:latin typeface="+mn-lt"/>
                <a:ea typeface="+mn-ea"/>
              </a:rPr>
              <a:t>。</a:t>
            </a:r>
            <a:endParaRPr lang="zh-CN" altLang="en-US" sz="1200" kern="1200" dirty="0">
              <a:solidFill>
                <a:schemeClr val="tx1"/>
              </a:solidFill>
              <a:effectLst/>
              <a:latin typeface="+mn-lt"/>
              <a:ea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kern="1200" dirty="0">
                <a:solidFill>
                  <a:schemeClr val="tx1"/>
                </a:solidFill>
                <a:effectLst/>
                <a:latin typeface="+mn-lt"/>
                <a:ea typeface="+mn-ea"/>
              </a:rPr>
              <a:t>低碳排放是为了保护环境，二者为方式目的的对应关系。</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第二步：判断选项词语间逻辑关系。</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A </a:t>
            </a:r>
            <a:r>
              <a:rPr lang="zh-CN" altLang="en-US" sz="1200" kern="1200" dirty="0">
                <a:solidFill>
                  <a:schemeClr val="tx1"/>
                </a:solidFill>
                <a:effectLst/>
                <a:latin typeface="+mn-lt"/>
                <a:ea typeface="+mn-ea"/>
              </a:rPr>
              <a:t>项：候鸟迁徙是因为气候变化，二者为因果的对应关系，与题干逻辑关系不一致，排除；</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B </a:t>
            </a:r>
            <a:r>
              <a:rPr lang="zh-CN" altLang="en-US" sz="1200" kern="1200" dirty="0">
                <a:solidFill>
                  <a:schemeClr val="tx1"/>
                </a:solidFill>
                <a:effectLst/>
                <a:latin typeface="+mn-lt"/>
                <a:ea typeface="+mn-ea"/>
              </a:rPr>
              <a:t>项：昆虫叮咬会导致过敏反应，二者为因果的对应关系，与题干逻辑关系不一致，排除；</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C </a:t>
            </a:r>
            <a:r>
              <a:rPr lang="zh-CN" altLang="en-US" sz="1200" kern="1200" dirty="0">
                <a:solidFill>
                  <a:schemeClr val="tx1"/>
                </a:solidFill>
                <a:effectLst/>
                <a:latin typeface="+mn-lt"/>
                <a:ea typeface="+mn-ea"/>
              </a:rPr>
              <a:t>项：收集数据是为了调查研究，二者为方式目的的对应关系，与题干逻辑关系一致，当选；</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D </a:t>
            </a:r>
            <a:r>
              <a:rPr lang="zh-CN" altLang="en-US" sz="1200" kern="1200" dirty="0">
                <a:solidFill>
                  <a:schemeClr val="tx1"/>
                </a:solidFill>
                <a:effectLst/>
                <a:latin typeface="+mn-lt"/>
                <a:ea typeface="+mn-ea"/>
              </a:rPr>
              <a:t>项：滴水成冰意思是水滴下去就结成冰，形容天气十分寒冷；热胀冷缩指物体受热时会膨胀，遇冷时</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会收缩的特性，二者不是方式目的的对应关系，与题干逻辑关系不一致，排除。</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故正确答案为</a:t>
            </a:r>
            <a:r>
              <a:rPr lang="en-US" altLang="zh-CN" sz="1200" kern="1200" dirty="0">
                <a:solidFill>
                  <a:schemeClr val="tx1"/>
                </a:solidFill>
                <a:effectLst/>
                <a:latin typeface="+mn-lt"/>
                <a:ea typeface="+mn-ea"/>
              </a:rPr>
              <a:t> C</a:t>
            </a:r>
            <a:r>
              <a:rPr lang="zh-CN" altLang="en-US" sz="1200" kern="1200" dirty="0">
                <a:solidFill>
                  <a:schemeClr val="tx1"/>
                </a:solidFill>
                <a:effectLst/>
                <a:latin typeface="+mn-lt"/>
                <a:ea typeface="+mn-ea"/>
              </a:rPr>
              <a:t>。</a:t>
            </a:r>
            <a:endParaRPr lang="zh-CN" altLang="en-US" sz="1200" kern="1200" dirty="0">
              <a:solidFill>
                <a:schemeClr val="tx1"/>
              </a:solidFill>
              <a:effectLst/>
              <a:latin typeface="+mn-lt"/>
              <a:ea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言之无文，行之不远</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的意思是说话没有文采，就传播不远，因为</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言之无文</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，所以</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行之不远</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二者为因果关系。</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第二步：判断选项词语间逻辑关系。</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A </a:t>
            </a:r>
            <a:r>
              <a:rPr lang="zh-CN" altLang="en-US" sz="1200" kern="1200" dirty="0">
                <a:solidFill>
                  <a:schemeClr val="tx1"/>
                </a:solidFill>
                <a:effectLst/>
                <a:latin typeface="+mn-lt"/>
                <a:ea typeface="+mn-ea"/>
              </a:rPr>
              <a:t>项：</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一叶障目，不见泰山</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的意思是一片树叶挡住了眼睛，连面前高大的泰山都看不见，因为</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一</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叶障目</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，所以</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不见泰山</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，二者为因果关系，与题干逻辑关系一致，当选；</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B </a:t>
            </a:r>
            <a:r>
              <a:rPr lang="zh-CN" altLang="en-US" sz="1200" kern="1200" dirty="0">
                <a:solidFill>
                  <a:schemeClr val="tx1"/>
                </a:solidFill>
                <a:effectLst/>
                <a:latin typeface="+mn-lt"/>
                <a:ea typeface="+mn-ea"/>
              </a:rPr>
              <a:t>项：</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宁为玉碎，不为瓦全</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的意思是指宁愿做高贵的玉器而破碎，也不愿做低贱的瓦器得以保全，</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二者不是因果关系，与题干逻辑关系不一致，排除；</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C </a:t>
            </a:r>
            <a:r>
              <a:rPr lang="zh-CN" altLang="en-US" sz="1200" kern="1200" dirty="0">
                <a:solidFill>
                  <a:schemeClr val="tx1"/>
                </a:solidFill>
                <a:effectLst/>
                <a:latin typeface="+mn-lt"/>
                <a:ea typeface="+mn-ea"/>
              </a:rPr>
              <a:t>项：</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藏诸名山，传之其人</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的意思是指把著作藏在名山，传给后来志趣相投的人，二者不是因果关</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系，与题干逻辑关系不一致，排除；</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D </a:t>
            </a:r>
            <a:r>
              <a:rPr lang="zh-CN" altLang="en-US" sz="1200" kern="1200" dirty="0">
                <a:solidFill>
                  <a:schemeClr val="tx1"/>
                </a:solidFill>
                <a:effectLst/>
                <a:latin typeface="+mn-lt"/>
                <a:ea typeface="+mn-ea"/>
              </a:rPr>
              <a:t>项：</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取之不尽，用之不竭</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的意思是指拿不完用不尽，二者为并列关系，与题干逻辑关系不一致，</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排除。</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故正确答案为</a:t>
            </a:r>
            <a:r>
              <a:rPr lang="en-US" altLang="zh-CN" sz="1200" kern="1200" dirty="0">
                <a:solidFill>
                  <a:schemeClr val="tx1"/>
                </a:solidFill>
                <a:effectLst/>
                <a:latin typeface="+mn-lt"/>
                <a:ea typeface="+mn-ea"/>
              </a:rPr>
              <a:t> A</a:t>
            </a:r>
            <a:r>
              <a:rPr lang="zh-CN" altLang="en-US" sz="1200" kern="1200" dirty="0">
                <a:solidFill>
                  <a:schemeClr val="tx1"/>
                </a:solidFill>
                <a:effectLst/>
                <a:latin typeface="+mn-lt"/>
                <a:ea typeface="+mn-ea"/>
              </a:rPr>
              <a:t>。</a:t>
            </a:r>
            <a:endParaRPr lang="zh-CN" altLang="en-US" sz="1200" kern="1200" dirty="0">
              <a:solidFill>
                <a:schemeClr val="tx1"/>
              </a:solidFill>
              <a:effectLst/>
              <a:latin typeface="+mn-lt"/>
              <a:ea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kern="1200" dirty="0">
                <a:solidFill>
                  <a:schemeClr val="tx1"/>
                </a:solidFill>
                <a:effectLst/>
                <a:latin typeface="+mn-lt"/>
                <a:ea typeface="+mn-ea"/>
              </a:rPr>
              <a:t>货车是一种车辆，前两词为种属关系，货车可以用来运输，后两词为功能对应关系。</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第二步：判断选项词语间逻辑关系。</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A </a:t>
            </a:r>
            <a:r>
              <a:rPr lang="zh-CN" altLang="en-US" sz="1200" kern="1200" dirty="0">
                <a:solidFill>
                  <a:schemeClr val="tx1"/>
                </a:solidFill>
                <a:effectLst/>
                <a:latin typeface="+mn-lt"/>
                <a:ea typeface="+mn-ea"/>
              </a:rPr>
              <a:t>项：甲烷和二氧化碳均是一种温室气体，第一词与后两词分别构成种属关系，且后两词为并列关系，</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与题干逻辑关系不一致，排除；</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B </a:t>
            </a:r>
            <a:r>
              <a:rPr lang="zh-CN" altLang="en-US" sz="1200" kern="1200" dirty="0">
                <a:solidFill>
                  <a:schemeClr val="tx1"/>
                </a:solidFill>
                <a:effectLst/>
                <a:latin typeface="+mn-lt"/>
                <a:ea typeface="+mn-ea"/>
              </a:rPr>
              <a:t>项：量子信息是一种未来产业，前两词为种属关系，研究监管不是量子信息的功能，后两词不是功能</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对应关系，与题干逻辑关系不一致，排除；</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C </a:t>
            </a:r>
            <a:r>
              <a:rPr lang="zh-CN" altLang="en-US" sz="1200" kern="1200" dirty="0">
                <a:solidFill>
                  <a:schemeClr val="tx1"/>
                </a:solidFill>
                <a:effectLst/>
                <a:latin typeface="+mn-lt"/>
                <a:ea typeface="+mn-ea"/>
              </a:rPr>
              <a:t>项：自我意识对人格的形成、发展有作用，前两词不是种属关系，心理调节不是人格的功能，后两词</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不是功能对应关系，与题干逻辑关系不一致，排除；</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D </a:t>
            </a:r>
            <a:r>
              <a:rPr lang="zh-CN" altLang="en-US" sz="1200" kern="1200" dirty="0">
                <a:solidFill>
                  <a:schemeClr val="tx1"/>
                </a:solidFill>
                <a:effectLst/>
                <a:latin typeface="+mn-lt"/>
                <a:ea typeface="+mn-ea"/>
              </a:rPr>
              <a:t>项：太阳能是一种绿色能源，前两词为种属关系，太阳能可以用来发电，后两词为功能对应关系，与</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题干逻辑关系一致，当选。</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故正确答案为</a:t>
            </a:r>
            <a:r>
              <a:rPr lang="en-US" altLang="zh-CN" sz="1200" kern="1200" dirty="0">
                <a:solidFill>
                  <a:schemeClr val="tx1"/>
                </a:solidFill>
                <a:effectLst/>
                <a:latin typeface="+mn-lt"/>
                <a:ea typeface="+mn-ea"/>
              </a:rPr>
              <a:t> D</a:t>
            </a:r>
            <a:r>
              <a:rPr lang="zh-CN" altLang="en-US" sz="1200" kern="1200" dirty="0">
                <a:solidFill>
                  <a:schemeClr val="tx1"/>
                </a:solidFill>
                <a:effectLst/>
                <a:latin typeface="+mn-lt"/>
                <a:ea typeface="+mn-ea"/>
              </a:rPr>
              <a:t>。</a:t>
            </a:r>
            <a:endParaRPr lang="zh-CN" altLang="en-US" sz="1200" kern="1200" dirty="0">
              <a:solidFill>
                <a:schemeClr val="tx1"/>
              </a:solidFill>
              <a:effectLst/>
              <a:latin typeface="+mn-lt"/>
              <a:ea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kern="1200" dirty="0">
                <a:solidFill>
                  <a:schemeClr val="tx1"/>
                </a:solidFill>
                <a:effectLst/>
                <a:latin typeface="+mn-lt"/>
                <a:ea typeface="+mn-ea"/>
              </a:rPr>
              <a:t>噪声会导致听力衰弱，且噪声是原因，听力衰弱是结果，听力衰弱构成主谓结构。</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第二步：判断选项词语间逻辑关系。</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A </a:t>
            </a:r>
            <a:r>
              <a:rPr lang="zh-CN" altLang="en-US" sz="1200" kern="1200" dirty="0">
                <a:solidFill>
                  <a:schemeClr val="tx1"/>
                </a:solidFill>
                <a:effectLst/>
                <a:latin typeface="+mn-lt"/>
                <a:ea typeface="+mn-ea"/>
              </a:rPr>
              <a:t>项：饮食不会导致健康锻炼，且饮食不是原因，与题干逻辑关系不一致，排除；</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B </a:t>
            </a:r>
            <a:r>
              <a:rPr lang="zh-CN" altLang="en-US" sz="1200" kern="1200" dirty="0">
                <a:solidFill>
                  <a:schemeClr val="tx1"/>
                </a:solidFill>
                <a:effectLst/>
                <a:latin typeface="+mn-lt"/>
                <a:ea typeface="+mn-ea"/>
              </a:rPr>
              <a:t>项：重力是地球对物体的吸引力，物体的质量越大，重力越大，重力不是原因，与题干逻辑关系不一</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致，排除；</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C </a:t>
            </a:r>
            <a:r>
              <a:rPr lang="zh-CN" altLang="en-US" sz="1200" kern="1200" dirty="0">
                <a:solidFill>
                  <a:schemeClr val="tx1"/>
                </a:solidFill>
                <a:effectLst/>
                <a:latin typeface="+mn-lt"/>
                <a:ea typeface="+mn-ea"/>
              </a:rPr>
              <a:t>项：摩擦会导致速度降低，且摩擦是原因，速度降低是结果，速度降低构成主谓结构，与题干逻辑关</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系一致，当选；</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D </a:t>
            </a:r>
            <a:r>
              <a:rPr lang="zh-CN" altLang="en-US" sz="1200" kern="1200" dirty="0">
                <a:solidFill>
                  <a:schemeClr val="tx1"/>
                </a:solidFill>
                <a:effectLst/>
                <a:latin typeface="+mn-lt"/>
                <a:ea typeface="+mn-ea"/>
              </a:rPr>
              <a:t>项：气候变暖会导致冰层融化，进一步会影响环境，冰层融化是结果，而非原因，与题干逻辑关系不</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一致，排除。</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故正确答案为</a:t>
            </a:r>
            <a:r>
              <a:rPr lang="en-US" altLang="zh-CN" sz="1200" kern="1200" dirty="0">
                <a:solidFill>
                  <a:schemeClr val="tx1"/>
                </a:solidFill>
                <a:effectLst/>
                <a:latin typeface="+mn-lt"/>
                <a:ea typeface="+mn-ea"/>
              </a:rPr>
              <a:t> C</a:t>
            </a:r>
            <a:r>
              <a:rPr lang="zh-CN" altLang="en-US" sz="1200" kern="1200" dirty="0">
                <a:solidFill>
                  <a:schemeClr val="tx1"/>
                </a:solidFill>
                <a:effectLst/>
                <a:latin typeface="+mn-lt"/>
                <a:ea typeface="+mn-ea"/>
              </a:rPr>
              <a:t>。</a:t>
            </a:r>
            <a:endParaRPr lang="zh-CN" altLang="en-US" sz="1200" kern="1200" dirty="0">
              <a:solidFill>
                <a:schemeClr val="tx1"/>
              </a:solidFill>
              <a:effectLst/>
              <a:latin typeface="+mn-lt"/>
              <a:ea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kern="1200" dirty="0">
                <a:solidFill>
                  <a:schemeClr val="tx1"/>
                </a:solidFill>
                <a:effectLst/>
                <a:latin typeface="+mn-lt"/>
                <a:ea typeface="+mn-ea"/>
              </a:rPr>
              <a:t>石料和木材均可以用来制作印章，前两词为并列关系，分别与第三词构成原材料与成品的对应关系。</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第二步：判断选项词语间逻辑关系。</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A </a:t>
            </a:r>
            <a:r>
              <a:rPr lang="zh-CN" altLang="en-US" sz="1200" kern="1200" dirty="0">
                <a:solidFill>
                  <a:schemeClr val="tx1"/>
                </a:solidFill>
                <a:effectLst/>
                <a:latin typeface="+mn-lt"/>
                <a:ea typeface="+mn-ea"/>
              </a:rPr>
              <a:t>项：毛笔和墨水配套使用可以用来书写书法作品，前两词为配套使用的对应关系，第一词与第三词也</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不是原材料与成品的对应关系，与题干逻辑关系不一致，排除；</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B </a:t>
            </a:r>
            <a:r>
              <a:rPr lang="zh-CN" altLang="en-US" sz="1200" kern="1200" dirty="0">
                <a:solidFill>
                  <a:schemeClr val="tx1"/>
                </a:solidFill>
                <a:effectLst/>
                <a:latin typeface="+mn-lt"/>
                <a:ea typeface="+mn-ea"/>
              </a:rPr>
              <a:t>项：湘绣和蜀绣是中国刺绣中两个不同的门类，前两词为并列关系，分别与第三词构成种属关系，与</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题干逻辑关系不一致，排除；</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C </a:t>
            </a:r>
            <a:r>
              <a:rPr lang="zh-CN" altLang="en-US" sz="1200" kern="1200" dirty="0">
                <a:solidFill>
                  <a:schemeClr val="tx1"/>
                </a:solidFill>
                <a:effectLst/>
                <a:latin typeface="+mn-lt"/>
                <a:ea typeface="+mn-ea"/>
              </a:rPr>
              <a:t>项：绘制年画和国画会用到宣纸，前两词不是并列关系，第二词与第三词也不是原材料与成品的对应</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关系，与题干逻辑关系不一致，排除；</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D </a:t>
            </a:r>
            <a:r>
              <a:rPr lang="zh-CN" altLang="en-US" sz="1200" kern="1200" dirty="0">
                <a:solidFill>
                  <a:schemeClr val="tx1"/>
                </a:solidFill>
                <a:effectLst/>
                <a:latin typeface="+mn-lt"/>
                <a:ea typeface="+mn-ea"/>
              </a:rPr>
              <a:t>项：搪瓷和塑料均可以用来制作脸盆，前两词为并列关系，分别与第三词构成原材料与成品的对应关</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系，与题干逻辑关系一致，当选。</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故正确答案为</a:t>
            </a:r>
            <a:r>
              <a:rPr lang="en-US" altLang="zh-CN" sz="1200" kern="1200" dirty="0">
                <a:solidFill>
                  <a:schemeClr val="tx1"/>
                </a:solidFill>
                <a:effectLst/>
                <a:latin typeface="+mn-lt"/>
                <a:ea typeface="+mn-ea"/>
              </a:rPr>
              <a:t> D</a:t>
            </a:r>
            <a:endParaRPr lang="en-US" altLang="zh-CN" sz="1200" kern="1200" dirty="0">
              <a:solidFill>
                <a:schemeClr val="tx1"/>
              </a:solidFill>
              <a:effectLst/>
              <a:latin typeface="+mn-lt"/>
              <a:ea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名垂青史</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意思是好的名声和事迹载入史籍永远流传；</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光耀千秋</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意思是光辉照耀千年，形容功绩</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或荣耀长久流传，影响深远；</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光前裕后</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意思是给前人增光，为后代造福，多用来称颂他人功业隆盛。</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三者为近义关系。</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第二步：判断选项词语间逻辑关系。</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A </a:t>
            </a:r>
            <a:r>
              <a:rPr lang="zh-CN" altLang="en-US" sz="1200" kern="1200" dirty="0">
                <a:solidFill>
                  <a:schemeClr val="tx1"/>
                </a:solidFill>
                <a:effectLst/>
                <a:latin typeface="+mn-lt"/>
                <a:ea typeface="+mn-ea"/>
              </a:rPr>
              <a:t>项：</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畏首畏尾</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形容疑虑过多；</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犹犹豫豫</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形容拿不定主意；</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瞻前顾后</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意思是看看前面再看</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看后面，形容做事以前考虑周密谨慎，也指顾虑太多，犹豫不定。三者为近义关系，与题干逻辑关系一</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致，当选；</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B </a:t>
            </a:r>
            <a:r>
              <a:rPr lang="zh-CN" altLang="en-US" sz="1200" kern="1200" dirty="0">
                <a:solidFill>
                  <a:schemeClr val="tx1"/>
                </a:solidFill>
                <a:effectLst/>
                <a:latin typeface="+mn-lt"/>
                <a:ea typeface="+mn-ea"/>
              </a:rPr>
              <a:t>项：</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投鼠忌器</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意思是要打老鼠又怕打坏了旁边的器物，比喻想打击坏人而又有所顾忌；</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缩手缩</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脚</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意思是因寒冷而四肢不能舒展的样子，也形容做事胆小，顾虑多，不敢放手；</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慎终追远</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旧指慎</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重地办理父母丧事，虔诚地祭祀远代祖先，后也指谨慎从事，追念前贤。第三个词与前两个词不是近义</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关系，与题干逻辑关系不一致，排除；</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C </a:t>
            </a:r>
            <a:r>
              <a:rPr lang="zh-CN" altLang="en-US" sz="1200" kern="1200" dirty="0">
                <a:solidFill>
                  <a:schemeClr val="tx1"/>
                </a:solidFill>
                <a:effectLst/>
                <a:latin typeface="+mn-lt"/>
                <a:ea typeface="+mn-ea"/>
              </a:rPr>
              <a:t>项：</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光宗耀祖</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意思是为祖先、宗族增添光彩；</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光耀门楣</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意思是做出了让家门荣耀的事情；</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落</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叶归根</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比喻事物有一定的归宿，多指客居他乡的人终要回到本乡。第三个词与前两个词不是近义关系，</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与题干逻辑关系不一致，排除；</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D </a:t>
            </a:r>
            <a:r>
              <a:rPr lang="zh-CN" altLang="en-US" sz="1200" kern="1200" dirty="0">
                <a:solidFill>
                  <a:schemeClr val="tx1"/>
                </a:solidFill>
                <a:effectLst/>
                <a:latin typeface="+mn-lt"/>
                <a:ea typeface="+mn-ea"/>
              </a:rPr>
              <a:t>项：</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空前绝后</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意思是从前没有过，以后也不会有，多用来形容非凡的成就或盛况；</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开天辟地</a:t>
            </a:r>
            <a:r>
              <a:rPr lang="en-US" altLang="zh-CN" sz="1200" kern="1200" dirty="0">
                <a:solidFill>
                  <a:schemeClr val="tx1"/>
                </a:solidFill>
                <a:effectLst/>
                <a:latin typeface="+mn-lt"/>
                <a:ea typeface="+mn-ea"/>
              </a:rPr>
              <a:t>”</a:t>
            </a:r>
            <a:endParaRPr lang="en-US" altLang="zh-CN" sz="1200" kern="1200" dirty="0">
              <a:solidFill>
                <a:schemeClr val="tx1"/>
              </a:solidFill>
              <a:effectLst/>
              <a:latin typeface="+mn-lt"/>
              <a:ea typeface="+mn-ea"/>
            </a:endParaRPr>
          </a:p>
          <a:p>
            <a:r>
              <a:rPr lang="zh-CN" altLang="en-US" sz="1200" kern="1200" dirty="0">
                <a:solidFill>
                  <a:schemeClr val="tx1"/>
                </a:solidFill>
                <a:effectLst/>
                <a:latin typeface="+mn-lt"/>
                <a:ea typeface="+mn-ea"/>
              </a:rPr>
              <a:t>比喻空前的，自古以来没有过的；</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继往开来</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意思是继承前人的事业，并为将来开辟道路。三者不是</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近义关系，与题干逻辑关系不一致，排除。</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故正确答案为</a:t>
            </a:r>
            <a:r>
              <a:rPr lang="en-US" altLang="zh-CN" sz="1200" kern="1200" dirty="0">
                <a:solidFill>
                  <a:schemeClr val="tx1"/>
                </a:solidFill>
                <a:effectLst/>
                <a:latin typeface="+mn-lt"/>
                <a:ea typeface="+mn-ea"/>
              </a:rPr>
              <a:t> A</a:t>
            </a:r>
            <a:r>
              <a:rPr lang="zh-CN" altLang="en-US" sz="1200" kern="1200" dirty="0">
                <a:solidFill>
                  <a:schemeClr val="tx1"/>
                </a:solidFill>
                <a:effectLst/>
                <a:latin typeface="+mn-lt"/>
                <a:ea typeface="+mn-ea"/>
              </a:rPr>
              <a:t>。</a:t>
            </a:r>
            <a:endParaRPr lang="zh-CN" altLang="en-US" sz="1200" kern="1200" dirty="0">
              <a:solidFill>
                <a:schemeClr val="tx1"/>
              </a:solidFill>
              <a:effectLst/>
              <a:latin typeface="+mn-lt"/>
              <a:ea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ea typeface="+mn-ea"/>
              </a:rPr>
              <a:t>A </a:t>
            </a:r>
            <a:r>
              <a:rPr lang="zh-CN" altLang="en-US" sz="1200" kern="1200" dirty="0">
                <a:solidFill>
                  <a:schemeClr val="tx1"/>
                </a:solidFill>
                <a:effectLst/>
                <a:latin typeface="+mn-lt"/>
                <a:ea typeface="+mn-ea"/>
              </a:rPr>
              <a:t>项：单杠是一种运动器材，二者是种属关系；玫瑰可象征爱情，二者是比喻象征关系，前后逻辑关系</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不一致，排除；</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B </a:t>
            </a:r>
            <a:r>
              <a:rPr lang="zh-CN" altLang="en-US" sz="1200" kern="1200" dirty="0">
                <a:solidFill>
                  <a:schemeClr val="tx1"/>
                </a:solidFill>
                <a:effectLst/>
                <a:latin typeface="+mn-lt"/>
                <a:ea typeface="+mn-ea"/>
              </a:rPr>
              <a:t>项：哑铃是一种运动器材，二者是种属关系；玫瑰是一种花卉，二者也是种属关系，前后逻辑关系一</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致，当选；</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C </a:t>
            </a:r>
            <a:r>
              <a:rPr lang="zh-CN" altLang="en-US" sz="1200" kern="1200" dirty="0">
                <a:solidFill>
                  <a:schemeClr val="tx1"/>
                </a:solidFill>
                <a:effectLst/>
                <a:latin typeface="+mn-lt"/>
                <a:ea typeface="+mn-ea"/>
              </a:rPr>
              <a:t>项：运动器材有健身的作用，二者是功能的对应关系；玫瑰是制作精油的一种原材料，二者是原材料</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与成品的对应关系，前后逻辑关系不一致，排除；</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D </a:t>
            </a:r>
            <a:r>
              <a:rPr lang="zh-CN" altLang="en-US" sz="1200" kern="1200" dirty="0">
                <a:solidFill>
                  <a:schemeClr val="tx1"/>
                </a:solidFill>
                <a:effectLst/>
                <a:latin typeface="+mn-lt"/>
                <a:ea typeface="+mn-ea"/>
              </a:rPr>
              <a:t>项：铸铁是制作运动器材的一种原材料，二者是原材料与成品的对应关系；玫瑰和月季是同属蔷薇科</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的两种不同花卉，二者是反对关系，前后逻辑关系不一致，排除。</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故正确答案为</a:t>
            </a:r>
            <a:r>
              <a:rPr lang="en-US" altLang="zh-CN" sz="1200" kern="1200" dirty="0">
                <a:solidFill>
                  <a:schemeClr val="tx1"/>
                </a:solidFill>
                <a:effectLst/>
                <a:latin typeface="+mn-lt"/>
                <a:ea typeface="+mn-ea"/>
              </a:rPr>
              <a:t> B</a:t>
            </a:r>
            <a:r>
              <a:rPr lang="zh-CN" altLang="en-US" sz="1200" kern="1200" dirty="0">
                <a:solidFill>
                  <a:schemeClr val="tx1"/>
                </a:solidFill>
                <a:effectLst/>
                <a:latin typeface="+mn-lt"/>
                <a:ea typeface="+mn-ea"/>
              </a:rPr>
              <a:t>。</a:t>
            </a:r>
            <a:endParaRPr lang="zh-CN" altLang="en-US" sz="1200" kern="1200" dirty="0">
              <a:solidFill>
                <a:schemeClr val="tx1"/>
              </a:solidFill>
              <a:effectLst/>
              <a:latin typeface="+mn-lt"/>
              <a:ea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ea typeface="+mn-ea"/>
              </a:rPr>
              <a:t>A </a:t>
            </a:r>
            <a:r>
              <a:rPr lang="zh-CN" altLang="en-US" sz="1200" kern="1200" dirty="0">
                <a:solidFill>
                  <a:schemeClr val="tx1"/>
                </a:solidFill>
                <a:effectLst/>
                <a:latin typeface="+mn-lt"/>
                <a:ea typeface="+mn-ea"/>
              </a:rPr>
              <a:t>项：孤掌难鸣指一个巴掌拍不响，比喻孤立无助，不能成事，众志成城指大家齐心协力，就像城墙一</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样地牢固，比喻众人团结一致，就能克服困难，二者为反义关系；拒谏饰非指拒绝规劝，掩饰错误或过</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失，广开言路指尽可能地让人们广泛发表意见，博采众议，二者为反义关系，前后逻辑关系一致，当选；</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B </a:t>
            </a:r>
            <a:r>
              <a:rPr lang="zh-CN" altLang="en-US" sz="1200" kern="1200" dirty="0">
                <a:solidFill>
                  <a:schemeClr val="tx1"/>
                </a:solidFill>
                <a:effectLst/>
                <a:latin typeface="+mn-lt"/>
                <a:ea typeface="+mn-ea"/>
              </a:rPr>
              <a:t>项：寸积铢累指由很小的数量一点一滴地慢慢积累起来，众志成城指大家齐心协力，就像城墙一样地</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牢固，比喻众人团结一致，就能克服困难，二者无明显逻辑关系；拒谏饰非指拒绝规劝，掩饰错误或过</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失，从谏如流指听从善意的规劝，就像水从高处流下一样顺畅，形容乐意接受别人意见，二者为反义关</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系，前后逻辑关系不一致，排除；</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C </a:t>
            </a:r>
            <a:r>
              <a:rPr lang="zh-CN" altLang="en-US" sz="1200" kern="1200" dirty="0">
                <a:solidFill>
                  <a:schemeClr val="tx1"/>
                </a:solidFill>
                <a:effectLst/>
                <a:latin typeface="+mn-lt"/>
                <a:ea typeface="+mn-ea"/>
              </a:rPr>
              <a:t>项：众擎易举指许多人一齐用力，容易把东西举起来，比喻大家同心协力就容易把事情办成，众志成</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城指大家齐心协力，就像城墙一样地牢固，比喻众人团结一致，就能克服困难，二者为近义关系；拒谏</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饰非指拒绝规劝，掩饰错误或过失，集思广益指集中群众的智慧，广泛吸收有益的意见，二者为反义关</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系，前后逻辑关系不一致，排除；</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D </a:t>
            </a:r>
            <a:r>
              <a:rPr lang="zh-CN" altLang="en-US" sz="1200" kern="1200" dirty="0">
                <a:solidFill>
                  <a:schemeClr val="tx1"/>
                </a:solidFill>
                <a:effectLst/>
                <a:latin typeface="+mn-lt"/>
                <a:ea typeface="+mn-ea"/>
              </a:rPr>
              <a:t>项：独木难支指一根木头支持不住高大的房子，比喻一个人的力量难以支撑全局，也比喻艰巨的任务</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不是一个人所能胜任的，众志成城指大家齐心协力，就像城墙一样地牢固，比喻众人团结一致，就能克</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服困难，二者为反义关系；拒谏饰非指拒绝规劝，掩饰错误或过失，闭目塞听指闭着眼睛，堵住耳朵，</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形容对外界事物不闻不问或不了解，二者为近义关系，前后逻辑关系不一致，排除。</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故正确答案为</a:t>
            </a:r>
            <a:r>
              <a:rPr lang="en-US" altLang="zh-CN" sz="1200" kern="1200" dirty="0">
                <a:solidFill>
                  <a:schemeClr val="tx1"/>
                </a:solidFill>
                <a:effectLst/>
                <a:latin typeface="+mn-lt"/>
                <a:ea typeface="+mn-ea"/>
              </a:rPr>
              <a:t> A</a:t>
            </a:r>
            <a:r>
              <a:rPr lang="zh-CN" altLang="en-US" sz="1200" kern="1200" dirty="0">
                <a:solidFill>
                  <a:schemeClr val="tx1"/>
                </a:solidFill>
                <a:effectLst/>
                <a:latin typeface="+mn-lt"/>
                <a:ea typeface="+mn-ea"/>
              </a:rPr>
              <a:t>。</a:t>
            </a:r>
            <a:endParaRPr lang="zh-CN" altLang="en-US" sz="1200" kern="1200" dirty="0">
              <a:solidFill>
                <a:schemeClr val="tx1"/>
              </a:solidFill>
              <a:effectLst/>
              <a:latin typeface="+mn-lt"/>
              <a:ea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4" name="矩形 3"/>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cs typeface="楷体" panose="02010609060101010101" charset="-122"/>
            </a:endParaRPr>
          </a:p>
        </p:txBody>
      </p:sp>
      <p:pic>
        <p:nvPicPr>
          <p:cNvPr id="5" name="图片 4"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7" name="文本框 6"/>
          <p:cNvSpPr txBox="1"/>
          <p:nvPr userDrawn="1"/>
        </p:nvSpPr>
        <p:spPr>
          <a:xfrm>
            <a:off x="5644594" y="6453345"/>
            <a:ext cx="894080" cy="306705"/>
          </a:xfrm>
          <a:prstGeom prst="rect">
            <a:avLst/>
          </a:prstGeom>
          <a:noFill/>
        </p:spPr>
        <p:txBody>
          <a:bodyPr wrap="none" rtlCol="0">
            <a:spAutoFit/>
          </a:bodyPr>
          <a:lstStyle/>
          <a:p>
            <a:r>
              <a:rPr kumimoji="1" lang="zh-CN" altLang="en-US" sz="1400" b="0" i="0" dirty="0">
                <a:solidFill>
                  <a:schemeClr val="bg1"/>
                </a:solidFill>
                <a:latin typeface="楷体" panose="02010609060101010101" charset="-122"/>
                <a:ea typeface="楷体" panose="02010609060101010101" charset="-122"/>
                <a:cs typeface="楷体" panose="02010609060101010101" charset="-122"/>
              </a:rPr>
              <a:t>陆羽老师</a:t>
            </a:r>
            <a:endParaRPr kumimoji="1" lang="zh-CN" altLang="en-US" sz="1400" b="0" i="0" dirty="0">
              <a:solidFill>
                <a:schemeClr val="bg1"/>
              </a:solidFill>
              <a:latin typeface="楷体" panose="02010609060101010101" charset="-122"/>
              <a:ea typeface="楷体" panose="02010609060101010101" charset="-122"/>
              <a:cs typeface="楷体" panose="02010609060101010101" charset="-122"/>
            </a:endParaRPr>
          </a:p>
        </p:txBody>
      </p:sp>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7" name="矩形 6"/>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cs typeface="楷体" panose="02010609060101010101" charset="-122"/>
            </a:endParaRPr>
          </a:p>
        </p:txBody>
      </p:sp>
      <p:pic>
        <p:nvPicPr>
          <p:cNvPr id="8" name="图片 7"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1" name="文本框 10"/>
          <p:cNvSpPr txBox="1"/>
          <p:nvPr userDrawn="1"/>
        </p:nvSpPr>
        <p:spPr>
          <a:xfrm>
            <a:off x="5644594" y="6453345"/>
            <a:ext cx="894080" cy="306705"/>
          </a:xfrm>
          <a:prstGeom prst="rect">
            <a:avLst/>
          </a:prstGeom>
          <a:noFill/>
        </p:spPr>
        <p:txBody>
          <a:bodyPr wrap="none" rtlCol="0">
            <a:spAutoFit/>
          </a:bodyPr>
          <a:lstStyle/>
          <a:p>
            <a:r>
              <a:rPr kumimoji="1" lang="zh-CN" altLang="en-US" sz="1400" b="0" i="0" dirty="0">
                <a:solidFill>
                  <a:schemeClr val="bg1"/>
                </a:solidFill>
                <a:latin typeface="楷体" panose="02010609060101010101" charset="-122"/>
                <a:ea typeface="楷体" panose="02010609060101010101" charset="-122"/>
                <a:cs typeface="楷体" panose="02010609060101010101" charset="-122"/>
              </a:rPr>
              <a:t>陆羽老师</a:t>
            </a:r>
            <a:endParaRPr kumimoji="1" lang="zh-CN" altLang="en-US" sz="1400" b="0" i="0" dirty="0">
              <a:solidFill>
                <a:schemeClr val="bg1"/>
              </a:solidFill>
              <a:latin typeface="楷体" panose="02010609060101010101" charset="-122"/>
              <a:ea typeface="楷体" panose="02010609060101010101" charset="-122"/>
              <a:cs typeface="楷体" panose="02010609060101010101" charset="-122"/>
            </a:endParaRPr>
          </a:p>
        </p:txBody>
      </p:sp>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6" name="矩形 5"/>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cs typeface="楷体" panose="02010609060101010101" charset="-122"/>
            </a:endParaRPr>
          </a:p>
        </p:txBody>
      </p:sp>
      <p:pic>
        <p:nvPicPr>
          <p:cNvPr id="7" name="图片 6"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8" name="文本框 7"/>
          <p:cNvSpPr txBox="1"/>
          <p:nvPr userDrawn="1"/>
        </p:nvSpPr>
        <p:spPr>
          <a:xfrm>
            <a:off x="5644594" y="6453345"/>
            <a:ext cx="894080" cy="306705"/>
          </a:xfrm>
          <a:prstGeom prst="rect">
            <a:avLst/>
          </a:prstGeom>
          <a:noFill/>
        </p:spPr>
        <p:txBody>
          <a:bodyPr wrap="none" rtlCol="0">
            <a:spAutoFit/>
          </a:bodyPr>
          <a:lstStyle/>
          <a:p>
            <a:r>
              <a:rPr kumimoji="1" lang="zh-CN" altLang="en-US" sz="1400" b="0" i="0" dirty="0">
                <a:solidFill>
                  <a:schemeClr val="bg1"/>
                </a:solidFill>
                <a:latin typeface="楷体" panose="02010609060101010101" charset="-122"/>
                <a:ea typeface="楷体" panose="02010609060101010101" charset="-122"/>
                <a:cs typeface="楷体" panose="02010609060101010101" charset="-122"/>
              </a:rPr>
              <a:t>陆羽老师</a:t>
            </a:r>
            <a:endParaRPr kumimoji="1" lang="zh-CN" altLang="en-US" sz="1400" b="0" i="0" dirty="0">
              <a:solidFill>
                <a:schemeClr val="bg1"/>
              </a:solidFill>
              <a:latin typeface="楷体" panose="02010609060101010101" charset="-122"/>
              <a:ea typeface="楷体" panose="02010609060101010101" charset="-122"/>
              <a:cs typeface="楷体" panose="02010609060101010101" charset="-122"/>
            </a:endParaRPr>
          </a:p>
        </p:txBody>
      </p:sp>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标题幻灯片">
    <p:bg>
      <p:bgPr>
        <a:blipFill rotWithShape="1">
          <a:blip r:embed="rId2"/>
          <a:stretch>
            <a:fillRect/>
          </a:stretch>
        </a:blipFill>
        <a:effectLst/>
      </p:bgPr>
    </p:bg>
    <p:spTree>
      <p:nvGrpSpPr>
        <p:cNvPr id="1" name=""/>
        <p:cNvGrpSpPr/>
        <p:nvPr/>
      </p:nvGrpSpPr>
      <p:grpSpPr>
        <a:xfrm>
          <a:off x="0" y="0"/>
          <a:ext cx="0" cy="0"/>
          <a:chOff x="0" y="0"/>
          <a:chExt cx="0" cy="0"/>
        </a:xfrm>
      </p:grpSpPr>
      <p:sp>
        <p:nvSpPr>
          <p:cNvPr id="10" name="文本框 9"/>
          <p:cNvSpPr txBox="1"/>
          <p:nvPr userDrawn="1"/>
        </p:nvSpPr>
        <p:spPr>
          <a:xfrm>
            <a:off x="545123" y="-1028700"/>
            <a:ext cx="184731" cy="369332"/>
          </a:xfrm>
          <a:prstGeom prst="rect">
            <a:avLst/>
          </a:prstGeom>
          <a:noFill/>
        </p:spPr>
        <p:txBody>
          <a:bodyPr wrap="none" rtlCol="0">
            <a:spAutoFit/>
          </a:bodyPr>
          <a:lstStyle/>
          <a:p>
            <a:endParaRPr kumimoji="1" lang="zh-CN" altLang="en-US" dirty="0">
              <a:cs typeface="楷体" panose="02010609060101010101" charset="-122"/>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7" Type="http://schemas.openxmlformats.org/officeDocument/2006/relationships/tags" Target="../tags/tag3.xml"/><Relationship Id="rId6" Type="http://schemas.openxmlformats.org/officeDocument/2006/relationships/tags" Target="../tags/tag2.xml"/><Relationship Id="rId5" Type="http://schemas.openxmlformats.org/officeDocument/2006/relationships/tags" Target="../tags/tag1.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custDataLst>
              <p:tags r:id="rId5"/>
            </p:custDataLst>
          </p:nvPr>
        </p:nvSpPr>
        <p:spPr>
          <a:xfrm>
            <a:off x="608400" y="608400"/>
            <a:ext cx="10969200" cy="705600"/>
          </a:xfrm>
          <a:prstGeom prst="rect">
            <a:avLst/>
          </a:prstGeom>
        </p:spPr>
        <p:txBody>
          <a:bodyPr vert="horz" lIns="90170" tIns="46990" rIns="90170" bIns="46990" rtlCol="0" anchor="ctr" anchorCtr="0">
            <a:normAutofit/>
          </a:bodyPr>
          <a:lstStyle/>
          <a:p>
            <a:r>
              <a:rPr lang="zh-CN" altLang="en-US" dirty="0"/>
              <a:t>单击此处编辑母版标题样式</a:t>
            </a:r>
            <a:endParaRPr lang="zh-CN" altLang="en-US" dirty="0"/>
          </a:p>
        </p:txBody>
      </p:sp>
      <p:sp>
        <p:nvSpPr>
          <p:cNvPr id="3" name="文本占位符 2"/>
          <p:cNvSpPr>
            <a:spLocks noGrp="1"/>
          </p:cNvSpPr>
          <p:nvPr>
            <p:ph type="body" idx="1"/>
            <p:custDataLst>
              <p:tags r:id="rId6"/>
            </p:custDataLst>
          </p:nvPr>
        </p:nvSpPr>
        <p:spPr>
          <a:xfrm>
            <a:off x="608400" y="1490400"/>
            <a:ext cx="10969200" cy="4759200"/>
          </a:xfrm>
          <a:prstGeom prst="rect">
            <a:avLst/>
          </a:prstGeom>
        </p:spPr>
        <p:txBody>
          <a:bodyPr vert="horz" lIns="90000" tIns="46800" rIns="90000" bIns="46800" rtlCol="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Tree>
    <p:custDataLst>
      <p:tags r:id="rId7"/>
    </p:custData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txStyles>
    <p:titleStyle>
      <a:lvl1pPr algn="l" defTabSz="914400" rtl="0" eaLnBrk="1" fontAlgn="auto" latinLnBrk="0" hangingPunct="1">
        <a:lnSpc>
          <a:spcPct val="100000"/>
        </a:lnSpc>
        <a:spcBef>
          <a:spcPct val="0"/>
        </a:spcBef>
        <a:buNone/>
        <a:defRPr sz="3600" b="0" u="none" strike="noStrike" kern="1200" cap="none" spc="300" normalizeH="0" baseline="0">
          <a:solidFill>
            <a:schemeClr val="tx1">
              <a:lumMod val="85000"/>
              <a:lumOff val="15000"/>
            </a:schemeClr>
          </a:solidFill>
          <a:uFillTx/>
          <a:latin typeface="楷体" panose="02010609060101010101" charset="-122"/>
          <a:ea typeface="楷体" panose="02010609060101010101" charset="-122"/>
          <a:cs typeface="楷体" panose="02010609060101010101" charset="-122"/>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800" u="none" strike="noStrike" kern="1200" cap="none" spc="150" normalizeH="0" baseline="0">
          <a:solidFill>
            <a:schemeClr val="tx1">
              <a:lumMod val="65000"/>
              <a:lumOff val="35000"/>
            </a:schemeClr>
          </a:solidFill>
          <a:uFillTx/>
          <a:latin typeface="楷体" panose="02010609060101010101" charset="-122"/>
          <a:ea typeface="楷体" panose="02010609060101010101" charset="-122"/>
          <a:cs typeface="楷体" panose="02010609060101010101" charset="-122"/>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楷体" panose="02010609060101010101" charset="-122"/>
          <a:ea typeface="楷体" panose="02010609060101010101" charset="-122"/>
          <a:cs typeface="楷体" panose="02010609060101010101" charset="-122"/>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楷体" panose="02010609060101010101" charset="-122"/>
          <a:ea typeface="楷体" panose="02010609060101010101" charset="-122"/>
          <a:cs typeface="楷体" panose="02010609060101010101" charset="-122"/>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楷体" panose="02010609060101010101" charset="-122"/>
          <a:ea typeface="楷体" panose="02010609060101010101" charset="-122"/>
          <a:cs typeface="楷体" panose="02010609060101010101" charset="-122"/>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楷体" panose="02010609060101010101" charset="-122"/>
          <a:ea typeface="楷体" panose="02010609060101010101" charset="-122"/>
          <a:cs typeface="楷体" panose="02010609060101010101" charset="-122"/>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4.xml"/><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4" Type="http://schemas.openxmlformats.org/officeDocument/2006/relationships/notesSlide" Target="../notesSlides/notesSlide8.xml"/><Relationship Id="rId3" Type="http://schemas.openxmlformats.org/officeDocument/2006/relationships/slideLayout" Target="../slideLayouts/slideLayout2.xml"/><Relationship Id="rId2" Type="http://schemas.openxmlformats.org/officeDocument/2006/relationships/image" Target="../media/image4.png"/><Relationship Id="rId1" Type="http://schemas.openxmlformats.org/officeDocument/2006/relationships/image" Target="../media/image3.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2.xml"/><Relationship Id="rId1" Type="http://schemas.openxmlformats.org/officeDocument/2006/relationships/image" Target="../media/image5.png"/></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23.xml"/><Relationship Id="rId2" Type="http://schemas.openxmlformats.org/officeDocument/2006/relationships/slideLayout" Target="../slideLayouts/slideLayout2.xml"/><Relationship Id="rId1" Type="http://schemas.openxmlformats.org/officeDocument/2006/relationships/image" Target="../media/image6.png"/></Relationships>
</file>

<file path=ppt/slides/_rels/slide24.xml.rels><?xml version="1.0" encoding="UTF-8" standalone="yes"?>
<Relationships xmlns="http://schemas.openxmlformats.org/package/2006/relationships"><Relationship Id="rId3" Type="http://schemas.openxmlformats.org/officeDocument/2006/relationships/notesSlide" Target="../notesSlides/notesSlide24.xml"/><Relationship Id="rId2" Type="http://schemas.openxmlformats.org/officeDocument/2006/relationships/slideLayout" Target="../slideLayouts/slideLayout2.xml"/><Relationship Id="rId1" Type="http://schemas.openxmlformats.org/officeDocument/2006/relationships/image" Target="../media/image7.png"/></Relationships>
</file>

<file path=ppt/slides/_rels/slide25.xml.rels><?xml version="1.0" encoding="UTF-8" standalone="yes"?>
<Relationships xmlns="http://schemas.openxmlformats.org/package/2006/relationships"><Relationship Id="rId3" Type="http://schemas.openxmlformats.org/officeDocument/2006/relationships/notesSlide" Target="../notesSlides/notesSlide25.xml"/><Relationship Id="rId2" Type="http://schemas.openxmlformats.org/officeDocument/2006/relationships/slideLayout" Target="../slideLayouts/slideLayout2.xml"/><Relationship Id="rId1" Type="http://schemas.openxmlformats.org/officeDocument/2006/relationships/image" Target="../media/image8.png"/></Relationships>
</file>

<file path=ppt/slides/_rels/slide26.xml.rels><?xml version="1.0" encoding="UTF-8" standalone="yes"?>
<Relationships xmlns="http://schemas.openxmlformats.org/package/2006/relationships"><Relationship Id="rId3" Type="http://schemas.openxmlformats.org/officeDocument/2006/relationships/notesSlide" Target="../notesSlides/notesSlide26.xml"/><Relationship Id="rId2" Type="http://schemas.openxmlformats.org/officeDocument/2006/relationships/slideLayout" Target="../slideLayouts/slideLayout2.xml"/><Relationship Id="rId1" Type="http://schemas.openxmlformats.org/officeDocument/2006/relationships/image" Target="../media/image9.png"/></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notesSlide" Target="../notesSlides/notesSlide37.xml"/><Relationship Id="rId2" Type="http://schemas.openxmlformats.org/officeDocument/2006/relationships/slideLayout" Target="../slideLayouts/slideLayout4.xml"/><Relationship Id="rId1"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descr="徽标&#10;&#10;AI 生成的内容可能不正确。"/>
          <p:cNvPicPr>
            <a:picLocks noChangeAspect="1"/>
          </p:cNvPicPr>
          <p:nvPr/>
        </p:nvPicPr>
        <p:blipFill>
          <a:blip r:embed="rId1"/>
          <a:srcRect t="9991" b="18252"/>
          <a:stretch>
            <a:fillRect/>
          </a:stretch>
        </p:blipFill>
        <p:spPr>
          <a:xfrm>
            <a:off x="4437879" y="883627"/>
            <a:ext cx="2976453" cy="950430"/>
          </a:xfrm>
          <a:prstGeom prst="rect">
            <a:avLst/>
          </a:prstGeom>
        </p:spPr>
      </p:pic>
      <p:sp>
        <p:nvSpPr>
          <p:cNvPr id="4" name="文本框 3"/>
          <p:cNvSpPr txBox="1"/>
          <p:nvPr/>
        </p:nvSpPr>
        <p:spPr>
          <a:xfrm>
            <a:off x="2807628" y="2367459"/>
            <a:ext cx="6576647" cy="2122805"/>
          </a:xfrm>
          <a:prstGeom prst="rect">
            <a:avLst/>
          </a:prstGeom>
          <a:noFill/>
        </p:spPr>
        <p:txBody>
          <a:bodyPr wrap="square" rtlCol="0">
            <a:spAutoFit/>
          </a:bodyPr>
          <a:lstStyle/>
          <a:p>
            <a:pPr algn="ctr">
              <a:lnSpc>
                <a:spcPct val="100000"/>
              </a:lnSpc>
              <a:spcBef>
                <a:spcPts val="0"/>
              </a:spcBef>
              <a:spcAft>
                <a:spcPts val="0"/>
              </a:spcAft>
            </a:pPr>
            <a:r>
              <a:rPr kumimoji="1" lang="zh-CN" altLang="en-US" sz="4400" b="1" dirty="0">
                <a:solidFill>
                  <a:srgbClr val="DC5037"/>
                </a:solidFill>
                <a:latin typeface="楷体" panose="02010609060101010101" charset="-122"/>
                <a:ea typeface="楷体" panose="02010609060101010101" charset="-122"/>
                <a:cs typeface="楷体" panose="02010609060101010101" charset="-122"/>
              </a:rPr>
              <a:t>安徽</a:t>
            </a:r>
            <a:r>
              <a:rPr kumimoji="1" lang="en-US" altLang="zh-CN" sz="4400" b="1" dirty="0">
                <a:solidFill>
                  <a:srgbClr val="DC5037"/>
                </a:solidFill>
                <a:latin typeface="楷体" panose="02010609060101010101" charset="-122"/>
                <a:ea typeface="楷体" panose="02010609060101010101" charset="-122"/>
                <a:cs typeface="楷体" panose="02010609060101010101" charset="-122"/>
              </a:rPr>
              <a:t>2025</a:t>
            </a:r>
            <a:r>
              <a:rPr kumimoji="1" lang="zh-CN" altLang="en-US" sz="4400" b="1" dirty="0">
                <a:solidFill>
                  <a:srgbClr val="DC5037"/>
                </a:solidFill>
                <a:latin typeface="楷体" panose="02010609060101010101" charset="-122"/>
                <a:ea typeface="楷体" panose="02010609060101010101" charset="-122"/>
                <a:cs typeface="楷体" panose="02010609060101010101" charset="-122"/>
              </a:rPr>
              <a:t>年</a:t>
            </a:r>
            <a:endParaRPr kumimoji="1" lang="zh-CN" altLang="en-US" sz="4400" b="1" dirty="0">
              <a:solidFill>
                <a:srgbClr val="DC5037"/>
              </a:solidFill>
              <a:latin typeface="楷体" panose="02010609060101010101" charset="-122"/>
              <a:ea typeface="楷体" panose="02010609060101010101" charset="-122"/>
              <a:cs typeface="楷体" panose="02010609060101010101" charset="-122"/>
            </a:endParaRPr>
          </a:p>
          <a:p>
            <a:pPr algn="ctr">
              <a:lnSpc>
                <a:spcPct val="100000"/>
              </a:lnSpc>
              <a:spcBef>
                <a:spcPts val="0"/>
              </a:spcBef>
              <a:spcAft>
                <a:spcPts val="0"/>
              </a:spcAft>
            </a:pPr>
            <a:r>
              <a:rPr kumimoji="1" lang="zh-CN" altLang="en-US" sz="4400" b="1" dirty="0">
                <a:solidFill>
                  <a:srgbClr val="DC5037"/>
                </a:solidFill>
                <a:latin typeface="楷体" panose="02010609060101010101" charset="-122"/>
                <a:ea typeface="楷体" panose="02010609060101010101" charset="-122"/>
                <a:cs typeface="楷体" panose="02010609060101010101" charset="-122"/>
              </a:rPr>
              <a:t>真题解析</a:t>
            </a:r>
            <a:endParaRPr kumimoji="1" lang="zh-CN" altLang="en-US" sz="4400" b="1" dirty="0">
              <a:solidFill>
                <a:srgbClr val="DC5037"/>
              </a:solidFill>
              <a:latin typeface="楷体" panose="02010609060101010101" charset="-122"/>
              <a:ea typeface="楷体" panose="02010609060101010101" charset="-122"/>
              <a:cs typeface="楷体" panose="02010609060101010101" charset="-122"/>
            </a:endParaRPr>
          </a:p>
          <a:p>
            <a:pPr algn="ctr">
              <a:lnSpc>
                <a:spcPct val="100000"/>
              </a:lnSpc>
              <a:spcBef>
                <a:spcPts val="0"/>
              </a:spcBef>
              <a:spcAft>
                <a:spcPts val="0"/>
              </a:spcAft>
            </a:pPr>
            <a:endParaRPr kumimoji="1" lang="zh-CN" altLang="en-US" sz="4400" b="1" dirty="0">
              <a:solidFill>
                <a:srgbClr val="DC5037"/>
              </a:solidFill>
              <a:latin typeface="楷体" panose="02010609060101010101" charset="-122"/>
              <a:ea typeface="楷体" panose="02010609060101010101" charset="-122"/>
              <a:cs typeface="楷体" panose="02010609060101010101" charset="-122"/>
            </a:endParaRPr>
          </a:p>
        </p:txBody>
      </p:sp>
      <p:sp>
        <p:nvSpPr>
          <p:cNvPr id="5" name="文本框 4"/>
          <p:cNvSpPr txBox="1"/>
          <p:nvPr/>
        </p:nvSpPr>
        <p:spPr>
          <a:xfrm>
            <a:off x="4675016" y="4612428"/>
            <a:ext cx="2502877" cy="398780"/>
          </a:xfrm>
          <a:prstGeom prst="rect">
            <a:avLst/>
          </a:prstGeom>
          <a:noFill/>
        </p:spPr>
        <p:txBody>
          <a:bodyPr wrap="square" rtlCol="0">
            <a:spAutoFit/>
          </a:bodyPr>
          <a:lstStyle/>
          <a:p>
            <a:r>
              <a:rPr kumimoji="1" lang="zh-CN" altLang="en-US" sz="2000" dirty="0">
                <a:solidFill>
                  <a:srgbClr val="DC5037"/>
                </a:solidFill>
                <a:latin typeface="楷体" panose="02010609060101010101" charset="-122"/>
                <a:ea typeface="楷体" panose="02010609060101010101" charset="-122"/>
                <a:cs typeface="楷体" panose="02010609060101010101" charset="-122"/>
              </a:rPr>
              <a:t>主讲老师：陆羽老师</a:t>
            </a:r>
            <a:endParaRPr kumimoji="1" lang="zh-CN" altLang="en-US" sz="2000" dirty="0">
              <a:solidFill>
                <a:srgbClr val="DC5037"/>
              </a:solidFill>
              <a:latin typeface="楷体" panose="02010609060101010101" charset="-122"/>
              <a:ea typeface="楷体" panose="02010609060101010101" charset="-122"/>
              <a:cs typeface="楷体" panose="02010609060101010101" charset="-122"/>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idx="4294967295"/>
          </p:nvPr>
        </p:nvSpPr>
        <p:spPr>
          <a:xfrm>
            <a:off x="608400" y="208350"/>
            <a:ext cx="10969200" cy="705600"/>
          </a:xfrm>
        </p:spPr>
        <p:txBody>
          <a:bodyPr/>
          <a:lstStyle/>
          <a:p>
            <a:pPr algn="l">
              <a:buClrTx/>
              <a:buSzTx/>
              <a:buFontTx/>
            </a:pPr>
            <a:r>
              <a:rPr kumimoji="1" lang="zh-CN" sz="3735" b="1" dirty="0">
                <a:solidFill>
                  <a:srgbClr val="FF653F"/>
                </a:solidFill>
                <a:latin typeface="+mj-lt"/>
                <a:ea typeface="+mj-lt"/>
                <a:cs typeface="+mj-lt"/>
              </a:rPr>
              <a:t>题</a:t>
            </a:r>
            <a:r>
              <a:rPr kumimoji="1" lang="en-US" altLang="zh-CN" sz="3735" b="1" dirty="0">
                <a:solidFill>
                  <a:srgbClr val="FF653F"/>
                </a:solidFill>
                <a:latin typeface="+mj-lt"/>
                <a:ea typeface="+mj-lt"/>
                <a:cs typeface="+mj-lt"/>
              </a:rPr>
              <a:t>71</a:t>
            </a:r>
            <a:endParaRPr kumimoji="1" lang="en-US" altLang="zh-CN" sz="3735" b="1" dirty="0">
              <a:solidFill>
                <a:srgbClr val="FF653F"/>
              </a:solidFill>
              <a:latin typeface="+mj-lt"/>
              <a:ea typeface="+mj-lt"/>
              <a:cs typeface="+mj-lt"/>
            </a:endParaRPr>
          </a:p>
        </p:txBody>
      </p:sp>
      <p:sp>
        <p:nvSpPr>
          <p:cNvPr id="4" name="文本框 3"/>
          <p:cNvSpPr txBox="1"/>
          <p:nvPr/>
        </p:nvSpPr>
        <p:spPr>
          <a:xfrm>
            <a:off x="608330" y="913765"/>
            <a:ext cx="10968355" cy="4523105"/>
          </a:xfrm>
          <a:prstGeom prst="rect">
            <a:avLst/>
          </a:prstGeom>
          <a:noFill/>
        </p:spPr>
        <p:txBody>
          <a:bodyPr wrap="square" rtlCol="0" anchor="t">
            <a:spAutoFit/>
          </a:bodyPr>
          <a:p>
            <a:pPr indent="0" algn="l" fontAlgn="auto">
              <a:lnSpc>
                <a:spcPct val="150000"/>
              </a:lnSpc>
            </a:pPr>
            <a:r>
              <a:rPr lang="zh-CN" altLang="en-US" sz="2400" dirty="0">
                <a:latin typeface="楷体" panose="02010609060101010101" charset="-122"/>
                <a:ea typeface="楷体" panose="02010609060101010101" charset="-122"/>
                <a:cs typeface="楷体" panose="02010609060101010101" charset="-122"/>
                <a:sym typeface="楷体" panose="02010609060101010101" charset="-122"/>
              </a:rPr>
              <a:t>物质循环是指在生态系统中，各种元素物质沿着特定途径从周围环境中被生物体吸收利用，再从生物体回到周围环境的循环变化过程，即各种元素物质在生物体和非生物环境之间的往复循环运转过程。</a:t>
            </a:r>
            <a:endParaRPr lang="zh-CN" altLang="en-US" sz="24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zh-CN" altLang="en-US" sz="2400" dirty="0">
                <a:latin typeface="楷体" panose="02010609060101010101" charset="-122"/>
                <a:ea typeface="楷体" panose="02010609060101010101" charset="-122"/>
                <a:cs typeface="楷体" panose="02010609060101010101" charset="-122"/>
                <a:sym typeface="楷体" panose="02010609060101010101" charset="-122"/>
              </a:rPr>
              <a:t>下列诗句中所描写的内容最能体现物质循环的是：</a:t>
            </a:r>
            <a:endParaRPr lang="zh-CN" altLang="en-US" sz="24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400" dirty="0">
                <a:latin typeface="楷体" panose="02010609060101010101" charset="-122"/>
                <a:ea typeface="楷体" panose="02010609060101010101" charset="-122"/>
                <a:cs typeface="楷体" panose="02010609060101010101" charset="-122"/>
                <a:sym typeface="楷体" panose="02010609060101010101" charset="-122"/>
              </a:rPr>
              <a:t>A.</a:t>
            </a:r>
            <a:r>
              <a:rPr lang="zh-CN" altLang="en-US" sz="2400" dirty="0">
                <a:latin typeface="楷体" panose="02010609060101010101" charset="-122"/>
                <a:ea typeface="楷体" panose="02010609060101010101" charset="-122"/>
                <a:cs typeface="楷体" panose="02010609060101010101" charset="-122"/>
                <a:sym typeface="楷体" panose="02010609060101010101" charset="-122"/>
              </a:rPr>
              <a:t>时有落花至，远随流水香</a:t>
            </a:r>
            <a:endParaRPr lang="zh-CN" altLang="en-US" sz="24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400" dirty="0">
                <a:latin typeface="楷体" panose="02010609060101010101" charset="-122"/>
                <a:ea typeface="楷体" panose="02010609060101010101" charset="-122"/>
                <a:cs typeface="楷体" panose="02010609060101010101" charset="-122"/>
                <a:sym typeface="楷体" panose="02010609060101010101" charset="-122"/>
              </a:rPr>
              <a:t>B.</a:t>
            </a:r>
            <a:r>
              <a:rPr lang="zh-CN" altLang="en-US" sz="2400" dirty="0">
                <a:latin typeface="楷体" panose="02010609060101010101" charset="-122"/>
                <a:ea typeface="楷体" panose="02010609060101010101" charset="-122"/>
                <a:cs typeface="楷体" panose="02010609060101010101" charset="-122"/>
                <a:sym typeface="楷体" panose="02010609060101010101" charset="-122"/>
              </a:rPr>
              <a:t>莫作绕山云，循环无定期</a:t>
            </a:r>
            <a:endParaRPr lang="zh-CN" altLang="en-US" sz="24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400" dirty="0">
                <a:latin typeface="楷体" panose="02010609060101010101" charset="-122"/>
                <a:ea typeface="楷体" panose="02010609060101010101" charset="-122"/>
                <a:cs typeface="楷体" panose="02010609060101010101" charset="-122"/>
                <a:sym typeface="楷体" panose="02010609060101010101" charset="-122"/>
              </a:rPr>
              <a:t>C.</a:t>
            </a:r>
            <a:r>
              <a:rPr lang="zh-CN" altLang="en-US" sz="2400" dirty="0">
                <a:latin typeface="楷体" panose="02010609060101010101" charset="-122"/>
                <a:ea typeface="楷体" panose="02010609060101010101" charset="-122"/>
                <a:cs typeface="楷体" panose="02010609060101010101" charset="-122"/>
                <a:sym typeface="楷体" panose="02010609060101010101" charset="-122"/>
              </a:rPr>
              <a:t>黄河之水天上来，奔流到海不复回</a:t>
            </a:r>
            <a:r>
              <a:rPr lang="en-US" altLang="zh-CN" sz="2400" dirty="0">
                <a:latin typeface="楷体" panose="02010609060101010101" charset="-122"/>
                <a:ea typeface="楷体" panose="02010609060101010101" charset="-122"/>
                <a:cs typeface="楷体" panose="02010609060101010101" charset="-122"/>
                <a:sym typeface="楷体" panose="02010609060101010101" charset="-122"/>
              </a:rPr>
              <a:t> </a:t>
            </a:r>
            <a:endParaRPr lang="en-US" altLang="zh-CN" sz="24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400" dirty="0">
                <a:latin typeface="楷体" panose="02010609060101010101" charset="-122"/>
                <a:ea typeface="楷体" panose="02010609060101010101" charset="-122"/>
                <a:cs typeface="楷体" panose="02010609060101010101" charset="-122"/>
                <a:sym typeface="楷体" panose="02010609060101010101" charset="-122"/>
              </a:rPr>
              <a:t>D.</a:t>
            </a:r>
            <a:r>
              <a:rPr lang="zh-CN" altLang="en-US" sz="2400" dirty="0">
                <a:latin typeface="楷体" panose="02010609060101010101" charset="-122"/>
                <a:ea typeface="楷体" panose="02010609060101010101" charset="-122"/>
                <a:cs typeface="楷体" panose="02010609060101010101" charset="-122"/>
                <a:sym typeface="楷体" panose="02010609060101010101" charset="-122"/>
              </a:rPr>
              <a:t>落红不是无情物，化作春泥更护花</a:t>
            </a:r>
            <a:endParaRPr lang="zh-CN" altLang="en-US" sz="2400" dirty="0">
              <a:latin typeface="楷体" panose="02010609060101010101" charset="-122"/>
              <a:ea typeface="楷体" panose="02010609060101010101" charset="-122"/>
              <a:cs typeface="楷体" panose="02010609060101010101" charset="-122"/>
              <a:sym typeface="楷体" panose="02010609060101010101" charset="-122"/>
            </a:endParaRP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idx="4294967295"/>
          </p:nvPr>
        </p:nvSpPr>
        <p:spPr>
          <a:xfrm>
            <a:off x="608400" y="208350"/>
            <a:ext cx="10969200" cy="705600"/>
          </a:xfrm>
        </p:spPr>
        <p:txBody>
          <a:bodyPr/>
          <a:lstStyle/>
          <a:p>
            <a:pPr algn="l">
              <a:buClrTx/>
              <a:buSzTx/>
              <a:buFontTx/>
            </a:pPr>
            <a:r>
              <a:rPr kumimoji="1" lang="zh-CN" sz="3735" b="1" dirty="0">
                <a:solidFill>
                  <a:srgbClr val="FF653F"/>
                </a:solidFill>
                <a:latin typeface="+mj-lt"/>
                <a:ea typeface="+mj-lt"/>
                <a:cs typeface="+mj-lt"/>
              </a:rPr>
              <a:t>题</a:t>
            </a:r>
            <a:r>
              <a:rPr kumimoji="1" lang="en-US" altLang="zh-CN" sz="3735" b="1" dirty="0">
                <a:solidFill>
                  <a:srgbClr val="FF653F"/>
                </a:solidFill>
                <a:latin typeface="+mj-lt"/>
                <a:ea typeface="+mj-lt"/>
                <a:cs typeface="+mj-lt"/>
              </a:rPr>
              <a:t>72</a:t>
            </a:r>
            <a:endParaRPr kumimoji="1" lang="en-US" altLang="zh-CN" sz="3735" b="1" dirty="0">
              <a:solidFill>
                <a:srgbClr val="FF653F"/>
              </a:solidFill>
              <a:latin typeface="+mj-lt"/>
              <a:ea typeface="+mj-lt"/>
              <a:cs typeface="+mj-lt"/>
            </a:endParaRPr>
          </a:p>
        </p:txBody>
      </p:sp>
      <p:sp>
        <p:nvSpPr>
          <p:cNvPr id="4" name="文本框 3"/>
          <p:cNvSpPr txBox="1"/>
          <p:nvPr/>
        </p:nvSpPr>
        <p:spPr>
          <a:xfrm>
            <a:off x="608330" y="913765"/>
            <a:ext cx="10968355" cy="5169535"/>
          </a:xfrm>
          <a:prstGeom prst="rect">
            <a:avLst/>
          </a:prstGeom>
          <a:noFill/>
        </p:spPr>
        <p:txBody>
          <a:bodyPr wrap="square" rtlCol="0" anchor="t">
            <a:spAutoFit/>
          </a:bodyPr>
          <a:p>
            <a:pPr indent="0" algn="l" fontAlgn="auto">
              <a:lnSpc>
                <a:spcPct val="150000"/>
              </a:lnSpc>
            </a:pPr>
            <a:r>
              <a:rPr lang="zh-CN" altLang="en-US" sz="2200" dirty="0">
                <a:latin typeface="楷体" panose="02010609060101010101" charset="-122"/>
                <a:ea typeface="楷体" panose="02010609060101010101" charset="-122"/>
                <a:cs typeface="楷体" panose="02010609060101010101" charset="-122"/>
                <a:sym typeface="楷体" panose="02010609060101010101" charset="-122"/>
              </a:rPr>
              <a:t>马氏体相变是一种晶体结构变化。由于外界物理作用，比如温度、外力或者磁场的变化，一些材料的晶体结构会失去稳定性，原子发生短距离的移动，导致结构畸变。这种非原子扩散型的结构变化被称为马氏体相变。马氏体相变的一个重要特性是形状记忆效应，即基于两种结构相互转变和变体滑移，材料外形发生明显变化并能恢复原态。</a:t>
            </a:r>
            <a:endParaRPr lang="zh-CN" altLang="en-US" sz="22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zh-CN" altLang="en-US" sz="2200" dirty="0">
                <a:latin typeface="楷体" panose="02010609060101010101" charset="-122"/>
                <a:ea typeface="楷体" panose="02010609060101010101" charset="-122"/>
                <a:cs typeface="楷体" panose="02010609060101010101" charset="-122"/>
                <a:sym typeface="楷体" panose="02010609060101010101" charset="-122"/>
              </a:rPr>
              <a:t>根据上述定义，下列未体现马氏体相变的是：</a:t>
            </a:r>
            <a:endParaRPr lang="zh-CN" altLang="en-US" sz="22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200" dirty="0">
                <a:latin typeface="楷体" panose="02010609060101010101" charset="-122"/>
                <a:ea typeface="楷体" panose="02010609060101010101" charset="-122"/>
                <a:cs typeface="楷体" panose="02010609060101010101" charset="-122"/>
                <a:sym typeface="楷体" panose="02010609060101010101" charset="-122"/>
              </a:rPr>
              <a:t>A.</a:t>
            </a:r>
            <a:r>
              <a:rPr lang="zh-CN" altLang="en-US" sz="2200" dirty="0">
                <a:latin typeface="楷体" panose="02010609060101010101" charset="-122"/>
                <a:ea typeface="楷体" panose="02010609060101010101" charset="-122"/>
                <a:cs typeface="楷体" panose="02010609060101010101" charset="-122"/>
                <a:sym typeface="楷体" panose="02010609060101010101" charset="-122"/>
              </a:rPr>
              <a:t>将形状扭曲的别针放到热水里，别针立刻就能恢复原状</a:t>
            </a:r>
            <a:endParaRPr lang="zh-CN" altLang="en-US" sz="22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200" dirty="0">
                <a:latin typeface="楷体" panose="02010609060101010101" charset="-122"/>
                <a:ea typeface="楷体" panose="02010609060101010101" charset="-122"/>
                <a:cs typeface="楷体" panose="02010609060101010101" charset="-122"/>
                <a:sym typeface="楷体" panose="02010609060101010101" charset="-122"/>
              </a:rPr>
              <a:t>B.</a:t>
            </a:r>
            <a:r>
              <a:rPr lang="zh-CN" altLang="en-US" sz="2200" dirty="0">
                <a:latin typeface="楷体" panose="02010609060101010101" charset="-122"/>
                <a:ea typeface="楷体" panose="02010609060101010101" charset="-122"/>
                <a:cs typeface="楷体" panose="02010609060101010101" charset="-122"/>
                <a:sym typeface="楷体" panose="02010609060101010101" charset="-122"/>
              </a:rPr>
              <a:t>起扩张血管作用的心脏支架用在外周血管时，因为挤压而变形</a:t>
            </a:r>
            <a:endParaRPr lang="zh-CN" altLang="en-US" sz="22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200" dirty="0">
                <a:latin typeface="楷体" panose="02010609060101010101" charset="-122"/>
                <a:ea typeface="楷体" panose="02010609060101010101" charset="-122"/>
                <a:cs typeface="楷体" panose="02010609060101010101" charset="-122"/>
                <a:sym typeface="楷体" panose="02010609060101010101" charset="-122"/>
              </a:rPr>
              <a:t>C.</a:t>
            </a:r>
            <a:r>
              <a:rPr lang="zh-CN" altLang="en-US" sz="2200" dirty="0">
                <a:latin typeface="楷体" panose="02010609060101010101" charset="-122"/>
                <a:ea typeface="楷体" panose="02010609060101010101" charset="-122"/>
                <a:cs typeface="楷体" panose="02010609060101010101" charset="-122"/>
                <a:sym typeface="楷体" panose="02010609060101010101" charset="-122"/>
              </a:rPr>
              <a:t>通过电流加热控制合金网状结构变化，制造了能模仿蠕虫前进的机器人</a:t>
            </a:r>
            <a:endParaRPr lang="zh-CN" altLang="en-US" sz="22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200" dirty="0">
                <a:latin typeface="楷体" panose="02010609060101010101" charset="-122"/>
                <a:ea typeface="楷体" panose="02010609060101010101" charset="-122"/>
                <a:cs typeface="楷体" panose="02010609060101010101" charset="-122"/>
                <a:sym typeface="楷体" panose="02010609060101010101" charset="-122"/>
              </a:rPr>
              <a:t>D.</a:t>
            </a:r>
            <a:r>
              <a:rPr lang="zh-CN" altLang="en-US" sz="2200" dirty="0">
                <a:latin typeface="楷体" panose="02010609060101010101" charset="-122"/>
                <a:ea typeface="楷体" panose="02010609060101010101" charset="-122"/>
                <a:cs typeface="楷体" panose="02010609060101010101" charset="-122"/>
                <a:sym typeface="楷体" panose="02010609060101010101" charset="-122"/>
              </a:rPr>
              <a:t>采用镍钛弓丝的牙齿矫形器受口腔温度影响，可产生形状恢复力，为牙齿矫形提供所需</a:t>
            </a:r>
            <a:endParaRPr lang="zh-CN" altLang="en-US" sz="2200" dirty="0">
              <a:latin typeface="楷体" panose="02010609060101010101" charset="-122"/>
              <a:ea typeface="楷体" panose="02010609060101010101" charset="-122"/>
              <a:cs typeface="楷体" panose="02010609060101010101" charset="-122"/>
              <a:sym typeface="楷体" panose="02010609060101010101" charset="-122"/>
            </a:endParaRP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idx="4294967295"/>
          </p:nvPr>
        </p:nvSpPr>
        <p:spPr>
          <a:xfrm>
            <a:off x="608400" y="208350"/>
            <a:ext cx="10969200" cy="705600"/>
          </a:xfrm>
        </p:spPr>
        <p:txBody>
          <a:bodyPr/>
          <a:lstStyle/>
          <a:p>
            <a:pPr algn="l">
              <a:buClrTx/>
              <a:buSzTx/>
              <a:buFontTx/>
            </a:pPr>
            <a:r>
              <a:rPr kumimoji="1" lang="zh-CN" sz="3735" b="1" dirty="0">
                <a:solidFill>
                  <a:srgbClr val="FF653F"/>
                </a:solidFill>
                <a:latin typeface="+mj-lt"/>
                <a:ea typeface="+mj-lt"/>
                <a:cs typeface="+mj-lt"/>
              </a:rPr>
              <a:t>题</a:t>
            </a:r>
            <a:r>
              <a:rPr kumimoji="1" lang="en-US" altLang="zh-CN" sz="3735" b="1" dirty="0">
                <a:solidFill>
                  <a:srgbClr val="FF653F"/>
                </a:solidFill>
                <a:latin typeface="+mj-lt"/>
                <a:ea typeface="+mj-lt"/>
                <a:cs typeface="+mj-lt"/>
              </a:rPr>
              <a:t>73</a:t>
            </a:r>
            <a:endParaRPr kumimoji="1" lang="en-US" altLang="zh-CN" sz="3735" b="1" dirty="0">
              <a:solidFill>
                <a:srgbClr val="FF653F"/>
              </a:solidFill>
              <a:latin typeface="+mj-lt"/>
              <a:ea typeface="+mj-lt"/>
              <a:cs typeface="+mj-lt"/>
            </a:endParaRPr>
          </a:p>
        </p:txBody>
      </p:sp>
      <p:sp>
        <p:nvSpPr>
          <p:cNvPr id="4" name="文本框 3"/>
          <p:cNvSpPr txBox="1"/>
          <p:nvPr/>
        </p:nvSpPr>
        <p:spPr>
          <a:xfrm>
            <a:off x="608330" y="756285"/>
            <a:ext cx="10968355" cy="4523105"/>
          </a:xfrm>
          <a:prstGeom prst="rect">
            <a:avLst/>
          </a:prstGeom>
          <a:noFill/>
        </p:spPr>
        <p:txBody>
          <a:bodyPr wrap="square" rtlCol="0" anchor="t">
            <a:spAutoFit/>
          </a:bodyPr>
          <a:p>
            <a:pPr indent="0" algn="l" fontAlgn="auto">
              <a:lnSpc>
                <a:spcPct val="150000"/>
              </a:lnSpc>
            </a:pPr>
            <a:r>
              <a:rPr lang="zh-CN" altLang="en-US" sz="2400" dirty="0">
                <a:latin typeface="楷体" panose="02010609060101010101" charset="-122"/>
                <a:ea typeface="楷体" panose="02010609060101010101" charset="-122"/>
                <a:cs typeface="楷体" panose="02010609060101010101" charset="-122"/>
                <a:sym typeface="楷体" panose="02010609060101010101" charset="-122"/>
              </a:rPr>
              <a:t>在某个定义域上有加减乘除等多种二元运算（用★代表其中一种），如果在定义域内存在一个数</a:t>
            </a:r>
            <a:r>
              <a:rPr lang="en-US" altLang="zh-CN" sz="2400" dirty="0">
                <a:latin typeface="楷体" panose="02010609060101010101" charset="-122"/>
                <a:ea typeface="楷体" panose="02010609060101010101" charset="-122"/>
                <a:cs typeface="楷体" panose="02010609060101010101" charset="-122"/>
                <a:sym typeface="楷体" panose="02010609060101010101" charset="-122"/>
              </a:rPr>
              <a:t>w</a:t>
            </a:r>
            <a:r>
              <a:rPr lang="zh-CN" altLang="en-US" sz="2400" dirty="0">
                <a:latin typeface="楷体" panose="02010609060101010101" charset="-122"/>
                <a:ea typeface="楷体" panose="02010609060101010101" charset="-122"/>
                <a:cs typeface="楷体" panose="02010609060101010101" charset="-122"/>
                <a:sym typeface="楷体" panose="02010609060101010101" charset="-122"/>
              </a:rPr>
              <a:t>，对于定义域范围内的每个数</a:t>
            </a:r>
            <a:r>
              <a:rPr lang="en-US" altLang="zh-CN" sz="2400" dirty="0">
                <a:latin typeface="楷体" panose="02010609060101010101" charset="-122"/>
                <a:ea typeface="楷体" panose="02010609060101010101" charset="-122"/>
                <a:cs typeface="楷体" panose="02010609060101010101" charset="-122"/>
                <a:sym typeface="楷体" panose="02010609060101010101" charset="-122"/>
              </a:rPr>
              <a:t>m</a:t>
            </a:r>
            <a:r>
              <a:rPr lang="zh-CN" altLang="en-US" sz="2400" dirty="0">
                <a:latin typeface="楷体" panose="02010609060101010101" charset="-122"/>
                <a:ea typeface="楷体" panose="02010609060101010101" charset="-122"/>
                <a:cs typeface="楷体" panose="02010609060101010101" charset="-122"/>
                <a:sym typeface="楷体" panose="02010609060101010101" charset="-122"/>
              </a:rPr>
              <a:t>（包括</a:t>
            </a:r>
            <a:r>
              <a:rPr lang="en-US" altLang="zh-CN" sz="2400" dirty="0">
                <a:latin typeface="楷体" panose="02010609060101010101" charset="-122"/>
                <a:ea typeface="楷体" panose="02010609060101010101" charset="-122"/>
                <a:cs typeface="楷体" panose="02010609060101010101" charset="-122"/>
                <a:sym typeface="楷体" panose="02010609060101010101" charset="-122"/>
              </a:rPr>
              <a:t>w</a:t>
            </a:r>
            <a:r>
              <a:rPr lang="zh-CN" altLang="en-US" sz="2400" dirty="0">
                <a:latin typeface="楷体" panose="02010609060101010101" charset="-122"/>
                <a:ea typeface="楷体" panose="02010609060101010101" charset="-122"/>
                <a:cs typeface="楷体" panose="02010609060101010101" charset="-122"/>
                <a:sym typeface="楷体" panose="02010609060101010101" charset="-122"/>
              </a:rPr>
              <a:t>），都有</a:t>
            </a:r>
            <a:r>
              <a:rPr lang="en-US" altLang="zh-CN" sz="2400" dirty="0">
                <a:latin typeface="楷体" panose="02010609060101010101" charset="-122"/>
                <a:ea typeface="楷体" panose="02010609060101010101" charset="-122"/>
                <a:cs typeface="楷体" panose="02010609060101010101" charset="-122"/>
                <a:sym typeface="楷体" panose="02010609060101010101" charset="-122"/>
              </a:rPr>
              <a:t>w</a:t>
            </a:r>
            <a:r>
              <a:rPr lang="zh-CN" altLang="en-US" sz="2400" dirty="0">
                <a:latin typeface="楷体" panose="02010609060101010101" charset="-122"/>
                <a:ea typeface="楷体" panose="02010609060101010101" charset="-122"/>
                <a:cs typeface="楷体" panose="02010609060101010101" charset="-122"/>
                <a:sym typeface="楷体" panose="02010609060101010101" charset="-122"/>
              </a:rPr>
              <a:t>★</a:t>
            </a:r>
            <a:r>
              <a:rPr lang="en-US" altLang="zh-CN" sz="2400" dirty="0">
                <a:latin typeface="楷体" panose="02010609060101010101" charset="-122"/>
                <a:ea typeface="楷体" panose="02010609060101010101" charset="-122"/>
                <a:cs typeface="楷体" panose="02010609060101010101" charset="-122"/>
                <a:sym typeface="楷体" panose="02010609060101010101" charset="-122"/>
              </a:rPr>
              <a:t>m=m</a:t>
            </a:r>
            <a:r>
              <a:rPr lang="zh-CN" altLang="en-US" sz="2400" dirty="0">
                <a:latin typeface="楷体" panose="02010609060101010101" charset="-122"/>
                <a:ea typeface="楷体" panose="02010609060101010101" charset="-122"/>
                <a:cs typeface="楷体" panose="02010609060101010101" charset="-122"/>
                <a:sym typeface="楷体" panose="02010609060101010101" charset="-122"/>
              </a:rPr>
              <a:t>，则称</a:t>
            </a:r>
            <a:r>
              <a:rPr lang="en-US" altLang="zh-CN" sz="2400" dirty="0">
                <a:latin typeface="楷体" panose="02010609060101010101" charset="-122"/>
                <a:ea typeface="楷体" panose="02010609060101010101" charset="-122"/>
                <a:cs typeface="楷体" panose="02010609060101010101" charset="-122"/>
                <a:sym typeface="楷体" panose="02010609060101010101" charset="-122"/>
              </a:rPr>
              <a:t>w</a:t>
            </a:r>
            <a:r>
              <a:rPr lang="zh-CN" altLang="en-US" sz="2400" dirty="0">
                <a:latin typeface="楷体" panose="02010609060101010101" charset="-122"/>
                <a:ea typeface="楷体" panose="02010609060101010101" charset="-122"/>
                <a:cs typeface="楷体" panose="02010609060101010101" charset="-122"/>
                <a:sym typeface="楷体" panose="02010609060101010101" charset="-122"/>
              </a:rPr>
              <a:t>为该种二元运算上的左幺元。</a:t>
            </a:r>
            <a:endParaRPr lang="zh-CN" altLang="en-US" sz="24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zh-CN" altLang="en-US" sz="2400" dirty="0">
                <a:latin typeface="楷体" panose="02010609060101010101" charset="-122"/>
                <a:ea typeface="楷体" panose="02010609060101010101" charset="-122"/>
                <a:cs typeface="楷体" panose="02010609060101010101" charset="-122"/>
                <a:sym typeface="楷体" panose="02010609060101010101" charset="-122"/>
              </a:rPr>
              <a:t>以下关于左幺元的叙述正确的是：</a:t>
            </a:r>
            <a:endParaRPr lang="zh-CN" altLang="en-US" sz="24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400" dirty="0">
                <a:latin typeface="楷体" panose="02010609060101010101" charset="-122"/>
                <a:ea typeface="楷体" panose="02010609060101010101" charset="-122"/>
                <a:cs typeface="楷体" panose="02010609060101010101" charset="-122"/>
                <a:sym typeface="楷体" panose="02010609060101010101" charset="-122"/>
              </a:rPr>
              <a:t>A.</a:t>
            </a:r>
            <a:r>
              <a:rPr lang="zh-CN" altLang="en-US" sz="2400" dirty="0">
                <a:latin typeface="楷体" panose="02010609060101010101" charset="-122"/>
                <a:ea typeface="楷体" panose="02010609060101010101" charset="-122"/>
                <a:cs typeface="楷体" panose="02010609060101010101" charset="-122"/>
                <a:sym typeface="楷体" panose="02010609060101010101" charset="-122"/>
              </a:rPr>
              <a:t>在整数范围内的乘法运算中，</a:t>
            </a:r>
            <a:r>
              <a:rPr lang="en-US" altLang="zh-CN" sz="2400" dirty="0">
                <a:latin typeface="楷体" panose="02010609060101010101" charset="-122"/>
                <a:ea typeface="楷体" panose="02010609060101010101" charset="-122"/>
                <a:cs typeface="楷体" panose="02010609060101010101" charset="-122"/>
                <a:sym typeface="楷体" panose="02010609060101010101" charset="-122"/>
              </a:rPr>
              <a:t>1</a:t>
            </a:r>
            <a:r>
              <a:rPr lang="zh-CN" altLang="en-US" sz="2400" dirty="0">
                <a:latin typeface="楷体" panose="02010609060101010101" charset="-122"/>
                <a:ea typeface="楷体" panose="02010609060101010101" charset="-122"/>
                <a:cs typeface="楷体" panose="02010609060101010101" charset="-122"/>
                <a:sym typeface="楷体" panose="02010609060101010101" charset="-122"/>
              </a:rPr>
              <a:t>是左幺元</a:t>
            </a:r>
            <a:r>
              <a:rPr lang="en-US" altLang="zh-CN" sz="2400" dirty="0">
                <a:latin typeface="楷体" panose="02010609060101010101" charset="-122"/>
                <a:ea typeface="楷体" panose="02010609060101010101" charset="-122"/>
                <a:cs typeface="楷体" panose="02010609060101010101" charset="-122"/>
                <a:sym typeface="楷体" panose="02010609060101010101" charset="-122"/>
              </a:rPr>
              <a:t> </a:t>
            </a:r>
            <a:endParaRPr lang="en-US" altLang="zh-CN" sz="24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400" dirty="0">
                <a:latin typeface="楷体" panose="02010609060101010101" charset="-122"/>
                <a:ea typeface="楷体" panose="02010609060101010101" charset="-122"/>
                <a:cs typeface="楷体" panose="02010609060101010101" charset="-122"/>
                <a:sym typeface="楷体" panose="02010609060101010101" charset="-122"/>
              </a:rPr>
              <a:t>B.</a:t>
            </a:r>
            <a:r>
              <a:rPr lang="zh-CN" altLang="en-US" sz="2400" dirty="0">
                <a:latin typeface="楷体" panose="02010609060101010101" charset="-122"/>
                <a:ea typeface="楷体" panose="02010609060101010101" charset="-122"/>
                <a:cs typeface="楷体" panose="02010609060101010101" charset="-122"/>
                <a:sym typeface="楷体" panose="02010609060101010101" charset="-122"/>
              </a:rPr>
              <a:t>在整数范围内的加法运算中，</a:t>
            </a:r>
            <a:r>
              <a:rPr lang="en-US" altLang="zh-CN" sz="2400" dirty="0">
                <a:latin typeface="楷体" panose="02010609060101010101" charset="-122"/>
                <a:ea typeface="楷体" panose="02010609060101010101" charset="-122"/>
                <a:cs typeface="楷体" panose="02010609060101010101" charset="-122"/>
                <a:sym typeface="楷体" panose="02010609060101010101" charset="-122"/>
              </a:rPr>
              <a:t>1</a:t>
            </a:r>
            <a:r>
              <a:rPr lang="zh-CN" altLang="en-US" sz="2400" dirty="0">
                <a:latin typeface="楷体" panose="02010609060101010101" charset="-122"/>
                <a:ea typeface="楷体" panose="02010609060101010101" charset="-122"/>
                <a:cs typeface="楷体" panose="02010609060101010101" charset="-122"/>
                <a:sym typeface="楷体" panose="02010609060101010101" charset="-122"/>
              </a:rPr>
              <a:t>是左幺元</a:t>
            </a:r>
            <a:endParaRPr lang="zh-CN" altLang="en-US" sz="24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400" dirty="0">
                <a:latin typeface="楷体" panose="02010609060101010101" charset="-122"/>
                <a:ea typeface="楷体" panose="02010609060101010101" charset="-122"/>
                <a:cs typeface="楷体" panose="02010609060101010101" charset="-122"/>
                <a:sym typeface="楷体" panose="02010609060101010101" charset="-122"/>
              </a:rPr>
              <a:t>C.</a:t>
            </a:r>
            <a:r>
              <a:rPr lang="zh-CN" altLang="en-US" sz="2400" dirty="0">
                <a:latin typeface="楷体" panose="02010609060101010101" charset="-122"/>
                <a:ea typeface="楷体" panose="02010609060101010101" charset="-122"/>
                <a:cs typeface="楷体" panose="02010609060101010101" charset="-122"/>
                <a:sym typeface="楷体" panose="02010609060101010101" charset="-122"/>
              </a:rPr>
              <a:t>在整数范围内的减法运算中，</a:t>
            </a:r>
            <a:r>
              <a:rPr lang="en-US" altLang="zh-CN" sz="2400" dirty="0">
                <a:latin typeface="楷体" panose="02010609060101010101" charset="-122"/>
                <a:ea typeface="楷体" panose="02010609060101010101" charset="-122"/>
                <a:cs typeface="楷体" panose="02010609060101010101" charset="-122"/>
                <a:sym typeface="楷体" panose="02010609060101010101" charset="-122"/>
              </a:rPr>
              <a:t>0</a:t>
            </a:r>
            <a:r>
              <a:rPr lang="zh-CN" altLang="en-US" sz="2400" dirty="0">
                <a:latin typeface="楷体" panose="02010609060101010101" charset="-122"/>
                <a:ea typeface="楷体" panose="02010609060101010101" charset="-122"/>
                <a:cs typeface="楷体" panose="02010609060101010101" charset="-122"/>
                <a:sym typeface="楷体" panose="02010609060101010101" charset="-122"/>
              </a:rPr>
              <a:t>是左幺元</a:t>
            </a:r>
            <a:r>
              <a:rPr lang="en-US" altLang="zh-CN" sz="2400" dirty="0">
                <a:latin typeface="楷体" panose="02010609060101010101" charset="-122"/>
                <a:ea typeface="楷体" panose="02010609060101010101" charset="-122"/>
                <a:cs typeface="楷体" panose="02010609060101010101" charset="-122"/>
                <a:sym typeface="楷体" panose="02010609060101010101" charset="-122"/>
              </a:rPr>
              <a:t> </a:t>
            </a:r>
            <a:endParaRPr lang="en-US" altLang="zh-CN" sz="24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400" dirty="0">
                <a:latin typeface="楷体" panose="02010609060101010101" charset="-122"/>
                <a:ea typeface="楷体" panose="02010609060101010101" charset="-122"/>
                <a:cs typeface="楷体" panose="02010609060101010101" charset="-122"/>
                <a:sym typeface="楷体" panose="02010609060101010101" charset="-122"/>
              </a:rPr>
              <a:t>D.</a:t>
            </a:r>
            <a:r>
              <a:rPr lang="zh-CN" altLang="en-US" sz="2400" dirty="0">
                <a:latin typeface="楷体" panose="02010609060101010101" charset="-122"/>
                <a:ea typeface="楷体" panose="02010609060101010101" charset="-122"/>
                <a:cs typeface="楷体" panose="02010609060101010101" charset="-122"/>
                <a:sym typeface="楷体" panose="02010609060101010101" charset="-122"/>
              </a:rPr>
              <a:t>在整数范围内的除法运算中，</a:t>
            </a:r>
            <a:r>
              <a:rPr lang="en-US" altLang="zh-CN" sz="2400" dirty="0">
                <a:latin typeface="楷体" panose="02010609060101010101" charset="-122"/>
                <a:ea typeface="楷体" panose="02010609060101010101" charset="-122"/>
                <a:cs typeface="楷体" panose="02010609060101010101" charset="-122"/>
                <a:sym typeface="楷体" panose="02010609060101010101" charset="-122"/>
              </a:rPr>
              <a:t>0</a:t>
            </a:r>
            <a:r>
              <a:rPr lang="zh-CN" altLang="en-US" sz="2400" dirty="0">
                <a:latin typeface="楷体" panose="02010609060101010101" charset="-122"/>
                <a:ea typeface="楷体" panose="02010609060101010101" charset="-122"/>
                <a:cs typeface="楷体" panose="02010609060101010101" charset="-122"/>
                <a:sym typeface="楷体" panose="02010609060101010101" charset="-122"/>
              </a:rPr>
              <a:t>是左幺元</a:t>
            </a:r>
            <a:endParaRPr lang="zh-CN" altLang="en-US" sz="2400" dirty="0">
              <a:latin typeface="楷体" panose="02010609060101010101" charset="-122"/>
              <a:ea typeface="楷体" panose="02010609060101010101" charset="-122"/>
              <a:cs typeface="楷体" panose="02010609060101010101" charset="-122"/>
              <a:sym typeface="楷体" panose="02010609060101010101" charset="-122"/>
            </a:endParaRP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idx="4294967295"/>
          </p:nvPr>
        </p:nvSpPr>
        <p:spPr>
          <a:xfrm>
            <a:off x="608400" y="208350"/>
            <a:ext cx="10969200" cy="705600"/>
          </a:xfrm>
        </p:spPr>
        <p:txBody>
          <a:bodyPr/>
          <a:lstStyle/>
          <a:p>
            <a:pPr algn="l">
              <a:buClrTx/>
              <a:buSzTx/>
              <a:buFontTx/>
            </a:pPr>
            <a:r>
              <a:rPr kumimoji="1" lang="zh-CN" sz="3735" b="1" dirty="0">
                <a:solidFill>
                  <a:srgbClr val="FF653F"/>
                </a:solidFill>
                <a:latin typeface="+mj-lt"/>
                <a:ea typeface="+mj-lt"/>
                <a:cs typeface="+mj-lt"/>
              </a:rPr>
              <a:t>题</a:t>
            </a:r>
            <a:r>
              <a:rPr kumimoji="1" lang="en-US" altLang="zh-CN" sz="3735" b="1" dirty="0">
                <a:solidFill>
                  <a:srgbClr val="FF653F"/>
                </a:solidFill>
                <a:latin typeface="+mj-lt"/>
                <a:ea typeface="+mj-lt"/>
                <a:cs typeface="+mj-lt"/>
              </a:rPr>
              <a:t>74</a:t>
            </a:r>
            <a:endParaRPr kumimoji="1" lang="en-US" altLang="zh-CN" sz="3735" b="1" dirty="0">
              <a:solidFill>
                <a:srgbClr val="FF653F"/>
              </a:solidFill>
              <a:latin typeface="+mj-lt"/>
              <a:ea typeface="+mj-lt"/>
              <a:cs typeface="+mj-lt"/>
            </a:endParaRPr>
          </a:p>
        </p:txBody>
      </p:sp>
      <p:sp>
        <p:nvSpPr>
          <p:cNvPr id="4" name="文本框 3"/>
          <p:cNvSpPr txBox="1"/>
          <p:nvPr/>
        </p:nvSpPr>
        <p:spPr>
          <a:xfrm>
            <a:off x="608330" y="913765"/>
            <a:ext cx="10968355" cy="4929505"/>
          </a:xfrm>
          <a:prstGeom prst="rect">
            <a:avLst/>
          </a:prstGeom>
          <a:noFill/>
        </p:spPr>
        <p:txBody>
          <a:bodyPr wrap="square" rtlCol="0" anchor="t">
            <a:spAutoFit/>
          </a:bodyPr>
          <a:p>
            <a:pPr indent="0" algn="l" fontAlgn="auto">
              <a:lnSpc>
                <a:spcPct val="130000"/>
              </a:lnSpc>
            </a:pPr>
            <a:r>
              <a:rPr lang="zh-CN" altLang="en-US" sz="2200" dirty="0">
                <a:latin typeface="楷体" panose="02010609060101010101" charset="-122"/>
                <a:ea typeface="楷体" panose="02010609060101010101" charset="-122"/>
                <a:cs typeface="楷体" panose="02010609060101010101" charset="-122"/>
                <a:sym typeface="楷体" panose="02010609060101010101" charset="-122"/>
              </a:rPr>
              <a:t>印客也称</a:t>
            </a:r>
            <a:r>
              <a:rPr lang="en-US" altLang="zh-CN" sz="2200" dirty="0">
                <a:latin typeface="楷体" panose="02010609060101010101" charset="-122"/>
                <a:ea typeface="楷体" panose="02010609060101010101" charset="-122"/>
                <a:cs typeface="楷体" panose="02010609060101010101" charset="-122"/>
                <a:sym typeface="楷体" panose="02010609060101010101" charset="-122"/>
              </a:rPr>
              <a:t>in</a:t>
            </a:r>
            <a:r>
              <a:rPr lang="zh-CN" altLang="en-US" sz="2200" dirty="0">
                <a:latin typeface="楷体" panose="02010609060101010101" charset="-122"/>
                <a:ea typeface="楷体" panose="02010609060101010101" charset="-122"/>
                <a:cs typeface="楷体" panose="02010609060101010101" charset="-122"/>
                <a:sym typeface="楷体" panose="02010609060101010101" charset="-122"/>
              </a:rPr>
              <a:t>客，指的是把自己在网络平台上所写的、画的、摘录的任何文字和图片整理成册，自己制作或请人制作成具有保存价值并体现个性的印刷品的人。</a:t>
            </a:r>
            <a:endParaRPr lang="zh-CN" altLang="en-US" sz="22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30000"/>
              </a:lnSpc>
            </a:pPr>
            <a:r>
              <a:rPr lang="zh-CN" altLang="en-US" sz="2200" dirty="0">
                <a:latin typeface="楷体" panose="02010609060101010101" charset="-122"/>
                <a:ea typeface="楷体" panose="02010609060101010101" charset="-122"/>
                <a:cs typeface="楷体" panose="02010609060101010101" charset="-122"/>
                <a:sym typeface="楷体" panose="02010609060101010101" charset="-122"/>
              </a:rPr>
              <a:t>根据以上定义，下列属于印客的是：</a:t>
            </a:r>
            <a:endParaRPr lang="zh-CN" altLang="en-US" sz="22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30000"/>
              </a:lnSpc>
            </a:pPr>
            <a:r>
              <a:rPr lang="en-US" altLang="zh-CN" sz="2200" dirty="0">
                <a:latin typeface="楷体" panose="02010609060101010101" charset="-122"/>
                <a:ea typeface="楷体" panose="02010609060101010101" charset="-122"/>
                <a:cs typeface="楷体" panose="02010609060101010101" charset="-122"/>
                <a:sym typeface="楷体" panose="02010609060101010101" charset="-122"/>
              </a:rPr>
              <a:t>A.</a:t>
            </a:r>
            <a:r>
              <a:rPr lang="zh-CN" altLang="en-US" sz="2200" dirty="0">
                <a:latin typeface="楷体" panose="02010609060101010101" charset="-122"/>
                <a:ea typeface="楷体" panose="02010609060101010101" charset="-122"/>
                <a:cs typeface="楷体" panose="02010609060101010101" charset="-122"/>
                <a:sym typeface="楷体" panose="02010609060101010101" charset="-122"/>
              </a:rPr>
              <a:t>小楠是某大学的特聘教师，撰写不少高水平学术文章，去年她将这些文章分类整理成册，目前正与出版社商量印刷排版事宜</a:t>
            </a:r>
            <a:endParaRPr lang="zh-CN" altLang="en-US" sz="22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30000"/>
              </a:lnSpc>
            </a:pPr>
            <a:r>
              <a:rPr lang="en-US" altLang="zh-CN" sz="2200" dirty="0">
                <a:latin typeface="楷体" panose="02010609060101010101" charset="-122"/>
                <a:ea typeface="楷体" panose="02010609060101010101" charset="-122"/>
                <a:cs typeface="楷体" panose="02010609060101010101" charset="-122"/>
                <a:sym typeface="楷体" panose="02010609060101010101" charset="-122"/>
              </a:rPr>
              <a:t>B.</a:t>
            </a:r>
            <a:r>
              <a:rPr lang="zh-CN" altLang="en-US" sz="2200" dirty="0">
                <a:latin typeface="楷体" panose="02010609060101010101" charset="-122"/>
                <a:ea typeface="楷体" panose="02010609060101010101" charset="-122"/>
                <a:cs typeface="楷体" panose="02010609060101010101" charset="-122"/>
                <a:sym typeface="楷体" panose="02010609060101010101" charset="-122"/>
              </a:rPr>
              <a:t>小雪是某印刷服务社的美工，具备较高专业素养，业务内容是美化处理客户发来的图片和文字，成品在网络上得到海量好评</a:t>
            </a:r>
            <a:endParaRPr lang="zh-CN" altLang="en-US" sz="22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30000"/>
              </a:lnSpc>
            </a:pPr>
            <a:r>
              <a:rPr lang="en-US" altLang="zh-CN" sz="2200" dirty="0">
                <a:latin typeface="楷体" panose="02010609060101010101" charset="-122"/>
                <a:ea typeface="楷体" panose="02010609060101010101" charset="-122"/>
                <a:cs typeface="楷体" panose="02010609060101010101" charset="-122"/>
                <a:sym typeface="楷体" panose="02010609060101010101" charset="-122"/>
              </a:rPr>
              <a:t>C.</a:t>
            </a:r>
            <a:r>
              <a:rPr lang="zh-CN" altLang="en-US" sz="2200" dirty="0">
                <a:latin typeface="楷体" panose="02010609060101010101" charset="-122"/>
                <a:ea typeface="楷体" panose="02010609060101010101" charset="-122"/>
                <a:cs typeface="楷体" panose="02010609060101010101" charset="-122"/>
                <a:sym typeface="楷体" panose="02010609060101010101" charset="-122"/>
              </a:rPr>
              <a:t>小影是某网站的专栏作家，在网络上发表多篇高阅读量和点赞量的文章，不少读者将她的文章打印出来，作为范本交流学习</a:t>
            </a:r>
            <a:endParaRPr lang="zh-CN" altLang="en-US" sz="22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30000"/>
              </a:lnSpc>
            </a:pPr>
            <a:r>
              <a:rPr lang="en-US" altLang="zh-CN" sz="2200" dirty="0">
                <a:latin typeface="楷体" panose="02010609060101010101" charset="-122"/>
                <a:ea typeface="楷体" panose="02010609060101010101" charset="-122"/>
                <a:cs typeface="楷体" panose="02010609060101010101" charset="-122"/>
                <a:sym typeface="楷体" panose="02010609060101010101" charset="-122"/>
              </a:rPr>
              <a:t>D.</a:t>
            </a:r>
            <a:r>
              <a:rPr lang="zh-CN" altLang="en-US" sz="2200" dirty="0">
                <a:latin typeface="楷体" panose="02010609060101010101" charset="-122"/>
                <a:ea typeface="楷体" panose="02010609060101010101" charset="-122"/>
                <a:cs typeface="楷体" panose="02010609060101010101" charset="-122"/>
                <a:sym typeface="楷体" panose="02010609060101010101" charset="-122"/>
              </a:rPr>
              <a:t>小芳是某企业员工，经常在微博上用图片加文字的形式表达心灵感悟，她定期收集这些记录，请专业人士排版设计印刷成册</a:t>
            </a:r>
            <a:endParaRPr lang="zh-CN" altLang="en-US" sz="2200" dirty="0">
              <a:latin typeface="楷体" panose="02010609060101010101" charset="-122"/>
              <a:ea typeface="楷体" panose="02010609060101010101" charset="-122"/>
              <a:cs typeface="楷体" panose="02010609060101010101" charset="-122"/>
              <a:sym typeface="楷体" panose="02010609060101010101" charset="-122"/>
            </a:endParaRPr>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idx="4294967295"/>
          </p:nvPr>
        </p:nvSpPr>
        <p:spPr>
          <a:xfrm>
            <a:off x="608400" y="208350"/>
            <a:ext cx="10969200" cy="705600"/>
          </a:xfrm>
        </p:spPr>
        <p:txBody>
          <a:bodyPr/>
          <a:lstStyle/>
          <a:p>
            <a:pPr algn="l">
              <a:buClrTx/>
              <a:buSzTx/>
              <a:buFontTx/>
            </a:pPr>
            <a:r>
              <a:rPr kumimoji="1" lang="zh-CN" sz="3735" b="1" dirty="0">
                <a:solidFill>
                  <a:srgbClr val="FF653F"/>
                </a:solidFill>
                <a:latin typeface="+mj-lt"/>
                <a:ea typeface="+mj-lt"/>
                <a:cs typeface="+mj-lt"/>
              </a:rPr>
              <a:t>题</a:t>
            </a:r>
            <a:r>
              <a:rPr kumimoji="1" lang="en-US" altLang="zh-CN" sz="3735" b="1" dirty="0">
                <a:solidFill>
                  <a:srgbClr val="FF653F"/>
                </a:solidFill>
                <a:latin typeface="+mj-lt"/>
                <a:ea typeface="+mj-lt"/>
                <a:cs typeface="+mj-lt"/>
              </a:rPr>
              <a:t>75</a:t>
            </a:r>
            <a:endParaRPr kumimoji="1" lang="en-US" altLang="zh-CN" sz="3735" b="1" dirty="0">
              <a:solidFill>
                <a:srgbClr val="FF653F"/>
              </a:solidFill>
              <a:latin typeface="+mj-lt"/>
              <a:ea typeface="+mj-lt"/>
              <a:cs typeface="+mj-lt"/>
            </a:endParaRPr>
          </a:p>
        </p:txBody>
      </p:sp>
      <p:sp>
        <p:nvSpPr>
          <p:cNvPr id="4" name="文本框 3"/>
          <p:cNvSpPr txBox="1"/>
          <p:nvPr/>
        </p:nvSpPr>
        <p:spPr>
          <a:xfrm>
            <a:off x="608330" y="756285"/>
            <a:ext cx="10968355" cy="5631180"/>
          </a:xfrm>
          <a:prstGeom prst="rect">
            <a:avLst/>
          </a:prstGeom>
          <a:noFill/>
        </p:spPr>
        <p:txBody>
          <a:bodyPr wrap="square" rtlCol="0" anchor="t">
            <a:spAutoFit/>
          </a:bodyPr>
          <a:p>
            <a:pPr indent="0" algn="l" fontAlgn="auto">
              <a:lnSpc>
                <a:spcPct val="150000"/>
              </a:lnSpc>
            </a:pPr>
            <a:r>
              <a:rPr lang="zh-CN" altLang="en-US" sz="2000" dirty="0">
                <a:latin typeface="楷体" panose="02010609060101010101" charset="-122"/>
                <a:ea typeface="楷体" panose="02010609060101010101" charset="-122"/>
                <a:cs typeface="楷体" panose="02010609060101010101" charset="-122"/>
                <a:sym typeface="楷体" panose="02010609060101010101" charset="-122"/>
              </a:rPr>
              <a:t>拓扑绝缘体是一种内部绝缘、界面允许电荷移动的材料，在拓扑绝缘体的内部，电子能带结构和常规的绝缘体相似，但在其表面或边界上存在特殊的量子态，这些量子态位于块体能带结构的带隙之中，从而能够导电。</a:t>
            </a:r>
            <a:endParaRPr lang="zh-CN" altLang="en-US" sz="20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zh-CN" altLang="en-US" sz="2000" dirty="0">
                <a:latin typeface="楷体" panose="02010609060101010101" charset="-122"/>
                <a:ea typeface="楷体" panose="02010609060101010101" charset="-122"/>
                <a:cs typeface="楷体" panose="02010609060101010101" charset="-122"/>
                <a:sym typeface="楷体" panose="02010609060101010101" charset="-122"/>
              </a:rPr>
              <a:t>根据上述定义，以下哪项是拓扑绝缘体</a:t>
            </a:r>
            <a:r>
              <a:rPr lang="en-US" altLang="zh-CN" sz="2000" dirty="0">
                <a:latin typeface="楷体" panose="02010609060101010101" charset="-122"/>
                <a:ea typeface="楷体" panose="02010609060101010101" charset="-122"/>
                <a:cs typeface="楷体" panose="02010609060101010101" charset="-122"/>
                <a:sym typeface="楷体" panose="02010609060101010101" charset="-122"/>
              </a:rPr>
              <a:t>?</a:t>
            </a:r>
            <a:endParaRPr lang="en-US" altLang="zh-CN" sz="20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000" dirty="0">
                <a:latin typeface="楷体" panose="02010609060101010101" charset="-122"/>
                <a:ea typeface="楷体" panose="02010609060101010101" charset="-122"/>
                <a:cs typeface="楷体" panose="02010609060101010101" charset="-122"/>
                <a:sym typeface="楷体" panose="02010609060101010101" charset="-122"/>
              </a:rPr>
              <a:t>A.</a:t>
            </a:r>
            <a:r>
              <a:rPr lang="zh-CN" altLang="en-US" sz="2000" dirty="0">
                <a:latin typeface="楷体" panose="02010609060101010101" charset="-122"/>
                <a:ea typeface="楷体" panose="02010609060101010101" charset="-122"/>
                <a:cs typeface="楷体" panose="02010609060101010101" charset="-122"/>
                <a:sym typeface="楷体" panose="02010609060101010101" charset="-122"/>
              </a:rPr>
              <a:t>量子点接触是一种纳米尺度的电子器件，其整体的导电性质可以通过调整器件的尺寸和形状来调控</a:t>
            </a:r>
            <a:endParaRPr lang="zh-CN" altLang="en-US" sz="20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000" dirty="0">
                <a:latin typeface="楷体" panose="02010609060101010101" charset="-122"/>
                <a:ea typeface="楷体" panose="02010609060101010101" charset="-122"/>
                <a:cs typeface="楷体" panose="02010609060101010101" charset="-122"/>
                <a:sym typeface="楷体" panose="02010609060101010101" charset="-122"/>
              </a:rPr>
              <a:t>B.</a:t>
            </a:r>
            <a:r>
              <a:rPr lang="zh-CN" altLang="en-US" sz="2000" dirty="0">
                <a:latin typeface="楷体" panose="02010609060101010101" charset="-122"/>
                <a:ea typeface="楷体" panose="02010609060101010101" charset="-122"/>
                <a:cs typeface="楷体" panose="02010609060101010101" charset="-122"/>
                <a:sym typeface="楷体" panose="02010609060101010101" charset="-122"/>
              </a:rPr>
              <a:t>氮化镓中由半导体异质结中的特殊电子结构形成的二维电子气，虽然其并不是一种材料，但在一定条件下能够导电</a:t>
            </a:r>
            <a:endParaRPr lang="zh-CN" altLang="en-US" sz="20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000" dirty="0">
                <a:latin typeface="楷体" panose="02010609060101010101" charset="-122"/>
                <a:ea typeface="楷体" panose="02010609060101010101" charset="-122"/>
                <a:cs typeface="楷体" panose="02010609060101010101" charset="-122"/>
                <a:sym typeface="楷体" panose="02010609060101010101" charset="-122"/>
              </a:rPr>
              <a:t>C.</a:t>
            </a:r>
            <a:r>
              <a:rPr lang="zh-CN" altLang="en-US" sz="2000" dirty="0">
                <a:latin typeface="楷体" panose="02010609060101010101" charset="-122"/>
                <a:ea typeface="楷体" panose="02010609060101010101" charset="-122"/>
                <a:cs typeface="楷体" panose="02010609060101010101" charset="-122"/>
                <a:sym typeface="楷体" panose="02010609060101010101" charset="-122"/>
              </a:rPr>
              <a:t>纯石墨烯本身不导电，但是经过一些工艺加工后，会表现出在一定条件下可以允许表面电荷移动形成导电能力的一种量子效应</a:t>
            </a:r>
            <a:endParaRPr lang="zh-CN" altLang="en-US" sz="20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000" dirty="0">
                <a:latin typeface="楷体" panose="02010609060101010101" charset="-122"/>
                <a:ea typeface="楷体" panose="02010609060101010101" charset="-122"/>
                <a:cs typeface="楷体" panose="02010609060101010101" charset="-122"/>
                <a:sym typeface="楷体" panose="02010609060101010101" charset="-122"/>
              </a:rPr>
              <a:t>D.</a:t>
            </a:r>
            <a:r>
              <a:rPr lang="zh-CN" altLang="en-US" sz="2000" dirty="0">
                <a:latin typeface="楷体" panose="02010609060101010101" charset="-122"/>
                <a:ea typeface="楷体" panose="02010609060101010101" charset="-122"/>
                <a:cs typeface="楷体" panose="02010609060101010101" charset="-122"/>
                <a:sym typeface="楷体" panose="02010609060101010101" charset="-122"/>
              </a:rPr>
              <a:t>镧钡铜氧体系的超导陶瓷，是一类在临界温度时电阻为零的陶瓷材料，它还表现出完全抗磁性的行为，在传输过程中几乎没有能量消耗</a:t>
            </a:r>
            <a:endParaRPr lang="zh-CN" altLang="en-US" sz="2000" dirty="0">
              <a:latin typeface="楷体" panose="02010609060101010101" charset="-122"/>
              <a:ea typeface="楷体" panose="02010609060101010101" charset="-122"/>
              <a:cs typeface="楷体" panose="02010609060101010101" charset="-122"/>
              <a:sym typeface="楷体" panose="02010609060101010101" charset="-122"/>
            </a:endParaRPr>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idx="4294967295"/>
          </p:nvPr>
        </p:nvSpPr>
        <p:spPr>
          <a:xfrm>
            <a:off x="608400" y="208350"/>
            <a:ext cx="10969200" cy="705600"/>
          </a:xfrm>
        </p:spPr>
        <p:txBody>
          <a:bodyPr/>
          <a:lstStyle/>
          <a:p>
            <a:pPr algn="l">
              <a:buClrTx/>
              <a:buSzTx/>
              <a:buFontTx/>
            </a:pPr>
            <a:r>
              <a:rPr kumimoji="1" lang="zh-CN" sz="3735" b="1" dirty="0">
                <a:solidFill>
                  <a:srgbClr val="FF653F"/>
                </a:solidFill>
                <a:latin typeface="+mj-lt"/>
                <a:ea typeface="+mj-lt"/>
                <a:cs typeface="+mj-lt"/>
              </a:rPr>
              <a:t>题</a:t>
            </a:r>
            <a:r>
              <a:rPr kumimoji="1" lang="en-US" altLang="zh-CN" sz="3735" b="1" dirty="0">
                <a:solidFill>
                  <a:srgbClr val="FF653F"/>
                </a:solidFill>
                <a:latin typeface="+mj-lt"/>
                <a:ea typeface="+mj-lt"/>
                <a:cs typeface="+mj-lt"/>
              </a:rPr>
              <a:t>76</a:t>
            </a:r>
            <a:endParaRPr kumimoji="1" lang="en-US" altLang="zh-CN" sz="3735" b="1" dirty="0">
              <a:solidFill>
                <a:srgbClr val="FF653F"/>
              </a:solidFill>
              <a:latin typeface="+mj-lt"/>
              <a:ea typeface="+mj-lt"/>
              <a:cs typeface="+mj-lt"/>
            </a:endParaRPr>
          </a:p>
        </p:txBody>
      </p:sp>
      <p:sp>
        <p:nvSpPr>
          <p:cNvPr id="4" name="文本框 3"/>
          <p:cNvSpPr txBox="1"/>
          <p:nvPr/>
        </p:nvSpPr>
        <p:spPr>
          <a:xfrm>
            <a:off x="608330" y="756285"/>
            <a:ext cx="10968355" cy="5631180"/>
          </a:xfrm>
          <a:prstGeom prst="rect">
            <a:avLst/>
          </a:prstGeom>
          <a:noFill/>
        </p:spPr>
        <p:txBody>
          <a:bodyPr wrap="square" rtlCol="0" anchor="t">
            <a:spAutoFit/>
          </a:bodyPr>
          <a:p>
            <a:pPr indent="0" algn="l" fontAlgn="auto">
              <a:lnSpc>
                <a:spcPct val="150000"/>
              </a:lnSpc>
            </a:pPr>
            <a:r>
              <a:rPr lang="zh-CN" altLang="en-US" sz="2400" dirty="0">
                <a:latin typeface="楷体" panose="02010609060101010101" charset="-122"/>
                <a:ea typeface="楷体" panose="02010609060101010101" charset="-122"/>
                <a:cs typeface="楷体" panose="02010609060101010101" charset="-122"/>
                <a:sym typeface="楷体" panose="02010609060101010101" charset="-122"/>
              </a:rPr>
              <a:t>失眠是最常见的睡眠障碍，但生活中并不是所有的睡不着觉都叫做失眠，其必须包含三大要素，即持续的睡眠困难（入睡困难，即入睡时间超过三十分钟；睡眠维持障碍，即整夜觉醒次数不少于两次；早醒、睡眠质量下降以及总睡眠时间减少）、有充足的睡眠机会、出现相关的日间功能受损。可见，失眠不是因当前的客观条件让人无法睡觉，而是想睡却持续性睡不着，并且影响了日常的生活。</a:t>
            </a:r>
            <a:endParaRPr lang="zh-CN" altLang="en-US" sz="24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zh-CN" altLang="en-US" sz="2400" dirty="0">
                <a:latin typeface="楷体" panose="02010609060101010101" charset="-122"/>
                <a:ea typeface="楷体" panose="02010609060101010101" charset="-122"/>
                <a:cs typeface="楷体" panose="02010609060101010101" charset="-122"/>
                <a:sym typeface="楷体" panose="02010609060101010101" charset="-122"/>
              </a:rPr>
              <a:t>根据上述定义，下列诗句最能体现失眠的是：</a:t>
            </a:r>
            <a:endParaRPr lang="zh-CN" altLang="en-US" sz="24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400" dirty="0">
                <a:latin typeface="楷体" panose="02010609060101010101" charset="-122"/>
                <a:ea typeface="楷体" panose="02010609060101010101" charset="-122"/>
                <a:cs typeface="楷体" panose="02010609060101010101" charset="-122"/>
                <a:sym typeface="楷体" panose="02010609060101010101" charset="-122"/>
              </a:rPr>
              <a:t>A.</a:t>
            </a:r>
            <a:r>
              <a:rPr lang="zh-CN" altLang="en-US" sz="2400" dirty="0">
                <a:latin typeface="楷体" panose="02010609060101010101" charset="-122"/>
                <a:ea typeface="楷体" panose="02010609060101010101" charset="-122"/>
                <a:cs typeface="楷体" panose="02010609060101010101" charset="-122"/>
                <a:sym typeface="楷体" panose="02010609060101010101" charset="-122"/>
              </a:rPr>
              <a:t>官初罢后归来夜，天欲明前睡觉时</a:t>
            </a:r>
            <a:r>
              <a:rPr lang="en-US" altLang="zh-CN" sz="2400" dirty="0">
                <a:latin typeface="楷体" panose="02010609060101010101" charset="-122"/>
                <a:ea typeface="楷体" panose="02010609060101010101" charset="-122"/>
                <a:cs typeface="楷体" panose="02010609060101010101" charset="-122"/>
                <a:sym typeface="楷体" panose="02010609060101010101" charset="-122"/>
              </a:rPr>
              <a:t> </a:t>
            </a:r>
            <a:endParaRPr lang="en-US" altLang="zh-CN" sz="24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400" dirty="0">
                <a:latin typeface="楷体" panose="02010609060101010101" charset="-122"/>
                <a:ea typeface="楷体" panose="02010609060101010101" charset="-122"/>
                <a:cs typeface="楷体" panose="02010609060101010101" charset="-122"/>
                <a:sym typeface="楷体" panose="02010609060101010101" charset="-122"/>
              </a:rPr>
              <a:t>B.</a:t>
            </a:r>
            <a:r>
              <a:rPr lang="zh-CN" altLang="en-US" sz="2400" dirty="0">
                <a:latin typeface="楷体" panose="02010609060101010101" charset="-122"/>
                <a:ea typeface="楷体" panose="02010609060101010101" charset="-122"/>
                <a:cs typeface="楷体" panose="02010609060101010101" charset="-122"/>
                <a:sym typeface="楷体" panose="02010609060101010101" charset="-122"/>
              </a:rPr>
              <a:t>自经丧乱少睡眠，长夜沾湿何由彻</a:t>
            </a:r>
            <a:endParaRPr lang="zh-CN" altLang="en-US" sz="24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400" dirty="0">
                <a:latin typeface="楷体" panose="02010609060101010101" charset="-122"/>
                <a:ea typeface="楷体" panose="02010609060101010101" charset="-122"/>
                <a:cs typeface="楷体" panose="02010609060101010101" charset="-122"/>
                <a:sym typeface="楷体" panose="02010609060101010101" charset="-122"/>
              </a:rPr>
              <a:t>C.</a:t>
            </a:r>
            <a:r>
              <a:rPr lang="zh-CN" altLang="en-US" sz="2400" dirty="0">
                <a:latin typeface="楷体" panose="02010609060101010101" charset="-122"/>
                <a:ea typeface="楷体" panose="02010609060101010101" charset="-122"/>
                <a:cs typeface="楷体" panose="02010609060101010101" charset="-122"/>
                <a:sym typeface="楷体" panose="02010609060101010101" charset="-122"/>
              </a:rPr>
              <a:t>暮归冲雨寒无睡，自把新诗百遍开</a:t>
            </a:r>
            <a:r>
              <a:rPr lang="en-US" altLang="zh-CN" sz="2400" dirty="0">
                <a:latin typeface="楷体" panose="02010609060101010101" charset="-122"/>
                <a:ea typeface="楷体" panose="02010609060101010101" charset="-122"/>
                <a:cs typeface="楷体" panose="02010609060101010101" charset="-122"/>
                <a:sym typeface="楷体" panose="02010609060101010101" charset="-122"/>
              </a:rPr>
              <a:t> </a:t>
            </a:r>
            <a:endParaRPr lang="en-US" altLang="zh-CN" sz="24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400" dirty="0">
                <a:latin typeface="楷体" panose="02010609060101010101" charset="-122"/>
                <a:ea typeface="楷体" panose="02010609060101010101" charset="-122"/>
                <a:cs typeface="楷体" panose="02010609060101010101" charset="-122"/>
                <a:sym typeface="楷体" panose="02010609060101010101" charset="-122"/>
              </a:rPr>
              <a:t>D.</a:t>
            </a:r>
            <a:r>
              <a:rPr lang="zh-CN" altLang="en-US" sz="2400" dirty="0">
                <a:latin typeface="楷体" panose="02010609060101010101" charset="-122"/>
                <a:ea typeface="楷体" panose="02010609060101010101" charset="-122"/>
                <a:cs typeface="楷体" panose="02010609060101010101" charset="-122"/>
                <a:sym typeface="楷体" panose="02010609060101010101" charset="-122"/>
              </a:rPr>
              <a:t>抱得秋情不忍眠，自向秋屏移泪烛</a:t>
            </a:r>
            <a:endParaRPr lang="zh-CN" altLang="en-US" sz="2400" dirty="0">
              <a:latin typeface="楷体" panose="02010609060101010101" charset="-122"/>
              <a:ea typeface="楷体" panose="02010609060101010101" charset="-122"/>
              <a:cs typeface="楷体" panose="02010609060101010101" charset="-122"/>
              <a:sym typeface="楷体" panose="02010609060101010101" charset="-122"/>
            </a:endParaRPr>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idx="4294967295"/>
          </p:nvPr>
        </p:nvSpPr>
        <p:spPr>
          <a:xfrm>
            <a:off x="608400" y="208350"/>
            <a:ext cx="10969200" cy="705600"/>
          </a:xfrm>
        </p:spPr>
        <p:txBody>
          <a:bodyPr/>
          <a:lstStyle/>
          <a:p>
            <a:pPr algn="l">
              <a:buClrTx/>
              <a:buSzTx/>
              <a:buFontTx/>
            </a:pPr>
            <a:r>
              <a:rPr kumimoji="1" lang="zh-CN" sz="3735" b="1" dirty="0">
                <a:solidFill>
                  <a:srgbClr val="FF653F"/>
                </a:solidFill>
                <a:latin typeface="+mj-lt"/>
                <a:ea typeface="+mj-lt"/>
                <a:cs typeface="+mj-lt"/>
              </a:rPr>
              <a:t>题</a:t>
            </a:r>
            <a:r>
              <a:rPr kumimoji="1" lang="en-US" altLang="zh-CN" sz="3735" b="1" dirty="0">
                <a:solidFill>
                  <a:srgbClr val="FF653F"/>
                </a:solidFill>
                <a:latin typeface="+mj-lt"/>
                <a:ea typeface="+mj-lt"/>
                <a:cs typeface="+mj-lt"/>
              </a:rPr>
              <a:t>77</a:t>
            </a:r>
            <a:endParaRPr kumimoji="1" lang="en-US" altLang="zh-CN" sz="3735" b="1" dirty="0">
              <a:solidFill>
                <a:srgbClr val="FF653F"/>
              </a:solidFill>
              <a:latin typeface="+mj-lt"/>
              <a:ea typeface="+mj-lt"/>
              <a:cs typeface="+mj-lt"/>
            </a:endParaRPr>
          </a:p>
        </p:txBody>
      </p:sp>
      <p:sp>
        <p:nvSpPr>
          <p:cNvPr id="4" name="文本框 3"/>
          <p:cNvSpPr txBox="1"/>
          <p:nvPr/>
        </p:nvSpPr>
        <p:spPr>
          <a:xfrm>
            <a:off x="608330" y="756285"/>
            <a:ext cx="10968355" cy="4246245"/>
          </a:xfrm>
          <a:prstGeom prst="rect">
            <a:avLst/>
          </a:prstGeom>
          <a:noFill/>
        </p:spPr>
        <p:txBody>
          <a:bodyPr wrap="square" rtlCol="0" anchor="t">
            <a:spAutoFit/>
          </a:bodyPr>
          <a:p>
            <a:pPr indent="0" algn="l" fontAlgn="auto">
              <a:lnSpc>
                <a:spcPct val="150000"/>
              </a:lnSpc>
            </a:pPr>
            <a:r>
              <a:rPr lang="zh-CN" altLang="en-US" sz="2000" dirty="0">
                <a:latin typeface="楷体" panose="02010609060101010101" charset="-122"/>
                <a:ea typeface="楷体" panose="02010609060101010101" charset="-122"/>
                <a:cs typeface="楷体" panose="02010609060101010101" charset="-122"/>
                <a:sym typeface="楷体" panose="02010609060101010101" charset="-122"/>
              </a:rPr>
              <a:t>假定有一个理想化的纯黑体，它能将所有吸收的能量以</a:t>
            </a:r>
            <a:r>
              <a:rPr lang="en-US" altLang="zh-CN" sz="2000" dirty="0">
                <a:latin typeface="楷体" panose="02010609060101010101" charset="-122"/>
                <a:ea typeface="楷体" panose="02010609060101010101" charset="-122"/>
                <a:cs typeface="楷体" panose="02010609060101010101" charset="-122"/>
                <a:sym typeface="楷体" panose="02010609060101010101" charset="-122"/>
              </a:rPr>
              <a:t>“</a:t>
            </a:r>
            <a:r>
              <a:rPr lang="zh-CN" altLang="en-US" sz="2000" dirty="0">
                <a:latin typeface="楷体" panose="02010609060101010101" charset="-122"/>
                <a:ea typeface="楷体" panose="02010609060101010101" charset="-122"/>
                <a:cs typeface="楷体" panose="02010609060101010101" charset="-122"/>
                <a:sym typeface="楷体" panose="02010609060101010101" charset="-122"/>
              </a:rPr>
              <a:t>光</a:t>
            </a:r>
            <a:r>
              <a:rPr lang="en-US" altLang="zh-CN" sz="2000" dirty="0">
                <a:latin typeface="楷体" panose="02010609060101010101" charset="-122"/>
                <a:ea typeface="楷体" panose="02010609060101010101" charset="-122"/>
                <a:cs typeface="楷体" panose="02010609060101010101" charset="-122"/>
                <a:sym typeface="楷体" panose="02010609060101010101" charset="-122"/>
              </a:rPr>
              <a:t>”</a:t>
            </a:r>
            <a:r>
              <a:rPr lang="zh-CN" altLang="en-US" sz="2000" dirty="0">
                <a:latin typeface="楷体" panose="02010609060101010101" charset="-122"/>
                <a:ea typeface="楷体" panose="02010609060101010101" charset="-122"/>
                <a:cs typeface="楷体" panose="02010609060101010101" charset="-122"/>
                <a:sym typeface="楷体" panose="02010609060101010101" charset="-122"/>
              </a:rPr>
              <a:t>的形式释放，则称之为绝对黑体，它从绝对零度（单位为</a:t>
            </a:r>
            <a:r>
              <a:rPr lang="en-US" altLang="zh-CN" sz="2000" dirty="0">
                <a:latin typeface="楷体" panose="02010609060101010101" charset="-122"/>
                <a:ea typeface="楷体" panose="02010609060101010101" charset="-122"/>
                <a:cs typeface="楷体" panose="02010609060101010101" charset="-122"/>
                <a:sym typeface="楷体" panose="02010609060101010101" charset="-122"/>
              </a:rPr>
              <a:t>“K”</a:t>
            </a:r>
            <a:r>
              <a:rPr lang="zh-CN" altLang="en-US" sz="2000" dirty="0">
                <a:latin typeface="楷体" panose="02010609060101010101" charset="-122"/>
                <a:ea typeface="楷体" panose="02010609060101010101" charset="-122"/>
                <a:cs typeface="楷体" panose="02010609060101010101" charset="-122"/>
                <a:sym typeface="楷体" panose="02010609060101010101" charset="-122"/>
              </a:rPr>
              <a:t>即开尔文，</a:t>
            </a:r>
            <a:r>
              <a:rPr lang="en-US" altLang="zh-CN" sz="2000" dirty="0">
                <a:latin typeface="楷体" panose="02010609060101010101" charset="-122"/>
                <a:ea typeface="楷体" panose="02010609060101010101" charset="-122"/>
                <a:cs typeface="楷体" panose="02010609060101010101" charset="-122"/>
                <a:sym typeface="楷体" panose="02010609060101010101" charset="-122"/>
              </a:rPr>
              <a:t>        </a:t>
            </a:r>
            <a:r>
              <a:rPr lang="zh-CN" altLang="en-US" sz="2000" dirty="0">
                <a:latin typeface="楷体" panose="02010609060101010101" charset="-122"/>
                <a:ea typeface="楷体" panose="02010609060101010101" charset="-122"/>
                <a:cs typeface="楷体" panose="02010609060101010101" charset="-122"/>
                <a:sym typeface="楷体" panose="02010609060101010101" charset="-122"/>
              </a:rPr>
              <a:t>）开始被加热升温会由黑变为发红光、黄光、白光、蓝光。加热到</a:t>
            </a:r>
            <a:r>
              <a:rPr lang="en-US" altLang="zh-CN" sz="2000" dirty="0">
                <a:latin typeface="楷体" panose="02010609060101010101" charset="-122"/>
                <a:ea typeface="楷体" panose="02010609060101010101" charset="-122"/>
                <a:cs typeface="楷体" panose="02010609060101010101" charset="-122"/>
                <a:sym typeface="楷体" panose="02010609060101010101" charset="-122"/>
              </a:rPr>
              <a:t>N</a:t>
            </a:r>
            <a:r>
              <a:rPr lang="zh-CN" altLang="en-US" sz="2000" dirty="0">
                <a:latin typeface="楷体" panose="02010609060101010101" charset="-122"/>
                <a:ea typeface="楷体" panose="02010609060101010101" charset="-122"/>
                <a:cs typeface="楷体" panose="02010609060101010101" charset="-122"/>
                <a:sym typeface="楷体" panose="02010609060101010101" charset="-122"/>
              </a:rPr>
              <a:t>（</a:t>
            </a:r>
            <a:r>
              <a:rPr lang="en-US" altLang="zh-CN" sz="2000" dirty="0">
                <a:latin typeface="楷体" panose="02010609060101010101" charset="-122"/>
                <a:ea typeface="楷体" panose="02010609060101010101" charset="-122"/>
                <a:cs typeface="楷体" panose="02010609060101010101" charset="-122"/>
                <a:sym typeface="楷体" panose="02010609060101010101" charset="-122"/>
              </a:rPr>
              <a:t>K</a:t>
            </a:r>
            <a:r>
              <a:rPr lang="zh-CN" altLang="en-US" sz="2000" dirty="0">
                <a:latin typeface="楷体" panose="02010609060101010101" charset="-122"/>
                <a:ea typeface="楷体" panose="02010609060101010101" charset="-122"/>
                <a:cs typeface="楷体" panose="02010609060101010101" charset="-122"/>
                <a:sym typeface="楷体" panose="02010609060101010101" charset="-122"/>
              </a:rPr>
              <a:t>）时，绝对黑体发光所含的光谱成分就称</a:t>
            </a:r>
            <a:r>
              <a:rPr lang="en-US" altLang="zh-CN" sz="2000" dirty="0">
                <a:latin typeface="楷体" panose="02010609060101010101" charset="-122"/>
                <a:ea typeface="楷体" panose="02010609060101010101" charset="-122"/>
                <a:cs typeface="楷体" panose="02010609060101010101" charset="-122"/>
                <a:sym typeface="楷体" panose="02010609060101010101" charset="-122"/>
              </a:rPr>
              <a:t>N</a:t>
            </a:r>
            <a:r>
              <a:rPr lang="zh-CN" altLang="en-US" sz="2000" dirty="0">
                <a:latin typeface="楷体" panose="02010609060101010101" charset="-122"/>
                <a:ea typeface="楷体" panose="02010609060101010101" charset="-122"/>
                <a:cs typeface="楷体" panose="02010609060101010101" charset="-122"/>
                <a:sym typeface="楷体" panose="02010609060101010101" charset="-122"/>
              </a:rPr>
              <a:t>（</a:t>
            </a:r>
            <a:r>
              <a:rPr lang="en-US" altLang="zh-CN" sz="2000" dirty="0">
                <a:latin typeface="楷体" panose="02010609060101010101" charset="-122"/>
                <a:ea typeface="楷体" panose="02010609060101010101" charset="-122"/>
                <a:cs typeface="楷体" panose="02010609060101010101" charset="-122"/>
                <a:sym typeface="楷体" panose="02010609060101010101" charset="-122"/>
              </a:rPr>
              <a:t>K</a:t>
            </a:r>
            <a:r>
              <a:rPr lang="zh-CN" altLang="en-US" sz="2000" dirty="0">
                <a:latin typeface="楷体" panose="02010609060101010101" charset="-122"/>
                <a:ea typeface="楷体" panose="02010609060101010101" charset="-122"/>
                <a:cs typeface="楷体" panose="02010609060101010101" charset="-122"/>
                <a:sym typeface="楷体" panose="02010609060101010101" charset="-122"/>
              </a:rPr>
              <a:t>）色温；某发光物与</a:t>
            </a:r>
            <a:r>
              <a:rPr lang="en-US" altLang="zh-CN" sz="2000" dirty="0">
                <a:latin typeface="楷体" panose="02010609060101010101" charset="-122"/>
                <a:ea typeface="楷体" panose="02010609060101010101" charset="-122"/>
                <a:cs typeface="楷体" panose="02010609060101010101" charset="-122"/>
                <a:sym typeface="楷体" panose="02010609060101010101" charset="-122"/>
              </a:rPr>
              <a:t>N</a:t>
            </a:r>
            <a:r>
              <a:rPr lang="zh-CN" altLang="en-US" sz="2000" dirty="0">
                <a:latin typeface="楷体" panose="02010609060101010101" charset="-122"/>
                <a:ea typeface="楷体" panose="02010609060101010101" charset="-122"/>
                <a:cs typeface="楷体" panose="02010609060101010101" charset="-122"/>
                <a:sym typeface="楷体" panose="02010609060101010101" charset="-122"/>
              </a:rPr>
              <a:t>（</a:t>
            </a:r>
            <a:r>
              <a:rPr lang="en-US" altLang="zh-CN" sz="2000" dirty="0">
                <a:latin typeface="楷体" panose="02010609060101010101" charset="-122"/>
                <a:ea typeface="楷体" panose="02010609060101010101" charset="-122"/>
                <a:cs typeface="楷体" panose="02010609060101010101" charset="-122"/>
                <a:sym typeface="楷体" panose="02010609060101010101" charset="-122"/>
              </a:rPr>
              <a:t>K</a:t>
            </a:r>
            <a:r>
              <a:rPr lang="zh-CN" altLang="en-US" sz="2000" dirty="0">
                <a:latin typeface="楷体" panose="02010609060101010101" charset="-122"/>
                <a:ea typeface="楷体" panose="02010609060101010101" charset="-122"/>
                <a:cs typeface="楷体" panose="02010609060101010101" charset="-122"/>
                <a:sym typeface="楷体" panose="02010609060101010101" charset="-122"/>
              </a:rPr>
              <a:t>）温度下绝对黑体发光所含的光谱成分相同，就称其色温为</a:t>
            </a:r>
            <a:r>
              <a:rPr lang="en-US" altLang="zh-CN" sz="2000" dirty="0">
                <a:latin typeface="楷体" panose="02010609060101010101" charset="-122"/>
                <a:ea typeface="楷体" panose="02010609060101010101" charset="-122"/>
                <a:cs typeface="楷体" panose="02010609060101010101" charset="-122"/>
                <a:sym typeface="楷体" panose="02010609060101010101" charset="-122"/>
              </a:rPr>
              <a:t>N</a:t>
            </a:r>
            <a:r>
              <a:rPr lang="zh-CN" altLang="en-US" sz="2000" dirty="0">
                <a:latin typeface="楷体" panose="02010609060101010101" charset="-122"/>
                <a:ea typeface="楷体" panose="02010609060101010101" charset="-122"/>
                <a:cs typeface="楷体" panose="02010609060101010101" charset="-122"/>
                <a:sym typeface="楷体" panose="02010609060101010101" charset="-122"/>
              </a:rPr>
              <a:t>（</a:t>
            </a:r>
            <a:r>
              <a:rPr lang="en-US" altLang="zh-CN" sz="2000" dirty="0">
                <a:latin typeface="楷体" panose="02010609060101010101" charset="-122"/>
                <a:ea typeface="楷体" panose="02010609060101010101" charset="-122"/>
                <a:cs typeface="楷体" panose="02010609060101010101" charset="-122"/>
                <a:sym typeface="楷体" panose="02010609060101010101" charset="-122"/>
              </a:rPr>
              <a:t>K</a:t>
            </a:r>
            <a:r>
              <a:rPr lang="zh-CN" altLang="en-US" sz="2000" dirty="0">
                <a:latin typeface="楷体" panose="02010609060101010101" charset="-122"/>
                <a:ea typeface="楷体" panose="02010609060101010101" charset="-122"/>
                <a:cs typeface="楷体" panose="02010609060101010101" charset="-122"/>
                <a:sym typeface="楷体" panose="02010609060101010101" charset="-122"/>
              </a:rPr>
              <a:t>）。</a:t>
            </a:r>
            <a:endParaRPr lang="zh-CN" altLang="en-US" sz="20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zh-CN" altLang="en-US" sz="2000" dirty="0">
                <a:latin typeface="楷体" panose="02010609060101010101" charset="-122"/>
                <a:ea typeface="楷体" panose="02010609060101010101" charset="-122"/>
                <a:cs typeface="楷体" panose="02010609060101010101" charset="-122"/>
                <a:sym typeface="楷体" panose="02010609060101010101" charset="-122"/>
              </a:rPr>
              <a:t>以下关于色温的叙述正确的是：</a:t>
            </a:r>
            <a:endParaRPr lang="zh-CN" altLang="en-US" sz="20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000" dirty="0">
                <a:latin typeface="楷体" panose="02010609060101010101" charset="-122"/>
                <a:ea typeface="楷体" panose="02010609060101010101" charset="-122"/>
                <a:cs typeface="楷体" panose="02010609060101010101" charset="-122"/>
                <a:sym typeface="楷体" panose="02010609060101010101" charset="-122"/>
              </a:rPr>
              <a:t>A.</a:t>
            </a:r>
            <a:r>
              <a:rPr lang="zh-CN" altLang="en-US" sz="2000" dirty="0">
                <a:latin typeface="楷体" panose="02010609060101010101" charset="-122"/>
                <a:ea typeface="楷体" panose="02010609060101010101" charset="-122"/>
                <a:cs typeface="楷体" panose="02010609060101010101" charset="-122"/>
                <a:sym typeface="楷体" panose="02010609060101010101" charset="-122"/>
              </a:rPr>
              <a:t>把红、黄划分为暖色调，白、蓝划分为冷色调是由色温而来的</a:t>
            </a:r>
            <a:endParaRPr lang="zh-CN" altLang="en-US" sz="20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000" dirty="0">
                <a:latin typeface="楷体" panose="02010609060101010101" charset="-122"/>
                <a:ea typeface="楷体" panose="02010609060101010101" charset="-122"/>
                <a:cs typeface="楷体" panose="02010609060101010101" charset="-122"/>
                <a:sym typeface="楷体" panose="02010609060101010101" charset="-122"/>
              </a:rPr>
              <a:t>B.</a:t>
            </a:r>
            <a:r>
              <a:rPr lang="zh-CN" altLang="en-US" sz="2000" dirty="0">
                <a:latin typeface="楷体" panose="02010609060101010101" charset="-122"/>
                <a:ea typeface="楷体" panose="02010609060101010101" charset="-122"/>
                <a:cs typeface="楷体" panose="02010609060101010101" charset="-122"/>
                <a:sym typeface="楷体" panose="02010609060101010101" charset="-122"/>
              </a:rPr>
              <a:t>一天内，肉眼看到的太阳颜色的变化是温差引起的色温变化导致的</a:t>
            </a:r>
            <a:endParaRPr lang="zh-CN" altLang="en-US" sz="20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000" dirty="0">
                <a:latin typeface="楷体" panose="02010609060101010101" charset="-122"/>
                <a:ea typeface="楷体" panose="02010609060101010101" charset="-122"/>
                <a:cs typeface="楷体" panose="02010609060101010101" charset="-122"/>
                <a:sym typeface="楷体" panose="02010609060101010101" charset="-122"/>
              </a:rPr>
              <a:t>C.</a:t>
            </a:r>
            <a:r>
              <a:rPr lang="zh-CN" altLang="en-US" sz="2000" dirty="0">
                <a:latin typeface="楷体" panose="02010609060101010101" charset="-122"/>
                <a:ea typeface="楷体" panose="02010609060101010101" charset="-122"/>
                <a:cs typeface="楷体" panose="02010609060101010101" charset="-122"/>
                <a:sym typeface="楷体" panose="02010609060101010101" charset="-122"/>
              </a:rPr>
              <a:t>某发光体的光谱成分与绝对黑体在</a:t>
            </a:r>
            <a:r>
              <a:rPr lang="en-US" altLang="zh-CN" sz="2000" dirty="0">
                <a:latin typeface="楷体" panose="02010609060101010101" charset="-122"/>
                <a:ea typeface="楷体" panose="02010609060101010101" charset="-122"/>
                <a:cs typeface="楷体" panose="02010609060101010101" charset="-122"/>
                <a:sym typeface="楷体" panose="02010609060101010101" charset="-122"/>
              </a:rPr>
              <a:t>2727℃</a:t>
            </a:r>
            <a:r>
              <a:rPr lang="zh-CN" altLang="en-US" sz="2000" dirty="0">
                <a:latin typeface="楷体" panose="02010609060101010101" charset="-122"/>
                <a:ea typeface="楷体" panose="02010609060101010101" charset="-122"/>
                <a:cs typeface="楷体" panose="02010609060101010101" charset="-122"/>
                <a:sym typeface="楷体" panose="02010609060101010101" charset="-122"/>
              </a:rPr>
              <a:t>时的相同，则它的色温是</a:t>
            </a:r>
            <a:r>
              <a:rPr lang="en-US" altLang="zh-CN" sz="2000" dirty="0">
                <a:latin typeface="楷体" panose="02010609060101010101" charset="-122"/>
                <a:ea typeface="楷体" panose="02010609060101010101" charset="-122"/>
                <a:cs typeface="楷体" panose="02010609060101010101" charset="-122"/>
                <a:sym typeface="楷体" panose="02010609060101010101" charset="-122"/>
              </a:rPr>
              <a:t>3000K</a:t>
            </a:r>
            <a:endParaRPr lang="en-US" altLang="zh-CN" sz="20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000" dirty="0">
                <a:latin typeface="楷体" panose="02010609060101010101" charset="-122"/>
                <a:ea typeface="楷体" panose="02010609060101010101" charset="-122"/>
                <a:cs typeface="楷体" panose="02010609060101010101" charset="-122"/>
                <a:sym typeface="楷体" panose="02010609060101010101" charset="-122"/>
              </a:rPr>
              <a:t>D.</a:t>
            </a:r>
            <a:r>
              <a:rPr lang="zh-CN" altLang="en-US" sz="2000" dirty="0">
                <a:latin typeface="楷体" panose="02010609060101010101" charset="-122"/>
                <a:ea typeface="楷体" panose="02010609060101010101" charset="-122"/>
                <a:cs typeface="楷体" panose="02010609060101010101" charset="-122"/>
                <a:sym typeface="楷体" panose="02010609060101010101" charset="-122"/>
              </a:rPr>
              <a:t>某灯光的色温是</a:t>
            </a:r>
            <a:r>
              <a:rPr lang="en-US" altLang="zh-CN" sz="2000" dirty="0">
                <a:latin typeface="楷体" panose="02010609060101010101" charset="-122"/>
                <a:ea typeface="楷体" panose="02010609060101010101" charset="-122"/>
                <a:cs typeface="楷体" panose="02010609060101010101" charset="-122"/>
                <a:sym typeface="楷体" panose="02010609060101010101" charset="-122"/>
              </a:rPr>
              <a:t>1000K</a:t>
            </a:r>
            <a:r>
              <a:rPr lang="zh-CN" altLang="en-US" sz="2000" dirty="0">
                <a:latin typeface="楷体" panose="02010609060101010101" charset="-122"/>
                <a:ea typeface="楷体" panose="02010609060101010101" charset="-122"/>
                <a:cs typeface="楷体" panose="02010609060101010101" charset="-122"/>
                <a:sym typeface="楷体" panose="02010609060101010101" charset="-122"/>
              </a:rPr>
              <a:t>，则与之光谱成分相同的绝对黑体温度是</a:t>
            </a:r>
            <a:r>
              <a:rPr lang="en-US" altLang="zh-CN" sz="2000" dirty="0">
                <a:latin typeface="楷体" panose="02010609060101010101" charset="-122"/>
                <a:ea typeface="楷体" panose="02010609060101010101" charset="-122"/>
                <a:cs typeface="楷体" panose="02010609060101010101" charset="-122"/>
                <a:sym typeface="楷体" panose="02010609060101010101" charset="-122"/>
              </a:rPr>
              <a:t>1000℃</a:t>
            </a:r>
            <a:endParaRPr lang="en-US" altLang="zh-CN" sz="2000" dirty="0">
              <a:latin typeface="楷体" panose="02010609060101010101" charset="-122"/>
              <a:ea typeface="楷体" panose="02010609060101010101" charset="-122"/>
              <a:cs typeface="楷体" panose="02010609060101010101" charset="-122"/>
              <a:sym typeface="楷体" panose="02010609060101010101" charset="-122"/>
            </a:endParaRPr>
          </a:p>
        </p:txBody>
      </p:sp>
      <p:pic>
        <p:nvPicPr>
          <p:cNvPr id="3" name="图片 2"/>
          <p:cNvPicPr>
            <a:picLocks noChangeAspect="1"/>
          </p:cNvPicPr>
          <p:nvPr/>
        </p:nvPicPr>
        <p:blipFill>
          <a:blip r:embed="rId1"/>
          <a:stretch>
            <a:fillRect/>
          </a:stretch>
        </p:blipFill>
        <p:spPr>
          <a:xfrm>
            <a:off x="5070475" y="1438910"/>
            <a:ext cx="1066800" cy="200025"/>
          </a:xfrm>
          <a:prstGeom prst="rect">
            <a:avLst/>
          </a:prstGeom>
        </p:spPr>
      </p:pic>
      <p:pic>
        <p:nvPicPr>
          <p:cNvPr id="5" name="图片 4"/>
          <p:cNvPicPr>
            <a:picLocks noChangeAspect="1"/>
          </p:cNvPicPr>
          <p:nvPr/>
        </p:nvPicPr>
        <p:blipFill>
          <a:blip r:embed="rId2"/>
          <a:stretch>
            <a:fillRect/>
          </a:stretch>
        </p:blipFill>
        <p:spPr>
          <a:xfrm>
            <a:off x="1189990" y="0"/>
            <a:ext cx="9811385" cy="6858000"/>
          </a:xfrm>
          <a:prstGeom prst="rect">
            <a:avLst/>
          </a:prstGeom>
        </p:spPr>
      </p:pic>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idx="4294967295"/>
          </p:nvPr>
        </p:nvSpPr>
        <p:spPr>
          <a:xfrm>
            <a:off x="608400" y="208350"/>
            <a:ext cx="10969200" cy="705600"/>
          </a:xfrm>
        </p:spPr>
        <p:txBody>
          <a:bodyPr/>
          <a:lstStyle/>
          <a:p>
            <a:pPr algn="l">
              <a:buClrTx/>
              <a:buSzTx/>
              <a:buFontTx/>
            </a:pPr>
            <a:r>
              <a:rPr kumimoji="1" lang="zh-CN" sz="3735" b="1" dirty="0">
                <a:solidFill>
                  <a:srgbClr val="FF653F"/>
                </a:solidFill>
                <a:latin typeface="+mj-lt"/>
                <a:ea typeface="+mj-lt"/>
                <a:cs typeface="+mj-lt"/>
              </a:rPr>
              <a:t>题</a:t>
            </a:r>
            <a:r>
              <a:rPr kumimoji="1" lang="en-US" altLang="zh-CN" sz="3735" b="1" dirty="0">
                <a:solidFill>
                  <a:srgbClr val="FF653F"/>
                </a:solidFill>
                <a:latin typeface="+mj-lt"/>
                <a:ea typeface="+mj-lt"/>
                <a:cs typeface="+mj-lt"/>
              </a:rPr>
              <a:t>78</a:t>
            </a:r>
            <a:endParaRPr kumimoji="1" lang="en-US" altLang="zh-CN" sz="3735" b="1" dirty="0">
              <a:solidFill>
                <a:srgbClr val="FF653F"/>
              </a:solidFill>
              <a:latin typeface="+mj-lt"/>
              <a:ea typeface="+mj-lt"/>
              <a:cs typeface="+mj-lt"/>
            </a:endParaRPr>
          </a:p>
        </p:txBody>
      </p:sp>
      <p:sp>
        <p:nvSpPr>
          <p:cNvPr id="4" name="文本框 3"/>
          <p:cNvSpPr txBox="1"/>
          <p:nvPr/>
        </p:nvSpPr>
        <p:spPr>
          <a:xfrm>
            <a:off x="608330" y="756285"/>
            <a:ext cx="10968355" cy="5169535"/>
          </a:xfrm>
          <a:prstGeom prst="rect">
            <a:avLst/>
          </a:prstGeom>
          <a:noFill/>
        </p:spPr>
        <p:txBody>
          <a:bodyPr wrap="square" rtlCol="0" anchor="t">
            <a:spAutoFit/>
          </a:bodyPr>
          <a:p>
            <a:pPr indent="0" algn="l" fontAlgn="auto">
              <a:lnSpc>
                <a:spcPct val="150000"/>
              </a:lnSpc>
            </a:pPr>
            <a:r>
              <a:rPr lang="zh-CN" altLang="en-US" sz="2000" dirty="0">
                <a:latin typeface="楷体" panose="02010609060101010101" charset="-122"/>
                <a:ea typeface="楷体" panose="02010609060101010101" charset="-122"/>
                <a:cs typeface="楷体" panose="02010609060101010101" charset="-122"/>
                <a:sym typeface="楷体" panose="02010609060101010101" charset="-122"/>
              </a:rPr>
              <a:t>免疫电镜技术是将抗原抗体反应的特异性和电子显微镜的高分辨率相结合，在亚细胞和超微结构水平上对抗原进行定位分析的一种高精确度的技术。</a:t>
            </a:r>
            <a:endParaRPr lang="zh-CN" altLang="en-US" sz="20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zh-CN" altLang="en-US" sz="2000" dirty="0">
                <a:latin typeface="楷体" panose="02010609060101010101" charset="-122"/>
                <a:ea typeface="楷体" panose="02010609060101010101" charset="-122"/>
                <a:cs typeface="楷体" panose="02010609060101010101" charset="-122"/>
                <a:sym typeface="楷体" panose="02010609060101010101" charset="-122"/>
              </a:rPr>
              <a:t>根据上述定义，下列不属于免疫电镜技术的是：</a:t>
            </a:r>
            <a:endParaRPr lang="zh-CN" altLang="en-US" sz="20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000" dirty="0">
                <a:latin typeface="楷体" panose="02010609060101010101" charset="-122"/>
                <a:ea typeface="楷体" panose="02010609060101010101" charset="-122"/>
                <a:cs typeface="楷体" panose="02010609060101010101" charset="-122"/>
                <a:sym typeface="楷体" panose="02010609060101010101" charset="-122"/>
              </a:rPr>
              <a:t>A.</a:t>
            </a:r>
            <a:r>
              <a:rPr lang="zh-CN" altLang="en-US" sz="2000" dirty="0">
                <a:latin typeface="楷体" panose="02010609060101010101" charset="-122"/>
                <a:ea typeface="楷体" panose="02010609060101010101" charset="-122"/>
                <a:cs typeface="楷体" panose="02010609060101010101" charset="-122"/>
                <a:sym typeface="楷体" panose="02010609060101010101" charset="-122"/>
              </a:rPr>
              <a:t>酶的催化作用对其底物的反应可形成不同的电子密度，运用电子显微镜来观察，可确定酶的存在，从而对抗原进行定位</a:t>
            </a:r>
            <a:endParaRPr lang="zh-CN" altLang="en-US" sz="20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000" dirty="0">
                <a:latin typeface="楷体" panose="02010609060101010101" charset="-122"/>
                <a:ea typeface="楷体" panose="02010609060101010101" charset="-122"/>
                <a:cs typeface="楷体" panose="02010609060101010101" charset="-122"/>
                <a:sym typeface="楷体" panose="02010609060101010101" charset="-122"/>
              </a:rPr>
              <a:t>B.</a:t>
            </a:r>
            <a:r>
              <a:rPr lang="zh-CN" altLang="en-US" sz="2000" dirty="0">
                <a:latin typeface="楷体" panose="02010609060101010101" charset="-122"/>
                <a:ea typeface="楷体" panose="02010609060101010101" charset="-122"/>
                <a:cs typeface="楷体" panose="02010609060101010101" charset="-122"/>
                <a:sym typeface="楷体" panose="02010609060101010101" charset="-122"/>
              </a:rPr>
              <a:t>胶体金与铁蛋白一样具有高电子密度，将沙门氏菌的抗血清与胶体金颗粒结合，可以明确病原物抗原在电镜水平的定位</a:t>
            </a:r>
            <a:endParaRPr lang="zh-CN" altLang="en-US" sz="20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000" dirty="0">
                <a:latin typeface="楷体" panose="02010609060101010101" charset="-122"/>
                <a:ea typeface="楷体" panose="02010609060101010101" charset="-122"/>
                <a:cs typeface="楷体" panose="02010609060101010101" charset="-122"/>
                <a:sym typeface="楷体" panose="02010609060101010101" charset="-122"/>
              </a:rPr>
              <a:t>C.</a:t>
            </a:r>
            <a:r>
              <a:rPr lang="zh-CN" altLang="en-US" sz="2000" dirty="0">
                <a:latin typeface="楷体" panose="02010609060101010101" charset="-122"/>
                <a:ea typeface="楷体" panose="02010609060101010101" charset="-122"/>
                <a:cs typeface="楷体" panose="02010609060101010101" charset="-122"/>
                <a:sym typeface="楷体" panose="02010609060101010101" charset="-122"/>
              </a:rPr>
              <a:t>铁蛋白通过交联剂与抗体等物质的共价结合，其分辨率高、散射能力强，借助电镜可以准确描述抗原抗体复合物的定位</a:t>
            </a:r>
            <a:endParaRPr lang="zh-CN" altLang="en-US" sz="20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000" dirty="0">
                <a:latin typeface="楷体" panose="02010609060101010101" charset="-122"/>
                <a:ea typeface="楷体" panose="02010609060101010101" charset="-122"/>
                <a:cs typeface="楷体" panose="02010609060101010101" charset="-122"/>
                <a:sym typeface="楷体" panose="02010609060101010101" charset="-122"/>
              </a:rPr>
              <a:t>D.</a:t>
            </a:r>
            <a:r>
              <a:rPr lang="zh-CN" altLang="en-US" sz="2000" dirty="0">
                <a:latin typeface="楷体" panose="02010609060101010101" charset="-122"/>
                <a:ea typeface="楷体" panose="02010609060101010101" charset="-122"/>
                <a:cs typeface="楷体" panose="02010609060101010101" charset="-122"/>
                <a:sym typeface="楷体" panose="02010609060101010101" charset="-122"/>
              </a:rPr>
              <a:t>微流体检测芯片中的免疫电极体系有镀金基层、导电聚合物层和抗体层，三者自下而上依次贴合，提高检测定位的水平</a:t>
            </a:r>
            <a:endParaRPr lang="zh-CN" altLang="en-US" sz="2000" dirty="0">
              <a:latin typeface="楷体" panose="02010609060101010101" charset="-122"/>
              <a:ea typeface="楷体" panose="02010609060101010101" charset="-122"/>
              <a:cs typeface="楷体" panose="02010609060101010101" charset="-122"/>
              <a:sym typeface="楷体" panose="02010609060101010101" charset="-122"/>
            </a:endParaRPr>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idx="4294967295"/>
          </p:nvPr>
        </p:nvSpPr>
        <p:spPr>
          <a:xfrm>
            <a:off x="608400" y="208350"/>
            <a:ext cx="10969200" cy="705600"/>
          </a:xfrm>
        </p:spPr>
        <p:txBody>
          <a:bodyPr/>
          <a:lstStyle/>
          <a:p>
            <a:pPr algn="l">
              <a:buClrTx/>
              <a:buSzTx/>
              <a:buFontTx/>
            </a:pPr>
            <a:r>
              <a:rPr kumimoji="1" lang="zh-CN" sz="3735" b="1" dirty="0">
                <a:solidFill>
                  <a:srgbClr val="FF653F"/>
                </a:solidFill>
                <a:latin typeface="+mj-lt"/>
                <a:ea typeface="+mj-lt"/>
                <a:cs typeface="+mj-lt"/>
              </a:rPr>
              <a:t>题</a:t>
            </a:r>
            <a:r>
              <a:rPr kumimoji="1" lang="en-US" altLang="zh-CN" sz="3735" b="1" dirty="0">
                <a:solidFill>
                  <a:srgbClr val="FF653F"/>
                </a:solidFill>
                <a:latin typeface="+mj-lt"/>
                <a:ea typeface="+mj-lt"/>
                <a:cs typeface="+mj-lt"/>
              </a:rPr>
              <a:t>79</a:t>
            </a:r>
            <a:endParaRPr kumimoji="1" lang="en-US" altLang="zh-CN" sz="3735" b="1" dirty="0">
              <a:solidFill>
                <a:srgbClr val="FF653F"/>
              </a:solidFill>
              <a:latin typeface="+mj-lt"/>
              <a:ea typeface="+mj-lt"/>
              <a:cs typeface="+mj-lt"/>
            </a:endParaRPr>
          </a:p>
        </p:txBody>
      </p:sp>
      <p:sp>
        <p:nvSpPr>
          <p:cNvPr id="4" name="文本框 3"/>
          <p:cNvSpPr txBox="1"/>
          <p:nvPr/>
        </p:nvSpPr>
        <p:spPr>
          <a:xfrm>
            <a:off x="608330" y="756285"/>
            <a:ext cx="10968355" cy="3784600"/>
          </a:xfrm>
          <a:prstGeom prst="rect">
            <a:avLst/>
          </a:prstGeom>
          <a:noFill/>
        </p:spPr>
        <p:txBody>
          <a:bodyPr wrap="square" rtlCol="0" anchor="t">
            <a:spAutoFit/>
          </a:bodyPr>
          <a:p>
            <a:pPr indent="0" algn="l" fontAlgn="auto">
              <a:lnSpc>
                <a:spcPct val="150000"/>
              </a:lnSpc>
            </a:pPr>
            <a:r>
              <a:rPr lang="zh-CN" altLang="en-US" sz="2000" dirty="0">
                <a:latin typeface="楷体" panose="02010609060101010101" charset="-122"/>
                <a:ea typeface="楷体" panose="02010609060101010101" charset="-122"/>
                <a:cs typeface="楷体" panose="02010609060101010101" charset="-122"/>
                <a:sym typeface="楷体" panose="02010609060101010101" charset="-122"/>
              </a:rPr>
              <a:t>意思主义和表示主义是解释确定语言含义的两种方法。当语言发生歧义时。意思主义认为应当按照言语者内心所欲表达的真实意思来确定语言含义，而无需在意别人如何理解；反之，表示主义主张语言一旦表达出来便与言语者没有关系了，应当按照社会公众的通常理解来确定语言的含义。</a:t>
            </a:r>
            <a:endParaRPr lang="zh-CN" altLang="en-US" sz="20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zh-CN" altLang="en-US" sz="2000" dirty="0">
                <a:latin typeface="楷体" panose="02010609060101010101" charset="-122"/>
                <a:ea typeface="楷体" panose="02010609060101010101" charset="-122"/>
                <a:cs typeface="楷体" panose="02010609060101010101" charset="-122"/>
                <a:sym typeface="楷体" panose="02010609060101010101" charset="-122"/>
              </a:rPr>
              <a:t>根据上述定义，下列说法最能体现意思主义的是：</a:t>
            </a:r>
            <a:endParaRPr lang="zh-CN" altLang="en-US" sz="20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000" dirty="0">
                <a:latin typeface="楷体" panose="02010609060101010101" charset="-122"/>
                <a:ea typeface="楷体" panose="02010609060101010101" charset="-122"/>
                <a:cs typeface="楷体" panose="02010609060101010101" charset="-122"/>
                <a:sym typeface="楷体" panose="02010609060101010101" charset="-122"/>
              </a:rPr>
              <a:t>A.</a:t>
            </a:r>
            <a:r>
              <a:rPr lang="zh-CN" altLang="en-US" sz="2000" dirty="0">
                <a:latin typeface="楷体" panose="02010609060101010101" charset="-122"/>
                <a:ea typeface="楷体" panose="02010609060101010101" charset="-122"/>
                <a:cs typeface="楷体" panose="02010609060101010101" charset="-122"/>
                <a:sym typeface="楷体" panose="02010609060101010101" charset="-122"/>
              </a:rPr>
              <a:t>误载不害真意</a:t>
            </a:r>
            <a:r>
              <a:rPr lang="en-US" altLang="zh-CN" sz="2000" dirty="0">
                <a:latin typeface="楷体" panose="02010609060101010101" charset="-122"/>
                <a:ea typeface="楷体" panose="02010609060101010101" charset="-122"/>
                <a:cs typeface="楷体" panose="02010609060101010101" charset="-122"/>
                <a:sym typeface="楷体" panose="02010609060101010101" charset="-122"/>
              </a:rPr>
              <a:t> </a:t>
            </a:r>
            <a:endParaRPr lang="en-US" altLang="zh-CN" sz="20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000" dirty="0">
                <a:latin typeface="楷体" panose="02010609060101010101" charset="-122"/>
                <a:ea typeface="楷体" panose="02010609060101010101" charset="-122"/>
                <a:cs typeface="楷体" panose="02010609060101010101" charset="-122"/>
                <a:sym typeface="楷体" panose="02010609060101010101" charset="-122"/>
              </a:rPr>
              <a:t>B.</a:t>
            </a:r>
            <a:r>
              <a:rPr lang="zh-CN" altLang="en-US" sz="2000" dirty="0">
                <a:latin typeface="楷体" panose="02010609060101010101" charset="-122"/>
                <a:ea typeface="楷体" panose="02010609060101010101" charset="-122"/>
                <a:cs typeface="楷体" panose="02010609060101010101" charset="-122"/>
                <a:sym typeface="楷体" panose="02010609060101010101" charset="-122"/>
              </a:rPr>
              <a:t>人同此心，心同此理</a:t>
            </a:r>
            <a:endParaRPr lang="zh-CN" altLang="en-US" sz="20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000" dirty="0">
                <a:latin typeface="楷体" panose="02010609060101010101" charset="-122"/>
                <a:ea typeface="楷体" panose="02010609060101010101" charset="-122"/>
                <a:cs typeface="楷体" panose="02010609060101010101" charset="-122"/>
                <a:sym typeface="楷体" panose="02010609060101010101" charset="-122"/>
              </a:rPr>
              <a:t>C.</a:t>
            </a:r>
            <a:r>
              <a:rPr lang="zh-CN" altLang="en-US" sz="2000" dirty="0">
                <a:latin typeface="楷体" panose="02010609060101010101" charset="-122"/>
                <a:ea typeface="楷体" panose="02010609060101010101" charset="-122"/>
                <a:cs typeface="楷体" panose="02010609060101010101" charset="-122"/>
                <a:sym typeface="楷体" panose="02010609060101010101" charset="-122"/>
              </a:rPr>
              <a:t>一千个读者有一千个哈姆雷特</a:t>
            </a:r>
            <a:r>
              <a:rPr lang="en-US" altLang="zh-CN" sz="2000" dirty="0">
                <a:latin typeface="楷体" panose="02010609060101010101" charset="-122"/>
                <a:ea typeface="楷体" panose="02010609060101010101" charset="-122"/>
                <a:cs typeface="楷体" panose="02010609060101010101" charset="-122"/>
                <a:sym typeface="楷体" panose="02010609060101010101" charset="-122"/>
              </a:rPr>
              <a:t> </a:t>
            </a:r>
            <a:endParaRPr lang="en-US" altLang="zh-CN" sz="20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000" dirty="0">
                <a:latin typeface="楷体" panose="02010609060101010101" charset="-122"/>
                <a:ea typeface="楷体" panose="02010609060101010101" charset="-122"/>
                <a:cs typeface="楷体" panose="02010609060101010101" charset="-122"/>
                <a:sym typeface="楷体" panose="02010609060101010101" charset="-122"/>
              </a:rPr>
              <a:t>D.</a:t>
            </a:r>
            <a:r>
              <a:rPr lang="zh-CN" altLang="en-US" sz="2000" dirty="0">
                <a:latin typeface="楷体" panose="02010609060101010101" charset="-122"/>
                <a:ea typeface="楷体" panose="02010609060101010101" charset="-122"/>
                <a:cs typeface="楷体" panose="02010609060101010101" charset="-122"/>
                <a:sym typeface="楷体" panose="02010609060101010101" charset="-122"/>
              </a:rPr>
              <a:t>横看成岭侧成峰，远近高低各不同</a:t>
            </a:r>
            <a:endParaRPr lang="zh-CN" altLang="en-US" sz="2000" dirty="0">
              <a:latin typeface="楷体" panose="02010609060101010101" charset="-122"/>
              <a:ea typeface="楷体" panose="02010609060101010101" charset="-122"/>
              <a:cs typeface="楷体" panose="02010609060101010101" charset="-122"/>
              <a:sym typeface="楷体" panose="02010609060101010101" charset="-122"/>
            </a:endParaRPr>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idx="4294967295"/>
          </p:nvPr>
        </p:nvSpPr>
        <p:spPr>
          <a:xfrm>
            <a:off x="608400" y="208350"/>
            <a:ext cx="10969200" cy="705600"/>
          </a:xfrm>
        </p:spPr>
        <p:txBody>
          <a:bodyPr/>
          <a:lstStyle/>
          <a:p>
            <a:pPr algn="l">
              <a:buClrTx/>
              <a:buSzTx/>
              <a:buFontTx/>
            </a:pPr>
            <a:r>
              <a:rPr kumimoji="1" lang="zh-CN" sz="3735" b="1" dirty="0">
                <a:solidFill>
                  <a:srgbClr val="FF653F"/>
                </a:solidFill>
                <a:latin typeface="+mj-lt"/>
                <a:ea typeface="+mj-lt"/>
                <a:cs typeface="+mj-lt"/>
              </a:rPr>
              <a:t>题</a:t>
            </a:r>
            <a:r>
              <a:rPr kumimoji="1" lang="en-US" altLang="zh-CN" sz="3735" b="1" dirty="0">
                <a:solidFill>
                  <a:srgbClr val="FF653F"/>
                </a:solidFill>
                <a:latin typeface="+mj-lt"/>
                <a:ea typeface="+mj-lt"/>
                <a:cs typeface="+mj-lt"/>
              </a:rPr>
              <a:t>80</a:t>
            </a:r>
            <a:endParaRPr kumimoji="1" lang="en-US" altLang="zh-CN" sz="3735" b="1" dirty="0">
              <a:solidFill>
                <a:srgbClr val="FF653F"/>
              </a:solidFill>
              <a:latin typeface="+mj-lt"/>
              <a:ea typeface="+mj-lt"/>
              <a:cs typeface="+mj-lt"/>
            </a:endParaRPr>
          </a:p>
        </p:txBody>
      </p:sp>
      <p:sp>
        <p:nvSpPr>
          <p:cNvPr id="4" name="文本框 3"/>
          <p:cNvSpPr txBox="1"/>
          <p:nvPr/>
        </p:nvSpPr>
        <p:spPr>
          <a:xfrm>
            <a:off x="608330" y="756285"/>
            <a:ext cx="10968355" cy="5169535"/>
          </a:xfrm>
          <a:prstGeom prst="rect">
            <a:avLst/>
          </a:prstGeom>
          <a:noFill/>
        </p:spPr>
        <p:txBody>
          <a:bodyPr wrap="square" rtlCol="0" anchor="t">
            <a:spAutoFit/>
          </a:bodyPr>
          <a:p>
            <a:pPr indent="0" algn="l" fontAlgn="auto">
              <a:lnSpc>
                <a:spcPct val="150000"/>
              </a:lnSpc>
            </a:pPr>
            <a:r>
              <a:rPr lang="zh-CN" altLang="en-US" sz="2200" dirty="0">
                <a:latin typeface="楷体" panose="02010609060101010101" charset="-122"/>
                <a:ea typeface="楷体" panose="02010609060101010101" charset="-122"/>
                <a:cs typeface="楷体" panose="02010609060101010101" charset="-122"/>
                <a:sym typeface="楷体" panose="02010609060101010101" charset="-122"/>
              </a:rPr>
              <a:t>合意是指当事人双方或者多方意思表示达成一致。决议是指多个主体根据表决原则做出的决定，是经由多数决策程序机制得出的意思表示，决议结果对团体内部全体成员都有效。</a:t>
            </a:r>
            <a:endParaRPr lang="zh-CN" altLang="en-US" sz="22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zh-CN" altLang="en-US" sz="2200" dirty="0">
                <a:latin typeface="楷体" panose="02010609060101010101" charset="-122"/>
                <a:ea typeface="楷体" panose="02010609060101010101" charset="-122"/>
                <a:cs typeface="楷体" panose="02010609060101010101" charset="-122"/>
                <a:sym typeface="楷体" panose="02010609060101010101" charset="-122"/>
              </a:rPr>
              <a:t>根据上述定义，下列属于决议的是：</a:t>
            </a:r>
            <a:endParaRPr lang="zh-CN" altLang="en-US" sz="22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200" dirty="0">
                <a:latin typeface="楷体" panose="02010609060101010101" charset="-122"/>
                <a:ea typeface="楷体" panose="02010609060101010101" charset="-122"/>
                <a:cs typeface="楷体" panose="02010609060101010101" charset="-122"/>
                <a:sym typeface="楷体" panose="02010609060101010101" charset="-122"/>
              </a:rPr>
              <a:t>A.</a:t>
            </a:r>
            <a:r>
              <a:rPr lang="zh-CN" altLang="en-US" sz="2200" dirty="0">
                <a:latin typeface="楷体" panose="02010609060101010101" charset="-122"/>
                <a:ea typeface="楷体" panose="02010609060101010101" charset="-122"/>
                <a:cs typeface="楷体" panose="02010609060101010101" charset="-122"/>
                <a:sym typeface="楷体" panose="02010609060101010101" charset="-122"/>
              </a:rPr>
              <a:t>李某、王某驾车和陈某的车相撞，经过调解员调解，李某、王某和陈某就交通事故的赔偿金额达成一致意见</a:t>
            </a:r>
            <a:endParaRPr lang="zh-CN" altLang="en-US" sz="22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200" dirty="0">
                <a:latin typeface="楷体" panose="02010609060101010101" charset="-122"/>
                <a:ea typeface="楷体" panose="02010609060101010101" charset="-122"/>
                <a:cs typeface="楷体" panose="02010609060101010101" charset="-122"/>
                <a:sym typeface="楷体" panose="02010609060101010101" charset="-122"/>
              </a:rPr>
              <a:t>B.</a:t>
            </a:r>
            <a:r>
              <a:rPr lang="zh-CN" altLang="en-US" sz="2200" dirty="0">
                <a:latin typeface="楷体" panose="02010609060101010101" charset="-122"/>
                <a:ea typeface="楷体" panose="02010609060101010101" charset="-122"/>
                <a:cs typeface="楷体" panose="02010609060101010101" charset="-122"/>
                <a:sym typeface="楷体" panose="02010609060101010101" charset="-122"/>
              </a:rPr>
              <a:t>某上市公司召开股东会就增加注册资本事宜进行投票，虽然有</a:t>
            </a:r>
            <a:r>
              <a:rPr lang="en-US" altLang="zh-CN" sz="2200" dirty="0">
                <a:latin typeface="楷体" panose="02010609060101010101" charset="-122"/>
                <a:ea typeface="楷体" panose="02010609060101010101" charset="-122"/>
                <a:cs typeface="楷体" panose="02010609060101010101" charset="-122"/>
                <a:sym typeface="楷体" panose="02010609060101010101" charset="-122"/>
              </a:rPr>
              <a:t>12%</a:t>
            </a:r>
            <a:r>
              <a:rPr lang="zh-CN" altLang="en-US" sz="2200" dirty="0">
                <a:latin typeface="楷体" panose="02010609060101010101" charset="-122"/>
                <a:ea typeface="楷体" panose="02010609060101010101" charset="-122"/>
                <a:cs typeface="楷体" panose="02010609060101010101" charset="-122"/>
                <a:sym typeface="楷体" panose="02010609060101010101" charset="-122"/>
              </a:rPr>
              <a:t>的股东投反对票，但仍通过了决定</a:t>
            </a:r>
            <a:endParaRPr lang="zh-CN" altLang="en-US" sz="22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200" dirty="0">
                <a:latin typeface="楷体" panose="02010609060101010101" charset="-122"/>
                <a:ea typeface="楷体" panose="02010609060101010101" charset="-122"/>
                <a:cs typeface="楷体" panose="02010609060101010101" charset="-122"/>
                <a:sym typeface="楷体" panose="02010609060101010101" charset="-122"/>
              </a:rPr>
              <a:t>C.</a:t>
            </a:r>
            <a:r>
              <a:rPr lang="zh-CN" altLang="en-US" sz="2200" dirty="0">
                <a:latin typeface="楷体" panose="02010609060101010101" charset="-122"/>
                <a:ea typeface="楷体" panose="02010609060101010101" charset="-122"/>
                <a:cs typeface="楷体" panose="02010609060101010101" charset="-122"/>
                <a:sym typeface="楷体" panose="02010609060101010101" charset="-122"/>
              </a:rPr>
              <a:t>黄某要求解除婚姻关系，他的妻子坚决不同意：</a:t>
            </a:r>
            <a:r>
              <a:rPr lang="en-US" altLang="zh-CN" sz="2200" dirty="0">
                <a:latin typeface="楷体" panose="02010609060101010101" charset="-122"/>
                <a:ea typeface="楷体" panose="02010609060101010101" charset="-122"/>
                <a:cs typeface="楷体" panose="02010609060101010101" charset="-122"/>
                <a:sym typeface="楷体" panose="02010609060101010101" charset="-122"/>
              </a:rPr>
              <a:t>“</a:t>
            </a:r>
            <a:r>
              <a:rPr lang="zh-CN" altLang="en-US" sz="2200" dirty="0">
                <a:latin typeface="楷体" panose="02010609060101010101" charset="-122"/>
                <a:ea typeface="楷体" panose="02010609060101010101" charset="-122"/>
                <a:cs typeface="楷体" panose="02010609060101010101" charset="-122"/>
                <a:sym typeface="楷体" panose="02010609060101010101" charset="-122"/>
              </a:rPr>
              <a:t>离婚不是一个人说了算</a:t>
            </a:r>
            <a:r>
              <a:rPr lang="en-US" altLang="zh-CN" sz="2200" dirty="0">
                <a:latin typeface="楷体" panose="02010609060101010101" charset="-122"/>
                <a:ea typeface="楷体" panose="02010609060101010101" charset="-122"/>
                <a:cs typeface="楷体" panose="02010609060101010101" charset="-122"/>
                <a:sym typeface="楷体" panose="02010609060101010101" charset="-122"/>
              </a:rPr>
              <a:t>”</a:t>
            </a:r>
            <a:endParaRPr lang="en-US" altLang="zh-CN" sz="22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200" dirty="0">
                <a:latin typeface="楷体" panose="02010609060101010101" charset="-122"/>
                <a:ea typeface="楷体" panose="02010609060101010101" charset="-122"/>
                <a:cs typeface="楷体" panose="02010609060101010101" charset="-122"/>
                <a:sym typeface="楷体" panose="02010609060101010101" charset="-122"/>
              </a:rPr>
              <a:t>D.</a:t>
            </a:r>
            <a:r>
              <a:rPr lang="zh-CN" altLang="en-US" sz="2200" dirty="0">
                <a:latin typeface="楷体" panose="02010609060101010101" charset="-122"/>
                <a:ea typeface="楷体" panose="02010609060101010101" charset="-122"/>
                <a:cs typeface="楷体" panose="02010609060101010101" charset="-122"/>
                <a:sym typeface="楷体" panose="02010609060101010101" charset="-122"/>
              </a:rPr>
              <a:t>某学院组织全体</a:t>
            </a:r>
            <a:r>
              <a:rPr lang="en-US" altLang="zh-CN" sz="2200" dirty="0">
                <a:latin typeface="楷体" panose="02010609060101010101" charset="-122"/>
                <a:ea typeface="楷体" panose="02010609060101010101" charset="-122"/>
                <a:cs typeface="楷体" panose="02010609060101010101" charset="-122"/>
                <a:sym typeface="楷体" panose="02010609060101010101" charset="-122"/>
              </a:rPr>
              <a:t>50</a:t>
            </a:r>
            <a:r>
              <a:rPr lang="zh-CN" altLang="en-US" sz="2200" dirty="0">
                <a:latin typeface="楷体" panose="02010609060101010101" charset="-122"/>
                <a:ea typeface="楷体" panose="02010609060101010101" charset="-122"/>
                <a:cs typeface="楷体" panose="02010609060101010101" charset="-122"/>
                <a:sym typeface="楷体" panose="02010609060101010101" charset="-122"/>
              </a:rPr>
              <a:t>名教师投票推选年度优秀教师</a:t>
            </a:r>
            <a:endParaRPr lang="zh-CN" altLang="en-US" sz="2200" dirty="0">
              <a:latin typeface="楷体" panose="02010609060101010101" charset="-122"/>
              <a:ea typeface="楷体" panose="02010609060101010101" charset="-122"/>
              <a:cs typeface="楷体" panose="02010609060101010101" charset="-122"/>
              <a:sym typeface="楷体" panose="02010609060101010101" charset="-122"/>
            </a:endParaRPr>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idx="4294967295"/>
          </p:nvPr>
        </p:nvSpPr>
        <p:spPr>
          <a:xfrm>
            <a:off x="608400" y="208350"/>
            <a:ext cx="10969200" cy="705600"/>
          </a:xfrm>
        </p:spPr>
        <p:txBody>
          <a:bodyPr/>
          <a:lstStyle/>
          <a:p>
            <a:pPr algn="l">
              <a:buClrTx/>
              <a:buSzTx/>
              <a:buFontTx/>
            </a:pPr>
            <a:r>
              <a:rPr kumimoji="1" lang="zh-CN" sz="3735" b="1" dirty="0">
                <a:solidFill>
                  <a:srgbClr val="FF653F"/>
                </a:solidFill>
                <a:latin typeface="+mj-lt"/>
                <a:ea typeface="+mj-lt"/>
                <a:cs typeface="+mj-lt"/>
              </a:rPr>
              <a:t>题</a:t>
            </a:r>
            <a:r>
              <a:rPr kumimoji="1" lang="en-US" altLang="zh-CN" sz="3735" b="1" dirty="0">
                <a:solidFill>
                  <a:srgbClr val="FF653F"/>
                </a:solidFill>
                <a:latin typeface="+mj-lt"/>
                <a:ea typeface="+mj-lt"/>
                <a:cs typeface="+mj-lt"/>
              </a:rPr>
              <a:t>81</a:t>
            </a:r>
            <a:endParaRPr kumimoji="1" lang="en-US" altLang="zh-CN" sz="3735" b="1" dirty="0">
              <a:solidFill>
                <a:srgbClr val="FF653F"/>
              </a:solidFill>
              <a:latin typeface="+mj-lt"/>
              <a:ea typeface="+mj-lt"/>
              <a:cs typeface="+mj-lt"/>
            </a:endParaRPr>
          </a:p>
        </p:txBody>
      </p:sp>
      <p:sp>
        <p:nvSpPr>
          <p:cNvPr id="4" name="文本框 3"/>
          <p:cNvSpPr txBox="1"/>
          <p:nvPr/>
        </p:nvSpPr>
        <p:spPr>
          <a:xfrm>
            <a:off x="608330" y="756285"/>
            <a:ext cx="10968355" cy="5631180"/>
          </a:xfrm>
          <a:prstGeom prst="rect">
            <a:avLst/>
          </a:prstGeom>
          <a:noFill/>
        </p:spPr>
        <p:txBody>
          <a:bodyPr wrap="square" rtlCol="0" anchor="t">
            <a:spAutoFit/>
          </a:bodyPr>
          <a:p>
            <a:pPr indent="0" algn="l" fontAlgn="auto">
              <a:lnSpc>
                <a:spcPct val="150000"/>
              </a:lnSpc>
            </a:pPr>
            <a:r>
              <a:rPr lang="zh-CN" altLang="en-US" sz="2400" dirty="0">
                <a:latin typeface="楷体" panose="02010609060101010101" charset="-122"/>
                <a:ea typeface="楷体" panose="02010609060101010101" charset="-122"/>
                <a:cs typeface="楷体" panose="02010609060101010101" charset="-122"/>
                <a:sym typeface="楷体" panose="02010609060101010101" charset="-122"/>
              </a:rPr>
              <a:t>某研究团队发布了一项关于睡眠习惯、时间与癌症风险的研究。研究分析了近</a:t>
            </a:r>
            <a:r>
              <a:rPr lang="en-US" altLang="zh-CN" sz="2400" dirty="0">
                <a:latin typeface="楷体" panose="02010609060101010101" charset="-122"/>
                <a:ea typeface="楷体" panose="02010609060101010101" charset="-122"/>
                <a:cs typeface="楷体" panose="02010609060101010101" charset="-122"/>
                <a:sym typeface="楷体" panose="02010609060101010101" charset="-122"/>
              </a:rPr>
              <a:t>1.5</a:t>
            </a:r>
            <a:r>
              <a:rPr lang="zh-CN" altLang="en-US" sz="2400" dirty="0">
                <a:latin typeface="楷体" panose="02010609060101010101" charset="-122"/>
                <a:ea typeface="楷体" panose="02010609060101010101" charset="-122"/>
                <a:cs typeface="楷体" panose="02010609060101010101" charset="-122"/>
                <a:sym typeface="楷体" panose="02010609060101010101" charset="-122"/>
              </a:rPr>
              <a:t>万人，发现睡眠时间短导致癌症风险升高，和睡眠时间为</a:t>
            </a:r>
            <a:r>
              <a:rPr lang="en-US" altLang="zh-CN" sz="2400" dirty="0">
                <a:latin typeface="楷体" panose="02010609060101010101" charset="-122"/>
                <a:ea typeface="楷体" panose="02010609060101010101" charset="-122"/>
                <a:cs typeface="楷体" panose="02010609060101010101" charset="-122"/>
                <a:sym typeface="楷体" panose="02010609060101010101" charset="-122"/>
              </a:rPr>
              <a:t>6-8</a:t>
            </a:r>
            <a:r>
              <a:rPr lang="zh-CN" altLang="en-US" sz="2400" dirty="0">
                <a:latin typeface="楷体" panose="02010609060101010101" charset="-122"/>
                <a:ea typeface="楷体" panose="02010609060101010101" charset="-122"/>
                <a:cs typeface="楷体" panose="02010609060101010101" charset="-122"/>
                <a:sym typeface="楷体" panose="02010609060101010101" charset="-122"/>
              </a:rPr>
              <a:t>小时的参与者相比，夜间睡眠时间少于</a:t>
            </a:r>
            <a:r>
              <a:rPr lang="en-US" altLang="zh-CN" sz="2400" dirty="0">
                <a:latin typeface="楷体" panose="02010609060101010101" charset="-122"/>
                <a:ea typeface="楷体" panose="02010609060101010101" charset="-122"/>
                <a:cs typeface="楷体" panose="02010609060101010101" charset="-122"/>
                <a:sym typeface="楷体" panose="02010609060101010101" charset="-122"/>
              </a:rPr>
              <a:t>6</a:t>
            </a:r>
            <a:r>
              <a:rPr lang="zh-CN" altLang="en-US" sz="2400" dirty="0">
                <a:latin typeface="楷体" panose="02010609060101010101" charset="-122"/>
                <a:ea typeface="楷体" panose="02010609060101010101" charset="-122"/>
                <a:cs typeface="楷体" panose="02010609060101010101" charset="-122"/>
                <a:sym typeface="楷体" panose="02010609060101010101" charset="-122"/>
              </a:rPr>
              <a:t>小时的人，患癌风险升高</a:t>
            </a:r>
            <a:r>
              <a:rPr lang="en-US" altLang="zh-CN" sz="2400" dirty="0">
                <a:latin typeface="楷体" panose="02010609060101010101" charset="-122"/>
                <a:ea typeface="楷体" panose="02010609060101010101" charset="-122"/>
                <a:cs typeface="楷体" panose="02010609060101010101" charset="-122"/>
                <a:sym typeface="楷体" panose="02010609060101010101" charset="-122"/>
              </a:rPr>
              <a:t>41%</a:t>
            </a:r>
            <a:r>
              <a:rPr lang="zh-CN" altLang="en-US" sz="2400" dirty="0">
                <a:latin typeface="楷体" panose="02010609060101010101" charset="-122"/>
                <a:ea typeface="楷体" panose="02010609060101010101" charset="-122"/>
                <a:cs typeface="楷体" panose="02010609060101010101" charset="-122"/>
                <a:sym typeface="楷体" panose="02010609060101010101" charset="-122"/>
              </a:rPr>
              <a:t>，和午睡时间多于</a:t>
            </a:r>
            <a:r>
              <a:rPr lang="en-US" altLang="zh-CN" sz="2400" dirty="0">
                <a:latin typeface="楷体" panose="02010609060101010101" charset="-122"/>
                <a:ea typeface="楷体" panose="02010609060101010101" charset="-122"/>
                <a:cs typeface="楷体" panose="02010609060101010101" charset="-122"/>
                <a:sym typeface="楷体" panose="02010609060101010101" charset="-122"/>
              </a:rPr>
              <a:t>60</a:t>
            </a:r>
            <a:r>
              <a:rPr lang="zh-CN" altLang="en-US" sz="2400" dirty="0">
                <a:latin typeface="楷体" panose="02010609060101010101" charset="-122"/>
                <a:ea typeface="楷体" panose="02010609060101010101" charset="-122"/>
                <a:cs typeface="楷体" panose="02010609060101010101" charset="-122"/>
                <a:sym typeface="楷体" panose="02010609060101010101" charset="-122"/>
              </a:rPr>
              <a:t>分钟的参与者相比，从不午睡的参与者患癌风险升高</a:t>
            </a:r>
            <a:r>
              <a:rPr lang="en-US" altLang="zh-CN" sz="2400" dirty="0">
                <a:latin typeface="楷体" panose="02010609060101010101" charset="-122"/>
                <a:ea typeface="楷体" panose="02010609060101010101" charset="-122"/>
                <a:cs typeface="楷体" panose="02010609060101010101" charset="-122"/>
                <a:sym typeface="楷体" panose="02010609060101010101" charset="-122"/>
              </a:rPr>
              <a:t>60%</a:t>
            </a:r>
            <a:r>
              <a:rPr lang="zh-CN" altLang="en-US" sz="2400" dirty="0">
                <a:latin typeface="楷体" panose="02010609060101010101" charset="-122"/>
                <a:ea typeface="楷体" panose="02010609060101010101" charset="-122"/>
                <a:cs typeface="楷体" panose="02010609060101010101" charset="-122"/>
                <a:sym typeface="楷体" panose="02010609060101010101" charset="-122"/>
              </a:rPr>
              <a:t>。</a:t>
            </a:r>
            <a:endParaRPr lang="zh-CN" altLang="en-US" sz="24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zh-CN" altLang="en-US" sz="2400" dirty="0">
                <a:latin typeface="楷体" panose="02010609060101010101" charset="-122"/>
                <a:ea typeface="楷体" panose="02010609060101010101" charset="-122"/>
                <a:cs typeface="楷体" panose="02010609060101010101" charset="-122"/>
                <a:sym typeface="楷体" panose="02010609060101010101" charset="-122"/>
              </a:rPr>
              <a:t>以下哪项如果为真，最能加强上述观点：</a:t>
            </a:r>
            <a:endParaRPr lang="zh-CN" altLang="en-US" sz="24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400" dirty="0">
                <a:latin typeface="楷体" panose="02010609060101010101" charset="-122"/>
                <a:ea typeface="楷体" panose="02010609060101010101" charset="-122"/>
                <a:cs typeface="楷体" panose="02010609060101010101" charset="-122"/>
                <a:sym typeface="楷体" panose="02010609060101010101" charset="-122"/>
              </a:rPr>
              <a:t>A.</a:t>
            </a:r>
            <a:r>
              <a:rPr lang="zh-CN" altLang="en-US" sz="2400" dirty="0">
                <a:latin typeface="楷体" panose="02010609060101010101" charset="-122"/>
                <a:ea typeface="楷体" panose="02010609060101010101" charset="-122"/>
                <a:cs typeface="楷体" panose="02010609060101010101" charset="-122"/>
                <a:sym typeface="楷体" panose="02010609060101010101" charset="-122"/>
              </a:rPr>
              <a:t>睡眠时间短会损害免疫功能、降低人体对肿瘤细胞的识别和消灭能力</a:t>
            </a:r>
            <a:endParaRPr lang="zh-CN" altLang="en-US" sz="24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400" dirty="0">
                <a:latin typeface="楷体" panose="02010609060101010101" charset="-122"/>
                <a:ea typeface="楷体" panose="02010609060101010101" charset="-122"/>
                <a:cs typeface="楷体" panose="02010609060101010101" charset="-122"/>
                <a:sym typeface="楷体" panose="02010609060101010101" charset="-122"/>
              </a:rPr>
              <a:t>B.</a:t>
            </a:r>
            <a:r>
              <a:rPr lang="zh-CN" altLang="en-US" sz="2400" dirty="0">
                <a:latin typeface="楷体" panose="02010609060101010101" charset="-122"/>
                <a:ea typeface="楷体" panose="02010609060101010101" charset="-122"/>
                <a:cs typeface="楷体" panose="02010609060101010101" charset="-122"/>
                <a:sym typeface="楷体" panose="02010609060101010101" charset="-122"/>
              </a:rPr>
              <a:t>人类环境、卫生资源和睡眠习惯的变化，导致癌症发病原因发生了变化</a:t>
            </a:r>
            <a:endParaRPr lang="zh-CN" altLang="en-US" sz="24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400" dirty="0">
                <a:latin typeface="楷体" panose="02010609060101010101" charset="-122"/>
                <a:ea typeface="楷体" panose="02010609060101010101" charset="-122"/>
                <a:cs typeface="楷体" panose="02010609060101010101" charset="-122"/>
                <a:sym typeface="楷体" panose="02010609060101010101" charset="-122"/>
              </a:rPr>
              <a:t>C.</a:t>
            </a:r>
            <a:r>
              <a:rPr lang="zh-CN" altLang="en-US" sz="2400" dirty="0">
                <a:latin typeface="楷体" panose="02010609060101010101" charset="-122"/>
                <a:ea typeface="楷体" panose="02010609060101010101" charset="-122"/>
                <a:cs typeface="楷体" panose="02010609060101010101" charset="-122"/>
                <a:sym typeface="楷体" panose="02010609060101010101" charset="-122"/>
              </a:rPr>
              <a:t>夜间睡眠时间短或不午睡的参与者，大多年龄较大且缺少锻炼，健康状况不佳</a:t>
            </a:r>
            <a:endParaRPr lang="zh-CN" altLang="en-US" sz="24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400" dirty="0">
                <a:latin typeface="楷体" panose="02010609060101010101" charset="-122"/>
                <a:ea typeface="楷体" panose="02010609060101010101" charset="-122"/>
                <a:cs typeface="楷体" panose="02010609060101010101" charset="-122"/>
                <a:sym typeface="楷体" panose="02010609060101010101" charset="-122"/>
              </a:rPr>
              <a:t>D.</a:t>
            </a:r>
            <a:r>
              <a:rPr lang="zh-CN" altLang="en-US" sz="2400" dirty="0">
                <a:latin typeface="楷体" panose="02010609060101010101" charset="-122"/>
                <a:ea typeface="楷体" panose="02010609060101010101" charset="-122"/>
                <a:cs typeface="楷体" panose="02010609060101010101" charset="-122"/>
                <a:sym typeface="楷体" panose="02010609060101010101" charset="-122"/>
              </a:rPr>
              <a:t>和总睡眠时间为</a:t>
            </a:r>
            <a:r>
              <a:rPr lang="en-US" altLang="zh-CN" sz="2400" dirty="0">
                <a:latin typeface="楷体" panose="02010609060101010101" charset="-122"/>
                <a:ea typeface="楷体" panose="02010609060101010101" charset="-122"/>
                <a:cs typeface="楷体" panose="02010609060101010101" charset="-122"/>
                <a:sym typeface="楷体" panose="02010609060101010101" charset="-122"/>
              </a:rPr>
              <a:t>7-8</a:t>
            </a:r>
            <a:r>
              <a:rPr lang="zh-CN" altLang="en-US" sz="2400" dirty="0">
                <a:latin typeface="楷体" panose="02010609060101010101" charset="-122"/>
                <a:ea typeface="楷体" panose="02010609060101010101" charset="-122"/>
                <a:cs typeface="楷体" panose="02010609060101010101" charset="-122"/>
                <a:sym typeface="楷体" panose="02010609060101010101" charset="-122"/>
              </a:rPr>
              <a:t>小时的参与者相比，总睡眠时间少于</a:t>
            </a:r>
            <a:r>
              <a:rPr lang="en-US" altLang="zh-CN" sz="2400" dirty="0">
                <a:latin typeface="楷体" panose="02010609060101010101" charset="-122"/>
                <a:ea typeface="楷体" panose="02010609060101010101" charset="-122"/>
                <a:cs typeface="楷体" panose="02010609060101010101" charset="-122"/>
                <a:sym typeface="楷体" panose="02010609060101010101" charset="-122"/>
              </a:rPr>
              <a:t>7</a:t>
            </a:r>
            <a:r>
              <a:rPr lang="zh-CN" altLang="en-US" sz="2400" dirty="0">
                <a:latin typeface="楷体" panose="02010609060101010101" charset="-122"/>
                <a:ea typeface="楷体" panose="02010609060101010101" charset="-122"/>
                <a:cs typeface="楷体" panose="02010609060101010101" charset="-122"/>
                <a:sym typeface="楷体" panose="02010609060101010101" charset="-122"/>
              </a:rPr>
              <a:t>小时的男性，患癌风险升高</a:t>
            </a:r>
            <a:r>
              <a:rPr lang="en-US" altLang="zh-CN" sz="2400" dirty="0">
                <a:latin typeface="楷体" panose="02010609060101010101" charset="-122"/>
                <a:ea typeface="楷体" panose="02010609060101010101" charset="-122"/>
                <a:cs typeface="楷体" panose="02010609060101010101" charset="-122"/>
                <a:sym typeface="楷体" panose="02010609060101010101" charset="-122"/>
              </a:rPr>
              <a:t>69%</a:t>
            </a:r>
            <a:endParaRPr lang="en-US" altLang="zh-CN" sz="2400" dirty="0">
              <a:latin typeface="楷体" panose="02010609060101010101" charset="-122"/>
              <a:ea typeface="楷体" panose="02010609060101010101" charset="-122"/>
              <a:cs typeface="楷体" panose="02010609060101010101" charset="-122"/>
              <a:sym typeface="楷体" panose="02010609060101010101" charset="-122"/>
            </a:endParaRPr>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idx="4294967295"/>
          </p:nvPr>
        </p:nvSpPr>
        <p:spPr>
          <a:xfrm>
            <a:off x="608400" y="208350"/>
            <a:ext cx="10969200" cy="705600"/>
          </a:xfrm>
        </p:spPr>
        <p:txBody>
          <a:bodyPr/>
          <a:lstStyle/>
          <a:p>
            <a:pPr algn="l">
              <a:buClrTx/>
              <a:buSzTx/>
              <a:buFontTx/>
            </a:pPr>
            <a:r>
              <a:rPr kumimoji="1" lang="zh-CN" sz="3735" b="1" dirty="0">
                <a:solidFill>
                  <a:srgbClr val="FF653F"/>
                </a:solidFill>
                <a:latin typeface="+mj-lt"/>
                <a:ea typeface="+mj-lt"/>
                <a:cs typeface="+mj-lt"/>
              </a:rPr>
              <a:t>题</a:t>
            </a:r>
            <a:r>
              <a:rPr kumimoji="1" lang="en-US" altLang="zh-CN" sz="3735" b="1" dirty="0">
                <a:solidFill>
                  <a:srgbClr val="FF653F"/>
                </a:solidFill>
                <a:latin typeface="+mj-lt"/>
                <a:ea typeface="+mj-lt"/>
                <a:cs typeface="+mj-lt"/>
              </a:rPr>
              <a:t>82</a:t>
            </a:r>
            <a:endParaRPr kumimoji="1" lang="en-US" altLang="zh-CN" sz="3735" b="1" dirty="0">
              <a:solidFill>
                <a:srgbClr val="FF653F"/>
              </a:solidFill>
              <a:latin typeface="+mj-lt"/>
              <a:ea typeface="+mj-lt"/>
              <a:cs typeface="+mj-lt"/>
            </a:endParaRPr>
          </a:p>
        </p:txBody>
      </p:sp>
      <p:sp>
        <p:nvSpPr>
          <p:cNvPr id="4" name="文本框 3"/>
          <p:cNvSpPr txBox="1"/>
          <p:nvPr/>
        </p:nvSpPr>
        <p:spPr>
          <a:xfrm>
            <a:off x="608330" y="756285"/>
            <a:ext cx="10968355" cy="4707890"/>
          </a:xfrm>
          <a:prstGeom prst="rect">
            <a:avLst/>
          </a:prstGeom>
          <a:noFill/>
        </p:spPr>
        <p:txBody>
          <a:bodyPr wrap="square" rtlCol="0" anchor="t">
            <a:spAutoFit/>
          </a:bodyPr>
          <a:p>
            <a:pPr indent="0" algn="l" fontAlgn="auto">
              <a:lnSpc>
                <a:spcPct val="150000"/>
              </a:lnSpc>
            </a:pPr>
            <a:r>
              <a:rPr lang="zh-CN" altLang="en-US" sz="2000" dirty="0">
                <a:latin typeface="楷体" panose="02010609060101010101" charset="-122"/>
                <a:ea typeface="楷体" panose="02010609060101010101" charset="-122"/>
                <a:cs typeface="楷体" panose="02010609060101010101" charset="-122"/>
                <a:sym typeface="楷体" panose="02010609060101010101" charset="-122"/>
              </a:rPr>
              <a:t>在长期的进化过程中，蝙蝠（狐蝠除外）获得了对夜间飞行十分有利的回声定位能力，可以将喉咙和鼻子处生成的超声波以短脉冲形式发射到周围，并且能用耳朵接收反射回的声波，以此来确定自身到物体的距离、物体所在方向以及物体形状等。一般来说，蝙蝠的寿命比其他相同体型的哺乳类动物要长</a:t>
            </a:r>
            <a:r>
              <a:rPr lang="en-US" altLang="zh-CN" sz="2000" dirty="0">
                <a:latin typeface="楷体" panose="02010609060101010101" charset="-122"/>
                <a:ea typeface="楷体" panose="02010609060101010101" charset="-122"/>
                <a:cs typeface="楷体" panose="02010609060101010101" charset="-122"/>
                <a:sym typeface="楷体" panose="02010609060101010101" charset="-122"/>
              </a:rPr>
              <a:t>3.5</a:t>
            </a:r>
            <a:r>
              <a:rPr lang="zh-CN" altLang="en-US" sz="2000" dirty="0">
                <a:latin typeface="楷体" panose="02010609060101010101" charset="-122"/>
                <a:ea typeface="楷体" panose="02010609060101010101" charset="-122"/>
                <a:cs typeface="楷体" panose="02010609060101010101" charset="-122"/>
                <a:sym typeface="楷体" panose="02010609060101010101" charset="-122"/>
              </a:rPr>
              <a:t>倍，有科学家推测，蝙蝠的夜行性和飞行能力可以降低它们被捕食的风险，这可能对其寿命的延长有所帮助。</a:t>
            </a:r>
            <a:endParaRPr lang="zh-CN" altLang="en-US" sz="20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zh-CN" altLang="en-US" sz="2000" dirty="0">
                <a:latin typeface="楷体" panose="02010609060101010101" charset="-122"/>
                <a:ea typeface="楷体" panose="02010609060101010101" charset="-122"/>
                <a:cs typeface="楷体" panose="02010609060101010101" charset="-122"/>
                <a:sym typeface="楷体" panose="02010609060101010101" charset="-122"/>
              </a:rPr>
              <a:t>以下哪项如果为真，最能加强上述科学家的推测：</a:t>
            </a:r>
            <a:endParaRPr lang="zh-CN" altLang="en-US" sz="20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000" dirty="0">
                <a:latin typeface="楷体" panose="02010609060101010101" charset="-122"/>
                <a:ea typeface="楷体" panose="02010609060101010101" charset="-122"/>
                <a:cs typeface="楷体" panose="02010609060101010101" charset="-122"/>
                <a:sym typeface="楷体" panose="02010609060101010101" charset="-122"/>
              </a:rPr>
              <a:t>A.</a:t>
            </a:r>
            <a:r>
              <a:rPr lang="zh-CN" altLang="en-US" sz="2000" dirty="0">
                <a:latin typeface="楷体" panose="02010609060101010101" charset="-122"/>
                <a:ea typeface="楷体" panose="02010609060101010101" charset="-122"/>
                <a:cs typeface="楷体" panose="02010609060101010101" charset="-122"/>
                <a:sym typeface="楷体" panose="02010609060101010101" charset="-122"/>
              </a:rPr>
              <a:t>在夜间飞行时，如果蝙蝠的耳朵被堵住，它们就无法顺利地躲避障碍物</a:t>
            </a:r>
            <a:endParaRPr lang="zh-CN" altLang="en-US" sz="20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000" dirty="0">
                <a:latin typeface="楷体" panose="02010609060101010101" charset="-122"/>
                <a:ea typeface="楷体" panose="02010609060101010101" charset="-122"/>
                <a:cs typeface="楷体" panose="02010609060101010101" charset="-122"/>
                <a:sym typeface="楷体" panose="02010609060101010101" charset="-122"/>
              </a:rPr>
              <a:t>B.</a:t>
            </a:r>
            <a:r>
              <a:rPr lang="zh-CN" altLang="en-US" sz="2000" dirty="0">
                <a:latin typeface="楷体" panose="02010609060101010101" charset="-122"/>
                <a:ea typeface="楷体" panose="02010609060101010101" charset="-122"/>
                <a:cs typeface="楷体" panose="02010609060101010101" charset="-122"/>
                <a:sym typeface="楷体" panose="02010609060101010101" charset="-122"/>
              </a:rPr>
              <a:t>倒挂姿势不仅有助于蝙蝠起飞，还可以使它们睡在洞穴顶部等隐蔽场所</a:t>
            </a:r>
            <a:endParaRPr lang="zh-CN" altLang="en-US" sz="20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000" dirty="0">
                <a:latin typeface="楷体" panose="02010609060101010101" charset="-122"/>
                <a:ea typeface="楷体" panose="02010609060101010101" charset="-122"/>
                <a:cs typeface="楷体" panose="02010609060101010101" charset="-122"/>
                <a:sym typeface="楷体" panose="02010609060101010101" charset="-122"/>
              </a:rPr>
              <a:t>C.</a:t>
            </a:r>
            <a:r>
              <a:rPr lang="zh-CN" altLang="en-US" sz="2000" dirty="0">
                <a:latin typeface="楷体" panose="02010609060101010101" charset="-122"/>
                <a:ea typeface="楷体" panose="02010609060101010101" charset="-122"/>
                <a:cs typeface="楷体" panose="02010609060101010101" charset="-122"/>
                <a:sym typeface="楷体" panose="02010609060101010101" charset="-122"/>
              </a:rPr>
              <a:t>黑暗中蝙蝠能够正确识别周围环境，这有助于它们成功躲避天敌的侵扰</a:t>
            </a:r>
            <a:endParaRPr lang="zh-CN" altLang="en-US" sz="20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000" dirty="0">
                <a:latin typeface="楷体" panose="02010609060101010101" charset="-122"/>
                <a:ea typeface="楷体" panose="02010609060101010101" charset="-122"/>
                <a:cs typeface="楷体" panose="02010609060101010101" charset="-122"/>
                <a:sym typeface="楷体" panose="02010609060101010101" charset="-122"/>
              </a:rPr>
              <a:t>D.</a:t>
            </a:r>
            <a:r>
              <a:rPr lang="zh-CN" altLang="en-US" sz="2000" dirty="0">
                <a:latin typeface="楷体" panose="02010609060101010101" charset="-122"/>
                <a:ea typeface="楷体" panose="02010609060101010101" charset="-122"/>
                <a:cs typeface="楷体" panose="02010609060101010101" charset="-122"/>
                <a:sym typeface="楷体" panose="02010609060101010101" charset="-122"/>
              </a:rPr>
              <a:t>蝙蝠体内抑制病毒感染和增殖的蛋白质较多，即使感染病毒也不会发病</a:t>
            </a:r>
            <a:endParaRPr lang="zh-CN" altLang="en-US" sz="2000" dirty="0">
              <a:latin typeface="楷体" panose="02010609060101010101" charset="-122"/>
              <a:ea typeface="楷体" panose="02010609060101010101" charset="-122"/>
              <a:cs typeface="楷体" panose="02010609060101010101" charset="-122"/>
              <a:sym typeface="楷体" panose="02010609060101010101" charset="-122"/>
            </a:endParaRPr>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idx="4294967295"/>
          </p:nvPr>
        </p:nvSpPr>
        <p:spPr>
          <a:xfrm>
            <a:off x="608400" y="208350"/>
            <a:ext cx="10969200" cy="705600"/>
          </a:xfrm>
        </p:spPr>
        <p:txBody>
          <a:bodyPr/>
          <a:lstStyle/>
          <a:p>
            <a:pPr algn="l">
              <a:buClrTx/>
              <a:buSzTx/>
              <a:buFontTx/>
            </a:pPr>
            <a:r>
              <a:rPr kumimoji="1" lang="zh-CN" sz="3735" b="1" dirty="0">
                <a:solidFill>
                  <a:srgbClr val="FF653F"/>
                </a:solidFill>
                <a:latin typeface="+mj-lt"/>
                <a:ea typeface="+mj-lt"/>
                <a:cs typeface="+mj-lt"/>
              </a:rPr>
              <a:t>题</a:t>
            </a:r>
            <a:r>
              <a:rPr kumimoji="1" lang="en-US" altLang="zh-CN" sz="3735" b="1" dirty="0">
                <a:solidFill>
                  <a:srgbClr val="FF653F"/>
                </a:solidFill>
                <a:latin typeface="+mj-lt"/>
                <a:ea typeface="+mj-lt"/>
                <a:cs typeface="+mj-lt"/>
              </a:rPr>
              <a:t>83</a:t>
            </a:r>
            <a:endParaRPr kumimoji="1" lang="en-US" altLang="zh-CN" sz="3735" b="1" dirty="0">
              <a:solidFill>
                <a:srgbClr val="FF653F"/>
              </a:solidFill>
              <a:latin typeface="+mj-lt"/>
              <a:ea typeface="+mj-lt"/>
              <a:cs typeface="+mj-lt"/>
            </a:endParaRPr>
          </a:p>
        </p:txBody>
      </p:sp>
      <p:sp>
        <p:nvSpPr>
          <p:cNvPr id="4" name="文本框 3"/>
          <p:cNvSpPr txBox="1"/>
          <p:nvPr/>
        </p:nvSpPr>
        <p:spPr>
          <a:xfrm>
            <a:off x="608330" y="756285"/>
            <a:ext cx="10968355" cy="4707890"/>
          </a:xfrm>
          <a:prstGeom prst="rect">
            <a:avLst/>
          </a:prstGeom>
          <a:noFill/>
        </p:spPr>
        <p:txBody>
          <a:bodyPr wrap="square" rtlCol="0" anchor="t">
            <a:spAutoFit/>
          </a:bodyPr>
          <a:p>
            <a:pPr indent="0" algn="l" fontAlgn="auto">
              <a:lnSpc>
                <a:spcPct val="150000"/>
              </a:lnSpc>
            </a:pPr>
            <a:r>
              <a:rPr lang="zh-CN" altLang="en-US" sz="2000" dirty="0">
                <a:latin typeface="楷体" panose="02010609060101010101" charset="-122"/>
                <a:ea typeface="楷体" panose="02010609060101010101" charset="-122"/>
                <a:cs typeface="楷体" panose="02010609060101010101" charset="-122"/>
                <a:sym typeface="楷体" panose="02010609060101010101" charset="-122"/>
              </a:rPr>
              <a:t>某地湖水水位的季节性变化显著，洪水期和枯水期的湖水面积和蓄水量相差悬殊，每到秋冬季节进入枯水期，湖水水位急剧下降，湖面沙洲裸露，仅剩几条蜿蜒的水道，对当地居民的生产生活造成不良影响。当地政府计划在湖泊口建设一道巨型水闸，可以在秋冬季节蓄住湖水，以满足灌溉、航运、生活等需求。生态专家认为，水闸不会对生态环境造成负面影响，甚至能够优化当地物种的生存环境。</a:t>
            </a:r>
            <a:endParaRPr lang="zh-CN" altLang="en-US" sz="20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zh-CN" altLang="en-US" sz="2000" dirty="0">
                <a:latin typeface="楷体" panose="02010609060101010101" charset="-122"/>
                <a:ea typeface="楷体" panose="02010609060101010101" charset="-122"/>
                <a:cs typeface="楷体" panose="02010609060101010101" charset="-122"/>
                <a:sym typeface="楷体" panose="02010609060101010101" charset="-122"/>
              </a:rPr>
              <a:t>以下哪项如果为真，最能削弱上述论证：</a:t>
            </a:r>
            <a:endParaRPr lang="zh-CN" altLang="en-US" sz="20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000" dirty="0">
                <a:latin typeface="楷体" panose="02010609060101010101" charset="-122"/>
                <a:ea typeface="楷体" panose="02010609060101010101" charset="-122"/>
                <a:cs typeface="楷体" panose="02010609060101010101" charset="-122"/>
                <a:sym typeface="楷体" panose="02010609060101010101" charset="-122"/>
              </a:rPr>
              <a:t>A.</a:t>
            </a:r>
            <a:r>
              <a:rPr lang="zh-CN" altLang="en-US" sz="2000" dirty="0">
                <a:latin typeface="楷体" panose="02010609060101010101" charset="-122"/>
                <a:ea typeface="楷体" panose="02010609060101010101" charset="-122"/>
                <a:cs typeface="楷体" panose="02010609060101010101" charset="-122"/>
                <a:sym typeface="楷体" panose="02010609060101010101" charset="-122"/>
              </a:rPr>
              <a:t>该湖泊是某些候鸟的栖息地，每年都会吸引它们来此越冬</a:t>
            </a:r>
            <a:endParaRPr lang="zh-CN" altLang="en-US" sz="20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000" dirty="0">
                <a:latin typeface="楷体" panose="02010609060101010101" charset="-122"/>
                <a:ea typeface="楷体" panose="02010609060101010101" charset="-122"/>
                <a:cs typeface="楷体" panose="02010609060101010101" charset="-122"/>
                <a:sym typeface="楷体" panose="02010609060101010101" charset="-122"/>
              </a:rPr>
              <a:t>B.</a:t>
            </a:r>
            <a:r>
              <a:rPr lang="zh-CN" altLang="en-US" sz="2000" dirty="0">
                <a:latin typeface="楷体" panose="02010609060101010101" charset="-122"/>
                <a:ea typeface="楷体" panose="02010609060101010101" charset="-122"/>
                <a:cs typeface="楷体" panose="02010609060101010101" charset="-122"/>
                <a:sym typeface="楷体" panose="02010609060101010101" charset="-122"/>
              </a:rPr>
              <a:t>蓄水会导致湖泊的冬季水位上涨，某些种类的候鸟喜爱浮水游动</a:t>
            </a:r>
            <a:endParaRPr lang="zh-CN" altLang="en-US" sz="20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000" dirty="0">
                <a:latin typeface="楷体" panose="02010609060101010101" charset="-122"/>
                <a:ea typeface="楷体" panose="02010609060101010101" charset="-122"/>
                <a:cs typeface="楷体" panose="02010609060101010101" charset="-122"/>
                <a:sym typeface="楷体" panose="02010609060101010101" charset="-122"/>
              </a:rPr>
              <a:t>C.</a:t>
            </a:r>
            <a:r>
              <a:rPr lang="zh-CN" altLang="en-US" sz="2000" dirty="0">
                <a:latin typeface="楷体" panose="02010609060101010101" charset="-122"/>
                <a:ea typeface="楷体" panose="02010609060101010101" charset="-122"/>
                <a:cs typeface="楷体" panose="02010609060101010101" charset="-122"/>
                <a:sym typeface="楷体" panose="02010609060101010101" charset="-122"/>
              </a:rPr>
              <a:t>水闸上会预留数个</a:t>
            </a:r>
            <a:r>
              <a:rPr lang="en-US" altLang="zh-CN" sz="2000" dirty="0">
                <a:latin typeface="楷体" panose="02010609060101010101" charset="-122"/>
                <a:ea typeface="楷体" panose="02010609060101010101" charset="-122"/>
                <a:cs typeface="楷体" panose="02010609060101010101" charset="-122"/>
                <a:sym typeface="楷体" panose="02010609060101010101" charset="-122"/>
              </a:rPr>
              <a:t>60</a:t>
            </a:r>
            <a:r>
              <a:rPr lang="zh-CN" altLang="en-US" sz="2000" dirty="0">
                <a:latin typeface="楷体" panose="02010609060101010101" charset="-122"/>
                <a:ea typeface="楷体" panose="02010609060101010101" charset="-122"/>
                <a:cs typeface="楷体" panose="02010609060101010101" charset="-122"/>
                <a:sym typeface="楷体" panose="02010609060101010101" charset="-122"/>
              </a:rPr>
              <a:t>米宽的洄游通道，供江豚等水生动物洄游觅食</a:t>
            </a:r>
            <a:endParaRPr lang="zh-CN" altLang="en-US" sz="20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000" dirty="0">
                <a:latin typeface="楷体" panose="02010609060101010101" charset="-122"/>
                <a:ea typeface="楷体" panose="02010609060101010101" charset="-122"/>
                <a:cs typeface="楷体" panose="02010609060101010101" charset="-122"/>
                <a:sym typeface="楷体" panose="02010609060101010101" charset="-122"/>
              </a:rPr>
              <a:t>D.</a:t>
            </a:r>
            <a:r>
              <a:rPr lang="zh-CN" altLang="en-US" sz="2000" dirty="0">
                <a:latin typeface="楷体" panose="02010609060101010101" charset="-122"/>
                <a:ea typeface="楷体" panose="02010609060101010101" charset="-122"/>
                <a:cs typeface="楷体" panose="02010609060101010101" charset="-122"/>
                <a:sym typeface="楷体" panose="02010609060101010101" charset="-122"/>
              </a:rPr>
              <a:t>湖泊周围主要的鸟类种群以水生植物块茎和底栖生物为食，需要栖息在较浅的水陆交错环境</a:t>
            </a:r>
            <a:endParaRPr lang="zh-CN" altLang="en-US" sz="2000" dirty="0">
              <a:latin typeface="楷体" panose="02010609060101010101" charset="-122"/>
              <a:ea typeface="楷体" panose="02010609060101010101" charset="-122"/>
              <a:cs typeface="楷体" panose="02010609060101010101" charset="-122"/>
              <a:sym typeface="楷体" panose="02010609060101010101" charset="-122"/>
            </a:endParaRPr>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idx="4294967295"/>
          </p:nvPr>
        </p:nvSpPr>
        <p:spPr>
          <a:xfrm>
            <a:off x="608400" y="208350"/>
            <a:ext cx="10969200" cy="705600"/>
          </a:xfrm>
        </p:spPr>
        <p:txBody>
          <a:bodyPr/>
          <a:lstStyle/>
          <a:p>
            <a:pPr algn="l">
              <a:buClrTx/>
              <a:buSzTx/>
              <a:buFontTx/>
            </a:pPr>
            <a:r>
              <a:rPr kumimoji="1" lang="zh-CN" sz="3735" b="1" dirty="0">
                <a:solidFill>
                  <a:srgbClr val="FF653F"/>
                </a:solidFill>
                <a:latin typeface="+mj-lt"/>
                <a:ea typeface="+mj-lt"/>
                <a:cs typeface="+mj-lt"/>
              </a:rPr>
              <a:t>题</a:t>
            </a:r>
            <a:r>
              <a:rPr kumimoji="1" lang="en-US" altLang="zh-CN" sz="3735" b="1" dirty="0">
                <a:solidFill>
                  <a:srgbClr val="FF653F"/>
                </a:solidFill>
                <a:latin typeface="+mj-lt"/>
                <a:ea typeface="+mj-lt"/>
                <a:cs typeface="+mj-lt"/>
              </a:rPr>
              <a:t>84</a:t>
            </a:r>
            <a:endParaRPr kumimoji="1" lang="en-US" altLang="zh-CN" sz="3735" b="1" dirty="0">
              <a:solidFill>
                <a:srgbClr val="FF653F"/>
              </a:solidFill>
              <a:latin typeface="+mj-lt"/>
              <a:ea typeface="+mj-lt"/>
              <a:cs typeface="+mj-lt"/>
            </a:endParaRPr>
          </a:p>
        </p:txBody>
      </p:sp>
      <p:sp>
        <p:nvSpPr>
          <p:cNvPr id="4" name="文本框 3"/>
          <p:cNvSpPr txBox="1"/>
          <p:nvPr/>
        </p:nvSpPr>
        <p:spPr>
          <a:xfrm>
            <a:off x="608330" y="756285"/>
            <a:ext cx="10968355" cy="4246245"/>
          </a:xfrm>
          <a:prstGeom prst="rect">
            <a:avLst/>
          </a:prstGeom>
          <a:noFill/>
        </p:spPr>
        <p:txBody>
          <a:bodyPr wrap="square" rtlCol="0" anchor="t">
            <a:spAutoFit/>
          </a:bodyPr>
          <a:p>
            <a:pPr indent="0" algn="l" fontAlgn="auto">
              <a:lnSpc>
                <a:spcPct val="150000"/>
              </a:lnSpc>
            </a:pPr>
            <a:r>
              <a:rPr lang="zh-CN" altLang="en-US" sz="2000" dirty="0">
                <a:latin typeface="楷体" panose="02010609060101010101" charset="-122"/>
                <a:ea typeface="楷体" panose="02010609060101010101" charset="-122"/>
                <a:cs typeface="楷体" panose="02010609060101010101" charset="-122"/>
                <a:sym typeface="楷体" panose="02010609060101010101" charset="-122"/>
              </a:rPr>
              <a:t>大蚕蛾具有其他昆虫无法比拟的巨大翅膀，长度可达</a:t>
            </a:r>
            <a:r>
              <a:rPr lang="en-US" altLang="zh-CN" sz="2000" dirty="0">
                <a:latin typeface="楷体" panose="02010609060101010101" charset="-122"/>
                <a:ea typeface="楷体" panose="02010609060101010101" charset="-122"/>
                <a:cs typeface="楷体" panose="02010609060101010101" charset="-122"/>
                <a:sym typeface="楷体" panose="02010609060101010101" charset="-122"/>
              </a:rPr>
              <a:t>28cm</a:t>
            </a:r>
            <a:r>
              <a:rPr lang="zh-CN" altLang="en-US" sz="2000" dirty="0">
                <a:latin typeface="楷体" panose="02010609060101010101" charset="-122"/>
                <a:ea typeface="楷体" panose="02010609060101010101" charset="-122"/>
                <a:cs typeface="楷体" panose="02010609060101010101" charset="-122"/>
                <a:sym typeface="楷体" panose="02010609060101010101" charset="-122"/>
              </a:rPr>
              <a:t>，是自然界中最为绚丽灿烂的昆虫之一。在自然界中，为了吸引异性，许多动物都拥有鲜艳美丽的外形，因此，科学家认为，大蚕蛾的</a:t>
            </a:r>
            <a:r>
              <a:rPr lang="en-US" altLang="zh-CN" sz="2000" dirty="0">
                <a:latin typeface="楷体" panose="02010609060101010101" charset="-122"/>
                <a:ea typeface="楷体" panose="02010609060101010101" charset="-122"/>
                <a:cs typeface="楷体" panose="02010609060101010101" charset="-122"/>
                <a:sym typeface="楷体" panose="02010609060101010101" charset="-122"/>
              </a:rPr>
              <a:t>“</a:t>
            </a:r>
            <a:r>
              <a:rPr lang="zh-CN" altLang="en-US" sz="2000" dirty="0">
                <a:latin typeface="楷体" panose="02010609060101010101" charset="-122"/>
                <a:ea typeface="楷体" panose="02010609060101010101" charset="-122"/>
                <a:cs typeface="楷体" panose="02010609060101010101" charset="-122"/>
                <a:sym typeface="楷体" panose="02010609060101010101" charset="-122"/>
              </a:rPr>
              <a:t>锦衣华服</a:t>
            </a:r>
            <a:r>
              <a:rPr lang="en-US" altLang="zh-CN" sz="2000" dirty="0">
                <a:latin typeface="楷体" panose="02010609060101010101" charset="-122"/>
                <a:ea typeface="楷体" panose="02010609060101010101" charset="-122"/>
                <a:cs typeface="楷体" panose="02010609060101010101" charset="-122"/>
                <a:sym typeface="楷体" panose="02010609060101010101" charset="-122"/>
              </a:rPr>
              <a:t>”</a:t>
            </a:r>
            <a:r>
              <a:rPr lang="zh-CN" altLang="en-US" sz="2000" dirty="0">
                <a:latin typeface="楷体" panose="02010609060101010101" charset="-122"/>
                <a:ea typeface="楷体" panose="02010609060101010101" charset="-122"/>
                <a:cs typeface="楷体" panose="02010609060101010101" charset="-122"/>
                <a:sym typeface="楷体" panose="02010609060101010101" charset="-122"/>
              </a:rPr>
              <a:t>是用于吸引异性，从而增加交配繁殖的几率。</a:t>
            </a:r>
            <a:endParaRPr lang="zh-CN" altLang="en-US" sz="20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zh-CN" altLang="en-US" sz="2000" dirty="0">
                <a:latin typeface="楷体" panose="02010609060101010101" charset="-122"/>
                <a:ea typeface="楷体" panose="02010609060101010101" charset="-122"/>
                <a:cs typeface="楷体" panose="02010609060101010101" charset="-122"/>
                <a:sym typeface="楷体" panose="02010609060101010101" charset="-122"/>
              </a:rPr>
              <a:t>以下哪项如果为真，最能削弱上述结论：</a:t>
            </a:r>
            <a:endParaRPr lang="zh-CN" altLang="en-US" sz="20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000" dirty="0">
                <a:latin typeface="楷体" panose="02010609060101010101" charset="-122"/>
                <a:ea typeface="楷体" panose="02010609060101010101" charset="-122"/>
                <a:cs typeface="楷体" panose="02010609060101010101" charset="-122"/>
                <a:sym typeface="楷体" panose="02010609060101010101" charset="-122"/>
              </a:rPr>
              <a:t>A.</a:t>
            </a:r>
            <a:r>
              <a:rPr lang="zh-CN" altLang="en-US" sz="2000" dirty="0">
                <a:latin typeface="楷体" panose="02010609060101010101" charset="-122"/>
                <a:ea typeface="楷体" panose="02010609060101010101" charset="-122"/>
                <a:cs typeface="楷体" panose="02010609060101010101" charset="-122"/>
                <a:sym typeface="楷体" panose="02010609060101010101" charset="-122"/>
              </a:rPr>
              <a:t>绝大部分种类的大蚕蛾生存繁衍于群山密林之中，昼伏夜出，无法看清同类的翅膀</a:t>
            </a:r>
            <a:endParaRPr lang="zh-CN" altLang="en-US" sz="20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000" dirty="0">
                <a:latin typeface="楷体" panose="02010609060101010101" charset="-122"/>
                <a:ea typeface="楷体" panose="02010609060101010101" charset="-122"/>
                <a:cs typeface="楷体" panose="02010609060101010101" charset="-122"/>
                <a:sym typeface="楷体" panose="02010609060101010101" charset="-122"/>
              </a:rPr>
              <a:t>B.</a:t>
            </a:r>
            <a:r>
              <a:rPr lang="zh-CN" altLang="en-US" sz="2000" dirty="0">
                <a:latin typeface="楷体" panose="02010609060101010101" charset="-122"/>
                <a:ea typeface="楷体" panose="02010609060101010101" charset="-122"/>
                <a:cs typeface="楷体" panose="02010609060101010101" charset="-122"/>
                <a:sym typeface="楷体" panose="02010609060101010101" charset="-122"/>
              </a:rPr>
              <a:t>大蚕蛾翅膀的绚丽来自于鳞片的密集排布，能折射和衍射光线，从而让天敌分心或疑惑</a:t>
            </a:r>
            <a:endParaRPr lang="zh-CN" altLang="en-US" sz="20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000" dirty="0">
                <a:latin typeface="楷体" panose="02010609060101010101" charset="-122"/>
                <a:ea typeface="楷体" panose="02010609060101010101" charset="-122"/>
                <a:cs typeface="楷体" panose="02010609060101010101" charset="-122"/>
                <a:sym typeface="楷体" panose="02010609060101010101" charset="-122"/>
              </a:rPr>
              <a:t>C.</a:t>
            </a:r>
            <a:r>
              <a:rPr lang="zh-CN" altLang="en-US" sz="2000" dirty="0">
                <a:latin typeface="楷体" panose="02010609060101010101" charset="-122"/>
                <a:ea typeface="楷体" panose="02010609060101010101" charset="-122"/>
                <a:cs typeface="楷体" panose="02010609060101010101" charset="-122"/>
                <a:sym typeface="楷体" panose="02010609060101010101" charset="-122"/>
              </a:rPr>
              <a:t>大蚕蛾头顶的触角是重要的感觉器官，主要起到嗅觉和触觉作用，可以通过触角进行信息交流</a:t>
            </a:r>
            <a:endParaRPr lang="zh-CN" altLang="en-US" sz="20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000" dirty="0">
                <a:latin typeface="楷体" panose="02010609060101010101" charset="-122"/>
                <a:ea typeface="楷体" panose="02010609060101010101" charset="-122"/>
                <a:cs typeface="楷体" panose="02010609060101010101" charset="-122"/>
                <a:sym typeface="楷体" panose="02010609060101010101" charset="-122"/>
              </a:rPr>
              <a:t>D.</a:t>
            </a:r>
            <a:r>
              <a:rPr lang="zh-CN" altLang="en-US" sz="2000" dirty="0">
                <a:latin typeface="楷体" panose="02010609060101010101" charset="-122"/>
                <a:ea typeface="楷体" panose="02010609060101010101" charset="-122"/>
                <a:cs typeface="楷体" panose="02010609060101010101" charset="-122"/>
                <a:sym typeface="楷体" panose="02010609060101010101" charset="-122"/>
              </a:rPr>
              <a:t>大蚕蛾雌雄两性的色泽不同，雄性大体呈橘黄色，翅膀以杏黄色为主，雌性为青白色，翅膀以淡绿色为主</a:t>
            </a:r>
            <a:endParaRPr lang="zh-CN" altLang="en-US" sz="2000" dirty="0">
              <a:latin typeface="楷体" panose="02010609060101010101" charset="-122"/>
              <a:ea typeface="楷体" panose="02010609060101010101" charset="-122"/>
              <a:cs typeface="楷体" panose="02010609060101010101" charset="-122"/>
              <a:sym typeface="楷体" panose="02010609060101010101" charset="-122"/>
            </a:endParaRPr>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idx="4294967295"/>
          </p:nvPr>
        </p:nvSpPr>
        <p:spPr>
          <a:xfrm>
            <a:off x="608400" y="208350"/>
            <a:ext cx="10969200" cy="705600"/>
          </a:xfrm>
        </p:spPr>
        <p:txBody>
          <a:bodyPr/>
          <a:lstStyle/>
          <a:p>
            <a:pPr algn="l">
              <a:buClrTx/>
              <a:buSzTx/>
              <a:buFontTx/>
            </a:pPr>
            <a:r>
              <a:rPr kumimoji="1" lang="zh-CN" sz="3735" b="1" dirty="0">
                <a:solidFill>
                  <a:srgbClr val="FF653F"/>
                </a:solidFill>
                <a:latin typeface="+mj-lt"/>
                <a:ea typeface="+mj-lt"/>
                <a:cs typeface="+mj-lt"/>
              </a:rPr>
              <a:t>题</a:t>
            </a:r>
            <a:r>
              <a:rPr kumimoji="1" lang="en-US" altLang="zh-CN" sz="3735" b="1" dirty="0">
                <a:solidFill>
                  <a:srgbClr val="FF653F"/>
                </a:solidFill>
                <a:latin typeface="+mj-lt"/>
                <a:ea typeface="+mj-lt"/>
                <a:cs typeface="+mj-lt"/>
              </a:rPr>
              <a:t>85</a:t>
            </a:r>
            <a:endParaRPr kumimoji="1" lang="en-US" altLang="zh-CN" sz="3735" b="1" dirty="0">
              <a:solidFill>
                <a:srgbClr val="FF653F"/>
              </a:solidFill>
              <a:latin typeface="+mj-lt"/>
              <a:ea typeface="+mj-lt"/>
              <a:cs typeface="+mj-lt"/>
            </a:endParaRPr>
          </a:p>
        </p:txBody>
      </p:sp>
      <p:sp>
        <p:nvSpPr>
          <p:cNvPr id="4" name="文本框 3"/>
          <p:cNvSpPr txBox="1"/>
          <p:nvPr/>
        </p:nvSpPr>
        <p:spPr>
          <a:xfrm>
            <a:off x="608330" y="756285"/>
            <a:ext cx="10968355" cy="5169535"/>
          </a:xfrm>
          <a:prstGeom prst="rect">
            <a:avLst/>
          </a:prstGeom>
          <a:noFill/>
        </p:spPr>
        <p:txBody>
          <a:bodyPr wrap="square" rtlCol="0" anchor="t">
            <a:spAutoFit/>
          </a:bodyPr>
          <a:p>
            <a:pPr indent="0" algn="l" fontAlgn="auto">
              <a:lnSpc>
                <a:spcPct val="150000"/>
              </a:lnSpc>
            </a:pPr>
            <a:r>
              <a:rPr lang="zh-CN" altLang="en-US" sz="2000" dirty="0">
                <a:latin typeface="楷体" panose="02010609060101010101" charset="-122"/>
                <a:ea typeface="楷体" panose="02010609060101010101" charset="-122"/>
                <a:cs typeface="楷体" panose="02010609060101010101" charset="-122"/>
                <a:sym typeface="楷体" panose="02010609060101010101" charset="-122"/>
              </a:rPr>
              <a:t>某公园计划从桃树、李树、杨树、柳树、松树中选择几种树种植，树种的选择满足下列条件：</a:t>
            </a:r>
            <a:endParaRPr lang="zh-CN" altLang="en-US" sz="20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zh-CN" altLang="en-US" sz="2000" dirty="0">
                <a:latin typeface="楷体" panose="02010609060101010101" charset="-122"/>
                <a:ea typeface="楷体" panose="02010609060101010101" charset="-122"/>
                <a:cs typeface="楷体" panose="02010609060101010101" charset="-122"/>
                <a:sym typeface="楷体" panose="02010609060101010101" charset="-122"/>
              </a:rPr>
              <a:t>（</a:t>
            </a:r>
            <a:r>
              <a:rPr lang="en-US" altLang="zh-CN" sz="2000" dirty="0">
                <a:latin typeface="楷体" panose="02010609060101010101" charset="-122"/>
                <a:ea typeface="楷体" panose="02010609060101010101" charset="-122"/>
                <a:cs typeface="楷体" panose="02010609060101010101" charset="-122"/>
                <a:sym typeface="楷体" panose="02010609060101010101" charset="-122"/>
              </a:rPr>
              <a:t>1</a:t>
            </a:r>
            <a:r>
              <a:rPr lang="zh-CN" altLang="en-US" sz="2000" dirty="0">
                <a:latin typeface="楷体" panose="02010609060101010101" charset="-122"/>
                <a:ea typeface="楷体" panose="02010609060101010101" charset="-122"/>
                <a:cs typeface="楷体" panose="02010609060101010101" charset="-122"/>
                <a:sym typeface="楷体" panose="02010609060101010101" charset="-122"/>
              </a:rPr>
              <a:t>）如果选桃树，那么不选松树；</a:t>
            </a:r>
            <a:endParaRPr lang="zh-CN" altLang="en-US" sz="20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zh-CN" altLang="en-US" sz="2000" dirty="0">
                <a:latin typeface="楷体" panose="02010609060101010101" charset="-122"/>
                <a:ea typeface="楷体" panose="02010609060101010101" charset="-122"/>
                <a:cs typeface="楷体" panose="02010609060101010101" charset="-122"/>
                <a:sym typeface="楷体" panose="02010609060101010101" charset="-122"/>
              </a:rPr>
              <a:t>（</a:t>
            </a:r>
            <a:r>
              <a:rPr lang="en-US" altLang="zh-CN" sz="2000" dirty="0">
                <a:latin typeface="楷体" panose="02010609060101010101" charset="-122"/>
                <a:ea typeface="楷体" panose="02010609060101010101" charset="-122"/>
                <a:cs typeface="楷体" panose="02010609060101010101" charset="-122"/>
                <a:sym typeface="楷体" panose="02010609060101010101" charset="-122"/>
              </a:rPr>
              <a:t>2</a:t>
            </a:r>
            <a:r>
              <a:rPr lang="zh-CN" altLang="en-US" sz="2000" dirty="0">
                <a:latin typeface="楷体" panose="02010609060101010101" charset="-122"/>
                <a:ea typeface="楷体" panose="02010609060101010101" charset="-122"/>
                <a:cs typeface="楷体" panose="02010609060101010101" charset="-122"/>
                <a:sym typeface="楷体" panose="02010609060101010101" charset="-122"/>
              </a:rPr>
              <a:t>）要么选桃树，要么选李树；</a:t>
            </a:r>
            <a:endParaRPr lang="zh-CN" altLang="en-US" sz="20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zh-CN" altLang="en-US" sz="2000" dirty="0">
                <a:latin typeface="楷体" panose="02010609060101010101" charset="-122"/>
                <a:ea typeface="楷体" panose="02010609060101010101" charset="-122"/>
                <a:cs typeface="楷体" panose="02010609060101010101" charset="-122"/>
                <a:sym typeface="楷体" panose="02010609060101010101" charset="-122"/>
              </a:rPr>
              <a:t>（</a:t>
            </a:r>
            <a:r>
              <a:rPr lang="en-US" altLang="zh-CN" sz="2000" dirty="0">
                <a:latin typeface="楷体" panose="02010609060101010101" charset="-122"/>
                <a:ea typeface="楷体" panose="02010609060101010101" charset="-122"/>
                <a:cs typeface="楷体" panose="02010609060101010101" charset="-122"/>
                <a:sym typeface="楷体" panose="02010609060101010101" charset="-122"/>
              </a:rPr>
              <a:t>3</a:t>
            </a:r>
            <a:r>
              <a:rPr lang="zh-CN" altLang="en-US" sz="2000" dirty="0">
                <a:latin typeface="楷体" panose="02010609060101010101" charset="-122"/>
                <a:ea typeface="楷体" panose="02010609060101010101" charset="-122"/>
                <a:cs typeface="楷体" panose="02010609060101010101" charset="-122"/>
                <a:sym typeface="楷体" panose="02010609060101010101" charset="-122"/>
              </a:rPr>
              <a:t>）至少选</a:t>
            </a:r>
            <a:r>
              <a:rPr lang="en-US" altLang="zh-CN" sz="2000" dirty="0">
                <a:latin typeface="楷体" panose="02010609060101010101" charset="-122"/>
                <a:ea typeface="楷体" panose="02010609060101010101" charset="-122"/>
                <a:cs typeface="楷体" panose="02010609060101010101" charset="-122"/>
                <a:sym typeface="楷体" panose="02010609060101010101" charset="-122"/>
              </a:rPr>
              <a:t>3</a:t>
            </a:r>
            <a:r>
              <a:rPr lang="zh-CN" altLang="en-US" sz="2000" dirty="0">
                <a:latin typeface="楷体" panose="02010609060101010101" charset="-122"/>
                <a:ea typeface="楷体" panose="02010609060101010101" charset="-122"/>
                <a:cs typeface="楷体" panose="02010609060101010101" charset="-122"/>
                <a:sym typeface="楷体" panose="02010609060101010101" charset="-122"/>
              </a:rPr>
              <a:t>种树种植；</a:t>
            </a:r>
            <a:endParaRPr lang="zh-CN" altLang="en-US" sz="20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zh-CN" altLang="en-US" sz="2000" dirty="0">
                <a:latin typeface="楷体" panose="02010609060101010101" charset="-122"/>
                <a:ea typeface="楷体" panose="02010609060101010101" charset="-122"/>
                <a:cs typeface="楷体" panose="02010609060101010101" charset="-122"/>
                <a:sym typeface="楷体" panose="02010609060101010101" charset="-122"/>
              </a:rPr>
              <a:t>（</a:t>
            </a:r>
            <a:r>
              <a:rPr lang="en-US" altLang="zh-CN" sz="2000" dirty="0">
                <a:latin typeface="楷体" panose="02010609060101010101" charset="-122"/>
                <a:ea typeface="楷体" panose="02010609060101010101" charset="-122"/>
                <a:cs typeface="楷体" panose="02010609060101010101" charset="-122"/>
                <a:sym typeface="楷体" panose="02010609060101010101" charset="-122"/>
              </a:rPr>
              <a:t>4</a:t>
            </a:r>
            <a:r>
              <a:rPr lang="zh-CN" altLang="en-US" sz="2000" dirty="0">
                <a:latin typeface="楷体" panose="02010609060101010101" charset="-122"/>
                <a:ea typeface="楷体" panose="02010609060101010101" charset="-122"/>
                <a:cs typeface="楷体" panose="02010609060101010101" charset="-122"/>
                <a:sym typeface="楷体" panose="02010609060101010101" charset="-122"/>
              </a:rPr>
              <a:t>）桃树和杨树至多选</a:t>
            </a:r>
            <a:r>
              <a:rPr lang="en-US" altLang="zh-CN" sz="2000" dirty="0">
                <a:latin typeface="楷体" panose="02010609060101010101" charset="-122"/>
                <a:ea typeface="楷体" panose="02010609060101010101" charset="-122"/>
                <a:cs typeface="楷体" panose="02010609060101010101" charset="-122"/>
                <a:sym typeface="楷体" panose="02010609060101010101" charset="-122"/>
              </a:rPr>
              <a:t>1</a:t>
            </a:r>
            <a:r>
              <a:rPr lang="zh-CN" altLang="en-US" sz="2000" dirty="0">
                <a:latin typeface="楷体" panose="02010609060101010101" charset="-122"/>
                <a:ea typeface="楷体" panose="02010609060101010101" charset="-122"/>
                <a:cs typeface="楷体" panose="02010609060101010101" charset="-122"/>
                <a:sym typeface="楷体" panose="02010609060101010101" charset="-122"/>
              </a:rPr>
              <a:t>种；</a:t>
            </a:r>
            <a:endParaRPr lang="zh-CN" altLang="en-US" sz="20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zh-CN" altLang="en-US" sz="2000" dirty="0">
                <a:latin typeface="楷体" panose="02010609060101010101" charset="-122"/>
                <a:ea typeface="楷体" panose="02010609060101010101" charset="-122"/>
                <a:cs typeface="楷体" panose="02010609060101010101" charset="-122"/>
                <a:sym typeface="楷体" panose="02010609060101010101" charset="-122"/>
              </a:rPr>
              <a:t>（</a:t>
            </a:r>
            <a:r>
              <a:rPr lang="en-US" altLang="zh-CN" sz="2000" dirty="0">
                <a:latin typeface="楷体" panose="02010609060101010101" charset="-122"/>
                <a:ea typeface="楷体" panose="02010609060101010101" charset="-122"/>
                <a:cs typeface="楷体" panose="02010609060101010101" charset="-122"/>
                <a:sym typeface="楷体" panose="02010609060101010101" charset="-122"/>
              </a:rPr>
              <a:t>5</a:t>
            </a:r>
            <a:r>
              <a:rPr lang="zh-CN" altLang="en-US" sz="2000" dirty="0">
                <a:latin typeface="楷体" panose="02010609060101010101" charset="-122"/>
                <a:ea typeface="楷体" panose="02010609060101010101" charset="-122"/>
                <a:cs typeface="楷体" panose="02010609060101010101" charset="-122"/>
                <a:sym typeface="楷体" panose="02010609060101010101" charset="-122"/>
              </a:rPr>
              <a:t>）李树和柳树至多选</a:t>
            </a:r>
            <a:r>
              <a:rPr lang="en-US" altLang="zh-CN" sz="2000" dirty="0">
                <a:latin typeface="楷体" panose="02010609060101010101" charset="-122"/>
                <a:ea typeface="楷体" panose="02010609060101010101" charset="-122"/>
                <a:cs typeface="楷体" panose="02010609060101010101" charset="-122"/>
                <a:sym typeface="楷体" panose="02010609060101010101" charset="-122"/>
              </a:rPr>
              <a:t>1</a:t>
            </a:r>
            <a:r>
              <a:rPr lang="zh-CN" altLang="en-US" sz="2000" dirty="0">
                <a:latin typeface="楷体" panose="02010609060101010101" charset="-122"/>
                <a:ea typeface="楷体" panose="02010609060101010101" charset="-122"/>
                <a:cs typeface="楷体" panose="02010609060101010101" charset="-122"/>
                <a:sym typeface="楷体" panose="02010609060101010101" charset="-122"/>
              </a:rPr>
              <a:t>种。</a:t>
            </a:r>
            <a:endParaRPr lang="zh-CN" altLang="en-US" sz="20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zh-CN" altLang="en-US" sz="2000" dirty="0">
                <a:latin typeface="楷体" panose="02010609060101010101" charset="-122"/>
                <a:ea typeface="楷体" panose="02010609060101010101" charset="-122"/>
                <a:cs typeface="楷体" panose="02010609060101010101" charset="-122"/>
                <a:sym typeface="楷体" panose="02010609060101010101" charset="-122"/>
              </a:rPr>
              <a:t>由此可以推出：</a:t>
            </a:r>
            <a:endParaRPr lang="zh-CN" altLang="en-US" sz="20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000" dirty="0">
                <a:latin typeface="楷体" panose="02010609060101010101" charset="-122"/>
                <a:ea typeface="楷体" panose="02010609060101010101" charset="-122"/>
                <a:cs typeface="楷体" panose="02010609060101010101" charset="-122"/>
                <a:sym typeface="楷体" panose="02010609060101010101" charset="-122"/>
              </a:rPr>
              <a:t>A.</a:t>
            </a:r>
            <a:r>
              <a:rPr lang="zh-CN" altLang="en-US" sz="2000" dirty="0">
                <a:latin typeface="楷体" panose="02010609060101010101" charset="-122"/>
                <a:ea typeface="楷体" panose="02010609060101010101" charset="-122"/>
                <a:cs typeface="楷体" panose="02010609060101010101" charset="-122"/>
                <a:sym typeface="楷体" panose="02010609060101010101" charset="-122"/>
              </a:rPr>
              <a:t>种李树和桃树，不种松树</a:t>
            </a:r>
            <a:r>
              <a:rPr lang="en-US" altLang="zh-CN" sz="2000" dirty="0">
                <a:latin typeface="楷体" panose="02010609060101010101" charset="-122"/>
                <a:ea typeface="楷体" panose="02010609060101010101" charset="-122"/>
                <a:cs typeface="楷体" panose="02010609060101010101" charset="-122"/>
                <a:sym typeface="楷体" panose="02010609060101010101" charset="-122"/>
              </a:rPr>
              <a:t> </a:t>
            </a:r>
            <a:endParaRPr lang="en-US" altLang="zh-CN" sz="20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000" dirty="0">
                <a:latin typeface="楷体" panose="02010609060101010101" charset="-122"/>
                <a:ea typeface="楷体" panose="02010609060101010101" charset="-122"/>
                <a:cs typeface="楷体" panose="02010609060101010101" charset="-122"/>
                <a:sym typeface="楷体" panose="02010609060101010101" charset="-122"/>
              </a:rPr>
              <a:t>B.</a:t>
            </a:r>
            <a:r>
              <a:rPr lang="zh-CN" altLang="en-US" sz="2000" dirty="0">
                <a:latin typeface="楷体" panose="02010609060101010101" charset="-122"/>
                <a:ea typeface="楷体" panose="02010609060101010101" charset="-122"/>
                <a:cs typeface="楷体" panose="02010609060101010101" charset="-122"/>
                <a:sym typeface="楷体" panose="02010609060101010101" charset="-122"/>
              </a:rPr>
              <a:t>种桃树和柳树，不种杨树</a:t>
            </a:r>
            <a:endParaRPr lang="zh-CN" altLang="en-US" sz="20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000" dirty="0">
                <a:latin typeface="楷体" panose="02010609060101010101" charset="-122"/>
                <a:ea typeface="楷体" panose="02010609060101010101" charset="-122"/>
                <a:cs typeface="楷体" panose="02010609060101010101" charset="-122"/>
                <a:sym typeface="楷体" panose="02010609060101010101" charset="-122"/>
              </a:rPr>
              <a:t>C.</a:t>
            </a:r>
            <a:r>
              <a:rPr lang="zh-CN" altLang="en-US" sz="2000" dirty="0">
                <a:latin typeface="楷体" panose="02010609060101010101" charset="-122"/>
                <a:ea typeface="楷体" panose="02010609060101010101" charset="-122"/>
                <a:cs typeface="楷体" panose="02010609060101010101" charset="-122"/>
                <a:sym typeface="楷体" panose="02010609060101010101" charset="-122"/>
              </a:rPr>
              <a:t>种李树和杨树，不种松树</a:t>
            </a:r>
            <a:r>
              <a:rPr lang="en-US" altLang="zh-CN" sz="2000" dirty="0">
                <a:latin typeface="楷体" panose="02010609060101010101" charset="-122"/>
                <a:ea typeface="楷体" panose="02010609060101010101" charset="-122"/>
                <a:cs typeface="楷体" panose="02010609060101010101" charset="-122"/>
                <a:sym typeface="楷体" panose="02010609060101010101" charset="-122"/>
              </a:rPr>
              <a:t> </a:t>
            </a:r>
            <a:endParaRPr lang="en-US" altLang="zh-CN" sz="20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000" dirty="0">
                <a:latin typeface="楷体" panose="02010609060101010101" charset="-122"/>
                <a:ea typeface="楷体" panose="02010609060101010101" charset="-122"/>
                <a:cs typeface="楷体" panose="02010609060101010101" charset="-122"/>
                <a:sym typeface="楷体" panose="02010609060101010101" charset="-122"/>
              </a:rPr>
              <a:t>D.</a:t>
            </a:r>
            <a:r>
              <a:rPr lang="zh-CN" altLang="en-US" sz="2000" dirty="0">
                <a:latin typeface="楷体" panose="02010609060101010101" charset="-122"/>
                <a:ea typeface="楷体" panose="02010609060101010101" charset="-122"/>
                <a:cs typeface="楷体" panose="02010609060101010101" charset="-122"/>
                <a:sym typeface="楷体" panose="02010609060101010101" charset="-122"/>
              </a:rPr>
              <a:t>种杨树和松树，不种桃树</a:t>
            </a:r>
            <a:endParaRPr lang="zh-CN" altLang="en-US" sz="2000" dirty="0">
              <a:latin typeface="楷体" panose="02010609060101010101" charset="-122"/>
              <a:ea typeface="楷体" panose="02010609060101010101" charset="-122"/>
              <a:cs typeface="楷体" panose="02010609060101010101" charset="-122"/>
              <a:sym typeface="楷体" panose="02010609060101010101" charset="-122"/>
            </a:endParaRPr>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idx="4294967295"/>
          </p:nvPr>
        </p:nvSpPr>
        <p:spPr>
          <a:xfrm>
            <a:off x="608400" y="208350"/>
            <a:ext cx="10969200" cy="705600"/>
          </a:xfrm>
        </p:spPr>
        <p:txBody>
          <a:bodyPr/>
          <a:lstStyle/>
          <a:p>
            <a:pPr algn="l">
              <a:buClrTx/>
              <a:buSzTx/>
              <a:buFontTx/>
            </a:pPr>
            <a:r>
              <a:rPr kumimoji="1" lang="zh-CN" sz="3735" b="1" dirty="0">
                <a:solidFill>
                  <a:srgbClr val="FF653F"/>
                </a:solidFill>
                <a:latin typeface="+mj-lt"/>
                <a:ea typeface="+mj-lt"/>
                <a:cs typeface="+mj-lt"/>
              </a:rPr>
              <a:t>题</a:t>
            </a:r>
            <a:r>
              <a:rPr kumimoji="1" lang="en-US" altLang="zh-CN" sz="3735" b="1" dirty="0">
                <a:solidFill>
                  <a:srgbClr val="FF653F"/>
                </a:solidFill>
                <a:latin typeface="+mj-lt"/>
                <a:ea typeface="+mj-lt"/>
                <a:cs typeface="+mj-lt"/>
              </a:rPr>
              <a:t>86</a:t>
            </a:r>
            <a:endParaRPr kumimoji="1" lang="en-US" altLang="zh-CN" sz="3735" b="1" dirty="0">
              <a:solidFill>
                <a:srgbClr val="FF653F"/>
              </a:solidFill>
              <a:latin typeface="+mj-lt"/>
              <a:ea typeface="+mj-lt"/>
              <a:cs typeface="+mj-lt"/>
            </a:endParaRPr>
          </a:p>
        </p:txBody>
      </p:sp>
      <p:sp>
        <p:nvSpPr>
          <p:cNvPr id="4" name="文本框 3"/>
          <p:cNvSpPr txBox="1"/>
          <p:nvPr/>
        </p:nvSpPr>
        <p:spPr>
          <a:xfrm>
            <a:off x="608330" y="756285"/>
            <a:ext cx="10968355" cy="3784600"/>
          </a:xfrm>
          <a:prstGeom prst="rect">
            <a:avLst/>
          </a:prstGeom>
          <a:noFill/>
        </p:spPr>
        <p:txBody>
          <a:bodyPr wrap="square" rtlCol="0" anchor="t">
            <a:spAutoFit/>
          </a:bodyPr>
          <a:p>
            <a:pPr indent="0" algn="l" fontAlgn="auto">
              <a:lnSpc>
                <a:spcPct val="150000"/>
              </a:lnSpc>
            </a:pPr>
            <a:r>
              <a:rPr lang="zh-CN" altLang="en-US" sz="2000" dirty="0">
                <a:latin typeface="楷体" panose="02010609060101010101" charset="-122"/>
                <a:ea typeface="楷体" panose="02010609060101010101" charset="-122"/>
                <a:cs typeface="楷体" panose="02010609060101010101" charset="-122"/>
                <a:sym typeface="楷体" panose="02010609060101010101" charset="-122"/>
              </a:rPr>
              <a:t>景德镇是著名的瓷器之都，一条名为昌河的河流从景德镇北方流过。船通过昌河进入鄱阳湖再进入长江，最终入海把景德镇的瓷器行销世界。为什么瓷器的辉煌是在景德镇，专家认为，这与景德镇地处河流密布的水运区紧密相关。</a:t>
            </a:r>
            <a:endParaRPr lang="zh-CN" altLang="en-US" sz="20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zh-CN" altLang="en-US" sz="2000" dirty="0">
                <a:latin typeface="楷体" panose="02010609060101010101" charset="-122"/>
                <a:ea typeface="楷体" panose="02010609060101010101" charset="-122"/>
                <a:cs typeface="楷体" panose="02010609060101010101" charset="-122"/>
                <a:sym typeface="楷体" panose="02010609060101010101" charset="-122"/>
              </a:rPr>
              <a:t>要使上述结论成立，还需基于以下哪一前提：</a:t>
            </a:r>
            <a:endParaRPr lang="zh-CN" altLang="en-US" sz="20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000" dirty="0">
                <a:latin typeface="楷体" panose="02010609060101010101" charset="-122"/>
                <a:ea typeface="楷体" panose="02010609060101010101" charset="-122"/>
                <a:cs typeface="楷体" panose="02010609060101010101" charset="-122"/>
                <a:sym typeface="楷体" panose="02010609060101010101" charset="-122"/>
              </a:rPr>
              <a:t>A.</a:t>
            </a:r>
            <a:r>
              <a:rPr lang="zh-CN" altLang="en-US" sz="2000" dirty="0">
                <a:latin typeface="楷体" panose="02010609060101010101" charset="-122"/>
                <a:ea typeface="楷体" panose="02010609060101010101" charset="-122"/>
                <a:cs typeface="楷体" panose="02010609060101010101" charset="-122"/>
                <a:sym typeface="楷体" panose="02010609060101010101" charset="-122"/>
              </a:rPr>
              <a:t>昌河的水质适合烧制瓷器，为景德镇的瓷器提供了丰富水源</a:t>
            </a:r>
            <a:endParaRPr lang="zh-CN" altLang="en-US" sz="20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000" dirty="0">
                <a:latin typeface="楷体" panose="02010609060101010101" charset="-122"/>
                <a:ea typeface="楷体" panose="02010609060101010101" charset="-122"/>
                <a:cs typeface="楷体" panose="02010609060101010101" charset="-122"/>
                <a:sym typeface="楷体" panose="02010609060101010101" charset="-122"/>
              </a:rPr>
              <a:t>B.</a:t>
            </a:r>
            <a:r>
              <a:rPr lang="zh-CN" altLang="en-US" sz="2000" dirty="0">
                <a:latin typeface="楷体" panose="02010609060101010101" charset="-122"/>
                <a:ea typeface="楷体" panose="02010609060101010101" charset="-122"/>
                <a:cs typeface="楷体" panose="02010609060101010101" charset="-122"/>
                <a:sym typeface="楷体" panose="02010609060101010101" charset="-122"/>
              </a:rPr>
              <a:t>水运适合运输贵重物品，航行十分平稳，虽有摇晃，但无颠簸</a:t>
            </a:r>
            <a:endParaRPr lang="zh-CN" altLang="en-US" sz="20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000" dirty="0">
                <a:latin typeface="楷体" panose="02010609060101010101" charset="-122"/>
                <a:ea typeface="楷体" panose="02010609060101010101" charset="-122"/>
                <a:cs typeface="楷体" panose="02010609060101010101" charset="-122"/>
                <a:sym typeface="楷体" panose="02010609060101010101" charset="-122"/>
              </a:rPr>
              <a:t>C.</a:t>
            </a:r>
            <a:r>
              <a:rPr lang="zh-CN" altLang="en-US" sz="2000" dirty="0">
                <a:latin typeface="楷体" panose="02010609060101010101" charset="-122"/>
                <a:ea typeface="楷体" panose="02010609060101010101" charset="-122"/>
                <a:cs typeface="楷体" panose="02010609060101010101" charset="-122"/>
                <a:sym typeface="楷体" panose="02010609060101010101" charset="-122"/>
              </a:rPr>
              <a:t>有人考证外国人把中国称为</a:t>
            </a:r>
            <a:r>
              <a:rPr lang="en-US" altLang="zh-CN" sz="2000" dirty="0">
                <a:latin typeface="楷体" panose="02010609060101010101" charset="-122"/>
                <a:ea typeface="楷体" panose="02010609060101010101" charset="-122"/>
                <a:cs typeface="楷体" panose="02010609060101010101" charset="-122"/>
                <a:sym typeface="楷体" panose="02010609060101010101" charset="-122"/>
              </a:rPr>
              <a:t>“China”</a:t>
            </a:r>
            <a:r>
              <a:rPr lang="zh-CN" altLang="en-US" sz="2000" dirty="0">
                <a:latin typeface="楷体" panose="02010609060101010101" charset="-122"/>
                <a:ea typeface="楷体" panose="02010609060101010101" charset="-122"/>
                <a:cs typeface="楷体" panose="02010609060101010101" charset="-122"/>
                <a:sym typeface="楷体" panose="02010609060101010101" charset="-122"/>
              </a:rPr>
              <a:t>，音译是</a:t>
            </a:r>
            <a:r>
              <a:rPr lang="en-US" altLang="zh-CN" sz="2000" dirty="0">
                <a:latin typeface="楷体" panose="02010609060101010101" charset="-122"/>
                <a:ea typeface="楷体" panose="02010609060101010101" charset="-122"/>
                <a:cs typeface="楷体" panose="02010609060101010101" charset="-122"/>
                <a:sym typeface="楷体" panose="02010609060101010101" charset="-122"/>
              </a:rPr>
              <a:t>“</a:t>
            </a:r>
            <a:r>
              <a:rPr lang="zh-CN" altLang="en-US" sz="2000" dirty="0">
                <a:latin typeface="楷体" panose="02010609060101010101" charset="-122"/>
                <a:ea typeface="楷体" panose="02010609060101010101" charset="-122"/>
                <a:cs typeface="楷体" panose="02010609060101010101" charset="-122"/>
                <a:sym typeface="楷体" panose="02010609060101010101" charset="-122"/>
              </a:rPr>
              <a:t>昌南</a:t>
            </a:r>
            <a:r>
              <a:rPr lang="en-US" altLang="zh-CN" sz="2000" dirty="0">
                <a:latin typeface="楷体" panose="02010609060101010101" charset="-122"/>
                <a:ea typeface="楷体" panose="02010609060101010101" charset="-122"/>
                <a:cs typeface="楷体" panose="02010609060101010101" charset="-122"/>
                <a:sym typeface="楷体" panose="02010609060101010101" charset="-122"/>
              </a:rPr>
              <a:t>”</a:t>
            </a:r>
            <a:r>
              <a:rPr lang="zh-CN" altLang="en-US" sz="2000" dirty="0">
                <a:latin typeface="楷体" panose="02010609060101010101" charset="-122"/>
                <a:ea typeface="楷体" panose="02010609060101010101" charset="-122"/>
                <a:cs typeface="楷体" panose="02010609060101010101" charset="-122"/>
                <a:sym typeface="楷体" panose="02010609060101010101" charset="-122"/>
              </a:rPr>
              <a:t>，即昌江之南的意思</a:t>
            </a:r>
            <a:endParaRPr lang="zh-CN" altLang="en-US" sz="20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000" dirty="0">
                <a:latin typeface="楷体" panose="02010609060101010101" charset="-122"/>
                <a:ea typeface="楷体" panose="02010609060101010101" charset="-122"/>
                <a:cs typeface="楷体" panose="02010609060101010101" charset="-122"/>
                <a:sym typeface="楷体" panose="02010609060101010101" charset="-122"/>
              </a:rPr>
              <a:t>D.</a:t>
            </a:r>
            <a:r>
              <a:rPr lang="zh-CN" altLang="en-US" sz="2000" dirty="0">
                <a:latin typeface="楷体" panose="02010609060101010101" charset="-122"/>
                <a:ea typeface="楷体" panose="02010609060101010101" charset="-122"/>
                <a:cs typeface="楷体" panose="02010609060101010101" charset="-122"/>
                <a:sym typeface="楷体" panose="02010609060101010101" charset="-122"/>
              </a:rPr>
              <a:t>历史上，水路是中国贸易的重要渠道，瓷器大部分是通过水路运往全国乃至世界各地的</a:t>
            </a:r>
            <a:endParaRPr lang="zh-CN" altLang="en-US" sz="2000" dirty="0">
              <a:latin typeface="楷体" panose="02010609060101010101" charset="-122"/>
              <a:ea typeface="楷体" panose="02010609060101010101" charset="-122"/>
              <a:cs typeface="楷体" panose="02010609060101010101" charset="-122"/>
              <a:sym typeface="楷体" panose="02010609060101010101" charset="-122"/>
            </a:endParaRPr>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idx="4294967295"/>
          </p:nvPr>
        </p:nvSpPr>
        <p:spPr>
          <a:xfrm>
            <a:off x="608400" y="208350"/>
            <a:ext cx="10969200" cy="705600"/>
          </a:xfrm>
        </p:spPr>
        <p:txBody>
          <a:bodyPr/>
          <a:lstStyle/>
          <a:p>
            <a:pPr algn="l">
              <a:buClrTx/>
              <a:buSzTx/>
              <a:buFontTx/>
            </a:pPr>
            <a:r>
              <a:rPr kumimoji="1" lang="zh-CN" sz="3735" b="1" dirty="0">
                <a:solidFill>
                  <a:srgbClr val="FF653F"/>
                </a:solidFill>
                <a:latin typeface="+mj-lt"/>
                <a:ea typeface="+mj-lt"/>
                <a:cs typeface="+mj-lt"/>
              </a:rPr>
              <a:t>题</a:t>
            </a:r>
            <a:r>
              <a:rPr kumimoji="1" lang="en-US" altLang="zh-CN" sz="3735" b="1" dirty="0">
                <a:solidFill>
                  <a:srgbClr val="FF653F"/>
                </a:solidFill>
                <a:latin typeface="+mj-lt"/>
                <a:ea typeface="+mj-lt"/>
                <a:cs typeface="+mj-lt"/>
              </a:rPr>
              <a:t>87</a:t>
            </a:r>
            <a:endParaRPr kumimoji="1" lang="en-US" altLang="zh-CN" sz="3735" b="1" dirty="0">
              <a:solidFill>
                <a:srgbClr val="FF653F"/>
              </a:solidFill>
              <a:latin typeface="+mj-lt"/>
              <a:ea typeface="+mj-lt"/>
              <a:cs typeface="+mj-lt"/>
            </a:endParaRPr>
          </a:p>
        </p:txBody>
      </p:sp>
      <p:sp>
        <p:nvSpPr>
          <p:cNvPr id="4" name="文本框 3"/>
          <p:cNvSpPr txBox="1"/>
          <p:nvPr/>
        </p:nvSpPr>
        <p:spPr>
          <a:xfrm>
            <a:off x="608330" y="756285"/>
            <a:ext cx="10968355" cy="4707890"/>
          </a:xfrm>
          <a:prstGeom prst="rect">
            <a:avLst/>
          </a:prstGeom>
          <a:noFill/>
        </p:spPr>
        <p:txBody>
          <a:bodyPr wrap="square" rtlCol="0" anchor="t">
            <a:spAutoFit/>
          </a:bodyPr>
          <a:p>
            <a:pPr indent="0" algn="l" fontAlgn="auto">
              <a:lnSpc>
                <a:spcPct val="150000"/>
              </a:lnSpc>
            </a:pPr>
            <a:r>
              <a:rPr lang="zh-CN" altLang="en-US" sz="2000" dirty="0">
                <a:latin typeface="楷体" panose="02010609060101010101" charset="-122"/>
                <a:ea typeface="楷体" panose="02010609060101010101" charset="-122"/>
                <a:cs typeface="楷体" panose="02010609060101010101" charset="-122"/>
                <a:sym typeface="楷体" panose="02010609060101010101" charset="-122"/>
              </a:rPr>
              <a:t>某研究指出，阻力训练可以帮助预防或延缓阿尔茨海默病（</a:t>
            </a:r>
            <a:r>
              <a:rPr lang="en-US" altLang="zh-CN" sz="2000" dirty="0">
                <a:latin typeface="楷体" panose="02010609060101010101" charset="-122"/>
                <a:ea typeface="楷体" panose="02010609060101010101" charset="-122"/>
                <a:cs typeface="楷体" panose="02010609060101010101" charset="-122"/>
                <a:sym typeface="楷体" panose="02010609060101010101" charset="-122"/>
              </a:rPr>
              <a:t>AD</a:t>
            </a:r>
            <a:r>
              <a:rPr lang="zh-CN" altLang="en-US" sz="2000" dirty="0">
                <a:latin typeface="楷体" panose="02010609060101010101" charset="-122"/>
                <a:ea typeface="楷体" panose="02010609060101010101" charset="-122"/>
                <a:cs typeface="楷体" panose="02010609060101010101" charset="-122"/>
                <a:sym typeface="楷体" panose="02010609060101010101" charset="-122"/>
              </a:rPr>
              <a:t>）。研究者给小鼠的尾部绑上拉力带，将其放置在一个倾斜的木板上并训练向上爬，训练四周后，小鼠的血液样本分析表明，参与阻力训练小鼠的大脑中很少出现</a:t>
            </a:r>
            <a:r>
              <a:rPr lang="en-US" altLang="zh-CN" sz="2000" dirty="0">
                <a:latin typeface="楷体" panose="02010609060101010101" charset="-122"/>
                <a:ea typeface="楷体" panose="02010609060101010101" charset="-122"/>
                <a:cs typeface="楷体" panose="02010609060101010101" charset="-122"/>
                <a:sym typeface="楷体" panose="02010609060101010101" charset="-122"/>
              </a:rPr>
              <a:t>β-</a:t>
            </a:r>
            <a:r>
              <a:rPr lang="zh-CN" altLang="en-US" sz="2000" dirty="0">
                <a:latin typeface="楷体" panose="02010609060101010101" charset="-122"/>
                <a:ea typeface="楷体" panose="02010609060101010101" charset="-122"/>
                <a:cs typeface="楷体" panose="02010609060101010101" charset="-122"/>
                <a:sym typeface="楷体" panose="02010609060101010101" charset="-122"/>
              </a:rPr>
              <a:t>淀粉样蛋白累积，皮质酮（相当于人类分泌的皮质醇）也处于正常水平。除此之外，阻力训练增加了小鼠大脑中小胶质细胞的数量，这种细胞在</a:t>
            </a:r>
            <a:r>
              <a:rPr lang="en-US" altLang="zh-CN" sz="2000" dirty="0">
                <a:latin typeface="楷体" panose="02010609060101010101" charset="-122"/>
                <a:ea typeface="楷体" panose="02010609060101010101" charset="-122"/>
                <a:cs typeface="楷体" panose="02010609060101010101" charset="-122"/>
                <a:sym typeface="楷体" panose="02010609060101010101" charset="-122"/>
              </a:rPr>
              <a:t>AD</a:t>
            </a:r>
            <a:r>
              <a:rPr lang="zh-CN" altLang="en-US" sz="2000" dirty="0">
                <a:latin typeface="楷体" panose="02010609060101010101" charset="-122"/>
                <a:ea typeface="楷体" panose="02010609060101010101" charset="-122"/>
                <a:cs typeface="楷体" panose="02010609060101010101" charset="-122"/>
                <a:sym typeface="楷体" panose="02010609060101010101" charset="-122"/>
              </a:rPr>
              <a:t>早期对大脑有重要保护作用，比如清除</a:t>
            </a:r>
            <a:r>
              <a:rPr lang="en-US" altLang="zh-CN" sz="2000" dirty="0">
                <a:latin typeface="楷体" panose="02010609060101010101" charset="-122"/>
                <a:ea typeface="楷体" panose="02010609060101010101" charset="-122"/>
                <a:cs typeface="楷体" panose="02010609060101010101" charset="-122"/>
                <a:sym typeface="楷体" panose="02010609060101010101" charset="-122"/>
              </a:rPr>
              <a:t> -</a:t>
            </a:r>
            <a:r>
              <a:rPr lang="zh-CN" altLang="en-US" sz="2000" dirty="0">
                <a:latin typeface="楷体" panose="02010609060101010101" charset="-122"/>
                <a:ea typeface="楷体" panose="02010609060101010101" charset="-122"/>
                <a:cs typeface="楷体" panose="02010609060101010101" charset="-122"/>
                <a:sym typeface="楷体" panose="02010609060101010101" charset="-122"/>
              </a:rPr>
              <a:t>淀粉样蛋白的多肽和细胞碎片，减轻大脑局部炎症。</a:t>
            </a:r>
            <a:endParaRPr lang="zh-CN" altLang="en-US" sz="20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zh-CN" altLang="en-US" sz="2000" dirty="0">
                <a:latin typeface="楷体" panose="02010609060101010101" charset="-122"/>
                <a:ea typeface="楷体" panose="02010609060101010101" charset="-122"/>
                <a:cs typeface="楷体" panose="02010609060101010101" charset="-122"/>
                <a:sym typeface="楷体" panose="02010609060101010101" charset="-122"/>
              </a:rPr>
              <a:t>以上论述如果为真，必须基于的前提是：</a:t>
            </a:r>
            <a:endParaRPr lang="zh-CN" altLang="en-US" sz="20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000" dirty="0">
                <a:latin typeface="楷体" panose="02010609060101010101" charset="-122"/>
                <a:ea typeface="楷体" panose="02010609060101010101" charset="-122"/>
                <a:cs typeface="楷体" panose="02010609060101010101" charset="-122"/>
                <a:sym typeface="楷体" panose="02010609060101010101" charset="-122"/>
              </a:rPr>
              <a:t>A.</a:t>
            </a:r>
            <a:r>
              <a:rPr lang="zh-CN" altLang="en-US" sz="2000" dirty="0">
                <a:latin typeface="楷体" panose="02010609060101010101" charset="-122"/>
                <a:ea typeface="楷体" panose="02010609060101010101" charset="-122"/>
                <a:cs typeface="楷体" panose="02010609060101010101" charset="-122"/>
                <a:sym typeface="楷体" panose="02010609060101010101" charset="-122"/>
              </a:rPr>
              <a:t>皮质醇水平在</a:t>
            </a:r>
            <a:r>
              <a:rPr lang="en-US" altLang="zh-CN" sz="2000" dirty="0">
                <a:latin typeface="楷体" panose="02010609060101010101" charset="-122"/>
                <a:ea typeface="楷体" panose="02010609060101010101" charset="-122"/>
                <a:cs typeface="楷体" panose="02010609060101010101" charset="-122"/>
                <a:sym typeface="楷体" panose="02010609060101010101" charset="-122"/>
              </a:rPr>
              <a:t>AD</a:t>
            </a:r>
            <a:r>
              <a:rPr lang="zh-CN" altLang="en-US" sz="2000" dirty="0">
                <a:latin typeface="楷体" panose="02010609060101010101" charset="-122"/>
                <a:ea typeface="楷体" panose="02010609060101010101" charset="-122"/>
                <a:cs typeface="楷体" panose="02010609060101010101" charset="-122"/>
                <a:sym typeface="楷体" panose="02010609060101010101" charset="-122"/>
              </a:rPr>
              <a:t>早期阶段会呈现升高的趋势</a:t>
            </a:r>
            <a:endParaRPr lang="zh-CN" altLang="en-US" sz="20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000" dirty="0">
                <a:latin typeface="楷体" panose="02010609060101010101" charset="-122"/>
                <a:ea typeface="楷体" panose="02010609060101010101" charset="-122"/>
                <a:cs typeface="楷体" panose="02010609060101010101" charset="-122"/>
                <a:sym typeface="楷体" panose="02010609060101010101" charset="-122"/>
              </a:rPr>
              <a:t>B.</a:t>
            </a:r>
            <a:r>
              <a:rPr lang="zh-CN" altLang="en-US" sz="2000" dirty="0">
                <a:latin typeface="楷体" panose="02010609060101010101" charset="-122"/>
                <a:ea typeface="楷体" panose="02010609060101010101" charset="-122"/>
                <a:cs typeface="楷体" panose="02010609060101010101" charset="-122"/>
                <a:sym typeface="楷体" panose="02010609060101010101" charset="-122"/>
              </a:rPr>
              <a:t>大脑中累积的</a:t>
            </a:r>
            <a:r>
              <a:rPr lang="en-US" altLang="zh-CN" sz="2000" dirty="0">
                <a:latin typeface="楷体" panose="02010609060101010101" charset="-122"/>
                <a:ea typeface="楷体" panose="02010609060101010101" charset="-122"/>
                <a:cs typeface="楷体" panose="02010609060101010101" charset="-122"/>
                <a:sym typeface="楷体" panose="02010609060101010101" charset="-122"/>
              </a:rPr>
              <a:t>β-</a:t>
            </a:r>
            <a:r>
              <a:rPr lang="zh-CN" altLang="en-US" sz="2000" dirty="0">
                <a:latin typeface="楷体" panose="02010609060101010101" charset="-122"/>
                <a:ea typeface="楷体" panose="02010609060101010101" charset="-122"/>
                <a:cs typeface="楷体" panose="02010609060101010101" charset="-122"/>
                <a:sym typeface="楷体" panose="02010609060101010101" charset="-122"/>
              </a:rPr>
              <a:t>淀粉样蛋白是导致罹患</a:t>
            </a:r>
            <a:r>
              <a:rPr lang="en-US" altLang="zh-CN" sz="2000" dirty="0">
                <a:latin typeface="楷体" panose="02010609060101010101" charset="-122"/>
                <a:ea typeface="楷体" panose="02010609060101010101" charset="-122"/>
                <a:cs typeface="楷体" panose="02010609060101010101" charset="-122"/>
                <a:sym typeface="楷体" panose="02010609060101010101" charset="-122"/>
              </a:rPr>
              <a:t>AD</a:t>
            </a:r>
            <a:r>
              <a:rPr lang="zh-CN" altLang="en-US" sz="2000" dirty="0">
                <a:latin typeface="楷体" panose="02010609060101010101" charset="-122"/>
                <a:ea typeface="楷体" panose="02010609060101010101" charset="-122"/>
                <a:cs typeface="楷体" panose="02010609060101010101" charset="-122"/>
                <a:sym typeface="楷体" panose="02010609060101010101" charset="-122"/>
              </a:rPr>
              <a:t>的元凶</a:t>
            </a:r>
            <a:endParaRPr lang="zh-CN" altLang="en-US" sz="20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000" dirty="0">
                <a:latin typeface="楷体" panose="02010609060101010101" charset="-122"/>
                <a:ea typeface="楷体" panose="02010609060101010101" charset="-122"/>
                <a:cs typeface="楷体" panose="02010609060101010101" charset="-122"/>
                <a:sym typeface="楷体" panose="02010609060101010101" charset="-122"/>
              </a:rPr>
              <a:t>C.</a:t>
            </a:r>
            <a:r>
              <a:rPr lang="zh-CN" altLang="en-US" sz="2000" dirty="0">
                <a:latin typeface="楷体" panose="02010609060101010101" charset="-122"/>
                <a:ea typeface="楷体" panose="02010609060101010101" charset="-122"/>
                <a:cs typeface="楷体" panose="02010609060101010101" charset="-122"/>
                <a:sym typeface="楷体" panose="02010609060101010101" charset="-122"/>
              </a:rPr>
              <a:t>阻力训练会使小胶质细胞从促炎状态转变成抗炎症状态</a:t>
            </a:r>
            <a:endParaRPr lang="zh-CN" altLang="en-US" sz="20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000" dirty="0">
                <a:latin typeface="楷体" panose="02010609060101010101" charset="-122"/>
                <a:ea typeface="楷体" panose="02010609060101010101" charset="-122"/>
                <a:cs typeface="楷体" panose="02010609060101010101" charset="-122"/>
                <a:sym typeface="楷体" panose="02010609060101010101" charset="-122"/>
              </a:rPr>
              <a:t>D.</a:t>
            </a:r>
            <a:r>
              <a:rPr lang="zh-CN" altLang="en-US" sz="2000" dirty="0">
                <a:latin typeface="楷体" panose="02010609060101010101" charset="-122"/>
                <a:ea typeface="楷体" panose="02010609060101010101" charset="-122"/>
                <a:cs typeface="楷体" panose="02010609060101010101" charset="-122"/>
                <a:sym typeface="楷体" panose="02010609060101010101" charset="-122"/>
              </a:rPr>
              <a:t>皮质醇会在压力过大时生成并使得个体容易焦虑和躁动</a:t>
            </a:r>
            <a:endParaRPr lang="zh-CN" altLang="en-US" sz="2000" dirty="0">
              <a:latin typeface="楷体" panose="02010609060101010101" charset="-122"/>
              <a:ea typeface="楷体" panose="02010609060101010101" charset="-122"/>
              <a:cs typeface="楷体" panose="02010609060101010101" charset="-122"/>
              <a:sym typeface="楷体" panose="02010609060101010101" charset="-122"/>
            </a:endParaRPr>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idx="4294967295"/>
          </p:nvPr>
        </p:nvSpPr>
        <p:spPr>
          <a:xfrm>
            <a:off x="608400" y="208350"/>
            <a:ext cx="10969200" cy="705600"/>
          </a:xfrm>
        </p:spPr>
        <p:txBody>
          <a:bodyPr/>
          <a:lstStyle/>
          <a:p>
            <a:pPr algn="l">
              <a:buClrTx/>
              <a:buSzTx/>
              <a:buFontTx/>
            </a:pPr>
            <a:r>
              <a:rPr kumimoji="1" lang="zh-CN" sz="3735" b="1" dirty="0">
                <a:solidFill>
                  <a:srgbClr val="FF653F"/>
                </a:solidFill>
                <a:latin typeface="+mj-lt"/>
                <a:ea typeface="+mj-lt"/>
                <a:cs typeface="+mj-lt"/>
              </a:rPr>
              <a:t>题</a:t>
            </a:r>
            <a:r>
              <a:rPr kumimoji="1" lang="en-US" altLang="zh-CN" sz="3735" b="1" dirty="0">
                <a:solidFill>
                  <a:srgbClr val="FF653F"/>
                </a:solidFill>
                <a:latin typeface="+mj-lt"/>
                <a:ea typeface="+mj-lt"/>
                <a:cs typeface="+mj-lt"/>
              </a:rPr>
              <a:t>88</a:t>
            </a:r>
            <a:endParaRPr kumimoji="1" lang="en-US" altLang="zh-CN" sz="3735" b="1" dirty="0">
              <a:solidFill>
                <a:srgbClr val="FF653F"/>
              </a:solidFill>
              <a:latin typeface="+mj-lt"/>
              <a:ea typeface="+mj-lt"/>
              <a:cs typeface="+mj-lt"/>
            </a:endParaRPr>
          </a:p>
        </p:txBody>
      </p:sp>
      <p:sp>
        <p:nvSpPr>
          <p:cNvPr id="4" name="文本框 3"/>
          <p:cNvSpPr txBox="1"/>
          <p:nvPr/>
        </p:nvSpPr>
        <p:spPr>
          <a:xfrm>
            <a:off x="608330" y="756285"/>
            <a:ext cx="10968355" cy="5169535"/>
          </a:xfrm>
          <a:prstGeom prst="rect">
            <a:avLst/>
          </a:prstGeom>
          <a:noFill/>
        </p:spPr>
        <p:txBody>
          <a:bodyPr wrap="square" rtlCol="0" anchor="t">
            <a:spAutoFit/>
          </a:bodyPr>
          <a:p>
            <a:pPr indent="0" algn="l" fontAlgn="auto">
              <a:lnSpc>
                <a:spcPct val="150000"/>
              </a:lnSpc>
            </a:pPr>
            <a:r>
              <a:rPr lang="zh-CN" altLang="en-US" sz="2000" dirty="0">
                <a:latin typeface="楷体" panose="02010609060101010101" charset="-122"/>
                <a:ea typeface="楷体" panose="02010609060101010101" charset="-122"/>
                <a:cs typeface="楷体" panose="02010609060101010101" charset="-122"/>
                <a:sym typeface="楷体" panose="02010609060101010101" charset="-122"/>
              </a:rPr>
              <a:t>人类的饮食需在更具营养的同时减少对气候的影响。因此，未来饮食策略应思考降低温室气体的排放，多考虑基于海产的</a:t>
            </a:r>
            <a:r>
              <a:rPr lang="en-US" altLang="zh-CN" sz="2000" dirty="0">
                <a:latin typeface="楷体" panose="02010609060101010101" charset="-122"/>
                <a:ea typeface="楷体" panose="02010609060101010101" charset="-122"/>
                <a:cs typeface="楷体" panose="02010609060101010101" charset="-122"/>
                <a:sym typeface="楷体" panose="02010609060101010101" charset="-122"/>
              </a:rPr>
              <a:t>“</a:t>
            </a:r>
            <a:r>
              <a:rPr lang="zh-CN" altLang="en-US" sz="2000" dirty="0">
                <a:latin typeface="楷体" panose="02010609060101010101" charset="-122"/>
                <a:ea typeface="楷体" panose="02010609060101010101" charset="-122"/>
                <a:cs typeface="楷体" panose="02010609060101010101" charset="-122"/>
                <a:sym typeface="楷体" panose="02010609060101010101" charset="-122"/>
              </a:rPr>
              <a:t>蓝色</a:t>
            </a:r>
            <a:r>
              <a:rPr lang="en-US" altLang="zh-CN" sz="2000" dirty="0">
                <a:latin typeface="楷体" panose="02010609060101010101" charset="-122"/>
                <a:ea typeface="楷体" panose="02010609060101010101" charset="-122"/>
                <a:cs typeface="楷体" panose="02010609060101010101" charset="-122"/>
                <a:sym typeface="楷体" panose="02010609060101010101" charset="-122"/>
              </a:rPr>
              <a:t>”</a:t>
            </a:r>
            <a:r>
              <a:rPr lang="zh-CN" altLang="en-US" sz="2000" dirty="0">
                <a:latin typeface="楷体" panose="02010609060101010101" charset="-122"/>
                <a:ea typeface="楷体" panose="02010609060101010101" charset="-122"/>
                <a:cs typeface="楷体" panose="02010609060101010101" charset="-122"/>
                <a:sym typeface="楷体" panose="02010609060101010101" charset="-122"/>
              </a:rPr>
              <a:t>饮食。海产品是良好的蛋白、脂肪酸、维生素和矿物质来源，其中有一半营养密度高于牛肉、猪肉和鸡肉。专家通过资料分析了全球野外捕捞和养殖的海产品营养密度及其对气候的影响发现，野外捕捞鲑鱼、鲱鱼及养殖贻贝、牡蛎等海产品温室气体排放量较低，对气候的影响也小。因此，可持续的海产品消</a:t>
            </a:r>
            <a:endParaRPr lang="zh-CN" altLang="en-US" sz="20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zh-CN" altLang="en-US" sz="2000" dirty="0">
                <a:latin typeface="楷体" panose="02010609060101010101" charset="-122"/>
                <a:ea typeface="楷体" panose="02010609060101010101" charset="-122"/>
                <a:cs typeface="楷体" panose="02010609060101010101" charset="-122"/>
                <a:sym typeface="楷体" panose="02010609060101010101" charset="-122"/>
              </a:rPr>
              <a:t>费能够在为人类提供更多营养的同时减轻环境压力。</a:t>
            </a:r>
            <a:endParaRPr lang="zh-CN" altLang="en-US" sz="20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zh-CN" altLang="en-US" sz="2000" dirty="0">
                <a:latin typeface="楷体" panose="02010609060101010101" charset="-122"/>
                <a:ea typeface="楷体" panose="02010609060101010101" charset="-122"/>
                <a:cs typeface="楷体" panose="02010609060101010101" charset="-122"/>
                <a:sym typeface="楷体" panose="02010609060101010101" charset="-122"/>
              </a:rPr>
              <a:t>由此可以推出：</a:t>
            </a:r>
            <a:endParaRPr lang="zh-CN" altLang="en-US" sz="20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000" dirty="0">
                <a:latin typeface="楷体" panose="02010609060101010101" charset="-122"/>
                <a:ea typeface="楷体" panose="02010609060101010101" charset="-122"/>
                <a:cs typeface="楷体" panose="02010609060101010101" charset="-122"/>
                <a:sym typeface="楷体" panose="02010609060101010101" charset="-122"/>
              </a:rPr>
              <a:t>A.</a:t>
            </a:r>
            <a:r>
              <a:rPr lang="zh-CN" altLang="en-US" sz="2000" dirty="0">
                <a:latin typeface="楷体" panose="02010609060101010101" charset="-122"/>
                <a:ea typeface="楷体" panose="02010609060101010101" charset="-122"/>
                <a:cs typeface="楷体" panose="02010609060101010101" charset="-122"/>
                <a:sym typeface="楷体" panose="02010609060101010101" charset="-122"/>
              </a:rPr>
              <a:t>为进一步降低碳排放，渔业应采用节能高效的捕捞技术</a:t>
            </a:r>
            <a:endParaRPr lang="zh-CN" altLang="en-US" sz="20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000" dirty="0">
                <a:latin typeface="楷体" panose="02010609060101010101" charset="-122"/>
                <a:ea typeface="楷体" panose="02010609060101010101" charset="-122"/>
                <a:cs typeface="楷体" panose="02010609060101010101" charset="-122"/>
                <a:sym typeface="楷体" panose="02010609060101010101" charset="-122"/>
              </a:rPr>
              <a:t>B.</a:t>
            </a:r>
            <a:r>
              <a:rPr lang="zh-CN" altLang="en-US" sz="2000" dirty="0">
                <a:latin typeface="楷体" panose="02010609060101010101" charset="-122"/>
                <a:ea typeface="楷体" panose="02010609060101010101" charset="-122"/>
                <a:cs typeface="楷体" panose="02010609060101010101" charset="-122"/>
                <a:sym typeface="楷体" panose="02010609060101010101" charset="-122"/>
              </a:rPr>
              <a:t>未来，人们在饮食策略中将大量采用海产品替代其他肉类</a:t>
            </a:r>
            <a:endParaRPr lang="zh-CN" altLang="en-US" sz="20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000" dirty="0">
                <a:latin typeface="楷体" panose="02010609060101010101" charset="-122"/>
                <a:ea typeface="楷体" panose="02010609060101010101" charset="-122"/>
                <a:cs typeface="楷体" panose="02010609060101010101" charset="-122"/>
                <a:sym typeface="楷体" panose="02010609060101010101" charset="-122"/>
              </a:rPr>
              <a:t>C.</a:t>
            </a:r>
            <a:r>
              <a:rPr lang="zh-CN" altLang="en-US" sz="2000" dirty="0">
                <a:latin typeface="楷体" panose="02010609060101010101" charset="-122"/>
                <a:ea typeface="楷体" panose="02010609060101010101" charset="-122"/>
                <a:cs typeface="楷体" panose="02010609060101010101" charset="-122"/>
                <a:sym typeface="楷体" panose="02010609060101010101" charset="-122"/>
              </a:rPr>
              <a:t>每一物种的生产或捕获方法的差异，会给气候变化带来很大不同</a:t>
            </a:r>
            <a:endParaRPr lang="zh-CN" altLang="en-US" sz="20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000" dirty="0">
                <a:latin typeface="楷体" panose="02010609060101010101" charset="-122"/>
                <a:ea typeface="楷体" panose="02010609060101010101" charset="-122"/>
                <a:cs typeface="楷体" panose="02010609060101010101" charset="-122"/>
                <a:sym typeface="楷体" panose="02010609060101010101" charset="-122"/>
              </a:rPr>
              <a:t>D.</a:t>
            </a:r>
            <a:r>
              <a:rPr lang="zh-CN" altLang="en-US" sz="2000" dirty="0">
                <a:latin typeface="楷体" panose="02010609060101010101" charset="-122"/>
                <a:ea typeface="楷体" panose="02010609060101010101" charset="-122"/>
                <a:cs typeface="楷体" panose="02010609060101010101" charset="-122"/>
                <a:sym typeface="楷体" panose="02010609060101010101" charset="-122"/>
              </a:rPr>
              <a:t>鼓励以海产的</a:t>
            </a:r>
            <a:r>
              <a:rPr lang="en-US" altLang="zh-CN" sz="2000" dirty="0">
                <a:latin typeface="楷体" panose="02010609060101010101" charset="-122"/>
                <a:ea typeface="楷体" panose="02010609060101010101" charset="-122"/>
                <a:cs typeface="楷体" panose="02010609060101010101" charset="-122"/>
                <a:sym typeface="楷体" panose="02010609060101010101" charset="-122"/>
              </a:rPr>
              <a:t>“</a:t>
            </a:r>
            <a:r>
              <a:rPr lang="zh-CN" altLang="en-US" sz="2000" dirty="0">
                <a:latin typeface="楷体" panose="02010609060101010101" charset="-122"/>
                <a:ea typeface="楷体" panose="02010609060101010101" charset="-122"/>
                <a:cs typeface="楷体" panose="02010609060101010101" charset="-122"/>
                <a:sym typeface="楷体" panose="02010609060101010101" charset="-122"/>
              </a:rPr>
              <a:t>蓝色</a:t>
            </a:r>
            <a:r>
              <a:rPr lang="en-US" altLang="zh-CN" sz="2000" dirty="0">
                <a:latin typeface="楷体" panose="02010609060101010101" charset="-122"/>
                <a:ea typeface="楷体" panose="02010609060101010101" charset="-122"/>
                <a:cs typeface="楷体" panose="02010609060101010101" charset="-122"/>
                <a:sym typeface="楷体" panose="02010609060101010101" charset="-122"/>
              </a:rPr>
              <a:t>”</a:t>
            </a:r>
            <a:r>
              <a:rPr lang="zh-CN" altLang="en-US" sz="2000" dirty="0">
                <a:latin typeface="楷体" panose="02010609060101010101" charset="-122"/>
                <a:ea typeface="楷体" panose="02010609060101010101" charset="-122"/>
                <a:cs typeface="楷体" panose="02010609060101010101" charset="-122"/>
                <a:sym typeface="楷体" panose="02010609060101010101" charset="-122"/>
              </a:rPr>
              <a:t>饮食替代其他动物蛋白，或可帮助应对气候变化</a:t>
            </a:r>
            <a:endParaRPr lang="zh-CN" altLang="en-US" sz="2000" dirty="0">
              <a:latin typeface="楷体" panose="02010609060101010101" charset="-122"/>
              <a:ea typeface="楷体" panose="02010609060101010101" charset="-122"/>
              <a:cs typeface="楷体" panose="02010609060101010101" charset="-122"/>
              <a:sym typeface="楷体" panose="02010609060101010101" charset="-122"/>
            </a:endParaRPr>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idx="4294967295"/>
          </p:nvPr>
        </p:nvSpPr>
        <p:spPr>
          <a:xfrm>
            <a:off x="608400" y="208350"/>
            <a:ext cx="10969200" cy="705600"/>
          </a:xfrm>
        </p:spPr>
        <p:txBody>
          <a:bodyPr/>
          <a:lstStyle/>
          <a:p>
            <a:pPr algn="l">
              <a:buClrTx/>
              <a:buSzTx/>
              <a:buFontTx/>
            </a:pPr>
            <a:r>
              <a:rPr kumimoji="1" lang="zh-CN" sz="3735" b="1" dirty="0">
                <a:solidFill>
                  <a:srgbClr val="FF653F"/>
                </a:solidFill>
                <a:latin typeface="+mj-lt"/>
                <a:ea typeface="+mj-lt"/>
                <a:cs typeface="+mj-lt"/>
              </a:rPr>
              <a:t>题</a:t>
            </a:r>
            <a:r>
              <a:rPr kumimoji="1" lang="en-US" altLang="zh-CN" sz="3735" b="1" dirty="0">
                <a:solidFill>
                  <a:srgbClr val="FF653F"/>
                </a:solidFill>
                <a:latin typeface="+mj-lt"/>
                <a:ea typeface="+mj-lt"/>
                <a:cs typeface="+mj-lt"/>
              </a:rPr>
              <a:t>89</a:t>
            </a:r>
            <a:endParaRPr kumimoji="1" lang="en-US" altLang="zh-CN" sz="3735" b="1" dirty="0">
              <a:solidFill>
                <a:srgbClr val="FF653F"/>
              </a:solidFill>
              <a:latin typeface="+mj-lt"/>
              <a:ea typeface="+mj-lt"/>
              <a:cs typeface="+mj-lt"/>
            </a:endParaRPr>
          </a:p>
        </p:txBody>
      </p:sp>
      <p:sp>
        <p:nvSpPr>
          <p:cNvPr id="4" name="文本框 3"/>
          <p:cNvSpPr txBox="1"/>
          <p:nvPr/>
        </p:nvSpPr>
        <p:spPr>
          <a:xfrm>
            <a:off x="608330" y="756285"/>
            <a:ext cx="10968355" cy="5169535"/>
          </a:xfrm>
          <a:prstGeom prst="rect">
            <a:avLst/>
          </a:prstGeom>
          <a:noFill/>
        </p:spPr>
        <p:txBody>
          <a:bodyPr wrap="square" rtlCol="0" anchor="t">
            <a:spAutoFit/>
          </a:bodyPr>
          <a:p>
            <a:pPr indent="0" algn="l" fontAlgn="auto">
              <a:lnSpc>
                <a:spcPct val="150000"/>
              </a:lnSpc>
            </a:pPr>
            <a:r>
              <a:rPr lang="zh-CN" altLang="en-US" sz="2200" dirty="0">
                <a:latin typeface="楷体" panose="02010609060101010101" charset="-122"/>
                <a:ea typeface="楷体" panose="02010609060101010101" charset="-122"/>
                <a:cs typeface="楷体" panose="02010609060101010101" charset="-122"/>
                <a:sym typeface="楷体" panose="02010609060101010101" charset="-122"/>
              </a:rPr>
              <a:t>有研究发现，儿童受试者考夫曼简明智力测验得分下降与其居住地点黑碳浓度的提高有关。此外，在老年男性群体中，黑碳浓度水平升高</a:t>
            </a:r>
            <a:r>
              <a:rPr lang="en-US" altLang="zh-CN" sz="2200" dirty="0">
                <a:latin typeface="楷体" panose="02010609060101010101" charset="-122"/>
                <a:ea typeface="楷体" panose="02010609060101010101" charset="-122"/>
                <a:cs typeface="楷体" panose="02010609060101010101" charset="-122"/>
                <a:sym typeface="楷体" panose="02010609060101010101" charset="-122"/>
              </a:rPr>
              <a:t>1</a:t>
            </a:r>
            <a:r>
              <a:rPr lang="zh-CN" altLang="en-US" sz="2200" dirty="0">
                <a:latin typeface="楷体" panose="02010609060101010101" charset="-122"/>
                <a:ea typeface="楷体" panose="02010609060101010101" charset="-122"/>
                <a:cs typeface="楷体" panose="02010609060101010101" charset="-122"/>
                <a:sym typeface="楷体" panose="02010609060101010101" charset="-122"/>
              </a:rPr>
              <a:t>倍，其简易智力状态检查量表（</a:t>
            </a:r>
            <a:r>
              <a:rPr lang="en-US" altLang="zh-CN" sz="2200" dirty="0">
                <a:latin typeface="楷体" panose="02010609060101010101" charset="-122"/>
                <a:ea typeface="楷体" panose="02010609060101010101" charset="-122"/>
                <a:cs typeface="楷体" panose="02010609060101010101" charset="-122"/>
                <a:sym typeface="楷体" panose="02010609060101010101" charset="-122"/>
              </a:rPr>
              <a:t>MMSE</a:t>
            </a:r>
            <a:r>
              <a:rPr lang="zh-CN" altLang="en-US" sz="2200" dirty="0">
                <a:latin typeface="楷体" panose="02010609060101010101" charset="-122"/>
                <a:ea typeface="楷体" panose="02010609060101010101" charset="-122"/>
                <a:cs typeface="楷体" panose="02010609060101010101" charset="-122"/>
                <a:sym typeface="楷体" panose="02010609060101010101" charset="-122"/>
              </a:rPr>
              <a:t>）得分小于</a:t>
            </a:r>
            <a:r>
              <a:rPr lang="en-US" altLang="zh-CN" sz="2200" dirty="0">
                <a:latin typeface="楷体" panose="02010609060101010101" charset="-122"/>
                <a:ea typeface="楷体" panose="02010609060101010101" charset="-122"/>
                <a:cs typeface="楷体" panose="02010609060101010101" charset="-122"/>
                <a:sym typeface="楷体" panose="02010609060101010101" charset="-122"/>
              </a:rPr>
              <a:t>25</a:t>
            </a:r>
            <a:r>
              <a:rPr lang="zh-CN" altLang="en-US" sz="2200" dirty="0">
                <a:latin typeface="楷体" panose="02010609060101010101" charset="-122"/>
                <a:ea typeface="楷体" panose="02010609060101010101" charset="-122"/>
                <a:cs typeface="楷体" panose="02010609060101010101" charset="-122"/>
                <a:sym typeface="楷体" panose="02010609060101010101" charset="-122"/>
              </a:rPr>
              <a:t>的</a:t>
            </a:r>
            <a:r>
              <a:rPr lang="en-US" altLang="zh-CN" sz="2200" dirty="0">
                <a:latin typeface="楷体" panose="02010609060101010101" charset="-122"/>
                <a:ea typeface="楷体" panose="02010609060101010101" charset="-122"/>
                <a:cs typeface="楷体" panose="02010609060101010101" charset="-122"/>
                <a:sym typeface="楷体" panose="02010609060101010101" charset="-122"/>
              </a:rPr>
              <a:t>OR</a:t>
            </a:r>
            <a:r>
              <a:rPr lang="zh-CN" altLang="en-US" sz="2200" dirty="0">
                <a:latin typeface="楷体" panose="02010609060101010101" charset="-122"/>
                <a:ea typeface="楷体" panose="02010609060101010101" charset="-122"/>
                <a:cs typeface="楷体" panose="02010609060101010101" charset="-122"/>
                <a:sym typeface="楷体" panose="02010609060101010101" charset="-122"/>
              </a:rPr>
              <a:t>值为</a:t>
            </a:r>
            <a:r>
              <a:rPr lang="en-US" altLang="zh-CN" sz="2200" dirty="0">
                <a:latin typeface="楷体" panose="02010609060101010101" charset="-122"/>
                <a:ea typeface="楷体" panose="02010609060101010101" charset="-122"/>
                <a:cs typeface="楷体" panose="02010609060101010101" charset="-122"/>
                <a:sym typeface="楷体" panose="02010609060101010101" charset="-122"/>
              </a:rPr>
              <a:t>1.3</a:t>
            </a:r>
            <a:r>
              <a:rPr lang="zh-CN" altLang="en-US" sz="2200" dirty="0">
                <a:latin typeface="楷体" panose="02010609060101010101" charset="-122"/>
                <a:ea typeface="楷体" panose="02010609060101010101" charset="-122"/>
                <a:cs typeface="楷体" panose="02010609060101010101" charset="-122"/>
                <a:sym typeface="楷体" panose="02010609060101010101" charset="-122"/>
              </a:rPr>
              <a:t>，相当于衰老</a:t>
            </a:r>
            <a:r>
              <a:rPr lang="en-US" altLang="zh-CN" sz="2200" dirty="0">
                <a:latin typeface="楷体" panose="02010609060101010101" charset="-122"/>
                <a:ea typeface="楷体" panose="02010609060101010101" charset="-122"/>
                <a:cs typeface="楷体" panose="02010609060101010101" charset="-122"/>
                <a:sym typeface="楷体" panose="02010609060101010101" charset="-122"/>
              </a:rPr>
              <a:t>1.9</a:t>
            </a:r>
            <a:r>
              <a:rPr lang="zh-CN" altLang="en-US" sz="2200" dirty="0">
                <a:latin typeface="楷体" panose="02010609060101010101" charset="-122"/>
                <a:ea typeface="楷体" panose="02010609060101010101" charset="-122"/>
                <a:cs typeface="楷体" panose="02010609060101010101" charset="-122"/>
                <a:sym typeface="楷体" panose="02010609060101010101" charset="-122"/>
              </a:rPr>
              <a:t>年。由此，专家认为，黑碳暴露会导致神经系统损伤。</a:t>
            </a:r>
            <a:endParaRPr lang="zh-CN" altLang="en-US" sz="22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zh-CN" altLang="en-US" sz="2200" dirty="0">
                <a:latin typeface="楷体" panose="02010609060101010101" charset="-122"/>
                <a:ea typeface="楷体" panose="02010609060101010101" charset="-122"/>
                <a:cs typeface="楷体" panose="02010609060101010101" charset="-122"/>
                <a:sym typeface="楷体" panose="02010609060101010101" charset="-122"/>
              </a:rPr>
              <a:t>以下哪项如果为真，最能削弱上述论证：</a:t>
            </a:r>
            <a:endParaRPr lang="zh-CN" altLang="en-US" sz="22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200" dirty="0">
                <a:latin typeface="楷体" panose="02010609060101010101" charset="-122"/>
                <a:ea typeface="楷体" panose="02010609060101010101" charset="-122"/>
                <a:cs typeface="楷体" panose="02010609060101010101" charset="-122"/>
                <a:sym typeface="楷体" panose="02010609060101010101" charset="-122"/>
              </a:rPr>
              <a:t>A.</a:t>
            </a:r>
            <a:r>
              <a:rPr lang="zh-CN" altLang="en-US" sz="2200" dirty="0">
                <a:latin typeface="楷体" panose="02010609060101010101" charset="-122"/>
                <a:ea typeface="楷体" panose="02010609060101010101" charset="-122"/>
                <a:cs typeface="楷体" panose="02010609060101010101" charset="-122"/>
                <a:sym typeface="楷体" panose="02010609060101010101" charset="-122"/>
              </a:rPr>
              <a:t>相关研究所关注的儿童和老人群体本身血脑屏障较脆弱，易受黑碳暴露影响</a:t>
            </a:r>
            <a:endParaRPr lang="zh-CN" altLang="en-US" sz="22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200" dirty="0">
                <a:latin typeface="楷体" panose="02010609060101010101" charset="-122"/>
                <a:ea typeface="楷体" panose="02010609060101010101" charset="-122"/>
                <a:cs typeface="楷体" panose="02010609060101010101" charset="-122"/>
                <a:sym typeface="楷体" panose="02010609060101010101" charset="-122"/>
              </a:rPr>
              <a:t>B.</a:t>
            </a:r>
            <a:r>
              <a:rPr lang="zh-CN" altLang="en-US" sz="2200" dirty="0">
                <a:latin typeface="楷体" panose="02010609060101010101" charset="-122"/>
                <a:ea typeface="楷体" panose="02010609060101010101" charset="-122"/>
                <a:cs typeface="楷体" panose="02010609060101010101" charset="-122"/>
                <a:sym typeface="楷体" panose="02010609060101010101" charset="-122"/>
              </a:rPr>
              <a:t>颗粒物可以通过嗅球，沿嗅觉神经元传输到大脑，对神经系统产生不良影响</a:t>
            </a:r>
            <a:endParaRPr lang="zh-CN" altLang="en-US" sz="22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200" dirty="0">
                <a:latin typeface="楷体" panose="02010609060101010101" charset="-122"/>
                <a:ea typeface="楷体" panose="02010609060101010101" charset="-122"/>
                <a:cs typeface="楷体" panose="02010609060101010101" charset="-122"/>
                <a:sym typeface="楷体" panose="02010609060101010101" charset="-122"/>
              </a:rPr>
              <a:t>C.</a:t>
            </a:r>
            <a:r>
              <a:rPr lang="zh-CN" altLang="en-US" sz="2200" dirty="0">
                <a:latin typeface="楷体" panose="02010609060101010101" charset="-122"/>
                <a:ea typeface="楷体" panose="02010609060101010101" charset="-122"/>
                <a:cs typeface="楷体" panose="02010609060101010101" charset="-122"/>
                <a:sym typeface="楷体" panose="02010609060101010101" charset="-122"/>
              </a:rPr>
              <a:t>最新研究表明，黑碳因其特有的物化属性可能具有比细颗粒物更大的健康影响</a:t>
            </a:r>
            <a:endParaRPr lang="zh-CN" altLang="en-US" sz="22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200" dirty="0">
                <a:latin typeface="楷体" panose="02010609060101010101" charset="-122"/>
                <a:ea typeface="楷体" panose="02010609060101010101" charset="-122"/>
                <a:cs typeface="楷体" panose="02010609060101010101" charset="-122"/>
                <a:sym typeface="楷体" panose="02010609060101010101" charset="-122"/>
              </a:rPr>
              <a:t>D.</a:t>
            </a:r>
            <a:r>
              <a:rPr lang="zh-CN" altLang="en-US" sz="2200" dirty="0">
                <a:latin typeface="楷体" panose="02010609060101010101" charset="-122"/>
                <a:ea typeface="楷体" panose="02010609060101010101" charset="-122"/>
                <a:cs typeface="楷体" panose="02010609060101010101" charset="-122"/>
                <a:sym typeface="楷体" panose="02010609060101010101" charset="-122"/>
              </a:rPr>
              <a:t>黑碳暴露与男孩在考夫曼简明智力测验中的反应时间延长和错误率增加有关，而在女孩中未观察到显著相关性</a:t>
            </a:r>
            <a:endParaRPr lang="zh-CN" altLang="en-US" sz="2200" dirty="0">
              <a:latin typeface="楷体" panose="02010609060101010101" charset="-122"/>
              <a:ea typeface="楷体" panose="02010609060101010101" charset="-122"/>
              <a:cs typeface="楷体" panose="02010609060101010101" charset="-122"/>
              <a:sym typeface="楷体" panose="02010609060101010101" charset="-122"/>
            </a:endParaRPr>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idx="4294967295"/>
          </p:nvPr>
        </p:nvSpPr>
        <p:spPr>
          <a:xfrm>
            <a:off x="608400" y="208350"/>
            <a:ext cx="10969200" cy="705600"/>
          </a:xfrm>
        </p:spPr>
        <p:txBody>
          <a:bodyPr/>
          <a:lstStyle/>
          <a:p>
            <a:pPr algn="l">
              <a:buClrTx/>
              <a:buSzTx/>
              <a:buFontTx/>
            </a:pPr>
            <a:r>
              <a:rPr kumimoji="1" lang="zh-CN" sz="3735" b="1" dirty="0">
                <a:solidFill>
                  <a:srgbClr val="FF653F"/>
                </a:solidFill>
                <a:latin typeface="+mj-lt"/>
                <a:ea typeface="+mj-lt"/>
                <a:cs typeface="+mj-lt"/>
              </a:rPr>
              <a:t>题</a:t>
            </a:r>
            <a:r>
              <a:rPr kumimoji="1" lang="en-US" altLang="zh-CN" sz="3735" b="1" dirty="0">
                <a:solidFill>
                  <a:srgbClr val="FF653F"/>
                </a:solidFill>
                <a:latin typeface="+mj-lt"/>
                <a:ea typeface="+mj-lt"/>
                <a:cs typeface="+mj-lt"/>
              </a:rPr>
              <a:t>90</a:t>
            </a:r>
            <a:endParaRPr kumimoji="1" lang="en-US" altLang="zh-CN" sz="3735" b="1" dirty="0">
              <a:solidFill>
                <a:srgbClr val="FF653F"/>
              </a:solidFill>
              <a:latin typeface="+mj-lt"/>
              <a:ea typeface="+mj-lt"/>
              <a:cs typeface="+mj-lt"/>
            </a:endParaRPr>
          </a:p>
        </p:txBody>
      </p:sp>
      <p:sp>
        <p:nvSpPr>
          <p:cNvPr id="4" name="文本框 3"/>
          <p:cNvSpPr txBox="1"/>
          <p:nvPr/>
        </p:nvSpPr>
        <p:spPr>
          <a:xfrm>
            <a:off x="608330" y="756285"/>
            <a:ext cx="10968355" cy="4707890"/>
          </a:xfrm>
          <a:prstGeom prst="rect">
            <a:avLst/>
          </a:prstGeom>
          <a:noFill/>
        </p:spPr>
        <p:txBody>
          <a:bodyPr wrap="square" rtlCol="0" anchor="t">
            <a:spAutoFit/>
          </a:bodyPr>
          <a:p>
            <a:pPr indent="0" algn="l" fontAlgn="auto">
              <a:lnSpc>
                <a:spcPct val="150000"/>
              </a:lnSpc>
            </a:pPr>
            <a:r>
              <a:rPr lang="zh-CN" altLang="en-US" sz="2000" dirty="0">
                <a:latin typeface="楷体" panose="02010609060101010101" charset="-122"/>
                <a:ea typeface="楷体" panose="02010609060101010101" charset="-122"/>
                <a:cs typeface="楷体" panose="02010609060101010101" charset="-122"/>
                <a:sym typeface="楷体" panose="02010609060101010101" charset="-122"/>
              </a:rPr>
              <a:t>与人类的眼球是一整个球形不同，鸟类眼球是由一大一小的两个半球构成，小的半球是角膜，大的半球是视网膜，在角膜周围有一圈小骨片形成的一个环状的支撑性的脊，这个骨片环即巩膜环，保护眼球的同时也限制了眼球的转动，人类在走路时，通过眼球的转动抵消走路时的振动来保持视觉的稳定，而鸟类无法大幅度地转动眼球。因此，很多鸟类走路时，让头部先移至前方保持稳定，身体再前进。保持不动的头部像是向后缩了一样，于是就成了脖子一伸一缩的样子。</a:t>
            </a:r>
            <a:endParaRPr lang="zh-CN" altLang="en-US" sz="20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zh-CN" altLang="en-US" sz="2000" dirty="0">
                <a:latin typeface="楷体" panose="02010609060101010101" charset="-122"/>
                <a:ea typeface="楷体" panose="02010609060101010101" charset="-122"/>
                <a:cs typeface="楷体" panose="02010609060101010101" charset="-122"/>
                <a:sym typeface="楷体" panose="02010609060101010101" charset="-122"/>
              </a:rPr>
              <a:t>由此可以推出：</a:t>
            </a:r>
            <a:endParaRPr lang="zh-CN" altLang="en-US" sz="20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000" dirty="0">
                <a:latin typeface="楷体" panose="02010609060101010101" charset="-122"/>
                <a:ea typeface="楷体" panose="02010609060101010101" charset="-122"/>
                <a:cs typeface="楷体" panose="02010609060101010101" charset="-122"/>
                <a:sym typeface="楷体" panose="02010609060101010101" charset="-122"/>
              </a:rPr>
              <a:t>A.</a:t>
            </a:r>
            <a:r>
              <a:rPr lang="zh-CN" altLang="en-US" sz="2000" dirty="0">
                <a:latin typeface="楷体" panose="02010609060101010101" charset="-122"/>
                <a:ea typeface="楷体" panose="02010609060101010101" charset="-122"/>
                <a:cs typeface="楷体" panose="02010609060101010101" charset="-122"/>
                <a:sym typeface="楷体" panose="02010609060101010101" charset="-122"/>
              </a:rPr>
              <a:t>鸟类的眼球构造有助于形成更锐利的远视力</a:t>
            </a:r>
            <a:endParaRPr lang="zh-CN" altLang="en-US" sz="20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000" dirty="0">
                <a:latin typeface="楷体" panose="02010609060101010101" charset="-122"/>
                <a:ea typeface="楷体" panose="02010609060101010101" charset="-122"/>
                <a:cs typeface="楷体" panose="02010609060101010101" charset="-122"/>
                <a:sym typeface="楷体" panose="02010609060101010101" charset="-122"/>
              </a:rPr>
              <a:t>B.</a:t>
            </a:r>
            <a:r>
              <a:rPr lang="zh-CN" altLang="en-US" sz="2000" dirty="0">
                <a:latin typeface="楷体" panose="02010609060101010101" charset="-122"/>
                <a:ea typeface="楷体" panose="02010609060101010101" charset="-122"/>
                <a:cs typeface="楷体" panose="02010609060101010101" charset="-122"/>
                <a:sym typeface="楷体" panose="02010609060101010101" charset="-122"/>
              </a:rPr>
              <a:t>鸟类走路时脖子的伸缩有助于维持身体的平衡</a:t>
            </a:r>
            <a:endParaRPr lang="zh-CN" altLang="en-US" sz="20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000" dirty="0">
                <a:latin typeface="楷体" panose="02010609060101010101" charset="-122"/>
                <a:ea typeface="楷体" panose="02010609060101010101" charset="-122"/>
                <a:cs typeface="楷体" panose="02010609060101010101" charset="-122"/>
                <a:sym typeface="楷体" panose="02010609060101010101" charset="-122"/>
              </a:rPr>
              <a:t>C.</a:t>
            </a:r>
            <a:r>
              <a:rPr lang="zh-CN" altLang="en-US" sz="2000" dirty="0">
                <a:latin typeface="楷体" panose="02010609060101010101" charset="-122"/>
                <a:ea typeface="楷体" panose="02010609060101010101" charset="-122"/>
                <a:cs typeface="楷体" panose="02010609060101010101" charset="-122"/>
                <a:sym typeface="楷体" panose="02010609060101010101" charset="-122"/>
              </a:rPr>
              <a:t>鸟类通过颈部运动让眼睛成像保持更持久的稳定</a:t>
            </a:r>
            <a:endParaRPr lang="zh-CN" altLang="en-US" sz="20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000" dirty="0">
                <a:latin typeface="楷体" panose="02010609060101010101" charset="-122"/>
                <a:ea typeface="楷体" panose="02010609060101010101" charset="-122"/>
                <a:cs typeface="楷体" panose="02010609060101010101" charset="-122"/>
                <a:sym typeface="楷体" panose="02010609060101010101" charset="-122"/>
              </a:rPr>
              <a:t>D.</a:t>
            </a:r>
            <a:r>
              <a:rPr lang="zh-CN" altLang="en-US" sz="2000" dirty="0">
                <a:latin typeface="楷体" panose="02010609060101010101" charset="-122"/>
                <a:ea typeface="楷体" panose="02010609060101010101" charset="-122"/>
                <a:cs typeface="楷体" panose="02010609060101010101" charset="-122"/>
                <a:sym typeface="楷体" panose="02010609060101010101" charset="-122"/>
              </a:rPr>
              <a:t>鸟类通过运动头部来获得视差以增强空间的深度感知</a:t>
            </a:r>
            <a:endParaRPr lang="zh-CN" altLang="en-US" sz="2000" dirty="0">
              <a:latin typeface="楷体" panose="02010609060101010101" charset="-122"/>
              <a:ea typeface="楷体" panose="02010609060101010101" charset="-122"/>
              <a:cs typeface="楷体" panose="02010609060101010101" charset="-122"/>
              <a:sym typeface="楷体" panose="02010609060101010101" charset="-122"/>
            </a:endParaRPr>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idx="4294967295"/>
          </p:nvPr>
        </p:nvSpPr>
        <p:spPr>
          <a:xfrm>
            <a:off x="608400" y="208350"/>
            <a:ext cx="10969200" cy="705600"/>
          </a:xfrm>
        </p:spPr>
        <p:txBody>
          <a:bodyPr/>
          <a:lstStyle/>
          <a:p>
            <a:pPr algn="l">
              <a:buClrTx/>
              <a:buSzTx/>
              <a:buFontTx/>
            </a:pPr>
            <a:r>
              <a:rPr kumimoji="1" lang="zh-CN" sz="3735" b="1" dirty="0">
                <a:solidFill>
                  <a:srgbClr val="FF653F"/>
                </a:solidFill>
                <a:latin typeface="+mj-lt"/>
                <a:ea typeface="+mj-lt"/>
                <a:cs typeface="+mj-lt"/>
              </a:rPr>
              <a:t>题</a:t>
            </a:r>
            <a:r>
              <a:rPr kumimoji="1" lang="en-US" altLang="zh-CN" sz="3735" b="1" dirty="0">
                <a:solidFill>
                  <a:srgbClr val="FF653F"/>
                </a:solidFill>
                <a:latin typeface="+mj-lt"/>
                <a:ea typeface="+mj-lt"/>
                <a:cs typeface="+mj-lt"/>
              </a:rPr>
              <a:t>91</a:t>
            </a:r>
            <a:endParaRPr kumimoji="1" lang="en-US" altLang="zh-CN" sz="3735" b="1" dirty="0">
              <a:solidFill>
                <a:srgbClr val="FF653F"/>
              </a:solidFill>
              <a:latin typeface="+mj-lt"/>
              <a:ea typeface="+mj-lt"/>
              <a:cs typeface="+mj-lt"/>
            </a:endParaRPr>
          </a:p>
        </p:txBody>
      </p:sp>
      <p:sp>
        <p:nvSpPr>
          <p:cNvPr id="4" name="文本框 3"/>
          <p:cNvSpPr txBox="1"/>
          <p:nvPr/>
        </p:nvSpPr>
        <p:spPr>
          <a:xfrm>
            <a:off x="608330" y="756285"/>
            <a:ext cx="10968355" cy="5631180"/>
          </a:xfrm>
          <a:prstGeom prst="rect">
            <a:avLst/>
          </a:prstGeom>
          <a:noFill/>
        </p:spPr>
        <p:txBody>
          <a:bodyPr wrap="square" rtlCol="0" anchor="t">
            <a:spAutoFit/>
          </a:bodyPr>
          <a:p>
            <a:pPr indent="0" algn="l" fontAlgn="auto">
              <a:lnSpc>
                <a:spcPct val="150000"/>
              </a:lnSpc>
            </a:pPr>
            <a:r>
              <a:rPr lang="zh-CN" altLang="en-US" sz="2400" dirty="0">
                <a:latin typeface="楷体" panose="02010609060101010101" charset="-122"/>
                <a:ea typeface="楷体" panose="02010609060101010101" charset="-122"/>
                <a:cs typeface="楷体" panose="02010609060101010101" charset="-122"/>
                <a:sym typeface="楷体" panose="02010609060101010101" charset="-122"/>
              </a:rPr>
              <a:t>把下面的六个图形分为两类，使每一类图形都有各自的共同特征或规律，分类正确的一项是：</a:t>
            </a:r>
            <a:endParaRPr lang="zh-CN" altLang="en-US" sz="24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endParaRPr lang="zh-CN" altLang="en-US" sz="24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endParaRPr lang="zh-CN" altLang="en-US" sz="24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endParaRPr lang="zh-CN" altLang="en-US" sz="24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endParaRPr lang="zh-CN" altLang="en-US" sz="24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endParaRPr lang="zh-CN" altLang="en-US" sz="24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endParaRPr lang="zh-CN" altLang="en-US" sz="24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400" dirty="0">
                <a:latin typeface="楷体" panose="02010609060101010101" charset="-122"/>
                <a:ea typeface="楷体" panose="02010609060101010101" charset="-122"/>
                <a:cs typeface="楷体" panose="02010609060101010101" charset="-122"/>
                <a:sym typeface="楷体" panose="02010609060101010101" charset="-122"/>
              </a:rPr>
              <a:t>A.</a:t>
            </a:r>
            <a:r>
              <a:rPr lang="en-US" altLang="en-US" sz="2400" dirty="0">
                <a:latin typeface="楷体" panose="02010609060101010101" charset="-122"/>
                <a:ea typeface="楷体" panose="02010609060101010101" charset="-122"/>
                <a:cs typeface="楷体" panose="02010609060101010101" charset="-122"/>
                <a:sym typeface="楷体" panose="02010609060101010101" charset="-122"/>
              </a:rPr>
              <a:t>①③④</a:t>
            </a:r>
            <a:r>
              <a:rPr lang="zh-CN" altLang="en-US" sz="2400" dirty="0">
                <a:latin typeface="楷体" panose="02010609060101010101" charset="-122"/>
                <a:ea typeface="楷体" panose="02010609060101010101" charset="-122"/>
                <a:cs typeface="楷体" panose="02010609060101010101" charset="-122"/>
                <a:sym typeface="楷体" panose="02010609060101010101" charset="-122"/>
              </a:rPr>
              <a:t>，</a:t>
            </a:r>
            <a:r>
              <a:rPr lang="en-US" altLang="en-US" sz="2400" dirty="0">
                <a:latin typeface="楷体" panose="02010609060101010101" charset="-122"/>
                <a:ea typeface="楷体" panose="02010609060101010101" charset="-122"/>
                <a:cs typeface="楷体" panose="02010609060101010101" charset="-122"/>
                <a:sym typeface="楷体" panose="02010609060101010101" charset="-122"/>
              </a:rPr>
              <a:t>②⑤⑥</a:t>
            </a:r>
            <a:r>
              <a:rPr lang="en-US" altLang="zh-CN" sz="2400" dirty="0">
                <a:latin typeface="楷体" panose="02010609060101010101" charset="-122"/>
                <a:ea typeface="楷体" panose="02010609060101010101" charset="-122"/>
                <a:cs typeface="楷体" panose="02010609060101010101" charset="-122"/>
                <a:sym typeface="楷体" panose="02010609060101010101" charset="-122"/>
              </a:rPr>
              <a:t>		B.</a:t>
            </a:r>
            <a:r>
              <a:rPr lang="en-US" altLang="en-US" sz="2400" dirty="0">
                <a:latin typeface="楷体" panose="02010609060101010101" charset="-122"/>
                <a:ea typeface="楷体" panose="02010609060101010101" charset="-122"/>
                <a:cs typeface="楷体" panose="02010609060101010101" charset="-122"/>
                <a:sym typeface="楷体" panose="02010609060101010101" charset="-122"/>
              </a:rPr>
              <a:t>①②⑥</a:t>
            </a:r>
            <a:r>
              <a:rPr lang="zh-CN" altLang="en-US" sz="2400" dirty="0">
                <a:latin typeface="楷体" panose="02010609060101010101" charset="-122"/>
                <a:ea typeface="楷体" panose="02010609060101010101" charset="-122"/>
                <a:cs typeface="楷体" panose="02010609060101010101" charset="-122"/>
                <a:sym typeface="楷体" panose="02010609060101010101" charset="-122"/>
              </a:rPr>
              <a:t>，</a:t>
            </a:r>
            <a:r>
              <a:rPr lang="en-US" altLang="en-US" sz="2400" dirty="0">
                <a:latin typeface="楷体" panose="02010609060101010101" charset="-122"/>
                <a:ea typeface="楷体" panose="02010609060101010101" charset="-122"/>
                <a:cs typeface="楷体" panose="02010609060101010101" charset="-122"/>
                <a:sym typeface="楷体" panose="02010609060101010101" charset="-122"/>
              </a:rPr>
              <a:t>③④⑤</a:t>
            </a:r>
            <a:r>
              <a:rPr lang="en-US" altLang="zh-CN" sz="2400" dirty="0">
                <a:latin typeface="楷体" panose="02010609060101010101" charset="-122"/>
                <a:ea typeface="楷体" panose="02010609060101010101" charset="-122"/>
                <a:cs typeface="楷体" panose="02010609060101010101" charset="-122"/>
                <a:sym typeface="楷体" panose="02010609060101010101" charset="-122"/>
              </a:rPr>
              <a:t> </a:t>
            </a:r>
            <a:endParaRPr lang="en-US" altLang="zh-CN" sz="24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400" dirty="0">
                <a:latin typeface="楷体" panose="02010609060101010101" charset="-122"/>
                <a:ea typeface="楷体" panose="02010609060101010101" charset="-122"/>
                <a:cs typeface="楷体" panose="02010609060101010101" charset="-122"/>
                <a:sym typeface="楷体" panose="02010609060101010101" charset="-122"/>
              </a:rPr>
              <a:t>C.</a:t>
            </a:r>
            <a:r>
              <a:rPr lang="en-US" altLang="en-US" sz="2400" dirty="0">
                <a:latin typeface="楷体" panose="02010609060101010101" charset="-122"/>
                <a:ea typeface="楷体" panose="02010609060101010101" charset="-122"/>
                <a:cs typeface="楷体" panose="02010609060101010101" charset="-122"/>
                <a:sym typeface="楷体" panose="02010609060101010101" charset="-122"/>
              </a:rPr>
              <a:t>①③⑤</a:t>
            </a:r>
            <a:r>
              <a:rPr lang="zh-CN" altLang="en-US" sz="2400" dirty="0">
                <a:latin typeface="楷体" panose="02010609060101010101" charset="-122"/>
                <a:ea typeface="楷体" panose="02010609060101010101" charset="-122"/>
                <a:cs typeface="楷体" panose="02010609060101010101" charset="-122"/>
                <a:sym typeface="楷体" panose="02010609060101010101" charset="-122"/>
              </a:rPr>
              <a:t>，</a:t>
            </a:r>
            <a:r>
              <a:rPr lang="en-US" altLang="en-US" sz="2400" dirty="0">
                <a:latin typeface="楷体" panose="02010609060101010101" charset="-122"/>
                <a:ea typeface="楷体" panose="02010609060101010101" charset="-122"/>
                <a:cs typeface="楷体" panose="02010609060101010101" charset="-122"/>
                <a:sym typeface="楷体" panose="02010609060101010101" charset="-122"/>
              </a:rPr>
              <a:t>②④⑥		</a:t>
            </a:r>
            <a:r>
              <a:rPr lang="en-US" altLang="zh-CN" sz="2400" dirty="0">
                <a:latin typeface="楷体" panose="02010609060101010101" charset="-122"/>
                <a:ea typeface="楷体" panose="02010609060101010101" charset="-122"/>
                <a:cs typeface="楷体" panose="02010609060101010101" charset="-122"/>
                <a:sym typeface="楷体" panose="02010609060101010101" charset="-122"/>
              </a:rPr>
              <a:t>D.</a:t>
            </a:r>
            <a:r>
              <a:rPr lang="en-US" altLang="en-US" sz="2400" dirty="0">
                <a:latin typeface="楷体" panose="02010609060101010101" charset="-122"/>
                <a:ea typeface="楷体" panose="02010609060101010101" charset="-122"/>
                <a:cs typeface="楷体" panose="02010609060101010101" charset="-122"/>
                <a:sym typeface="楷体" panose="02010609060101010101" charset="-122"/>
              </a:rPr>
              <a:t>①④⑥</a:t>
            </a:r>
            <a:r>
              <a:rPr lang="zh-CN" altLang="en-US" sz="2400" dirty="0">
                <a:latin typeface="楷体" panose="02010609060101010101" charset="-122"/>
                <a:ea typeface="楷体" panose="02010609060101010101" charset="-122"/>
                <a:cs typeface="楷体" panose="02010609060101010101" charset="-122"/>
                <a:sym typeface="楷体" panose="02010609060101010101" charset="-122"/>
              </a:rPr>
              <a:t>，</a:t>
            </a:r>
            <a:r>
              <a:rPr lang="en-US" altLang="en-US" sz="2400" dirty="0">
                <a:latin typeface="楷体" panose="02010609060101010101" charset="-122"/>
                <a:ea typeface="楷体" panose="02010609060101010101" charset="-122"/>
                <a:cs typeface="楷体" panose="02010609060101010101" charset="-122"/>
                <a:sym typeface="楷体" panose="02010609060101010101" charset="-122"/>
              </a:rPr>
              <a:t>②③⑤</a:t>
            </a:r>
            <a:endParaRPr lang="en-US" altLang="en-US" sz="2400" dirty="0">
              <a:latin typeface="楷体" panose="02010609060101010101" charset="-122"/>
              <a:ea typeface="楷体" panose="02010609060101010101" charset="-122"/>
              <a:cs typeface="楷体" panose="02010609060101010101" charset="-122"/>
              <a:sym typeface="楷体" panose="02010609060101010101" charset="-122"/>
            </a:endParaRPr>
          </a:p>
        </p:txBody>
      </p:sp>
      <p:pic>
        <p:nvPicPr>
          <p:cNvPr id="3" name="图片 2"/>
          <p:cNvPicPr>
            <a:picLocks noChangeAspect="1"/>
          </p:cNvPicPr>
          <p:nvPr/>
        </p:nvPicPr>
        <p:blipFill>
          <a:blip r:embed="rId1"/>
          <a:stretch>
            <a:fillRect/>
          </a:stretch>
        </p:blipFill>
        <p:spPr>
          <a:xfrm>
            <a:off x="3980815" y="1547495"/>
            <a:ext cx="4496435" cy="3552190"/>
          </a:xfrm>
          <a:prstGeom prst="rect">
            <a:avLst/>
          </a:prstGeom>
        </p:spPr>
      </p:pic>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idx="4294967295"/>
          </p:nvPr>
        </p:nvSpPr>
        <p:spPr>
          <a:xfrm>
            <a:off x="608400" y="208350"/>
            <a:ext cx="10969200" cy="705600"/>
          </a:xfrm>
        </p:spPr>
        <p:txBody>
          <a:bodyPr/>
          <a:lstStyle/>
          <a:p>
            <a:pPr algn="l">
              <a:buClrTx/>
              <a:buSzTx/>
              <a:buFontTx/>
            </a:pPr>
            <a:r>
              <a:rPr kumimoji="1" lang="zh-CN" sz="3735" b="1" dirty="0">
                <a:solidFill>
                  <a:srgbClr val="FF653F"/>
                </a:solidFill>
                <a:latin typeface="+mj-lt"/>
                <a:ea typeface="+mj-lt"/>
                <a:cs typeface="+mj-lt"/>
              </a:rPr>
              <a:t>题</a:t>
            </a:r>
            <a:r>
              <a:rPr kumimoji="1" lang="en-US" altLang="zh-CN" sz="3735" b="1" dirty="0">
                <a:solidFill>
                  <a:srgbClr val="FF653F"/>
                </a:solidFill>
                <a:latin typeface="+mj-lt"/>
                <a:ea typeface="+mj-lt"/>
                <a:cs typeface="+mj-lt"/>
              </a:rPr>
              <a:t>92</a:t>
            </a:r>
            <a:endParaRPr kumimoji="1" lang="en-US" altLang="zh-CN" sz="3735" b="1" dirty="0">
              <a:solidFill>
                <a:srgbClr val="FF653F"/>
              </a:solidFill>
              <a:latin typeface="+mj-lt"/>
              <a:ea typeface="+mj-lt"/>
              <a:cs typeface="+mj-lt"/>
            </a:endParaRPr>
          </a:p>
        </p:txBody>
      </p:sp>
      <p:sp>
        <p:nvSpPr>
          <p:cNvPr id="4" name="文本框 3"/>
          <p:cNvSpPr txBox="1"/>
          <p:nvPr/>
        </p:nvSpPr>
        <p:spPr>
          <a:xfrm>
            <a:off x="608330" y="756285"/>
            <a:ext cx="10968355" cy="5631180"/>
          </a:xfrm>
          <a:prstGeom prst="rect">
            <a:avLst/>
          </a:prstGeom>
          <a:noFill/>
        </p:spPr>
        <p:txBody>
          <a:bodyPr wrap="square" rtlCol="0" anchor="t">
            <a:spAutoFit/>
          </a:bodyPr>
          <a:p>
            <a:pPr indent="0" algn="l" fontAlgn="auto">
              <a:lnSpc>
                <a:spcPct val="150000"/>
              </a:lnSpc>
            </a:pPr>
            <a:r>
              <a:rPr lang="zh-CN" altLang="en-US" sz="2400" dirty="0">
                <a:latin typeface="楷体" panose="02010609060101010101" charset="-122"/>
                <a:ea typeface="楷体" panose="02010609060101010101" charset="-122"/>
                <a:cs typeface="楷体" panose="02010609060101010101" charset="-122"/>
                <a:sym typeface="楷体" panose="02010609060101010101" charset="-122"/>
              </a:rPr>
              <a:t>把下面的六个图形分为两类，使每一类图形都有各自的共同特征或规律，分类正确的一项是：</a:t>
            </a:r>
            <a:endParaRPr lang="zh-CN" altLang="en-US" sz="24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endParaRPr lang="zh-CN" altLang="en-US" sz="24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endParaRPr lang="zh-CN" altLang="en-US" sz="24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endParaRPr lang="zh-CN" altLang="en-US" sz="24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endParaRPr lang="zh-CN" altLang="en-US" sz="24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endParaRPr lang="zh-CN" altLang="en-US" sz="24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endParaRPr lang="zh-CN" altLang="en-US" sz="24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400" dirty="0">
                <a:latin typeface="楷体" panose="02010609060101010101" charset="-122"/>
                <a:ea typeface="楷体" panose="02010609060101010101" charset="-122"/>
                <a:cs typeface="楷体" panose="02010609060101010101" charset="-122"/>
                <a:sym typeface="楷体" panose="02010609060101010101" charset="-122"/>
              </a:rPr>
              <a:t>A.</a:t>
            </a:r>
            <a:r>
              <a:rPr lang="en-US" altLang="en-US" sz="2400" dirty="0">
                <a:latin typeface="楷体" panose="02010609060101010101" charset="-122"/>
                <a:ea typeface="楷体" panose="02010609060101010101" charset="-122"/>
                <a:cs typeface="楷体" panose="02010609060101010101" charset="-122"/>
                <a:sym typeface="楷体" panose="02010609060101010101" charset="-122"/>
              </a:rPr>
              <a:t>①④⑤</a:t>
            </a:r>
            <a:r>
              <a:rPr lang="zh-CN" altLang="en-US" sz="2400" dirty="0">
                <a:latin typeface="楷体" panose="02010609060101010101" charset="-122"/>
                <a:ea typeface="楷体" panose="02010609060101010101" charset="-122"/>
                <a:cs typeface="楷体" panose="02010609060101010101" charset="-122"/>
                <a:sym typeface="楷体" panose="02010609060101010101" charset="-122"/>
              </a:rPr>
              <a:t>，</a:t>
            </a:r>
            <a:r>
              <a:rPr lang="en-US" altLang="en-US" sz="2400" dirty="0">
                <a:latin typeface="楷体" panose="02010609060101010101" charset="-122"/>
                <a:ea typeface="楷体" panose="02010609060101010101" charset="-122"/>
                <a:cs typeface="楷体" panose="02010609060101010101" charset="-122"/>
                <a:sym typeface="楷体" panose="02010609060101010101" charset="-122"/>
              </a:rPr>
              <a:t>②③⑥		</a:t>
            </a:r>
            <a:r>
              <a:rPr lang="en-US" altLang="zh-CN" sz="2400" dirty="0">
                <a:latin typeface="楷体" panose="02010609060101010101" charset="-122"/>
                <a:ea typeface="楷体" panose="02010609060101010101" charset="-122"/>
                <a:cs typeface="楷体" panose="02010609060101010101" charset="-122"/>
                <a:sym typeface="楷体" panose="02010609060101010101" charset="-122"/>
              </a:rPr>
              <a:t>B.</a:t>
            </a:r>
            <a:r>
              <a:rPr lang="en-US" altLang="en-US" sz="2400" dirty="0">
                <a:latin typeface="楷体" panose="02010609060101010101" charset="-122"/>
                <a:ea typeface="楷体" panose="02010609060101010101" charset="-122"/>
                <a:cs typeface="楷体" panose="02010609060101010101" charset="-122"/>
                <a:sym typeface="楷体" panose="02010609060101010101" charset="-122"/>
              </a:rPr>
              <a:t>①②⑥</a:t>
            </a:r>
            <a:r>
              <a:rPr lang="zh-CN" altLang="en-US" sz="2400" dirty="0">
                <a:latin typeface="楷体" panose="02010609060101010101" charset="-122"/>
                <a:ea typeface="楷体" panose="02010609060101010101" charset="-122"/>
                <a:cs typeface="楷体" panose="02010609060101010101" charset="-122"/>
                <a:sym typeface="楷体" panose="02010609060101010101" charset="-122"/>
              </a:rPr>
              <a:t>，</a:t>
            </a:r>
            <a:r>
              <a:rPr lang="en-US" altLang="en-US" sz="2400" dirty="0">
                <a:latin typeface="楷体" panose="02010609060101010101" charset="-122"/>
                <a:ea typeface="楷体" panose="02010609060101010101" charset="-122"/>
                <a:cs typeface="楷体" panose="02010609060101010101" charset="-122"/>
                <a:sym typeface="楷体" panose="02010609060101010101" charset="-122"/>
              </a:rPr>
              <a:t>③④⑤</a:t>
            </a:r>
            <a:r>
              <a:rPr lang="en-US" altLang="zh-CN" sz="2400" dirty="0">
                <a:latin typeface="楷体" panose="02010609060101010101" charset="-122"/>
                <a:ea typeface="楷体" panose="02010609060101010101" charset="-122"/>
                <a:cs typeface="楷体" panose="02010609060101010101" charset="-122"/>
                <a:sym typeface="楷体" panose="02010609060101010101" charset="-122"/>
              </a:rPr>
              <a:t> </a:t>
            </a:r>
            <a:endParaRPr lang="en-US" altLang="zh-CN" sz="24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400" dirty="0">
                <a:latin typeface="楷体" panose="02010609060101010101" charset="-122"/>
                <a:ea typeface="楷体" panose="02010609060101010101" charset="-122"/>
                <a:cs typeface="楷体" panose="02010609060101010101" charset="-122"/>
                <a:sym typeface="楷体" panose="02010609060101010101" charset="-122"/>
              </a:rPr>
              <a:t>C.</a:t>
            </a:r>
            <a:r>
              <a:rPr lang="en-US" altLang="en-US" sz="2400" dirty="0">
                <a:latin typeface="楷体" panose="02010609060101010101" charset="-122"/>
                <a:ea typeface="楷体" panose="02010609060101010101" charset="-122"/>
                <a:cs typeface="楷体" panose="02010609060101010101" charset="-122"/>
                <a:sym typeface="楷体" panose="02010609060101010101" charset="-122"/>
              </a:rPr>
              <a:t>①④⑥</a:t>
            </a:r>
            <a:r>
              <a:rPr lang="zh-CN" altLang="en-US" sz="2400" dirty="0">
                <a:latin typeface="楷体" panose="02010609060101010101" charset="-122"/>
                <a:ea typeface="楷体" panose="02010609060101010101" charset="-122"/>
                <a:cs typeface="楷体" panose="02010609060101010101" charset="-122"/>
                <a:sym typeface="楷体" panose="02010609060101010101" charset="-122"/>
              </a:rPr>
              <a:t>，</a:t>
            </a:r>
            <a:r>
              <a:rPr lang="en-US" altLang="en-US" sz="2400" dirty="0">
                <a:latin typeface="楷体" panose="02010609060101010101" charset="-122"/>
                <a:ea typeface="楷体" panose="02010609060101010101" charset="-122"/>
                <a:cs typeface="楷体" panose="02010609060101010101" charset="-122"/>
                <a:sym typeface="楷体" panose="02010609060101010101" charset="-122"/>
              </a:rPr>
              <a:t>②③⑤</a:t>
            </a:r>
            <a:r>
              <a:rPr lang="en-US" altLang="zh-CN" sz="2400" dirty="0">
                <a:latin typeface="楷体" panose="02010609060101010101" charset="-122"/>
                <a:ea typeface="楷体" panose="02010609060101010101" charset="-122"/>
                <a:cs typeface="楷体" panose="02010609060101010101" charset="-122"/>
                <a:sym typeface="楷体" panose="02010609060101010101" charset="-122"/>
              </a:rPr>
              <a:t>		</a:t>
            </a:r>
            <a:r>
              <a:rPr lang="en-US" altLang="zh-CN" sz="2400" dirty="0">
                <a:latin typeface="楷体" panose="02010609060101010101" charset="-122"/>
                <a:ea typeface="楷体" panose="02010609060101010101" charset="-122"/>
                <a:cs typeface="楷体" panose="02010609060101010101" charset="-122"/>
                <a:sym typeface="楷体" panose="02010609060101010101" charset="-122"/>
              </a:rPr>
              <a:t>D.</a:t>
            </a:r>
            <a:r>
              <a:rPr lang="en-US" altLang="en-US" sz="2400" dirty="0">
                <a:latin typeface="楷体" panose="02010609060101010101" charset="-122"/>
                <a:ea typeface="楷体" panose="02010609060101010101" charset="-122"/>
                <a:cs typeface="楷体" panose="02010609060101010101" charset="-122"/>
                <a:sym typeface="楷体" panose="02010609060101010101" charset="-122"/>
              </a:rPr>
              <a:t>①②⑤</a:t>
            </a:r>
            <a:r>
              <a:rPr lang="zh-CN" altLang="en-US" sz="2400" dirty="0">
                <a:latin typeface="楷体" panose="02010609060101010101" charset="-122"/>
                <a:ea typeface="楷体" panose="02010609060101010101" charset="-122"/>
                <a:cs typeface="楷体" panose="02010609060101010101" charset="-122"/>
                <a:sym typeface="楷体" panose="02010609060101010101" charset="-122"/>
              </a:rPr>
              <a:t>，</a:t>
            </a:r>
            <a:r>
              <a:rPr lang="en-US" altLang="en-US" sz="2400" dirty="0">
                <a:latin typeface="楷体" panose="02010609060101010101" charset="-122"/>
                <a:ea typeface="楷体" panose="02010609060101010101" charset="-122"/>
                <a:cs typeface="楷体" panose="02010609060101010101" charset="-122"/>
                <a:sym typeface="楷体" panose="02010609060101010101" charset="-122"/>
              </a:rPr>
              <a:t>③④⑥</a:t>
            </a:r>
            <a:endParaRPr lang="en-US" altLang="en-US" sz="2400" dirty="0">
              <a:latin typeface="楷体" panose="02010609060101010101" charset="-122"/>
              <a:ea typeface="楷体" panose="02010609060101010101" charset="-122"/>
              <a:cs typeface="楷体" panose="02010609060101010101" charset="-122"/>
              <a:sym typeface="楷体" panose="02010609060101010101" charset="-122"/>
            </a:endParaRPr>
          </a:p>
        </p:txBody>
      </p:sp>
      <p:pic>
        <p:nvPicPr>
          <p:cNvPr id="3" name="图片 2"/>
          <p:cNvPicPr>
            <a:picLocks noChangeAspect="1"/>
          </p:cNvPicPr>
          <p:nvPr/>
        </p:nvPicPr>
        <p:blipFill>
          <a:blip r:embed="rId1"/>
          <a:stretch>
            <a:fillRect/>
          </a:stretch>
        </p:blipFill>
        <p:spPr>
          <a:xfrm>
            <a:off x="3714750" y="1528445"/>
            <a:ext cx="4762500" cy="3800475"/>
          </a:xfrm>
          <a:prstGeom prst="rect">
            <a:avLst/>
          </a:prstGeom>
        </p:spPr>
      </p:pic>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idx="4294967295"/>
          </p:nvPr>
        </p:nvSpPr>
        <p:spPr>
          <a:xfrm>
            <a:off x="608400" y="208350"/>
            <a:ext cx="10969200" cy="705600"/>
          </a:xfrm>
        </p:spPr>
        <p:txBody>
          <a:bodyPr/>
          <a:lstStyle/>
          <a:p>
            <a:pPr algn="l">
              <a:buClrTx/>
              <a:buSzTx/>
              <a:buFontTx/>
            </a:pPr>
            <a:r>
              <a:rPr kumimoji="1" lang="zh-CN" sz="3735" b="1" dirty="0">
                <a:solidFill>
                  <a:srgbClr val="FF653F"/>
                </a:solidFill>
                <a:latin typeface="+mj-lt"/>
                <a:ea typeface="+mj-lt"/>
                <a:cs typeface="+mj-lt"/>
              </a:rPr>
              <a:t>题</a:t>
            </a:r>
            <a:r>
              <a:rPr kumimoji="1" lang="en-US" altLang="zh-CN" sz="3735" b="1" dirty="0">
                <a:solidFill>
                  <a:srgbClr val="FF653F"/>
                </a:solidFill>
                <a:latin typeface="+mj-lt"/>
                <a:ea typeface="+mj-lt"/>
                <a:cs typeface="+mj-lt"/>
              </a:rPr>
              <a:t>93</a:t>
            </a:r>
            <a:endParaRPr kumimoji="1" lang="en-US" altLang="zh-CN" sz="3735" b="1" dirty="0">
              <a:solidFill>
                <a:srgbClr val="FF653F"/>
              </a:solidFill>
              <a:latin typeface="+mj-lt"/>
              <a:ea typeface="+mj-lt"/>
              <a:cs typeface="+mj-lt"/>
            </a:endParaRPr>
          </a:p>
        </p:txBody>
      </p:sp>
      <p:sp>
        <p:nvSpPr>
          <p:cNvPr id="4" name="文本框 3"/>
          <p:cNvSpPr txBox="1"/>
          <p:nvPr/>
        </p:nvSpPr>
        <p:spPr>
          <a:xfrm>
            <a:off x="608330" y="756285"/>
            <a:ext cx="10968355" cy="598805"/>
          </a:xfrm>
          <a:prstGeom prst="rect">
            <a:avLst/>
          </a:prstGeom>
          <a:noFill/>
        </p:spPr>
        <p:txBody>
          <a:bodyPr wrap="square" rtlCol="0" anchor="t">
            <a:spAutoFit/>
          </a:bodyPr>
          <a:p>
            <a:pPr indent="0" algn="l" fontAlgn="auto">
              <a:lnSpc>
                <a:spcPct val="150000"/>
              </a:lnSpc>
            </a:pPr>
            <a:r>
              <a:rPr lang="zh-CN" altLang="en-US" sz="2200" dirty="0">
                <a:latin typeface="楷体" panose="02010609060101010101" charset="-122"/>
                <a:ea typeface="楷体" panose="02010609060101010101" charset="-122"/>
                <a:cs typeface="楷体" panose="02010609060101010101" charset="-122"/>
                <a:sym typeface="楷体" panose="02010609060101010101" charset="-122"/>
              </a:rPr>
              <a:t>从所给的四个选项中，选择最合适的一个填入问号处，使之呈现一定的规律性。</a:t>
            </a:r>
            <a:endParaRPr lang="zh-CN" altLang="en-US" sz="2200" dirty="0">
              <a:latin typeface="楷体" panose="02010609060101010101" charset="-122"/>
              <a:ea typeface="楷体" panose="02010609060101010101" charset="-122"/>
              <a:cs typeface="楷体" panose="02010609060101010101" charset="-122"/>
              <a:sym typeface="楷体" panose="02010609060101010101" charset="-122"/>
            </a:endParaRPr>
          </a:p>
        </p:txBody>
      </p:sp>
      <p:pic>
        <p:nvPicPr>
          <p:cNvPr id="3" name="图片 2"/>
          <p:cNvPicPr>
            <a:picLocks noChangeAspect="1"/>
          </p:cNvPicPr>
          <p:nvPr/>
        </p:nvPicPr>
        <p:blipFill>
          <a:blip r:embed="rId1"/>
          <a:stretch>
            <a:fillRect/>
          </a:stretch>
        </p:blipFill>
        <p:spPr>
          <a:xfrm>
            <a:off x="1496060" y="1355090"/>
            <a:ext cx="9192260" cy="3968115"/>
          </a:xfrm>
          <a:prstGeom prst="rect">
            <a:avLst/>
          </a:prstGeom>
        </p:spPr>
      </p:pic>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idx="4294967295"/>
          </p:nvPr>
        </p:nvSpPr>
        <p:spPr>
          <a:xfrm>
            <a:off x="608400" y="208350"/>
            <a:ext cx="10969200" cy="705600"/>
          </a:xfrm>
        </p:spPr>
        <p:txBody>
          <a:bodyPr/>
          <a:lstStyle/>
          <a:p>
            <a:pPr algn="l">
              <a:buClrTx/>
              <a:buSzTx/>
              <a:buFontTx/>
            </a:pPr>
            <a:r>
              <a:rPr kumimoji="1" lang="zh-CN" sz="3735" b="1" dirty="0">
                <a:solidFill>
                  <a:srgbClr val="FF653F"/>
                </a:solidFill>
                <a:latin typeface="+mj-lt"/>
                <a:ea typeface="+mj-lt"/>
                <a:cs typeface="+mj-lt"/>
              </a:rPr>
              <a:t>题</a:t>
            </a:r>
            <a:r>
              <a:rPr kumimoji="1" lang="en-US" altLang="zh-CN" sz="3735" b="1" dirty="0">
                <a:solidFill>
                  <a:srgbClr val="FF653F"/>
                </a:solidFill>
                <a:latin typeface="+mj-lt"/>
                <a:ea typeface="+mj-lt"/>
                <a:cs typeface="+mj-lt"/>
              </a:rPr>
              <a:t>94</a:t>
            </a:r>
            <a:endParaRPr kumimoji="1" lang="en-US" altLang="zh-CN" sz="3735" b="1" dirty="0">
              <a:solidFill>
                <a:srgbClr val="FF653F"/>
              </a:solidFill>
              <a:latin typeface="+mj-lt"/>
              <a:ea typeface="+mj-lt"/>
              <a:cs typeface="+mj-lt"/>
            </a:endParaRPr>
          </a:p>
        </p:txBody>
      </p:sp>
      <p:sp>
        <p:nvSpPr>
          <p:cNvPr id="4" name="文本框 3"/>
          <p:cNvSpPr txBox="1"/>
          <p:nvPr/>
        </p:nvSpPr>
        <p:spPr>
          <a:xfrm>
            <a:off x="608330" y="756285"/>
            <a:ext cx="10968355" cy="645160"/>
          </a:xfrm>
          <a:prstGeom prst="rect">
            <a:avLst/>
          </a:prstGeom>
          <a:noFill/>
        </p:spPr>
        <p:txBody>
          <a:bodyPr wrap="square" rtlCol="0" anchor="t">
            <a:spAutoFit/>
          </a:bodyPr>
          <a:p>
            <a:pPr indent="0" algn="l" fontAlgn="auto">
              <a:lnSpc>
                <a:spcPct val="150000"/>
              </a:lnSpc>
            </a:pPr>
            <a:r>
              <a:rPr lang="zh-CN" altLang="en-US" sz="2400" dirty="0">
                <a:latin typeface="楷体" panose="02010609060101010101" charset="-122"/>
                <a:ea typeface="楷体" panose="02010609060101010101" charset="-122"/>
                <a:cs typeface="楷体" panose="02010609060101010101" charset="-122"/>
                <a:sym typeface="楷体" panose="02010609060101010101" charset="-122"/>
              </a:rPr>
              <a:t>从所给的四个选项中，选择最合适的一个填入问号处，使之呈现一定的规律性。</a:t>
            </a:r>
            <a:endParaRPr lang="zh-CN" altLang="en-US" sz="2400" dirty="0">
              <a:latin typeface="楷体" panose="02010609060101010101" charset="-122"/>
              <a:ea typeface="楷体" panose="02010609060101010101" charset="-122"/>
              <a:cs typeface="楷体" panose="02010609060101010101" charset="-122"/>
              <a:sym typeface="楷体" panose="02010609060101010101" charset="-122"/>
            </a:endParaRPr>
          </a:p>
        </p:txBody>
      </p:sp>
      <p:pic>
        <p:nvPicPr>
          <p:cNvPr id="3" name="图片 2"/>
          <p:cNvPicPr>
            <a:picLocks noChangeAspect="1"/>
          </p:cNvPicPr>
          <p:nvPr/>
        </p:nvPicPr>
        <p:blipFill>
          <a:blip r:embed="rId1"/>
          <a:stretch>
            <a:fillRect/>
          </a:stretch>
        </p:blipFill>
        <p:spPr>
          <a:xfrm>
            <a:off x="4191000" y="1621155"/>
            <a:ext cx="3810000" cy="4495800"/>
          </a:xfrm>
          <a:prstGeom prst="rect">
            <a:avLst/>
          </a:prstGeom>
        </p:spPr>
      </p:pic>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idx="4294967295"/>
          </p:nvPr>
        </p:nvSpPr>
        <p:spPr>
          <a:xfrm>
            <a:off x="608400" y="208350"/>
            <a:ext cx="10969200" cy="705600"/>
          </a:xfrm>
        </p:spPr>
        <p:txBody>
          <a:bodyPr/>
          <a:lstStyle/>
          <a:p>
            <a:pPr algn="l">
              <a:buClrTx/>
              <a:buSzTx/>
              <a:buFontTx/>
            </a:pPr>
            <a:r>
              <a:rPr kumimoji="1" lang="zh-CN" sz="3735" b="1" dirty="0">
                <a:solidFill>
                  <a:srgbClr val="FF653F"/>
                </a:solidFill>
                <a:latin typeface="+mj-lt"/>
                <a:ea typeface="+mj-lt"/>
                <a:cs typeface="+mj-lt"/>
              </a:rPr>
              <a:t>题</a:t>
            </a:r>
            <a:r>
              <a:rPr kumimoji="1" lang="en-US" altLang="zh-CN" sz="3735" b="1" dirty="0">
                <a:solidFill>
                  <a:srgbClr val="FF653F"/>
                </a:solidFill>
                <a:latin typeface="+mj-lt"/>
                <a:ea typeface="+mj-lt"/>
                <a:cs typeface="+mj-lt"/>
              </a:rPr>
              <a:t>95</a:t>
            </a:r>
            <a:endParaRPr kumimoji="1" lang="en-US" altLang="zh-CN" sz="3735" b="1" dirty="0">
              <a:solidFill>
                <a:srgbClr val="FF653F"/>
              </a:solidFill>
              <a:latin typeface="+mj-lt"/>
              <a:ea typeface="+mj-lt"/>
              <a:cs typeface="+mj-lt"/>
            </a:endParaRPr>
          </a:p>
        </p:txBody>
      </p:sp>
      <p:sp>
        <p:nvSpPr>
          <p:cNvPr id="4" name="文本框 3"/>
          <p:cNvSpPr txBox="1"/>
          <p:nvPr/>
        </p:nvSpPr>
        <p:spPr>
          <a:xfrm>
            <a:off x="608330" y="756285"/>
            <a:ext cx="10968355" cy="5677535"/>
          </a:xfrm>
          <a:prstGeom prst="rect">
            <a:avLst/>
          </a:prstGeom>
          <a:noFill/>
        </p:spPr>
        <p:txBody>
          <a:bodyPr wrap="square" rtlCol="0" anchor="t">
            <a:spAutoFit/>
          </a:bodyPr>
          <a:p>
            <a:pPr indent="0" algn="l" fontAlgn="auto">
              <a:lnSpc>
                <a:spcPct val="150000"/>
              </a:lnSpc>
            </a:pPr>
            <a:r>
              <a:rPr lang="zh-CN" altLang="en-US" sz="2200" dirty="0">
                <a:latin typeface="楷体" panose="02010609060101010101" charset="-122"/>
                <a:ea typeface="楷体" panose="02010609060101010101" charset="-122"/>
                <a:cs typeface="楷体" panose="02010609060101010101" charset="-122"/>
                <a:sym typeface="楷体" panose="02010609060101010101" charset="-122"/>
              </a:rPr>
              <a:t>下面三视图依次与三个几何图形对应，三个几何图形的正确顺序是：</a:t>
            </a:r>
            <a:endParaRPr lang="zh-CN" altLang="en-US" sz="22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endParaRPr lang="zh-CN" altLang="en-US" sz="22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endParaRPr lang="zh-CN" altLang="en-US" sz="22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endParaRPr lang="zh-CN" altLang="en-US" sz="22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endParaRPr lang="zh-CN" altLang="en-US" sz="22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endParaRPr lang="zh-CN" altLang="en-US" sz="22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endParaRPr lang="zh-CN" altLang="en-US" sz="22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endParaRPr lang="zh-CN" altLang="en-US" sz="22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endParaRPr lang="zh-CN" altLang="en-US" sz="22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200" dirty="0">
                <a:latin typeface="楷体" panose="02010609060101010101" charset="-122"/>
                <a:ea typeface="楷体" panose="02010609060101010101" charset="-122"/>
                <a:cs typeface="楷体" panose="02010609060101010101" charset="-122"/>
                <a:sym typeface="楷体" panose="02010609060101010101" charset="-122"/>
              </a:rPr>
              <a:t>A.</a:t>
            </a:r>
            <a:r>
              <a:rPr lang="en-US" altLang="en-US" sz="2200" dirty="0">
                <a:latin typeface="楷体" panose="02010609060101010101" charset="-122"/>
                <a:ea typeface="楷体" panose="02010609060101010101" charset="-122"/>
                <a:cs typeface="楷体" panose="02010609060101010101" charset="-122"/>
                <a:sym typeface="楷体" panose="02010609060101010101" charset="-122"/>
              </a:rPr>
              <a:t>②①③</a:t>
            </a:r>
            <a:r>
              <a:rPr lang="en-US" altLang="zh-CN" sz="2200" dirty="0">
                <a:latin typeface="楷体" panose="02010609060101010101" charset="-122"/>
                <a:ea typeface="楷体" panose="02010609060101010101" charset="-122"/>
                <a:cs typeface="楷体" panose="02010609060101010101" charset="-122"/>
                <a:sym typeface="楷体" panose="02010609060101010101" charset="-122"/>
              </a:rPr>
              <a:t> 		B.</a:t>
            </a:r>
            <a:r>
              <a:rPr lang="en-US" altLang="en-US" sz="2200" dirty="0">
                <a:latin typeface="楷体" panose="02010609060101010101" charset="-122"/>
                <a:ea typeface="楷体" panose="02010609060101010101" charset="-122"/>
                <a:cs typeface="楷体" panose="02010609060101010101" charset="-122"/>
                <a:sym typeface="楷体" panose="02010609060101010101" charset="-122"/>
              </a:rPr>
              <a:t>②③①</a:t>
            </a:r>
            <a:r>
              <a:rPr lang="en-US" altLang="zh-CN" sz="2200" dirty="0">
                <a:latin typeface="楷体" panose="02010609060101010101" charset="-122"/>
                <a:ea typeface="楷体" panose="02010609060101010101" charset="-122"/>
                <a:cs typeface="楷体" panose="02010609060101010101" charset="-122"/>
                <a:sym typeface="楷体" panose="02010609060101010101" charset="-122"/>
              </a:rPr>
              <a:t> </a:t>
            </a:r>
            <a:endParaRPr lang="en-US" altLang="zh-CN" sz="22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200" dirty="0">
                <a:latin typeface="楷体" panose="02010609060101010101" charset="-122"/>
                <a:ea typeface="楷体" panose="02010609060101010101" charset="-122"/>
                <a:cs typeface="楷体" panose="02010609060101010101" charset="-122"/>
                <a:sym typeface="楷体" panose="02010609060101010101" charset="-122"/>
              </a:rPr>
              <a:t>C.</a:t>
            </a:r>
            <a:r>
              <a:rPr lang="en-US" altLang="en-US" sz="2200" dirty="0">
                <a:latin typeface="楷体" panose="02010609060101010101" charset="-122"/>
                <a:ea typeface="楷体" panose="02010609060101010101" charset="-122"/>
                <a:cs typeface="楷体" panose="02010609060101010101" charset="-122"/>
                <a:sym typeface="楷体" panose="02010609060101010101" charset="-122"/>
              </a:rPr>
              <a:t>①③②</a:t>
            </a:r>
            <a:r>
              <a:rPr lang="en-US" altLang="zh-CN" sz="2200" dirty="0">
                <a:latin typeface="楷体" panose="02010609060101010101" charset="-122"/>
                <a:ea typeface="楷体" panose="02010609060101010101" charset="-122"/>
                <a:cs typeface="楷体" panose="02010609060101010101" charset="-122"/>
                <a:sym typeface="楷体" panose="02010609060101010101" charset="-122"/>
              </a:rPr>
              <a:t> 		D.</a:t>
            </a:r>
            <a:r>
              <a:rPr lang="en-US" altLang="en-US" sz="2200" dirty="0">
                <a:latin typeface="楷体" panose="02010609060101010101" charset="-122"/>
                <a:ea typeface="楷体" panose="02010609060101010101" charset="-122"/>
                <a:cs typeface="楷体" panose="02010609060101010101" charset="-122"/>
                <a:sym typeface="楷体" panose="02010609060101010101" charset="-122"/>
              </a:rPr>
              <a:t>③①②</a:t>
            </a:r>
            <a:endParaRPr lang="en-US" altLang="en-US" sz="2200" dirty="0">
              <a:latin typeface="楷体" panose="02010609060101010101" charset="-122"/>
              <a:ea typeface="楷体" panose="02010609060101010101" charset="-122"/>
              <a:cs typeface="楷体" panose="02010609060101010101" charset="-122"/>
              <a:sym typeface="楷体" panose="02010609060101010101" charset="-122"/>
            </a:endParaRPr>
          </a:p>
        </p:txBody>
      </p:sp>
      <p:pic>
        <p:nvPicPr>
          <p:cNvPr id="3" name="图片 2"/>
          <p:cNvPicPr>
            <a:picLocks noChangeAspect="1"/>
          </p:cNvPicPr>
          <p:nvPr/>
        </p:nvPicPr>
        <p:blipFill>
          <a:blip r:embed="rId1"/>
          <a:stretch>
            <a:fillRect/>
          </a:stretch>
        </p:blipFill>
        <p:spPr>
          <a:xfrm>
            <a:off x="3508375" y="1309370"/>
            <a:ext cx="5175885" cy="4016375"/>
          </a:xfrm>
          <a:prstGeom prst="rect">
            <a:avLst/>
          </a:prstGeom>
        </p:spPr>
      </p:pic>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idx="4294967295"/>
          </p:nvPr>
        </p:nvSpPr>
        <p:spPr>
          <a:xfrm>
            <a:off x="608400" y="208350"/>
            <a:ext cx="10969200" cy="705600"/>
          </a:xfrm>
        </p:spPr>
        <p:txBody>
          <a:bodyPr/>
          <a:lstStyle/>
          <a:p>
            <a:pPr algn="l">
              <a:buClrTx/>
              <a:buSzTx/>
              <a:buFontTx/>
            </a:pPr>
            <a:r>
              <a:rPr kumimoji="1" lang="zh-CN" sz="3735" b="1" dirty="0">
                <a:solidFill>
                  <a:srgbClr val="FF653F"/>
                </a:solidFill>
                <a:latin typeface="+mj-lt"/>
                <a:ea typeface="+mj-lt"/>
                <a:cs typeface="+mj-lt"/>
              </a:rPr>
              <a:t>题</a:t>
            </a:r>
            <a:r>
              <a:rPr kumimoji="1" lang="en-US" altLang="zh-CN" sz="3735" b="1" dirty="0">
                <a:solidFill>
                  <a:srgbClr val="FF653F"/>
                </a:solidFill>
                <a:latin typeface="+mj-lt"/>
                <a:ea typeface="+mj-lt"/>
                <a:cs typeface="+mj-lt"/>
              </a:rPr>
              <a:t>96</a:t>
            </a:r>
            <a:endParaRPr kumimoji="1" lang="en-US" altLang="zh-CN" sz="3735" b="1" dirty="0">
              <a:solidFill>
                <a:srgbClr val="FF653F"/>
              </a:solidFill>
              <a:latin typeface="+mj-lt"/>
              <a:ea typeface="+mj-lt"/>
              <a:cs typeface="+mj-lt"/>
            </a:endParaRPr>
          </a:p>
        </p:txBody>
      </p:sp>
      <p:sp>
        <p:nvSpPr>
          <p:cNvPr id="4" name="文本框 3"/>
          <p:cNvSpPr txBox="1"/>
          <p:nvPr/>
        </p:nvSpPr>
        <p:spPr>
          <a:xfrm>
            <a:off x="608330" y="913765"/>
            <a:ext cx="10968355" cy="3322955"/>
          </a:xfrm>
          <a:prstGeom prst="rect">
            <a:avLst/>
          </a:prstGeom>
          <a:noFill/>
        </p:spPr>
        <p:txBody>
          <a:bodyPr wrap="square" rtlCol="0" anchor="t">
            <a:spAutoFit/>
          </a:bodyPr>
          <a:p>
            <a:pPr indent="0" algn="l" fontAlgn="auto">
              <a:lnSpc>
                <a:spcPct val="150000"/>
              </a:lnSpc>
            </a:pPr>
            <a:r>
              <a:rPr lang="zh-CN" altLang="en-US" sz="2800" dirty="0">
                <a:latin typeface="楷体" panose="02010609060101010101" charset="-122"/>
                <a:ea typeface="楷体" panose="02010609060101010101" charset="-122"/>
                <a:cs typeface="楷体" panose="02010609060101010101" charset="-122"/>
                <a:sym typeface="楷体" panose="02010609060101010101" charset="-122"/>
              </a:rPr>
              <a:t>细菌：真菌</a:t>
            </a:r>
            <a:endParaRPr lang="zh-CN" altLang="en-US" sz="28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800" dirty="0">
                <a:latin typeface="楷体" panose="02010609060101010101" charset="-122"/>
                <a:ea typeface="楷体" panose="02010609060101010101" charset="-122"/>
                <a:cs typeface="楷体" panose="02010609060101010101" charset="-122"/>
                <a:sym typeface="楷体" panose="02010609060101010101" charset="-122"/>
              </a:rPr>
              <a:t>A.</a:t>
            </a:r>
            <a:r>
              <a:rPr lang="zh-CN" altLang="en-US" sz="2800" dirty="0">
                <a:latin typeface="楷体" panose="02010609060101010101" charset="-122"/>
                <a:ea typeface="楷体" panose="02010609060101010101" charset="-122"/>
                <a:cs typeface="楷体" panose="02010609060101010101" charset="-122"/>
                <a:sym typeface="楷体" panose="02010609060101010101" charset="-122"/>
              </a:rPr>
              <a:t>鸳：鸯</a:t>
            </a:r>
            <a:r>
              <a:rPr lang="en-US" altLang="zh-CN" sz="2800" dirty="0">
                <a:latin typeface="楷体" panose="02010609060101010101" charset="-122"/>
                <a:ea typeface="楷体" panose="02010609060101010101" charset="-122"/>
                <a:cs typeface="楷体" panose="02010609060101010101" charset="-122"/>
                <a:sym typeface="楷体" panose="02010609060101010101" charset="-122"/>
              </a:rPr>
              <a:t> </a:t>
            </a:r>
            <a:endParaRPr lang="en-US" altLang="zh-CN" sz="28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800" dirty="0">
                <a:latin typeface="楷体" panose="02010609060101010101" charset="-122"/>
                <a:ea typeface="楷体" panose="02010609060101010101" charset="-122"/>
                <a:cs typeface="楷体" panose="02010609060101010101" charset="-122"/>
                <a:sym typeface="楷体" panose="02010609060101010101" charset="-122"/>
              </a:rPr>
              <a:t>B.</a:t>
            </a:r>
            <a:r>
              <a:rPr lang="zh-CN" altLang="en-US" sz="2800" dirty="0">
                <a:latin typeface="楷体" panose="02010609060101010101" charset="-122"/>
                <a:ea typeface="楷体" panose="02010609060101010101" charset="-122"/>
                <a:cs typeface="楷体" panose="02010609060101010101" charset="-122"/>
                <a:sym typeface="楷体" panose="02010609060101010101" charset="-122"/>
              </a:rPr>
              <a:t>地下水：饮用水</a:t>
            </a:r>
            <a:r>
              <a:rPr lang="en-US" altLang="zh-CN" sz="2800" dirty="0">
                <a:latin typeface="楷体" panose="02010609060101010101" charset="-122"/>
                <a:ea typeface="楷体" panose="02010609060101010101" charset="-122"/>
                <a:cs typeface="楷体" panose="02010609060101010101" charset="-122"/>
                <a:sym typeface="楷体" panose="02010609060101010101" charset="-122"/>
              </a:rPr>
              <a:t> </a:t>
            </a:r>
            <a:endParaRPr lang="en-US" altLang="zh-CN" sz="28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800" dirty="0">
                <a:latin typeface="楷体" panose="02010609060101010101" charset="-122"/>
                <a:ea typeface="楷体" panose="02010609060101010101" charset="-122"/>
                <a:cs typeface="楷体" panose="02010609060101010101" charset="-122"/>
                <a:sym typeface="楷体" panose="02010609060101010101" charset="-122"/>
              </a:rPr>
              <a:t>C.</a:t>
            </a:r>
            <a:r>
              <a:rPr lang="zh-CN" altLang="en-US" sz="2800" dirty="0">
                <a:latin typeface="楷体" panose="02010609060101010101" charset="-122"/>
                <a:ea typeface="楷体" panose="02010609060101010101" charset="-122"/>
                <a:cs typeface="楷体" panose="02010609060101010101" charset="-122"/>
                <a:sym typeface="楷体" panose="02010609060101010101" charset="-122"/>
              </a:rPr>
              <a:t>原子：电子</a:t>
            </a:r>
            <a:r>
              <a:rPr lang="en-US" altLang="zh-CN" sz="2800" dirty="0">
                <a:latin typeface="楷体" panose="02010609060101010101" charset="-122"/>
                <a:ea typeface="楷体" panose="02010609060101010101" charset="-122"/>
                <a:cs typeface="楷体" panose="02010609060101010101" charset="-122"/>
                <a:sym typeface="楷体" panose="02010609060101010101" charset="-122"/>
              </a:rPr>
              <a:t> </a:t>
            </a:r>
            <a:endParaRPr lang="en-US" altLang="zh-CN" sz="28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800" dirty="0">
                <a:latin typeface="楷体" panose="02010609060101010101" charset="-122"/>
                <a:ea typeface="楷体" panose="02010609060101010101" charset="-122"/>
                <a:cs typeface="楷体" panose="02010609060101010101" charset="-122"/>
                <a:sym typeface="楷体" panose="02010609060101010101" charset="-122"/>
              </a:rPr>
              <a:t>D.</a:t>
            </a:r>
            <a:r>
              <a:rPr lang="zh-CN" altLang="en-US" sz="2800" dirty="0">
                <a:latin typeface="楷体" panose="02010609060101010101" charset="-122"/>
                <a:ea typeface="楷体" panose="02010609060101010101" charset="-122"/>
                <a:cs typeface="楷体" panose="02010609060101010101" charset="-122"/>
                <a:sym typeface="楷体" panose="02010609060101010101" charset="-122"/>
              </a:rPr>
              <a:t>蛾眉月：下弦月</a:t>
            </a:r>
            <a:endParaRPr lang="zh-CN" altLang="en-US" sz="2800" dirty="0">
              <a:latin typeface="楷体" panose="02010609060101010101" charset="-122"/>
              <a:ea typeface="楷体" panose="02010609060101010101" charset="-122"/>
              <a:cs typeface="楷体" panose="02010609060101010101" charset="-122"/>
              <a:sym typeface="楷体" panose="02010609060101010101" charset="-122"/>
            </a:endParaRPr>
          </a:p>
        </p:txBody>
      </p:sp>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idx="4294967295"/>
          </p:nvPr>
        </p:nvSpPr>
        <p:spPr>
          <a:xfrm>
            <a:off x="608400" y="208350"/>
            <a:ext cx="10969200" cy="705600"/>
          </a:xfrm>
        </p:spPr>
        <p:txBody>
          <a:bodyPr/>
          <a:lstStyle/>
          <a:p>
            <a:pPr algn="l">
              <a:buClrTx/>
              <a:buSzTx/>
              <a:buFontTx/>
            </a:pPr>
            <a:r>
              <a:rPr kumimoji="1" lang="zh-CN" sz="3735" b="1" dirty="0">
                <a:solidFill>
                  <a:srgbClr val="FF653F"/>
                </a:solidFill>
                <a:latin typeface="+mj-lt"/>
                <a:ea typeface="+mj-lt"/>
                <a:cs typeface="+mj-lt"/>
              </a:rPr>
              <a:t>题</a:t>
            </a:r>
            <a:r>
              <a:rPr kumimoji="1" lang="en-US" altLang="zh-CN" sz="3735" b="1" dirty="0">
                <a:solidFill>
                  <a:srgbClr val="FF653F"/>
                </a:solidFill>
                <a:latin typeface="+mj-lt"/>
                <a:ea typeface="+mj-lt"/>
                <a:cs typeface="+mj-lt"/>
              </a:rPr>
              <a:t>97</a:t>
            </a:r>
            <a:endParaRPr kumimoji="1" lang="en-US" altLang="zh-CN" sz="3735" b="1" dirty="0">
              <a:solidFill>
                <a:srgbClr val="FF653F"/>
              </a:solidFill>
              <a:latin typeface="+mj-lt"/>
              <a:ea typeface="+mj-lt"/>
              <a:cs typeface="+mj-lt"/>
            </a:endParaRPr>
          </a:p>
        </p:txBody>
      </p:sp>
      <p:sp>
        <p:nvSpPr>
          <p:cNvPr id="4" name="文本框 3"/>
          <p:cNvSpPr txBox="1"/>
          <p:nvPr/>
        </p:nvSpPr>
        <p:spPr>
          <a:xfrm>
            <a:off x="608330" y="913765"/>
            <a:ext cx="10968355" cy="3322955"/>
          </a:xfrm>
          <a:prstGeom prst="rect">
            <a:avLst/>
          </a:prstGeom>
          <a:noFill/>
        </p:spPr>
        <p:txBody>
          <a:bodyPr wrap="square" rtlCol="0" anchor="t">
            <a:spAutoFit/>
          </a:bodyPr>
          <a:p>
            <a:pPr indent="0" algn="l" fontAlgn="auto">
              <a:lnSpc>
                <a:spcPct val="150000"/>
              </a:lnSpc>
            </a:pPr>
            <a:r>
              <a:rPr lang="zh-CN" altLang="en-US" sz="2800" dirty="0">
                <a:latin typeface="楷体" panose="02010609060101010101" charset="-122"/>
                <a:ea typeface="楷体" panose="02010609060101010101" charset="-122"/>
                <a:cs typeface="楷体" panose="02010609060101010101" charset="-122"/>
                <a:sym typeface="楷体" panose="02010609060101010101" charset="-122"/>
              </a:rPr>
              <a:t>柠檬水：酸梅汤</a:t>
            </a:r>
            <a:endParaRPr lang="zh-CN" altLang="en-US" sz="28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800" dirty="0">
                <a:latin typeface="楷体" panose="02010609060101010101" charset="-122"/>
                <a:ea typeface="楷体" panose="02010609060101010101" charset="-122"/>
                <a:cs typeface="楷体" panose="02010609060101010101" charset="-122"/>
                <a:sym typeface="楷体" panose="02010609060101010101" charset="-122"/>
              </a:rPr>
              <a:t>A.</a:t>
            </a:r>
            <a:r>
              <a:rPr lang="zh-CN" altLang="en-US" sz="2800" dirty="0">
                <a:latin typeface="楷体" panose="02010609060101010101" charset="-122"/>
                <a:ea typeface="楷体" panose="02010609060101010101" charset="-122"/>
                <a:cs typeface="楷体" panose="02010609060101010101" charset="-122"/>
                <a:sym typeface="楷体" panose="02010609060101010101" charset="-122"/>
              </a:rPr>
              <a:t>橘子汁：香蕉水</a:t>
            </a:r>
            <a:r>
              <a:rPr lang="en-US" altLang="zh-CN" sz="2800" dirty="0">
                <a:latin typeface="楷体" panose="02010609060101010101" charset="-122"/>
                <a:ea typeface="楷体" panose="02010609060101010101" charset="-122"/>
                <a:cs typeface="楷体" panose="02010609060101010101" charset="-122"/>
                <a:sym typeface="楷体" panose="02010609060101010101" charset="-122"/>
              </a:rPr>
              <a:t> </a:t>
            </a:r>
            <a:endParaRPr lang="en-US" altLang="zh-CN" sz="28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800" dirty="0">
                <a:latin typeface="楷体" panose="02010609060101010101" charset="-122"/>
                <a:ea typeface="楷体" panose="02010609060101010101" charset="-122"/>
                <a:cs typeface="楷体" panose="02010609060101010101" charset="-122"/>
                <a:sym typeface="楷体" panose="02010609060101010101" charset="-122"/>
              </a:rPr>
              <a:t>B.</a:t>
            </a:r>
            <a:r>
              <a:rPr lang="zh-CN" altLang="en-US" sz="2800" dirty="0">
                <a:latin typeface="楷体" panose="02010609060101010101" charset="-122"/>
                <a:ea typeface="楷体" panose="02010609060101010101" charset="-122"/>
                <a:cs typeface="楷体" panose="02010609060101010101" charset="-122"/>
                <a:sym typeface="楷体" panose="02010609060101010101" charset="-122"/>
              </a:rPr>
              <a:t>梅子酒：葡萄干</a:t>
            </a:r>
            <a:r>
              <a:rPr lang="en-US" altLang="zh-CN" sz="2800" dirty="0">
                <a:latin typeface="楷体" panose="02010609060101010101" charset="-122"/>
                <a:ea typeface="楷体" panose="02010609060101010101" charset="-122"/>
                <a:cs typeface="楷体" panose="02010609060101010101" charset="-122"/>
                <a:sym typeface="楷体" panose="02010609060101010101" charset="-122"/>
              </a:rPr>
              <a:t> </a:t>
            </a:r>
            <a:endParaRPr lang="en-US" altLang="zh-CN" sz="28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800" dirty="0">
                <a:latin typeface="楷体" panose="02010609060101010101" charset="-122"/>
                <a:ea typeface="楷体" panose="02010609060101010101" charset="-122"/>
                <a:cs typeface="楷体" panose="02010609060101010101" charset="-122"/>
                <a:sym typeface="楷体" panose="02010609060101010101" charset="-122"/>
              </a:rPr>
              <a:t>C.</a:t>
            </a:r>
            <a:r>
              <a:rPr lang="zh-CN" altLang="en-US" sz="2800" dirty="0">
                <a:latin typeface="楷体" panose="02010609060101010101" charset="-122"/>
                <a:ea typeface="楷体" panose="02010609060101010101" charset="-122"/>
                <a:cs typeface="楷体" panose="02010609060101010101" charset="-122"/>
                <a:sym typeface="楷体" panose="02010609060101010101" charset="-122"/>
              </a:rPr>
              <a:t>苹果派：草莓挞</a:t>
            </a:r>
            <a:r>
              <a:rPr lang="en-US" altLang="zh-CN" sz="2800" dirty="0">
                <a:latin typeface="楷体" panose="02010609060101010101" charset="-122"/>
                <a:ea typeface="楷体" panose="02010609060101010101" charset="-122"/>
                <a:cs typeface="楷体" panose="02010609060101010101" charset="-122"/>
                <a:sym typeface="楷体" panose="02010609060101010101" charset="-122"/>
              </a:rPr>
              <a:t> </a:t>
            </a:r>
            <a:endParaRPr lang="en-US" altLang="zh-CN" sz="28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800" dirty="0">
                <a:latin typeface="楷体" panose="02010609060101010101" charset="-122"/>
                <a:ea typeface="楷体" panose="02010609060101010101" charset="-122"/>
                <a:cs typeface="楷体" panose="02010609060101010101" charset="-122"/>
                <a:sym typeface="楷体" panose="02010609060101010101" charset="-122"/>
              </a:rPr>
              <a:t>D.</a:t>
            </a:r>
            <a:r>
              <a:rPr lang="zh-CN" altLang="en-US" sz="2800" dirty="0">
                <a:latin typeface="楷体" panose="02010609060101010101" charset="-122"/>
                <a:ea typeface="楷体" panose="02010609060101010101" charset="-122"/>
                <a:cs typeface="楷体" panose="02010609060101010101" charset="-122"/>
                <a:sym typeface="楷体" panose="02010609060101010101" charset="-122"/>
              </a:rPr>
              <a:t>西瓜霜：荔枝蜜</a:t>
            </a:r>
            <a:endParaRPr lang="zh-CN" altLang="en-US" sz="2800" dirty="0">
              <a:latin typeface="楷体" panose="02010609060101010101" charset="-122"/>
              <a:ea typeface="楷体" panose="02010609060101010101" charset="-122"/>
              <a:cs typeface="楷体" panose="02010609060101010101" charset="-122"/>
              <a:sym typeface="楷体" panose="02010609060101010101" charset="-122"/>
            </a:endParaRPr>
          </a:p>
        </p:txBody>
      </p:sp>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idx="4294967295"/>
          </p:nvPr>
        </p:nvSpPr>
        <p:spPr>
          <a:xfrm>
            <a:off x="608400" y="208350"/>
            <a:ext cx="10969200" cy="705600"/>
          </a:xfrm>
        </p:spPr>
        <p:txBody>
          <a:bodyPr/>
          <a:lstStyle/>
          <a:p>
            <a:pPr algn="l">
              <a:buClrTx/>
              <a:buSzTx/>
              <a:buFontTx/>
            </a:pPr>
            <a:r>
              <a:rPr kumimoji="1" lang="zh-CN" sz="3735" b="1" dirty="0">
                <a:solidFill>
                  <a:srgbClr val="FF653F"/>
                </a:solidFill>
                <a:latin typeface="+mj-lt"/>
                <a:ea typeface="+mj-lt"/>
                <a:cs typeface="+mj-lt"/>
              </a:rPr>
              <a:t>题</a:t>
            </a:r>
            <a:r>
              <a:rPr kumimoji="1" lang="en-US" altLang="zh-CN" sz="3735" b="1" dirty="0">
                <a:solidFill>
                  <a:srgbClr val="FF653F"/>
                </a:solidFill>
                <a:latin typeface="+mj-lt"/>
                <a:ea typeface="+mj-lt"/>
                <a:cs typeface="+mj-lt"/>
              </a:rPr>
              <a:t>98</a:t>
            </a:r>
            <a:endParaRPr kumimoji="1" lang="en-US" altLang="zh-CN" sz="3735" b="1" dirty="0">
              <a:solidFill>
                <a:srgbClr val="FF653F"/>
              </a:solidFill>
              <a:latin typeface="+mj-lt"/>
              <a:ea typeface="+mj-lt"/>
              <a:cs typeface="+mj-lt"/>
            </a:endParaRPr>
          </a:p>
        </p:txBody>
      </p:sp>
      <p:sp>
        <p:nvSpPr>
          <p:cNvPr id="4" name="文本框 3"/>
          <p:cNvSpPr txBox="1"/>
          <p:nvPr/>
        </p:nvSpPr>
        <p:spPr>
          <a:xfrm>
            <a:off x="608330" y="913765"/>
            <a:ext cx="10968355" cy="3322955"/>
          </a:xfrm>
          <a:prstGeom prst="rect">
            <a:avLst/>
          </a:prstGeom>
          <a:noFill/>
        </p:spPr>
        <p:txBody>
          <a:bodyPr wrap="square" rtlCol="0" anchor="t">
            <a:spAutoFit/>
          </a:bodyPr>
          <a:p>
            <a:pPr indent="0" algn="l" fontAlgn="auto">
              <a:lnSpc>
                <a:spcPct val="150000"/>
              </a:lnSpc>
            </a:pPr>
            <a:r>
              <a:rPr lang="zh-CN" altLang="en-US" sz="2800" dirty="0">
                <a:latin typeface="楷体" panose="02010609060101010101" charset="-122"/>
                <a:ea typeface="楷体" panose="02010609060101010101" charset="-122"/>
                <a:cs typeface="楷体" panose="02010609060101010101" charset="-122"/>
                <a:sym typeface="楷体" panose="02010609060101010101" charset="-122"/>
              </a:rPr>
              <a:t>低碳排放：保护环境</a:t>
            </a:r>
            <a:endParaRPr lang="zh-CN" altLang="en-US" sz="28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800" dirty="0">
                <a:latin typeface="楷体" panose="02010609060101010101" charset="-122"/>
                <a:ea typeface="楷体" panose="02010609060101010101" charset="-122"/>
                <a:cs typeface="楷体" panose="02010609060101010101" charset="-122"/>
                <a:sym typeface="楷体" panose="02010609060101010101" charset="-122"/>
              </a:rPr>
              <a:t>A.</a:t>
            </a:r>
            <a:r>
              <a:rPr lang="zh-CN" altLang="en-US" sz="2800" dirty="0">
                <a:latin typeface="楷体" panose="02010609060101010101" charset="-122"/>
                <a:ea typeface="楷体" panose="02010609060101010101" charset="-122"/>
                <a:cs typeface="楷体" panose="02010609060101010101" charset="-122"/>
                <a:sym typeface="楷体" panose="02010609060101010101" charset="-122"/>
              </a:rPr>
              <a:t>候鸟迁徙：气候变化</a:t>
            </a:r>
            <a:r>
              <a:rPr lang="en-US" altLang="zh-CN" sz="2800" dirty="0">
                <a:latin typeface="楷体" panose="02010609060101010101" charset="-122"/>
                <a:ea typeface="楷体" panose="02010609060101010101" charset="-122"/>
                <a:cs typeface="楷体" panose="02010609060101010101" charset="-122"/>
                <a:sym typeface="楷体" panose="02010609060101010101" charset="-122"/>
              </a:rPr>
              <a:t> </a:t>
            </a:r>
            <a:endParaRPr lang="en-US" altLang="zh-CN" sz="28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800" dirty="0">
                <a:latin typeface="楷体" panose="02010609060101010101" charset="-122"/>
                <a:ea typeface="楷体" panose="02010609060101010101" charset="-122"/>
                <a:cs typeface="楷体" panose="02010609060101010101" charset="-122"/>
                <a:sym typeface="楷体" panose="02010609060101010101" charset="-122"/>
              </a:rPr>
              <a:t>B.</a:t>
            </a:r>
            <a:r>
              <a:rPr lang="zh-CN" altLang="en-US" sz="2800" dirty="0">
                <a:latin typeface="楷体" panose="02010609060101010101" charset="-122"/>
                <a:ea typeface="楷体" panose="02010609060101010101" charset="-122"/>
                <a:cs typeface="楷体" panose="02010609060101010101" charset="-122"/>
                <a:sym typeface="楷体" panose="02010609060101010101" charset="-122"/>
              </a:rPr>
              <a:t>昆虫叮咬：过敏反应</a:t>
            </a:r>
            <a:r>
              <a:rPr lang="en-US" altLang="zh-CN" sz="2800" dirty="0">
                <a:latin typeface="楷体" panose="02010609060101010101" charset="-122"/>
                <a:ea typeface="楷体" panose="02010609060101010101" charset="-122"/>
                <a:cs typeface="楷体" panose="02010609060101010101" charset="-122"/>
                <a:sym typeface="楷体" panose="02010609060101010101" charset="-122"/>
              </a:rPr>
              <a:t> </a:t>
            </a:r>
            <a:endParaRPr lang="en-US" altLang="zh-CN" sz="28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800" dirty="0">
                <a:latin typeface="楷体" panose="02010609060101010101" charset="-122"/>
                <a:ea typeface="楷体" panose="02010609060101010101" charset="-122"/>
                <a:cs typeface="楷体" panose="02010609060101010101" charset="-122"/>
                <a:sym typeface="楷体" panose="02010609060101010101" charset="-122"/>
              </a:rPr>
              <a:t>C.</a:t>
            </a:r>
            <a:r>
              <a:rPr lang="zh-CN" altLang="en-US" sz="2800" dirty="0">
                <a:latin typeface="楷体" panose="02010609060101010101" charset="-122"/>
                <a:ea typeface="楷体" panose="02010609060101010101" charset="-122"/>
                <a:cs typeface="楷体" panose="02010609060101010101" charset="-122"/>
                <a:sym typeface="楷体" panose="02010609060101010101" charset="-122"/>
              </a:rPr>
              <a:t>收集数据：调查研究</a:t>
            </a:r>
            <a:r>
              <a:rPr lang="en-US" altLang="zh-CN" sz="2800" dirty="0">
                <a:latin typeface="楷体" panose="02010609060101010101" charset="-122"/>
                <a:ea typeface="楷体" panose="02010609060101010101" charset="-122"/>
                <a:cs typeface="楷体" panose="02010609060101010101" charset="-122"/>
                <a:sym typeface="楷体" panose="02010609060101010101" charset="-122"/>
              </a:rPr>
              <a:t> </a:t>
            </a:r>
            <a:endParaRPr lang="en-US" altLang="zh-CN" sz="28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800" dirty="0">
                <a:latin typeface="楷体" panose="02010609060101010101" charset="-122"/>
                <a:ea typeface="楷体" panose="02010609060101010101" charset="-122"/>
                <a:cs typeface="楷体" panose="02010609060101010101" charset="-122"/>
                <a:sym typeface="楷体" panose="02010609060101010101" charset="-122"/>
              </a:rPr>
              <a:t>D.</a:t>
            </a:r>
            <a:r>
              <a:rPr lang="zh-CN" altLang="en-US" sz="2800" dirty="0">
                <a:latin typeface="楷体" panose="02010609060101010101" charset="-122"/>
                <a:ea typeface="楷体" panose="02010609060101010101" charset="-122"/>
                <a:cs typeface="楷体" panose="02010609060101010101" charset="-122"/>
                <a:sym typeface="楷体" panose="02010609060101010101" charset="-122"/>
              </a:rPr>
              <a:t>滴水成冰：热胀冷缩</a:t>
            </a:r>
            <a:endParaRPr lang="zh-CN" altLang="en-US" sz="2800" dirty="0">
              <a:latin typeface="楷体" panose="02010609060101010101" charset="-122"/>
              <a:ea typeface="楷体" panose="02010609060101010101" charset="-122"/>
              <a:cs typeface="楷体" panose="02010609060101010101" charset="-122"/>
              <a:sym typeface="楷体" panose="02010609060101010101" charset="-122"/>
            </a:endParaRPr>
          </a:p>
        </p:txBody>
      </p:sp>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idx="4294967295"/>
          </p:nvPr>
        </p:nvSpPr>
        <p:spPr>
          <a:xfrm>
            <a:off x="608400" y="208350"/>
            <a:ext cx="10969200" cy="705600"/>
          </a:xfrm>
        </p:spPr>
        <p:txBody>
          <a:bodyPr/>
          <a:lstStyle/>
          <a:p>
            <a:pPr algn="l">
              <a:buClrTx/>
              <a:buSzTx/>
              <a:buFontTx/>
            </a:pPr>
            <a:r>
              <a:rPr kumimoji="1" lang="zh-CN" sz="3735" b="1" dirty="0">
                <a:solidFill>
                  <a:srgbClr val="FF653F"/>
                </a:solidFill>
                <a:latin typeface="+mj-lt"/>
                <a:ea typeface="+mj-lt"/>
                <a:cs typeface="+mj-lt"/>
              </a:rPr>
              <a:t>题</a:t>
            </a:r>
            <a:r>
              <a:rPr kumimoji="1" lang="en-US" altLang="zh-CN" sz="3735" b="1" dirty="0">
                <a:solidFill>
                  <a:srgbClr val="FF653F"/>
                </a:solidFill>
                <a:latin typeface="+mj-lt"/>
                <a:ea typeface="+mj-lt"/>
                <a:cs typeface="+mj-lt"/>
              </a:rPr>
              <a:t>99</a:t>
            </a:r>
            <a:endParaRPr kumimoji="1" lang="en-US" altLang="zh-CN" sz="3735" b="1" dirty="0">
              <a:solidFill>
                <a:srgbClr val="FF653F"/>
              </a:solidFill>
              <a:latin typeface="+mj-lt"/>
              <a:ea typeface="+mj-lt"/>
              <a:cs typeface="+mj-lt"/>
            </a:endParaRPr>
          </a:p>
        </p:txBody>
      </p:sp>
      <p:sp>
        <p:nvSpPr>
          <p:cNvPr id="4" name="文本框 3"/>
          <p:cNvSpPr txBox="1"/>
          <p:nvPr/>
        </p:nvSpPr>
        <p:spPr>
          <a:xfrm>
            <a:off x="608330" y="913765"/>
            <a:ext cx="10968355" cy="3322955"/>
          </a:xfrm>
          <a:prstGeom prst="rect">
            <a:avLst/>
          </a:prstGeom>
          <a:noFill/>
        </p:spPr>
        <p:txBody>
          <a:bodyPr wrap="square" rtlCol="0" anchor="t">
            <a:spAutoFit/>
          </a:bodyPr>
          <a:p>
            <a:pPr indent="0" algn="l" fontAlgn="auto">
              <a:lnSpc>
                <a:spcPct val="150000"/>
              </a:lnSpc>
            </a:pPr>
            <a:r>
              <a:rPr lang="zh-CN" altLang="en-US" sz="2800" dirty="0">
                <a:latin typeface="楷体" panose="02010609060101010101" charset="-122"/>
                <a:ea typeface="楷体" panose="02010609060101010101" charset="-122"/>
                <a:cs typeface="楷体" panose="02010609060101010101" charset="-122"/>
                <a:sym typeface="楷体" panose="02010609060101010101" charset="-122"/>
              </a:rPr>
              <a:t>言之无文：行之不远</a:t>
            </a:r>
            <a:endParaRPr lang="zh-CN" altLang="en-US" sz="28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800" dirty="0">
                <a:latin typeface="楷体" panose="02010609060101010101" charset="-122"/>
                <a:ea typeface="楷体" panose="02010609060101010101" charset="-122"/>
                <a:cs typeface="楷体" panose="02010609060101010101" charset="-122"/>
                <a:sym typeface="楷体" panose="02010609060101010101" charset="-122"/>
              </a:rPr>
              <a:t>A.</a:t>
            </a:r>
            <a:r>
              <a:rPr lang="zh-CN" altLang="en-US" sz="2800" dirty="0">
                <a:latin typeface="楷体" panose="02010609060101010101" charset="-122"/>
                <a:ea typeface="楷体" panose="02010609060101010101" charset="-122"/>
                <a:cs typeface="楷体" panose="02010609060101010101" charset="-122"/>
                <a:sym typeface="楷体" panose="02010609060101010101" charset="-122"/>
              </a:rPr>
              <a:t>一叶障目：不见泰山</a:t>
            </a:r>
            <a:r>
              <a:rPr lang="en-US" altLang="zh-CN" sz="2800" dirty="0">
                <a:latin typeface="楷体" panose="02010609060101010101" charset="-122"/>
                <a:ea typeface="楷体" panose="02010609060101010101" charset="-122"/>
                <a:cs typeface="楷体" panose="02010609060101010101" charset="-122"/>
                <a:sym typeface="楷体" panose="02010609060101010101" charset="-122"/>
              </a:rPr>
              <a:t> </a:t>
            </a:r>
            <a:endParaRPr lang="en-US" altLang="zh-CN" sz="28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800" dirty="0">
                <a:latin typeface="楷体" panose="02010609060101010101" charset="-122"/>
                <a:ea typeface="楷体" panose="02010609060101010101" charset="-122"/>
                <a:cs typeface="楷体" panose="02010609060101010101" charset="-122"/>
                <a:sym typeface="楷体" panose="02010609060101010101" charset="-122"/>
              </a:rPr>
              <a:t>B.</a:t>
            </a:r>
            <a:r>
              <a:rPr lang="zh-CN" altLang="en-US" sz="2800" dirty="0">
                <a:latin typeface="楷体" panose="02010609060101010101" charset="-122"/>
                <a:ea typeface="楷体" panose="02010609060101010101" charset="-122"/>
                <a:cs typeface="楷体" panose="02010609060101010101" charset="-122"/>
                <a:sym typeface="楷体" panose="02010609060101010101" charset="-122"/>
              </a:rPr>
              <a:t>宁为玉碎：不为瓦全</a:t>
            </a:r>
            <a:r>
              <a:rPr lang="en-US" altLang="zh-CN" sz="2800" dirty="0">
                <a:latin typeface="楷体" panose="02010609060101010101" charset="-122"/>
                <a:ea typeface="楷体" panose="02010609060101010101" charset="-122"/>
                <a:cs typeface="楷体" panose="02010609060101010101" charset="-122"/>
                <a:sym typeface="楷体" panose="02010609060101010101" charset="-122"/>
              </a:rPr>
              <a:t> </a:t>
            </a:r>
            <a:endParaRPr lang="en-US" altLang="zh-CN" sz="28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800" dirty="0">
                <a:latin typeface="楷体" panose="02010609060101010101" charset="-122"/>
                <a:ea typeface="楷体" panose="02010609060101010101" charset="-122"/>
                <a:cs typeface="楷体" panose="02010609060101010101" charset="-122"/>
                <a:sym typeface="楷体" panose="02010609060101010101" charset="-122"/>
              </a:rPr>
              <a:t>C.</a:t>
            </a:r>
            <a:r>
              <a:rPr lang="zh-CN" altLang="en-US" sz="2800" dirty="0">
                <a:latin typeface="楷体" panose="02010609060101010101" charset="-122"/>
                <a:ea typeface="楷体" panose="02010609060101010101" charset="-122"/>
                <a:cs typeface="楷体" panose="02010609060101010101" charset="-122"/>
                <a:sym typeface="楷体" panose="02010609060101010101" charset="-122"/>
              </a:rPr>
              <a:t>藏诸名山：传之其人</a:t>
            </a:r>
            <a:r>
              <a:rPr lang="en-US" altLang="zh-CN" sz="2800" dirty="0">
                <a:latin typeface="楷体" panose="02010609060101010101" charset="-122"/>
                <a:ea typeface="楷体" panose="02010609060101010101" charset="-122"/>
                <a:cs typeface="楷体" panose="02010609060101010101" charset="-122"/>
                <a:sym typeface="楷体" panose="02010609060101010101" charset="-122"/>
              </a:rPr>
              <a:t> </a:t>
            </a:r>
            <a:endParaRPr lang="en-US" altLang="zh-CN" sz="28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800" dirty="0">
                <a:latin typeface="楷体" panose="02010609060101010101" charset="-122"/>
                <a:ea typeface="楷体" panose="02010609060101010101" charset="-122"/>
                <a:cs typeface="楷体" panose="02010609060101010101" charset="-122"/>
                <a:sym typeface="楷体" panose="02010609060101010101" charset="-122"/>
              </a:rPr>
              <a:t>D.</a:t>
            </a:r>
            <a:r>
              <a:rPr lang="zh-CN" altLang="en-US" sz="2800" dirty="0">
                <a:latin typeface="楷体" panose="02010609060101010101" charset="-122"/>
                <a:ea typeface="楷体" panose="02010609060101010101" charset="-122"/>
                <a:cs typeface="楷体" panose="02010609060101010101" charset="-122"/>
                <a:sym typeface="楷体" panose="02010609060101010101" charset="-122"/>
              </a:rPr>
              <a:t>取之不尽：用之不竭</a:t>
            </a:r>
            <a:endParaRPr lang="zh-CN" altLang="en-US" sz="2800" dirty="0">
              <a:latin typeface="楷体" panose="02010609060101010101" charset="-122"/>
              <a:ea typeface="楷体" panose="02010609060101010101" charset="-122"/>
              <a:cs typeface="楷体" panose="02010609060101010101" charset="-122"/>
              <a:sym typeface="楷体" panose="02010609060101010101" charset="-122"/>
            </a:endParaRPr>
          </a:p>
        </p:txBody>
      </p:sp>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idx="4294967295"/>
          </p:nvPr>
        </p:nvSpPr>
        <p:spPr>
          <a:xfrm>
            <a:off x="608400" y="208350"/>
            <a:ext cx="10969200" cy="705600"/>
          </a:xfrm>
        </p:spPr>
        <p:txBody>
          <a:bodyPr/>
          <a:lstStyle/>
          <a:p>
            <a:pPr algn="l">
              <a:buClrTx/>
              <a:buSzTx/>
              <a:buFontTx/>
            </a:pPr>
            <a:r>
              <a:rPr kumimoji="1" lang="zh-CN" sz="3735" b="1" dirty="0">
                <a:solidFill>
                  <a:srgbClr val="FF653F"/>
                </a:solidFill>
                <a:latin typeface="+mj-lt"/>
                <a:ea typeface="+mj-lt"/>
                <a:cs typeface="+mj-lt"/>
              </a:rPr>
              <a:t>题</a:t>
            </a:r>
            <a:r>
              <a:rPr kumimoji="1" lang="en-US" altLang="zh-CN" sz="3735" b="1" dirty="0">
                <a:solidFill>
                  <a:srgbClr val="FF653F"/>
                </a:solidFill>
                <a:latin typeface="+mj-lt"/>
                <a:ea typeface="+mj-lt"/>
                <a:cs typeface="+mj-lt"/>
              </a:rPr>
              <a:t>100</a:t>
            </a:r>
            <a:endParaRPr kumimoji="1" lang="en-US" altLang="zh-CN" sz="3735" b="1" dirty="0">
              <a:solidFill>
                <a:srgbClr val="FF653F"/>
              </a:solidFill>
              <a:latin typeface="+mj-lt"/>
              <a:ea typeface="+mj-lt"/>
              <a:cs typeface="+mj-lt"/>
            </a:endParaRPr>
          </a:p>
        </p:txBody>
      </p:sp>
      <p:sp>
        <p:nvSpPr>
          <p:cNvPr id="4" name="文本框 3"/>
          <p:cNvSpPr txBox="1"/>
          <p:nvPr/>
        </p:nvSpPr>
        <p:spPr>
          <a:xfrm>
            <a:off x="608330" y="913765"/>
            <a:ext cx="10968355" cy="3322955"/>
          </a:xfrm>
          <a:prstGeom prst="rect">
            <a:avLst/>
          </a:prstGeom>
          <a:noFill/>
        </p:spPr>
        <p:txBody>
          <a:bodyPr wrap="square" rtlCol="0" anchor="t">
            <a:spAutoFit/>
          </a:bodyPr>
          <a:p>
            <a:pPr indent="0" algn="l" fontAlgn="auto">
              <a:lnSpc>
                <a:spcPct val="150000"/>
              </a:lnSpc>
            </a:pPr>
            <a:r>
              <a:rPr lang="zh-CN" altLang="en-US" sz="2800" dirty="0">
                <a:latin typeface="楷体" panose="02010609060101010101" charset="-122"/>
                <a:ea typeface="楷体" panose="02010609060101010101" charset="-122"/>
                <a:cs typeface="楷体" panose="02010609060101010101" charset="-122"/>
                <a:sym typeface="楷体" panose="02010609060101010101" charset="-122"/>
              </a:rPr>
              <a:t>车辆：货车：运输</a:t>
            </a:r>
            <a:endParaRPr lang="zh-CN" altLang="en-US" sz="28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800" dirty="0">
                <a:latin typeface="楷体" panose="02010609060101010101" charset="-122"/>
                <a:ea typeface="楷体" panose="02010609060101010101" charset="-122"/>
                <a:cs typeface="楷体" panose="02010609060101010101" charset="-122"/>
                <a:sym typeface="楷体" panose="02010609060101010101" charset="-122"/>
              </a:rPr>
              <a:t>A.</a:t>
            </a:r>
            <a:r>
              <a:rPr lang="zh-CN" altLang="en-US" sz="2800" dirty="0">
                <a:latin typeface="楷体" panose="02010609060101010101" charset="-122"/>
                <a:ea typeface="楷体" panose="02010609060101010101" charset="-122"/>
                <a:cs typeface="楷体" panose="02010609060101010101" charset="-122"/>
                <a:sym typeface="楷体" panose="02010609060101010101" charset="-122"/>
              </a:rPr>
              <a:t>温室气体：甲烷：二氧化碳</a:t>
            </a:r>
            <a:r>
              <a:rPr lang="en-US" altLang="zh-CN" sz="2800" dirty="0">
                <a:latin typeface="楷体" panose="02010609060101010101" charset="-122"/>
                <a:ea typeface="楷体" panose="02010609060101010101" charset="-122"/>
                <a:cs typeface="楷体" panose="02010609060101010101" charset="-122"/>
                <a:sym typeface="楷体" panose="02010609060101010101" charset="-122"/>
              </a:rPr>
              <a:t> </a:t>
            </a:r>
            <a:endParaRPr lang="en-US" altLang="zh-CN" sz="28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800" dirty="0">
                <a:latin typeface="楷体" panose="02010609060101010101" charset="-122"/>
                <a:ea typeface="楷体" panose="02010609060101010101" charset="-122"/>
                <a:cs typeface="楷体" panose="02010609060101010101" charset="-122"/>
                <a:sym typeface="楷体" panose="02010609060101010101" charset="-122"/>
              </a:rPr>
              <a:t>B.</a:t>
            </a:r>
            <a:r>
              <a:rPr lang="zh-CN" altLang="en-US" sz="2800" dirty="0">
                <a:latin typeface="楷体" panose="02010609060101010101" charset="-122"/>
                <a:ea typeface="楷体" panose="02010609060101010101" charset="-122"/>
                <a:cs typeface="楷体" panose="02010609060101010101" charset="-122"/>
                <a:sym typeface="楷体" panose="02010609060101010101" charset="-122"/>
              </a:rPr>
              <a:t>未来产业：量子信息：研究监管</a:t>
            </a:r>
            <a:endParaRPr lang="zh-CN" altLang="en-US" sz="28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800" dirty="0">
                <a:latin typeface="楷体" panose="02010609060101010101" charset="-122"/>
                <a:ea typeface="楷体" panose="02010609060101010101" charset="-122"/>
                <a:cs typeface="楷体" panose="02010609060101010101" charset="-122"/>
                <a:sym typeface="楷体" panose="02010609060101010101" charset="-122"/>
              </a:rPr>
              <a:t>C.</a:t>
            </a:r>
            <a:r>
              <a:rPr lang="zh-CN" altLang="en-US" sz="2800" dirty="0">
                <a:latin typeface="楷体" panose="02010609060101010101" charset="-122"/>
                <a:ea typeface="楷体" panose="02010609060101010101" charset="-122"/>
                <a:cs typeface="楷体" panose="02010609060101010101" charset="-122"/>
                <a:sym typeface="楷体" panose="02010609060101010101" charset="-122"/>
              </a:rPr>
              <a:t>自我意识：人格：心理调节</a:t>
            </a:r>
            <a:r>
              <a:rPr lang="en-US" altLang="zh-CN" sz="2800" dirty="0">
                <a:latin typeface="楷体" panose="02010609060101010101" charset="-122"/>
                <a:ea typeface="楷体" panose="02010609060101010101" charset="-122"/>
                <a:cs typeface="楷体" panose="02010609060101010101" charset="-122"/>
                <a:sym typeface="楷体" panose="02010609060101010101" charset="-122"/>
              </a:rPr>
              <a:t> </a:t>
            </a:r>
            <a:endParaRPr lang="en-US" altLang="zh-CN" sz="28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800" dirty="0">
                <a:latin typeface="楷体" panose="02010609060101010101" charset="-122"/>
                <a:ea typeface="楷体" panose="02010609060101010101" charset="-122"/>
                <a:cs typeface="楷体" panose="02010609060101010101" charset="-122"/>
                <a:sym typeface="楷体" panose="02010609060101010101" charset="-122"/>
              </a:rPr>
              <a:t>D.</a:t>
            </a:r>
            <a:r>
              <a:rPr lang="zh-CN" altLang="en-US" sz="2800" dirty="0">
                <a:latin typeface="楷体" panose="02010609060101010101" charset="-122"/>
                <a:ea typeface="楷体" panose="02010609060101010101" charset="-122"/>
                <a:cs typeface="楷体" panose="02010609060101010101" charset="-122"/>
                <a:sym typeface="楷体" panose="02010609060101010101" charset="-122"/>
              </a:rPr>
              <a:t>绿色能源：太阳能：发电</a:t>
            </a:r>
            <a:endParaRPr lang="zh-CN" altLang="en-US" sz="2800" dirty="0">
              <a:latin typeface="楷体" panose="02010609060101010101" charset="-122"/>
              <a:ea typeface="楷体" panose="02010609060101010101" charset="-122"/>
              <a:cs typeface="楷体" panose="02010609060101010101" charset="-122"/>
              <a:sym typeface="楷体" panose="02010609060101010101" charset="-122"/>
            </a:endParaRPr>
          </a:p>
        </p:txBody>
      </p:sp>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idx="4294967295"/>
          </p:nvPr>
        </p:nvSpPr>
        <p:spPr>
          <a:xfrm>
            <a:off x="608400" y="208350"/>
            <a:ext cx="10969200" cy="705600"/>
          </a:xfrm>
        </p:spPr>
        <p:txBody>
          <a:bodyPr/>
          <a:lstStyle/>
          <a:p>
            <a:pPr algn="l">
              <a:buClrTx/>
              <a:buSzTx/>
              <a:buFontTx/>
            </a:pPr>
            <a:r>
              <a:rPr kumimoji="1" lang="zh-CN" sz="3735" b="1" dirty="0">
                <a:solidFill>
                  <a:srgbClr val="FF653F"/>
                </a:solidFill>
                <a:latin typeface="+mj-lt"/>
                <a:ea typeface="+mj-lt"/>
                <a:cs typeface="+mj-lt"/>
              </a:rPr>
              <a:t>题</a:t>
            </a:r>
            <a:r>
              <a:rPr kumimoji="1" lang="en-US" altLang="zh-CN" sz="3735" b="1" dirty="0">
                <a:solidFill>
                  <a:srgbClr val="FF653F"/>
                </a:solidFill>
                <a:latin typeface="+mj-lt"/>
                <a:ea typeface="+mj-lt"/>
                <a:cs typeface="+mj-lt"/>
              </a:rPr>
              <a:t>101</a:t>
            </a:r>
            <a:endParaRPr kumimoji="1" lang="en-US" altLang="zh-CN" sz="3735" b="1" dirty="0">
              <a:solidFill>
                <a:srgbClr val="FF653F"/>
              </a:solidFill>
              <a:latin typeface="+mj-lt"/>
              <a:ea typeface="+mj-lt"/>
              <a:cs typeface="+mj-lt"/>
            </a:endParaRPr>
          </a:p>
        </p:txBody>
      </p:sp>
      <p:sp>
        <p:nvSpPr>
          <p:cNvPr id="4" name="文本框 3"/>
          <p:cNvSpPr txBox="1"/>
          <p:nvPr/>
        </p:nvSpPr>
        <p:spPr>
          <a:xfrm>
            <a:off x="608330" y="913765"/>
            <a:ext cx="10968355" cy="3322955"/>
          </a:xfrm>
          <a:prstGeom prst="rect">
            <a:avLst/>
          </a:prstGeom>
          <a:noFill/>
        </p:spPr>
        <p:txBody>
          <a:bodyPr wrap="square" rtlCol="0" anchor="t">
            <a:spAutoFit/>
          </a:bodyPr>
          <a:p>
            <a:pPr indent="0" algn="l" fontAlgn="auto">
              <a:lnSpc>
                <a:spcPct val="150000"/>
              </a:lnSpc>
            </a:pPr>
            <a:r>
              <a:rPr lang="zh-CN" altLang="en-US" sz="2800" dirty="0">
                <a:latin typeface="楷体" panose="02010609060101010101" charset="-122"/>
                <a:ea typeface="楷体" panose="02010609060101010101" charset="-122"/>
                <a:cs typeface="楷体" panose="02010609060101010101" charset="-122"/>
                <a:sym typeface="楷体" panose="02010609060101010101" charset="-122"/>
              </a:rPr>
              <a:t>衰弱：噪声：听力</a:t>
            </a:r>
            <a:endParaRPr lang="zh-CN" altLang="en-US" sz="28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800" dirty="0">
                <a:latin typeface="楷体" panose="02010609060101010101" charset="-122"/>
                <a:ea typeface="楷体" panose="02010609060101010101" charset="-122"/>
                <a:cs typeface="楷体" panose="02010609060101010101" charset="-122"/>
                <a:sym typeface="楷体" panose="02010609060101010101" charset="-122"/>
              </a:rPr>
              <a:t>A.</a:t>
            </a:r>
            <a:r>
              <a:rPr lang="zh-CN" altLang="en-US" sz="2800" dirty="0">
                <a:latin typeface="楷体" panose="02010609060101010101" charset="-122"/>
                <a:ea typeface="楷体" panose="02010609060101010101" charset="-122"/>
                <a:cs typeface="楷体" panose="02010609060101010101" charset="-122"/>
                <a:sym typeface="楷体" panose="02010609060101010101" charset="-122"/>
              </a:rPr>
              <a:t>锻炼：饮食：健康</a:t>
            </a:r>
            <a:r>
              <a:rPr lang="en-US" altLang="zh-CN" sz="2800" dirty="0">
                <a:latin typeface="楷体" panose="02010609060101010101" charset="-122"/>
                <a:ea typeface="楷体" panose="02010609060101010101" charset="-122"/>
                <a:cs typeface="楷体" panose="02010609060101010101" charset="-122"/>
                <a:sym typeface="楷体" panose="02010609060101010101" charset="-122"/>
              </a:rPr>
              <a:t> </a:t>
            </a:r>
            <a:endParaRPr lang="en-US" altLang="zh-CN" sz="28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800" dirty="0">
                <a:latin typeface="楷体" panose="02010609060101010101" charset="-122"/>
                <a:ea typeface="楷体" panose="02010609060101010101" charset="-122"/>
                <a:cs typeface="楷体" panose="02010609060101010101" charset="-122"/>
                <a:sym typeface="楷体" panose="02010609060101010101" charset="-122"/>
              </a:rPr>
              <a:t>B.</a:t>
            </a:r>
            <a:r>
              <a:rPr lang="zh-CN" altLang="en-US" sz="2800" dirty="0">
                <a:latin typeface="楷体" panose="02010609060101010101" charset="-122"/>
                <a:ea typeface="楷体" panose="02010609060101010101" charset="-122"/>
                <a:cs typeface="楷体" panose="02010609060101010101" charset="-122"/>
                <a:sym typeface="楷体" panose="02010609060101010101" charset="-122"/>
              </a:rPr>
              <a:t>杠杆：重力：质量</a:t>
            </a:r>
            <a:endParaRPr lang="zh-CN" altLang="en-US" sz="28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800" dirty="0">
                <a:latin typeface="楷体" panose="02010609060101010101" charset="-122"/>
                <a:ea typeface="楷体" panose="02010609060101010101" charset="-122"/>
                <a:cs typeface="楷体" panose="02010609060101010101" charset="-122"/>
                <a:sym typeface="楷体" panose="02010609060101010101" charset="-122"/>
              </a:rPr>
              <a:t>C.</a:t>
            </a:r>
            <a:r>
              <a:rPr lang="zh-CN" altLang="en-US" sz="2800" dirty="0">
                <a:latin typeface="楷体" panose="02010609060101010101" charset="-122"/>
                <a:ea typeface="楷体" panose="02010609060101010101" charset="-122"/>
                <a:cs typeface="楷体" panose="02010609060101010101" charset="-122"/>
                <a:sym typeface="楷体" panose="02010609060101010101" charset="-122"/>
              </a:rPr>
              <a:t>降低：摩擦：速度</a:t>
            </a:r>
            <a:r>
              <a:rPr lang="en-US" altLang="zh-CN" sz="2800" dirty="0">
                <a:latin typeface="楷体" panose="02010609060101010101" charset="-122"/>
                <a:ea typeface="楷体" panose="02010609060101010101" charset="-122"/>
                <a:cs typeface="楷体" panose="02010609060101010101" charset="-122"/>
                <a:sym typeface="楷体" panose="02010609060101010101" charset="-122"/>
              </a:rPr>
              <a:t> </a:t>
            </a:r>
            <a:endParaRPr lang="en-US" altLang="zh-CN" sz="28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800" dirty="0">
                <a:latin typeface="楷体" panose="02010609060101010101" charset="-122"/>
                <a:ea typeface="楷体" panose="02010609060101010101" charset="-122"/>
                <a:cs typeface="楷体" panose="02010609060101010101" charset="-122"/>
                <a:sym typeface="楷体" panose="02010609060101010101" charset="-122"/>
              </a:rPr>
              <a:t>D.</a:t>
            </a:r>
            <a:r>
              <a:rPr lang="zh-CN" altLang="en-US" sz="2800" dirty="0">
                <a:latin typeface="楷体" panose="02010609060101010101" charset="-122"/>
                <a:ea typeface="楷体" panose="02010609060101010101" charset="-122"/>
                <a:cs typeface="楷体" panose="02010609060101010101" charset="-122"/>
                <a:sym typeface="楷体" panose="02010609060101010101" charset="-122"/>
              </a:rPr>
              <a:t>气候变暖：冰层融化：环境</a:t>
            </a:r>
            <a:endParaRPr lang="zh-CN" altLang="en-US" sz="2800" dirty="0">
              <a:latin typeface="楷体" panose="02010609060101010101" charset="-122"/>
              <a:ea typeface="楷体" panose="02010609060101010101" charset="-122"/>
              <a:cs typeface="楷体" panose="02010609060101010101" charset="-122"/>
              <a:sym typeface="楷体" panose="02010609060101010101" charset="-122"/>
            </a:endParaRPr>
          </a:p>
        </p:txBody>
      </p:sp>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idx="4294967295"/>
          </p:nvPr>
        </p:nvSpPr>
        <p:spPr>
          <a:xfrm>
            <a:off x="608400" y="208350"/>
            <a:ext cx="10969200" cy="705600"/>
          </a:xfrm>
        </p:spPr>
        <p:txBody>
          <a:bodyPr/>
          <a:lstStyle/>
          <a:p>
            <a:pPr algn="l">
              <a:buClrTx/>
              <a:buSzTx/>
              <a:buFontTx/>
            </a:pPr>
            <a:r>
              <a:rPr kumimoji="1" lang="zh-CN" sz="3735" b="1" dirty="0">
                <a:solidFill>
                  <a:srgbClr val="FF653F"/>
                </a:solidFill>
                <a:latin typeface="+mj-lt"/>
                <a:ea typeface="+mj-lt"/>
                <a:cs typeface="+mj-lt"/>
              </a:rPr>
              <a:t>题</a:t>
            </a:r>
            <a:r>
              <a:rPr kumimoji="1" lang="en-US" altLang="zh-CN" sz="3735" b="1" dirty="0">
                <a:solidFill>
                  <a:srgbClr val="FF653F"/>
                </a:solidFill>
                <a:latin typeface="+mj-lt"/>
                <a:ea typeface="+mj-lt"/>
                <a:cs typeface="+mj-lt"/>
              </a:rPr>
              <a:t>102</a:t>
            </a:r>
            <a:endParaRPr kumimoji="1" lang="en-US" altLang="zh-CN" sz="3735" b="1" dirty="0">
              <a:solidFill>
                <a:srgbClr val="FF653F"/>
              </a:solidFill>
              <a:latin typeface="+mj-lt"/>
              <a:ea typeface="+mj-lt"/>
              <a:cs typeface="+mj-lt"/>
            </a:endParaRPr>
          </a:p>
        </p:txBody>
      </p:sp>
      <p:sp>
        <p:nvSpPr>
          <p:cNvPr id="4" name="文本框 3"/>
          <p:cNvSpPr txBox="1"/>
          <p:nvPr/>
        </p:nvSpPr>
        <p:spPr>
          <a:xfrm>
            <a:off x="608330" y="913765"/>
            <a:ext cx="10968355" cy="3322955"/>
          </a:xfrm>
          <a:prstGeom prst="rect">
            <a:avLst/>
          </a:prstGeom>
          <a:noFill/>
        </p:spPr>
        <p:txBody>
          <a:bodyPr wrap="square" rtlCol="0" anchor="t">
            <a:spAutoFit/>
          </a:bodyPr>
          <a:p>
            <a:pPr indent="0" algn="l" fontAlgn="auto">
              <a:lnSpc>
                <a:spcPct val="150000"/>
              </a:lnSpc>
            </a:pPr>
            <a:r>
              <a:rPr lang="zh-CN" altLang="en-US" sz="2800" dirty="0">
                <a:latin typeface="楷体" panose="02010609060101010101" charset="-122"/>
                <a:ea typeface="楷体" panose="02010609060101010101" charset="-122"/>
                <a:cs typeface="楷体" panose="02010609060101010101" charset="-122"/>
                <a:sym typeface="楷体" panose="02010609060101010101" charset="-122"/>
              </a:rPr>
              <a:t>石料：木材：印章</a:t>
            </a:r>
            <a:endParaRPr lang="zh-CN" altLang="en-US" sz="28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800" dirty="0">
                <a:latin typeface="楷体" panose="02010609060101010101" charset="-122"/>
                <a:ea typeface="楷体" panose="02010609060101010101" charset="-122"/>
                <a:cs typeface="楷体" panose="02010609060101010101" charset="-122"/>
                <a:sym typeface="楷体" panose="02010609060101010101" charset="-122"/>
              </a:rPr>
              <a:t>A.</a:t>
            </a:r>
            <a:r>
              <a:rPr lang="zh-CN" altLang="en-US" sz="2800" dirty="0">
                <a:latin typeface="楷体" panose="02010609060101010101" charset="-122"/>
                <a:ea typeface="楷体" panose="02010609060101010101" charset="-122"/>
                <a:cs typeface="楷体" panose="02010609060101010101" charset="-122"/>
                <a:sym typeface="楷体" panose="02010609060101010101" charset="-122"/>
              </a:rPr>
              <a:t>毛笔：墨水：书法</a:t>
            </a:r>
            <a:r>
              <a:rPr lang="en-US" altLang="zh-CN" sz="2800" dirty="0">
                <a:latin typeface="楷体" panose="02010609060101010101" charset="-122"/>
                <a:ea typeface="楷体" panose="02010609060101010101" charset="-122"/>
                <a:cs typeface="楷体" panose="02010609060101010101" charset="-122"/>
                <a:sym typeface="楷体" panose="02010609060101010101" charset="-122"/>
              </a:rPr>
              <a:t> </a:t>
            </a:r>
            <a:endParaRPr lang="en-US" altLang="zh-CN" sz="28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800" dirty="0">
                <a:latin typeface="楷体" panose="02010609060101010101" charset="-122"/>
                <a:ea typeface="楷体" panose="02010609060101010101" charset="-122"/>
                <a:cs typeface="楷体" panose="02010609060101010101" charset="-122"/>
                <a:sym typeface="楷体" panose="02010609060101010101" charset="-122"/>
              </a:rPr>
              <a:t>B.</a:t>
            </a:r>
            <a:r>
              <a:rPr lang="zh-CN" altLang="en-US" sz="2800" dirty="0">
                <a:latin typeface="楷体" panose="02010609060101010101" charset="-122"/>
                <a:ea typeface="楷体" panose="02010609060101010101" charset="-122"/>
                <a:cs typeface="楷体" panose="02010609060101010101" charset="-122"/>
                <a:sym typeface="楷体" panose="02010609060101010101" charset="-122"/>
              </a:rPr>
              <a:t>湘绣：蜀绣：刺绣</a:t>
            </a:r>
            <a:r>
              <a:rPr lang="en-US" altLang="zh-CN" sz="2800" dirty="0">
                <a:latin typeface="楷体" panose="02010609060101010101" charset="-122"/>
                <a:ea typeface="楷体" panose="02010609060101010101" charset="-122"/>
                <a:cs typeface="楷体" panose="02010609060101010101" charset="-122"/>
                <a:sym typeface="楷体" panose="02010609060101010101" charset="-122"/>
              </a:rPr>
              <a:t> </a:t>
            </a:r>
            <a:endParaRPr lang="en-US" altLang="zh-CN" sz="28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800" dirty="0">
                <a:latin typeface="楷体" panose="02010609060101010101" charset="-122"/>
                <a:ea typeface="楷体" panose="02010609060101010101" charset="-122"/>
                <a:cs typeface="楷体" panose="02010609060101010101" charset="-122"/>
                <a:sym typeface="楷体" panose="02010609060101010101" charset="-122"/>
              </a:rPr>
              <a:t>C.</a:t>
            </a:r>
            <a:r>
              <a:rPr lang="zh-CN" altLang="en-US" sz="2800" dirty="0">
                <a:latin typeface="楷体" panose="02010609060101010101" charset="-122"/>
                <a:ea typeface="楷体" panose="02010609060101010101" charset="-122"/>
                <a:cs typeface="楷体" panose="02010609060101010101" charset="-122"/>
                <a:sym typeface="楷体" panose="02010609060101010101" charset="-122"/>
              </a:rPr>
              <a:t>宣纸：年画：国画</a:t>
            </a:r>
            <a:r>
              <a:rPr lang="en-US" altLang="zh-CN" sz="2800" dirty="0">
                <a:latin typeface="楷体" panose="02010609060101010101" charset="-122"/>
                <a:ea typeface="楷体" panose="02010609060101010101" charset="-122"/>
                <a:cs typeface="楷体" panose="02010609060101010101" charset="-122"/>
                <a:sym typeface="楷体" panose="02010609060101010101" charset="-122"/>
              </a:rPr>
              <a:t> </a:t>
            </a:r>
            <a:endParaRPr lang="en-US" altLang="zh-CN" sz="28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800" dirty="0">
                <a:latin typeface="楷体" panose="02010609060101010101" charset="-122"/>
                <a:ea typeface="楷体" panose="02010609060101010101" charset="-122"/>
                <a:cs typeface="楷体" panose="02010609060101010101" charset="-122"/>
                <a:sym typeface="楷体" panose="02010609060101010101" charset="-122"/>
              </a:rPr>
              <a:t>D.</a:t>
            </a:r>
            <a:r>
              <a:rPr lang="zh-CN" altLang="en-US" sz="2800" dirty="0">
                <a:latin typeface="楷体" panose="02010609060101010101" charset="-122"/>
                <a:ea typeface="楷体" panose="02010609060101010101" charset="-122"/>
                <a:cs typeface="楷体" panose="02010609060101010101" charset="-122"/>
                <a:sym typeface="楷体" panose="02010609060101010101" charset="-122"/>
              </a:rPr>
              <a:t>搪瓷：塑料：脸盆</a:t>
            </a:r>
            <a:endParaRPr lang="zh-CN" altLang="en-US" sz="2800" dirty="0">
              <a:latin typeface="楷体" panose="02010609060101010101" charset="-122"/>
              <a:ea typeface="楷体" panose="02010609060101010101" charset="-122"/>
              <a:cs typeface="楷体" panose="02010609060101010101" charset="-122"/>
              <a:sym typeface="楷体" panose="02010609060101010101" charset="-122"/>
            </a:endParaRPr>
          </a:p>
        </p:txBody>
      </p:sp>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idx="4294967295"/>
          </p:nvPr>
        </p:nvSpPr>
        <p:spPr>
          <a:xfrm>
            <a:off x="608400" y="208350"/>
            <a:ext cx="10969200" cy="705600"/>
          </a:xfrm>
        </p:spPr>
        <p:txBody>
          <a:bodyPr/>
          <a:lstStyle/>
          <a:p>
            <a:pPr algn="l">
              <a:buClrTx/>
              <a:buSzTx/>
              <a:buFontTx/>
            </a:pPr>
            <a:r>
              <a:rPr kumimoji="1" lang="zh-CN" sz="3735" b="1" dirty="0">
                <a:solidFill>
                  <a:srgbClr val="FF653F"/>
                </a:solidFill>
                <a:latin typeface="+mj-lt"/>
                <a:ea typeface="+mj-lt"/>
                <a:cs typeface="+mj-lt"/>
              </a:rPr>
              <a:t>题</a:t>
            </a:r>
            <a:r>
              <a:rPr kumimoji="1" lang="en-US" altLang="zh-CN" sz="3735" b="1" dirty="0">
                <a:solidFill>
                  <a:srgbClr val="FF653F"/>
                </a:solidFill>
                <a:latin typeface="+mj-lt"/>
                <a:ea typeface="+mj-lt"/>
                <a:cs typeface="+mj-lt"/>
              </a:rPr>
              <a:t>103</a:t>
            </a:r>
            <a:endParaRPr kumimoji="1" lang="en-US" altLang="zh-CN" sz="3735" b="1" dirty="0">
              <a:solidFill>
                <a:srgbClr val="FF653F"/>
              </a:solidFill>
              <a:latin typeface="+mj-lt"/>
              <a:ea typeface="+mj-lt"/>
              <a:cs typeface="+mj-lt"/>
            </a:endParaRPr>
          </a:p>
        </p:txBody>
      </p:sp>
      <p:sp>
        <p:nvSpPr>
          <p:cNvPr id="4" name="文本框 3"/>
          <p:cNvSpPr txBox="1"/>
          <p:nvPr/>
        </p:nvSpPr>
        <p:spPr>
          <a:xfrm>
            <a:off x="608330" y="913765"/>
            <a:ext cx="10968355" cy="3322955"/>
          </a:xfrm>
          <a:prstGeom prst="rect">
            <a:avLst/>
          </a:prstGeom>
          <a:noFill/>
        </p:spPr>
        <p:txBody>
          <a:bodyPr wrap="square" rtlCol="0" anchor="t">
            <a:spAutoFit/>
          </a:bodyPr>
          <a:p>
            <a:pPr indent="0" algn="l" fontAlgn="auto">
              <a:lnSpc>
                <a:spcPct val="150000"/>
              </a:lnSpc>
            </a:pPr>
            <a:r>
              <a:rPr lang="zh-CN" altLang="en-US" sz="2800" dirty="0">
                <a:latin typeface="楷体" panose="02010609060101010101" charset="-122"/>
                <a:ea typeface="楷体" panose="02010609060101010101" charset="-122"/>
                <a:cs typeface="楷体" panose="02010609060101010101" charset="-122"/>
                <a:sym typeface="楷体" panose="02010609060101010101" charset="-122"/>
              </a:rPr>
              <a:t>名垂青史：光耀千秋：光前裕后</a:t>
            </a:r>
            <a:endParaRPr lang="zh-CN" altLang="en-US" sz="28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800" dirty="0">
                <a:latin typeface="楷体" panose="02010609060101010101" charset="-122"/>
                <a:ea typeface="楷体" panose="02010609060101010101" charset="-122"/>
                <a:cs typeface="楷体" panose="02010609060101010101" charset="-122"/>
                <a:sym typeface="楷体" panose="02010609060101010101" charset="-122"/>
              </a:rPr>
              <a:t>A.</a:t>
            </a:r>
            <a:r>
              <a:rPr lang="zh-CN" altLang="en-US" sz="2800" dirty="0">
                <a:latin typeface="楷体" panose="02010609060101010101" charset="-122"/>
                <a:ea typeface="楷体" panose="02010609060101010101" charset="-122"/>
                <a:cs typeface="楷体" panose="02010609060101010101" charset="-122"/>
                <a:sym typeface="楷体" panose="02010609060101010101" charset="-122"/>
              </a:rPr>
              <a:t>畏首畏尾：犹犹豫豫：瞻前顾后</a:t>
            </a:r>
            <a:r>
              <a:rPr lang="en-US" altLang="zh-CN" sz="2800" dirty="0">
                <a:latin typeface="楷体" panose="02010609060101010101" charset="-122"/>
                <a:ea typeface="楷体" panose="02010609060101010101" charset="-122"/>
                <a:cs typeface="楷体" panose="02010609060101010101" charset="-122"/>
                <a:sym typeface="楷体" panose="02010609060101010101" charset="-122"/>
              </a:rPr>
              <a:t> </a:t>
            </a:r>
            <a:endParaRPr lang="en-US" altLang="zh-CN" sz="28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800" dirty="0">
                <a:latin typeface="楷体" panose="02010609060101010101" charset="-122"/>
                <a:ea typeface="楷体" panose="02010609060101010101" charset="-122"/>
                <a:cs typeface="楷体" panose="02010609060101010101" charset="-122"/>
                <a:sym typeface="楷体" panose="02010609060101010101" charset="-122"/>
              </a:rPr>
              <a:t>B.</a:t>
            </a:r>
            <a:r>
              <a:rPr lang="zh-CN" altLang="en-US" sz="2800" dirty="0">
                <a:latin typeface="楷体" panose="02010609060101010101" charset="-122"/>
                <a:ea typeface="楷体" panose="02010609060101010101" charset="-122"/>
                <a:cs typeface="楷体" panose="02010609060101010101" charset="-122"/>
                <a:sym typeface="楷体" panose="02010609060101010101" charset="-122"/>
              </a:rPr>
              <a:t>投鼠忌器：缩手缩脚：慎终追远</a:t>
            </a:r>
            <a:endParaRPr lang="zh-CN" altLang="en-US" sz="28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800" dirty="0">
                <a:latin typeface="楷体" panose="02010609060101010101" charset="-122"/>
                <a:ea typeface="楷体" panose="02010609060101010101" charset="-122"/>
                <a:cs typeface="楷体" panose="02010609060101010101" charset="-122"/>
                <a:sym typeface="楷体" panose="02010609060101010101" charset="-122"/>
              </a:rPr>
              <a:t>C.</a:t>
            </a:r>
            <a:r>
              <a:rPr lang="zh-CN" altLang="en-US" sz="2800" dirty="0">
                <a:latin typeface="楷体" panose="02010609060101010101" charset="-122"/>
                <a:ea typeface="楷体" panose="02010609060101010101" charset="-122"/>
                <a:cs typeface="楷体" panose="02010609060101010101" charset="-122"/>
                <a:sym typeface="楷体" panose="02010609060101010101" charset="-122"/>
              </a:rPr>
              <a:t>光宗耀祖：光耀门楣：落叶归根</a:t>
            </a:r>
            <a:r>
              <a:rPr lang="en-US" altLang="zh-CN" sz="2800" dirty="0">
                <a:latin typeface="楷体" panose="02010609060101010101" charset="-122"/>
                <a:ea typeface="楷体" panose="02010609060101010101" charset="-122"/>
                <a:cs typeface="楷体" panose="02010609060101010101" charset="-122"/>
                <a:sym typeface="楷体" panose="02010609060101010101" charset="-122"/>
              </a:rPr>
              <a:t> </a:t>
            </a:r>
            <a:endParaRPr lang="en-US" altLang="zh-CN" sz="28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800" dirty="0">
                <a:latin typeface="楷体" panose="02010609060101010101" charset="-122"/>
                <a:ea typeface="楷体" panose="02010609060101010101" charset="-122"/>
                <a:cs typeface="楷体" panose="02010609060101010101" charset="-122"/>
                <a:sym typeface="楷体" panose="02010609060101010101" charset="-122"/>
              </a:rPr>
              <a:t>D.</a:t>
            </a:r>
            <a:r>
              <a:rPr lang="zh-CN" altLang="en-US" sz="2800" dirty="0">
                <a:latin typeface="楷体" panose="02010609060101010101" charset="-122"/>
                <a:ea typeface="楷体" panose="02010609060101010101" charset="-122"/>
                <a:cs typeface="楷体" panose="02010609060101010101" charset="-122"/>
                <a:sym typeface="楷体" panose="02010609060101010101" charset="-122"/>
              </a:rPr>
              <a:t>空前绝后：开天辟地：继往开来</a:t>
            </a:r>
            <a:endParaRPr lang="zh-CN" altLang="en-US" sz="2800" dirty="0">
              <a:latin typeface="楷体" panose="02010609060101010101" charset="-122"/>
              <a:ea typeface="楷体" panose="02010609060101010101" charset="-122"/>
              <a:cs typeface="楷体" panose="02010609060101010101" charset="-122"/>
              <a:sym typeface="楷体" panose="02010609060101010101" charset="-122"/>
            </a:endParaRPr>
          </a:p>
        </p:txBody>
      </p:sp>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idx="4294967295"/>
          </p:nvPr>
        </p:nvSpPr>
        <p:spPr>
          <a:xfrm>
            <a:off x="608400" y="208350"/>
            <a:ext cx="10969200" cy="705600"/>
          </a:xfrm>
        </p:spPr>
        <p:txBody>
          <a:bodyPr/>
          <a:lstStyle/>
          <a:p>
            <a:pPr algn="l">
              <a:buClrTx/>
              <a:buSzTx/>
              <a:buFontTx/>
            </a:pPr>
            <a:r>
              <a:rPr kumimoji="1" lang="zh-CN" sz="3735" b="1" dirty="0">
                <a:solidFill>
                  <a:srgbClr val="FF653F"/>
                </a:solidFill>
                <a:latin typeface="+mj-lt"/>
                <a:ea typeface="+mj-lt"/>
                <a:cs typeface="+mj-lt"/>
              </a:rPr>
              <a:t>题</a:t>
            </a:r>
            <a:r>
              <a:rPr kumimoji="1" lang="en-US" altLang="zh-CN" sz="3735" b="1" dirty="0">
                <a:solidFill>
                  <a:srgbClr val="FF653F"/>
                </a:solidFill>
                <a:latin typeface="+mj-lt"/>
                <a:ea typeface="+mj-lt"/>
                <a:cs typeface="+mj-lt"/>
              </a:rPr>
              <a:t>104</a:t>
            </a:r>
            <a:endParaRPr kumimoji="1" lang="en-US" altLang="zh-CN" sz="3735" b="1" dirty="0">
              <a:solidFill>
                <a:srgbClr val="FF653F"/>
              </a:solidFill>
              <a:latin typeface="+mj-lt"/>
              <a:ea typeface="+mj-lt"/>
              <a:cs typeface="+mj-lt"/>
            </a:endParaRPr>
          </a:p>
        </p:txBody>
      </p:sp>
      <p:sp>
        <p:nvSpPr>
          <p:cNvPr id="4" name="文本框 3"/>
          <p:cNvSpPr txBox="1"/>
          <p:nvPr/>
        </p:nvSpPr>
        <p:spPr>
          <a:xfrm>
            <a:off x="608330" y="913765"/>
            <a:ext cx="10968355" cy="3322955"/>
          </a:xfrm>
          <a:prstGeom prst="rect">
            <a:avLst/>
          </a:prstGeom>
          <a:noFill/>
        </p:spPr>
        <p:txBody>
          <a:bodyPr wrap="square" rtlCol="0" anchor="t">
            <a:spAutoFit/>
          </a:bodyPr>
          <a:p>
            <a:pPr indent="0" algn="l" fontAlgn="auto">
              <a:lnSpc>
                <a:spcPct val="150000"/>
              </a:lnSpc>
            </a:pPr>
            <a:r>
              <a:rPr lang="zh-CN" altLang="en-US" sz="2800" dirty="0">
                <a:latin typeface="楷体" panose="02010609060101010101" charset="-122"/>
                <a:ea typeface="楷体" panose="02010609060101010101" charset="-122"/>
                <a:cs typeface="楷体" panose="02010609060101010101" charset="-122"/>
                <a:sym typeface="楷体" panose="02010609060101010101" charset="-122"/>
              </a:rPr>
              <a:t>（</a:t>
            </a:r>
            <a:r>
              <a:rPr lang="en-US" altLang="zh-CN" sz="2800" dirty="0">
                <a:latin typeface="楷体" panose="02010609060101010101" charset="-122"/>
                <a:ea typeface="楷体" panose="02010609060101010101" charset="-122"/>
                <a:cs typeface="楷体" panose="02010609060101010101" charset="-122"/>
                <a:sym typeface="楷体" panose="02010609060101010101" charset="-122"/>
              </a:rPr>
              <a:t> </a:t>
            </a:r>
            <a:r>
              <a:rPr lang="zh-CN" altLang="en-US" sz="2800" dirty="0">
                <a:latin typeface="楷体" panose="02010609060101010101" charset="-122"/>
                <a:ea typeface="楷体" panose="02010609060101010101" charset="-122"/>
                <a:cs typeface="楷体" panose="02010609060101010101" charset="-122"/>
                <a:sym typeface="楷体" panose="02010609060101010101" charset="-122"/>
              </a:rPr>
              <a:t>）</a:t>
            </a:r>
            <a:r>
              <a:rPr lang="en-US" altLang="zh-CN" sz="2800" dirty="0">
                <a:latin typeface="楷体" panose="02010609060101010101" charset="-122"/>
                <a:ea typeface="楷体" panose="02010609060101010101" charset="-122"/>
                <a:cs typeface="楷体" panose="02010609060101010101" charset="-122"/>
                <a:sym typeface="楷体" panose="02010609060101010101" charset="-122"/>
              </a:rPr>
              <a:t> </a:t>
            </a:r>
            <a:r>
              <a:rPr lang="zh-CN" altLang="en-US" sz="2800" dirty="0">
                <a:latin typeface="楷体" panose="02010609060101010101" charset="-122"/>
                <a:ea typeface="楷体" panose="02010609060101010101" charset="-122"/>
                <a:cs typeface="楷体" panose="02010609060101010101" charset="-122"/>
                <a:sym typeface="楷体" panose="02010609060101010101" charset="-122"/>
              </a:rPr>
              <a:t>对于</a:t>
            </a:r>
            <a:r>
              <a:rPr lang="en-US" altLang="zh-CN" sz="2800" dirty="0">
                <a:latin typeface="楷体" panose="02010609060101010101" charset="-122"/>
                <a:ea typeface="楷体" panose="02010609060101010101" charset="-122"/>
                <a:cs typeface="楷体" panose="02010609060101010101" charset="-122"/>
                <a:sym typeface="楷体" panose="02010609060101010101" charset="-122"/>
              </a:rPr>
              <a:t> </a:t>
            </a:r>
            <a:r>
              <a:rPr lang="zh-CN" altLang="en-US" sz="2800" dirty="0">
                <a:latin typeface="楷体" panose="02010609060101010101" charset="-122"/>
                <a:ea typeface="楷体" panose="02010609060101010101" charset="-122"/>
                <a:cs typeface="楷体" panose="02010609060101010101" charset="-122"/>
                <a:sym typeface="楷体" panose="02010609060101010101" charset="-122"/>
              </a:rPr>
              <a:t>运动器材</a:t>
            </a:r>
            <a:r>
              <a:rPr lang="en-US" altLang="zh-CN" sz="2800" dirty="0">
                <a:latin typeface="楷体" panose="02010609060101010101" charset="-122"/>
                <a:ea typeface="楷体" panose="02010609060101010101" charset="-122"/>
                <a:cs typeface="楷体" panose="02010609060101010101" charset="-122"/>
                <a:sym typeface="楷体" panose="02010609060101010101" charset="-122"/>
              </a:rPr>
              <a:t> </a:t>
            </a:r>
            <a:r>
              <a:rPr lang="zh-CN" altLang="en-US" sz="2800" dirty="0">
                <a:latin typeface="楷体" panose="02010609060101010101" charset="-122"/>
                <a:ea typeface="楷体" panose="02010609060101010101" charset="-122"/>
                <a:cs typeface="楷体" panose="02010609060101010101" charset="-122"/>
                <a:sym typeface="楷体" panose="02010609060101010101" charset="-122"/>
              </a:rPr>
              <a:t>相当于</a:t>
            </a:r>
            <a:r>
              <a:rPr lang="en-US" altLang="zh-CN" sz="2800" dirty="0">
                <a:latin typeface="楷体" panose="02010609060101010101" charset="-122"/>
                <a:ea typeface="楷体" panose="02010609060101010101" charset="-122"/>
                <a:cs typeface="楷体" panose="02010609060101010101" charset="-122"/>
                <a:sym typeface="楷体" panose="02010609060101010101" charset="-122"/>
              </a:rPr>
              <a:t> </a:t>
            </a:r>
            <a:r>
              <a:rPr lang="zh-CN" altLang="en-US" sz="2800" dirty="0">
                <a:latin typeface="楷体" panose="02010609060101010101" charset="-122"/>
                <a:ea typeface="楷体" panose="02010609060101010101" charset="-122"/>
                <a:cs typeface="楷体" panose="02010609060101010101" charset="-122"/>
                <a:sym typeface="楷体" panose="02010609060101010101" charset="-122"/>
              </a:rPr>
              <a:t>玫瑰</a:t>
            </a:r>
            <a:r>
              <a:rPr lang="en-US" altLang="zh-CN" sz="2800" dirty="0">
                <a:latin typeface="楷体" panose="02010609060101010101" charset="-122"/>
                <a:ea typeface="楷体" panose="02010609060101010101" charset="-122"/>
                <a:cs typeface="楷体" panose="02010609060101010101" charset="-122"/>
                <a:sym typeface="楷体" panose="02010609060101010101" charset="-122"/>
              </a:rPr>
              <a:t> </a:t>
            </a:r>
            <a:r>
              <a:rPr lang="zh-CN" altLang="en-US" sz="2800" dirty="0">
                <a:latin typeface="楷体" panose="02010609060101010101" charset="-122"/>
                <a:ea typeface="楷体" panose="02010609060101010101" charset="-122"/>
                <a:cs typeface="楷体" panose="02010609060101010101" charset="-122"/>
                <a:sym typeface="楷体" panose="02010609060101010101" charset="-122"/>
              </a:rPr>
              <a:t>对于</a:t>
            </a:r>
            <a:r>
              <a:rPr lang="en-US" altLang="zh-CN" sz="2800" dirty="0">
                <a:latin typeface="楷体" panose="02010609060101010101" charset="-122"/>
                <a:ea typeface="楷体" panose="02010609060101010101" charset="-122"/>
                <a:cs typeface="楷体" panose="02010609060101010101" charset="-122"/>
                <a:sym typeface="楷体" panose="02010609060101010101" charset="-122"/>
              </a:rPr>
              <a:t> </a:t>
            </a:r>
            <a:r>
              <a:rPr lang="zh-CN" altLang="en-US" sz="2800" dirty="0">
                <a:latin typeface="楷体" panose="02010609060101010101" charset="-122"/>
                <a:ea typeface="楷体" panose="02010609060101010101" charset="-122"/>
                <a:cs typeface="楷体" panose="02010609060101010101" charset="-122"/>
                <a:sym typeface="楷体" panose="02010609060101010101" charset="-122"/>
              </a:rPr>
              <a:t>（</a:t>
            </a:r>
            <a:r>
              <a:rPr lang="en-US" altLang="zh-CN" sz="2800" dirty="0">
                <a:latin typeface="楷体" panose="02010609060101010101" charset="-122"/>
                <a:ea typeface="楷体" panose="02010609060101010101" charset="-122"/>
                <a:cs typeface="楷体" panose="02010609060101010101" charset="-122"/>
                <a:sym typeface="楷体" panose="02010609060101010101" charset="-122"/>
              </a:rPr>
              <a:t> </a:t>
            </a:r>
            <a:r>
              <a:rPr lang="zh-CN" altLang="en-US" sz="2800" dirty="0">
                <a:latin typeface="楷体" panose="02010609060101010101" charset="-122"/>
                <a:ea typeface="楷体" panose="02010609060101010101" charset="-122"/>
                <a:cs typeface="楷体" panose="02010609060101010101" charset="-122"/>
                <a:sym typeface="楷体" panose="02010609060101010101" charset="-122"/>
              </a:rPr>
              <a:t>）</a:t>
            </a:r>
            <a:endParaRPr lang="zh-CN" altLang="en-US" sz="28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800" dirty="0">
                <a:latin typeface="楷体" panose="02010609060101010101" charset="-122"/>
                <a:ea typeface="楷体" panose="02010609060101010101" charset="-122"/>
                <a:cs typeface="楷体" panose="02010609060101010101" charset="-122"/>
                <a:sym typeface="楷体" panose="02010609060101010101" charset="-122"/>
              </a:rPr>
              <a:t>A.</a:t>
            </a:r>
            <a:r>
              <a:rPr lang="zh-CN" altLang="en-US" sz="2800" dirty="0">
                <a:latin typeface="楷体" panose="02010609060101010101" charset="-122"/>
                <a:ea typeface="楷体" panose="02010609060101010101" charset="-122"/>
                <a:cs typeface="楷体" panose="02010609060101010101" charset="-122"/>
                <a:sym typeface="楷体" panose="02010609060101010101" charset="-122"/>
              </a:rPr>
              <a:t>单杠</a:t>
            </a:r>
            <a:r>
              <a:rPr lang="en-US" altLang="zh-CN" sz="2800" dirty="0">
                <a:latin typeface="楷体" panose="02010609060101010101" charset="-122"/>
                <a:ea typeface="楷体" panose="02010609060101010101" charset="-122"/>
                <a:cs typeface="楷体" panose="02010609060101010101" charset="-122"/>
                <a:sym typeface="楷体" panose="02010609060101010101" charset="-122"/>
              </a:rPr>
              <a:t> </a:t>
            </a:r>
            <a:r>
              <a:rPr lang="zh-CN" altLang="en-US" sz="2800" dirty="0">
                <a:latin typeface="楷体" panose="02010609060101010101" charset="-122"/>
                <a:ea typeface="楷体" panose="02010609060101010101" charset="-122"/>
                <a:cs typeface="楷体" panose="02010609060101010101" charset="-122"/>
                <a:sym typeface="楷体" panose="02010609060101010101" charset="-122"/>
              </a:rPr>
              <a:t>爱情</a:t>
            </a:r>
            <a:r>
              <a:rPr lang="en-US" altLang="zh-CN" sz="2800" dirty="0">
                <a:latin typeface="楷体" panose="02010609060101010101" charset="-122"/>
                <a:ea typeface="楷体" panose="02010609060101010101" charset="-122"/>
                <a:cs typeface="楷体" panose="02010609060101010101" charset="-122"/>
                <a:sym typeface="楷体" panose="02010609060101010101" charset="-122"/>
              </a:rPr>
              <a:t> </a:t>
            </a:r>
            <a:endParaRPr lang="en-US" altLang="zh-CN" sz="28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800" dirty="0">
                <a:latin typeface="楷体" panose="02010609060101010101" charset="-122"/>
                <a:ea typeface="楷体" panose="02010609060101010101" charset="-122"/>
                <a:cs typeface="楷体" panose="02010609060101010101" charset="-122"/>
                <a:sym typeface="楷体" panose="02010609060101010101" charset="-122"/>
              </a:rPr>
              <a:t>B.</a:t>
            </a:r>
            <a:r>
              <a:rPr lang="zh-CN" altLang="en-US" sz="2800" dirty="0">
                <a:latin typeface="楷体" panose="02010609060101010101" charset="-122"/>
                <a:ea typeface="楷体" panose="02010609060101010101" charset="-122"/>
                <a:cs typeface="楷体" panose="02010609060101010101" charset="-122"/>
                <a:sym typeface="楷体" panose="02010609060101010101" charset="-122"/>
              </a:rPr>
              <a:t>哑铃</a:t>
            </a:r>
            <a:r>
              <a:rPr lang="en-US" altLang="zh-CN" sz="2800" dirty="0">
                <a:latin typeface="楷体" panose="02010609060101010101" charset="-122"/>
                <a:ea typeface="楷体" panose="02010609060101010101" charset="-122"/>
                <a:cs typeface="楷体" panose="02010609060101010101" charset="-122"/>
                <a:sym typeface="楷体" panose="02010609060101010101" charset="-122"/>
              </a:rPr>
              <a:t> </a:t>
            </a:r>
            <a:r>
              <a:rPr lang="zh-CN" altLang="en-US" sz="2800" dirty="0">
                <a:latin typeface="楷体" panose="02010609060101010101" charset="-122"/>
                <a:ea typeface="楷体" panose="02010609060101010101" charset="-122"/>
                <a:cs typeface="楷体" panose="02010609060101010101" charset="-122"/>
                <a:sym typeface="楷体" panose="02010609060101010101" charset="-122"/>
              </a:rPr>
              <a:t>花卉</a:t>
            </a:r>
            <a:r>
              <a:rPr lang="en-US" altLang="zh-CN" sz="2800" dirty="0">
                <a:latin typeface="楷体" panose="02010609060101010101" charset="-122"/>
                <a:ea typeface="楷体" panose="02010609060101010101" charset="-122"/>
                <a:cs typeface="楷体" panose="02010609060101010101" charset="-122"/>
                <a:sym typeface="楷体" panose="02010609060101010101" charset="-122"/>
              </a:rPr>
              <a:t> </a:t>
            </a:r>
            <a:endParaRPr lang="en-US" altLang="zh-CN" sz="28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800" dirty="0">
                <a:latin typeface="楷体" panose="02010609060101010101" charset="-122"/>
                <a:ea typeface="楷体" panose="02010609060101010101" charset="-122"/>
                <a:cs typeface="楷体" panose="02010609060101010101" charset="-122"/>
                <a:sym typeface="楷体" panose="02010609060101010101" charset="-122"/>
              </a:rPr>
              <a:t>C.</a:t>
            </a:r>
            <a:r>
              <a:rPr lang="zh-CN" altLang="en-US" sz="2800" dirty="0">
                <a:latin typeface="楷体" panose="02010609060101010101" charset="-122"/>
                <a:ea typeface="楷体" panose="02010609060101010101" charset="-122"/>
                <a:cs typeface="楷体" panose="02010609060101010101" charset="-122"/>
                <a:sym typeface="楷体" panose="02010609060101010101" charset="-122"/>
              </a:rPr>
              <a:t>健身</a:t>
            </a:r>
            <a:r>
              <a:rPr lang="en-US" altLang="zh-CN" sz="2800" dirty="0">
                <a:latin typeface="楷体" panose="02010609060101010101" charset="-122"/>
                <a:ea typeface="楷体" panose="02010609060101010101" charset="-122"/>
                <a:cs typeface="楷体" panose="02010609060101010101" charset="-122"/>
                <a:sym typeface="楷体" panose="02010609060101010101" charset="-122"/>
              </a:rPr>
              <a:t> </a:t>
            </a:r>
            <a:r>
              <a:rPr lang="zh-CN" altLang="en-US" sz="2800" dirty="0">
                <a:latin typeface="楷体" panose="02010609060101010101" charset="-122"/>
                <a:ea typeface="楷体" panose="02010609060101010101" charset="-122"/>
                <a:cs typeface="楷体" panose="02010609060101010101" charset="-122"/>
                <a:sym typeface="楷体" panose="02010609060101010101" charset="-122"/>
              </a:rPr>
              <a:t>精油</a:t>
            </a:r>
            <a:r>
              <a:rPr lang="en-US" altLang="zh-CN" sz="2800" dirty="0">
                <a:latin typeface="楷体" panose="02010609060101010101" charset="-122"/>
                <a:ea typeface="楷体" panose="02010609060101010101" charset="-122"/>
                <a:cs typeface="楷体" panose="02010609060101010101" charset="-122"/>
                <a:sym typeface="楷体" panose="02010609060101010101" charset="-122"/>
              </a:rPr>
              <a:t> </a:t>
            </a:r>
            <a:endParaRPr lang="en-US" altLang="zh-CN" sz="28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800" dirty="0">
                <a:latin typeface="楷体" panose="02010609060101010101" charset="-122"/>
                <a:ea typeface="楷体" panose="02010609060101010101" charset="-122"/>
                <a:cs typeface="楷体" panose="02010609060101010101" charset="-122"/>
                <a:sym typeface="楷体" panose="02010609060101010101" charset="-122"/>
              </a:rPr>
              <a:t>D.</a:t>
            </a:r>
            <a:r>
              <a:rPr lang="zh-CN" altLang="en-US" sz="2800" dirty="0">
                <a:latin typeface="楷体" panose="02010609060101010101" charset="-122"/>
                <a:ea typeface="楷体" panose="02010609060101010101" charset="-122"/>
                <a:cs typeface="楷体" panose="02010609060101010101" charset="-122"/>
                <a:sym typeface="楷体" panose="02010609060101010101" charset="-122"/>
              </a:rPr>
              <a:t>铸铁</a:t>
            </a:r>
            <a:r>
              <a:rPr lang="en-US" altLang="zh-CN" sz="2800" dirty="0">
                <a:latin typeface="楷体" panose="02010609060101010101" charset="-122"/>
                <a:ea typeface="楷体" panose="02010609060101010101" charset="-122"/>
                <a:cs typeface="楷体" panose="02010609060101010101" charset="-122"/>
                <a:sym typeface="楷体" panose="02010609060101010101" charset="-122"/>
              </a:rPr>
              <a:t> </a:t>
            </a:r>
            <a:r>
              <a:rPr lang="zh-CN" altLang="en-US" sz="2800" dirty="0">
                <a:latin typeface="楷体" panose="02010609060101010101" charset="-122"/>
                <a:ea typeface="楷体" panose="02010609060101010101" charset="-122"/>
                <a:cs typeface="楷体" panose="02010609060101010101" charset="-122"/>
                <a:sym typeface="楷体" panose="02010609060101010101" charset="-122"/>
              </a:rPr>
              <a:t>月季</a:t>
            </a:r>
            <a:endParaRPr lang="zh-CN" altLang="en-US" sz="2800" dirty="0">
              <a:latin typeface="楷体" panose="02010609060101010101" charset="-122"/>
              <a:ea typeface="楷体" panose="02010609060101010101" charset="-122"/>
              <a:cs typeface="楷体" panose="02010609060101010101" charset="-122"/>
              <a:sym typeface="楷体" panose="02010609060101010101" charset="-122"/>
            </a:endParaRPr>
          </a:p>
        </p:txBody>
      </p:sp>
    </p:spTree>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idx="4294967295"/>
          </p:nvPr>
        </p:nvSpPr>
        <p:spPr>
          <a:xfrm>
            <a:off x="608400" y="208350"/>
            <a:ext cx="10969200" cy="705600"/>
          </a:xfrm>
        </p:spPr>
        <p:txBody>
          <a:bodyPr/>
          <a:lstStyle/>
          <a:p>
            <a:pPr algn="l">
              <a:buClrTx/>
              <a:buSzTx/>
              <a:buFontTx/>
            </a:pPr>
            <a:r>
              <a:rPr kumimoji="1" lang="zh-CN" sz="3735" b="1" dirty="0">
                <a:solidFill>
                  <a:srgbClr val="FF653F"/>
                </a:solidFill>
                <a:latin typeface="+mj-lt"/>
                <a:ea typeface="+mj-lt"/>
                <a:cs typeface="+mj-lt"/>
              </a:rPr>
              <a:t>题</a:t>
            </a:r>
            <a:r>
              <a:rPr kumimoji="1" lang="en-US" altLang="zh-CN" sz="3735" b="1" dirty="0">
                <a:solidFill>
                  <a:srgbClr val="FF653F"/>
                </a:solidFill>
                <a:latin typeface="+mj-lt"/>
                <a:ea typeface="+mj-lt"/>
                <a:cs typeface="+mj-lt"/>
              </a:rPr>
              <a:t>105</a:t>
            </a:r>
            <a:endParaRPr kumimoji="1" lang="en-US" altLang="zh-CN" sz="3735" b="1" dirty="0">
              <a:solidFill>
                <a:srgbClr val="FF653F"/>
              </a:solidFill>
              <a:latin typeface="+mj-lt"/>
              <a:ea typeface="+mj-lt"/>
              <a:cs typeface="+mj-lt"/>
            </a:endParaRPr>
          </a:p>
        </p:txBody>
      </p:sp>
      <p:sp>
        <p:nvSpPr>
          <p:cNvPr id="4" name="文本框 3"/>
          <p:cNvSpPr txBox="1"/>
          <p:nvPr/>
        </p:nvSpPr>
        <p:spPr>
          <a:xfrm>
            <a:off x="608330" y="913765"/>
            <a:ext cx="10968355" cy="3322955"/>
          </a:xfrm>
          <a:prstGeom prst="rect">
            <a:avLst/>
          </a:prstGeom>
          <a:noFill/>
        </p:spPr>
        <p:txBody>
          <a:bodyPr wrap="square" rtlCol="0" anchor="t">
            <a:spAutoFit/>
          </a:bodyPr>
          <a:p>
            <a:pPr indent="0" algn="l" fontAlgn="auto">
              <a:lnSpc>
                <a:spcPct val="150000"/>
              </a:lnSpc>
            </a:pPr>
            <a:r>
              <a:rPr lang="zh-CN" altLang="en-US" sz="2800" dirty="0">
                <a:latin typeface="楷体" panose="02010609060101010101" charset="-122"/>
                <a:ea typeface="楷体" panose="02010609060101010101" charset="-122"/>
                <a:cs typeface="楷体" panose="02010609060101010101" charset="-122"/>
                <a:sym typeface="楷体" panose="02010609060101010101" charset="-122"/>
              </a:rPr>
              <a:t>（</a:t>
            </a:r>
            <a:r>
              <a:rPr lang="en-US" altLang="zh-CN" sz="2800" dirty="0">
                <a:latin typeface="楷体" panose="02010609060101010101" charset="-122"/>
                <a:ea typeface="楷体" panose="02010609060101010101" charset="-122"/>
                <a:cs typeface="楷体" panose="02010609060101010101" charset="-122"/>
                <a:sym typeface="楷体" panose="02010609060101010101" charset="-122"/>
              </a:rPr>
              <a:t> </a:t>
            </a:r>
            <a:r>
              <a:rPr lang="zh-CN" altLang="en-US" sz="2800" dirty="0">
                <a:latin typeface="楷体" panose="02010609060101010101" charset="-122"/>
                <a:ea typeface="楷体" panose="02010609060101010101" charset="-122"/>
                <a:cs typeface="楷体" panose="02010609060101010101" charset="-122"/>
                <a:sym typeface="楷体" panose="02010609060101010101" charset="-122"/>
              </a:rPr>
              <a:t>）</a:t>
            </a:r>
            <a:r>
              <a:rPr lang="en-US" altLang="zh-CN" sz="2800" dirty="0">
                <a:latin typeface="楷体" panose="02010609060101010101" charset="-122"/>
                <a:ea typeface="楷体" panose="02010609060101010101" charset="-122"/>
                <a:cs typeface="楷体" panose="02010609060101010101" charset="-122"/>
                <a:sym typeface="楷体" panose="02010609060101010101" charset="-122"/>
              </a:rPr>
              <a:t> </a:t>
            </a:r>
            <a:r>
              <a:rPr lang="zh-CN" altLang="en-US" sz="2800" dirty="0">
                <a:latin typeface="楷体" panose="02010609060101010101" charset="-122"/>
                <a:ea typeface="楷体" panose="02010609060101010101" charset="-122"/>
                <a:cs typeface="楷体" panose="02010609060101010101" charset="-122"/>
                <a:sym typeface="楷体" panose="02010609060101010101" charset="-122"/>
              </a:rPr>
              <a:t>对于</a:t>
            </a:r>
            <a:r>
              <a:rPr lang="en-US" altLang="zh-CN" sz="2800" dirty="0">
                <a:latin typeface="楷体" panose="02010609060101010101" charset="-122"/>
                <a:ea typeface="楷体" panose="02010609060101010101" charset="-122"/>
                <a:cs typeface="楷体" panose="02010609060101010101" charset="-122"/>
                <a:sym typeface="楷体" panose="02010609060101010101" charset="-122"/>
              </a:rPr>
              <a:t> </a:t>
            </a:r>
            <a:r>
              <a:rPr lang="zh-CN" altLang="en-US" sz="2800" dirty="0">
                <a:latin typeface="楷体" panose="02010609060101010101" charset="-122"/>
                <a:ea typeface="楷体" panose="02010609060101010101" charset="-122"/>
                <a:cs typeface="楷体" panose="02010609060101010101" charset="-122"/>
                <a:sym typeface="楷体" panose="02010609060101010101" charset="-122"/>
              </a:rPr>
              <a:t>众志成城</a:t>
            </a:r>
            <a:r>
              <a:rPr lang="en-US" altLang="zh-CN" sz="2800" dirty="0">
                <a:latin typeface="楷体" panose="02010609060101010101" charset="-122"/>
                <a:ea typeface="楷体" panose="02010609060101010101" charset="-122"/>
                <a:cs typeface="楷体" panose="02010609060101010101" charset="-122"/>
                <a:sym typeface="楷体" panose="02010609060101010101" charset="-122"/>
              </a:rPr>
              <a:t> </a:t>
            </a:r>
            <a:r>
              <a:rPr lang="zh-CN" altLang="en-US" sz="2800" dirty="0">
                <a:latin typeface="楷体" panose="02010609060101010101" charset="-122"/>
                <a:ea typeface="楷体" panose="02010609060101010101" charset="-122"/>
                <a:cs typeface="楷体" panose="02010609060101010101" charset="-122"/>
                <a:sym typeface="楷体" panose="02010609060101010101" charset="-122"/>
              </a:rPr>
              <a:t>相当于</a:t>
            </a:r>
            <a:r>
              <a:rPr lang="en-US" altLang="zh-CN" sz="2800" dirty="0">
                <a:latin typeface="楷体" panose="02010609060101010101" charset="-122"/>
                <a:ea typeface="楷体" panose="02010609060101010101" charset="-122"/>
                <a:cs typeface="楷体" panose="02010609060101010101" charset="-122"/>
                <a:sym typeface="楷体" panose="02010609060101010101" charset="-122"/>
              </a:rPr>
              <a:t> </a:t>
            </a:r>
            <a:r>
              <a:rPr lang="zh-CN" altLang="en-US" sz="2800" dirty="0">
                <a:latin typeface="楷体" panose="02010609060101010101" charset="-122"/>
                <a:ea typeface="楷体" panose="02010609060101010101" charset="-122"/>
                <a:cs typeface="楷体" panose="02010609060101010101" charset="-122"/>
                <a:sym typeface="楷体" panose="02010609060101010101" charset="-122"/>
              </a:rPr>
              <a:t>拒谏饰非</a:t>
            </a:r>
            <a:r>
              <a:rPr lang="en-US" altLang="zh-CN" sz="2800" dirty="0">
                <a:latin typeface="楷体" panose="02010609060101010101" charset="-122"/>
                <a:ea typeface="楷体" panose="02010609060101010101" charset="-122"/>
                <a:cs typeface="楷体" panose="02010609060101010101" charset="-122"/>
                <a:sym typeface="楷体" panose="02010609060101010101" charset="-122"/>
              </a:rPr>
              <a:t> </a:t>
            </a:r>
            <a:r>
              <a:rPr lang="zh-CN" altLang="en-US" sz="2800" dirty="0">
                <a:latin typeface="楷体" panose="02010609060101010101" charset="-122"/>
                <a:ea typeface="楷体" panose="02010609060101010101" charset="-122"/>
                <a:cs typeface="楷体" panose="02010609060101010101" charset="-122"/>
                <a:sym typeface="楷体" panose="02010609060101010101" charset="-122"/>
              </a:rPr>
              <a:t>对于</a:t>
            </a:r>
            <a:r>
              <a:rPr lang="en-US" altLang="zh-CN" sz="2800" dirty="0">
                <a:latin typeface="楷体" panose="02010609060101010101" charset="-122"/>
                <a:ea typeface="楷体" panose="02010609060101010101" charset="-122"/>
                <a:cs typeface="楷体" panose="02010609060101010101" charset="-122"/>
                <a:sym typeface="楷体" panose="02010609060101010101" charset="-122"/>
              </a:rPr>
              <a:t> </a:t>
            </a:r>
            <a:r>
              <a:rPr lang="zh-CN" altLang="en-US" sz="2800" dirty="0">
                <a:latin typeface="楷体" panose="02010609060101010101" charset="-122"/>
                <a:ea typeface="楷体" panose="02010609060101010101" charset="-122"/>
                <a:cs typeface="楷体" panose="02010609060101010101" charset="-122"/>
                <a:sym typeface="楷体" panose="02010609060101010101" charset="-122"/>
              </a:rPr>
              <a:t>（</a:t>
            </a:r>
            <a:r>
              <a:rPr lang="en-US" altLang="zh-CN" sz="2800" dirty="0">
                <a:latin typeface="楷体" panose="02010609060101010101" charset="-122"/>
                <a:ea typeface="楷体" panose="02010609060101010101" charset="-122"/>
                <a:cs typeface="楷体" panose="02010609060101010101" charset="-122"/>
                <a:sym typeface="楷体" panose="02010609060101010101" charset="-122"/>
              </a:rPr>
              <a:t> </a:t>
            </a:r>
            <a:r>
              <a:rPr lang="zh-CN" altLang="en-US" sz="2800" dirty="0">
                <a:latin typeface="楷体" panose="02010609060101010101" charset="-122"/>
                <a:ea typeface="楷体" panose="02010609060101010101" charset="-122"/>
                <a:cs typeface="楷体" panose="02010609060101010101" charset="-122"/>
                <a:sym typeface="楷体" panose="02010609060101010101" charset="-122"/>
              </a:rPr>
              <a:t>）</a:t>
            </a:r>
            <a:endParaRPr lang="zh-CN" altLang="en-US" sz="28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800" dirty="0">
                <a:latin typeface="楷体" panose="02010609060101010101" charset="-122"/>
                <a:ea typeface="楷体" panose="02010609060101010101" charset="-122"/>
                <a:cs typeface="楷体" panose="02010609060101010101" charset="-122"/>
                <a:sym typeface="楷体" panose="02010609060101010101" charset="-122"/>
              </a:rPr>
              <a:t>A.</a:t>
            </a:r>
            <a:r>
              <a:rPr lang="zh-CN" altLang="en-US" sz="2800" dirty="0">
                <a:latin typeface="楷体" panose="02010609060101010101" charset="-122"/>
                <a:ea typeface="楷体" panose="02010609060101010101" charset="-122"/>
                <a:cs typeface="楷体" panose="02010609060101010101" charset="-122"/>
                <a:sym typeface="楷体" panose="02010609060101010101" charset="-122"/>
              </a:rPr>
              <a:t>孤掌难鸣</a:t>
            </a:r>
            <a:r>
              <a:rPr lang="en-US" altLang="zh-CN" sz="2800" dirty="0">
                <a:latin typeface="楷体" panose="02010609060101010101" charset="-122"/>
                <a:ea typeface="楷体" panose="02010609060101010101" charset="-122"/>
                <a:cs typeface="楷体" panose="02010609060101010101" charset="-122"/>
                <a:sym typeface="楷体" panose="02010609060101010101" charset="-122"/>
              </a:rPr>
              <a:t> </a:t>
            </a:r>
            <a:r>
              <a:rPr lang="zh-CN" altLang="en-US" sz="2800" dirty="0">
                <a:latin typeface="楷体" panose="02010609060101010101" charset="-122"/>
                <a:ea typeface="楷体" panose="02010609060101010101" charset="-122"/>
                <a:cs typeface="楷体" panose="02010609060101010101" charset="-122"/>
                <a:sym typeface="楷体" panose="02010609060101010101" charset="-122"/>
              </a:rPr>
              <a:t>广开言路</a:t>
            </a:r>
            <a:r>
              <a:rPr lang="en-US" altLang="zh-CN" sz="2800" dirty="0">
                <a:latin typeface="楷体" panose="02010609060101010101" charset="-122"/>
                <a:ea typeface="楷体" panose="02010609060101010101" charset="-122"/>
                <a:cs typeface="楷体" panose="02010609060101010101" charset="-122"/>
                <a:sym typeface="楷体" panose="02010609060101010101" charset="-122"/>
              </a:rPr>
              <a:t> </a:t>
            </a:r>
            <a:endParaRPr lang="en-US" altLang="zh-CN" sz="28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800" dirty="0">
                <a:latin typeface="楷体" panose="02010609060101010101" charset="-122"/>
                <a:ea typeface="楷体" panose="02010609060101010101" charset="-122"/>
                <a:cs typeface="楷体" panose="02010609060101010101" charset="-122"/>
                <a:sym typeface="楷体" panose="02010609060101010101" charset="-122"/>
              </a:rPr>
              <a:t>B.</a:t>
            </a:r>
            <a:r>
              <a:rPr lang="zh-CN" altLang="en-US" sz="2800" dirty="0">
                <a:latin typeface="楷体" panose="02010609060101010101" charset="-122"/>
                <a:ea typeface="楷体" panose="02010609060101010101" charset="-122"/>
                <a:cs typeface="楷体" panose="02010609060101010101" charset="-122"/>
                <a:sym typeface="楷体" panose="02010609060101010101" charset="-122"/>
              </a:rPr>
              <a:t>寸积铢累</a:t>
            </a:r>
            <a:r>
              <a:rPr lang="en-US" altLang="zh-CN" sz="2800" dirty="0">
                <a:latin typeface="楷体" panose="02010609060101010101" charset="-122"/>
                <a:ea typeface="楷体" panose="02010609060101010101" charset="-122"/>
                <a:cs typeface="楷体" panose="02010609060101010101" charset="-122"/>
                <a:sym typeface="楷体" panose="02010609060101010101" charset="-122"/>
              </a:rPr>
              <a:t> </a:t>
            </a:r>
            <a:r>
              <a:rPr lang="zh-CN" altLang="en-US" sz="2800" dirty="0">
                <a:latin typeface="楷体" panose="02010609060101010101" charset="-122"/>
                <a:ea typeface="楷体" panose="02010609060101010101" charset="-122"/>
                <a:cs typeface="楷体" panose="02010609060101010101" charset="-122"/>
                <a:sym typeface="楷体" panose="02010609060101010101" charset="-122"/>
              </a:rPr>
              <a:t>从谏如流</a:t>
            </a:r>
            <a:r>
              <a:rPr lang="en-US" altLang="zh-CN" sz="2800" dirty="0">
                <a:latin typeface="楷体" panose="02010609060101010101" charset="-122"/>
                <a:ea typeface="楷体" panose="02010609060101010101" charset="-122"/>
                <a:cs typeface="楷体" panose="02010609060101010101" charset="-122"/>
                <a:sym typeface="楷体" panose="02010609060101010101" charset="-122"/>
              </a:rPr>
              <a:t> </a:t>
            </a:r>
            <a:endParaRPr lang="en-US" altLang="zh-CN" sz="28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800" dirty="0">
                <a:latin typeface="楷体" panose="02010609060101010101" charset="-122"/>
                <a:ea typeface="楷体" panose="02010609060101010101" charset="-122"/>
                <a:cs typeface="楷体" panose="02010609060101010101" charset="-122"/>
                <a:sym typeface="楷体" panose="02010609060101010101" charset="-122"/>
              </a:rPr>
              <a:t>C.</a:t>
            </a:r>
            <a:r>
              <a:rPr lang="zh-CN" altLang="en-US" sz="2800" dirty="0">
                <a:latin typeface="楷体" panose="02010609060101010101" charset="-122"/>
                <a:ea typeface="楷体" panose="02010609060101010101" charset="-122"/>
                <a:cs typeface="楷体" panose="02010609060101010101" charset="-122"/>
                <a:sym typeface="楷体" panose="02010609060101010101" charset="-122"/>
              </a:rPr>
              <a:t>众擎易举</a:t>
            </a:r>
            <a:r>
              <a:rPr lang="en-US" altLang="zh-CN" sz="2800" dirty="0">
                <a:latin typeface="楷体" panose="02010609060101010101" charset="-122"/>
                <a:ea typeface="楷体" panose="02010609060101010101" charset="-122"/>
                <a:cs typeface="楷体" panose="02010609060101010101" charset="-122"/>
                <a:sym typeface="楷体" panose="02010609060101010101" charset="-122"/>
              </a:rPr>
              <a:t> </a:t>
            </a:r>
            <a:r>
              <a:rPr lang="zh-CN" altLang="en-US" sz="2800" dirty="0">
                <a:latin typeface="楷体" panose="02010609060101010101" charset="-122"/>
                <a:ea typeface="楷体" panose="02010609060101010101" charset="-122"/>
                <a:cs typeface="楷体" panose="02010609060101010101" charset="-122"/>
                <a:sym typeface="楷体" panose="02010609060101010101" charset="-122"/>
              </a:rPr>
              <a:t>集思广益</a:t>
            </a:r>
            <a:r>
              <a:rPr lang="en-US" altLang="zh-CN" sz="2800" dirty="0">
                <a:latin typeface="楷体" panose="02010609060101010101" charset="-122"/>
                <a:ea typeface="楷体" panose="02010609060101010101" charset="-122"/>
                <a:cs typeface="楷体" panose="02010609060101010101" charset="-122"/>
                <a:sym typeface="楷体" panose="02010609060101010101" charset="-122"/>
              </a:rPr>
              <a:t> </a:t>
            </a:r>
            <a:endParaRPr lang="en-US" altLang="zh-CN" sz="28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800" dirty="0">
                <a:latin typeface="楷体" panose="02010609060101010101" charset="-122"/>
                <a:ea typeface="楷体" panose="02010609060101010101" charset="-122"/>
                <a:cs typeface="楷体" panose="02010609060101010101" charset="-122"/>
                <a:sym typeface="楷体" panose="02010609060101010101" charset="-122"/>
              </a:rPr>
              <a:t>D.</a:t>
            </a:r>
            <a:r>
              <a:rPr lang="zh-CN" altLang="en-US" sz="2800" dirty="0">
                <a:latin typeface="楷体" panose="02010609060101010101" charset="-122"/>
                <a:ea typeface="楷体" panose="02010609060101010101" charset="-122"/>
                <a:cs typeface="楷体" panose="02010609060101010101" charset="-122"/>
                <a:sym typeface="楷体" panose="02010609060101010101" charset="-122"/>
              </a:rPr>
              <a:t>独木难支</a:t>
            </a:r>
            <a:r>
              <a:rPr lang="en-US" altLang="zh-CN" sz="2800" dirty="0">
                <a:latin typeface="楷体" panose="02010609060101010101" charset="-122"/>
                <a:ea typeface="楷体" panose="02010609060101010101" charset="-122"/>
                <a:cs typeface="楷体" panose="02010609060101010101" charset="-122"/>
                <a:sym typeface="楷体" panose="02010609060101010101" charset="-122"/>
              </a:rPr>
              <a:t> </a:t>
            </a:r>
            <a:r>
              <a:rPr lang="zh-CN" altLang="en-US" sz="2800" dirty="0">
                <a:latin typeface="楷体" panose="02010609060101010101" charset="-122"/>
                <a:ea typeface="楷体" panose="02010609060101010101" charset="-122"/>
                <a:cs typeface="楷体" panose="02010609060101010101" charset="-122"/>
                <a:sym typeface="楷体" panose="02010609060101010101" charset="-122"/>
              </a:rPr>
              <a:t>闭目塞听</a:t>
            </a:r>
            <a:endParaRPr lang="zh-CN" altLang="en-US" sz="2800" dirty="0">
              <a:latin typeface="楷体" panose="02010609060101010101" charset="-122"/>
              <a:ea typeface="楷体" panose="02010609060101010101" charset="-122"/>
              <a:cs typeface="楷体" panose="02010609060101010101" charset="-122"/>
              <a:sym typeface="楷体" panose="02010609060101010101" charset="-122"/>
            </a:endParaRPr>
          </a:p>
        </p:txBody>
      </p:sp>
    </p:spTree>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descr="徽标&#10;&#10;AI 生成的内容可能不正确。"/>
          <p:cNvPicPr>
            <a:picLocks noChangeAspect="1"/>
          </p:cNvPicPr>
          <p:nvPr/>
        </p:nvPicPr>
        <p:blipFill>
          <a:blip r:embed="rId1"/>
          <a:srcRect t="9991" b="18252"/>
          <a:stretch>
            <a:fillRect/>
          </a:stretch>
        </p:blipFill>
        <p:spPr>
          <a:xfrm>
            <a:off x="4437879" y="883627"/>
            <a:ext cx="2976453" cy="950430"/>
          </a:xfrm>
          <a:prstGeom prst="rect">
            <a:avLst/>
          </a:prstGeom>
        </p:spPr>
      </p:pic>
      <p:sp>
        <p:nvSpPr>
          <p:cNvPr id="4" name="文本框 3"/>
          <p:cNvSpPr txBox="1"/>
          <p:nvPr/>
        </p:nvSpPr>
        <p:spPr>
          <a:xfrm>
            <a:off x="4844561" y="2711751"/>
            <a:ext cx="2795954" cy="769441"/>
          </a:xfrm>
          <a:prstGeom prst="rect">
            <a:avLst/>
          </a:prstGeom>
          <a:noFill/>
        </p:spPr>
        <p:txBody>
          <a:bodyPr wrap="square" rtlCol="0">
            <a:spAutoFit/>
          </a:bodyPr>
          <a:lstStyle/>
          <a:p>
            <a:r>
              <a:rPr kumimoji="1" lang="zh-CN" altLang="en-US" sz="4400" b="1" dirty="0">
                <a:solidFill>
                  <a:srgbClr val="DC5037"/>
                </a:solidFill>
                <a:latin typeface="楷体" panose="02010609060101010101" charset="-122"/>
                <a:ea typeface="楷体" panose="02010609060101010101" charset="-122"/>
                <a:cs typeface="楷体" panose="02010609060101010101" charset="-122"/>
              </a:rPr>
              <a:t>感谢收看！</a:t>
            </a:r>
            <a:endParaRPr kumimoji="1" lang="zh-CN" altLang="en-US" sz="4400" b="1" dirty="0">
              <a:solidFill>
                <a:srgbClr val="DC5037"/>
              </a:solidFill>
              <a:latin typeface="楷体" panose="02010609060101010101" charset="-122"/>
              <a:ea typeface="楷体" panose="02010609060101010101" charset="-122"/>
              <a:cs typeface="楷体" panose="02010609060101010101" charset="-122"/>
            </a:endParaRPr>
          </a:p>
        </p:txBody>
      </p:sp>
    </p:spTree>
  </p:cSld>
  <p:clrMapOvr>
    <a:masterClrMapping/>
  </p:clrMapOvr>
</p:sld>
</file>

<file path=ppt/tags/tag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3.xml><?xml version="1.0" encoding="utf-8"?>
<p:tagLst xmlns:p="http://schemas.openxmlformats.org/presentationml/2006/main">
  <p:tag name="KSO_WM_TEMPLATE_THUMBS_INDEX" val="1、4、7、12、13、14、15、16、17、18、20、24、25、28、33、36、40、43、44"/>
  <p:tag name="KSO_WM_TEMPLATE_SUBCATEGORY" val="19"/>
  <p:tag name="KSO_WM_TAG_VERSION" val="1.0"/>
  <p:tag name="KSO_WM_BEAUTIFY_FLAG" val="#wm#"/>
  <p:tag name="KSO_WM_TEMPLATE_CATEGORY" val="custom"/>
  <p:tag name="KSO_WM_TEMPLATE_INDEX" val="20205081"/>
  <p:tag name="KSO_WM_TEMPLATE_MASTER_TYPE" val="0"/>
  <p:tag name="KSO_WM_TEMPLATE_COLOR_TYPE" val="1"/>
  <p:tag name="KSO_WM_UNIT_SHOW_EDIT_AREA_INDICATION" val="1"/>
</p:tagLst>
</file>

<file path=ppt/tags/tag4.xml><?xml version="1.0" encoding="utf-8"?>
<p:tagLst xmlns:p="http://schemas.openxmlformats.org/presentationml/2006/main">
  <p:tag name="resource_record_key" val="{&quot;13&quot;:[20481828,4364903,4364924],&quot;65&quot;:[20205081]}"/>
</p:tagLst>
</file>

<file path=ppt/theme/theme1.xml><?xml version="1.0" encoding="utf-8"?>
<a:theme xmlns:a="http://schemas.openxmlformats.org/drawingml/2006/main" name="自定义设计方案">
  <a:themeElements>
    <a:clrScheme name="WPS">
      <a:dk1>
        <a:sysClr val="windowText" lastClr="000000"/>
      </a:dk1>
      <a:lt1>
        <a:sysClr val="window" lastClr="FFFFFF"/>
      </a:lt1>
      <a:dk2>
        <a:srgbClr val="44546A"/>
      </a:dk2>
      <a:lt2>
        <a:srgbClr val="E7E6E6"/>
      </a:lt2>
      <a:accent1>
        <a:srgbClr val="4874CB"/>
      </a:accent1>
      <a:accent2>
        <a:srgbClr val="EE822F"/>
      </a:accent2>
      <a:accent3>
        <a:srgbClr val="F2BA02"/>
      </a:accent3>
      <a:accent4>
        <a:srgbClr val="75BD42"/>
      </a:accent4>
      <a:accent5>
        <a:srgbClr val="30C0B4"/>
      </a:accent5>
      <a:accent6>
        <a:srgbClr val="E54C5E"/>
      </a:accent6>
      <a:hlink>
        <a:srgbClr val="0026E5"/>
      </a:hlink>
      <a:folHlink>
        <a:srgbClr val="7E1FAD"/>
      </a:folHlink>
    </a:clrScheme>
    <a:fontScheme name="WPS">
      <a:majorFont>
        <a:latin typeface="楷体"/>
        <a:ea typeface="楷体"/>
        <a:cs typeface=""/>
      </a:majorFont>
      <a:minorFont>
        <a:latin typeface="楷体"/>
        <a:ea typeface="楷体"/>
        <a:cs typeface=""/>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楷体"/>
        <a:ea typeface=""/>
        <a:cs typeface=""/>
        <a:font script="Jpan" typeface="ＭＳ Ｐゴシック"/>
        <a:font script="Hang" typeface="맑은 고딕"/>
        <a:font script="Hans" typeface="楷体"/>
        <a:font script="Hant" typeface="新細明體"/>
        <a:font script="Arab" typeface="楷体"/>
        <a:font script="Hebr" typeface="楷体"/>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楷体"/>
        <a:font script="Uigh" typeface="Microsoft Uighur"/>
        <a:font script="Geor" typeface="Sylfaen"/>
      </a:majorFont>
      <a:minorFont>
        <a:latin typeface="楷体"/>
        <a:ea typeface=""/>
        <a:cs typeface=""/>
        <a:font script="Jpan" typeface="ＭＳ Ｐゴシック"/>
        <a:font script="Hang" typeface="맑은 고딕"/>
        <a:font script="Hans" typeface="楷体"/>
        <a:font script="Hant" typeface="新細明體"/>
        <a:font script="Arab" typeface="楷体"/>
        <a:font script="Hebr" typeface="楷体"/>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楷体"/>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楷体"/>
        <a:ea typeface=""/>
        <a:cs typeface=""/>
        <a:font script="Jpan" typeface="ＭＳ Ｐゴシック"/>
        <a:font script="Hang" typeface="맑은 고딕"/>
        <a:font script="Hans" typeface="楷体"/>
        <a:font script="Hant" typeface="新細明體"/>
        <a:font script="Arab" typeface="楷体"/>
        <a:font script="Hebr" typeface="楷体"/>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楷体"/>
        <a:font script="Uigh" typeface="Microsoft Uighur"/>
        <a:font script="Geor" typeface="Sylfaen"/>
      </a:majorFont>
      <a:minorFont>
        <a:latin typeface="楷体"/>
        <a:ea typeface=""/>
        <a:cs typeface=""/>
        <a:font script="Jpan" typeface="ＭＳ Ｐゴシック"/>
        <a:font script="Hang" typeface="맑은 고딕"/>
        <a:font script="Hans" typeface="楷体"/>
        <a:font script="Hant" typeface="新細明體"/>
        <a:font script="Arab" typeface="楷体"/>
        <a:font script="Hebr" typeface="楷体"/>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楷体"/>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6583</Words>
  <Application>WPS 演示</Application>
  <PresentationFormat>宽屏</PresentationFormat>
  <Paragraphs>320</Paragraphs>
  <Slides>37</Slides>
  <Notes>4</Notes>
  <HiddenSlides>0</HiddenSlides>
  <MMClips>0</MMClips>
  <ScaleCrop>false</ScaleCrop>
  <HeadingPairs>
    <vt:vector size="6" baseType="variant">
      <vt:variant>
        <vt:lpstr>已用的字体</vt:lpstr>
      </vt:variant>
      <vt:variant>
        <vt:i4>8</vt:i4>
      </vt:variant>
      <vt:variant>
        <vt:lpstr>主题</vt:lpstr>
      </vt:variant>
      <vt:variant>
        <vt:i4>1</vt:i4>
      </vt:variant>
      <vt:variant>
        <vt:lpstr>幻灯片标题</vt:lpstr>
      </vt:variant>
      <vt:variant>
        <vt:i4>37</vt:i4>
      </vt:variant>
    </vt:vector>
  </HeadingPairs>
  <TitlesOfParts>
    <vt:vector size="46" baseType="lpstr">
      <vt:lpstr>Arial</vt:lpstr>
      <vt:lpstr>宋体</vt:lpstr>
      <vt:lpstr>Wingdings</vt:lpstr>
      <vt:lpstr>楷体</vt:lpstr>
      <vt:lpstr>Wingdings</vt:lpstr>
      <vt:lpstr>微软雅黑 Light</vt:lpstr>
      <vt:lpstr>微软雅黑</vt:lpstr>
      <vt:lpstr>Arial Unicode MS</vt:lpstr>
      <vt:lpstr>自定义设计方案</vt:lpstr>
      <vt:lpstr>PowerPoint 演示文稿</vt:lpstr>
      <vt:lpstr>题71</vt:lpstr>
      <vt:lpstr>题72</vt:lpstr>
      <vt:lpstr>题73</vt:lpstr>
      <vt:lpstr>题74</vt:lpstr>
      <vt:lpstr>题75</vt:lpstr>
      <vt:lpstr>题76</vt:lpstr>
      <vt:lpstr>题77</vt:lpstr>
      <vt:lpstr>题78</vt:lpstr>
      <vt:lpstr>题79</vt:lpstr>
      <vt:lpstr>题80</vt:lpstr>
      <vt:lpstr>题81</vt:lpstr>
      <vt:lpstr>题82</vt:lpstr>
      <vt:lpstr>题83</vt:lpstr>
      <vt:lpstr>题84</vt:lpstr>
      <vt:lpstr>题85</vt:lpstr>
      <vt:lpstr>题86</vt:lpstr>
      <vt:lpstr>题87</vt:lpstr>
      <vt:lpstr>题88</vt:lpstr>
      <vt:lpstr>题89</vt:lpstr>
      <vt:lpstr>题90</vt:lpstr>
      <vt:lpstr>题91</vt:lpstr>
      <vt:lpstr>题92</vt:lpstr>
      <vt:lpstr>题93</vt:lpstr>
      <vt:lpstr>题94</vt:lpstr>
      <vt:lpstr>题95</vt:lpstr>
      <vt:lpstr>题61</vt:lpstr>
      <vt:lpstr>题62</vt:lpstr>
      <vt:lpstr>题63</vt:lpstr>
      <vt:lpstr>题64</vt:lpstr>
      <vt:lpstr>题65</vt:lpstr>
      <vt:lpstr>题66</vt:lpstr>
      <vt:lpstr>题67</vt:lpstr>
      <vt:lpstr>题68</vt:lpstr>
      <vt:lpstr>题69</vt:lpstr>
      <vt:lpstr>题70</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空白演示</dc:title>
  <dc:creator/>
  <cp:lastModifiedBy>桑桑</cp:lastModifiedBy>
  <cp:revision>232</cp:revision>
  <dcterms:created xsi:type="dcterms:W3CDTF">2019-06-19T02:08:00Z</dcterms:created>
  <dcterms:modified xsi:type="dcterms:W3CDTF">2025-12-29T06:26:44Z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2052-12.1.0.24034</vt:lpwstr>
  </property>
  <property fmtid="{D5CDD505-2E9C-101B-9397-08002B2CF9AE}" pid="3" name="ICV">
    <vt:lpwstr>7E0F0589F6D94CFE8A4BC2AEA01394FF_11</vt:lpwstr>
  </property>
</Properties>
</file>