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1794" r:id="rId3"/>
    <p:sldId id="1823" r:id="rId5"/>
    <p:sldId id="1824" r:id="rId6"/>
    <p:sldId id="1825" r:id="rId7"/>
    <p:sldId id="1826" r:id="rId8"/>
    <p:sldId id="1827" r:id="rId9"/>
    <p:sldId id="1828" r:id="rId10"/>
    <p:sldId id="1829" r:id="rId11"/>
    <p:sldId id="1830" r:id="rId12"/>
    <p:sldId id="1831" r:id="rId13"/>
    <p:sldId id="1832" r:id="rId14"/>
    <p:sldId id="1833" r:id="rId15"/>
    <p:sldId id="1834" r:id="rId16"/>
    <p:sldId id="1835" r:id="rId17"/>
    <p:sldId id="1836" r:id="rId18"/>
    <p:sldId id="1837" r:id="rId19"/>
    <p:sldId id="1838" r:id="rId20"/>
    <p:sldId id="1839" r:id="rId21"/>
    <p:sldId id="1840" r:id="rId22"/>
    <p:sldId id="1841" r:id="rId23"/>
    <p:sldId id="1842" r:id="rId24"/>
    <p:sldId id="1843" r:id="rId25"/>
    <p:sldId id="1844" r:id="rId26"/>
    <p:sldId id="1845" r:id="rId27"/>
    <p:sldId id="1846" r:id="rId28"/>
    <p:sldId id="1847" r:id="rId29"/>
    <p:sldId id="1848" r:id="rId30"/>
    <p:sldId id="1849" r:id="rId31"/>
    <p:sldId id="1850" r:id="rId32"/>
    <p:sldId id="1851" r:id="rId33"/>
    <p:sldId id="1852" r:id="rId34"/>
    <p:sldId id="1853" r:id="rId35"/>
    <p:sldId id="1854" r:id="rId36"/>
    <p:sldId id="1855" r:id="rId37"/>
    <p:sldId id="1856" r:id="rId38"/>
    <p:sldId id="1857" r:id="rId39"/>
    <p:sldId id="1796"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667521689" name="小蕊" initials="小"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5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4.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元素组成基本相同，优先考虑位置规律。观察发现，如下图所示，题干每幅图中的虚线依次顺时针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移动其半条边长的距离，长实线依次向上循环移动其半条边长的距离，</a:t>
            </a:r>
            <a:r>
              <a:rPr lang="en-US" altLang="zh-CN" sz="1200" kern="1200" dirty="0">
                <a:solidFill>
                  <a:schemeClr val="tx1"/>
                </a:solidFill>
                <a:effectLst/>
                <a:latin typeface="+mn-lt"/>
                <a:ea typeface="+mn-ea"/>
              </a:rPr>
              <a:t>“U”</a:t>
            </a:r>
            <a:r>
              <a:rPr lang="zh-CN" altLang="en-US" sz="1200" kern="1200" dirty="0">
                <a:solidFill>
                  <a:schemeClr val="tx1"/>
                </a:solidFill>
                <a:effectLst/>
                <a:latin typeface="+mn-lt"/>
                <a:ea typeface="+mn-ea"/>
              </a:rPr>
              <a:t>字形图形依次顺时针旋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转</a:t>
            </a:r>
            <a:r>
              <a:rPr lang="en-US" altLang="zh-CN" sz="1200" kern="1200" dirty="0">
                <a:solidFill>
                  <a:schemeClr val="tx1"/>
                </a:solidFill>
                <a:effectLst/>
                <a:latin typeface="+mn-lt"/>
                <a:ea typeface="+mn-ea"/>
              </a:rPr>
              <a:t> 90</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，只有</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项符合规律。</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元素组成不同，且无明显属性规律，考虑数量规律。观察发现，题干图形均由黑球和白球构成，且</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黑白球分割明显，考虑部分数。题干图形中，黑球部分数依次为</a:t>
            </a:r>
            <a:r>
              <a:rPr lang="en-US" altLang="zh-CN" sz="1200" kern="1200" dirty="0">
                <a:solidFill>
                  <a:schemeClr val="tx1"/>
                </a:solidFill>
                <a:effectLst/>
                <a:latin typeface="+mn-lt"/>
                <a:ea typeface="+mn-ea"/>
              </a:rPr>
              <a:t> 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，白球部分数依次为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，单独看无规律，考虑运算。黑球部分数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白球部分数依次为</a:t>
            </a:r>
            <a:r>
              <a:rPr lang="en-US" altLang="zh-CN" sz="1200" kern="1200" dirty="0">
                <a:solidFill>
                  <a:schemeClr val="tx1"/>
                </a:solidFill>
                <a:effectLst/>
                <a:latin typeface="+mn-lt"/>
                <a:ea typeface="+mn-ea"/>
              </a:rPr>
              <a:t> 2</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5</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6</a:t>
            </a:r>
            <a:r>
              <a:rPr lang="zh-CN" altLang="en-US" sz="1200" kern="1200" dirty="0">
                <a:solidFill>
                  <a:schemeClr val="tx1"/>
                </a:solidFill>
                <a:effectLst/>
                <a:latin typeface="+mn-lt"/>
                <a:ea typeface="+mn-ea"/>
              </a:rPr>
              <a:t>，故问号</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处应选择一个黑球部分数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白球部分数为</a:t>
            </a:r>
            <a:r>
              <a:rPr lang="en-US" altLang="zh-CN" sz="1200" kern="1200" dirty="0">
                <a:solidFill>
                  <a:schemeClr val="tx1"/>
                </a:solidFill>
                <a:effectLst/>
                <a:latin typeface="+mn-lt"/>
                <a:ea typeface="+mn-ea"/>
              </a:rPr>
              <a:t> 7 </a:t>
            </a:r>
            <a:r>
              <a:rPr lang="zh-CN" altLang="en-US" sz="1200" kern="1200" dirty="0">
                <a:solidFill>
                  <a:schemeClr val="tx1"/>
                </a:solidFill>
                <a:effectLst/>
                <a:latin typeface="+mn-lt"/>
                <a:ea typeface="+mn-ea"/>
              </a:rPr>
              <a:t>的图形，只有</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本题为分组分类题目。观察发现，题干图形内部被线条分割，优先考虑面数量，所有图形面数量均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为</a:t>
            </a:r>
            <a:r>
              <a:rPr lang="en-US" altLang="zh-CN" sz="1200" kern="1200" dirty="0">
                <a:solidFill>
                  <a:schemeClr val="tx1"/>
                </a:solidFill>
                <a:effectLst/>
                <a:latin typeface="+mn-lt"/>
                <a:ea typeface="+mn-ea"/>
              </a:rPr>
              <a:t> 5</a:t>
            </a:r>
            <a:r>
              <a:rPr lang="zh-CN" altLang="en-US" sz="1200" kern="1200" dirty="0">
                <a:solidFill>
                  <a:schemeClr val="tx1"/>
                </a:solidFill>
                <a:effectLst/>
                <a:latin typeface="+mn-lt"/>
                <a:ea typeface="+mn-ea"/>
              </a:rPr>
              <a:t>，且均明显存在最大面，最大面出现等腰元素，可优先考虑最大面的对称性，图</a:t>
            </a:r>
            <a:r>
              <a:rPr lang="en-US" altLang="en-US" sz="1200" kern="1200" dirty="0">
                <a:solidFill>
                  <a:schemeClr val="tx1"/>
                </a:solidFill>
                <a:effectLst/>
                <a:latin typeface="+mn-lt"/>
                <a:ea typeface="+mn-ea"/>
              </a:rPr>
              <a:t>①⑤⑥</a:t>
            </a:r>
            <a:r>
              <a:rPr lang="zh-CN" altLang="en-US" sz="1200" kern="1200" dirty="0">
                <a:solidFill>
                  <a:schemeClr val="tx1"/>
                </a:solidFill>
                <a:effectLst/>
                <a:latin typeface="+mn-lt"/>
                <a:ea typeface="+mn-ea"/>
              </a:rPr>
              <a:t>最大面均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为中心对称图形，图</a:t>
            </a:r>
            <a:r>
              <a:rPr lang="en-US" altLang="en-US" sz="1200" kern="1200" dirty="0">
                <a:solidFill>
                  <a:schemeClr val="tx1"/>
                </a:solidFill>
                <a:effectLst/>
                <a:latin typeface="+mn-lt"/>
                <a:ea typeface="+mn-ea"/>
              </a:rPr>
              <a:t>②③④</a:t>
            </a:r>
            <a:r>
              <a:rPr lang="zh-CN" altLang="en-US" sz="1200" kern="1200" dirty="0">
                <a:solidFill>
                  <a:schemeClr val="tx1"/>
                </a:solidFill>
                <a:effectLst/>
                <a:latin typeface="+mn-lt"/>
                <a:ea typeface="+mn-ea"/>
              </a:rPr>
              <a:t>最大面均为轴对称图形，即图</a:t>
            </a:r>
            <a:r>
              <a:rPr lang="en-US" altLang="en-US" sz="1200" kern="1200" dirty="0">
                <a:solidFill>
                  <a:schemeClr val="tx1"/>
                </a:solidFill>
                <a:effectLst/>
                <a:latin typeface="+mn-lt"/>
                <a:ea typeface="+mn-ea"/>
              </a:rPr>
              <a:t>①⑤⑥</a:t>
            </a:r>
            <a:r>
              <a:rPr lang="zh-CN" altLang="en-US" sz="1200" kern="1200" dirty="0">
                <a:solidFill>
                  <a:schemeClr val="tx1"/>
                </a:solidFill>
                <a:effectLst/>
                <a:latin typeface="+mn-lt"/>
                <a:ea typeface="+mn-ea"/>
              </a:rPr>
              <a:t>一组，图</a:t>
            </a:r>
            <a:r>
              <a:rPr lang="en-US" altLang="en-US" sz="1200" kern="1200" dirty="0">
                <a:solidFill>
                  <a:schemeClr val="tx1"/>
                </a:solidFill>
                <a:effectLst/>
                <a:latin typeface="+mn-lt"/>
                <a:ea typeface="+mn-ea"/>
              </a:rPr>
              <a:t>②③④</a:t>
            </a:r>
            <a:r>
              <a:rPr lang="zh-CN" altLang="en-US" sz="1200" kern="1200" dirty="0">
                <a:solidFill>
                  <a:schemeClr val="tx1"/>
                </a:solidFill>
                <a:effectLst/>
                <a:latin typeface="+mn-lt"/>
                <a:ea typeface="+mn-ea"/>
              </a:rPr>
              <a:t>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将选项展开图标上序号，如下图所示（各选项面都相同，故相同的面用相同字母表示），逐一进行分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析。</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项：面</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、面</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相邻，公共边紧邻面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与面</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的黑块（如上图所示）；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项：面</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、面</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相邻，公共边没有紧邻面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的黑块（如上图所示）；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项：面</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、面</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相邻，公共边紧邻面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与面</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的黑块（如上图所示）；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项：面</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、面</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相邻，公共边紧邻面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与面</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的黑块（如上图所示）。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综上，只有</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项与其他三项不同。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本题考查三视图，逐一分析选项。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项：题干立体图形从仰视（即从下往上）的视角可以看到下图的图形，再将视角顺时针或逆时针旋转</a:t>
            </a:r>
            <a:r>
              <a:rPr lang="en-US" altLang="zh-CN" sz="1200" kern="1200" dirty="0">
                <a:solidFill>
                  <a:schemeClr val="tx1"/>
                </a:solidFill>
                <a:effectLst/>
                <a:latin typeface="+mn-lt"/>
                <a:ea typeface="+mn-ea"/>
              </a:rPr>
              <a:t> 90</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后，即为</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项视图，排除；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项：该项不是题干立体图形的视图，当选；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项：题干立体图形从右视（即从右往左）的视角可以看到下图的图形，再将视角旋转</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后，即为</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项视图，排除；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项：题干立体图形从后视（即从后往前）的视角可以看到下图的图形，再将视角顺时针旋转</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后，即为</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项视图，排除。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在没有正式授权的情况下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监控到违反公司规范的迹象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自认为适当或合理的时候对违规同事进行处罚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项：小张认为公司行为违反劳动法，于是向公司主管部门进行实名举报，其中举报行为并非惩罚行为，不符合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自认为适当或合理的时候对违规同事进行处罚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项：居委会王阿姨对违反交通规则的行人进行批评是发生在其义务执勤期间，监督行人遵守交通规则是王阿姨的工作内容，不符合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在没有正式授权的情况下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项：老周对上班闲聊的同事进行批评教育，但并未提及老周的身份是领导，所以他并没有权力批评教育该同事，符合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在没有正式授权的情况下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，老周瞅准机会直接批评上班闲聊的同事，符合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自认为适当或合理的时候对违规同事进行处罚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项：关注员工安全意识的问题在保卫科小刘的工作范围之内，不符合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在没有正式授权的情况下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选项：小张举报的是公司强制加班的违规行为，而非同事的违规，不符合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监控同事违规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的核心条件，排除。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选项：王阿姨的行为发生在斑马线（公共场景），针对的是行人，和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职场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同事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无关，主体和场景均不匹配，排除。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选项：老周没有正式监管职权，发现同事上班闲聊（违反公司规范），主动进行批评教育，完全符合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无授权</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监控违规</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直接处罚</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选项：小刘是向领导汇报并建议通报批评，并非自己直接或间接对同事进行处罚，不符合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自行采取处罚行为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的条件，排除。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从业者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对自身职业兼具认同和不认同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认同职业某一方面而不认同其他方面</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项：小强还未就业，不符合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从业者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项：社会上有很多人对网络主播并不认同，但小飞本人却对主播事业很坚定，仅体现出小飞对于主播事业的认同，不符合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对自身职业兼具认同和不认同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认同职业某一方面而不认同其他方面</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项：父母希望小刚考公务员，小刚自己却更喜欢做一名教师，不明确小刚是否为从业者，并且仅体现了父母和小刚关于小刚未来职业的想法不同，不符合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对自身职业兼具认同和不认同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认同职业某一方面而不认同其他方面</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项：老汪是快递员，符合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从业者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，他觉得送快递很累，但工作时间相对自由，符合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对自身职业兼具认同和不认同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认同职业某一方面而不认同其他方面</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选项：小强是对未来就业的迷茫，尚未从事任何职业，不满足</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从业者</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的主体要求，排除。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选项：小飞是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不顾他人看法，决定从事主播职业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，体现的是对主播职业的单一认同，不存在矛盾态度，排除。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选项：小刚是在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父母期望的公务员</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自己喜欢的教师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之间做选择，未从事任一职业，只是职业偏好的冲突，不符合定义，排除。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选项：老汪是快递从业者，对职业的态度明显矛盾</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不认同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工作累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这一点，但认同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工作时间自由</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的优势，最终选择继续从事，完全符合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从业者</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职业态度矛盾</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的定义，当选。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领导对员工当前行为或绩效未达到目标或标准时所给予员工的指示、否定或批评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激励员工更加努力工作或改变行为方式以减小差距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项：人力资源部长对总经理说员工小王的工作能力差，符合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领导对员工当前行为或绩效未达到目标或标准时所给予员工的指示、否定或批评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，但他建议合同到期后不续聘，不符合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激励员工更加努力工作或改变行为方式以减小差距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项：小徐因为炒菜口味问题被顾客多次投诉，厨师长对小徐进行了严肃批评，符合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领导对员工当前行为或绩效未达到目标或标准时所给予员工的指示、否定或批评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，帮助他寻找被投诉的原因，符合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激励员工更加努力工作或改变行为方式以减小差距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项：小冯为激励自己进步，向同事们征求批评意见，不符合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领导对员工当前行为或绩效未达到目标或标准时所给予员工的指示、否定或批评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项：办公室侯主任把年度考核不合格的员工名单递交给人事处，不符合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领导对员工当前行为或绩效未达到目标或标准时所给予员工的指示、否定或批评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选项：王部长是向总经理评价小李，并非直接对小李本人给予指示、批评，不满足</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领导对员工直接反馈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的要求，排除。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选项：厨师长是小徐的领导，小徐因炒菜口味问题被投诉（绩效未达标），厨师长对他严肃批评并帮找原因（批评</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指导改进），完全符合定义的三个核心条件，当选。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选项：是小冯主动向同事征求意见，主体既不是领导，对象也不是员工对领导，且不存在上下级反馈关系，排除。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选项：是人事处通报考核不合格的处理结果，并非领导对员工的直接批评或指示，且重点是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结果告知</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而非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激励改进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企业在紧急、不可预测环境下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计划与行动同时进行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通过对资源进行利用和整合呈现出创造性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自发地实现预期目标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项：该项中员工老杨在企业聚餐时的表现属于个人行为，不符合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企业在紧急、不可预测环境下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项：该项中负责公司招聘的人力资源部对考生的考核和录用属于人力资源部的日常工作，不符合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企业在紧急、不可预测环境下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，也未表现出计划和行动情况，不符合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计划与行动同时进行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项：该项中某企业面对技术封锁，调整发展规划，符合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企业在紧急、不可预测环境下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计划与行动同时进行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，创新研发技术，符合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通过对资源进行利用和整合呈现出创造性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，最终成长为行业巨头，符合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自发地实现预期目标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项：该项中为应对未来劳动力成本大幅攀升的不利影响，企业采取了一些措施，说明已经预知未来如何，不符合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企业在紧急、不可预测环境下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选项：主体是员工老杨，并非企业；行为是个人即兴表演，和企业目标无关，不符合定义主体与核心要求，排除。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选项：人力资源部是通过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考生即兴演讲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选拔人才，并非企业自身在紧急场景下展现即兴能力，只是招聘环节的测评手段，排除。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选项：企业面临技术封锁（紧急、不可预测环境），采取</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边调整规划边创新研发（计划与行动同时进行）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的方式，最终成长为行业巨头（实现目标），完全匹配定义的所有要件，当选。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选项：企业是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为应对未来不利影响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提前启动设备升级，属于前瞻性规划，并非紧急、不可预测场景下的即时行动，排除。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经验丰富的邻里行为会对其他个体的社会经济行为产生影响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吸引其他个体出于收益考虑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向其学习、模仿和跟从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项：老赵去年种的玉米格外高产，符合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经验丰富的邻里行为会对其他个体的社会经济行为产生影响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，邻居都跟着他家买一样的种子，符合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吸引其他个体出于收益考虑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向其学习、模仿和跟从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项：村里其他孩子和老孙的儿子一样选择了上职高，不符合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对其他个体的社会经济行为产生影响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吸引其他个体出于收益考虑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项：小李只是效仿小张买了一辆小轿车，未体现出小李购买小轿车的目的，不符合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吸引其他个体出于收益考虑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项：小冯按照网上的装修图装修了自己家，不符合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经验丰富的邻里行为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A</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选项：老赵种玉米高产（经验丰富的邻里</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经济行为），邻居跟着买同款种子（出于收益考虑模仿），完全匹配定义的所有核心要件，当选。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选项：老孙儿子上职高是个人教育选择，不属于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社会经济行为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，且未体现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经验丰富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收益考虑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选项：小李模仿小张买车，仅体现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模仿行为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，但未说明小张买车是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经验丰富的选择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，也没有体现小李是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出于收益考虑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，要件缺失，排除。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选项：小冯模仿的是网上的装修图，并非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邻里的行为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，主体不符合定义，排除。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在监管领域中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对违规程度较低的目标群体严加监管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对违规程度更高的监管对象相对宽松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项：监管部门对证照齐全的培训机构严加管控，证照齐全说明其违规程度相对较低，但却严加管控，符合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在监管领域中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对违规程度较低的目标群体严加监管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，对问题突出的个体培训疏于管控，问题突出说明违规程度更高，符合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对违规程度更高的监管对象相对宽松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项：司机对守序排队和插队行为都不加干预，说明根本就不存在监管，不符合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对违规程度较低的目标群体严加监管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对违规程度更高的监管对象相对宽松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项：班主任调整易犯错误且屡教不改的学生的座位，以便任课老师监督，说明是对违规程度更高的对象严加看管，不符合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在监管领域中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对违规程度更高的监管对象相对宽松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项：监管部门重点曝光一些违规产品，没有体现对不同群体的区别监管，不符合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对违规程度较低的目标群体严加监管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对违规程度更高的监管对象相对宽松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选项：监管部门是监管者，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证照齐全的大中型校外培训机构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属于违规程度低的对象，却被严加管控；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问题突出的个体培训</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属于违规程度高的对象，却被疏于管控，完全符合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监管强度与违规程度成反比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选项：公交车司机并非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监管者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守序排队</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插队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不属于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监管领域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的违规行为，主体和场景均不匹配，排除。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选项：班主任对</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屡教不改的学生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靠前监督，是违规程度高则监管更严，与定义的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反比关系</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相反，排除。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选项：监管部门曝光违规产品，是正常的监管行为，未体现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对低违规者严管、对高违规者宽松</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的反比关系，排除。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应对、响应和支持变化的行为表现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项：企业为适应市场环境，加速剥离非核心业务，主体是企业，不符合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项：公司董事会决定关闭高污染高耗能生产项目，主体是公司董事会，不符合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50 </a:t>
            </a:r>
            <a:r>
              <a:rPr lang="zh-CN" altLang="en-US" sz="1200" kern="1200" dirty="0">
                <a:solidFill>
                  <a:schemeClr val="tx1"/>
                </a:solidFill>
                <a:effectLst/>
                <a:latin typeface="+mn-lt"/>
                <a:ea typeface="+mn-ea"/>
              </a:rPr>
              <a:t>多岁的赵老师，符合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，但他因为对人工智能技术感兴趣而学习有关课程，不符合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应对、响应和支持变化的行为表现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项：销售骨干小刘，符合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，他为了适应公司海外市场的快速拓展，开始学起了第二外语，符合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应对、响应和支持变化的行为表现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选项：主体是企业，通过剥离非核心业务适应市场，不符合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个体</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这一核心主体要求，排除。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选项：主体是公司董事会（组织决策层），关闭高污染项目是组织层面的决策，并非个体的行为表现，排除。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选项：赵老师学习人工智能课程，仅体现了个人兴趣驱动的学习行为，未明确体现是为了应对、响应某个具体变化（如教学需求调整、技术改革等），与定义的核心行为关联性较弱，排除。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选项：主体是销售骨干小刘（个体），为了适应公司海外市场拓展的变化，主动学习第二外语，是典型的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应对变化的行为表现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，且该行为有助于个人工作和企业海外业务推进，完全匹配定义所有要件，当选。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领导权变惩罚：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领导根据下属的过失程度酌情采取惩罚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领导非权变惩罚：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领导根据下属的过失，施加了与下属实际绩效和表现不相符的过度惩罚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项：小刘故意违反操作造成机床主机严重受损，公司对其加重处罚是依据公司的规定，不符合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领导根据下属的过失，施加了与下属实际绩效和表现不相符的过度惩罚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领导非权变惩罚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项：乙方领导追究甲方的违约责任，其中甲方不属于乙方的下属，且追究违约责任是依据合同约定的条款，不符合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领导根据下属的过失，施加了与下属实际绩效和表现不相符的过度惩罚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领导非权变惩罚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项：刘律师因自身疏忽错过了案件上诉期，虽获得委托人谅解，但刘律师的行为属于失职，故律所对刘律师施以顶格处罚也是合理的，不符合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领导根据下属的过失，施加了与下属实际绩效和表现不相符的过度惩罚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领导非权变惩罚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项：小郑在发现给客户少发了产品后及时补发，按规定只需罚款，但经理却要坚持开除小郑，这种惩罚是过度的，符合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领导根据下属的过失，施加了与下属实际绩效和表现不相符的过度惩罚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领导非权变惩罚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选项：小刘是故意违反规程造成严重损失，公司按规定加重处罚，惩罚与过失程度（故意</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严重损失）相匹配，属于权变惩罚，排除。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选项：主体是乙方领导对甲方（合作方，非下属），不满足</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领导对下属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的主体要求，排除。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选项：刘律师疏忽错过上诉期，律所施以顶格处罚。题干未提及顶格处罚与过失程度不匹配，且无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过度惩罚</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的明确依据，无法判定为非权变惩罚，排除。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选项：小郑只是不小心少发产品且及时补发，按规定仅需罚款，但经理坚持开除。惩罚力度（开除）与过失程度（轻微失误且补救）严重不符，属于过度惩罚，完全符合非权变惩罚的定义，当选。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个体主动选择与他人的交际分离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选择自我自由并投入到有意义的、愉快的活动中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产生内在积极体验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项：选项指出小孙因为睡眠质量不好所以在外出工作时不和同事一起住，小孙只是晚上不和同事一起住，并不是要和同事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交际分离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个体主动选择与他人的交际分离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项：选项指出小钱因为晚上要看演唱会所以谢绝了当晚的聚餐邀请，并不是要和同事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交际分离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个体主动选择与他人的交际分离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项：选项指出小赵为了准备研究生入学考试几乎不参加社交活动，符合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个体主动选择与他人的交际分离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选择自我自由并投入到有意义的、愉快的活动中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，他感到很充实，符合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产生内在积极体验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项：选项指出小周适应不了职场人际关系而不愿出去找工作，并且整日在家刷视频，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整日刷视频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不是有意义的活动，并且也不会产生内在的积极体验，不符合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选择自我自由并投入到有意义的、愉快的活动中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产生内在积极体验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选项：小孙不和同事同住是因为睡眠质量不好，属于被动回避社交，并非主动选择独处，且未提及投入有意义的活动，不符合定义，排除。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选项：小钱谢绝聚餐是为了看演唱会，虽然是主动选择，但仅体现了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选择独处的行为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，未明确提及是否产生内在积极体验，要件不完整，排除。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选项：小赵为备考主动不参加社交，备考是有意义的活动，且他感到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充实</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，这是内在积极体验，完全匹配定义的三个核心要件，当选。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选项：小周是因适应不了职场关系被动辞职在家，刷视频也不属于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有意义的活动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，且未体现积极体验，属于消极独处，排除。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企业或组织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为提高深度市场洞察而提前建立预警系统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预测市场变化或感知客户需求</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项：公司提醒小吴利用业余时间多学习避免被淘汰，是公司对员工的提醒，不属于对市场变化的预测和对客户需求的感知，不符合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预测市场变化或感知客户需求</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项：家长聘请心理专家帮助阳阳养成良好的学习习惯，其中阳阳的家长不属于企业或组织，不符合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企业或组织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项：某知名企业组建市场调研部，定期监测市场动向，符合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企业或组织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为提高深度市场洞察而提前建立预警系统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预测市场变化或感知客户需求</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项：某房地产开发商使用暂缓开发或拖延施工进度等方式，是为了化解可能面临的发展危机，而不是对市场变化的预测和对客户需求的感知，不符合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预测市场变化或感知客户需求</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选项：主体是员工小吴（个人），并非企业或组织，不符合定义主体要求，排除。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选项：主体是家长和学生阳阳，属于家庭教育场景，和企业的市场学习无关，排除。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主体是某知名企业，组建市场调研部（相当于建立预警系统）、定期监测市场动向（保持注意力集中），目的是规避潜在风险（对应预测市场变化），且培训员工属于组织的学习行为，完全匹配定义所有要件，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选项：房地产开发商是通过暂缓开发、拖延施工的方式化解危机，未体现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建立预警系统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市场学习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等核心手段，排除。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主体：企业或组织（非个人）；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手段：提前建立预警系统，保持注意力集中；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目的：预测市场变化、感知客户需求微弱信号，提高深度市场洞察；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属性：一种学习行为。</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汉字是记录汉语的文字，二者是种属关系。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项：判断和概念都是思维的基本形式之一，二者是并列关系，与题干逻辑关系不一致，排除；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项：宇宙是包括一切天体的无限空间，恒星是本身能发出光和热的天体，恒星是宇宙的组成部分，二者是组成关系，与题干逻辑关系不一致，排除；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项：北京是中国的组成部分，二者是组成关系，与题干逻辑关系不一致，排除；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项：矿工是开采矿物的工人，二者是种属关系，与题干逻辑关系一致，当选。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文字：汉字</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属种关系，即</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汉字属于文字的一种，且后者是前者的具体类别。</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判断：概念两者是逻辑学中的不同范畴，判断是对事物情况的断定，概念是对事物本质的概括，并非属种关系，排除。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宇宙：恒星恒星是宇宙的组成部分，属于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组成关系，而非属种关系（不能说</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恒星是一种宇宙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中国：北京北京是中国的首都，属于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组成关系（部分与整体），而非属种关系，排除。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工人：矿工矿工属于工人的一种，是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属种关系，与题干逻辑完全一致，当选。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前因后果指的是事物的因果报应，后泛指整个事件；因果指的是原因与结果的关系，二者没有语义关系，考虑拆分。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是反义关系，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组成第二个词，且分别代表原因和结果两个不同的方面。</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是反义关系，但是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患</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指的都是忧虑的事情，二者为近义关系，与题干逻辑关系不一致，排除；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是反义关系，但是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指的都是出发去作战，二者为近义关系，与题干逻辑关系不一致，排除；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是反义关系，但是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指的都是看，二者为近义关系，与题干逻辑关系不一致，排除；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是反义关系，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组成第二个词，且分别代表开始和结束两个不同的方面，与题干逻辑关系一致，当选。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飞机停在机库里，二者是地点对应关系；机库是机场的一部分，二者是组成关系。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项：课桌是桌椅的一部分，二者是组成关系；桌面是课桌的一部分，二者是组成关系，与题干逻辑关系不一致，排除；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项：药品放在药盒里，二者是地点对应关系；药盒是药箱的一部分，二者是组成关系，与题干逻辑关系一致，当选；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项：乘客坐在客车里，客车停在车站里，前两词与后两词均是地点对应关系，与题干逻辑关系不一致，排除；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项：车轮和车轴都是汽车的一部分，后两词与第一词是组成关系，与题干逻辑关系不一致，排除。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飞机停在机库里，飞机停在机场里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药品放在药盒里，药品放在药箱里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客车运输乘客</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窗帘挂在窗户上，二者为配套使用关系；遮光是窗帘的功能，二者为功能对应关系。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项：桌布铺在桌子上，二者为配套使用关系；防污是桌布的功能，二者为功能对应关系，与题干逻辑关系一致，保留；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项：鼠标是电脑的一部分，二者为包容关系中的组成关系；操作鼠标，二者为动宾关系，与题干逻辑关系不一致，排除；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项：座垫铺在座椅上，二者为配套使用关系；美观是座垫的功能，与题干逻辑关系一致，保留；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项：茶杯用来装茶水，二者为容器与物品的对应关系；茶叶用来沏茶水，二者不是功能对应关系，与题干逻辑关系不一致，排除。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比较</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两项，题干中的遮光是窗帘的主要功能，</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项中的防污是桌布的主要功能，而</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项中的美观并不是座垫的主要功能，故</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项与题干逻辑关系更为一致，当选。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垫的主要功能是提升乘坐舒适度，并辅助保护人体与承载表面，具体可分为以下几方面：</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有的信息科技是生物科技，有的信息科技不是生物科技，有的生物科技是信息科技，有的生物科技不是信息科技，如生物信息科技，既属于信息科技又属于生物科技，二者为交叉关系，信息科技和生物科技都是科技的一种，前两词分别与第三词构成种属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信息科技回利用生物科技，生物科技会利用信息科技，二者是相互利用相互融合的关系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项：机械工业与智能工业为交叉关系，如智能机床，既属于机械工业又属于智能工业，二者为交叉关系，机械工业和智能工业都是工业的一种，前两词分别与第三词构成种属关系，与题干逻辑关系一致，保留；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机械工业会利用智能工业，智能工业会利用机械工业</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项：纺织产业与物流产业是两种不同的产业，二者为并列关系中的反对关系，与题干逻辑关系不一致，排除；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纺织产业会利用物流产业，但物流产业不会利用方式产业</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有的公共交通是城市交通，有的公共交通不是城市交通，有的城市交通是公共交通，有的城市交通不是公共交通，二者为交叉关系，公共交通和城市交通都是交通的一种，前两词分别与第三词构成种属关系，与题干逻辑关系一致，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纯纯的交叉关系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项：商品住房和保障住房（保障性住房）是两种不同的住房类型，保障性住房都不是商品住房，二者并非交叉关系，与题干逻辑关系不一致，排除。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比较</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两项，题干中的科技与</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项中的工业都涉及信息、智能等新兴技术，纵向比较二者关系更近，故</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项与题干逻辑关系更为一致，当选。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中国制造是制造的一种，前两词构成种属关系；智能化中国制造是中国制造的一种，后两词构成种属关系，且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智能化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是对中国制造具体属性的描述。</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项：长篇小说是小说的一种，前两词构成种属关系；中长篇科幻小说是中长篇小说的一种，不是长篇小说，后两词不构成种属关系，与题干逻辑关系不一致，排除；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项：自我批评是批评的一种，前两词构成种属关系；剖析式自我批评是自我批评的一种，后两词构成种属关系，且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剖析式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是对自我批评具体属性的描述，与题干逻辑关系一致，保留；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项：深度学习是学习的一种，前两词构成种属关系；机器人深度学习是指机器人利用深度学习技术进行学习，与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深度学习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不构成种属关系，与题干逻辑关系不一致，排除；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项：体育锻炼是锻炼的一种，前两词构成种属关系；有意识体育锻炼是体育锻炼的一种，后两词构成种属关系，且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有意识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是对体育锻炼具体属性的描述，与题干逻辑关系一致，保留。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两项，题干中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智能化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剖析式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结构一致，</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有意识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与题干结构不同，故</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项与题干逻辑关系更为一致，当选。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制造：中国制造：智能化中国制造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的三层递进逻辑：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属种关系：中国制造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制造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的一种具体形式，范围更窄、指向更明确；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属性限定递进：智能化中国制造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中国制造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的基础上，增加了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智能化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这一具体属性</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方式的限定，属于同一范畴内的精准细化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逻辑链条：泛称</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具体形式</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带特定属性的具体形式，且后一层都是前一层的精准升级</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细化，没有改变核心范畴。</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小说：长篇小说：中长篇科幻小说</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长篇小说是小说的一种，符合属种关系；</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中长篇科幻小说</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同时加入了</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篇幅（中长篇）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题材（科幻）</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两个限定，且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中长篇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与前一层的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长篇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存在范围交叉，不是单纯的属性递进，与题干逻辑不符，排除。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批评：自我批评：剖析式自我批评</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自我批评是批评的一种具体形式，符合属种关系；</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剖析式自我批评是在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自我批评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的基础上，增加了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剖析式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这一具体方式的限定，属于同一范畴内的精准细化，完全契合题干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泛称</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具体形式</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带特定属性的具体形式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的递进逻辑，当选。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学习：深度学习：机器人深度学习</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此处的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深度学习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有两层含义：日常语境中是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深入的学习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，但在技术领域是人工智能的专有概念；</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机器人深度学习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深度学习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（技术概念）应用于机器人领域，属于应用场景的拓展，而非对</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深度学习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本身的属性限定，与题干逻辑不同，排除。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锻炼：体育锻炼：有意识体育锻炼</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体育锻炼是锻炼的一种，符合属种关系；</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有意识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是对锻炼主观状态的描述，而题干的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智能化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是对制造技术属性的限定，且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有意识体育锻炼</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更偏向宽泛的状态描述，而非精准的范畴细化，逻辑契合度弱于</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选项，排除。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风吹导致草低，草低导致见牛羊，第一词和第二词、第二词和第三词之间分别构成因果对应关系。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项：浪打导致船摇，二者构成因果对应关系，但船摇需要靠舵手，二者不构成因果对应关系，与题干逻辑关系不一致，排除；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项：光照导致叶肥，但一般说叶肥是促生长的结果，很少说叶肥是促生长的原因，与题干逻辑关系不一致，排除；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项：游人如织形容游人多得像织布的线一样，密密麻麻，如织是用来形容游人的，二者不构成因果对应关系，与题干逻辑关系不一致，排除；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项：雨淋导致花落，花落导致闻余香，第一词和第二词、第二词和第三词之间分别构成因果对应关系，与题干逻辑关系一致，当选。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风吹：草低：见牛羊</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的核心逻辑有三层：</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动作连锁递进：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风吹</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是原因，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草低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是直接结果，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见牛羊</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是由</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草低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进一步引发的后续结果，三者构成</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因果连锁关系；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结构一致：前两个词都是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名词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的主谓短语；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意境连贯：三句话衔接自然，符合生活常识和语言表达的画面感。</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浪打：船摇：靠舵手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前两个词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浪打（主谓）</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船摇（主谓）</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符合因果连锁，但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靠舵手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是应对</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船摇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的措施，而非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船摇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带来的自然结果，逻辑链条断裂，排除。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光照：叶肥：促生长</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光照</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导致</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叶肥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促生长</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是对</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叶肥</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作用的概括描述，并非具体的后续结果，且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促生长</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是动宾短语，与前两者的主谓结构不一致，排除。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游人：如织：显道窄</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游人如织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主谓宾结构的成语，并非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名词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的主谓短语，与题干前两个词的结构不匹配，排除。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雨淋：花落：闻余香</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因果连锁：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雨淋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是原因，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花落</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是直接结果，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闻余香</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花落</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后产生的后续结果，逻辑链条完整；</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结构一致：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雨淋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花落</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均为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名词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的主谓短语；</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意境连贯：三句话衔接自然，符合题干逻辑，当选。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政治家、文学家和思想家是人的三种不同身份，三者互为交叉关系。鲁迅、王安石、梁启超</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项：氧化物与硫化物为并列关系，二者分别与污染物构成交叉关系，与题干逻辑关系不一致，排除；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项：科幻片、纪录片和故事片是对影视作品从三个不同的角度划分的，三者互为交叉关系，与题干逻辑关系一致，当选；《第九区》《人类之子》《科洛弗档案》</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项：马铃薯和西红柿是两种不同的农作物，前两词是并列关系，且分别与第三词构成种属关系，与题干逻辑关系不一致，排除；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项：有的大学生是运动员，有的大学生不是运动员，有的运动员是大学生，有的运动员不是大学生，二者构成交叉关系，但是跆拳道是一种运动，与其余两词不构成交叉关系，与题干逻辑关系不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：分类乱。污染物看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环境影响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，氧化物、硫化物看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化学成分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，不是同一层级。</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：都是电影类型（同一层级），一部电影能同时是科幻片</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纪录片</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故事片（可交叉），和题干一致。</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：马铃薯、西红柿属于农作物（前两个是第三个的子类），和题干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同级并列</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不同。</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：跆拳道是运动项目，和运动员、大学生（人的身份）不是同一类，逻辑不符。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氧化物：由两种元素组成，且其中一种必须是氧元素的化合物，比如二氧化碳（</a:t>
            </a:r>
            <a:r>
              <a:rPr lang="en-US" altLang="zh-CN" sz="1200" kern="1200" dirty="0">
                <a:solidFill>
                  <a:schemeClr val="tx1"/>
                </a:solidFill>
                <a:effectLst/>
                <a:latin typeface="+mn-lt"/>
                <a:ea typeface="+mn-ea"/>
              </a:rPr>
              <a:t>CO</a:t>
            </a:r>
            <a:r>
              <a:rPr lang="en-US" altLang="en-US" sz="1200" kern="1200" dirty="0">
                <a:solidFill>
                  <a:schemeClr val="tx1"/>
                </a:solidFill>
                <a:effectLst/>
                <a:latin typeface="+mn-lt"/>
                <a:ea typeface="+mn-ea"/>
              </a:rPr>
              <a:t>₂</a:t>
            </a:r>
            <a:r>
              <a:rPr lang="zh-CN" altLang="en-US" sz="1200" kern="1200" dirty="0">
                <a:solidFill>
                  <a:schemeClr val="tx1"/>
                </a:solidFill>
                <a:effectLst/>
                <a:latin typeface="+mn-lt"/>
                <a:ea typeface="+mn-ea"/>
              </a:rPr>
              <a:t>）、氧化铜（</a:t>
            </a:r>
            <a:r>
              <a:rPr lang="en-US" altLang="zh-CN" sz="1200" kern="1200" dirty="0">
                <a:solidFill>
                  <a:schemeClr val="tx1"/>
                </a:solidFill>
                <a:effectLst/>
                <a:latin typeface="+mn-lt"/>
                <a:ea typeface="+mn-ea"/>
              </a:rPr>
              <a:t>CuO</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硫化物：由两种元素组成，且其中一种必须是硫元素的化合物，比如硫化亚铁（</a:t>
            </a:r>
            <a:r>
              <a:rPr lang="en-US" altLang="zh-CN" sz="1200" kern="1200" dirty="0">
                <a:solidFill>
                  <a:schemeClr val="tx1"/>
                </a:solidFill>
                <a:effectLst/>
                <a:latin typeface="+mn-lt"/>
                <a:ea typeface="+mn-ea"/>
              </a:rPr>
              <a:t>FeS</a:t>
            </a:r>
            <a:r>
              <a:rPr lang="zh-CN" altLang="en-US" sz="1200" kern="1200" dirty="0">
                <a:solidFill>
                  <a:schemeClr val="tx1"/>
                </a:solidFill>
                <a:effectLst/>
                <a:latin typeface="+mn-lt"/>
                <a:ea typeface="+mn-ea"/>
              </a:rPr>
              <a:t>）、硫化钠（</a:t>
            </a:r>
            <a:r>
              <a:rPr lang="en-US" altLang="zh-CN" sz="1200" kern="1200" dirty="0">
                <a:solidFill>
                  <a:schemeClr val="tx1"/>
                </a:solidFill>
                <a:effectLst/>
                <a:latin typeface="+mn-lt"/>
                <a:ea typeface="+mn-ea"/>
              </a:rPr>
              <a:t>Na</a:t>
            </a:r>
            <a:r>
              <a:rPr lang="en-US" altLang="en-US" sz="1200" kern="1200" dirty="0">
                <a:solidFill>
                  <a:schemeClr val="tx1"/>
                </a:solidFill>
                <a:effectLst/>
                <a:latin typeface="+mn-lt"/>
                <a:ea typeface="+mn-ea"/>
              </a:rPr>
              <a:t>₂</a:t>
            </a:r>
            <a:r>
              <a:rPr lang="en-US" altLang="zh-CN" sz="1200" kern="1200" dirty="0">
                <a:solidFill>
                  <a:schemeClr val="tx1"/>
                </a:solidFill>
                <a:effectLst/>
                <a:latin typeface="+mn-lt"/>
                <a:ea typeface="+mn-ea"/>
              </a:rPr>
              <a:t>S</a:t>
            </a:r>
            <a:r>
              <a:rPr lang="zh-CN" altLang="en-US" sz="1200" kern="1200" dirty="0">
                <a:solidFill>
                  <a:schemeClr val="tx1"/>
                </a:solidFill>
                <a:effectLst/>
                <a:latin typeface="+mn-lt"/>
                <a:ea typeface="+mn-ea"/>
              </a:rPr>
              <a:t>）。无交叉关系：一种物质不可能同时是氧化物和硫化物（因为氧化物含</a:t>
            </a:r>
            <a:r>
              <a:rPr lang="en-US" altLang="zh-CN" sz="1200" kern="1200" dirty="0">
                <a:solidFill>
                  <a:schemeClr val="tx1"/>
                </a:solidFill>
                <a:effectLst/>
                <a:latin typeface="+mn-lt"/>
                <a:ea typeface="+mn-ea"/>
              </a:rPr>
              <a:t> O </a:t>
            </a:r>
            <a:r>
              <a:rPr lang="zh-CN" altLang="en-US" sz="1200" kern="1200" dirty="0">
                <a:solidFill>
                  <a:schemeClr val="tx1"/>
                </a:solidFill>
                <a:effectLst/>
                <a:latin typeface="+mn-lt"/>
                <a:ea typeface="+mn-ea"/>
              </a:rPr>
              <a:t>不含</a:t>
            </a:r>
            <a:r>
              <a:rPr lang="en-US" altLang="zh-CN" sz="1200" kern="1200" dirty="0">
                <a:solidFill>
                  <a:schemeClr val="tx1"/>
                </a:solidFill>
                <a:effectLst/>
                <a:latin typeface="+mn-lt"/>
                <a:ea typeface="+mn-ea"/>
              </a:rPr>
              <a:t> S </a:t>
            </a:r>
            <a:r>
              <a:rPr lang="zh-CN" altLang="en-US" sz="1200" kern="1200" dirty="0">
                <a:solidFill>
                  <a:schemeClr val="tx1"/>
                </a:solidFill>
                <a:effectLst/>
                <a:latin typeface="+mn-lt"/>
                <a:ea typeface="+mn-ea"/>
              </a:rPr>
              <a:t>为核心特征，硫化物含</a:t>
            </a:r>
            <a:r>
              <a:rPr lang="en-US" altLang="zh-CN" sz="1200" kern="1200" dirty="0">
                <a:solidFill>
                  <a:schemeClr val="tx1"/>
                </a:solidFill>
                <a:effectLst/>
                <a:latin typeface="+mn-lt"/>
                <a:ea typeface="+mn-ea"/>
              </a:rPr>
              <a:t> S </a:t>
            </a:r>
            <a:r>
              <a:rPr lang="zh-CN" altLang="en-US" sz="1200" kern="1200" dirty="0">
                <a:solidFill>
                  <a:schemeClr val="tx1"/>
                </a:solidFill>
                <a:effectLst/>
                <a:latin typeface="+mn-lt"/>
                <a:ea typeface="+mn-ea"/>
              </a:rPr>
              <a:t>不含</a:t>
            </a:r>
            <a:r>
              <a:rPr lang="en-US" altLang="zh-CN" sz="1200" kern="1200" dirty="0">
                <a:solidFill>
                  <a:schemeClr val="tx1"/>
                </a:solidFill>
                <a:effectLst/>
                <a:latin typeface="+mn-lt"/>
                <a:ea typeface="+mn-ea"/>
              </a:rPr>
              <a:t> O </a:t>
            </a:r>
            <a:r>
              <a:rPr lang="zh-CN" altLang="en-US" sz="1200" kern="1200" dirty="0">
                <a:solidFill>
                  <a:schemeClr val="tx1"/>
                </a:solidFill>
                <a:effectLst/>
                <a:latin typeface="+mn-lt"/>
                <a:ea typeface="+mn-ea"/>
              </a:rPr>
              <a:t>为核心特征）</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陈醋是山西的特产，二者为特产和产地的对应关系，粮食是制作陈醋的原材料，二者为原材料的对应关系，且粮食经过发酵做成陈醋，发酵是化学变化。</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项：秦艽</a:t>
            </a:r>
            <a:r>
              <a:rPr lang="en-US" altLang="zh-CN" sz="1200" kern="1200" dirty="0">
                <a:solidFill>
                  <a:schemeClr val="tx1"/>
                </a:solidFill>
                <a:effectLst/>
                <a:latin typeface="+mn-lt"/>
                <a:ea typeface="+mn-ea"/>
              </a:rPr>
              <a:t>q</a:t>
            </a:r>
            <a:r>
              <a:rPr lang="en-US" altLang="en-US" sz="1200" kern="1200" dirty="0">
                <a:solidFill>
                  <a:schemeClr val="tx1"/>
                </a:solidFill>
                <a:effectLst/>
                <a:latin typeface="+mn-lt"/>
                <a:ea typeface="+mn-ea"/>
              </a:rPr>
              <a:t>í</a:t>
            </a:r>
            <a:r>
              <a:rPr lang="en-US" altLang="zh-CN" sz="1200" kern="1200" dirty="0">
                <a:solidFill>
                  <a:schemeClr val="tx1"/>
                </a:solidFill>
                <a:effectLst/>
                <a:latin typeface="+mn-lt"/>
                <a:ea typeface="+mn-ea"/>
              </a:rPr>
              <a:t>n ji</a:t>
            </a:r>
            <a:r>
              <a:rPr lang="en-US" altLang="en-US" sz="1200" kern="1200" dirty="0">
                <a:solidFill>
                  <a:schemeClr val="tx1"/>
                </a:solidFill>
                <a:effectLst/>
                <a:latin typeface="+mn-lt"/>
                <a:ea typeface="+mn-ea"/>
              </a:rPr>
              <a:t>ā</a:t>
            </a:r>
            <a:r>
              <a:rPr lang="en-US" altLang="zh-CN" sz="1200" kern="1200" dirty="0">
                <a:solidFill>
                  <a:schemeClr val="tx1"/>
                </a:solidFill>
                <a:effectLst/>
                <a:latin typeface="+mn-lt"/>
                <a:ea typeface="+mn-ea"/>
              </a:rPr>
              <a:t>o</a:t>
            </a:r>
            <a:r>
              <a:rPr lang="zh-CN" altLang="en-US" sz="1200" kern="1200" dirty="0">
                <a:solidFill>
                  <a:schemeClr val="tx1"/>
                </a:solidFill>
                <a:effectLst/>
                <a:latin typeface="+mn-lt"/>
                <a:ea typeface="+mn-ea"/>
              </a:rPr>
              <a:t>是一种植物，也是中药，分布在蒙古，俄罗斯西伯利亚和远东地区，中国大陆的内蒙古、宁夏、河北、陕西、新疆、东北、山西等地，秦艽和甘肃不是特产和产地的对应关系，与题干逻辑关系不一致，排除；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项：汝瓷是河南特产，二者为特产和产地的对应关系，瓷土是汝瓷的原材料，且瓷土需经过塑形后烧制做成汝瓷，烧制是化学变化，与题干逻辑关系一致，当选；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蜀绣是巴蜀地区流行的一种民间工艺，对应的产地是四川，二者为特产和产地的对应关系，蜀绣的原材料是丝绸，但是在丝绸上用蚕丝线绣花纹做蜀绣的过程发生的是物理变化，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项：剪纸是一种用剪刀或刻刀在纸上剪刻花纹，用于装点生活或配合其他民俗活动的民间艺术，剪纸不是陕西特产，与题干逻辑关系不一致，排除。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项：主演是演员的一种，二者为种属关系；指挥是指挥乐队或合唱队的人，指挥指导主唱，二者为指导者与被指导者的对应关系，前后逻辑关系不一致，排除；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项：导演指导演员，二者为指导者与被指导者的对应关系；指挥是指挥乐队或合唱队的人，指挥指导乐手，二者为指导者与被指导者的对应关系，前后逻辑关系一致，当选；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项：演员演出，二者为主谓结构；指挥是指挥乐队或合唱队的人，并不承担演奏工作，且即使造句为指挥演奏，词语的前后顺序也相反，前后逻辑关系不一致，排除；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项：主角是演员的一种，二者为种属关系；指挥在观众面前进行表演，二者为演出者与观众的对应关系，前后逻辑关系不一致，排除。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论点：它（视网膜自感光神经节细胞）可能是介导光促进幼年大脑发育最关健的感光细胞。</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论据：在发育过程中视网膜自感光神经节细胞是最早具有感光功能的视网膜感光细胞。</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本题论点和论据均在讨论视网膜自感光神经节细胞和感光的关系，论点论据话题一致，加强优先考虑补充论据，即解释原因或举例子。需要证明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该细胞的感光功能与幼年大脑发育直接相关，且是关键介导因素。</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项：选项讨论的是蜻蜓可利用近三百六十度的视野来发现目标猎物，而论点讨论的是视网膜自感光神经节细胞对幼年大脑发育的影响，话题不一致，无法加强，排除；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项：选项讨论的是多增加光环境可以促进新生儿大脑发育，而论点讨论的是视网膜自感光神经节细胞对幼年大脑发育的影响，话题不一致，无法加强，排除；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项：选项指出幼鼠在学习速度上的缺陷可以被幼年时人为激活视网膜自感光神经节细胞所弥补，说明该细胞确实能介导光促进幼年大脑发育，补充论据，可以加强，当选；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项：该项指出小蝙蝠的视杆细胞主要用于感受暗光，而论点讨论的是视网膜自感光神经节细胞对幼年大脑发育的影响，话题不一致，无法加强，排除。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主体是蜻蜓（昆虫，非哺乳动物），与题干讨论的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哺乳动物视网膜自感光神经节细胞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无关，属于无关选项，排除。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仅说明光环境能促进大脑发育，但未提及</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视网膜自感光神经节细胞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的作用，没有建立论点中关键细胞与大脑发育的联系，支持力度弱，排除。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直接建立了该细胞的光感受功能与幼年大脑发育（学习能力是大脑发育的重要体现）的因果关系：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细胞功能缺失</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大脑发育相关的学习缺陷；激活该细胞</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缺陷被弥补。这直接证明了该细胞是介导光促进幼年大脑发育的关键，最强支持论点，当选。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强调蝙蝠的视觉不重要，与题干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光促进大脑发育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的核心话题相悖，属于削弱倾向的无关选项，排除。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论点：某地烧烤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凉了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论据：一是客流量下降，二是一些烧烤店开始转让门面，三是网络搜索热度大不如前。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本题论点讨论的是某地烧烤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凉了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，论据讨论的是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凉了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的原因，要求从选项中选择有削弱力度的多项，可以先不预设。</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指出该地的烧烤只是回归常态，火热程度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降温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之前还是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，因此不是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凉了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，可以削弱；</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指出品味和服务好的店铺依然客流不息，即没有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，指出有些店面转让出局很正常，因此论据中第二条所提出的一些烧烤店铺转让，也不等于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凉了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，可以削弱；</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指出互联网制造的热点正常而言是难以持续的，但难以持续不等于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凉了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，因此论据中第三条所指的网络搜索热度大不如前，不等于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凉了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，可以削弱；</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④</a:t>
            </a:r>
            <a:r>
              <a:rPr lang="zh-CN" altLang="en-US" sz="1200" kern="1200" dirty="0">
                <a:solidFill>
                  <a:schemeClr val="tx1"/>
                </a:solidFill>
                <a:effectLst/>
                <a:latin typeface="+mn-lt"/>
                <a:ea typeface="+mn-ea"/>
              </a:rPr>
              <a:t>指出烧烤让更多人认识了该地，消费环境和公共服务给人留下了深刻印象，但没有提及现在该地烧烤业的发展情况，话题不一致，无法削弱。</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综上，能削弱的有</a:t>
            </a:r>
            <a:r>
              <a:rPr lang="en-US" altLang="en-US" sz="1200" kern="1200" dirty="0">
                <a:solidFill>
                  <a:schemeClr val="tx1"/>
                </a:solidFill>
                <a:effectLst/>
                <a:latin typeface="+mn-lt"/>
                <a:ea typeface="+mn-ea"/>
              </a:rPr>
              <a:t>①②③</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论点：中国研究人员在珠峰北坡利用探地雷达沿着海拔</a:t>
            </a:r>
            <a:r>
              <a:rPr lang="en-US" altLang="zh-CN" sz="1200" kern="1200" dirty="0">
                <a:solidFill>
                  <a:schemeClr val="tx1"/>
                </a:solidFill>
                <a:effectLst/>
                <a:latin typeface="+mn-lt"/>
                <a:ea typeface="+mn-ea"/>
              </a:rPr>
              <a:t> 7000 </a:t>
            </a:r>
            <a:r>
              <a:rPr lang="zh-CN" altLang="en-US" sz="1200" kern="1200" dirty="0">
                <a:solidFill>
                  <a:schemeClr val="tx1"/>
                </a:solidFill>
                <a:effectLst/>
                <a:latin typeface="+mn-lt"/>
                <a:ea typeface="+mn-ea"/>
              </a:rPr>
              <a:t>米以上的山脊设置了</a:t>
            </a:r>
            <a:r>
              <a:rPr lang="en-US" altLang="zh-CN" sz="1200" kern="1200" dirty="0">
                <a:solidFill>
                  <a:schemeClr val="tx1"/>
                </a:solidFill>
                <a:effectLst/>
                <a:latin typeface="+mn-lt"/>
                <a:ea typeface="+mn-ea"/>
              </a:rPr>
              <a:t> 26 </a:t>
            </a:r>
            <a:r>
              <a:rPr lang="zh-CN" altLang="en-US" sz="1200" kern="1200" dirty="0">
                <a:solidFill>
                  <a:schemeClr val="tx1"/>
                </a:solidFill>
                <a:effectLst/>
                <a:latin typeface="+mn-lt"/>
                <a:ea typeface="+mn-ea"/>
              </a:rPr>
              <a:t>个测量点，通过采集大量数据得出结论，珠峰顶部积雪比以前认为的要深得多，平均达</a:t>
            </a:r>
            <a:r>
              <a:rPr lang="en-US" altLang="zh-CN" sz="1200" kern="1200" dirty="0">
                <a:solidFill>
                  <a:schemeClr val="tx1"/>
                </a:solidFill>
                <a:effectLst/>
                <a:latin typeface="+mn-lt"/>
                <a:ea typeface="+mn-ea"/>
              </a:rPr>
              <a:t> 9.5 </a:t>
            </a:r>
            <a:r>
              <a:rPr lang="zh-CN" altLang="en-US" sz="1200" kern="1200" dirty="0">
                <a:solidFill>
                  <a:schemeClr val="tx1"/>
                </a:solidFill>
                <a:effectLst/>
                <a:latin typeface="+mn-lt"/>
                <a:ea typeface="+mn-ea"/>
              </a:rPr>
              <a:t>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本题只有论点，没有论据，加强优先考虑必要条件或补充论据，即可利用探地雷达得出珠峰顶部积雪平均厚度。</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项：该项是说探地雷达的测量结果证明了珠峰山脊的地形相对平坦，但论点讨论的是利用探地雷达是否可以得出珠峰顶部积雪的平均厚度，话题不一致，无关选项，无法加强，排除；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项：该项是说珠峰山脊的</a:t>
            </a:r>
            <a:r>
              <a:rPr lang="en-US" altLang="zh-CN" sz="1200" kern="1200" dirty="0">
                <a:solidFill>
                  <a:schemeClr val="tx1"/>
                </a:solidFill>
                <a:effectLst/>
                <a:latin typeface="+mn-lt"/>
                <a:ea typeface="+mn-ea"/>
              </a:rPr>
              <a:t> 26 </a:t>
            </a:r>
            <a:r>
              <a:rPr lang="zh-CN" altLang="en-US" sz="1200" kern="1200" dirty="0">
                <a:solidFill>
                  <a:schemeClr val="tx1"/>
                </a:solidFill>
                <a:effectLst/>
                <a:latin typeface="+mn-lt"/>
                <a:ea typeface="+mn-ea"/>
              </a:rPr>
              <a:t>个测量点显示，各点积雪的深度均为</a:t>
            </a:r>
            <a:r>
              <a:rPr lang="en-US" altLang="zh-CN" sz="1200" kern="1200" dirty="0">
                <a:solidFill>
                  <a:schemeClr val="tx1"/>
                </a:solidFill>
                <a:effectLst/>
                <a:latin typeface="+mn-lt"/>
                <a:ea typeface="+mn-ea"/>
              </a:rPr>
              <a:t> 9.5 </a:t>
            </a:r>
            <a:r>
              <a:rPr lang="zh-CN" altLang="en-US" sz="1200" kern="1200" dirty="0">
                <a:solidFill>
                  <a:schemeClr val="tx1"/>
                </a:solidFill>
                <a:effectLst/>
                <a:latin typeface="+mn-lt"/>
                <a:ea typeface="+mn-ea"/>
              </a:rPr>
              <a:t>米，补充了实验数据，证明珠峰顶部积雪的平均深度可能达到</a:t>
            </a:r>
            <a:r>
              <a:rPr lang="en-US" altLang="zh-CN" sz="1200" kern="1200" dirty="0">
                <a:solidFill>
                  <a:schemeClr val="tx1"/>
                </a:solidFill>
                <a:effectLst/>
                <a:latin typeface="+mn-lt"/>
                <a:ea typeface="+mn-ea"/>
              </a:rPr>
              <a:t> 9.5 </a:t>
            </a:r>
            <a:r>
              <a:rPr lang="zh-CN" altLang="en-US" sz="1200" kern="1200" dirty="0">
                <a:solidFill>
                  <a:schemeClr val="tx1"/>
                </a:solidFill>
                <a:effectLst/>
                <a:latin typeface="+mn-lt"/>
                <a:ea typeface="+mn-ea"/>
              </a:rPr>
              <a:t>米，补充论据，可以加强，保留；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项：该项是说探地雷达对珠峰海拔</a:t>
            </a:r>
            <a:r>
              <a:rPr lang="en-US" altLang="zh-CN" sz="1200" kern="1200" dirty="0">
                <a:solidFill>
                  <a:schemeClr val="tx1"/>
                </a:solidFill>
                <a:effectLst/>
                <a:latin typeface="+mn-lt"/>
                <a:ea typeface="+mn-ea"/>
              </a:rPr>
              <a:t> 7000 </a:t>
            </a:r>
            <a:r>
              <a:rPr lang="zh-CN" altLang="en-US" sz="1200" kern="1200" dirty="0">
                <a:solidFill>
                  <a:schemeClr val="tx1"/>
                </a:solidFill>
                <a:effectLst/>
                <a:latin typeface="+mn-lt"/>
                <a:ea typeface="+mn-ea"/>
              </a:rPr>
              <a:t>米以上山脊反复测量的结果可靠，说明可以利用探地雷达测量积雪深度，补充论据，可以加强，保留；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是说雪和岩石表面差异很大，探地雷达可准确确定这两种物质的边界，如果探地雷达不能准确确定这两种物质的边界，那么利用探地雷达就无法准确测量积雪的深度，故该项是论点成立的必要条件，可以加强，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三项，</a:t>
            </a:r>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项只是补充了测量点位的数据，且论点是说珠峰的顶部积雪深度平均达到</a:t>
            </a:r>
            <a:r>
              <a:rPr lang="en-US" altLang="zh-CN" sz="1200" kern="1200" dirty="0">
                <a:solidFill>
                  <a:schemeClr val="tx1"/>
                </a:solidFill>
                <a:effectLst/>
                <a:latin typeface="+mn-lt"/>
                <a:ea typeface="+mn-ea"/>
              </a:rPr>
              <a:t> 9.5</a:t>
            </a:r>
            <a:r>
              <a:rPr lang="zh-CN" altLang="en-US" sz="1200" kern="1200" dirty="0">
                <a:solidFill>
                  <a:schemeClr val="tx1"/>
                </a:solidFill>
                <a:effectLst/>
                <a:latin typeface="+mn-lt"/>
                <a:ea typeface="+mn-ea"/>
              </a:rPr>
              <a:t>米，而题干中只是通过</a:t>
            </a:r>
            <a:r>
              <a:rPr lang="en-US" altLang="zh-CN" sz="1200" kern="1200" dirty="0">
                <a:solidFill>
                  <a:schemeClr val="tx1"/>
                </a:solidFill>
                <a:effectLst/>
                <a:latin typeface="+mn-lt"/>
                <a:ea typeface="+mn-ea"/>
              </a:rPr>
              <a:t> 26 </a:t>
            </a:r>
            <a:r>
              <a:rPr lang="zh-CN" altLang="en-US" sz="1200" kern="1200" dirty="0">
                <a:solidFill>
                  <a:schemeClr val="tx1"/>
                </a:solidFill>
                <a:effectLst/>
                <a:latin typeface="+mn-lt"/>
                <a:ea typeface="+mn-ea"/>
              </a:rPr>
              <a:t>个观测点得出的珠峰顶部积雪深度，是局部推出了整体，故</a:t>
            </a:r>
            <a:r>
              <a:rPr lang="en-US" altLang="zh-CN" sz="1200" kern="1200" dirty="0">
                <a:solidFill>
                  <a:schemeClr val="tx1"/>
                </a:solidFill>
                <a:effectLst/>
                <a:latin typeface="+mn-lt"/>
                <a:ea typeface="+mn-ea"/>
              </a:rPr>
              <a:t> 26 </a:t>
            </a:r>
            <a:r>
              <a:rPr lang="zh-CN" altLang="en-US" sz="1200" kern="1200" dirty="0">
                <a:solidFill>
                  <a:schemeClr val="tx1"/>
                </a:solidFill>
                <a:effectLst/>
                <a:latin typeface="+mn-lt"/>
                <a:ea typeface="+mn-ea"/>
              </a:rPr>
              <a:t>个观测点的积雪深度均为</a:t>
            </a:r>
            <a:r>
              <a:rPr lang="en-US" altLang="zh-CN" sz="1200" kern="1200" dirty="0">
                <a:solidFill>
                  <a:schemeClr val="tx1"/>
                </a:solidFill>
                <a:effectLst/>
                <a:latin typeface="+mn-lt"/>
                <a:ea typeface="+mn-ea"/>
              </a:rPr>
              <a:t> 9.5 </a:t>
            </a:r>
            <a:r>
              <a:rPr lang="zh-CN" altLang="en-US" sz="1200" kern="1200" dirty="0">
                <a:solidFill>
                  <a:schemeClr val="tx1"/>
                </a:solidFill>
                <a:effectLst/>
                <a:latin typeface="+mn-lt"/>
                <a:ea typeface="+mn-ea"/>
              </a:rPr>
              <a:t>米不是论点成立的必要条件，</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项只是说明雷达测量的结果可靠，而</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项具体说明了探地雷达确实可以测量积雪的原理，综上，必要条件大于补充论据，且</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项比</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项表述更明确，故</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项力度更强。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论点：文学类书籍的受欢迎程度要高于科技类书籍。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论据：某高校针对去年起图书馆的图书借阅情况做了调查，数据显示，文学类书籍的借阅量大大超过了科技类书籍。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本题论点探讨的是文学类书籍受欢迎程度更高，论据探讨的文学类书籍的借阅量更大，论点论据话题不一致，削弱优先考虑拆桥，即说明借阅量大不等于受欢迎程度高。</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项：科技类书籍的学习难度较大会导致其受欢迎程度较低，解释了论点成立的原因，为加强项，无法削弱，排除；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文学类书籍占该校图书馆馆藏一半以上，即图书馆中文学类书籍的总量超过了科技类书籍，两类书籍的总量不一致，在两类书籍总量不一致的情况下，借阅量无法准确反映受欢迎程度，为拆桥项，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项：该校有接近三分之二的学生就读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专业（教学上哲学、历史、政治、法律等学科均属于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专业），论点论据探讨的是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文学类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书籍，而非</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书籍，因此无法确定就读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专业对借阅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文学类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书籍的影响，选项与题干话题不一致，无法削弱，排除；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项：指出该校法律、哲学类书籍的情况，与论点探讨的话题无关，为无关项，无法削弱，排除。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论点：人类可能会失去大多数药物来源。</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论据：人类</a:t>
            </a:r>
            <a:r>
              <a:rPr lang="en-US" altLang="zh-CN" sz="1200" kern="1200" dirty="0">
                <a:solidFill>
                  <a:schemeClr val="tx1"/>
                </a:solidFill>
                <a:effectLst/>
                <a:latin typeface="+mn-lt"/>
                <a:ea typeface="+mn-ea"/>
              </a:rPr>
              <a:t> 90%</a:t>
            </a:r>
            <a:r>
              <a:rPr lang="zh-CN" altLang="en-US" sz="1200" kern="1200" dirty="0">
                <a:solidFill>
                  <a:schemeClr val="tx1"/>
                </a:solidFill>
                <a:effectLst/>
                <a:latin typeface="+mn-lt"/>
                <a:ea typeface="+mn-ea"/>
              </a:rPr>
              <a:t>的药物来自植物，而当前地球上有近一半的开花植物受到灭绝的威胁，数量超过</a:t>
            </a:r>
            <a:r>
              <a:rPr lang="en-US" altLang="zh-CN" sz="1200" kern="1200" dirty="0">
                <a:solidFill>
                  <a:schemeClr val="tx1"/>
                </a:solidFill>
                <a:effectLst/>
                <a:latin typeface="+mn-lt"/>
                <a:ea typeface="+mn-ea"/>
              </a:rPr>
              <a:t> 10</a:t>
            </a:r>
            <a:r>
              <a:rPr lang="zh-CN" altLang="en-US" sz="1200" kern="1200" dirty="0">
                <a:solidFill>
                  <a:schemeClr val="tx1"/>
                </a:solidFill>
                <a:effectLst/>
                <a:latin typeface="+mn-lt"/>
                <a:ea typeface="+mn-ea"/>
              </a:rPr>
              <a:t>万种。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本题论点讨论的是人类可能会失去大多数药物来源，论据讨论的是人类</a:t>
            </a:r>
            <a:r>
              <a:rPr lang="en-US" altLang="zh-CN" sz="1200" kern="1200" dirty="0">
                <a:solidFill>
                  <a:schemeClr val="tx1"/>
                </a:solidFill>
                <a:effectLst/>
                <a:latin typeface="+mn-lt"/>
                <a:ea typeface="+mn-ea"/>
              </a:rPr>
              <a:t> 90%</a:t>
            </a:r>
            <a:r>
              <a:rPr lang="zh-CN" altLang="en-US" sz="1200" kern="1200" dirty="0">
                <a:solidFill>
                  <a:schemeClr val="tx1"/>
                </a:solidFill>
                <a:effectLst/>
                <a:latin typeface="+mn-lt"/>
                <a:ea typeface="+mn-ea"/>
              </a:rPr>
              <a:t>的药物来自植物，而近一半的开花植物受到灭绝的威胁，故论点论据话题不一致，削弱优先考虑拆桥，即在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近一半的开花植物灭绝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人类失去大多数药物来源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之间断开联系即可。</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项：动物以及真菌类也是重要的药物来源，只是重要的药物来源，但不清楚动物以及真菌类在药物来源中的占比，无法削弱论点中的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大多数药物来源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，为不明确项，无法削弱，排除</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项：植物受威胁甚至濒临灭绝的情况明显超过动物，比较植物和动物濒临灭绝的情况，与论点人类可能会失去大多数药物来源无关，为无关项，无法削弱，排除；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项：地球上的植物大概有</a:t>
            </a:r>
            <a:r>
              <a:rPr lang="en-US" altLang="zh-CN" sz="1200" kern="1200" dirty="0">
                <a:solidFill>
                  <a:schemeClr val="tx1"/>
                </a:solidFill>
                <a:effectLst/>
                <a:latin typeface="+mn-lt"/>
                <a:ea typeface="+mn-ea"/>
              </a:rPr>
              <a:t> 40 </a:t>
            </a:r>
            <a:r>
              <a:rPr lang="zh-CN" altLang="en-US" sz="1200" kern="1200" dirty="0">
                <a:solidFill>
                  <a:schemeClr val="tx1"/>
                </a:solidFill>
                <a:effectLst/>
                <a:latin typeface="+mn-lt"/>
                <a:ea typeface="+mn-ea"/>
              </a:rPr>
              <a:t>万种，当前开发为药用植物的有</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万多种，即地球上的植物足够多，尽管近一半的开花植物受到灭绝的威胁，人类只开发药用植物一万多种，还剩很多植物可以开发为药用植物，即在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近一半的开花植物灭绝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人类失去大多数药物来源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之间断开联系，为拆桥项，可以削弱，当选</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项：植物的药用价值也正是其濒临灭绝的主要原因，是在谈论植物濒临灭绝的原因，与论点人类可能会失去大多数药物来源无关，为无关项，无法削弱，排除。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仅指出存在其他药物来源，但题干论据明确</a:t>
            </a:r>
            <a:r>
              <a:rPr lang="en-US" altLang="zh-CN" sz="1200" kern="1200" dirty="0">
                <a:solidFill>
                  <a:schemeClr val="tx1"/>
                </a:solidFill>
                <a:effectLst/>
                <a:latin typeface="+mn-lt"/>
                <a:ea typeface="+mn-ea"/>
              </a:rPr>
              <a:t> “90% </a:t>
            </a:r>
            <a:r>
              <a:rPr lang="zh-CN" altLang="en-US" sz="1200" kern="1200" dirty="0">
                <a:solidFill>
                  <a:schemeClr val="tx1"/>
                </a:solidFill>
                <a:effectLst/>
                <a:latin typeface="+mn-lt"/>
                <a:ea typeface="+mn-ea"/>
              </a:rPr>
              <a:t>的药物来自植物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，其他来源占比极低，无法撼动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失去植物则失去大多数药物来源</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的核心逻辑，质疑力度弱，排除。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对比植物和动物的濒危程度，和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人类是否会失去大多数药物来源</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无关，属于无关选项，排除。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题干中受威胁的开花植物超</a:t>
            </a:r>
            <a:r>
              <a:rPr lang="en-US" altLang="zh-CN" sz="1200" kern="1200" dirty="0">
                <a:solidFill>
                  <a:schemeClr val="tx1"/>
                </a:solidFill>
                <a:effectLst/>
                <a:latin typeface="+mn-lt"/>
                <a:ea typeface="+mn-ea"/>
              </a:rPr>
              <a:t> 10 </a:t>
            </a:r>
            <a:r>
              <a:rPr lang="zh-CN" altLang="en-US" sz="1200" kern="1200" dirty="0">
                <a:solidFill>
                  <a:schemeClr val="tx1"/>
                </a:solidFill>
                <a:effectLst/>
                <a:latin typeface="+mn-lt"/>
                <a:ea typeface="+mn-ea"/>
              </a:rPr>
              <a:t>万种，但已开发的药用植物仅</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万多种。这说明：受威胁的植物中，药用植物占比本身极低；即便近一半开花植物灭绝，也不会覆盖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大多数药用植物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，直接切断了论据和论点的关联，从根本上质疑了观点，当选。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该选项承认了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药用植物濒临灭绝</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的问题，还提出需要找替代药物，侧面支持了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人类可能失去现有药物来源</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的观点，而非质疑，排除。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论点：气候变暖让热带和亚热带海域变得越来越绿。</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论据：全球</a:t>
            </a:r>
            <a:r>
              <a:rPr lang="en-US" altLang="zh-CN" sz="1200" kern="1200" dirty="0">
                <a:solidFill>
                  <a:schemeClr val="tx1"/>
                </a:solidFill>
                <a:effectLst/>
                <a:latin typeface="+mn-lt"/>
                <a:ea typeface="+mn-ea"/>
              </a:rPr>
              <a:t> 56%</a:t>
            </a:r>
            <a:r>
              <a:rPr lang="zh-CN" altLang="en-US" sz="1200" kern="1200" dirty="0">
                <a:solidFill>
                  <a:schemeClr val="tx1"/>
                </a:solidFill>
                <a:effectLst/>
                <a:latin typeface="+mn-lt"/>
                <a:ea typeface="+mn-ea"/>
              </a:rPr>
              <a:t>的海水变得越来越绿，这些海水都处在南纬</a:t>
            </a:r>
            <a:r>
              <a:rPr lang="en-US" altLang="zh-CN" sz="1200" kern="1200" dirty="0">
                <a:solidFill>
                  <a:schemeClr val="tx1"/>
                </a:solidFill>
                <a:effectLst/>
                <a:latin typeface="+mn-lt"/>
                <a:ea typeface="+mn-ea"/>
              </a:rPr>
              <a:t> 40 </a:t>
            </a:r>
            <a:r>
              <a:rPr lang="zh-CN" altLang="en-US" sz="1200" kern="1200" dirty="0">
                <a:solidFill>
                  <a:schemeClr val="tx1"/>
                </a:solidFill>
                <a:effectLst/>
                <a:latin typeface="+mn-lt"/>
                <a:ea typeface="+mn-ea"/>
              </a:rPr>
              <a:t>度和北纬</a:t>
            </a:r>
            <a:r>
              <a:rPr lang="en-US" altLang="zh-CN" sz="1200" kern="1200" dirty="0">
                <a:solidFill>
                  <a:schemeClr val="tx1"/>
                </a:solidFill>
                <a:effectLst/>
                <a:latin typeface="+mn-lt"/>
                <a:ea typeface="+mn-ea"/>
              </a:rPr>
              <a:t> 40 </a:t>
            </a:r>
            <a:r>
              <a:rPr lang="zh-CN" altLang="en-US" sz="1200" kern="1200" dirty="0">
                <a:solidFill>
                  <a:schemeClr val="tx1"/>
                </a:solidFill>
                <a:effectLst/>
                <a:latin typeface="+mn-lt"/>
                <a:ea typeface="+mn-ea"/>
              </a:rPr>
              <a:t>度之间的热带和亚热带水域，海水颜色由上层海水所含物质决定，深蓝色意味着海洋中没有太多生物，绿色则代表海里存在着以浮游植物为基础的生态系统。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本题论点讨论的是气候变暖让热带和亚热带海域变得越来越绿，论据讨论的是绿色则代表海里存在着以浮游植物为基础的生态系统，论据和论点话题不一致，加强优先考虑搭桥，即在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浮游植物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气候变暖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之间建立联系。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项：该项说的是变绿海域处在何地，论点说的是海域变得越来越绿的原因，话题不一致，无法加强，排除；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项：该项说的是如果海洋持续变暖，海洋变绿现象会持续地加剧，但不明确是否是气候变暖使得热带和亚热带海域变得越来越绿，无法加强，排除；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项：该项说的是气候变暖会大大加速热带和亚热带海洋浮游植物生长，在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浮游植物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气候变暖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之间建立联系，为搭桥项，可以加强，保留；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项：该项说的是模拟海洋系统证明气候变暖与海洋变绿之间存在正相关关系，补充论据，可以加强，保留。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两项，</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项为搭桥项，</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项为补充论据，</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项加强力度更强，当选。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论点：气候变暖让南纬</a:t>
            </a:r>
            <a:r>
              <a:rPr lang="en-US" altLang="zh-CN" sz="1200" kern="1200" dirty="0">
                <a:solidFill>
                  <a:schemeClr val="tx1"/>
                </a:solidFill>
                <a:effectLst/>
                <a:latin typeface="+mn-lt"/>
                <a:ea typeface="+mn-ea"/>
              </a:rPr>
              <a:t> 40 </a:t>
            </a:r>
            <a:r>
              <a:rPr lang="zh-CN" altLang="en-US" sz="1200" kern="1200" dirty="0">
                <a:solidFill>
                  <a:schemeClr val="tx1"/>
                </a:solidFill>
                <a:effectLst/>
                <a:latin typeface="+mn-lt"/>
                <a:ea typeface="+mn-ea"/>
              </a:rPr>
              <a:t>度至北纬</a:t>
            </a:r>
            <a:r>
              <a:rPr lang="en-US" altLang="zh-CN" sz="1200" kern="1200" dirty="0">
                <a:solidFill>
                  <a:schemeClr val="tx1"/>
                </a:solidFill>
                <a:effectLst/>
                <a:latin typeface="+mn-lt"/>
                <a:ea typeface="+mn-ea"/>
              </a:rPr>
              <a:t> 40 </a:t>
            </a:r>
            <a:r>
              <a:rPr lang="zh-CN" altLang="en-US" sz="1200" kern="1200" dirty="0">
                <a:solidFill>
                  <a:schemeClr val="tx1"/>
                </a:solidFill>
                <a:effectLst/>
                <a:latin typeface="+mn-lt"/>
                <a:ea typeface="+mn-ea"/>
              </a:rPr>
              <a:t>度之间的海域变得越来越绿。</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a:t>
            </a:r>
            <a:r>
              <a:rPr lang="en-US" altLang="en-US" sz="1200" kern="1200" dirty="0">
                <a:solidFill>
                  <a:schemeClr val="tx1"/>
                </a:solidFill>
                <a:effectLst/>
                <a:latin typeface="+mn-lt"/>
                <a:ea typeface="+mn-ea"/>
              </a:rPr>
              <a:t>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这片海域</a:t>
            </a:r>
            <a:r>
              <a:rPr lang="en-US" altLang="zh-CN" sz="1200" kern="1200" dirty="0">
                <a:solidFill>
                  <a:schemeClr val="tx1"/>
                </a:solidFill>
                <a:effectLst/>
                <a:latin typeface="+mn-lt"/>
                <a:ea typeface="+mn-ea"/>
              </a:rPr>
              <a:t> 56% </a:t>
            </a:r>
            <a:r>
              <a:rPr lang="zh-CN" altLang="en-US" sz="1200" kern="1200" dirty="0">
                <a:solidFill>
                  <a:schemeClr val="tx1"/>
                </a:solidFill>
                <a:effectLst/>
                <a:latin typeface="+mn-lt"/>
                <a:ea typeface="+mn-ea"/>
              </a:rPr>
              <a:t>的海水变绿；</a:t>
            </a:r>
            <a:r>
              <a:rPr lang="en-US" altLang="en-US" sz="1200" kern="1200" dirty="0">
                <a:solidFill>
                  <a:schemeClr val="tx1"/>
                </a:solidFill>
                <a:effectLst/>
                <a:latin typeface="+mn-lt"/>
                <a:ea typeface="+mn-ea"/>
              </a:rPr>
              <a:t>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海水变绿的原因是存在以浮游植物为基础的生态系统。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支持方向：需要建立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气候变暖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海水变绿（浮游植物增多）</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的直接因果联系，而非仅停留在相关性层面。</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该选项只是重复了题干中</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变绿海域的地理位置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，没有提及气候变暖的作用，与论点无关，排除。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指出了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变暖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变绿</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的趋势一致性，但属于一种假设性的相关性表述，没有解释二者的内在因果机制，支持力度弱于直接建立因果的选项。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题干明确</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海水变绿是因为存在以浮游植物为基础的生态系统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，该选项直接搭建了气候变暖</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浮游植物增多</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海水变绿的完整因果链，从原理上证明了论点的正确性，支持力度最强，当选。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正相关关系</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不等于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因果关系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，模拟实验的结论也不如现实中明确的因果机制有说服力，支持力度弱于</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选项，排除。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争议</a:t>
            </a:r>
            <a:r>
              <a:rPr lang="en-US" altLang="zh-CN" sz="1200" kern="1200" dirty="0">
                <a:solidFill>
                  <a:schemeClr val="tx1"/>
                </a:solidFill>
                <a:effectLst/>
                <a:latin typeface="+mn-lt"/>
                <a:ea typeface="+mn-ea"/>
              </a:rPr>
              <a:t>BD</a:t>
            </a:r>
            <a:r>
              <a:rPr lang="zh-CN" altLang="en-US" sz="1200" kern="1200" dirty="0">
                <a:solidFill>
                  <a:schemeClr val="tx1"/>
                </a:solidFill>
                <a:effectLst/>
                <a:latin typeface="+mn-lt"/>
                <a:ea typeface="+mn-ea"/>
              </a:rPr>
              <a:t>，直说＞反说</a:t>
            </a:r>
            <a:br>
              <a:rPr lang="zh-CN" altLang="en-US" sz="1200" kern="1200" dirty="0">
                <a:solidFill>
                  <a:schemeClr val="tx1"/>
                </a:solidFill>
                <a:effectLst/>
                <a:latin typeface="+mn-lt"/>
                <a:ea typeface="+mn-ea"/>
              </a:rPr>
            </a:br>
            <a:r>
              <a:rPr lang="zh-CN" altLang="en-US" sz="1200" kern="1200" dirty="0">
                <a:solidFill>
                  <a:schemeClr val="tx1"/>
                </a:solidFill>
                <a:effectLst/>
                <a:latin typeface="+mn-lt"/>
                <a:ea typeface="+mn-ea"/>
              </a:rPr>
              <a:t>论点：潜在的环境因素是帕金森病的诱因之一。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论据：环境因素如肠道微生物代谢产物会破坏人类产生多巴胺的神经元，导致类似帕金森病的症状出现。</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本题论据在讨论环境因素中的肠道因素会导致类似帕金森病的症状出现，论点在讨论潜在的环境因素是帕金森病的诱因之一，论点论据均在讨论环境因素导致帕金森病，二者话题一致，加强优先考虑补充论据。</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人类微生物组可能影响神经退行性疾病，帕金森病是最常见的神经退行性疾病之一，说明人类微生物组可能会对帕金森病有影响，但不明确是哪种微生物组，不确定是否属于环境因素，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项：该项说的是帕金森病患者的肠道微生物组环境与健康人不同，但不明确肠道微生物组环境不同是帕金森病的诱因还是结果，为不明确项，无法加强，排除；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项：该项说的是帕金森病诱因发现的现实意义，与题干讨论的潜在的环境因素是否是帕金森病诱因的话题无关，为无关项，无法加强，排除；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项：该项说的是杀虫剂和工业化学物质等与机体神经退化之间存在明显关联，而杀虫剂和工业化学物质确实是生活环境中存在的，举例说明环境因素是帕金森病的诱因，补充论据，可以加强，当选。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论点：潜在的环境因素（肠道微生物代谢产物）是帕金森病的诱因之一。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论据：肠道微生物代谢产物会破坏产生多巴胺的神经元，导致类似帕金森病的症状。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支持方向：需要建立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肠道微生物环境</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帕金森病发病</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的直接关联，或佐证环境因素对发病的影响。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表述模糊，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可能影响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是不确定的推测，且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神经退行性疾病</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范围大于帕金森病，没有明确指向论点中的因果关系，支持力度极弱，排除。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该选项直接将帕金森病患者和健康人的肠道微生物环境进行对比，证明二者存在显著差异。结合论据中</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肠道微生物代谢产物会损伤相关神经元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，可以直接佐证肠道微生物环境这一环境因素与帕金森病发病相关，有力支持论点，当选。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讨论的是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诱因发现的应用价值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环境因素是否是诱因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这一核心话题无关，属于无关选项，排除。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虽指出其他环境因素与神经退化有关，但未涉及论点核心的肠道微生物代谢产物，与题干论证的关联性不强，支持力度不足，排除。</a:t>
            </a:r>
            <a:endParaRPr lang="zh-CN" altLang="en-US" sz="1200" kern="1200" dirty="0">
              <a:solidFill>
                <a:schemeClr val="tx1"/>
              </a:solidFill>
              <a:effectLst/>
              <a:latin typeface="+mn-lt"/>
              <a:ea typeface="+mn-ea"/>
            </a:endParaRPr>
          </a:p>
          <a:p>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论点：潜在的环境因素是帕金森病的诱因之一。</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论据：环境因素如肠道微生物代谢产物会破坏人类产生多巴胺的神经元，导致类似帕金森病的症状出现。</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本题论据在讨论环境因素中的肠道因素会导致类似帕金森病的症状出现，论点在讨论潜在的环境因素是帕金森病的诱因之一，论点论据均在讨论环境因素导致帕金森病，二者话题一致，加强优先考虑补充论据。</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项：该项说的人类微生物组可能影响神经退行性疾病，帕金森病是最常见的神经退行性疾病之一，说明人类微生物组可能会对帕金森病有影响，具有可能的加强作用，保留；</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项：该项说的是帕金森病患者的肠道微生物组环境与健康人不同，说明由于两类人的肠道微生物不同，所以有可能是肠道微生物引发的帕金森，有一定的加强力度，保留；</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项该项说的是帕金森病诱因发现的现实意义，与题干讨论的潜在的环境因素是否是帕金森病诱因的话题无关，为无关项，无法加强，排除；</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项：项说的是杀虫剂和工业化学物质等与机体神经退化之间存在明显关联，而杀虫剂和工业化学物质确实是生活环境中存在的，举例说明环境因素是帕金森病的诱因，补充论据，可以加强，保留。</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三项，</a:t>
            </a:r>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项和</a:t>
            </a:r>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项均为可能性的加强，而</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项是明确的举例加强，</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项的加强力度大于</a:t>
            </a:r>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两项。</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争议</a:t>
            </a:r>
            <a:r>
              <a:rPr lang="en-US" altLang="zh-CN" sz="1200" kern="1200" dirty="0">
                <a:solidFill>
                  <a:schemeClr val="tx1"/>
                </a:solidFill>
                <a:effectLst/>
                <a:latin typeface="+mn-lt"/>
                <a:ea typeface="+mn-ea"/>
              </a:rPr>
              <a:t>CD</a:t>
            </a:r>
            <a:r>
              <a:rPr lang="zh-CN" altLang="en-US" sz="1200" kern="1200" dirty="0">
                <a:solidFill>
                  <a:schemeClr val="tx1"/>
                </a:solidFill>
                <a:effectLst/>
                <a:latin typeface="+mn-lt"/>
                <a:ea typeface="+mn-ea"/>
              </a:rPr>
              <a:t>，收入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销量×价格</a:t>
            </a:r>
            <a:br>
              <a:rPr lang="zh-CN" altLang="en-US" sz="1200" kern="1200" dirty="0">
                <a:solidFill>
                  <a:schemeClr val="tx1"/>
                </a:solidFill>
                <a:effectLst/>
                <a:latin typeface="+mn-lt"/>
                <a:ea typeface="+mn-ea"/>
              </a:rPr>
            </a:br>
            <a:r>
              <a:rPr lang="zh-CN" altLang="en-US" sz="1200" kern="1200" dirty="0">
                <a:solidFill>
                  <a:schemeClr val="tx1"/>
                </a:solidFill>
                <a:effectLst/>
                <a:latin typeface="+mn-lt"/>
                <a:ea typeface="+mn-ea"/>
              </a:rPr>
              <a:t>论点：至少在未来几年内，棉花价格的高涨将大幅提高棉花种植者的收入。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论据：世界上一些棉花种植区域的虫害导致全球棉花价格大幅上涨，相比之下，大豆的价格长期保持稳定，由于棉花成熟快，甲国许多大豆种植者计划停止大豆种植而改种棉花。</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讨论的是棉花价格的高涨将大幅提高棉花种植者的收入，论据讨论的是因全球棉花价格大幅上涨及棉花成熟快，甲国许多大豆种植者认为种棉花的收入会更高，从而计划停止大豆种植而改种棉花，论点论据都在讨论种棉花会提高种植者的收入，二者话题一致，削弱可以考虑削弱论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该选项仅说明大豆种植的成本问题，反而会让更多种植者倾向于改种棉花，侧面支持了改种的趋势，与削弱论点无关，排除。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消费者不愿支付更高价，只能说明棉花价格难以进一步上涨，但无法否定当前的高价状态，也不能证明种植者收入不会提高，削弱力度弱，排除。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题干中棉花价格高涨的核心原因是虫害，该杀虫剂能高效且低成本解决虫害问题：</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虫害缓解会让棉花产量回升，全球棉花供给增加；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供给增加会直接导致棉花价格回落，打破</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价格高涨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的前提；</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价格回落则种植者的收入自然无法大幅提高，从根本上削弱了论点，当选。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需求量不激增，仅能限制棉花价格的上涨幅度，但如果供给端仍因虫害短缺，价格依然可以维持在高位，无法有力削弱</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收入提高</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的结论，排除。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项：该项指出大豆种植成本预计将继续攀升，而论点讨论的是种棉花是否会提高种植者的收入，话题不一致，无法削弱，排除；</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项：项指出很少有消费者愿意为棉织品支付比现在更高的价格，说明消费者不愿意买单，所以种棉花挣不了钱，可以削弱，保留；</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项：该项指出甲国新研发的杀虫剂价格低廉，还能有效杀死棉花害虫，结合题干开头提及的棉花因虫害而涨价，说明由于甲国有便宜杀虫剂，所以就没有虫害，产量也不会下降，棉花就不会涨价进而不会提高种植者收入，可以削弱，保留；</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项：该项指出未来几年，甲国的棉花和棉花制品需求量不会急剧增加，而收入是由棉花价格和销量共同决定的，甲国消费者需求量不会急剧增加，故甲国棉花及棉花制品销量和价格可能不会有明显增加，从而将不会大幅提高棉花种植者的收入，削弱论点，可以削弱，保留。</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三项，</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项中通过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未来几年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需求量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与论点中的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未来几年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相呼应，与题干关系更紧密，而</a:t>
            </a:r>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两项均未提及具体时间，反驳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收入增加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的内容不如</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项更直接，</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项的削弱力度大于</a:t>
            </a:r>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两项。</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小赵</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小李是卧底；</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小李是卧底</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小周是卧底；</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小钱是卧底</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小孙是卧底；</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④</a:t>
            </a:r>
            <a:r>
              <a:rPr lang="zh-CN" altLang="en-US" sz="1200" kern="1200" dirty="0">
                <a:solidFill>
                  <a:schemeClr val="tx1"/>
                </a:solidFill>
                <a:effectLst/>
                <a:latin typeface="+mn-lt"/>
                <a:ea typeface="+mn-ea"/>
              </a:rPr>
              <a:t>小赵是卧底</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小钱是卧底；</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⑤</a:t>
            </a:r>
            <a:r>
              <a:rPr lang="zh-CN" altLang="en-US" sz="1200" kern="1200" dirty="0">
                <a:solidFill>
                  <a:schemeClr val="tx1"/>
                </a:solidFill>
                <a:effectLst/>
                <a:latin typeface="+mn-lt"/>
                <a:ea typeface="+mn-ea"/>
              </a:rPr>
              <a:t>小孙不是卧底；</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⑥</a:t>
            </a:r>
            <a:r>
              <a:rPr lang="zh-CN" altLang="en-US" sz="1200" kern="1200" dirty="0">
                <a:solidFill>
                  <a:schemeClr val="tx1"/>
                </a:solidFill>
                <a:effectLst/>
                <a:latin typeface="+mn-lt"/>
                <a:ea typeface="+mn-ea"/>
              </a:rPr>
              <a:t>五人中有两人是卧底。</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第二步：根据题干条件进行推理。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条件</a:t>
            </a:r>
            <a:r>
              <a:rPr lang="en-US" altLang="en-US" sz="1200" kern="1200" dirty="0">
                <a:solidFill>
                  <a:schemeClr val="tx1"/>
                </a:solidFill>
                <a:effectLst/>
                <a:latin typeface="+mn-lt"/>
                <a:ea typeface="+mn-ea"/>
              </a:rPr>
              <a:t>⑤</a:t>
            </a:r>
            <a:r>
              <a:rPr lang="zh-CN" altLang="en-US" sz="1200" kern="1200" dirty="0">
                <a:solidFill>
                  <a:schemeClr val="tx1"/>
                </a:solidFill>
                <a:effectLst/>
                <a:latin typeface="+mn-lt"/>
                <a:ea typeface="+mn-ea"/>
              </a:rPr>
              <a:t>为确定信息，从确定信息开始推理。结合条件</a:t>
            </a:r>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，根据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否后必否前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可以得出小钱不是卧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底。结合条件</a:t>
            </a:r>
            <a:r>
              <a:rPr lang="en-US" altLang="en-US" sz="1200" kern="1200" dirty="0">
                <a:solidFill>
                  <a:schemeClr val="tx1"/>
                </a:solidFill>
                <a:effectLst/>
                <a:latin typeface="+mn-lt"/>
                <a:ea typeface="+mn-ea"/>
              </a:rPr>
              <a:t>④</a:t>
            </a:r>
            <a:r>
              <a:rPr lang="zh-CN" altLang="en-US" sz="1200" kern="1200" dirty="0">
                <a:solidFill>
                  <a:schemeClr val="tx1"/>
                </a:solidFill>
                <a:effectLst/>
                <a:latin typeface="+mn-lt"/>
                <a:ea typeface="+mn-ea"/>
              </a:rPr>
              <a:t>，根据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否后必否前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可知，小赵不是卧底。结合条件</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，根据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或关系否一推一</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可以得出小李是卧底，再结合条件</a:t>
            </a:r>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，根据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肯前必肯后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可以得出小周是卧底，对应</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）甲和丙不能在同一个小组；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）乙在第一组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丁在第一组；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）戊在第一组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丙在第二组；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）己在第二组；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5</a:t>
            </a:r>
            <a:r>
              <a:rPr lang="zh-CN" altLang="en-US" sz="1200" kern="1200" dirty="0">
                <a:solidFill>
                  <a:schemeClr val="tx1"/>
                </a:solidFill>
                <a:effectLst/>
                <a:latin typeface="+mn-lt"/>
                <a:ea typeface="+mn-ea"/>
              </a:rPr>
              <a:t>）丙、戊在同一组；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6</a:t>
            </a:r>
            <a:r>
              <a:rPr lang="zh-CN" altLang="en-US" sz="1200" kern="1200" dirty="0">
                <a:solidFill>
                  <a:schemeClr val="tx1"/>
                </a:solidFill>
                <a:effectLst/>
                <a:latin typeface="+mn-lt"/>
                <a:ea typeface="+mn-ea"/>
              </a:rPr>
              <a:t>）第一组</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人，第二组</a:t>
            </a:r>
            <a:r>
              <a:rPr lang="en-US" altLang="zh-CN" sz="1200" kern="1200" dirty="0">
                <a:solidFill>
                  <a:schemeClr val="tx1"/>
                </a:solidFill>
                <a:effectLst/>
                <a:latin typeface="+mn-lt"/>
                <a:ea typeface="+mn-ea"/>
              </a:rPr>
              <a:t> 4 </a:t>
            </a:r>
            <a:r>
              <a:rPr lang="zh-CN" altLang="en-US" sz="1200" kern="1200" dirty="0">
                <a:solidFill>
                  <a:schemeClr val="tx1"/>
                </a:solidFill>
                <a:effectLst/>
                <a:latin typeface="+mn-lt"/>
                <a:ea typeface="+mn-ea"/>
              </a:rPr>
              <a:t>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第二步：根据题干条件进行推理。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根据条件（</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），如果戊在第一组，那么丙应该在第二组，与条件（</a:t>
            </a:r>
            <a:r>
              <a:rPr lang="en-US" altLang="zh-CN" sz="1200" kern="1200" dirty="0">
                <a:solidFill>
                  <a:schemeClr val="tx1"/>
                </a:solidFill>
                <a:effectLst/>
                <a:latin typeface="+mn-lt"/>
                <a:ea typeface="+mn-ea"/>
              </a:rPr>
              <a:t>5</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丙、戊在同一组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矛盾，所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以戊在第二组，则丙也在第二组。此时结合条件（</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）可知，甲在第一组；结合条件（</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）己在第二组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和条件（</a:t>
            </a:r>
            <a:r>
              <a:rPr lang="en-US" altLang="zh-CN" sz="1200" kern="1200" dirty="0">
                <a:solidFill>
                  <a:schemeClr val="tx1"/>
                </a:solidFill>
                <a:effectLst/>
                <a:latin typeface="+mn-lt"/>
                <a:ea typeface="+mn-ea"/>
              </a:rPr>
              <a:t>6</a:t>
            </a:r>
            <a:r>
              <a:rPr lang="zh-CN" altLang="en-US" sz="1200" kern="1200" dirty="0">
                <a:solidFill>
                  <a:schemeClr val="tx1"/>
                </a:solidFill>
                <a:effectLst/>
                <a:latin typeface="+mn-lt"/>
                <a:ea typeface="+mn-ea"/>
              </a:rPr>
              <a:t>）可得表格如下。此时还余乙、丁、庚</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人未分组。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结合条件（</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），假设乙在第一组，则丁也在第一组，此时甲、乙、丁在第一组，丙、戊、己、庚在第</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二组；假设乙在第二组，此时甲、丁、庚在第一组，乙、戊、丙、己在第二组。综上，乙和庚一定不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可能在同一组。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122805"/>
          </a:xfrm>
          <a:prstGeom prst="rect">
            <a:avLst/>
          </a:prstGeom>
          <a:noFill/>
        </p:spPr>
        <p:txBody>
          <a:bodyPr wrap="square" rtlCol="0">
            <a:spAutoFit/>
          </a:bodyPr>
          <a:lstStyle/>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福建</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2024</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7406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从所给的四个选项中，选择最合适的一个填入问号处，使之呈现一定的规律性：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1763395" y="1436370"/>
            <a:ext cx="8657590" cy="40259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9880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从所给的四个选项中，选择最合适的一个填入问号处，使之呈现一定规律性：</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1808480" y="1602740"/>
            <a:ext cx="8568055" cy="394144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②⑤⑥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①③⑤</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②④⑥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①⑤⑥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②③④</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②③⑤</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3640455" y="1508760"/>
            <a:ext cx="4911090" cy="38404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70865"/>
          </a:xfrm>
          <a:prstGeom prst="rect">
            <a:avLst/>
          </a:prstGeom>
          <a:noFill/>
        </p:spPr>
        <p:txBody>
          <a:bodyPr wrap="square" rtlCol="0" anchor="t">
            <a:spAutoFit/>
          </a:bodyPr>
          <a:p>
            <a:pPr indent="0" algn="l" fontAlgn="auto">
              <a:lnSpc>
                <a:spcPct val="13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下列纸盒的外表面展开图中，哪一个折叠成的纸盒和其他三个不一样？</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876300" y="1593215"/>
            <a:ext cx="10439400" cy="3395980"/>
          </a:xfrm>
          <a:prstGeom prst="rect">
            <a:avLst/>
          </a:prstGeom>
        </p:spPr>
      </p:pic>
      <p:pic>
        <p:nvPicPr>
          <p:cNvPr id="6" name="图片 5"/>
          <p:cNvPicPr>
            <a:picLocks noChangeAspect="1"/>
          </p:cNvPicPr>
          <p:nvPr/>
        </p:nvPicPr>
        <p:blipFill>
          <a:blip r:embed="rId2"/>
          <a:stretch>
            <a:fillRect/>
          </a:stretch>
        </p:blipFill>
        <p:spPr>
          <a:xfrm>
            <a:off x="3973830" y="4989195"/>
            <a:ext cx="4686300" cy="152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11988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下图为</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15</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个白色和</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5</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个灰色正方体组合而成的多面体，右边哪一个不可能是其某个角度的视图？</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2981960" y="1447165"/>
            <a:ext cx="6325235" cy="419989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1188700" cy="452310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职场义警是指认为自己在没有正式授权的情况下，能够监控周围环境中是否存在违反公司规范的迹象，并在自认为适当或合理的时候对感知到的违规同事进行直接或间接处罚的人。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根据上述定义，下列属于职场义警的是：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小张认为公司强制加班的行为违反了劳动法，于是向公司主管部门进行实名举报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戴红袖标的居委会王阿姨在斑马线义务执勤时，对乱闯红灯的行人进行口头批评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有同事利用上班时间闲聊，老周看不过去，瞅准机会找到这位同事进行批评教育</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保卫科小刘专门就公司员工安全意识弱现象向领导进行汇报，建议领导通报批评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117028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矛盾职业认同是指从业者对自身职业兼具认同和不认同，或认同职业某一方面而不认同其他方面，反映了个体对自身职业的复杂情感。</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根据上述定义，下列属于矛盾职业认同的是：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小强对未来就业感到迷茫，一方面认为本专业相对好就业，另一方面觉得工作压力会很大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虽然觉得社会上有很多人对网络主播并不认同，但小飞却决定将主播当作一生的事业来做</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小刚的父母希望他毕业后考公务员，但小刚自己却更喜欢做一名教师</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老汪觉得送快递很累，但工作时间相对自由，因此他还是决定干下去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367020"/>
          </a:xfrm>
          <a:prstGeom prst="rect">
            <a:avLst/>
          </a:prstGeom>
          <a:noFill/>
        </p:spPr>
        <p:txBody>
          <a:bodyPr wrap="square" rtlCol="0" anchor="t">
            <a:spAutoFit/>
          </a:bodyPr>
          <a:p>
            <a:pPr indent="0" algn="l" fontAlgn="auto">
              <a:lnSpc>
                <a:spcPct val="13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领导负面反馈是指领导对员工当前行为或绩效未达到目标或标准时所给予员工的指示、否定或批评，其目的是激励员工更加努力工作或改变行为方式以减小差距。</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根据上述定义，下列属于领导负面反馈的是：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人力资源部王部长对总经理说，员工小李的工作能力实在太差，建议合同到期后不再续聘</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厨师小徐因为炒菜口味问题被顾客多次投诉，厨师长对他进行了严肃批评并帮他寻找原因</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在单位年终总结会上，小冯为激励自己进步，积极就自身工作不足向同事们征求批评意见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办公室侯主任把年度考核不合格的员工名单递交给人事处，人事处向员工通报了处理结果</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1174730" cy="396938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即兴能力是企业在紧急、不可预测环境下，计划与行动同时进行，通过对资源进行利用和整合呈现出创造性，从而自发地实现预期目标的能力。</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根据上述定义，下列属于即兴能力的是：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企业聚餐，员工老杨一杯酒下肚，情绪立即高涨起来，即兴为大家表演了诗朗诵</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负责公司招聘的人力资源部通过对考生即兴演讲效果的比较，确定最终录用人员</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某企业面对技术封锁，边调整发展规划，边创新研发技术，最终成长为行业巨头</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为应对未来劳动力成本大幅攀升的不利影响，企业启动了机器设备升级换代工作</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448685"/>
          </a:xfrm>
          <a:prstGeom prst="rect">
            <a:avLst/>
          </a:prstGeom>
          <a:noFill/>
        </p:spPr>
        <p:txBody>
          <a:bodyPr wrap="square" rtlCol="0" anchor="t">
            <a:spAutoFit/>
          </a:bodyPr>
          <a:p>
            <a:pPr indent="0" algn="l" fontAlgn="auto">
              <a:lnSpc>
                <a:spcPct val="13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邻里效应是指在一定的空间范围内，经验丰富的邻里行为会对其他个体的社会经济行为产生影响，从而吸引其他个体出于收益考虑，向其学习、模仿和跟从。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根据上述定义，下列属于邻里效应的是</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老赵去年种的玉米格外高产，今年村里的邻居都跟着他家买一样的种子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老孙的儿子初中毕业后选择上职高，这吸引了村里其他孩子也进了职高</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村东的小张新买了一辆小轿车，村西的小李看到后，也买了一辆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小冯看了网上的装修图后很心动，也照图装修了自己家</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逆向选择性监管是指在某些监管领域中，监管者对违规程度较低的目标群体严加监管，对违规程度更高的监管对象却相对宽松，使得监管强度与对象违规程度成反比的组织现象。</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根据上述定义，下列属于逆向选择性监管的是：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监管部门对证照齐全的大中型校外培训机构严加管控，却对问题突出的个体培训疏于管控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候车时，守序排队的人上车没有座位，而插队的人却有座位，对此公交车司机却不加干预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班主任把易犯错误且屡教不改的学生座位调整在前排，以便任课老师监督</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在每年的消费者权益保护日晚会上，监管部门都会重点曝光一些违规产品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52310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适应性绩效是指个体应对、响应和支持变化的行为表现，具有一定动态发展性，它对于个人、团队和企业的创新以及维持企业在动态变化的环境中持续高效运作均具有重要意义。</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根据上述定义，下列属于适应性绩效的是：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企业为适应市场环境，加速剥离非核心业务，以维持主营业务的竞争力</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为响应绿色低碳生产要求，公司董事会决定关闭高污染高耗能生产项目</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C.50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多岁的赵老师对人工智能技术产生了很大兴趣，专门学习了有关课程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为了适应公司海外市场的快速拓展，销售骨干小刘开始学起了第二外语</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领导者对下属或员工的过错惩罚有两种，权变惩罚与非权变惩罚，领导权变惩罚是指领导根据下属的过失程度酌情采取惩罚；领导非权变惩罚是指因下属的过失行为，领导施加了与下属实际绩效和表现不相符的过度惩罚。</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根据上述定义，下列属于领导非权变惩罚的是：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小刘操作机床时，故意违反操作规程造成机床主机严重受损，公司根据相关规定对其进行加重处罚</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因甲方无法如期履行合同义务，乙方领导指示法务部门根据合同约定条款严肃追究甲方的违约责任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刘律师因疏忽大意错过了案件上诉期，尽管其已获得委托人谅解，但律所仍对刘律师施以顶格处罚</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小郑不小心给客户少发了部分产品，发现后及时补发，按规定只需罚款，但是经理却坚持要将他开除</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96938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积极独处是个体主动选择与他人的交际分离，选择自我自由并投入到有意义的、愉快的活动中，从而产生的一种内在积极体验。</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根据上述定义，下列属于积极独处的是：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小孙睡眠质量不好，外出工作时一般都不和同事一起住</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小钱已经锁定了晚上的演唱会门票，谢绝了同事下班后聚餐的邀请</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为了准备研究生入学考试，小赵几乎不参加社交活动，他感到很充实</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小周适应不了职场人际关系，辞职后不愿出去找工作，整日在家刷视频</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646170"/>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警觉性市场学习是指企业或组织为提高深度市场洞察而提前建立预警系统，并保持注意力集中以预测市场变化或感知客户需求微弱信号的学习行为。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根据上述定义，下列属于警觉性市场学习的是：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公司提醒小吴要想在职场中保持优势地位，避免被淘汰，就必须利用业余时间多学习</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阳阳上课时注意力不集中，为帮他养成良好学习习惯，家长聘请了心理专家进行干预</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某知名企业组建市场调研部，定期监测市场动向，积极培训员工，努力规避潜在风险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某房地产开发商通过暂缓开发或拖延施工进度等方式，试图化解可能面临的发展危机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文字：汉字</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判断：概念</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宇宙：恒星</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中国：北京</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工人：矿工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前因后果：因果</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内忧外患：忧患</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南征北战：征战</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左顾右盼：顾盼</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有始无终：始终</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飞机：机库：机场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课桌：桌椅：桌面</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药品：药盒：药箱</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乘客：客车：车站</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汽车：车轮：车轴</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窗户：窗帘：遮光</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桌子：桌布：防污</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电脑：鼠标：操作</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座椅：座垫：美观</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茶杯：茶叶：茶水</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信息科技：生物科技：科技</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机械工业：智能工业：工业</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纺织产业：物流产业：产业</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公共交通：城市交通：交通</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商品住房：保障住房：住房</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制造：中国制造：智能化中国制造</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小说：长篇小说：中长篇科幻小说</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批评：自我批评：剖析式自我批评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学习：深度学习：机器人深度学习</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锻炼：体育锻炼：有意识体育锻炼</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风吹：草低：见牛羊</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浪打：船摇：靠舵手</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光照：叶肥：促生长</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游人：如织：显道窄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雨淋：花落：闻余香</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93</a:t>
            </a:r>
            <a:endParaRPr kumimoji="1" lang="en-US" altLang="zh-CN" sz="3735" b="1" dirty="0">
              <a:solidFill>
                <a:srgbClr val="FF653F"/>
              </a:solidFill>
              <a:latin typeface="+mj-lt"/>
              <a:ea typeface="+mj-lt"/>
              <a:cs typeface="+mj-lt"/>
            </a:endParaRPr>
          </a:p>
        </p:txBody>
      </p:sp>
      <p:sp>
        <p:nvSpPr>
          <p:cNvPr id="4" name="文本框 3"/>
          <p:cNvSpPr txBox="1"/>
          <p:nvPr/>
        </p:nvSpPr>
        <p:spPr>
          <a:xfrm>
            <a:off x="608965"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政治家：文学家：思想家</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污染物：氧化物：硫化物</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科幻片：纪录片：故事片</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马铃薯：西红柿：农作物</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运动员：跆拳道：大学生</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山西：陈醋：粮食</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甘肃：秦艽：植物</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河南：汝瓷：瓷土</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四川：蜀绣：丝绸</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陕西：剪纸：纸张</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演员</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相当于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指挥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主演；主唱</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导演；乐手</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演出；演奏</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主角；观众</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视觉（光）是哺乳动物重要的感知，其促进幼年大脑发育的功能得到了广泛关注。在发育过程中视网膜自感光神经节细胞是最早具有感光功能的视网膜感光细胞，专家认为它可能是介导光促进幼年大脑发育最关键的感光细胞。</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以下哪项如果为真，最能支持专家的观点？</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蜻蜓拥有近乎三百六十度的视野，它们不用频繁地扭动头部，就可以发现目标猎物</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新生儿出生前视网膜已经发育，随着婴儿月龄增加，追物能力变强，视野扩大，多增加光环境可以促进新生儿大脑发育</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细胞光感受的缺失，会导致幼鼠在学习速度上的缺陷，但这种缺陷可以被幼年时人为激活该细胞或视上核的催产素神经元所弥补</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小蝙蝠的视杆细胞主要用于感受暗光，虽然它们具有视力，但回声定位能力却是其感知周围环境的主要手段，可以忽略视觉对它的重要性</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1134725" cy="5292725"/>
          </a:xfrm>
          <a:prstGeom prst="rect">
            <a:avLst/>
          </a:prstGeom>
          <a:noFill/>
        </p:spPr>
        <p:txBody>
          <a:bodyPr wrap="square" rtlCol="0" anchor="t">
            <a:spAutoFit/>
          </a:bodyPr>
          <a:p>
            <a:pPr indent="0" algn="l" fontAlgn="auto">
              <a:lnSpc>
                <a:spcPct val="13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前不久，某地烧烤突然在网上火爆出圈，线上</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山呼海啸</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般的流量迅速转化为线下高度集聚的客流，一时间，某地烧烤成为现象级</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民众盛宴</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。最近，网上开始出现一些某地烧烤</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凉了</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的帖子，依据有三：一是客流量下降，二是一些烧烤店开始转让门面，三是网络搜索热度大不如前。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以下哪项组合如果为真，最能质疑上述帖子的观点</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①</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与其说是</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凉了</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，不如说是回归常态。眼下，某地烧烤虽然</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降温</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，但相较</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火</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起来前还是热得多</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②</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某地烧烤的火爆吸引了众多入局者，品味和服务好的店铺依然客流不息，有些店面转让出局很正常</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③</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互联网制造热点具有更新换代快、生命周期短等特点。任何网红的热度都难以持续，但这并不等于</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凉了</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④</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一场让全民或围观或参与的烧烤让更多人认识了某地，良好的消费环境和优质的公共服务令人印象深刻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①②</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③④</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①②③</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D.</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①②③④</a:t>
            </a:r>
            <a:endParaRPr lang="en-US"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24624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科学家一直在对珠峰顶部积雪的厚度进行测量研究，过去由于没有探地雷达，测量研究结果具有不确定性，一般认为珠峰顶部积雪深度在</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0.92</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到</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3.5</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米之间。最近，中国研究人员在珠峰北坡，利用探地雷达沿着海拔</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7000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米以上的山脊设置了</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26</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个测量点，通过采集大量数据得出结论，珠峰顶部积雪比以前认为的要深得多，平均达</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9.5</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米。</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以下哪项如果为真，最能支持上述结论</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探地雷达的测量结果证明了珠峰山脊的地形相对平坦</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珠峰山脊的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26</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个测量点中有</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个点的积雪深度超过</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米</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珠峰北坡海拔</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7000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米以上山脊气候恶劣，雷达精度易受影响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雪和岩石表面差异很大，探地雷达可准确确定这两种物质的边界</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1141075" cy="396938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某高校针对去年起图书馆的图书借阅情况做了调查，数据显示，文学类书籍的借阅量大大超过了科技类书籍。因此，文学类书籍的受欢迎程度要高于科技类书籍。</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以下哪项如果为真，最能削弱上述论证？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科技类书籍学习难度较大</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文学类书籍占该校图书馆馆藏一半以上</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该校就读文科专业的学生接近三分之二</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除了文学类书籍，法律、哲学类书籍也很受欢迎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96938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有研究报告指出，当前地球上有近一半的开花植物受到灭绝的威胁，数量超过</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10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万种。而鉴于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90%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的药物来自植物，因此人类可能会失去大多数药物来源。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以下哪项如果为真最能质疑上述观点？</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动物以及真菌类也是重要的药物来源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植物受威胁甚至濒临灭绝的情况明显超过动物</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地球上的植物大概有</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40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万种，当前开发为药用植物的有</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万多种</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植物的药用价值也正是其濒临灭绝的主要原因，亟需寻找可替代药物</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7533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借助水文气象卫星</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20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年采集的数据，科学家看到全球</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56%</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的海水变得越来越绿，这些海水都处在南纬</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40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度和北纬</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40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度之间的热带和亚热带水域，海水颜色由上层海水所含物质决定，深蓝色意味着海洋中没有太多生物，绿色则代表海里存在着以浮游植物为基础的生态系统，科学家据此认为，气候变暖让这片海域变得越来越绿。</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以下哪项如果为真，最能支持上述结论？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变绿海域都处在热带和亚热带，特别是赤道附近</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如果海洋持续变暖，海洋变绿现象会持续地加剧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气候变暖会大大加速热带和亚热带海洋浮游植物生长</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模拟海洋生态系统证明气候变暖与海水变绿之间存在正相关关系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帕金森病作为一种严重的神经变性疾病，其背后发生的潜在原因尚不清楚，尽管遗传突变已经成为诱发帕金森病的一种已知原因，但</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90%</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的病例仍然是零星发生的，且没有明确的遗传起源，最新研究发现，环境因素如肠道微生物代谢产物会破坏人类产生多巴胺的神经元，导致类似帕金森病的症状出现，这一发现表明潜在的环境因素是帕金森病的诱因之一。</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以下哪项如果为真，最能支持上述观点？</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人类微生物组可能影响神经退行性疾病</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帕金森病患者的肠道微生物组环境与健康人不同</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帕金森病诱因的发现为开发新型疗法提供了方向</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杀虫剂和工业化学物质等与机体神经退化之间存在明显关联</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世界上一些棉花种植区域的虫害导致全球棉花价格大幅上涨，相比之下，大豆的价格长期保持稳定，由于棉花成熟快，甲国许多大豆种植者计划停止大豆种植而改种棉花。所以，至少在未来几年内，棉花价格的高涨将大幅提高棉花种植者的收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以下哪项如果为真，最能削弱上述论证？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过去几年大豆种植成本显著增加，预计将继续攀升</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很少有消费者愿意为棉织品支付比现在更高的价格</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甲国新研发的杀虫剂价格低廉，还能有效杀死棉花害虫</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未来几年，甲国的棉花和棉花制品需求量不会急剧增加</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672465"/>
            <a:ext cx="10968355" cy="618553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小赵、小李、小周、小孙、小钱五人一起参与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谁是卧底</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的游戏。已知五人中有两人是卧底，且存在以下情况：</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小赵、小李两人中至少有一人是卧底</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如果小李是卧底，小周一定是卧底</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只有在小孙是卧底时，小钱才是卧底</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如果小钱不是卧底，那么小赵也不是卧底</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⑤</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小孙不是卧底</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则卧底是：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小赵和小钱</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小钱和小李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小李和小周</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小赵和小周</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742815"/>
          </a:xfrm>
          <a:prstGeom prst="rect">
            <a:avLst/>
          </a:prstGeom>
          <a:noFill/>
        </p:spPr>
        <p:txBody>
          <a:bodyPr wrap="square" rtlCol="0" anchor="t">
            <a:spAutoFit/>
          </a:bodyPr>
          <a:p>
            <a:pPr indent="0" algn="l" fontAlgn="auto">
              <a:lnSpc>
                <a:spcPct val="14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某单位邀请</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7</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位评标专家甲、乙、丙、丁、戊、己、庚参加评标工作，</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7</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位评标专家随机被分成两组，其中第一组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3</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人，第二组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4</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人，但分组须符合以下要求：</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甲和丙不能在同一个小组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如果乙在第一组，那么丁必须在第一组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如果戊在第一组，那么丙必须在第二组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己必须在第二组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如果丙、戊在同一组，那么不可能在同一组的是：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甲和乙</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甲和丁</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乙和庚</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丙和庚</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5739</Words>
  <Application>WPS 演示</Application>
  <PresentationFormat>宽屏</PresentationFormat>
  <Paragraphs>307</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Arial</vt:lpstr>
      <vt:lpstr>宋体</vt:lpstr>
      <vt:lpstr>Wingdings</vt:lpstr>
      <vt:lpstr>楷体</vt:lpstr>
      <vt:lpstr>Wingdings</vt:lpstr>
      <vt:lpstr>微软雅黑 Light</vt:lpstr>
      <vt:lpstr>微软雅黑</vt:lpstr>
      <vt:lpstr>Arial Unicode MS</vt:lpstr>
      <vt:lpstr>自定义设计方案</vt:lpstr>
      <vt:lpstr>PowerPoint 演示文稿</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题101</vt:lpstr>
      <vt:lpstr>题102</vt:lpstr>
      <vt:lpstr>题103</vt:lpstr>
      <vt:lpstr>题104</vt:lpstr>
      <vt:lpstr>题105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238</cp:revision>
  <dcterms:created xsi:type="dcterms:W3CDTF">2019-06-19T02:08:00Z</dcterms:created>
  <dcterms:modified xsi:type="dcterms:W3CDTF">2026-01-06T10:00:19Z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