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6"/>
  </p:handoutMasterIdLst>
  <p:sldIdLst>
    <p:sldId id="1794" r:id="rId3"/>
    <p:sldId id="1823" r:id="rId5"/>
    <p:sldId id="1824" r:id="rId6"/>
    <p:sldId id="1825" r:id="rId7"/>
    <p:sldId id="1826" r:id="rId8"/>
    <p:sldId id="1827" r:id="rId9"/>
    <p:sldId id="1833" r:id="rId10"/>
    <p:sldId id="1834" r:id="rId11"/>
    <p:sldId id="1835" r:id="rId12"/>
    <p:sldId id="1836" r:id="rId13"/>
    <p:sldId id="1837" r:id="rId14"/>
    <p:sldId id="1838" r:id="rId15"/>
    <p:sldId id="1839" r:id="rId16"/>
    <p:sldId id="1840" r:id="rId17"/>
    <p:sldId id="1841" r:id="rId18"/>
    <p:sldId id="1842" r:id="rId19"/>
    <p:sldId id="1843" r:id="rId20"/>
    <p:sldId id="1844" r:id="rId21"/>
    <p:sldId id="1863" r:id="rId22"/>
    <p:sldId id="1845" r:id="rId23"/>
    <p:sldId id="1846" r:id="rId24"/>
    <p:sldId id="1847" r:id="rId25"/>
    <p:sldId id="1848" r:id="rId26"/>
    <p:sldId id="1849" r:id="rId27"/>
    <p:sldId id="1850" r:id="rId28"/>
    <p:sldId id="1852" r:id="rId29"/>
    <p:sldId id="1853" r:id="rId30"/>
    <p:sldId id="1854" r:id="rId31"/>
    <p:sldId id="1855" r:id="rId32"/>
    <p:sldId id="1856" r:id="rId33"/>
    <p:sldId id="1857" r:id="rId34"/>
    <p:sldId id="1796" r:id="rId35"/>
  </p:sldIdLst>
  <p:sldSz cx="12192000" cy="6858000"/>
  <p:notesSz cx="6858000" cy="9144000"/>
  <p:custDataLst>
    <p:tags r:id="rId4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61"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7" name="李鹏飞_6bQfzI3a" initials="李" lastIdx="0" clrIdx="0"/>
  <p:cmAuthor id="8" name="小珞_QjMfU7FR" initials="小" lastIdx="0" clrIdx="0"/>
  <p:cmAuthor id="9" name="骆倩怡_Znauj26B" initials="authorId_382814100" lastIdx="0" clrIdx="0"/>
  <p:cmAuthor id="249246244" name="桑桑" initials="桑" lastIdx="1" clrIdx="0"/>
  <p:cmAuthor id="10" name="caoyue" initials="c" lastIdx="1" clrIdx="9"/>
  <p:cmAuthor id="12" name="18309297108" initials="1" lastIdx="1" clrIdx="11"/>
  <p:cmAuthor id="13" name="xmiles" initials="x" lastIdx="1" clrIdx="12"/>
  <p:cmAuthor id="2001" name="Microsoft Office User" initials="MOU" lastIdx="1" clrIdx="2"/>
  <p:cmAuthor id="11" name="ibm" initials="i" lastIdx="5" clrIdx="10"/>
  <p:cmAuthor id="14" name="kobe" initials="k" lastIdx="1" clrIdx="13"/>
  <p:cmAuthor id="15" name="MIAI" initials="M" lastIdx="1" clrIdx="14"/>
  <p:cmAuthor id="16" name="HP" initials="H" lastIdx="1" clrIdx="15"/>
  <p:cmAuthor id="17" name="yangyaqin" initials="y" lastIdx="1" clrIdx="16"/>
  <p:cmAuthor id="18" name="ASUS" initials="A" lastIdx="1" clrIdx="1"/>
  <p:cmAuthor id="76" name="Yongqiang ZHOU" initials="YZ" lastIdx="1" clrIdx="25"/>
  <p:cmAuthor id="2000" name="Beck_jUrevum2" initials="authorId_724972424" lastIdx="0" clrIdx="0"/>
  <p:cmAuthor id="1483810881" name="WPS_1679281038" initials="W" lastIdx="1" clrIdx="2"/>
  <p:cmAuthor id="667521689" name="小蕊" initials="小"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261"/>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1" Type="http://schemas.openxmlformats.org/officeDocument/2006/relationships/tags" Target="tags/tag4.xml"/><Relationship Id="rId40" Type="http://schemas.openxmlformats.org/officeDocument/2006/relationships/commentAuthors" Target="commentAuthors.xml"/><Relationship Id="rId4" Type="http://schemas.openxmlformats.org/officeDocument/2006/relationships/notesMaster" Target="notesMasters/notesMaster1.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handoutMaster" Target="handoutMasters/handoutMaster1.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楷体" panose="02010609060101010101" charset="-122"/>
                <a:ea typeface="楷体" panose="02010609060101010101" charset="-122"/>
                <a:cs typeface="楷体" panose="0201060906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楷体" panose="02010609060101010101" charset="-122"/>
                <a:ea typeface="楷体" panose="02010609060101010101" charset="-122"/>
                <a:cs typeface="楷体" panose="0201060906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1pPr>
    <a:lvl2pPr marL="4572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2pPr>
    <a:lvl3pPr marL="9144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3pPr>
    <a:lvl4pPr marL="13716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4pPr>
    <a:lvl5pPr marL="18288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解析一：元素组成不同，且无明显属性规律，考虑数量规律。观察发现，图形线条交叉明显，</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且每幅图均出现明显的弧线，考虑数曲直交点。曲直交点数均为</a:t>
            </a:r>
            <a:r>
              <a:rPr lang="en-US" altLang="zh-CN" sz="1200" kern="1200" dirty="0">
                <a:solidFill>
                  <a:schemeClr val="tx1"/>
                </a:solidFill>
                <a:effectLst/>
                <a:latin typeface="+mn-lt"/>
                <a:ea typeface="+mn-ea"/>
              </a:rPr>
              <a:t> 1</a:t>
            </a:r>
            <a:r>
              <a:rPr lang="zh-CN" altLang="en-US" sz="1200" kern="1200" dirty="0">
                <a:solidFill>
                  <a:schemeClr val="tx1"/>
                </a:solidFill>
                <a:effectLst/>
                <a:latin typeface="+mn-lt"/>
                <a:ea typeface="+mn-ea"/>
              </a:rPr>
              <a:t>，排除</a:t>
            </a:r>
            <a:r>
              <a:rPr lang="en-US" altLang="zh-CN" sz="1200" kern="1200" dirty="0">
                <a:solidFill>
                  <a:schemeClr val="tx1"/>
                </a:solidFill>
                <a:effectLst/>
                <a:latin typeface="+mn-lt"/>
                <a:ea typeface="+mn-ea"/>
              </a:rPr>
              <a:t> B </a:t>
            </a:r>
            <a:r>
              <a:rPr lang="zh-CN" altLang="en-US" sz="1200" kern="1200" dirty="0">
                <a:solidFill>
                  <a:schemeClr val="tx1"/>
                </a:solidFill>
                <a:effectLst/>
                <a:latin typeface="+mn-lt"/>
                <a:ea typeface="+mn-ea"/>
              </a:rPr>
              <a:t>项；继续观察发</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现，题干图形曲直交点的特征依次为：曲线的端点与直线交叉、曲线的中段与直线</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十字交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、曲线的端点与直线交叉、曲线的中段与直线</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十字交叉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、曲线的端点与直线交叉，故？</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处图形的曲直交点应为曲线的中段与直线</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十字交叉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，只有</a:t>
            </a:r>
            <a:r>
              <a:rPr lang="en-US" altLang="zh-CN" sz="1200" kern="1200" dirty="0">
                <a:solidFill>
                  <a:schemeClr val="tx1"/>
                </a:solidFill>
                <a:effectLst/>
                <a:latin typeface="+mn-lt"/>
                <a:ea typeface="+mn-ea"/>
              </a:rPr>
              <a:t> D </a:t>
            </a:r>
            <a:r>
              <a:rPr lang="zh-CN" altLang="en-US" sz="1200" kern="1200" dirty="0">
                <a:solidFill>
                  <a:schemeClr val="tx1"/>
                </a:solidFill>
                <a:effectLst/>
                <a:latin typeface="+mn-lt"/>
                <a:ea typeface="+mn-ea"/>
              </a:rPr>
              <a:t>项符合。</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解析二：</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元素组成不同，且无明显属性规律，考虑数量规律。观察发现，图形线条交叉明显，且每幅</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图均出现明显的弧线，考虑曲直交点。曲直交点数均为</a:t>
            </a:r>
            <a:r>
              <a:rPr lang="en-US" altLang="zh-CN" sz="1200" kern="1200" dirty="0">
                <a:solidFill>
                  <a:schemeClr val="tx1"/>
                </a:solidFill>
                <a:effectLst/>
                <a:latin typeface="+mn-lt"/>
                <a:ea typeface="+mn-ea"/>
              </a:rPr>
              <a:t> 1</a:t>
            </a:r>
            <a:r>
              <a:rPr lang="zh-CN" altLang="en-US" sz="1200" kern="1200" dirty="0">
                <a:solidFill>
                  <a:schemeClr val="tx1"/>
                </a:solidFill>
                <a:effectLst/>
                <a:latin typeface="+mn-lt"/>
                <a:ea typeface="+mn-ea"/>
              </a:rPr>
              <a:t>，排除</a:t>
            </a:r>
            <a:r>
              <a:rPr lang="en-US" altLang="zh-CN" sz="1200" kern="1200" dirty="0">
                <a:solidFill>
                  <a:schemeClr val="tx1"/>
                </a:solidFill>
                <a:effectLst/>
                <a:latin typeface="+mn-lt"/>
                <a:ea typeface="+mn-ea"/>
              </a:rPr>
              <a:t> B </a:t>
            </a:r>
            <a:r>
              <a:rPr lang="zh-CN" altLang="en-US" sz="1200" kern="1200" dirty="0">
                <a:solidFill>
                  <a:schemeClr val="tx1"/>
                </a:solidFill>
                <a:effectLst/>
                <a:latin typeface="+mn-lt"/>
                <a:ea typeface="+mn-ea"/>
              </a:rPr>
              <a:t>项；继续观察发现，题干</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图形曲直交点的特征为：曲线与直线（横线或竖线）相交、曲线与斜线相交、曲线与直线（横</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线或竖线）相交、曲线与斜线相交、曲线与直线（横线或竖线）相交，故？处图形的曲直交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点应为曲线与斜线相交，只有</a:t>
            </a:r>
            <a:r>
              <a:rPr lang="en-US" altLang="zh-CN" sz="1200" kern="1200" dirty="0">
                <a:solidFill>
                  <a:schemeClr val="tx1"/>
                </a:solidFill>
                <a:effectLst/>
                <a:latin typeface="+mn-lt"/>
                <a:ea typeface="+mn-ea"/>
              </a:rPr>
              <a:t> A </a:t>
            </a:r>
            <a:r>
              <a:rPr lang="zh-CN" altLang="en-US" sz="1200" kern="1200" dirty="0">
                <a:solidFill>
                  <a:schemeClr val="tx1"/>
                </a:solidFill>
                <a:effectLst/>
                <a:latin typeface="+mn-lt"/>
                <a:ea typeface="+mn-ea"/>
              </a:rPr>
              <a:t>项符合。</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注：本题粉笔倾向于解析一。因为题干图形均只有一条曲线，曲线的端点或中段与直线相交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的特征更明确；另外，解析二中图</a:t>
            </a:r>
            <a:r>
              <a:rPr lang="en-US" altLang="zh-CN" sz="1200" kern="1200" dirty="0">
                <a:solidFill>
                  <a:schemeClr val="tx1"/>
                </a:solidFill>
                <a:effectLst/>
                <a:latin typeface="+mn-lt"/>
                <a:ea typeface="+mn-ea"/>
              </a:rPr>
              <a:t> 1 </a:t>
            </a:r>
            <a:r>
              <a:rPr lang="zh-CN" altLang="en-US" sz="1200" kern="1200" dirty="0">
                <a:solidFill>
                  <a:schemeClr val="tx1"/>
                </a:solidFill>
                <a:effectLst/>
                <a:latin typeface="+mn-lt"/>
                <a:ea typeface="+mn-ea"/>
              </a:rPr>
              <a:t>为曲线与竖线相交，图</a:t>
            </a:r>
            <a:r>
              <a:rPr lang="en-US" altLang="zh-CN" sz="1200" kern="1200" dirty="0">
                <a:solidFill>
                  <a:schemeClr val="tx1"/>
                </a:solidFill>
                <a:effectLst/>
                <a:latin typeface="+mn-lt"/>
                <a:ea typeface="+mn-ea"/>
              </a:rPr>
              <a:t> 3 </a:t>
            </a:r>
            <a:r>
              <a:rPr lang="zh-CN" altLang="en-US" sz="1200" kern="1200" dirty="0">
                <a:solidFill>
                  <a:schemeClr val="tx1"/>
                </a:solidFill>
                <a:effectLst/>
                <a:latin typeface="+mn-lt"/>
                <a:ea typeface="+mn-ea"/>
              </a:rPr>
              <a:t>和图</a:t>
            </a:r>
            <a:r>
              <a:rPr lang="en-US" altLang="zh-CN" sz="1200" kern="1200" dirty="0">
                <a:solidFill>
                  <a:schemeClr val="tx1"/>
                </a:solidFill>
                <a:effectLst/>
                <a:latin typeface="+mn-lt"/>
                <a:ea typeface="+mn-ea"/>
              </a:rPr>
              <a:t> 5 </a:t>
            </a:r>
            <a:r>
              <a:rPr lang="zh-CN" altLang="en-US" sz="1200" kern="1200" dirty="0">
                <a:solidFill>
                  <a:schemeClr val="tx1"/>
                </a:solidFill>
                <a:effectLst/>
                <a:latin typeface="+mn-lt"/>
                <a:ea typeface="+mn-ea"/>
              </a:rPr>
              <a:t>为曲线与横线相交，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其直线方向不完全一样。</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元素组成不同，且无明显属性规律，考虑数量规律。观察发现，题干图形均由黑白球组成，</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第一组图形黑球每次增加</a:t>
            </a:r>
            <a:r>
              <a:rPr lang="en-US" altLang="zh-CN" sz="1200" kern="1200" dirty="0">
                <a:solidFill>
                  <a:schemeClr val="tx1"/>
                </a:solidFill>
                <a:effectLst/>
                <a:latin typeface="+mn-lt"/>
                <a:ea typeface="+mn-ea"/>
              </a:rPr>
              <a:t> 1 </a:t>
            </a:r>
            <a:r>
              <a:rPr lang="zh-CN" altLang="en-US" sz="1200" kern="1200" dirty="0">
                <a:solidFill>
                  <a:schemeClr val="tx1"/>
                </a:solidFill>
                <a:effectLst/>
                <a:latin typeface="+mn-lt"/>
                <a:ea typeface="+mn-ea"/>
              </a:rPr>
              <a:t>个，白球每次增加</a:t>
            </a:r>
            <a:r>
              <a:rPr lang="en-US" altLang="zh-CN" sz="1200" kern="1200" dirty="0">
                <a:solidFill>
                  <a:schemeClr val="tx1"/>
                </a:solidFill>
                <a:effectLst/>
                <a:latin typeface="+mn-lt"/>
                <a:ea typeface="+mn-ea"/>
              </a:rPr>
              <a:t> 2 </a:t>
            </a:r>
            <a:r>
              <a:rPr lang="zh-CN" altLang="en-US" sz="1200" kern="1200" dirty="0">
                <a:solidFill>
                  <a:schemeClr val="tx1"/>
                </a:solidFill>
                <a:effectLst/>
                <a:latin typeface="+mn-lt"/>
                <a:ea typeface="+mn-ea"/>
              </a:rPr>
              <a:t>个；第二组图形黑球每次增加</a:t>
            </a:r>
            <a:r>
              <a:rPr lang="en-US" altLang="zh-CN" sz="1200" kern="1200" dirty="0">
                <a:solidFill>
                  <a:schemeClr val="tx1"/>
                </a:solidFill>
                <a:effectLst/>
                <a:latin typeface="+mn-lt"/>
                <a:ea typeface="+mn-ea"/>
              </a:rPr>
              <a:t> 2 </a:t>
            </a:r>
            <a:r>
              <a:rPr lang="zh-CN" altLang="en-US" sz="1200" kern="1200" dirty="0">
                <a:solidFill>
                  <a:schemeClr val="tx1"/>
                </a:solidFill>
                <a:effectLst/>
                <a:latin typeface="+mn-lt"/>
                <a:ea typeface="+mn-ea"/>
              </a:rPr>
              <a:t>个，白球</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每次增加</a:t>
            </a:r>
            <a:r>
              <a:rPr lang="en-US" altLang="zh-CN" sz="1200" kern="1200" dirty="0">
                <a:solidFill>
                  <a:schemeClr val="tx1"/>
                </a:solidFill>
                <a:effectLst/>
                <a:latin typeface="+mn-lt"/>
                <a:ea typeface="+mn-ea"/>
              </a:rPr>
              <a:t> 1 </a:t>
            </a:r>
            <a:r>
              <a:rPr lang="zh-CN" altLang="en-US" sz="1200" kern="1200" dirty="0">
                <a:solidFill>
                  <a:schemeClr val="tx1"/>
                </a:solidFill>
                <a:effectLst/>
                <a:latin typeface="+mn-lt"/>
                <a:ea typeface="+mn-ea"/>
              </a:rPr>
              <a:t>个，故？处图形应该包含</a:t>
            </a:r>
            <a:r>
              <a:rPr lang="en-US" altLang="zh-CN" sz="1200" kern="1200" dirty="0">
                <a:solidFill>
                  <a:schemeClr val="tx1"/>
                </a:solidFill>
                <a:effectLst/>
                <a:latin typeface="+mn-lt"/>
                <a:ea typeface="+mn-ea"/>
              </a:rPr>
              <a:t> 6 </a:t>
            </a:r>
            <a:r>
              <a:rPr lang="zh-CN" altLang="en-US" sz="1200" kern="1200" dirty="0">
                <a:solidFill>
                  <a:schemeClr val="tx1"/>
                </a:solidFill>
                <a:effectLst/>
                <a:latin typeface="+mn-lt"/>
                <a:ea typeface="+mn-ea"/>
              </a:rPr>
              <a:t>个黑球、</a:t>
            </a:r>
            <a:r>
              <a:rPr lang="en-US" altLang="zh-CN" sz="1200" kern="1200" dirty="0">
                <a:solidFill>
                  <a:schemeClr val="tx1"/>
                </a:solidFill>
                <a:effectLst/>
                <a:latin typeface="+mn-lt"/>
                <a:ea typeface="+mn-ea"/>
              </a:rPr>
              <a:t>3 </a:t>
            </a:r>
            <a:r>
              <a:rPr lang="zh-CN" altLang="en-US" sz="1200" kern="1200" dirty="0">
                <a:solidFill>
                  <a:schemeClr val="tx1"/>
                </a:solidFill>
                <a:effectLst/>
                <a:latin typeface="+mn-lt"/>
                <a:ea typeface="+mn-ea"/>
              </a:rPr>
              <a:t>个白球，排除</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两项；再次观察发现，</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题干图形都是由不同颜色的球组成，且明显分为内外两圈，考虑分开看。第一组图中，内圈</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的黑球依次顺时针增加</a:t>
            </a:r>
            <a:r>
              <a:rPr lang="en-US" altLang="zh-CN" sz="1200" kern="1200" dirty="0">
                <a:solidFill>
                  <a:schemeClr val="tx1"/>
                </a:solidFill>
                <a:effectLst/>
                <a:latin typeface="+mn-lt"/>
                <a:ea typeface="+mn-ea"/>
              </a:rPr>
              <a:t> 1 </a:t>
            </a:r>
            <a:r>
              <a:rPr lang="zh-CN" altLang="en-US" sz="1200" kern="1200" dirty="0">
                <a:solidFill>
                  <a:schemeClr val="tx1"/>
                </a:solidFill>
                <a:effectLst/>
                <a:latin typeface="+mn-lt"/>
                <a:ea typeface="+mn-ea"/>
              </a:rPr>
              <a:t>个，外圈的白球依次逆时针增加</a:t>
            </a:r>
            <a:r>
              <a:rPr lang="en-US" altLang="zh-CN" sz="1200" kern="1200" dirty="0">
                <a:solidFill>
                  <a:schemeClr val="tx1"/>
                </a:solidFill>
                <a:effectLst/>
                <a:latin typeface="+mn-lt"/>
                <a:ea typeface="+mn-ea"/>
              </a:rPr>
              <a:t> 2 </a:t>
            </a:r>
            <a:r>
              <a:rPr lang="zh-CN" altLang="en-US" sz="1200" kern="1200" dirty="0">
                <a:solidFill>
                  <a:schemeClr val="tx1"/>
                </a:solidFill>
                <a:effectLst/>
                <a:latin typeface="+mn-lt"/>
                <a:ea typeface="+mn-ea"/>
              </a:rPr>
              <a:t>个；第二组图中，前两幅图内</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圈的白球依次顺时针增加</a:t>
            </a:r>
            <a:r>
              <a:rPr lang="en-US" altLang="zh-CN" sz="1200" kern="1200" dirty="0">
                <a:solidFill>
                  <a:schemeClr val="tx1"/>
                </a:solidFill>
                <a:effectLst/>
                <a:latin typeface="+mn-lt"/>
                <a:ea typeface="+mn-ea"/>
              </a:rPr>
              <a:t> 1 </a:t>
            </a:r>
            <a:r>
              <a:rPr lang="zh-CN" altLang="en-US" sz="1200" kern="1200" dirty="0">
                <a:solidFill>
                  <a:schemeClr val="tx1"/>
                </a:solidFill>
                <a:effectLst/>
                <a:latin typeface="+mn-lt"/>
                <a:ea typeface="+mn-ea"/>
              </a:rPr>
              <a:t>个，外圈的两部分黑球各依次逆时针增加</a:t>
            </a:r>
            <a:r>
              <a:rPr lang="en-US" altLang="zh-CN" sz="1200" kern="1200" dirty="0">
                <a:solidFill>
                  <a:schemeClr val="tx1"/>
                </a:solidFill>
                <a:effectLst/>
                <a:latin typeface="+mn-lt"/>
                <a:ea typeface="+mn-ea"/>
              </a:rPr>
              <a:t> 1 </a:t>
            </a:r>
            <a:r>
              <a:rPr lang="zh-CN" altLang="en-US" sz="1200" kern="1200" dirty="0">
                <a:solidFill>
                  <a:schemeClr val="tx1"/>
                </a:solidFill>
                <a:effectLst/>
                <a:latin typeface="+mn-lt"/>
                <a:ea typeface="+mn-ea"/>
              </a:rPr>
              <a:t>个，？处图形应用</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此规律，只有</a:t>
            </a:r>
            <a:r>
              <a:rPr lang="en-US" altLang="zh-CN" sz="1200" kern="1200" dirty="0">
                <a:solidFill>
                  <a:schemeClr val="tx1"/>
                </a:solidFill>
                <a:effectLst/>
                <a:latin typeface="+mn-lt"/>
                <a:ea typeface="+mn-ea"/>
              </a:rPr>
              <a:t> D </a:t>
            </a:r>
            <a:r>
              <a:rPr lang="zh-CN" altLang="en-US" sz="1200" kern="1200" dirty="0">
                <a:solidFill>
                  <a:schemeClr val="tx1"/>
                </a:solidFill>
                <a:effectLst/>
                <a:latin typeface="+mn-lt"/>
                <a:ea typeface="+mn-ea"/>
              </a:rPr>
              <a:t>项符合。</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本题为分组分类题目。元素组成相同，但无位置规律和属性规律，考虑数量规律。观察发现，</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题干图形黑球和白球分堆明显，考虑部分数。图</a:t>
            </a:r>
            <a:r>
              <a:rPr lang="en-US" altLang="en-US" sz="1200" kern="1200" dirty="0">
                <a:solidFill>
                  <a:schemeClr val="tx1"/>
                </a:solidFill>
                <a:effectLst/>
                <a:latin typeface="+mn-lt"/>
                <a:ea typeface="+mn-ea"/>
              </a:rPr>
              <a:t>①⑤⑥</a:t>
            </a:r>
            <a:r>
              <a:rPr lang="zh-CN" altLang="en-US" sz="1200" kern="1200" dirty="0">
                <a:solidFill>
                  <a:schemeClr val="tx1"/>
                </a:solidFill>
                <a:effectLst/>
                <a:latin typeface="+mn-lt"/>
                <a:ea typeface="+mn-ea"/>
              </a:rPr>
              <a:t>中黑球部分数均为</a:t>
            </a:r>
            <a:r>
              <a:rPr lang="en-US" altLang="zh-CN" sz="1200" kern="1200" dirty="0">
                <a:solidFill>
                  <a:schemeClr val="tx1"/>
                </a:solidFill>
                <a:effectLst/>
                <a:latin typeface="+mn-lt"/>
                <a:ea typeface="+mn-ea"/>
              </a:rPr>
              <a:t> 1</a:t>
            </a:r>
            <a:r>
              <a:rPr lang="zh-CN" altLang="en-US" sz="1200" kern="1200" dirty="0">
                <a:solidFill>
                  <a:schemeClr val="tx1"/>
                </a:solidFill>
                <a:effectLst/>
                <a:latin typeface="+mn-lt"/>
                <a:ea typeface="+mn-ea"/>
              </a:rPr>
              <a:t>，白球部分数均</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为</a:t>
            </a:r>
            <a:r>
              <a:rPr lang="en-US" altLang="zh-CN" sz="1200" kern="1200" dirty="0">
                <a:solidFill>
                  <a:schemeClr val="tx1"/>
                </a:solidFill>
                <a:effectLst/>
                <a:latin typeface="+mn-lt"/>
                <a:ea typeface="+mn-ea"/>
              </a:rPr>
              <a:t> 4</a:t>
            </a:r>
            <a:r>
              <a:rPr lang="zh-CN" altLang="en-US" sz="1200" kern="1200" dirty="0">
                <a:solidFill>
                  <a:schemeClr val="tx1"/>
                </a:solidFill>
                <a:effectLst/>
                <a:latin typeface="+mn-lt"/>
                <a:ea typeface="+mn-ea"/>
              </a:rPr>
              <a:t>，图</a:t>
            </a:r>
            <a:r>
              <a:rPr lang="en-US" altLang="en-US" sz="1200" kern="1200" dirty="0">
                <a:solidFill>
                  <a:schemeClr val="tx1"/>
                </a:solidFill>
                <a:effectLst/>
                <a:latin typeface="+mn-lt"/>
                <a:ea typeface="+mn-ea"/>
              </a:rPr>
              <a:t>②③④</a:t>
            </a:r>
            <a:r>
              <a:rPr lang="zh-CN" altLang="en-US" sz="1200" kern="1200" dirty="0">
                <a:solidFill>
                  <a:schemeClr val="tx1"/>
                </a:solidFill>
                <a:effectLst/>
                <a:latin typeface="+mn-lt"/>
                <a:ea typeface="+mn-ea"/>
              </a:rPr>
              <a:t>中黑球部分数均为</a:t>
            </a:r>
            <a:r>
              <a:rPr lang="en-US" altLang="zh-CN" sz="1200" kern="1200" dirty="0">
                <a:solidFill>
                  <a:schemeClr val="tx1"/>
                </a:solidFill>
                <a:effectLst/>
                <a:latin typeface="+mn-lt"/>
                <a:ea typeface="+mn-ea"/>
              </a:rPr>
              <a:t> 2</a:t>
            </a:r>
            <a:r>
              <a:rPr lang="zh-CN" altLang="en-US" sz="1200" kern="1200" dirty="0">
                <a:solidFill>
                  <a:schemeClr val="tx1"/>
                </a:solidFill>
                <a:effectLst/>
                <a:latin typeface="+mn-lt"/>
                <a:ea typeface="+mn-ea"/>
              </a:rPr>
              <a:t>，白球部分数均为</a:t>
            </a:r>
            <a:r>
              <a:rPr lang="en-US" altLang="zh-CN" sz="1200" kern="1200" dirty="0">
                <a:solidFill>
                  <a:schemeClr val="tx1"/>
                </a:solidFill>
                <a:effectLst/>
                <a:latin typeface="+mn-lt"/>
                <a:ea typeface="+mn-ea"/>
              </a:rPr>
              <a:t> 3</a:t>
            </a:r>
            <a:r>
              <a:rPr lang="zh-CN" altLang="en-US" sz="1200" kern="1200" dirty="0">
                <a:solidFill>
                  <a:schemeClr val="tx1"/>
                </a:solidFill>
                <a:effectLst/>
                <a:latin typeface="+mn-lt"/>
                <a:ea typeface="+mn-ea"/>
              </a:rPr>
              <a:t>，故图</a:t>
            </a:r>
            <a:r>
              <a:rPr lang="en-US" altLang="en-US" sz="1200" kern="1200" dirty="0">
                <a:solidFill>
                  <a:schemeClr val="tx1"/>
                </a:solidFill>
                <a:effectLst/>
                <a:latin typeface="+mn-lt"/>
                <a:ea typeface="+mn-ea"/>
              </a:rPr>
              <a:t>①⑤⑥</a:t>
            </a:r>
            <a:r>
              <a:rPr lang="zh-CN" altLang="en-US" sz="1200" kern="1200" dirty="0">
                <a:solidFill>
                  <a:schemeClr val="tx1"/>
                </a:solidFill>
                <a:effectLst/>
                <a:latin typeface="+mn-lt"/>
                <a:ea typeface="+mn-ea"/>
              </a:rPr>
              <a:t>为一组，图</a:t>
            </a:r>
            <a:r>
              <a:rPr lang="en-US" altLang="en-US" sz="1200" kern="1200" dirty="0">
                <a:solidFill>
                  <a:schemeClr val="tx1"/>
                </a:solidFill>
                <a:effectLst/>
                <a:latin typeface="+mn-lt"/>
                <a:ea typeface="+mn-ea"/>
              </a:rPr>
              <a:t>②③④</a:t>
            </a:r>
            <a:r>
              <a:rPr lang="zh-CN" altLang="en-US" sz="1200" kern="1200" dirty="0">
                <a:solidFill>
                  <a:schemeClr val="tx1"/>
                </a:solidFill>
                <a:effectLst/>
                <a:latin typeface="+mn-lt"/>
                <a:ea typeface="+mn-ea"/>
              </a:rPr>
              <a:t>为</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一组。</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本题考查立体拼合。题干多面体可以由</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B</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中的小多面体（</a:t>
            </a:r>
            <a:r>
              <a:rPr lang="en-US" altLang="zh-CN" sz="1200" kern="1200" dirty="0">
                <a:solidFill>
                  <a:schemeClr val="tx1"/>
                </a:solidFill>
                <a:effectLst/>
                <a:latin typeface="+mn-lt"/>
                <a:ea typeface="+mn-ea"/>
              </a:rPr>
              <a:t>A</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两项中的小多面体需要先旋转）拼合而成，具体</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拼合过程如下图所示。</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本题为选非题，故正确答案为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文化模式、信仰、价值观、习俗、语言和其他社会行为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时间上的持续性</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不同社会成</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员之间的传递</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项：单亲家庭中长大的小王，养成了独立的性格，性格是一个人对现实的相对稳定的态度，</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文化模式、信仰、价值观、习俗、语言和其他社会行为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，养成独立的性格也不符合</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不同社会成员之间的传递</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项：小李在公司聚会上向同事们介绍自己的女朋友，传递给同事的信息是关于女朋友的基</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本情况，不符合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文化模式、信仰、价值观、习俗、语言和其他社会行为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项：某小学开设了具有当地特色的民俗课，民俗课可以将当地特色的民间文化通过课程的</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形式传递给同学们，符合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文化模式、信仰、价值观、习俗、语言和其他社会行为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不同</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社会成员之间的传递</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，课程深受学生喜爱，同学们通过学习逐渐了解并认同这些民俗，有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利于把当地特色民俗传承下去，符合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时间上的持续性</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项：某品牌家用饮水设备的广告语不断在电视上滚动播放，电视广告传递的是饮水设备的</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产品信息，不符合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文化模式、信仰、价值观、习俗、语言和其他社会行为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企业不仅要坚守原有市场阵地，还要将业务范围扩展到新的有潜力的领域</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项：石油公司将业务扩展至煤炭、核能、水利和化学等新的领域，符合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企业不仅要坚守</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原有市场阵地，还要将业务范围扩展到新的有潜力的领域</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项：低糖饮料属于饮料行业的细分产品，饮料公司并未向新的领域扩展业务，不符合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企</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业不仅要坚守原有市场阵地，还要将业务范围扩展到新的有潜力的领域</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，不符合定义，当</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项：手机公司将业务扩展至智能穿戴、新能源汽车等新的领域，符合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企业不仅要坚守原</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有市场阵地，还要将业务范围扩展到新的有潜力的领域</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项：白酒公司将业务扩展至冷冻食品等新的领域，符合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企业不仅要坚守原有市场阵地，</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还要将业务范围扩展到新的有潜力的领域</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本题为选非题，故正确答案为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不记姓名或相互不了解的情况</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个体独立性、自主性得到充分体现</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项：小刘到了新成立的公司，符合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不记姓名或相互不了解的情况</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，但小刘收敛自己的锋</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芒，没有真正地展现自己，不符合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个体独立性、自主性得到充分体现</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项：小方在现在的岗位上工作，不清楚是否是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相互不了解的情况</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，常常以不会为理由推</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脱各项工作，不清楚是否真的不会，不符合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个体独立性、自主性得到充分体现</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项：小林不喜欢张老师，但还是评价了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，并没有展现自主性，不符合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个体独立性、自</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主性得到充分体现</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项：小丁到陌生城市旅行，符合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不记姓名或相互不了解的情况</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，在旅行中释放真实的自</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己，符合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个体独立性、自主性得到充分体现</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校友的社会活动中以母校为核心</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以母校和校友为载体</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给母校、校友以及社会带来客</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观收益的经济活动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项：校友会举办了校园招聘活动，校友企业提供了就业岗位，符合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校友的社会活动中以</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母校为核心</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以母校和校友为载体</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给母校、校友以及社会带来客观收益的经济活动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项：某自媒体博主将自己赚的第一桶金捐给了贫困山区的学校，并没有体现母校与校友的</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核心主体，不符合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校友的社会活动中以母校为核心</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以母校和校友为载体</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给母校、校</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友以及社会带来客观收益的经济活动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项：某高校给予对学校建设和发展作出突出贡献的校友精神奖励，并未体现校友给母校带</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来的客观收益的经济活动，不符合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以母校和校友为载体</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给母校、校友以及社会带来客</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观收益的经济活动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项：某高校定期举办成功校友与在校学生座谈活动，进一步做实大学生思想政治工作，属</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于教育引导，并没有涉及经济活动，不符合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以母校和校友为载体</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给母校、校友以及社</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会带来客观收益的经济活动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在谈判过程中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双方在某一个问题上相持不下，或者对方的态度、行为欠妥、要求不太</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合理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通过情绪爆发、大发脾气等手段有意制造僵局逼迫对方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使对方被迫让步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项：小强脾气很是暴躁，做事没有耐心，遇到不顺心的事就生气发火，是日常做事的态度</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和行为，不符合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在谈判过程中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，家里人都不敢和他亲近，不符合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使对方被迫让步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项：老王在谈判过程中，遇到对方提出无理要求，不再与对方谈判，直接终止谈判而不是</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在继续的谈判中迫使对方让步，不符合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使对方被迫让步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项：谈判时，双方在某原则性问题上讨论了两天毫无进展，符合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在谈判过程中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双方在</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某一个问题上相持不下</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，老周率领代表团临时离席表达自己的不满，最终对方作出了让步，</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通过情绪爆发、大发脾气等手段有意制造僵局逼迫对方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使对方被迫让步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项：多多以离家出走要挟父母必须给他买手机，但父母坚决不同意并对他进行了批评教育，</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证明父母没有让步，不符合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使对方被迫让步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主动收入：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用时间来换取金钱</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最大的特点就是必须花费时间和精力去获得</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一种临时</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性收入，做一次工作得到一次回报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被动收入：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不需要花费多少时间和精力，也不需要照看，就可以自动获得的收入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项：银行存款的收益无需花费额外的时间和精力，就可自动获得利息，符合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不需要花费</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多少时间和精力，也不需要照看，就可以自动获得的收入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被动收入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项：授权专利的许可费无需花费额外的时间和精力，只要有人使用专利，就可获得许可费</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用，符合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不需要花费多少时间和精力，也不需要照看，就可以自动获得的收入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被</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动收入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项：每月固定的兼职工资是需要花费时间和精力的，也是做一次工作得到一次回报，符合</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用时间来换取金钱</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最大的特点就是必须花费时间和精力去获得</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一种临时性收入，做</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一次工作得到一次回报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主动收入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被动收入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项：退休后每月领到的退休金无需花费额外的时间和精力，是按照当前的相关制度，每月</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自动发放的，符合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不需要花费多少时间和精力，也不需要照看，就可以自动获得的收入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被动收入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本题为选非题，故正确答案为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白色文献：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公开出版发行的文献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黑色文献：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涉及机密无法公开出版发行的文献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灰色文献：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采用访问、会议、报告、通信等非正式科学交流方式传播的、尚未正式出版的</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文献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已经发行但不易通过一般销售渠道购得</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项：行业协会印刷的提供给协会会员使用的技术规范，是在协会的内部传播，不易通过一</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般销售渠道购得，符合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采用访问、会议、报告、通信等非正式科学交流方式传播的、尚未</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正式出版的文献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已经发行但不易通过一般销售渠道购得</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，符合灰色文献的定义，排除；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项：高校文学院为学术会议印刷的会议论文集，只适用在学术会议这一特定场合，尚未正</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式出版，也不能通过一般销售渠道购得，符合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采用访问、会议、报告、通信等非正式科学</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交流方式传播的、尚未正式出版的文献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已经发行但不易通过一般销售渠道购得</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灰色文献的定义，排除；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项：考古学杂志社每期印刷的受众极小的学术期刊，虽然受众小，但也属于正式出版发行</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的文献，符合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公开出版发行的文献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采用访问、会议、报告、通信等非正式科学</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交流方式传播的、尚未正式出版的文献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，符合白色文献的定义，不符合灰色文献的定义，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项：企业印刷的内部刊物只在其内部流通，并未正式出版，也不能通过一般销售渠道购得，</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采用访问、会议、报告、通信等非正式科学交流方式传播的、尚未正式出版的文献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已经发行但不易通过一般销售渠道购得</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，符合灰色文献的定义，排除。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本题为选非题，故正确答案为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同类组合：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若干相同事物的组合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异类组合：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两种或两种以上不同事物的组合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重新组合：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分解事物的原来组合，再按照新的目标重新组合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项：在手机壳背后安装一个钢圈，是在原有的基础上加上一个东西，并未分解事物的原来</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组合，不符合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分解事物的原来组合，再按照新的目标重新组合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重新组合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项：用</a:t>
            </a:r>
            <a:r>
              <a:rPr lang="en-US" altLang="zh-CN" sz="1200" kern="1200" dirty="0">
                <a:solidFill>
                  <a:schemeClr val="tx1"/>
                </a:solidFill>
                <a:effectLst/>
                <a:latin typeface="+mn-lt"/>
                <a:ea typeface="+mn-ea"/>
              </a:rPr>
              <a:t> 100 </a:t>
            </a:r>
            <a:r>
              <a:rPr lang="zh-CN" altLang="en-US" sz="1200" kern="1200" dirty="0">
                <a:solidFill>
                  <a:schemeClr val="tx1"/>
                </a:solidFill>
                <a:effectLst/>
                <a:latin typeface="+mn-lt"/>
                <a:ea typeface="+mn-ea"/>
              </a:rPr>
              <a:t>根雪糕棍制作成房子等手工艺制品，是同一种事物的组合，符合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若干相同事</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物的组合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同类组合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重新组合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项：在台灯底座安装紫外线灭蚊装置，是在台灯底座原有的基础上安装，并未分解事物的</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原来组合，不符合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分解事物的原来组合，再按照新的目标重新组合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重新组合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项：将原来拼装成大风车的积木拆开，符合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分解事物的原来组合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，再拼装成飞机，符合</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再按照新的目标重新组合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重新组合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endParaRPr lang="en-US" altLang="zh-CN"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生理性购买动机：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消费者为满足由保持和延续生命而引起的各种需要所产生的购买动机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社会性购买动机：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由社会性因素引起的消费者购买商品的动机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分为基本的社会性动机</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和高级的社会性动机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基本的社会性购买动机：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由社会交往、归属、自主等意念引起的购买动机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高级的社会性购买动机：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由成就、威望等意念引起的购买动机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项：小乔每周都会和朋友出去约饭喝茶，符合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由社会交往、归属、自主等意念引起的购</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买动机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基本的社会性购买动机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定义，也符合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社会性购买动机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项：小华每周都会购买必要的生活物资，符合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消费者为满足由保持和延续生命而引起的</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各种需要所产生的购买动机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生理性购买动机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社会性购买动机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项：小吴每周都会去社区参加义工活动，参加义工活动不涉及购买商品，不符合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由社会</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性因素引起的消费者购买商品的动机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社会性购买动机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项：小曼每个季度会购买刚需换季衣物，符合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消费者为满足由保持和延续生命而引起的</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各种需要所产生的购买动机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生理性购买动机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社会性购买动机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en-US" sz="1200" kern="1200" dirty="0">
                <a:solidFill>
                  <a:schemeClr val="tx1"/>
                </a:solidFill>
                <a:effectLst/>
                <a:latin typeface="+mn-lt"/>
                <a:ea typeface="+mn-ea"/>
              </a:rPr>
              <a:t>①</a:t>
            </a:r>
            <a:r>
              <a:rPr lang="zh-CN" altLang="en-US" sz="1200" kern="1200" dirty="0">
                <a:solidFill>
                  <a:schemeClr val="tx1"/>
                </a:solidFill>
                <a:effectLst/>
                <a:latin typeface="+mn-lt"/>
                <a:ea typeface="+mn-ea"/>
              </a:rPr>
              <a:t>流散型公众：</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极为分散</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不稳定</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②</a:t>
            </a:r>
            <a:r>
              <a:rPr lang="zh-CN" altLang="en-US" sz="1200" kern="1200" dirty="0">
                <a:solidFill>
                  <a:schemeClr val="tx1"/>
                </a:solidFill>
                <a:effectLst/>
                <a:latin typeface="+mn-lt"/>
                <a:ea typeface="+mn-ea"/>
              </a:rPr>
              <a:t>聚散型公众：</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因某一临时事件、活动或某一共同问题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临时聚集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③</a:t>
            </a:r>
            <a:r>
              <a:rPr lang="zh-CN" altLang="en-US" sz="1200" kern="1200" dirty="0">
                <a:solidFill>
                  <a:schemeClr val="tx1"/>
                </a:solidFill>
                <a:effectLst/>
                <a:latin typeface="+mn-lt"/>
                <a:ea typeface="+mn-ea"/>
              </a:rPr>
              <a:t>周期型公众：</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按一定的规律聚集在一起</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④</a:t>
            </a:r>
            <a:r>
              <a:rPr lang="zh-CN" altLang="en-US" sz="1200" kern="1200" dirty="0">
                <a:solidFill>
                  <a:schemeClr val="tx1"/>
                </a:solidFill>
                <a:effectLst/>
                <a:latin typeface="+mn-lt"/>
                <a:ea typeface="+mn-ea"/>
              </a:rPr>
              <a:t>固定型公众：</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由于兴趣、爱好、习惯的影响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与某些组织、社团、商店、杂志社或某</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种商品生产厂家保持稳定联系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项：乘坐北京开往上海高铁的旅客，</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乘坐高铁</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因某一临时事件、活动或某一共同问</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临时聚集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聚散型公众</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固定型公众</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定义，对应错误，排除；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项：定期来某学校上课的函授班学员，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定期</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按一定的规律聚集在一起</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周期</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型公众</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定义，对应正确，当选；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项：经常来社区棋牌室打牌的退休人员，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打牌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由于兴趣、爱好、习惯的影响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经</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常来社区棋牌室</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与某些组织、社团、商店、杂志社或某种商品生产厂家保持稳定联系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固定型公众</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聚散型公众</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定义，对应错误，排除；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项：奥运会期间来田径体育场观看比赛的观众，</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奥运会期间</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看比赛</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因某一临时事</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件、活动或某一共同问题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临时聚集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聚散型公众</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流散型公众</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对应错误，排除。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endParaRPr lang="en-US" altLang="zh-CN"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发炎表现为红、肿、热、痛和功能障碍，所以发炎可以导致发烧，二者为因果对应关系。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第二步：判断选项词语间逻辑关系。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项：饥饿会导致胃肠疾病或者低血糖等，不会导致烧烤，二者不是因果对应关系，与题干</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项：学习是为了准备考试，二者为方式目的的对应关系，与题干逻辑关系不一致，排除；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项：祭祀是一种缅怀的方式，二者为方式目的的对应关系，与题干逻辑关系不一致，排除；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项：缺铁可以导致贫血，二者为因果对应关系，与题干逻辑关系一致，当选。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欲穷千里目，更上一层楼</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的意思是想要看到千里之外的风光，那就要再登上更高的一层城</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楼，其中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欲穷千里目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是目的，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更上一层楼</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是方式，二者为方式目的的对应关系。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第二步：判断选项词语间逻辑关系。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为唤春来争艳朵，甘将香化育花泥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的意思是为了春天的花朵绽放，甘愿化作花泥，</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其中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为唤春来争艳朵</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是目的，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甘将香化育花泥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是方式，二者为方式目的的对应关系，与</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题干逻辑关系一致，当选；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不经一番寒彻骨，怎得梅花扑鼻香</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的意思是只有经历艰苦（寒彻骨），才能获得美</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好的结果（梅花香），二者不是方式目的的对应关系，与题干逻辑关系不一致，排除；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欲上高楼去避愁，愁还随我上高楼</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的意思是心想到高楼上观看美景躲避忧愁，忧愁</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还是跟着我上了高楼，二者不是方式目的的对应关系，与题干逻辑关系不一致，排除；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抛开俗事陪山坐，才得闲心听水歌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的意思是放下世俗的琐事、烦恼和欲望，与山为</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伴，亲近自然，才能获得内心的闲适与安宁，聆听流水的声音，感受自然的美好，二者为条</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件结果的对应关系，不是方式目的的对应关系，与题干逻辑关系不一致，排除。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加大培训和扩充岗位都是为了稳定就业，第一词和第三词都与第二词构成方式目的对应关系。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第二步：判断选项词语间逻辑关系。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项：接种疫苗和增强体质都是为了预防流感，第二词和第三词都与第一词构成方式目的对</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应关系，与题干逻辑关系不一致，排除；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项：增加营收和降低成本都是为了提高利润，第一词和第三词都与第二词构成方式目的对</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应关系，与题干逻辑关系一致，当选；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项：建立信任和有效沟通都是为了促成合作，第一词和第二词都与第三词构成方式目的对</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应关系，与题干逻辑关系不一致，排除；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项：先浸泡催芽，然后翻土播种，最后浇水追肥，三者为动作先后的对应关系，与题干逻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辑关系不一致，排除。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法定节日是由国家法律、法规统一规定的用以开展纪念、庆祝活动的节日；传统节日是一个</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民族或地区在长期历史发展中形成的、具有特定文化内涵和社会功能的节日；纪念节日一般</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是指某个国家为了纪念重大事件、伟人、先烈等特定的节日。三者是从不同的划分角度去命</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名的，互为交叉关系。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第二步：判断选项词语间逻辑关系。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项：国家秘密是指关系国家安全和利益，依照法定程序确定，在一定时间内只限一定范围</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的人员知悉的事项；商业秘密是指能给权利人带来经济利益，且已采取保密措施的技术信息</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和经营信息，主体是企业、个体工商户等市场主体；工作秘密是指机关单位在公务活动里产</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生的内部事项。三者是针对三个不同的主体，互为并列关系，与题干逻辑关系不一致，排除；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项：手工产品、文创产品均属于劳动产品，后两词与第一词均为种属关系，与题干逻辑关</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项：公立医院与私立医院为并列关系，与题干逻辑关系不一致，排除；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项：帆布书包是根据书包的材质来划分，双肩书包是根据书包的背负方式来划分，学生书</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包是根据背负书包的主体来划分，三者是从不同的划分角度去命名的，互为交叉关系，与题</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干逻辑关系一致，当选。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项：拱式桥和斜拉桥是两种不同结构类型的桥，二者是并列关系；有的摩托车是燃油车，</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有的燃油车是摩托车，有的摩托车不是燃油车，有的燃油车不是摩托车，二者是交叉关系，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前后逻辑关系不一致，排除；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项：有的钢架桥是斜拉桥，有的斜拉桥是钢架桥，有的钢架桥不是斜拉桥，有的斜拉桥不</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是钢架桥，二者是交叉关系；燃油车和人力车是两种不同动力来源的车，二者是并列关系，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前后逻辑关系不一致，排除；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项：有的人行桥是斜拉桥，有的斜拉桥是人行桥，有的人行桥不是斜拉桥，有的斜拉桥不</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是人行桥，二者是交叉关系；有的网约车是燃油车，有的燃油车是网约车，有的网约车不是</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燃油车，有的燃油车不是网约车，二者是交叉关系，前后逻辑关系一致，当选；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项：独木桥和斜拉桥是两种不同结构类型的桥，二者是并列关系；有的违章车是燃油车，</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有的燃油车是违章车，有的违章车不是燃油车，有的燃油车不是违章车，二者是交叉关系，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前后逻辑关系不一致，排除。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注：有同学可能会认为</a:t>
            </a:r>
            <a:r>
              <a:rPr lang="en-US" altLang="zh-CN" sz="1200" kern="1200" dirty="0">
                <a:solidFill>
                  <a:schemeClr val="tx1"/>
                </a:solidFill>
                <a:effectLst/>
                <a:latin typeface="+mn-lt"/>
                <a:ea typeface="+mn-ea"/>
              </a:rPr>
              <a:t> B </a:t>
            </a:r>
            <a:r>
              <a:rPr lang="zh-CN" altLang="en-US" sz="1200" kern="1200" dirty="0">
                <a:solidFill>
                  <a:schemeClr val="tx1"/>
                </a:solidFill>
                <a:effectLst/>
                <a:latin typeface="+mn-lt"/>
                <a:ea typeface="+mn-ea"/>
              </a:rPr>
              <a:t>项的钢架桥和斜拉桥是按照结构划分的两种不同的桥梁，但是按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照结构划分的应为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刚</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架桥，选项中的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钢</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架桥为按照材料划分的，二者并不相同。</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论点：汉长安城实际上成为了唐长安城的一部分。</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论据：无。</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本题只有论点，没有论据，加强优先考虑补充论据。</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项：汉长安城的渭南内城被划入了唐长安城西北角的禁苑，说明汉长安城确实成为了唐长</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安城的一部分，补充论据，可以加强，当选；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项：唐朝政府会管理汉长安城的主要遗迹并修葺扩建过汉未央宫，但汉长安城的主要遗迹</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和汉未央宫是否被纳入了唐长安城并不清楚，为不明确项，无法加强，排除；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项：汉长安城的部分建筑及道路至唐朝时仍保留完好，但其是否被纳入了唐长安城并不清</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楚，为不明确项，无法加强，排除；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项：唐朝部分建筑的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建材</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来自汉长安城的宫室建筑，而论点讨论的是汉长安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实际上</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成为了唐长安城的一部分，建材无法代表城池，话题不一致，无法加强，排除。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论点：酪氨酸酶是一种安全有效的美白剂。</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论据：研究人员从一种常见的寄居于人类皮肤上的细菌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结核硬脂酸棒状杆菌中，发现了</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能作为抑制剂的酪氨酸酶。实验证实，酪氨酸酶对人体细胞无毒，适合用于对抗色素沉着。</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本题论据说的是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酪氨酸酶对人体细胞无毒，适合用于对抗色素沉着</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，进而得出论点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酪氨</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酸酶是一种安全有效的美白剂</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，二者话题一致，加强优先考虑补充论据。</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项：指出在天然细菌中暂时还没找到其他能替代对苯二酚的物质，但论点讨论的是酪氨酸</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酶是否是安全有效的美白剂，话题不一致，无法加强，排除；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项：指出酪氨酸酶具有抗菌、抗癌等有益特性，但论点讨论的是酪氨酸酶是否是安全有效</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的美白剂，抗菌、抗癌等特性与美白剂的安全性和有效性没有直接关联，无法加强，排除；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项：指出结核硬脂酸棒状杆菌是寄居在皮肤上的细菌，通常会成为与人体共生的细菌，其</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衍生产物毒性低，而酪氨酸酶是从结核硬脂酸棒状杆菌中发现的，说明酪氨酸酶具有安全性，</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补充论据，可以加强，当选；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项：指出结核硬脂酸棒状杆菌在一般情况下并不致病，即使致病也可使用抗生素治疗，但</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并没有提到结核硬脂酸棒状杆菌中的酪氨酸酶是否可以作为安全有效的美白剂，话题不一致，</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无法加强，排除。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论点：巢寄生有助于促进具有这一习性鸟类的多样性。</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论据：在研究金鹃与其非巢寄生的近亲物种后发现，金鹃在基因上分化的速度更快，形成了</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更多的物种群类。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本题论点和论据都在讨论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巢寄生有助于这一习性鸟类的多样性</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，二者话题一致，加强优先</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考虑补充论据。</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项：指出金鹃的近亲鸟类物种大多进化缓慢，但未提及这些鸟类是否为巢寄生，也未明确</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提及这些鸟类的基因分化速度，为不明确项，无法加强，排除；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项：指出金鹃雏鸟会将寄主的蛋拱出巢外，但论点讨论的是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巢寄生有助于这一习性鸟类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的多样性</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，话题不一致，无法加强，排除；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项：指出金鹃的某些寄主因无法有效应对金鹃的巢寄生行为而数量锐减，但论点讨论的是</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巢寄生有助于这一习性鸟类的多样性</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，话题不一致，无法加强，排除；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项：指出寄主的识别促使金鹃不断进化出与寄主雏鸟更接近的能力，解释了为什么金鹃会</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在基因上分化的速度变快，补充论据，可以加强，当选。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论点：雄性小鼠肠道微生物组紊乱可能会影响后代健康。</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论据：研究人员给雄性小鼠注射了</a:t>
            </a:r>
            <a:r>
              <a:rPr lang="en-US" altLang="zh-CN" sz="1200" kern="1200" dirty="0">
                <a:solidFill>
                  <a:schemeClr val="tx1"/>
                </a:solidFill>
                <a:effectLst/>
                <a:latin typeface="+mn-lt"/>
                <a:ea typeface="+mn-ea"/>
              </a:rPr>
              <a:t> 6 </a:t>
            </a:r>
            <a:r>
              <a:rPr lang="zh-CN" altLang="en-US" sz="1200" kern="1200" dirty="0">
                <a:solidFill>
                  <a:schemeClr val="tx1"/>
                </a:solidFill>
                <a:effectLst/>
                <a:latin typeface="+mn-lt"/>
                <a:ea typeface="+mn-ea"/>
              </a:rPr>
              <a:t>周抗生素，导致它们肠道微生物多样性和丰富度下降，</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结果发现这些小鼠的后代出生时体重较轻、生长严重受限以及过早死亡的概率更高，研究人</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员认为，这一效应与雄性生殖系统对微生物组失衡的反应有关，这种反应可能会增加胎盘功</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能不全的风险。</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本题论点和论据均在讨论雄性小鼠肠道微生物对后代健康的影响，论点论据话题一致，加强</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优先考虑补充论据。</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项：选项说在雌性小鼠受孕前，紊乱的雄性小鼠肠道微生物组如果恢复，则能降低后代不</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健康的风险，补充反面论据说明雄性小鼠肠道微生物组紊乱确实会影响后代健康，补充论据，</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可以加强，当选；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项：选项说研究中雄性小鼠生殖系统对微生物组失衡的反应包括哪些特征改变，但论点讨</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论的是雄性小鼠肠道微生物组紊乱是否会影响后代健康，话题不一致，无法加强，排除；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项：选项说导致雄性小鼠肠道微生物组紊乱的环境因素会引发宿主的生理和疾病反应，但</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论点讨论的是雄性小鼠肠道微生物组紊乱是否会影响后代健康，话题不一致，无法加强，排</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项：选项说哺乳动物雄性的健康状况很有可能会遗传给后代，但是不确定雄性小鼠肠道微</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生物组紊乱是否会遗传给后代，为不明确选项，无法加强，排除。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论点：自己烧水喝与直接喝包装水对健康的影响是一样的。</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论据：当前微塑料污染无处不在，海洋、污水、淡水、饮用水中均含有微塑料。</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本题论点讨论是自己烧水喝与直接喝包装水对健康的影响相同，论据讨论的是所有水中都含</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有微塑料，二者话题一致，削弱优先考虑削弱论点。</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项：指出日常饮食中应该减少微塑料的摄入，与论点讨论的自己烧水喝与直接喝包装水对</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健康的影响相同无关，话题不一致，无法削弱，排除；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项：指出水烧开后可以除去</a:t>
            </a:r>
            <a:r>
              <a:rPr lang="en-US" altLang="zh-CN" sz="1200" kern="1200" dirty="0">
                <a:solidFill>
                  <a:schemeClr val="tx1"/>
                </a:solidFill>
                <a:effectLst/>
                <a:latin typeface="+mn-lt"/>
                <a:ea typeface="+mn-ea"/>
              </a:rPr>
              <a:t> 84%</a:t>
            </a:r>
            <a:r>
              <a:rPr lang="zh-CN" altLang="en-US" sz="1200" kern="1200" dirty="0">
                <a:solidFill>
                  <a:schemeClr val="tx1"/>
                </a:solidFill>
                <a:effectLst/>
                <a:latin typeface="+mn-lt"/>
                <a:ea typeface="+mn-ea"/>
              </a:rPr>
              <a:t>的微塑料，说明自己烧水喝比直接喝包装水摄入的微塑料</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少，因此自己烧水喝与直接喝包装水对健康的影响不一样，削弱论点，可以削弱，当选；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项：指出自然水域中的微塑料危害到</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野生动物</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的健康，与论点讨论的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人体健康</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无关，</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话题不一致，无法削弱，排除；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项：指出微塑料的危害，但不清楚自己烧的水与直接饮用包装水中的微塑料含量是否相同，</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为不明确项，无法削弱，排除。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论点：此次电梯坠落事故的发生与事故电梯维保单位没有关系，事故电梯向下运行过程中，</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对重反绳轮滚动轴承因疲劳剥落失效，出现了卡死现象，这才是导致事故发生的原因。</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论据：无。</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本题只有论点没有论据，削弱优先考虑削弱论点。</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项：该项说的是事故电梯维保单位负责保养的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其他电梯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正常运行，但不能说明题干商场</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发生事故的电梯问题与维保单位无关，无法削弱，排除；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项：该项说的是安全监管等相关部门对电梯元件的规定及事故数量下降趋势，与论点讨论</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的此次电梯坠落事故发生的原因无关，为无关项，无法削弱，排除；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项：该项说的是电梯事故的主要原因是人的不安全行为，而非电梯本身的不安全状态，但</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不明确人的不安全行为与论点讨论的原因之间的关系，为不明确项，无法削弱，排除；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项：该项说的是事故电梯维保单位没有严格按照要求对电梯进行实质性维保，导致对重反</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绳轮滚动轴承老化，出现卡死现象，说明从根本上来说，是电梯维保单位没有严格按照要求</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对电梯进行实质性维保导致了事故的发生，直接削弱了乙的观点，可以削弱，当选。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论点：深度睡眠不足会增加罹患阿尔茨海默病的风险。</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论据：深度睡眠阶段，人体会从大脑中移除不想要的或可能有害的物质，包括阿尔茨海默病</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中聚集的主要蛋白质，如</a:t>
            </a:r>
            <a:r>
              <a:rPr lang="en-US" altLang="zh-CN" sz="1200" kern="1200" dirty="0">
                <a:solidFill>
                  <a:schemeClr val="tx1"/>
                </a:solidFill>
                <a:effectLst/>
                <a:latin typeface="+mn-lt"/>
                <a:ea typeface="+mn-ea"/>
              </a:rPr>
              <a:t> Tau </a:t>
            </a:r>
            <a:r>
              <a:rPr lang="zh-CN" altLang="en-US" sz="1200" kern="1200" dirty="0">
                <a:solidFill>
                  <a:schemeClr val="tx1"/>
                </a:solidFill>
                <a:effectLst/>
                <a:latin typeface="+mn-lt"/>
                <a:ea typeface="+mn-ea"/>
              </a:rPr>
              <a:t>蛋白。阿尔茨海默病患者的一种病理变化是脑内</a:t>
            </a:r>
            <a:r>
              <a:rPr lang="en-US" altLang="zh-CN" sz="1200" kern="1200" dirty="0">
                <a:solidFill>
                  <a:schemeClr val="tx1"/>
                </a:solidFill>
                <a:effectLst/>
                <a:latin typeface="+mn-lt"/>
                <a:ea typeface="+mn-ea"/>
              </a:rPr>
              <a:t> Tau </a:t>
            </a:r>
            <a:r>
              <a:rPr lang="zh-CN" altLang="en-US" sz="1200" kern="1200" dirty="0">
                <a:solidFill>
                  <a:schemeClr val="tx1"/>
                </a:solidFill>
                <a:effectLst/>
                <a:latin typeface="+mn-lt"/>
                <a:ea typeface="+mn-ea"/>
              </a:rPr>
              <a:t>蛋白过</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度磷酸化，在细胞内堆积形成神经元纤维缠结。</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本题论点和论据讨论的都是深度睡眠和患阿尔茨海默病的风险之间的关系，二者话题一致，</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优先考虑削弱论点，且论点包含因果关系，还可以考虑因果倒置或他因削弱。</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项：该项指出神经元纤维缠结与神经细胞死亡和认知功能障碍密切相关，但是，由于认知</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功能障碍包含的的疾病类型诸多，不一定只有阿尔茨海默病，因此选项不明确，无法削弱，</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项：该项指出携带阿尔茨海默病高风险基因的人更可能出现深度睡眠不足，说明深度睡眠</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不足可能是由阿尔茨海默病的遗传风险（高风险基因）引起的，而不是深度睡眠不足导致了</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阿尔茨海默病，因此选项为因果倒置，可以削弱，当选；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项：该项说明精神刺激、创伤、神经系统疾病等因素都可诱发阿尔茨海默病，提出了其他</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可能的阿尔茨海默病的风险因素，但并未说明这些因素与深度睡眠的关系，因此无法削弱深</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度睡眠不足和阿尔茨海默病之间的关系，话题不一致，无法削弱，排除；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项：该项指出年轻人和老年人深度睡眠在睡眠时间中的占比，说明深度睡眠的比例随着年</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龄的增长而减少，但它并没有说明年轻人和老年人中患阿尔茨海默病的占比，因此无法直接</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削弱深度睡眠不足和阿尔茨海默病之间的关系，话题不一致，无法削弱，排除。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a:t>
            </a:r>
            <a:endParaRPr lang="en-US" altLang="zh-CN"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论点：以自动驾驶车辆代替人类驾驶车辆上路可以大大减少交通事故。</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论据：一般情况下与人类驾驶相比，自动驾驶车辆在执行常规驾驶任务，如保持车道位置和</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根据车流调整位置时更安全。</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论据和论点都在说自动驾驶车辆比人类驾驶更安全，二者话题一致，且提问方式为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前提</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加强优先考虑补充必要条件。</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项：选项表明当前交通事故主要发生在常规驾驶任务中，如果该项不成立，即交通事故大</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多都不是发生在常规驾驶任务中，那么就无法根据论据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在执行常规驾驶任务时，自动驾驶</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车辆比人类驾驶更安全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得出论点，因此该项是论点成立的必要条件，可以加强，当选；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项：选项表明过去几年自动驾驶车辆技术水平发展迅速，但不明确以自动驾驶车辆代替人</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类驾驶车辆上路是否可以减少交通事故，无法加强，排除；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项：选项表明自动驾驶车辆可以为道路交通提供精准导航，说的是自动驾驶车辆的导航能</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力，而论点说的是自动驾驶车辆的安全性，话题不一致，无法加强，排除；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项：选项表明自动驾驶车辆和人类驾驶车辆存在风险差异，但不明确以自动驾驶车辆代替</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人类驾驶车辆上路是否可以减少交通事故，无法加强，排除。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C</a:t>
            </a:r>
            <a:endParaRPr lang="en-US" altLang="zh-CN"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论点：愤怒会增加患动脉粥样硬化的风险。</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论据：回忆愤怒经历会导致血管舒张能力受损，而焦虑和悲伤情绪并没有引发血管内壁功能</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的显著变化。</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本题论点说的是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愤怒</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患动脉粥样硬化的风险</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之间的关系，论据说的是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愤怒</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血管舒</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张能力受损</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之间的关系，二者话题不一致，且提问方式为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前提</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，加强优先考虑搭桥，即</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血管舒张能力受损</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患动脉粥样硬化的风险</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之间建立联系。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项：指出血管舒张能力受损引发血管内壁功能的显著变化，但不明确是否会增加患动脉粥</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样硬化的风险，不明确选项，无法加强，排除；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项：指出回忆愤怒经历与心血管疾病之间存在关联，但不明确是否会增加患动脉粥样硬化</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的风险，不明确选项，无法加强，排除；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项：指出血管舒张能力受损会增加患动脉粥样硬化的风险，在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血管舒张能力受损</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患动</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脉粥样硬化的风险</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之间建立了联系，搭桥选项，是论证成立的前提，当选；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项：指出实验前受试者都未检出血管舒张能力受损，说明实验具有科学性，但论点讨论的</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是患动脉粥样硬化的风险，所以不是论证成立的前提，排除。</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en-US" sz="1200" kern="1200" dirty="0">
                <a:solidFill>
                  <a:schemeClr val="tx1"/>
                </a:solidFill>
                <a:effectLst/>
                <a:latin typeface="+mn-lt"/>
                <a:ea typeface="+mn-ea"/>
              </a:rPr>
              <a:t>①</a:t>
            </a:r>
            <a:r>
              <a:rPr lang="zh-CN" altLang="en-US" sz="1200" kern="1200" dirty="0">
                <a:solidFill>
                  <a:schemeClr val="tx1"/>
                </a:solidFill>
                <a:effectLst/>
                <a:latin typeface="+mn-lt"/>
                <a:ea typeface="+mn-ea"/>
              </a:rPr>
              <a:t>表演街舞</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表演民族舞；</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②</a:t>
            </a:r>
            <a:r>
              <a:rPr lang="zh-CN" altLang="en-US" sz="1200" kern="1200" dirty="0">
                <a:solidFill>
                  <a:schemeClr val="tx1"/>
                </a:solidFill>
                <a:effectLst/>
                <a:latin typeface="+mn-lt"/>
                <a:ea typeface="+mn-ea"/>
              </a:rPr>
              <a:t>表演民族舞</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表演唱歌；</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③</a:t>
            </a:r>
            <a:r>
              <a:rPr lang="zh-CN" altLang="en-US" sz="1200" kern="1200" dirty="0">
                <a:solidFill>
                  <a:schemeClr val="tx1"/>
                </a:solidFill>
                <a:effectLst/>
                <a:latin typeface="+mn-lt"/>
                <a:ea typeface="+mn-ea"/>
              </a:rPr>
              <a:t>有的表演吉他演奏</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表演诗朗诵；</a:t>
            </a:r>
            <a:endParaRPr lang="zh-CN" altLang="en-US" sz="1200" kern="1200" dirty="0">
              <a:solidFill>
                <a:schemeClr val="tx1"/>
              </a:solidFill>
              <a:effectLst/>
              <a:latin typeface="+mn-lt"/>
              <a:ea typeface="+mn-ea"/>
            </a:endParaRPr>
          </a:p>
          <a:p>
            <a:r>
              <a:rPr lang="en-US" altLang="en-US" sz="1200" kern="1200" dirty="0">
                <a:solidFill>
                  <a:schemeClr val="tx1"/>
                </a:solidFill>
                <a:effectLst/>
                <a:latin typeface="+mn-lt"/>
                <a:ea typeface="+mn-ea"/>
              </a:rPr>
              <a:t>④</a:t>
            </a:r>
            <a:r>
              <a:rPr lang="zh-CN" altLang="en-US" sz="1200" kern="1200" dirty="0">
                <a:solidFill>
                  <a:schemeClr val="tx1"/>
                </a:solidFill>
                <a:effectLst/>
                <a:latin typeface="+mn-lt"/>
                <a:ea typeface="+mn-ea"/>
              </a:rPr>
              <a:t>表演吉他演奏</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表演唱歌；</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条件</a:t>
            </a:r>
            <a:r>
              <a:rPr lang="en-US" altLang="en-US" sz="1200" kern="1200" dirty="0">
                <a:solidFill>
                  <a:schemeClr val="tx1"/>
                </a:solidFill>
                <a:effectLst/>
                <a:latin typeface="+mn-lt"/>
                <a:ea typeface="+mn-ea"/>
              </a:rPr>
              <a:t>③</a:t>
            </a:r>
            <a:r>
              <a:rPr lang="zh-CN" altLang="en-US" sz="1200" kern="1200" dirty="0">
                <a:solidFill>
                  <a:schemeClr val="tx1"/>
                </a:solidFill>
                <a:effectLst/>
                <a:latin typeface="+mn-lt"/>
                <a:ea typeface="+mn-ea"/>
              </a:rPr>
              <a:t>可换位为：</a:t>
            </a:r>
            <a:r>
              <a:rPr lang="en-US" altLang="en-US" sz="1200" kern="1200" dirty="0">
                <a:solidFill>
                  <a:schemeClr val="tx1"/>
                </a:solidFill>
                <a:effectLst/>
                <a:latin typeface="+mn-lt"/>
                <a:ea typeface="+mn-ea"/>
              </a:rPr>
              <a:t>⑤</a:t>
            </a:r>
            <a:r>
              <a:rPr lang="zh-CN" altLang="en-US" sz="1200" kern="1200" dirty="0">
                <a:solidFill>
                  <a:schemeClr val="tx1"/>
                </a:solidFill>
                <a:effectLst/>
                <a:latin typeface="+mn-lt"/>
                <a:ea typeface="+mn-ea"/>
              </a:rPr>
              <a:t>有的表演诗朗诵</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表演吉他演奏；</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可将条件</a:t>
            </a:r>
            <a:r>
              <a:rPr lang="en-US" altLang="en-US" sz="1200" kern="1200" dirty="0">
                <a:solidFill>
                  <a:schemeClr val="tx1"/>
                </a:solidFill>
                <a:effectLst/>
                <a:latin typeface="+mn-lt"/>
                <a:ea typeface="+mn-ea"/>
              </a:rPr>
              <a:t>①②</a:t>
            </a:r>
            <a:r>
              <a:rPr lang="zh-CN" altLang="en-US" sz="1200" kern="1200" dirty="0">
                <a:solidFill>
                  <a:schemeClr val="tx1"/>
                </a:solidFill>
                <a:effectLst/>
                <a:latin typeface="+mn-lt"/>
                <a:ea typeface="+mn-ea"/>
              </a:rPr>
              <a:t>逆否后和条件</a:t>
            </a:r>
            <a:r>
              <a:rPr lang="en-US" altLang="en-US" sz="1200" kern="1200" dirty="0">
                <a:solidFill>
                  <a:schemeClr val="tx1"/>
                </a:solidFill>
                <a:effectLst/>
                <a:latin typeface="+mn-lt"/>
                <a:ea typeface="+mn-ea"/>
              </a:rPr>
              <a:t>④⑤</a:t>
            </a:r>
            <a:r>
              <a:rPr lang="zh-CN" altLang="en-US" sz="1200" kern="1200" dirty="0">
                <a:solidFill>
                  <a:schemeClr val="tx1"/>
                </a:solidFill>
                <a:effectLst/>
                <a:latin typeface="+mn-lt"/>
                <a:ea typeface="+mn-ea"/>
              </a:rPr>
              <a:t>串联推出：</a:t>
            </a:r>
            <a:r>
              <a:rPr lang="en-US" altLang="en-US" sz="1200" kern="1200" dirty="0">
                <a:solidFill>
                  <a:schemeClr val="tx1"/>
                </a:solidFill>
                <a:effectLst/>
                <a:latin typeface="+mn-lt"/>
                <a:ea typeface="+mn-ea"/>
              </a:rPr>
              <a:t>⑥</a:t>
            </a:r>
            <a:r>
              <a:rPr lang="zh-CN" altLang="en-US" sz="1200" kern="1200" dirty="0">
                <a:solidFill>
                  <a:schemeClr val="tx1"/>
                </a:solidFill>
                <a:effectLst/>
                <a:latin typeface="+mn-lt"/>
                <a:ea typeface="+mn-ea"/>
              </a:rPr>
              <a:t>有的表演诗朗诵</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表演吉他演奏</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表演</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唱歌</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表演民族舞</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表演街舞。</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第二步：逐一分析选项。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项：翻译为表演街舞</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表演唱歌，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表演街舞</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是对条件</a:t>
            </a:r>
            <a:r>
              <a:rPr lang="en-US" altLang="en-US" sz="1200" kern="1200" dirty="0">
                <a:solidFill>
                  <a:schemeClr val="tx1"/>
                </a:solidFill>
                <a:effectLst/>
                <a:latin typeface="+mn-lt"/>
                <a:ea typeface="+mn-ea"/>
              </a:rPr>
              <a:t>⑥</a:t>
            </a:r>
            <a:r>
              <a:rPr lang="zh-CN" altLang="en-US" sz="1200" kern="1200" dirty="0">
                <a:solidFill>
                  <a:schemeClr val="tx1"/>
                </a:solidFill>
                <a:effectLst/>
                <a:latin typeface="+mn-lt"/>
                <a:ea typeface="+mn-ea"/>
              </a:rPr>
              <a:t>的否后，否后必否前，可以推</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项：翻译为有的表演街舞</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表演吉他演奏，根据条件</a:t>
            </a:r>
            <a:r>
              <a:rPr lang="en-US" altLang="en-US" sz="1200" kern="1200" dirty="0">
                <a:solidFill>
                  <a:schemeClr val="tx1"/>
                </a:solidFill>
                <a:effectLst/>
                <a:latin typeface="+mn-lt"/>
                <a:ea typeface="+mn-ea"/>
              </a:rPr>
              <a:t>⑥</a:t>
            </a:r>
            <a:r>
              <a:rPr lang="zh-CN" altLang="en-US" sz="1200" kern="1200" dirty="0">
                <a:solidFill>
                  <a:schemeClr val="tx1"/>
                </a:solidFill>
                <a:effectLst/>
                <a:latin typeface="+mn-lt"/>
                <a:ea typeface="+mn-ea"/>
              </a:rPr>
              <a:t>可知，表演吉他演奏</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表演</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街舞，将其逆否后为，表演街舞</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表演吉他演奏，</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所有</a:t>
            </a:r>
            <a:r>
              <a:rPr lang="en-US" altLang="zh-CN" sz="1200" kern="1200" dirty="0">
                <a:solidFill>
                  <a:schemeClr val="tx1"/>
                </a:solidFill>
                <a:effectLst/>
                <a:latin typeface="+mn-lt"/>
                <a:ea typeface="+mn-ea"/>
              </a:rPr>
              <a:t> A </a:t>
            </a:r>
            <a:r>
              <a:rPr lang="zh-CN" altLang="en-US" sz="1200" kern="1200" dirty="0">
                <a:solidFill>
                  <a:schemeClr val="tx1"/>
                </a:solidFill>
                <a:effectLst/>
                <a:latin typeface="+mn-lt"/>
                <a:ea typeface="+mn-ea"/>
              </a:rPr>
              <a:t>不是</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有的</a:t>
            </a:r>
            <a:r>
              <a:rPr lang="en-US" altLang="zh-CN" sz="1200" kern="1200" dirty="0">
                <a:solidFill>
                  <a:schemeClr val="tx1"/>
                </a:solidFill>
                <a:effectLst/>
                <a:latin typeface="+mn-lt"/>
                <a:ea typeface="+mn-ea"/>
              </a:rPr>
              <a:t> A </a:t>
            </a:r>
            <a:r>
              <a:rPr lang="zh-CN" altLang="en-US" sz="1200" kern="1200" dirty="0">
                <a:solidFill>
                  <a:schemeClr val="tx1"/>
                </a:solidFill>
                <a:effectLst/>
                <a:latin typeface="+mn-lt"/>
                <a:ea typeface="+mn-ea"/>
              </a:rPr>
              <a:t>是</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互为</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矛盾关系，无法推出，当选；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项：翻译为有的表演诗朗诵</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表演唱歌，根据条件</a:t>
            </a:r>
            <a:r>
              <a:rPr lang="en-US" altLang="en-US" sz="1200" kern="1200" dirty="0">
                <a:solidFill>
                  <a:schemeClr val="tx1"/>
                </a:solidFill>
                <a:effectLst/>
                <a:latin typeface="+mn-lt"/>
                <a:ea typeface="+mn-ea"/>
              </a:rPr>
              <a:t>⑥</a:t>
            </a:r>
            <a:r>
              <a:rPr lang="zh-CN" altLang="en-US" sz="1200" kern="1200" dirty="0">
                <a:solidFill>
                  <a:schemeClr val="tx1"/>
                </a:solidFill>
                <a:effectLst/>
                <a:latin typeface="+mn-lt"/>
                <a:ea typeface="+mn-ea"/>
              </a:rPr>
              <a:t>可以推出，排除；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项：翻译为表演吉他演奏</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表演民族舞，</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表演吉他演奏</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是对条件</a:t>
            </a:r>
            <a:r>
              <a:rPr lang="en-US" altLang="en-US" sz="1200" kern="1200" dirty="0">
                <a:solidFill>
                  <a:schemeClr val="tx1"/>
                </a:solidFill>
                <a:effectLst/>
                <a:latin typeface="+mn-lt"/>
                <a:ea typeface="+mn-ea"/>
              </a:rPr>
              <a:t>⑥</a:t>
            </a:r>
            <a:r>
              <a:rPr lang="zh-CN" altLang="en-US" sz="1200" kern="1200" dirty="0">
                <a:solidFill>
                  <a:schemeClr val="tx1"/>
                </a:solidFill>
                <a:effectLst/>
                <a:latin typeface="+mn-lt"/>
                <a:ea typeface="+mn-ea"/>
              </a:rPr>
              <a:t>的肯前，肯前必</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肯后，可以推出，排除。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本题为选非题，故正确答案为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3"/>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5" name="图片 4"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7" name="文本框 6"/>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8" name="图片 7"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1" name="文本框 10"/>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矩形 5"/>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7" name="图片 6"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8" name="文本框 7"/>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楷体" panose="02010609060101010101"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tags" Target="../tags/tag3.xml"/><Relationship Id="rId6" Type="http://schemas.openxmlformats.org/officeDocument/2006/relationships/tags" Target="../tags/tag2.xml"/><Relationship Id="rId5" Type="http://schemas.openxmlformats.org/officeDocument/2006/relationships/tags" Target="../tags/tag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5"/>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6"/>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楷体" panose="02010609060101010101" charset="-122"/>
          <a:ea typeface="楷体" panose="02010609060101010101" charset="-122"/>
          <a:cs typeface="楷体" panose="02010609060101010101"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徽标&#10;&#10;AI 生成的内容可能不正确。"/>
          <p:cNvPicPr>
            <a:picLocks noChangeAspect="1"/>
          </p:cNvPicPr>
          <p:nvPr/>
        </p:nvPicPr>
        <p:blipFill>
          <a:blip r:embed="rId1"/>
          <a:srcRect t="9991" b="18252"/>
          <a:stretch>
            <a:fillRect/>
          </a:stretch>
        </p:blipFill>
        <p:spPr>
          <a:xfrm>
            <a:off x="4437879" y="883627"/>
            <a:ext cx="2976453" cy="950430"/>
          </a:xfrm>
          <a:prstGeom prst="rect">
            <a:avLst/>
          </a:prstGeom>
        </p:spPr>
      </p:pic>
      <p:sp>
        <p:nvSpPr>
          <p:cNvPr id="4" name="文本框 3"/>
          <p:cNvSpPr txBox="1"/>
          <p:nvPr/>
        </p:nvSpPr>
        <p:spPr>
          <a:xfrm>
            <a:off x="2807628" y="2367459"/>
            <a:ext cx="6576647" cy="2122805"/>
          </a:xfrm>
          <a:prstGeom prst="rect">
            <a:avLst/>
          </a:prstGeom>
          <a:noFill/>
        </p:spPr>
        <p:txBody>
          <a:bodyPr wrap="square" rtlCol="0">
            <a:spAutoFit/>
          </a:bodyPr>
          <a:lstStyle/>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福建</a:t>
            </a: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2025</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年</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真题解析</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
        <p:nvSpPr>
          <p:cNvPr id="5" name="文本框 4"/>
          <p:cNvSpPr txBox="1"/>
          <p:nvPr/>
        </p:nvSpPr>
        <p:spPr>
          <a:xfrm>
            <a:off x="4675016" y="4612428"/>
            <a:ext cx="2502877" cy="398780"/>
          </a:xfrm>
          <a:prstGeom prst="rect">
            <a:avLst/>
          </a:prstGeom>
          <a:noFill/>
        </p:spPr>
        <p:txBody>
          <a:bodyPr wrap="square" rtlCol="0">
            <a:spAutoFit/>
          </a:bodyPr>
          <a:lstStyle/>
          <a:p>
            <a:r>
              <a:rPr kumimoji="1" lang="zh-CN" altLang="en-US" sz="2000" dirty="0">
                <a:solidFill>
                  <a:srgbClr val="DC5037"/>
                </a:solidFill>
                <a:latin typeface="楷体" panose="02010609060101010101" charset="-122"/>
                <a:ea typeface="楷体" panose="02010609060101010101" charset="-122"/>
                <a:cs typeface="楷体" panose="02010609060101010101" charset="-122"/>
              </a:rPr>
              <a:t>主讲老师：陆羽老师</a:t>
            </a:r>
            <a:endParaRPr kumimoji="1" lang="zh-CN" altLang="en-US" sz="2000" dirty="0">
              <a:solidFill>
                <a:srgbClr val="DC5037"/>
              </a:solidFill>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76</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74065"/>
            <a:ext cx="10968355" cy="64516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从所给的四个选项中，选择最合适的一个填入问号处，使之呈现一定规律性：</a:t>
            </a:r>
            <a:endParaRPr lang="en-US"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3" name="图片 2"/>
          <p:cNvPicPr>
            <a:picLocks noChangeAspect="1"/>
          </p:cNvPicPr>
          <p:nvPr/>
        </p:nvPicPr>
        <p:blipFill>
          <a:blip r:embed="rId1"/>
          <a:stretch>
            <a:fillRect/>
          </a:stretch>
        </p:blipFill>
        <p:spPr>
          <a:xfrm>
            <a:off x="1606550" y="1633855"/>
            <a:ext cx="8978900" cy="4055745"/>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77</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64516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从所给的四个选项中，选择最合适的一个填入问号处，使之呈现一定规律性：</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5" name="图片 4"/>
          <p:cNvPicPr>
            <a:picLocks noChangeAspect="1"/>
          </p:cNvPicPr>
          <p:nvPr/>
        </p:nvPicPr>
        <p:blipFill>
          <a:blip r:embed="rId1"/>
          <a:stretch>
            <a:fillRect/>
          </a:stretch>
        </p:blipFill>
        <p:spPr>
          <a:xfrm>
            <a:off x="2197735" y="1732915"/>
            <a:ext cx="7796530" cy="3391535"/>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78</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63118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把下面的六个图形分为两类，使每一类图形都有各自的共同特征或规律，分类正确的一项是</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①③④</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②⑤⑥</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B.</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①②④</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③⑤⑥</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①⑤⑥</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②③④</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D.</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①②⑥</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③④⑤</a:t>
            </a:r>
            <a:endParaRPr lang="en-US"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5" name="图片 4"/>
          <p:cNvPicPr>
            <a:picLocks noChangeAspect="1"/>
          </p:cNvPicPr>
          <p:nvPr/>
        </p:nvPicPr>
        <p:blipFill>
          <a:blip r:embed="rId1"/>
          <a:stretch>
            <a:fillRect/>
          </a:stretch>
        </p:blipFill>
        <p:spPr>
          <a:xfrm>
            <a:off x="3714750" y="1547495"/>
            <a:ext cx="4762500" cy="3762375"/>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79</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1050290"/>
          </a:xfrm>
          <a:prstGeom prst="rect">
            <a:avLst/>
          </a:prstGeom>
          <a:noFill/>
        </p:spPr>
        <p:txBody>
          <a:bodyPr wrap="square" rtlCol="0" anchor="t">
            <a:spAutoFit/>
          </a:bodyPr>
          <a:p>
            <a:pPr indent="0" algn="l" fontAlgn="auto">
              <a:lnSpc>
                <a:spcPct val="13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左下图为</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15</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个白色和</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3</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个灰色正方体组合而成的多面体，其可以由以下</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4</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项中除哪项外的</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3</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个小多面体组合而成？</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5" name="图片 4"/>
          <p:cNvPicPr>
            <a:picLocks noChangeAspect="1"/>
          </p:cNvPicPr>
          <p:nvPr/>
        </p:nvPicPr>
        <p:blipFill>
          <a:blip r:embed="rId1"/>
          <a:stretch>
            <a:fillRect/>
          </a:stretch>
        </p:blipFill>
        <p:spPr>
          <a:xfrm>
            <a:off x="1033780" y="2266950"/>
            <a:ext cx="10116820" cy="2647315"/>
          </a:xfrm>
          <a:prstGeom prst="rect">
            <a:avLst/>
          </a:prstGeom>
        </p:spPr>
      </p:pic>
      <p:pic>
        <p:nvPicPr>
          <p:cNvPr id="6" name="图片 5"/>
          <p:cNvPicPr>
            <a:picLocks noChangeAspect="1"/>
          </p:cNvPicPr>
          <p:nvPr/>
        </p:nvPicPr>
        <p:blipFill>
          <a:blip r:embed="rId2"/>
          <a:stretch>
            <a:fillRect/>
          </a:stretch>
        </p:blipFill>
        <p:spPr>
          <a:xfrm>
            <a:off x="3213735" y="3574415"/>
            <a:ext cx="5324475" cy="2619375"/>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80</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63118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左下图为两个正方体组合而成的长方体，这两个正方体的外表面展开图分别可能是</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和</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②</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B.</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③</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和</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④		</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C.</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和</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④</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D.</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②</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和</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③</a:t>
            </a:r>
            <a:endParaRPr lang="en-US"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5" name="图片 4"/>
          <p:cNvPicPr>
            <a:picLocks noChangeAspect="1"/>
          </p:cNvPicPr>
          <p:nvPr/>
        </p:nvPicPr>
        <p:blipFill>
          <a:blip r:embed="rId1"/>
          <a:stretch>
            <a:fillRect/>
          </a:stretch>
        </p:blipFill>
        <p:spPr>
          <a:xfrm>
            <a:off x="2086610" y="1643380"/>
            <a:ext cx="8011795" cy="3829685"/>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81</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07746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文化再生产是指文化模式、信仰、价值观、习俗、语言和其他社会行为在时间上的持续性和在不同社会成员之间的传递，通常通过教育系统、家庭、媒体、宗教机构和其他社会机构来实现。这些机构通过传授知识、规范和行为模式，帮助新一代成员学习并内化其文化。</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根据上述定义，下列一定属于文化再生产的是：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小王在单亲家庭长大，从小养成了独立的性格</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在公司聚会上，小李向同事介绍自己的女朋友</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某小学开设了具有当地特色的民俗课，深受学生喜爱</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电视上不断滚动播放着某品牌家用饮水设备的广告语</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82</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169535"/>
          </a:xfrm>
          <a:prstGeom prst="rect">
            <a:avLst/>
          </a:prstGeom>
          <a:noFill/>
        </p:spPr>
        <p:txBody>
          <a:bodyPr wrap="square" rtlCol="0" anchor="t">
            <a:spAutoFit/>
          </a:bodyPr>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在经济学当中，运动防御是指企业不仅要坚守原有市场阵地，还要将业务范围扩展到新的有潜力的领域，以作为将来防御和进攻的中心。</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根据上述定义，下列不属于运动防御的是：</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某石油公司转型为能源公司，市场范围扩展到煤炭、核能、水利和化学等多方面</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某饮料公司发现许多人都在控制糖类摄入，于是推出了不少低糖饮料，以此来稳固市场</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某手机公司除了钻研提升手机性能以外，近几年还推出了智能穿戴、新能源汽车等多类产品</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某白酒公司认识到年轻人对白酒的消费意愿不强，于是拓展进入了冷冻食品等其他行业，实行多元化经营</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83</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63118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在管理心理学中，人们把在不记姓名或相互不了解的情况下个体独立性、自主性得到充分体现的现象，称之为匿名效应。</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根据上述定义，下列属于匿名效应的是：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小刘到了一个新成立的公司，大家互相不了解，因此他尽量收敛自己的锋芒</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小方只想在现在的岗位上工作，没有长远规划，常常以不会为理由推脱各项工作</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学校要求匿名对教师进行评价，小林虽然不喜欢张老师，但还是给她的评价写了</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优</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小丁随便报了个旅行团到陌生城市旅行，在旅行中大胆尝试不同的穿衣风格，释放真实的自己</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84</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631180"/>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校友经济是指在校友的社会活动中以母校为核心，通过母校与校友、校友与校友、母校与社会之间所产生的物质、文化、人才等方面的交流，从而给母校、校友以及社会带来客观收益的经济活动。校友经济以母校和校友为载体，目的是通过校友与母校之间天然的纽带，长期不断循环推动相关经济活动的发展。</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根据上述定义，下列属于校友经济的是：</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某大学校友会举办了校园招聘活动，</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23</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家校友企业出席并提供了超</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100</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个就业岗位</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某自媒体博主将自己赚的第一桶金捐给了贫困山区的学校，为他们购买了学习物资，助力乡村教育发展</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某高校给予对学校建设和发展作出突出贡献的校友精神奖励，包括但不限于授予荣誉称号，聘请担任名誉职务等</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某高校定期举办成功校友与在校学生座谈活动，让校友现身说法，通过典型宣传，进一步做实大学生思想政治工作</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85</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631180"/>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情绪爆发策略是指在谈判过程中，当双方在某一个问题上相持不下，或者对方的态度、行为欠妥、要求不太合理时，通过情绪爆发、大发脾气等手段有意制造僵局逼迫对方，从而使对方被迫让步的谈判策略。</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根据上述定义，下列符合情绪爆发策略的是：</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小强脾气很是暴躁，做事没有耐心，经常一遇到不顺心的事就生气发火，家里人都不敢和他亲近</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老王作为公司负责人经常出去谈判，有时遇到对方提出无理要求，他总会大发脾气直接离席，不再与对方谈判</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谈判时，双方在某原则性问题上讨论了两天毫无进展，老周率领代表团临时离席表达自己的不满，最终对方作出了让步</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多多与父母沟通，要求买新手机，但被父母拒绝了，多多以离家出走要挟父母必须给他买，父母坚决不同意并对他进行了批评教育</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86</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4523105"/>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主动收入就是用时间来换取金钱，它最大的特点就是必须花费时间和精力去获得，它是一种临时性收入，做一次工作得到一次回报。被动收入是不需要花费多少时间和精力，也不需要照看，就可以自动获得的收入。</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根据上述定义，下列各项收入中不属于被动收入的是：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银行存款的收益</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授权专利的许可费</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每月固定的兼职工资</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退休后每月领到的退休金</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87</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07746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通常把公开出版发行的文献称为白色文献，把涉及机密无法公开出版发行的文献称为黑色文献。灰色文献是指采用访问、会议、报告、通信等非正式科学交流方式传播的、尚未正式出版的文献。灰色文献介于白色和黑色文献之间，已经发行但不易通过一般销售渠道购得。</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根据上述定义，下列不属于灰色文献的是：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某行业协会印刷的提供给协会会员使用的技术规范</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某高校文学院为召开某次学术会议印刷的会议论文集</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某考古学杂志社每期印刷的受众极小的专业类学术期刊</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某企业印刷的在其内部流通的塑造企业文化的内部刊物</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88</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07746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组合是指把多项看似不相关的事物通过想象加以联接，从而使之变成新的整体。按照组合方式不同，组合可分为三种：同类组合是指若干相同事物的组合；异类组合是指两种或两种以上不同事物的组合；重组组合是指分解事物的原来组合，再按照新的目标重新组合。</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根据上述定义，下列属于重组组合的是：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在手机壳背后安一个钢圈，制成带支架的手机壳</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用</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100</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根雪糕棍制作成房子、坦克等手工艺制品</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在台灯底座安装紫外线灭蚊装置，设计出灭蚊灯</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将原来拼装成大风车的积木拆开，再拼装成飞机</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89</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169535"/>
          </a:xfrm>
          <a:prstGeom prst="rect">
            <a:avLst/>
          </a:prstGeom>
          <a:noFill/>
        </p:spPr>
        <p:txBody>
          <a:bodyPr wrap="square" rtlCol="0" anchor="t">
            <a:spAutoFit/>
          </a:bodyPr>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生理性购买动机是指消费者为满足由保持和延续生命而引起的各种需要所产生的购买动机，社会性购买动机是指由社会性因素引起的消费者购买商品的动机。消费者的社会性购买动机是在后天社会因素的影响下形成的，一般可分为基本的社会性动机和高级的社会性动机。由社会交往、归属、自主等意念引起的购买动机，属于基本的社会性购买动机；由成就、威望等意念引起的购买动机，属于高级的社会性购买动机。</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根据上述定义，下列属于社会性购买动机的是：</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小乔每周都会和朋友出去约饭喝茶</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小华每周都会购买必要的生活物资</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小吴每周都会去社区参加义工活动</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小曼每个季度会购买刚需换季衣物</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90</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4707890"/>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非组织公众就是在公共关系对象中，处于无组织状态的个体的总和，非组织公众一般包括流散型公众、聚散型公众、周期型公众和固定型公众。</a:t>
            </a:r>
            <a:r>
              <a:rPr lang="en-US" altLang="en-US" sz="2000" dirty="0">
                <a:latin typeface="楷体" panose="02010609060101010101" charset="-122"/>
                <a:ea typeface="楷体" panose="02010609060101010101" charset="-122"/>
                <a:cs typeface="楷体" panose="02010609060101010101" charset="-122"/>
                <a:sym typeface="楷体" panose="02010609060101010101" charset="-122"/>
              </a:rPr>
              <a:t>①</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流散型公众：极为分散的最不稳定的公众；</a:t>
            </a:r>
            <a:r>
              <a:rPr lang="en-US" altLang="en-US" sz="2000" dirty="0">
                <a:latin typeface="楷体" panose="02010609060101010101" charset="-122"/>
                <a:ea typeface="楷体" panose="02010609060101010101" charset="-122"/>
                <a:cs typeface="楷体" panose="02010609060101010101" charset="-122"/>
                <a:sym typeface="楷体" panose="02010609060101010101" charset="-122"/>
              </a:rPr>
              <a:t>②</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聚散型公众：因某一临时事件、活动或某一共同问题临时聚集在一起的公众；</a:t>
            </a:r>
            <a:r>
              <a:rPr lang="en-US" altLang="en-US" sz="2000" dirty="0">
                <a:latin typeface="楷体" panose="02010609060101010101" charset="-122"/>
                <a:ea typeface="楷体" panose="02010609060101010101" charset="-122"/>
                <a:cs typeface="楷体" panose="02010609060101010101" charset="-122"/>
                <a:sym typeface="楷体" panose="02010609060101010101" charset="-122"/>
              </a:rPr>
              <a:t>③</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周期型公众：按一定的规律聚集在一起的公众；</a:t>
            </a:r>
            <a:r>
              <a:rPr lang="en-US" altLang="en-US" sz="2000" dirty="0">
                <a:latin typeface="楷体" panose="02010609060101010101" charset="-122"/>
                <a:ea typeface="楷体" panose="02010609060101010101" charset="-122"/>
                <a:cs typeface="楷体" panose="02010609060101010101" charset="-122"/>
                <a:sym typeface="楷体" panose="02010609060101010101" charset="-122"/>
              </a:rPr>
              <a:t>④</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固定型公众：由于兴趣、爱好、习惯的影响，比较集中地与某些组织、社团、商店、杂志社或某种商品生产厂家保持稳定联系的公众。</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根据上述定义，下列对应正确的是：</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乘坐北京开往上海高铁的旅客</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000" dirty="0">
                <a:latin typeface="楷体" panose="02010609060101010101" charset="-122"/>
                <a:ea typeface="楷体" panose="02010609060101010101" charset="-122"/>
                <a:cs typeface="楷体" panose="02010609060101010101" charset="-122"/>
                <a:sym typeface="楷体" panose="02010609060101010101" charset="-122"/>
              </a:rPr>
              <a:t>④</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定期来某学校上课的函授班学员</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000" dirty="0">
                <a:latin typeface="楷体" panose="02010609060101010101" charset="-122"/>
                <a:ea typeface="楷体" panose="02010609060101010101" charset="-122"/>
                <a:cs typeface="楷体" panose="02010609060101010101" charset="-122"/>
                <a:sym typeface="楷体" panose="02010609060101010101" charset="-122"/>
              </a:rPr>
              <a:t>③</a:t>
            </a:r>
            <a:endParaRPr lang="en-US"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经常来社区棋牌室打牌的退休人员</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000" dirty="0">
                <a:latin typeface="楷体" panose="02010609060101010101" charset="-122"/>
                <a:ea typeface="楷体" panose="02010609060101010101" charset="-122"/>
                <a:cs typeface="楷体" panose="02010609060101010101" charset="-122"/>
                <a:sym typeface="楷体" panose="02010609060101010101" charset="-122"/>
              </a:rPr>
              <a:t>②</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奥运会期间来田径体育场观看比赛的观众</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000" dirty="0">
                <a:latin typeface="楷体" panose="02010609060101010101" charset="-122"/>
                <a:ea typeface="楷体" panose="02010609060101010101" charset="-122"/>
                <a:cs typeface="楷体" panose="02010609060101010101" charset="-122"/>
                <a:sym typeface="楷体" panose="02010609060101010101" charset="-122"/>
              </a:rPr>
              <a:t>①</a:t>
            </a:r>
            <a:endParaRPr lang="en-US"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91</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286131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发炎：发烧</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饥饿：烧烤</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学习：考试</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祭祀：缅怀</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缺铁：贫血</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92</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286131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欲穷千里目：更上一层楼</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为唤春来争艳朵：甘将香化育花泥</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不经一番寒彻骨：怎得梅花扑鼻香</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欲上高楼去避愁：愁还随我上高楼</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抛开俗事陪山坐：才得闲心听水歌</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93</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286131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加大培训：稳定就业：扩充岗位</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预防流感：接种疫苗：增强体质</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增加营收：提高利润：降低成本</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建立信任：有效沟通：促成合作</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浸泡催芽：翻土播种：浇水追肥</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94</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286131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法定节日：传统节日：纪念节日</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国家秘密：商业秘密：工作秘密</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劳动产品：手工产品：文创产品</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儿童医院：公立医院：私立医院</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帆布书包：双肩书包：学生书包</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95</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286131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对于</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斜拉桥</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相当于</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燃油车</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对于（</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拱式桥；摩托车</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钢架桥；人力车</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人行桥；网约车</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独木桥；违章车</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96</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4246245"/>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汉朝建立后，在秦咸阳故都的基础上建立了长安城。经过西汉末年、东汉末年和魏晋南北朝期间的长期战乱，长安城日益凋敞。城门、宫殿、武库及城南的礼制建筑等都在战火中被毁，唐朝建立后，虽然汉都长安已破败不堪，但是唐长安城仍与其关联密切。有学者认为，汉长安城实际上成为了唐长安城的一部分。</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以下哪项如果为真，最能支持上述学者的观点？</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汉长安城的渭南内城被划入了唐长安城西北角的禁苑，成为专供皇室游猎的场所</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唐朝政府设有专门的机构管理汉长安城的主要遗迹，还曾对汉未央宫进行过修葺扩建</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至唐朝时，汉长安城的城墙城门、部分宫殿、武库、官署和角楼等建筑及道路都还保留完好</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隋朝建立都城时，曾从汉长安城的宫室建筑拆取了一些大型建材，这些都为后世的唐朝所继承</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97</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97560"/>
            <a:ext cx="10968355" cy="5631180"/>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紫外线照射会使黑色素过度积累，早前使用的一些抑制黑色素合成的化合物，如对苯二酚，对人类皮肤有毒性，已不再推荐作为美白剂使用，为此研究人员纷纷寻找应用在化妆品行业中更安全的美白剂，近日，研究人员从一种常见的寄居于人类皮肤上的细菌</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结核硬脂酸棒状杆菌中，发现了能作为抑制剂的酪氨酸酶。实验证实，酪氨酸酶对人体细胞无毒，适合用于对抗色素沉着。研究人员认为，酪氨酸酶是一种安全有效的美白剂。</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以下哪项如果为真，最能支持上述结论？</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除了酪氨酸酶，在天然细菌中暂时还没找到其他能替代对苯二酚的物质</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酪氨酸酶具有抗菌、抗癌等有益特性，进一步增强了其在各种治疗应用中的潜力</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结核硬脂酸棒状杆菌是寄居在皮肤上的细菌，通常会成为与人体共生的细菌，其衍生产物毒性低</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结核硬脂酸棒状杆菌是人类皮肤表面的正常菌群，在一般情况下并不致病，即使致病也可使用抗生素治疗</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98</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5169535"/>
          </a:xfrm>
          <a:prstGeom prst="rect">
            <a:avLst/>
          </a:prstGeom>
          <a:noFill/>
        </p:spPr>
        <p:txBody>
          <a:bodyPr wrap="square" rtlCol="0" anchor="t">
            <a:spAutoFit/>
          </a:bodyPr>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金鹃是具有巢寄生习性的一种鸟类，它们不会自己筑巢孵卵，而是把蛋产在其他种类鸟类（寄主）的巢中，由寄主代孵和育雏，但金鹃雏鸟一旦孵出，会将寄主的蛋从巢中清除出去。在研究金鹃与其非巢寄生的近亲物种后发现，金鹃在基因上分化的速度更快，形成了更多的物种群类。可见，巢寄生有助于促进具有这一习性鸟类的多样性。</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以下哪项如果为真，最能支持上述结论？</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与金鹃相比，金鹃的近亲鸟类物种大多进化缓慢，对环境的适应力较弱</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寄主的雏鸟比金鹃的雏鸟出壳晚，金鹃雏鸟破壳后便本能地将寄主的蛋拱出巢外</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在金鹃产蛋的过程中，某些寄主鸟类无法有效应对金鹃的巢寄生行为，数量出现锐减</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金鹃雏鸟影响寄主自身的繁殖，为此寄主要识别并排除金鹃，促使金鹃不断进化出与寄主雏鸟更接近的能力</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99</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4246245"/>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为研究雄性肠道微生物组对后代健康的影响，研究人员给雄性小鼠注射了</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6</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周抗生素，导致它们肠道微生物多样性和丰富度下降，结果发现这些小鼠的后代出生时体重较轻、生长严重受限以及过早死亡的概率更高，研究人员认为，这一效应与雄性生殖系统对微生物组失衡的反应有关，这种反应可能会增加胎盘功能不全的风险，因此，雄性小鼠肠道微生物组紊乱可能会影响后代健康。</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以下哪项如果为真，最能支持上述结论？</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在雌性小鼠受孕前，若紊乱的雄性小鼠肠道微生物组得到恢复，则能降低后代不健康的风险</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研究中雄性小鼠生殖系统对微生物组失衡的反应包括激素信号受损和睾丸代谢物特征改变</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导致雄性小鼠肠道微生物组紊乱的环境因素会引发宿主的生理和疾病反应</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对哺乳动物而言，雄性的健康状况很有可能会遗传给后代</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100</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4661535"/>
          </a:xfrm>
          <a:prstGeom prst="rect">
            <a:avLst/>
          </a:prstGeom>
          <a:noFill/>
        </p:spPr>
        <p:txBody>
          <a:bodyPr wrap="square" rtlCol="0" anchor="t">
            <a:spAutoFit/>
          </a:bodyPr>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自己烧水喝与直接喝包装水，哪一种更健康？一种观点认为，包装水中含有大量的微塑料，直接喝包装水会使微塑料进入体内，危害健康，因此自己烧水喝比直接喝包装水健康，另一种观点则认为，当前微塑料污染无处不在，海洋、污水、淡水、饮用水中均含有微塑料，因此自己烧水喝与直接喝包装水对健康的影响是一样的。</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以下哪项如果为真，最能削弱第二种观点？</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在日常饮食中应尽量减少微塑料进入体内</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把水烧开后，可以除去高达</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84%</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的微塑料</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自然水域中的微塑料已危害到野生动物健康</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微塑料可以进入血液，甚至抵达心脏和大脑</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101</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5292725"/>
          </a:xfrm>
          <a:prstGeom prst="rect">
            <a:avLst/>
          </a:prstGeom>
          <a:noFill/>
        </p:spPr>
        <p:txBody>
          <a:bodyPr wrap="square" rtlCol="0" anchor="t">
            <a:spAutoFit/>
          </a:bodyPr>
          <a:p>
            <a:pPr indent="0" algn="l" fontAlgn="auto">
              <a:lnSpc>
                <a:spcPct val="13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某商场发生了一起电梯坠落事故，对于事故发生的原因，甲、乙二人展开了讨论。甲说：此次电梯坠落事故的责任在于电梯维保单位，事故电梯维保单位没有严格按照安全技术规范要求对电梯进行实质性维保。乙说：此次电梯坠落事故的发生与事故电梯维保单位没有关系，事故电梯向下运行过程中，对重反绳轮滚动轴承因疲劳剥落失效，出现了卡死现象，这才是导致事故发生的原因。</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以下哪项如果为真，最能削弱乙的意见？</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事故电梯维保单位负责保养的其他电梯并没有出现类似事故，目前都在正常运行</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由于安全监管等相关部门的重视，对所有电梯元件的生产、安装、维保都有严格的规定，由此导致的事故数量呈现逐年下降趋势</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当前出现的电梯事故的主要原因是人的不安全行为，如超载、反复开关梯门、在电梯运行过程中蹦跳等，而非电梯本身的不安全状态</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事故电梯维保单位没有严格按照安全技术规范要求对电梯进行实质性维保，导致对重反绳轮滚动轴承老化，出现卡死现象</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102</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4661535"/>
          </a:xfrm>
          <a:prstGeom prst="rect">
            <a:avLst/>
          </a:prstGeom>
          <a:noFill/>
        </p:spPr>
        <p:txBody>
          <a:bodyPr wrap="square" rtlCol="0" anchor="t">
            <a:spAutoFit/>
          </a:bodyPr>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深度睡眠阶段，人体会从大脑中移除不想要的或可能有害的物质，包括阿尔茨海默病中聚集的主要蛋白质，如</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Tau</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蛋白。阿尔茨海默病患者的一种病理变化是脑内</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Tau</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蛋白过度磷酸化，在细胞内堆积形成神经元纤维缠结。</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因此有研究者认为，深度睡眠不足会增加罹患阿尔茨海默病的风险。</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以下哪项如果为真，最能削弱上述结论</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t>
            </a:r>
            <a:endParaRPr lang="en-US" altLang="zh-CN"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神经元纤维缠结与神经细胞死亡和认知功能障碍密切相关</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携带阿尔茨海默病高风险基因的人更可能出现深度睡眠不足</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精神刺激、创伤、神经系统疾病等因素都可诱发阿尔茨海默病</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年轻人的深度睡眠占睡眠时间的</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20%~25%</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，老年人只占</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5%~7%</a:t>
            </a:r>
            <a:endParaRPr lang="en-US" altLang="zh-CN" sz="22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103</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4661535"/>
          </a:xfrm>
          <a:prstGeom prst="rect">
            <a:avLst/>
          </a:prstGeom>
          <a:noFill/>
        </p:spPr>
        <p:txBody>
          <a:bodyPr wrap="square" rtlCol="0" anchor="t">
            <a:spAutoFit/>
          </a:bodyPr>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研究人员比较了过去几年自动驾驶车辆和人类驾驶车辆的相关数据发现，一般情况下与人类驾驶相比，自动驾驶车辆在执行常规驾驶任务，如保持车道位置和根据车流调整位置时更安全，研究人员认为，以自动驾驶车辆代替人类驾驶车辆上路可以大大减少交通事故。</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上述结论需要补充以下哪项作为前提？</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当前交通事故主要发生在常规驾驶任务中</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过去几年自动驾驶车辆技术水平发展迅速</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自动驾驶车辆可以为道路交通提供精准导航</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自动驾驶车辆和人类驾驶车辆存在风险差异</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104</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5169535"/>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研究人员调查了负面情绪（包括愤怒、焦虑和悲伤）是否会对人体产生不利影响。研究中，</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280</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名成年人被随机分配</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4</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项情绪任务之一，包括回忆让他们愤怒的个人经历；回忆令自己感到焦虑的事件；阅读一系列引发悲伤的令人沮丧的句子；或者反复从</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1</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数到</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100</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以诱发中性情绪状态。研究发现，从任务完成后的</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0</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分钟到</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40</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分钟，回忆愤怒经历会导致血管舒张能力受损。</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40</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分钟后，这种状况才消失，而相较于愤怒，焦虑和悲伤情绪并没有引发血管内壁功能的显著变化。研究人员据此认为，愤怒会增加患动脉粥样硬化的风险。</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上述论证的成立需要补充以下哪项作为前提？</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血管舒张能力受损引发血管内壁功能的显著变化</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回忆愤怒的经历与心血管疾病之间存在显著关联</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血管舒张能力受损会增加患动脉粥样硬化的风险</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研究开始前，受试者都未检出血管舒张能力受损</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105</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881755"/>
          </a:xfrm>
          <a:prstGeom prst="rect">
            <a:avLst/>
          </a:prstGeom>
          <a:noFill/>
        </p:spPr>
        <p:txBody>
          <a:bodyPr wrap="square" rtlCol="0" anchor="t">
            <a:spAutoFit/>
          </a:bodyPr>
          <a:p>
            <a:pPr indent="0" algn="l" fontAlgn="auto">
              <a:lnSpc>
                <a:spcPct val="14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某公司举办年会，所有表演街舞的员工都表演了民族舞，所有表演民族舞的员工都表演了唱歌，有些表演吉他演奏的员工表演了诗朗诵，所有表演吉他演奏的员工都没有表演唱歌。</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4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根据上述陈述，不能推出以下哪项？</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4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所有表演街舞的员工都表演了唱歌</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4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有些表演街舞的员工表演了吉他演奏</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4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有的表演诗朗诵的员工没有表演唱歌</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4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所有表演吉他演奏的员工都没有表演民族舞</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徽标&#10;&#10;AI 生成的内容可能不正确。"/>
          <p:cNvPicPr>
            <a:picLocks noChangeAspect="1"/>
          </p:cNvPicPr>
          <p:nvPr/>
        </p:nvPicPr>
        <p:blipFill>
          <a:blip r:embed="rId1"/>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lstStyle/>
          <a:p>
            <a:r>
              <a:rPr kumimoji="1" lang="zh-CN" altLang="en-US" sz="4400" b="1" dirty="0">
                <a:solidFill>
                  <a:srgbClr val="DC5037"/>
                </a:solidFill>
                <a:latin typeface="楷体" panose="02010609060101010101" charset="-122"/>
                <a:ea typeface="楷体" panose="02010609060101010101" charset="-122"/>
                <a:cs typeface="楷体" panose="02010609060101010101" charset="-122"/>
              </a:rPr>
              <a:t>感谢收看！</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4.xml><?xml version="1.0" encoding="utf-8"?>
<p:tagLst xmlns:p="http://schemas.openxmlformats.org/presentationml/2006/main">
  <p:tag name="resource_record_key" val="{&quot;13&quot;:[20481828,4364903,4364924],&quot;65&quot;:[20205081]}"/>
</p:tagLst>
</file>

<file path=ppt/theme/theme1.xml><?xml version="1.0" encoding="utf-8"?>
<a:theme xmlns:a="http://schemas.openxmlformats.org/drawingml/2006/main" name="自定义设计方案">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楷体"/>
        <a:ea typeface="楷体"/>
        <a:cs typeface=""/>
      </a:majorFont>
      <a:minorFont>
        <a:latin typeface="楷体"/>
        <a:ea typeface="楷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6300</Words>
  <Application>WPS 演示</Application>
  <PresentationFormat>宽屏</PresentationFormat>
  <Paragraphs>265</Paragraphs>
  <Slides>32</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32</vt:i4>
      </vt:variant>
    </vt:vector>
  </HeadingPairs>
  <TitlesOfParts>
    <vt:vector size="41" baseType="lpstr">
      <vt:lpstr>Arial</vt:lpstr>
      <vt:lpstr>宋体</vt:lpstr>
      <vt:lpstr>Wingdings</vt:lpstr>
      <vt:lpstr>楷体</vt:lpstr>
      <vt:lpstr>Wingdings</vt:lpstr>
      <vt:lpstr>微软雅黑 Light</vt:lpstr>
      <vt:lpstr>微软雅黑</vt:lpstr>
      <vt:lpstr>Arial Unicode MS</vt:lpstr>
      <vt:lpstr>自定义设计方案</vt:lpstr>
      <vt:lpstr>PowerPoint 演示文稿</vt:lpstr>
      <vt:lpstr>题71</vt:lpstr>
      <vt:lpstr>题72</vt:lpstr>
      <vt:lpstr>题73</vt:lpstr>
      <vt:lpstr>题74</vt:lpstr>
      <vt:lpstr>题75</vt:lpstr>
      <vt:lpstr>题81</vt:lpstr>
      <vt:lpstr>题82</vt:lpstr>
      <vt:lpstr>题83</vt:lpstr>
      <vt:lpstr>题84</vt:lpstr>
      <vt:lpstr>题85</vt:lpstr>
      <vt:lpstr>题86</vt:lpstr>
      <vt:lpstr>题87</vt:lpstr>
      <vt:lpstr>题88</vt:lpstr>
      <vt:lpstr>题89</vt:lpstr>
      <vt:lpstr>题90</vt:lpstr>
      <vt:lpstr>题91</vt:lpstr>
      <vt:lpstr>题92</vt:lpstr>
      <vt:lpstr>题92</vt:lpstr>
      <vt:lpstr>题93</vt:lpstr>
      <vt:lpstr>题94</vt:lpstr>
      <vt:lpstr>题95</vt:lpstr>
      <vt:lpstr>题96</vt:lpstr>
      <vt:lpstr>题97</vt:lpstr>
      <vt:lpstr>题98</vt:lpstr>
      <vt:lpstr>题100</vt:lpstr>
      <vt:lpstr>题101</vt:lpstr>
      <vt:lpstr>题102</vt:lpstr>
      <vt:lpstr>题103</vt:lpstr>
      <vt:lpstr>题104</vt:lpstr>
      <vt:lpstr>题105</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237</cp:revision>
  <dcterms:created xsi:type="dcterms:W3CDTF">2019-06-19T02:08:00Z</dcterms:created>
  <dcterms:modified xsi:type="dcterms:W3CDTF">2025-12-29T07:37:21Z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7E0F0589F6D94CFE8A4BC2AEA01394FF_11</vt:lpwstr>
  </property>
</Properties>
</file>