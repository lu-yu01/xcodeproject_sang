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1"/>
  </p:handoutMasterIdLst>
  <p:sldIdLst>
    <p:sldId id="1794" r:id="rId3"/>
    <p:sldId id="1813" r:id="rId5"/>
    <p:sldId id="1814" r:id="rId6"/>
    <p:sldId id="1815" r:id="rId7"/>
    <p:sldId id="1816" r:id="rId8"/>
    <p:sldId id="1817" r:id="rId9"/>
    <p:sldId id="1818" r:id="rId10"/>
    <p:sldId id="1819" r:id="rId11"/>
    <p:sldId id="1820" r:id="rId12"/>
    <p:sldId id="1821" r:id="rId13"/>
    <p:sldId id="1822" r:id="rId14"/>
    <p:sldId id="1823" r:id="rId15"/>
    <p:sldId id="1824" r:id="rId16"/>
    <p:sldId id="1825" r:id="rId17"/>
    <p:sldId id="1826" r:id="rId18"/>
    <p:sldId id="1827" r:id="rId19"/>
    <p:sldId id="1828" r:id="rId20"/>
    <p:sldId id="1829" r:id="rId21"/>
    <p:sldId id="1830" r:id="rId22"/>
    <p:sldId id="1831" r:id="rId23"/>
    <p:sldId id="1832" r:id="rId24"/>
    <p:sldId id="1833" r:id="rId25"/>
    <p:sldId id="1834" r:id="rId26"/>
    <p:sldId id="1835" r:id="rId27"/>
    <p:sldId id="1836" r:id="rId28"/>
    <p:sldId id="1837" r:id="rId29"/>
    <p:sldId id="1838" r:id="rId30"/>
    <p:sldId id="1839" r:id="rId31"/>
    <p:sldId id="1840" r:id="rId32"/>
    <p:sldId id="1841" r:id="rId33"/>
    <p:sldId id="1842" r:id="rId34"/>
    <p:sldId id="1843" r:id="rId35"/>
    <p:sldId id="1844" r:id="rId36"/>
    <p:sldId id="1845" r:id="rId37"/>
    <p:sldId id="1846" r:id="rId38"/>
    <p:sldId id="1847" r:id="rId39"/>
    <p:sldId id="1796" r:id="rId40"/>
  </p:sldIdLst>
  <p:sldSz cx="12192000" cy="6858000"/>
  <p:notesSz cx="6858000" cy="9144000"/>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2" userDrawn="1">
          <p15:clr>
            <a:srgbClr val="A4A3A4"/>
          </p15:clr>
        </p15:guide>
        <p15:guide id="2" pos="383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 id="667521689" name="小蕊" initials="小"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42"/>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gs" Target="tags/tag4.xml"/><Relationship Id="rId45" Type="http://schemas.openxmlformats.org/officeDocument/2006/relationships/commentAuthors" Target="commentAuthors.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全真阅读具有沉浸式的属性，二者为必然属性对应关系。全真阅读的本质就是通过模拟真实场景，让用户获得沉浸式体验</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项：企业销售可能具有盈利性的属性，但不是必然属性，与题干逻辑关系不一致，排除；（比如公益性质的企业销售、清库存的保本销售就不具备盈利性）</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项：乡村教育可能具有均衡化的属性，但不是必然属性，与题干逻辑关系不一致，排除；</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均衡化</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是乡村教育的发展目标，而非固有属性（当前部分乡村教育仍存在资源不均衡的情况）</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项：人工智能具有数字化的属性，二者为必然属性对应关系，与题干逻辑关系一致，当选；</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人工智能的运行、算法迭代、数据处理等核心环节，都必须依赖数字化技术</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项：线上课程可能具有直播性的属性，但不是必然属性，与题干逻辑关系不一致，排除。线上课程的形式多样（录播、图文、直播等），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直播性</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只是其中一种可选形式</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endParaRPr lang="en-US" altLang="zh-CN"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针灸可以疏通经脉，二者是功能对应关系。</a:t>
            </a:r>
            <a:r>
              <a:rPr lang="zh-CN" altLang="en-US" dirty="0">
                <a:effectLst/>
                <a:latin typeface="+mn-lt"/>
                <a:ea typeface="+mn-ea"/>
                <a:sym typeface="+mn-ea"/>
              </a:rPr>
              <a:t>针灸是一种医疗手段，其主要作用、核心目的就是疏通经脉，</a:t>
            </a:r>
            <a:r>
              <a:rPr lang="zh-CN" altLang="en-US" sz="1200" kern="1200" dirty="0">
                <a:solidFill>
                  <a:schemeClr val="tx1"/>
                </a:solidFill>
                <a:effectLst/>
                <a:latin typeface="+mn-lt"/>
                <a:ea typeface="+mn-ea"/>
              </a:rPr>
              <a:t>二者是手段</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目的的明确关联</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项：慢跑可以增强体质，二者是功能对应关系，与题干逻辑关系一致，当选；慢跑是一种运动方式，它的核心目的就是增强体质</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涅槃原指超脱生死的境界，现用作死（多指佛或僧人）的代称，化茧成蝶原意指蝴蝶幼虫变化为成虫的过程，寓意人经历成长，蜕去丑陋的无用的，变得智慧、美丽，二者之间没有明显的逻辑关系，与题干逻辑关系不一致，排除；涅槃指重生、超脱，化茧成蝶比喻蜕变成长，二者是近义</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象征关系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项：缺铁会导致供血不足，二者是因果对应关系，与题干逻辑关系不一致，排除；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项：商品展示是一种促销的方式，二者是方式目的对应关系，与题干逻辑关系不一致，排除。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修缮和修葺都指修理、修补，二者是近义关系。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项：淹留指羁留、逗留，二者是近义关系，与题干逻辑关系一致，当选；均指停留、滞留某地，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淹留</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偏书面文言，</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逗留</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更口语</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项：休闲指一种放松、闲暇的状态，休憩指休息，二者不是近义关系，与题干逻辑关系不一致，排除；</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休闲</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侧重空闲时间的消遣活动（如休闲娱乐），是名词</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形容词；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休憩</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侧重休息的动作，是动词</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项：履职指履行职务，履任指到任、就任，二者不是近义关系，与题干逻辑关系不一致，排除；</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履职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指履行职务、承担职责；</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履任</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指就任、到任，是履职的前置动作</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项：赏识指对人的才能或对作品的价值有所认识而予以重视或赞扬，赏玩指观赏游玩，二者不是近义关系，与题干逻辑关系不一致，排除。</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赏识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指看重、认可他人的才能；</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赏玩</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指欣赏玩味器物、风景等，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葡萄是制作葡萄酒的原材料，二者构成原材料的对应关系。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项：黄金档是指电视开机观众数最广泛的时段的通称，后者是根据前者的内在特性进行类比而命名的，二者不构成原材料的对应关系，与题干逻辑关系不一致，排除；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项：香蕉水，又名天那水、梨油，因有乙酸戊酯或乙酸异戊酯的香蕉味，故得名香蕉水，后者是根据其味道类似前者而命名的，二者不构成原材料的对应关系，与题干逻辑关系不一致，排除；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项：相传杜鹃花是用杜鹃鸟的鲜血染成的颜色，故得名杜鹃花，二者不构成原材料的对应关系，与题干逻辑关系不一致，排除；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项：枇杷是制作枇杷膏的原材料，二者构成原材料的对应关系，与题干逻辑关系一致，当选。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嗜食甜品导致龋齿，二者为因果对应关系。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项：海鲜导致食物过敏，二者为因果对应关系，但顺序与题干相反，与题干逻辑关系不一致，排除；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项：缺钙导致骨质疏松，二者为因果对应关系，但顺序与题干相反，与题干逻辑关系不一致，排除；缺钙是导致骨质疏松的重要原因，但二者是必然因果（长期严重缺钙大概率会引发骨质疏松）</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项：运动可以增强体质，二者为因果对应关系，但顺序与题干相反，与题干逻辑关系不一致，排除；运动是增强体质的手段</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项：地下渗水导致塌方，二者为因果对应关系，与题干逻辑关系一致，当选。地下渗水是引发塌方的重要诱因，二者是或然因果（地下渗水不一定必然导致塌方，还和地质结构、施工情况等有关）</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天荒地老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意思是天荒秽，地衰老，指经历的时间极久远。</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海枯石烂</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意思是海水干涸、石头腐烂，形容历时久远。二者均形容历时久远，二者为近义关系。二者均形容时间久远、意志坚定，多用来表达忠贞不渝的感情或坚定的誓言，且均为并列结构的成语。</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同心同德</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指思想行动一致。</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反目成仇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指翻脸而变成仇敌。二者无明显逻辑关系，与题干逻辑关系不一致，排除；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披荆斩棘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指拨开荆丛，砍掉荆棘，比喻开创事业或在前进道路上清除障碍，艰苦奋斗。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斩钉截铁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指砍断钉子切断铁，形容说话或行动坚决果断，毫不犹豫。二者无明显逻辑关系，与题干逻辑关系不一致，排除；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孜孜矻矻</a:t>
            </a:r>
            <a:r>
              <a:rPr lang="en-US" altLang="zh-CN" sz="1200" kern="1200" dirty="0">
                <a:solidFill>
                  <a:schemeClr val="tx1"/>
                </a:solidFill>
                <a:effectLst/>
                <a:latin typeface="+mn-lt"/>
                <a:ea typeface="+mn-ea"/>
              </a:rPr>
              <a:t>z</a:t>
            </a:r>
            <a:r>
              <a:rPr lang="en-US" altLang="en-US" sz="1200" kern="1200" dirty="0">
                <a:solidFill>
                  <a:schemeClr val="tx1"/>
                </a:solidFill>
                <a:effectLst/>
                <a:latin typeface="+mn-lt"/>
                <a:ea typeface="+mn-ea"/>
              </a:rPr>
              <a:t>ī</a:t>
            </a:r>
            <a:r>
              <a:rPr lang="en-US" altLang="zh-CN" sz="1200" kern="1200" dirty="0">
                <a:solidFill>
                  <a:schemeClr val="tx1"/>
                </a:solidFill>
                <a:effectLst/>
                <a:latin typeface="+mn-lt"/>
                <a:ea typeface="+mn-ea"/>
              </a:rPr>
              <a:t> z</a:t>
            </a:r>
            <a:r>
              <a:rPr lang="en-US" altLang="en-US" sz="1200" kern="1200" dirty="0">
                <a:solidFill>
                  <a:schemeClr val="tx1"/>
                </a:solidFill>
                <a:effectLst/>
                <a:latin typeface="+mn-lt"/>
                <a:ea typeface="+mn-ea"/>
              </a:rPr>
              <a:t>ī</a:t>
            </a:r>
            <a:r>
              <a:rPr lang="en-US" altLang="zh-CN" sz="1200" kern="1200" dirty="0">
                <a:solidFill>
                  <a:schemeClr val="tx1"/>
                </a:solidFill>
                <a:effectLst/>
                <a:latin typeface="+mn-lt"/>
                <a:ea typeface="+mn-ea"/>
              </a:rPr>
              <a:t> k</a:t>
            </a:r>
            <a:r>
              <a:rPr lang="en-US" altLang="en-US" sz="1200" kern="1200" dirty="0">
                <a:solidFill>
                  <a:schemeClr val="tx1"/>
                </a:solidFill>
                <a:effectLst/>
                <a:latin typeface="+mn-lt"/>
                <a:ea typeface="+mn-ea"/>
              </a:rPr>
              <a:t>ū</a:t>
            </a:r>
            <a:r>
              <a:rPr lang="en-US" altLang="zh-CN" sz="1200" kern="1200" dirty="0">
                <a:solidFill>
                  <a:schemeClr val="tx1"/>
                </a:solidFill>
                <a:effectLst/>
                <a:latin typeface="+mn-lt"/>
                <a:ea typeface="+mn-ea"/>
              </a:rPr>
              <a:t> k</a:t>
            </a:r>
            <a:r>
              <a:rPr lang="en-US" altLang="en-US" sz="1200" kern="1200" dirty="0">
                <a:solidFill>
                  <a:schemeClr val="tx1"/>
                </a:solidFill>
                <a:effectLst/>
                <a:latin typeface="+mn-lt"/>
                <a:ea typeface="+mn-ea"/>
              </a:rPr>
              <a:t>ū</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形容勤勉不懈怠的样子。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夙夜不懈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指日夜谨慎工作，勤奋不懈。二者均指勤勉不懈怠，二者为近义关系，与题干逻辑关系一致，当选；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望而却步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指看到了危险或力不能及的事而往后退缩。</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望风披靡</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比喻军队毫无斗志，老远看到对方的气势很盛，没有交锋就溃散了。二者无明显逻辑关系，与题干逻辑关系不一致，排除。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书籍在书柜内，二者为位置的对应关系，书页是书籍的组成部分，二者为组成关系。</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书柜：书籍：书页</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的关系是</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容器</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容纳物</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组成部分</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项：花卉在花坛内，二者为位置的对应关系，花蕊是花卉的组成部分，二者为组成关系，与题干逻辑关系一致，当选；书页指的是书籍中单张纸的一面或正反两面，是构成书籍的基本单位。</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项：在舞池内舞蹈，二者为位置的对应关系，舞伴表演舞蹈，二者为主宾关系，与题干逻辑关系不一致，排除；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项：面粉是制作面条的原材料，二者为原材料的对应关系，面条和面片是不同的面食，二者为并列关系，与题干逻辑关系不一致，排除；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项：鞋子在鞋盒内，二者为位置的对应关系，鞋油是擦拭鞋子的工具，二者为工具的对应关系，与题干逻辑关系不一致，排除。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桃红、橘绿、橙黄是三种不同的颜色，三者为并列关系中的反对关系。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项：蚕食是指蚕吃桑叶时一点一点地吃，牛饮是形容大口喝水，鲸吞是指像鲸一样吞食，三者是不同的饮食方式，为并列关系中的反对关系，与题干逻辑关系一致，当选；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项：中医和西医是并列关系，名医是指医术高明或者有名气的医生，与前两词均为交叉关系，与题干逻辑关系不一致，排除；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项：软卧和硬卧是两种不同的卧铺等级，二者为并列关系，与卧铺均为种属关系，与题干逻辑关系不一致，排除；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被告和原告为诉讼过程中的两个主体，二者为并列关系，但控告是指机关、团体、企事业单位和个人向公安、司法机关揭露违法犯罪事实或犯罪嫌疑人，要求依法予以惩处的行为，与被告和原告不存在并列关系，与题干逻辑关系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游艇是船舶的一种，二者为种属关系，钢材是游艇的原材料，二者为原材料对应关系。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项：玉石是古玺的原材料，二者为原材料对应关系，隶书为雕刻古玺时所用的一种文字，二者并非种属关系，与题干逻辑关系不一致，排除；古玺是秦统一以前印章的概称</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项：旗袍是服饰的一种，二者为种属关系，丝绸是旗袍的原材料，二者为对应关系，与题干逻辑关系一致，当选；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项：版画和油画是两种不同的绘画形式，二者为并列关系，均与绘画构成种属关系，与题干逻辑关系不一致，排除；版画是利用</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版</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为媒介，通过制版和印刷等工艺，将图像或文字转移到纸张或其他材料载体上的绘画作品。油画是以油为调和剂，将颜料涂绘在布、木板、纸板等基底上的绘画形式，是西方绘画的核心画种，兼具艺术表现力与耐久性。</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砧板为厨具的一种，二者为种属关系，木材是砧板的原材料，二者为对应关系，但词语顺序与题干不同，与题干逻辑关系不一致，排除。砧板是垫放在桌上以便切菜时防止破坏桌子的木板，也被称为菜板、菜墩。它是厨房中常用的厨具，主要用于切菜、剁肉或处理面食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东汉和北宋都是中国历史朝代，二者为并列关系，且分别与历史朝代构成包容关系，同时东汉在北宋前面。</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台风是一种热带气旋，与热带气旋构成种属关系。飓风和台风指的都是北半球的热带气旋，二者构成全同关系，与题干逻辑关系不一致，排除；台风和飓风本质是同一种事物的不同地域称谓（西北太平洋叫台风，大西洋、印度洋叫飓风）</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项：家父是对人谦称自己的父亲的称呼，不是敬辞称谓，与敬辞称谓构成反向种属关系，令尊是称对方父亲的敬词，与敬辞称谓为种属关系，与题干逻辑关系不一致，排除；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项：十二时辰即：子、丑、寅、卯、辰、巳、午、未、申、酉、戌、亥，丑时和午时为并列关系，且分别与十二时辰构成包容关系，同时丑时在午时前面，与题干逻辑关系一致，当选；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火车和马车都是交通工具，二者为并列关系，且分别与交通工具构成包容关系，但马车的出现时间在火车前面，与题干顺序相反，与题干逻辑关系不一致，排除。二者的技术属性差异过大（前者是近现代机械交通工具，后者是古代畜力交通工具），且题干中</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东汉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北宋</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均为同一体系（古代封建王朝）的成员</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注：本题确实有争议，看后两词并列，且与第一个词是种属关系，选择</a:t>
            </a:r>
            <a:r>
              <a:rPr lang="en-US" altLang="zh-CN" sz="1200" kern="1200" dirty="0">
                <a:solidFill>
                  <a:schemeClr val="tx1"/>
                </a:solidFill>
                <a:effectLst/>
                <a:latin typeface="+mn-lt"/>
                <a:ea typeface="+mn-ea"/>
              </a:rPr>
              <a:t> D </a:t>
            </a:r>
            <a:r>
              <a:rPr lang="zh-CN" altLang="en-US" sz="1200" kern="1200" dirty="0">
                <a:solidFill>
                  <a:schemeClr val="tx1"/>
                </a:solidFill>
                <a:effectLst/>
                <a:latin typeface="+mn-lt"/>
                <a:ea typeface="+mn-ea"/>
              </a:rPr>
              <a:t>项；看后两词先后顺序，选择</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项；因本题</a:t>
            </a:r>
            <a:r>
              <a:rPr lang="en-US" altLang="zh-CN" sz="1200" kern="1200" dirty="0">
                <a:solidFill>
                  <a:schemeClr val="tx1"/>
                </a:solidFill>
                <a:effectLst/>
                <a:latin typeface="+mn-lt"/>
                <a:ea typeface="+mn-ea"/>
              </a:rPr>
              <a:t> D </a:t>
            </a:r>
            <a:r>
              <a:rPr lang="zh-CN" altLang="en-US" sz="1200" kern="1200" dirty="0">
                <a:solidFill>
                  <a:schemeClr val="tx1"/>
                </a:solidFill>
                <a:effectLst/>
                <a:latin typeface="+mn-lt"/>
                <a:ea typeface="+mn-ea"/>
              </a:rPr>
              <a:t>项的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火车：马车</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，应该是马车在前，火车在后，更像出题人在先后顺序上挖了坑，故小粉笔择优本题答案定为</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项，争议题在备考过程中，学习基本思路即可，可</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借词：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音义都借自外语的词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引入新的外来概念</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引入外语的音义结合关系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；音义都借自外语，音义结合关系照搬（如</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沙发</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译自</a:t>
            </a:r>
            <a:r>
              <a:rPr lang="en-US" altLang="zh-CN" sz="1200" kern="1200" dirty="0">
                <a:solidFill>
                  <a:schemeClr val="tx1"/>
                </a:solidFill>
                <a:effectLst/>
                <a:latin typeface="+mn-lt"/>
                <a:ea typeface="+mn-ea"/>
              </a:rPr>
              <a:t> sofa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意译词：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引入新的外来概念</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用本族语的构词材料和构词规则构成新词来表达</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；只借概念，用本族语构词材料</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规则造词（如</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电话</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译</a:t>
            </a:r>
            <a:r>
              <a:rPr lang="en-US" altLang="zh-CN" sz="1200" kern="1200" dirty="0">
                <a:solidFill>
                  <a:schemeClr val="tx1"/>
                </a:solidFill>
                <a:effectLst/>
                <a:latin typeface="+mn-lt"/>
                <a:ea typeface="+mn-ea"/>
              </a:rPr>
              <a:t> telephone</a:t>
            </a:r>
            <a:r>
              <a:rPr lang="zh-CN" altLang="en-US" sz="1200" kern="1200" dirty="0">
                <a:solidFill>
                  <a:schemeClr val="tx1"/>
                </a:solidFill>
                <a:effectLst/>
                <a:latin typeface="+mn-lt"/>
                <a:ea typeface="+mn-ea"/>
              </a:rPr>
              <a:t>，无语音对应）</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仿译词：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构词所用的本族语的构词材料和构词规则分别与所源出的外语词具有一一对应的关系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。意译词的特殊类，构词材料</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规则与外语词一一对应（即逐字翻译）仿译词</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逐字直译外语词的结构</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用本族语词汇组合</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项：蜜月源自英文单词</a:t>
            </a:r>
            <a:r>
              <a:rPr lang="en-US" altLang="zh-CN" sz="1200" kern="1200" dirty="0">
                <a:solidFill>
                  <a:schemeClr val="tx1"/>
                </a:solidFill>
                <a:effectLst/>
                <a:latin typeface="+mn-lt"/>
                <a:ea typeface="+mn-ea"/>
              </a:rPr>
              <a:t> honeymoon</a:t>
            </a:r>
            <a:r>
              <a:rPr lang="zh-CN" altLang="en-US" sz="1200" kern="1200" dirty="0">
                <a:solidFill>
                  <a:schemeClr val="tx1"/>
                </a:solidFill>
                <a:effectLst/>
                <a:latin typeface="+mn-lt"/>
                <a:ea typeface="+mn-ea"/>
              </a:rPr>
              <a:t>，其中</a:t>
            </a:r>
            <a:r>
              <a:rPr lang="en-US" altLang="zh-CN" sz="1200" kern="1200" dirty="0">
                <a:solidFill>
                  <a:schemeClr val="tx1"/>
                </a:solidFill>
                <a:effectLst/>
                <a:latin typeface="+mn-lt"/>
                <a:ea typeface="+mn-ea"/>
              </a:rPr>
              <a:t> honey </a:t>
            </a:r>
            <a:r>
              <a:rPr lang="zh-CN" altLang="en-US" sz="1200" kern="1200" dirty="0">
                <a:solidFill>
                  <a:schemeClr val="tx1"/>
                </a:solidFill>
                <a:effectLst/>
                <a:latin typeface="+mn-lt"/>
                <a:ea typeface="+mn-ea"/>
              </a:rPr>
              <a:t>本意为蜂蜜，</a:t>
            </a:r>
            <a:r>
              <a:rPr lang="en-US" altLang="zh-CN" sz="1200" kern="1200" dirty="0">
                <a:solidFill>
                  <a:schemeClr val="tx1"/>
                </a:solidFill>
                <a:effectLst/>
                <a:latin typeface="+mn-lt"/>
                <a:ea typeface="+mn-ea"/>
              </a:rPr>
              <a:t>moon </a:t>
            </a:r>
            <a:r>
              <a:rPr lang="zh-CN" altLang="en-US" sz="1200" kern="1200" dirty="0">
                <a:solidFill>
                  <a:schemeClr val="tx1"/>
                </a:solidFill>
                <a:effectLst/>
                <a:latin typeface="+mn-lt"/>
                <a:ea typeface="+mn-ea"/>
              </a:rPr>
              <a:t>为月，足球的英文单词是</a:t>
            </a:r>
            <a:r>
              <a:rPr lang="en-US" altLang="zh-CN" sz="1200" kern="1200" dirty="0">
                <a:solidFill>
                  <a:schemeClr val="tx1"/>
                </a:solidFill>
                <a:effectLst/>
                <a:latin typeface="+mn-lt"/>
                <a:ea typeface="+mn-ea"/>
              </a:rPr>
              <a:t> football</a:t>
            </a:r>
            <a:r>
              <a:rPr lang="zh-CN" altLang="en-US" sz="1200" kern="1200" dirty="0">
                <a:solidFill>
                  <a:schemeClr val="tx1"/>
                </a:solidFill>
                <a:effectLst/>
                <a:latin typeface="+mn-lt"/>
                <a:ea typeface="+mn-ea"/>
              </a:rPr>
              <a:t>，其中</a:t>
            </a:r>
            <a:r>
              <a:rPr lang="en-US" altLang="zh-CN" sz="1200" kern="1200" dirty="0">
                <a:solidFill>
                  <a:schemeClr val="tx1"/>
                </a:solidFill>
                <a:effectLst/>
                <a:latin typeface="+mn-lt"/>
                <a:ea typeface="+mn-ea"/>
              </a:rPr>
              <a:t> foot </a:t>
            </a:r>
            <a:r>
              <a:rPr lang="zh-CN" altLang="en-US" sz="1200" kern="1200" dirty="0">
                <a:solidFill>
                  <a:schemeClr val="tx1"/>
                </a:solidFill>
                <a:effectLst/>
                <a:latin typeface="+mn-lt"/>
                <a:ea typeface="+mn-ea"/>
              </a:rPr>
              <a:t>本意为脚、足，</a:t>
            </a:r>
            <a:r>
              <a:rPr lang="en-US" altLang="zh-CN" sz="1200" kern="1200" dirty="0">
                <a:solidFill>
                  <a:schemeClr val="tx1"/>
                </a:solidFill>
                <a:effectLst/>
                <a:latin typeface="+mn-lt"/>
                <a:ea typeface="+mn-ea"/>
              </a:rPr>
              <a:t>ball </a:t>
            </a:r>
            <a:r>
              <a:rPr lang="zh-CN" altLang="en-US" sz="1200" kern="1200" dirty="0">
                <a:solidFill>
                  <a:schemeClr val="tx1"/>
                </a:solidFill>
                <a:effectLst/>
                <a:latin typeface="+mn-lt"/>
                <a:ea typeface="+mn-ea"/>
              </a:rPr>
              <a:t>为球，均符合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构词所用的本族语的构词材料和构词规则分别与所源出的外语词具有一一对应的关系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，符合仿译词定义，当选；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项：激光的英文单词是</a:t>
            </a:r>
            <a:r>
              <a:rPr lang="en-US" altLang="zh-CN" sz="1200" kern="1200" dirty="0">
                <a:solidFill>
                  <a:schemeClr val="tx1"/>
                </a:solidFill>
                <a:effectLst/>
                <a:latin typeface="+mn-lt"/>
                <a:ea typeface="+mn-ea"/>
              </a:rPr>
              <a:t> laser</a:t>
            </a:r>
            <a:r>
              <a:rPr lang="zh-CN" altLang="en-US" sz="1200" kern="1200" dirty="0">
                <a:solidFill>
                  <a:schemeClr val="tx1"/>
                </a:solidFill>
                <a:effectLst/>
                <a:latin typeface="+mn-lt"/>
                <a:ea typeface="+mn-ea"/>
              </a:rPr>
              <a:t>，天使的英文单词是</a:t>
            </a:r>
            <a:r>
              <a:rPr lang="en-US" altLang="zh-CN" sz="1200" kern="1200" dirty="0">
                <a:solidFill>
                  <a:schemeClr val="tx1"/>
                </a:solidFill>
                <a:effectLst/>
                <a:latin typeface="+mn-lt"/>
                <a:ea typeface="+mn-ea"/>
              </a:rPr>
              <a:t> angel</a:t>
            </a:r>
            <a:r>
              <a:rPr lang="zh-CN" altLang="en-US" sz="1200" kern="1200" dirty="0">
                <a:solidFill>
                  <a:schemeClr val="tx1"/>
                </a:solidFill>
                <a:effectLst/>
                <a:latin typeface="+mn-lt"/>
                <a:ea typeface="+mn-ea"/>
              </a:rPr>
              <a:t>，均不符合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构词所用的本族语的构词材料和构词规则分别与所源出的外语词具有一一对应的关系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，不符合仿译词定义，排除；属于</a:t>
            </a:r>
            <a:r>
              <a:rPr lang="zh-CN" altLang="en-US" dirty="0">
                <a:effectLst/>
                <a:latin typeface="+mn-lt"/>
                <a:ea typeface="+mn-ea"/>
                <a:sym typeface="+mn-ea"/>
              </a:rPr>
              <a:t>意译词</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项：雷达的英文单词是</a:t>
            </a:r>
            <a:r>
              <a:rPr lang="en-US" altLang="zh-CN" sz="1200" kern="1200" dirty="0">
                <a:solidFill>
                  <a:schemeClr val="tx1"/>
                </a:solidFill>
                <a:effectLst/>
                <a:latin typeface="+mn-lt"/>
                <a:ea typeface="+mn-ea"/>
              </a:rPr>
              <a:t> radar</a:t>
            </a:r>
            <a:r>
              <a:rPr lang="zh-CN" altLang="en-US" sz="1200" kern="1200" dirty="0">
                <a:solidFill>
                  <a:schemeClr val="tx1"/>
                </a:solidFill>
                <a:effectLst/>
                <a:latin typeface="+mn-lt"/>
                <a:ea typeface="+mn-ea"/>
              </a:rPr>
              <a:t>，是音译</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意译结合（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雷</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音近，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达</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表功能），本质是音译词（借词范畴），可口可乐的英文单词是</a:t>
            </a:r>
            <a:r>
              <a:rPr lang="en-US" altLang="zh-CN" sz="1200" kern="1200" dirty="0">
                <a:solidFill>
                  <a:schemeClr val="tx1"/>
                </a:solidFill>
                <a:effectLst/>
                <a:latin typeface="+mn-lt"/>
                <a:ea typeface="+mn-ea"/>
              </a:rPr>
              <a:t> coca-cola</a:t>
            </a:r>
            <a:r>
              <a:rPr lang="zh-CN" altLang="en-US" sz="1200" kern="1200" dirty="0">
                <a:solidFill>
                  <a:schemeClr val="tx1"/>
                </a:solidFill>
                <a:effectLst/>
                <a:latin typeface="+mn-lt"/>
                <a:ea typeface="+mn-ea"/>
              </a:rPr>
              <a:t>，纯音译词，属于借词，均不符合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构词所用的本族语的构词材料和构词规则分别与所源出的外语词具有一一对应的关系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，不符合仿译词定义，排除；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项：黑板的英文单词是</a:t>
            </a:r>
            <a:r>
              <a:rPr lang="en-US" altLang="zh-CN" sz="1200" kern="1200" dirty="0">
                <a:solidFill>
                  <a:schemeClr val="tx1"/>
                </a:solidFill>
                <a:effectLst/>
                <a:latin typeface="+mn-lt"/>
                <a:ea typeface="+mn-ea"/>
              </a:rPr>
              <a:t> blackboard</a:t>
            </a:r>
            <a:r>
              <a:rPr lang="zh-CN" altLang="en-US" sz="1200" kern="1200" dirty="0">
                <a:solidFill>
                  <a:schemeClr val="tx1"/>
                </a:solidFill>
                <a:effectLst/>
                <a:latin typeface="+mn-lt"/>
                <a:ea typeface="+mn-ea"/>
              </a:rPr>
              <a:t>，其中</a:t>
            </a:r>
            <a:r>
              <a:rPr lang="en-US" altLang="zh-CN" sz="1200" kern="1200" dirty="0">
                <a:solidFill>
                  <a:schemeClr val="tx1"/>
                </a:solidFill>
                <a:effectLst/>
                <a:latin typeface="+mn-lt"/>
                <a:ea typeface="+mn-ea"/>
              </a:rPr>
              <a:t> black </a:t>
            </a:r>
            <a:r>
              <a:rPr lang="zh-CN" altLang="en-US" sz="1200" kern="1200" dirty="0">
                <a:solidFill>
                  <a:schemeClr val="tx1"/>
                </a:solidFill>
                <a:effectLst/>
                <a:latin typeface="+mn-lt"/>
                <a:ea typeface="+mn-ea"/>
              </a:rPr>
              <a:t>本意是黑色，</a:t>
            </a:r>
            <a:r>
              <a:rPr lang="en-US" altLang="zh-CN" sz="1200" kern="1200" dirty="0">
                <a:solidFill>
                  <a:schemeClr val="tx1"/>
                </a:solidFill>
                <a:effectLst/>
                <a:latin typeface="+mn-lt"/>
                <a:ea typeface="+mn-ea"/>
              </a:rPr>
              <a:t>board </a:t>
            </a:r>
            <a:r>
              <a:rPr lang="zh-CN" altLang="en-US" sz="1200" kern="1200" dirty="0">
                <a:solidFill>
                  <a:schemeClr val="tx1"/>
                </a:solidFill>
                <a:effectLst/>
                <a:latin typeface="+mn-lt"/>
                <a:ea typeface="+mn-ea"/>
              </a:rPr>
              <a:t>为板、木板，符合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构词所用的本族语的构词材料和构词规则分别与所源出的外语词具有一一对应的关系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，符合仿译词定义，但高尔夫球的英文单词是</a:t>
            </a:r>
            <a:r>
              <a:rPr lang="en-US" altLang="zh-CN" sz="1200" kern="1200" dirty="0">
                <a:solidFill>
                  <a:schemeClr val="tx1"/>
                </a:solidFill>
                <a:effectLst/>
                <a:latin typeface="+mn-lt"/>
                <a:ea typeface="+mn-ea"/>
              </a:rPr>
              <a:t> golf</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构词所用的本族语的构词材料和构词规则分别与所源出的外语词具有一一对应的关系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，不符合仿译词定义，排除。整体属于音译加注词（借词范畴）</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被害人出于某种迫切的需要和急切的欲望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注意力狭窄、判断力减弱甚至轻度丧失理智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对自已所处的危险或面临的风险视而不见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项：王某为强身健体，符合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被害人出于某种迫切的需要和急切的欲望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，高价购买大量伪劣保健品，符合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注意力狭窄、判断力减弱甚至轻度丧失理智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对自已所处的危险或面临的风险视而不见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项：林某不慎滑倒是林某自己不小心所致，没有人要害他，不符合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被害人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项：黄某为谋高额回报，符合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被害人出于某种迫切的需要和急切的欲望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，黄某网络刷单导致经济受损，符合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注意力狭窄、判断力减弱甚至轻度丧失理智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对自已所处的危险或面临的风险视而不见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项：刘某幻想通过理财一夜暴富，符合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被害人出于某种迫切的需要和急切的欲望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，刘某给了骗子可乘之机，符合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注意力狭窄、判断力减弱甚至轻度丧失理智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对自已所处的危险或面临的风险视而不见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本题为选非题，故正确答案为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发挥基本的功能作用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欠缺必要的使用条件或者辅助设施导致其交易目的落空的，应当予以补足</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项：商品房的基本功能作用是居住，赠送的车位并不是发挥居住功能的必要使用条件或辅助设施，不符合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必要的使用条件或者辅助设施</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项：买的桌子可以发挥它的基本功能作用，椅子不是桌子发挥功能作用的必要使用条件，不符合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必要的使用条件或者辅助设施</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项：地下酒窖想要发挥作用就要去到地下，如果缺失出入通道就会导致交易落空，符合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必要的使用条件或者辅助设施</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项：购买的家电可以发挥基本的功能作用，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三包服务</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不是家电发挥功能作用的必要使用条件，不符合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必要的使用条件或者辅助设施</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利用生物的生命代谢活动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减少被污染的环境中的有毒有害物的浓度</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使被污染了的环境能够部分地或完全地恢复到原初状态</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项：利用蜈蚣草吸收土壤中的重金属，符合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利用生物的生命代谢活动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减少被污染的环境中的有毒有害物的浓度</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项：使用玉米等粮食作物做成的降解塑料袋来减少环境污染，玉米等粮食是降解塑料袋的原材料，不涉及生物的生命代谢活动，不符合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利用生物的生命代谢活动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减少被污染的环境中的有毒有害物的浓度</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项：利用微生物菌降解河道有机污染物，符合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利用生物的生命代谢活动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减少被污染的环境中的有毒有害物的浓度</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项：利用菌藻共生关系，处理和净化池塘里的污物，符合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利用生物的生命代谢活动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减少被污染的环境中的有毒有害物的浓度</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本题为选非题，故正确答案为</a:t>
            </a:r>
            <a:r>
              <a:rPr lang="en-US" altLang="zh-CN" sz="1200" kern="1200" dirty="0">
                <a:solidFill>
                  <a:schemeClr val="tx1"/>
                </a:solidFill>
                <a:effectLst/>
                <a:latin typeface="+mn-lt"/>
                <a:ea typeface="+mn-ea"/>
              </a:rPr>
              <a:t> B</a:t>
            </a:r>
            <a:endParaRPr lang="en-US" altLang="zh-CN"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各债务人之间基于不同的发生原因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对同一债权人负有以同一给付为标的的数个债务责任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如果一个债务人履行了全部债务，那么全体债务归于消灭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项：该项中医院和血液提供机构是债务人，其中血液提供机构没有履行好检验或安全保存的义务，医院也没有履行好再核实的义务，符合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各债务人之间基于不同的发生原因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，医院和血液提供机构在该起医疗事故中都负有责任，符合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对同一债权人负有以同一给付为标的的数个债务责任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，若医院或血液提供机构中的一方承担了责任，则另一方无需再承担，符合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如果一个债务人履行了全部债务，那么全体债务归于消灭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项：该项中代理人小孙为获私利与销售方小李串通，故意抬高钢材销售价格后卖给小赵，小孙和小李不是债务人，小赵也不是债权人，没有体现出债务责任，不符合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对同一债权人负有以同一给付为标的的数个债务责任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项：该项中小刘和小宋各持有公司</a:t>
            </a:r>
            <a:r>
              <a:rPr lang="en-US" altLang="zh-CN" sz="1200" kern="1200" dirty="0">
                <a:solidFill>
                  <a:schemeClr val="tx1"/>
                </a:solidFill>
                <a:effectLst/>
                <a:latin typeface="+mn-lt"/>
                <a:ea typeface="+mn-ea"/>
              </a:rPr>
              <a:t> 50%</a:t>
            </a:r>
            <a:r>
              <a:rPr lang="zh-CN" altLang="en-US" sz="1200" kern="1200" dirty="0">
                <a:solidFill>
                  <a:schemeClr val="tx1"/>
                </a:solidFill>
                <a:effectLst/>
                <a:latin typeface="+mn-lt"/>
                <a:ea typeface="+mn-ea"/>
              </a:rPr>
              <a:t>的股份，后因经营不善欠债，小刘和小宋作为债务人，是基于相同的发生原因，都是因为经营不善，不符合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各债务人之间基于不同的发生原因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项：该项中小王和司机作为债务人，小王是因为撞伤了人，司机是因为没有正确驾驶，是基于不同的发生原因，符合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各债务人之间基于不同的发生原因</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，但该起交通事务中直接撞伤周大爷的人是小王，所以对周大爷进行直接赔偿的只有小王，不符合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对同一债权人负有以同一给付为标的的数个债务责任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某地</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属于政府</a:t>
            </a:r>
            <a:r>
              <a:rPr lang="en-US" altLang="zh-CN" sz="1200" kern="1200" dirty="0">
                <a:solidFill>
                  <a:schemeClr val="tx1"/>
                </a:solidFill>
                <a:effectLst/>
                <a:latin typeface="+mn-lt"/>
                <a:ea typeface="+mn-ea"/>
              </a:rPr>
              <a:t> / </a:t>
            </a:r>
            <a:r>
              <a:rPr lang="zh-CN" altLang="en-US" sz="1200" kern="1200" dirty="0">
                <a:solidFill>
                  <a:schemeClr val="tx1"/>
                </a:solidFill>
                <a:effectLst/>
                <a:latin typeface="+mn-lt"/>
                <a:ea typeface="+mn-ea"/>
              </a:rPr>
              <a:t>集体主体，并非社会个体，不符合创建主体的要求，排除。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选项：志愿者小李是社会个体，依托短视频</a:t>
            </a:r>
            <a:r>
              <a:rPr lang="en-US" altLang="zh-CN" sz="1200" kern="1200" dirty="0">
                <a:solidFill>
                  <a:schemeClr val="tx1"/>
                </a:solidFill>
                <a:effectLst/>
                <a:latin typeface="+mn-lt"/>
                <a:ea typeface="+mn-ea"/>
              </a:rPr>
              <a:t> APP</a:t>
            </a:r>
            <a:r>
              <a:rPr lang="zh-CN" altLang="en-US" sz="1200" kern="1200" dirty="0">
                <a:solidFill>
                  <a:schemeClr val="tx1"/>
                </a:solidFill>
                <a:effectLst/>
                <a:latin typeface="+mn-lt"/>
                <a:ea typeface="+mn-ea"/>
              </a:rPr>
              <a:t>（数字平台）组建助农协会（数字组织），且有明确的助农目标，完全符合定义的所有要素。</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选项：主体是外卖平台企业，不是社会个体，且内容是吸纳就业，并非创建数字组织，排除。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选项：老刘邀请爱好者交流登山体验，只是松散的社交行为，没有形成具备组织性的</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数字组织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（如协会、社群等有明确架构或目标的团体），不符合定义，排除。</a:t>
            </a:r>
            <a:endParaRPr lang="zh-CN" altLang="en-US" sz="1200" kern="1200" dirty="0">
              <a:solidFill>
                <a:schemeClr val="tx1"/>
              </a:solidFill>
              <a:effectLst/>
              <a:latin typeface="+mn-lt"/>
              <a:ea typeface="+mn-ea"/>
            </a:endParaRPr>
          </a:p>
          <a:p>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大型数字平台生态系统所提供的社会化工具</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现实社会中的个体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打造了众多的数字组织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项：某地利用微博建立了网络红色文化学习社区，属于地方组织性行为，不符合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现实社会中的个体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项：该项中短视频</a:t>
            </a:r>
            <a:r>
              <a:rPr lang="en-US" altLang="zh-CN" sz="1200" kern="1200" dirty="0">
                <a:solidFill>
                  <a:schemeClr val="tx1"/>
                </a:solidFill>
                <a:effectLst/>
                <a:latin typeface="+mn-lt"/>
                <a:ea typeface="+mn-ea"/>
              </a:rPr>
              <a:t> APP</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大型数字平台生态系统所提供的社会化工具</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，志愿者小李，符合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现实社会中的个体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，组建助农协会，符合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打造了众多的数字组织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项：某外卖平台响应国家号召积极吸纳来自偏远地区进城务工人员，网络平台属于企业行为，不符合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现实社会中的个体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，帮助他们实现再就业，不符合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打造了众多的数字组织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项：登山爱好者老刘是利用社交媒体进行交流，没有体现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打造了众多的数字组织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通过人工直接或间接实施保护修复工程或在常年潮汐、冲淤等自然力作用下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将原来的人工岸线最大限度地恢复海岸自然形态、地貌单元</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恢复和改善海岸生态功能的岸线</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项：该项是将自然海岸形态改变成人工海岸形态的堤坝，而不是恢复和改善海岸的生态功能，不符合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将原来的人工岸线最大限度地恢复海岸自然形态、地貌单元</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恢复和改善海岸生态功能的岸线</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项：某港口城市打造的生态美、人气旺的黄金旅游岸线，不明确是否恢复和改善了海岸的生态功能，不符合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将原来的人工岸线最大限度地恢复海岸自然形态、地貌单元</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恢复和改善海岸生态功能的岸线</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项：某海滨城市修复建设，符合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通过人工直接或间接实施保护修复工程或在常年潮汐、冲淤等自然力作用下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，修复建设具有自然岸滩形态特征和生态功能的海堤，符合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将原来的人工岸线最大限度地恢复海岸自然形态、地貌单元</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恢复和改善海岸生态功能的岸线</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项：保持自然生态属性特征，没有因人类活动而改变形态和属性的海岸线，本身就是自然形态，不存在恢复和改善的过程，不符合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将原来的人工岸线最大限度地恢复海岸自然形态、地貌单元</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恢复和改善海岸生态功能的岸线</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选项：将自然海岸改成人工海岸，与</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恢复自然形态</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的目标完全相反，不符合定义。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选项：打造旅游岸线的核心目的是发展旅游，未提及</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恢复人工岸线的自然形态和生态功能</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选项：修复建设的海堤，是对人工岸线的修复工程，最终形成了自然岸滩形态特征和生态功能，完全匹配生态恢复岸线的核心要素，符合定义。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选项：没有因人类活动改变形态的海岸线，属于原生自然岸线，而非</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对原有人工岸线的恢复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，不符合定义的前提条件。</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自然环境对人类产生的废弃物具有自动容纳、吸收和消化的能力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项：某地开展整治行动加强固体废弃物和垃圾处置，没有体现出自然环境自动容纳、吸收和消化人类产生的废弃物，不符合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自然环境对人类产生的废弃物具有自动容纳、吸收和消化的能力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项：某县通过环境治理提升环境资源能容纳的人口和经济规模，没有体现出自然环境自动容纳、吸收和消化人类产生的废弃物，不符合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自然环境对人类产生的废弃物具有自动容纳、吸收和消化的能力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项：某市测算出该城市大气承载污染物的最大数量，没有体现出自然环境自动容纳、吸收和消化人类产生的废弃物，不符合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自然环境对人类产生的废弃物具有自动容纳、吸收和消化的能力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a:t>
            </a:r>
            <a:r>
              <a:rPr lang="en-US" altLang="zh-CN" sz="1200" kern="1200" dirty="0">
                <a:solidFill>
                  <a:schemeClr val="tx1"/>
                </a:solidFill>
                <a:effectLst/>
                <a:latin typeface="+mn-lt"/>
                <a:ea typeface="+mn-ea"/>
              </a:rPr>
              <a:t>PM2.5 </a:t>
            </a:r>
            <a:r>
              <a:rPr lang="zh-CN" altLang="en-US" sz="1200" kern="1200" dirty="0">
                <a:solidFill>
                  <a:schemeClr val="tx1"/>
                </a:solidFill>
                <a:effectLst/>
                <a:latin typeface="+mn-lt"/>
                <a:ea typeface="+mn-ea"/>
              </a:rPr>
              <a:t>被大自然转化成对生态系统造成危害较小的物质，甚至达到无害的状态，是自然环境消化了人类产生的废弃物，符合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自然环境对人类产生的废弃物具有自动容纳、吸收和消化的能力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，符合定义，当选。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endParaRPr lang="en-US" altLang="zh-CN" sz="1200" kern="1200" dirty="0">
              <a:solidFill>
                <a:schemeClr val="tx1"/>
              </a:solidFill>
              <a:effectLst/>
              <a:latin typeface="+mn-lt"/>
              <a:ea typeface="+mn-ea"/>
            </a:endParaRPr>
          </a:p>
          <a:p>
            <a:r>
              <a:rPr lang="zh-CN" altLang="en-US" sz="1200" kern="1200" dirty="0">
                <a:solidFill>
                  <a:schemeClr val="tx1"/>
                </a:solidFill>
                <a:effectLst/>
                <a:latin typeface="+mn-lt"/>
                <a:ea typeface="+mn-ea"/>
              </a:rPr>
              <a:t>主体是自然环境，而非人为干预措施；</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对象是人类生产生活产生的废弃物；</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行为是自动容纳、吸收和消化；</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结果是环境可恢复原有活力，退化非不可逆。</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选项逐一分析</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选项：某地开展人居环境整治行动，属于人为干预措施，并非自然环境的自动吸收能力，不符合定义。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选项：某县通过环境治理提升承载能力，同样是人为治理手段，不是自然环境自身的吸收消化功能，排除。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选项：测算大气允许承载污染物的最大数量，只是对环境承载力的量化评估，未体现自然环境对废弃物的自动吸收过程，排除。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a:t>
            </a:r>
            <a:r>
              <a:rPr lang="en-US" altLang="zh-CN" sz="1200" kern="1200" dirty="0">
                <a:solidFill>
                  <a:schemeClr val="tx1"/>
                </a:solidFill>
                <a:effectLst/>
                <a:latin typeface="+mn-lt"/>
                <a:ea typeface="+mn-ea"/>
              </a:rPr>
              <a:t>PM2.5 </a:t>
            </a:r>
            <a:r>
              <a:rPr lang="zh-CN" altLang="en-US" sz="1200" kern="1200" dirty="0">
                <a:solidFill>
                  <a:schemeClr val="tx1"/>
                </a:solidFill>
                <a:effectLst/>
                <a:latin typeface="+mn-lt"/>
                <a:ea typeface="+mn-ea"/>
              </a:rPr>
              <a:t>属于人类活动产生的污染物（废弃物），被大自然转化为低危害物质甚至分解无害，完全符合自然环境自动吸收、消化废弃物的核心定义。</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代表性启发：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首先借鉴要判断的事件本身或同类事件以往的出现的结果</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可得性启发：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把最先想到的经验和信息作为判断的依据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项：高估连续事件发生的概率，即以往连续发生的预测还会发生，借鉴的是同类事件以往出现的结果，不符合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把最先想到的经验和信息作为判断的依据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可得性启发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代表性启发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项：高质量产品一般贵，因此，如果某个产品很贵，我们会认为它的质量很好，借鉴的是同类事件以往出现的结果，不符合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把最先想到的经验和信息作为判断的依据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可得性启发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代表性启发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项：会根据服装来判断他人社会地位的高低，看到身着高档服装的人，就认为他们更成功、社会地位更高，借鉴的是同类事件以往出现的结果，不符合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把最先想到的经验和信息作为判断的依据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可得性启发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代表性启发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项：认为乘坐飞机更危险，因为首先想到的是关于飞机失事的报道，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首先想到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说明是根据最先想到的信息去判断的，符合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把最先想到的经验和信息作为判断的依据</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可得性启发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选项：高估连续事件概率、过分乐观，是基于对</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连续事件成功概率</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的主观判断，既没有借鉴以往同类事件结果，也没有依赖容易想起的信息，不符合任何一种启发法定义，排除。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选项：由</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高价</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推</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高质</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，是借鉴了</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高质量产品通常价格高</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的同类事件以往经验，属于代表性启发，而非可得性启发，排除。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选项：根据服装判断社会地位，是基于</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高档服装与高社会地位相关</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的过往经验总结，属于代表性启发，排除。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选项：判断飞机更危险，是因为最先想到飞机失事的报道，而想不起火车事故的信息，完全符合</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依赖容易知觉到、回想起的经验作为判断依据</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的可得性启发核心要素，当选。</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禁止法律主体为一定行为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项：自然人决定、变更姓名，或者法人、非法人组织决定、变更、转让名称的，应当依法向有关机关办理登记手续，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应当</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禁止法律主体为一定行为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义务性规范</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禁止性规范</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项：对亲子关系有异议且有正当理由的，父或者母可以向人民法院提起诉讼，</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可以诉讼</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禁止法律主体为一定行为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授权性规范</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禁止性规范</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项：任何组织或者个人不得以丑化、污损或者利用信息技术手段伪造等方式侵害他人肖像权，</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说明是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禁止法律主体为一定行为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禁止性规范</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项：因正当防卫造成损害的，不承担民事责任，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不承担</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说明是可以不用承担，不符合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禁止法律主体为一定行为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授权性规范</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定义，不符合</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禁止性规范</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定义，排除。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endParaRPr lang="en-US" altLang="zh-CN"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选项：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应当依法向有关机关办理登记手续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，关键词应当体现了法律主体的强制性义务，属于义务性规范，排除。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选项：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可以向人民法院提起诉讼</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，关键词可以赋予了父或母选择诉讼的权利，属于授权性规范，排除。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选项：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不得以丑化、污损</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等方式侵害他人肖像权</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，关键词不得明确禁止组织或个人的特定行为，完全符合禁止性规范的定义，当选。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选项：</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因正当防卫造成损害的，不承担民事责任</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，是对正当防卫行为的免责规定，既未赋予选择权，也未设定义务或禁止行为，不属于三类规范中的任何一种，排除。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本题为分组分类题目。元素组成不同，且无明显属性规律，考虑数量规律。题干每幅图形都有多个相同小元素，优先考虑相同元素的个数。图</a:t>
            </a:r>
            <a:r>
              <a:rPr lang="en-US" altLang="en-US" sz="1200" kern="1200" dirty="0">
                <a:solidFill>
                  <a:schemeClr val="tx1"/>
                </a:solidFill>
                <a:effectLst/>
                <a:latin typeface="+mn-lt"/>
              </a:rPr>
              <a:t>①④⑤</a:t>
            </a:r>
            <a:r>
              <a:rPr lang="zh-CN" altLang="en-US" sz="1200" kern="1200" dirty="0">
                <a:solidFill>
                  <a:schemeClr val="tx1"/>
                </a:solidFill>
                <a:effectLst/>
                <a:latin typeface="+mn-lt"/>
                <a:ea typeface="+mn-ea"/>
              </a:rPr>
              <a:t>中相同元素的个数均为</a:t>
            </a:r>
            <a:r>
              <a:rPr lang="en-US" altLang="zh-CN" sz="1200" kern="1200" dirty="0">
                <a:solidFill>
                  <a:schemeClr val="tx1"/>
                </a:solidFill>
                <a:effectLst/>
                <a:latin typeface="+mn-lt"/>
                <a:ea typeface="+mn-ea"/>
              </a:rPr>
              <a:t> 3</a:t>
            </a:r>
            <a:r>
              <a:rPr lang="zh-CN" altLang="en-US" sz="1200" kern="1200" dirty="0">
                <a:solidFill>
                  <a:schemeClr val="tx1"/>
                </a:solidFill>
                <a:effectLst/>
                <a:latin typeface="+mn-lt"/>
                <a:ea typeface="+mn-ea"/>
              </a:rPr>
              <a:t>，图</a:t>
            </a:r>
            <a:r>
              <a:rPr lang="en-US" altLang="en-US" sz="1200" kern="1200" dirty="0">
                <a:solidFill>
                  <a:schemeClr val="tx1"/>
                </a:solidFill>
                <a:effectLst/>
                <a:latin typeface="+mn-lt"/>
              </a:rPr>
              <a:t>②③⑥</a:t>
            </a:r>
            <a:r>
              <a:rPr lang="zh-CN" altLang="en-US" sz="1200" kern="1200" dirty="0">
                <a:solidFill>
                  <a:schemeClr val="tx1"/>
                </a:solidFill>
                <a:effectLst/>
                <a:latin typeface="+mn-lt"/>
                <a:ea typeface="+mn-ea"/>
              </a:rPr>
              <a:t>中相同元素的个数均为</a:t>
            </a:r>
            <a:r>
              <a:rPr lang="en-US" altLang="zh-CN" sz="1200" kern="1200" dirty="0">
                <a:solidFill>
                  <a:schemeClr val="tx1"/>
                </a:solidFill>
                <a:effectLst/>
                <a:latin typeface="+mn-lt"/>
                <a:ea typeface="+mn-ea"/>
              </a:rPr>
              <a:t> 2</a:t>
            </a:r>
            <a:r>
              <a:rPr lang="zh-CN" altLang="en-US" sz="1200" kern="1200" dirty="0">
                <a:solidFill>
                  <a:schemeClr val="tx1"/>
                </a:solidFill>
                <a:effectLst/>
                <a:latin typeface="+mn-lt"/>
                <a:ea typeface="+mn-ea"/>
              </a:rPr>
              <a:t>，即图</a:t>
            </a:r>
            <a:r>
              <a:rPr lang="en-US" altLang="en-US" sz="1200" kern="1200" dirty="0">
                <a:solidFill>
                  <a:schemeClr val="tx1"/>
                </a:solidFill>
                <a:effectLst/>
                <a:latin typeface="+mn-lt"/>
              </a:rPr>
              <a:t>①④⑤</a:t>
            </a:r>
            <a:r>
              <a:rPr lang="zh-CN" altLang="en-US" sz="1200" kern="1200" dirty="0">
                <a:solidFill>
                  <a:schemeClr val="tx1"/>
                </a:solidFill>
                <a:effectLst/>
                <a:latin typeface="+mn-lt"/>
                <a:ea typeface="+mn-ea"/>
              </a:rPr>
              <a:t>为一组，图</a:t>
            </a:r>
            <a:r>
              <a:rPr lang="en-US" altLang="en-US" sz="1200" kern="1200" dirty="0">
                <a:solidFill>
                  <a:schemeClr val="tx1"/>
                </a:solidFill>
                <a:effectLst/>
                <a:latin typeface="+mn-lt"/>
              </a:rPr>
              <a:t>②③⑥</a:t>
            </a:r>
            <a:r>
              <a:rPr lang="zh-CN" altLang="en-US" sz="1200" kern="1200" dirty="0">
                <a:solidFill>
                  <a:schemeClr val="tx1"/>
                </a:solidFill>
                <a:effectLst/>
                <a:latin typeface="+mn-lt"/>
                <a:ea typeface="+mn-ea"/>
              </a:rPr>
              <a:t>为一组。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endParaRPr lang="en-US" altLang="zh-CN"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本题为分组分类题目。元素组成不同，优先考虑属性规律。观察发现，图</a:t>
            </a:r>
            <a:r>
              <a:rPr lang="en-US" altLang="en-US" sz="1200" kern="1200" dirty="0">
                <a:solidFill>
                  <a:schemeClr val="tx1"/>
                </a:solidFill>
                <a:effectLst/>
                <a:latin typeface="+mn-lt"/>
              </a:rPr>
              <a:t>①③⑥</a:t>
            </a:r>
            <a:r>
              <a:rPr lang="zh-CN" altLang="en-US" sz="1200" kern="1200" dirty="0">
                <a:solidFill>
                  <a:schemeClr val="tx1"/>
                </a:solidFill>
                <a:effectLst/>
                <a:latin typeface="+mn-lt"/>
                <a:ea typeface="+mn-ea"/>
              </a:rPr>
              <a:t>均不是轴对称图形，图</a:t>
            </a:r>
            <a:r>
              <a:rPr lang="en-US" altLang="en-US" sz="1200" kern="1200" dirty="0">
                <a:solidFill>
                  <a:schemeClr val="tx1"/>
                </a:solidFill>
                <a:effectLst/>
                <a:latin typeface="+mn-lt"/>
              </a:rPr>
              <a:t>②④⑤</a:t>
            </a:r>
            <a:r>
              <a:rPr lang="zh-CN" altLang="en-US" sz="1200" kern="1200" dirty="0">
                <a:solidFill>
                  <a:schemeClr val="tx1"/>
                </a:solidFill>
                <a:effectLst/>
                <a:latin typeface="+mn-lt"/>
                <a:ea typeface="+mn-ea"/>
              </a:rPr>
              <a:t>均是轴对称图形，即图</a:t>
            </a:r>
            <a:r>
              <a:rPr lang="en-US" altLang="en-US" sz="1200" kern="1200" dirty="0">
                <a:solidFill>
                  <a:schemeClr val="tx1"/>
                </a:solidFill>
                <a:effectLst/>
                <a:latin typeface="+mn-lt"/>
              </a:rPr>
              <a:t>①③⑥</a:t>
            </a:r>
            <a:r>
              <a:rPr lang="zh-CN" altLang="en-US" sz="1200" kern="1200" dirty="0">
                <a:solidFill>
                  <a:schemeClr val="tx1"/>
                </a:solidFill>
                <a:effectLst/>
                <a:latin typeface="+mn-lt"/>
                <a:ea typeface="+mn-ea"/>
              </a:rPr>
              <a:t>为一组，图</a:t>
            </a:r>
            <a:r>
              <a:rPr lang="en-US" altLang="en-US" sz="1200" kern="1200" dirty="0">
                <a:solidFill>
                  <a:schemeClr val="tx1"/>
                </a:solidFill>
                <a:effectLst/>
                <a:latin typeface="+mn-lt"/>
              </a:rPr>
              <a:t>②④⑤</a:t>
            </a:r>
            <a:r>
              <a:rPr lang="zh-CN" altLang="en-US" sz="1200" kern="1200" dirty="0">
                <a:solidFill>
                  <a:schemeClr val="tx1"/>
                </a:solidFill>
                <a:effectLst/>
                <a:latin typeface="+mn-lt"/>
                <a:ea typeface="+mn-ea"/>
              </a:rPr>
              <a:t>为一组。</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注：分组分类题目优先考虑两组图形分别具有各自的规律，无法分成具有各自规律的两组时，才考虑将图形分成一组具有该规律，一组不具有该规律。</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本题考查空间重构。根据题干左框几何体可知，几何体的四个正方形侧面中四个箭头首尾对应，根据题干逐一进行分析。</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项：选项中第二行第三个正方形面的箭头指向第三行正方形面的箭头侧面，而题干几何体的四个正方形侧面中四个箭头首尾对应，选项与题干几何体不一致，排除；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项：选项四个含有箭头的正方形面中的箭头首尾对应，选项与题干几何体一致，当选；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项：选项中第二行第二个正方形面的箭头指向该行第三个正方形面的箭头侧面，而题干几何体的四个正方形侧面中四个箭头首尾对应，选项与题干几何体不一致，排除；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项：选项中第二行第一个正方形面的箭头没有指向第三行中相邻面的箭头的尾部，而题干几何体的四个正方形侧面中四个箭头首尾对应，选项与题干几何体不一致，排除。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图形元素组成相似，优先考虑样式规律。观察发现，题干图形出现阴影、白色两种图案，考虑黑白运算。</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九宫格优先横向看，但是发现第一行阴影</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白</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阴影，第二行阴影</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白</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白，相同运算方式，但结果不同，考虑竖向看。观察发现，第一列：白</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白</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白、阴影</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阴影</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阴影、阴影</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白</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阴影、白</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阴影</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阴影；第二列验证此规律成立；第三列应用此规律，只有</a:t>
            </a:r>
            <a:r>
              <a:rPr lang="en-US" altLang="zh-CN" sz="1200" kern="1200" dirty="0">
                <a:solidFill>
                  <a:schemeClr val="tx1"/>
                </a:solidFill>
                <a:effectLst/>
                <a:latin typeface="+mn-lt"/>
                <a:ea typeface="+mn-ea"/>
              </a:rPr>
              <a:t> C </a:t>
            </a:r>
            <a:r>
              <a:rPr lang="zh-CN" altLang="en-US" sz="1200" kern="1200" dirty="0">
                <a:solidFill>
                  <a:schemeClr val="tx1"/>
                </a:solidFill>
                <a:effectLst/>
                <a:latin typeface="+mn-lt"/>
                <a:ea typeface="+mn-ea"/>
              </a:rPr>
              <a:t>项符合。</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项：选项的正视图、顶视图如下图所示，与题干不符，排除；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项：选项的侧视图、顶视图如下图所示，与题干不符，排除；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项：选项的侧视图、正视图和顶视图，均与题干相符，当选；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项：选项的侧视图、顶视图如下图所示，与题干不符，排除。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论点：国际天文学界认为金星不可能有生命。</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论据：科学家研究报告显示，这颗灼热行星的云层中没有足够的水蒸气来维持众所周知的生命形式。</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论点讨论的是金星不可能有生命，论据讨论的是金星没有足够的水蒸气来维持生命，二者都在讨论金星是否存在生命，话题一致，加强优先考虑补充论据。</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项：该项讨论的是金星的云层中有足够的水，其大气温度也适合维持生命，说明金星可能有生命，削弱项，无法加强，排除；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项：该项讨论的是金星云层的水含量仅相当于维持类地生命所需水含量的百分之一，说明没有足够的水分来维持生命，补充论据，可以加强，当选；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项：该项讨论的是金星大气中含有大量的磷化氢，而磷化氢是与生命有关的气体，说明金星可能有生命，削弱项，无法加强，排除；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项：该项讨论的是金星适合不适合居住的问题，而题干讨论的是金星存不存在生命，话题不一致，无法加强，排除。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论点：它们（膨胀苯乙烯（</a:t>
            </a:r>
            <a:r>
              <a:rPr lang="en-US" altLang="zh-CN" sz="1200" kern="1200" dirty="0">
                <a:solidFill>
                  <a:schemeClr val="tx1"/>
                </a:solidFill>
                <a:effectLst/>
                <a:latin typeface="+mn-lt"/>
                <a:ea typeface="+mn-ea"/>
              </a:rPr>
              <a:t>EPS</a:t>
            </a:r>
            <a:r>
              <a:rPr lang="zh-CN" altLang="en-US" sz="1200" kern="1200" dirty="0">
                <a:solidFill>
                  <a:schemeClr val="tx1"/>
                </a:solidFill>
                <a:effectLst/>
                <a:latin typeface="+mn-lt"/>
                <a:ea typeface="+mn-ea"/>
              </a:rPr>
              <a:t>）土工泡沫块）可以在断层破裂时自压缩，从而减少周围土壤对管道施加的压力，保证了管道即使遭遇水平断层破裂的情况时仍可正常运行。</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项：该项说明土工泡沫块廉价轻质，抗压性较低，无法说明其是否能保护管道，无法加强，排除；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项：该项说明在土工泡沫块保护下的管道可以承受极高强度的构造变形，故能够保证管道在遭遇水平断层破裂时的正常运行，补充论据，可以加强，保留；</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项：该项说明三维计算机模型评估了土工泡沫块所保护的管道的机械性能，但评估结果未知，因此无法得知管道在遭遇水平断层破裂时能否正常运行，无法加强，排除</a:t>
            </a:r>
            <a:r>
              <a:rPr lang="en-US" altLang="zh-CN" sz="1200" kern="1200" dirty="0">
                <a:solidFill>
                  <a:schemeClr val="tx1"/>
                </a:solidFill>
                <a:effectLst/>
                <a:latin typeface="+mn-lt"/>
                <a:ea typeface="+mn-ea"/>
              </a:rPr>
              <a:t>;</a:t>
            </a:r>
            <a:endParaRPr lang="en-US" altLang="zh-CN"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项：该项说明土工泡沫块有出色的保护管道的性能，补充论据，可以加强，保留。</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对比</a:t>
            </a:r>
            <a:r>
              <a:rPr lang="en-US" altLang="zh-CN" sz="1200" kern="1200" dirty="0">
                <a:solidFill>
                  <a:schemeClr val="tx1"/>
                </a:solidFill>
                <a:effectLst/>
                <a:latin typeface="+mn-lt"/>
                <a:ea typeface="+mn-ea"/>
              </a:rPr>
              <a:t> B.D </a:t>
            </a:r>
            <a:r>
              <a:rPr lang="zh-CN" altLang="en-US" sz="1200" kern="1200" dirty="0">
                <a:solidFill>
                  <a:schemeClr val="tx1"/>
                </a:solidFill>
                <a:effectLst/>
                <a:latin typeface="+mn-lt"/>
                <a:ea typeface="+mn-ea"/>
              </a:rPr>
              <a:t>两项，</a:t>
            </a:r>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项强调了土工泡沫块保护管道的结果是管道可以承受极高强度的构造变形，因此，当管道遭遇水平断层破裂时仍能正常运行，而</a:t>
            </a:r>
            <a:r>
              <a:rPr lang="en-US" altLang="zh-CN" sz="1200" kern="1200" dirty="0">
                <a:solidFill>
                  <a:schemeClr val="tx1"/>
                </a:solidFill>
                <a:effectLst/>
                <a:latin typeface="+mn-lt"/>
                <a:ea typeface="+mn-ea"/>
              </a:rPr>
              <a:t> D </a:t>
            </a:r>
            <a:r>
              <a:rPr lang="zh-CN" altLang="en-US" sz="1200" kern="1200" dirty="0">
                <a:solidFill>
                  <a:schemeClr val="tx1"/>
                </a:solidFill>
                <a:effectLst/>
                <a:latin typeface="+mn-lt"/>
                <a:ea typeface="+mn-ea"/>
              </a:rPr>
              <a:t>项仅强调了土工泡沫块可以保护管道，但未说明保护后管道的强度如何，因此无法得知保护后管道是否能在水平断层破裂的情况下正常运行。</a:t>
            </a:r>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项与论点话题更接近，当选。</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项：选项指出可可脂熔化所需的温度比黄油更高，而题干中只是表述了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黄油是随温度上升一点点从固体变为液体，可可脂却是达到熔点时瞬间熔化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，并未涉及二者熔化所需温度之间的比较，无中生有，无法推出，排除；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项：选项指出黄油和可可脂熔化所需要的温度依环境变化而变化，而题干中只是表述了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黄油是随温度上升一点点从固体变为液体，可可脂却是达到熔点时瞬间熔化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，并未提及二者熔化所需的温度会依环境变化而变化，无中生有，无法推出，排除；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项：选项指出黄油因为其油脂熔化方式对人体健康更有好处，所以经常用于烹饪，而题干中并未提及相关内容，无中生有，无法推出，排除；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项：根据题干中</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黄油是随温度上升一点点从固体变为液体，可可脂却是达到熔点时瞬间熔化</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且</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黄油是由</a:t>
            </a:r>
            <a:r>
              <a:rPr lang="en-US" altLang="zh-CN" sz="1200" kern="1200" dirty="0">
                <a:solidFill>
                  <a:schemeClr val="tx1"/>
                </a:solidFill>
                <a:effectLst/>
                <a:latin typeface="+mn-lt"/>
                <a:ea typeface="+mn-ea"/>
              </a:rPr>
              <a:t> 100 </a:t>
            </a:r>
            <a:r>
              <a:rPr lang="zh-CN" altLang="en-US" sz="1200" kern="1200" dirty="0">
                <a:solidFill>
                  <a:schemeClr val="tx1"/>
                </a:solidFill>
                <a:effectLst/>
                <a:latin typeface="+mn-lt"/>
                <a:ea typeface="+mn-ea"/>
              </a:rPr>
              <a:t>种以上各种各样的油脂混合在一起形成的，而可可脂则只由</a:t>
            </a:r>
            <a:r>
              <a:rPr lang="en-US" altLang="zh-CN" sz="1200" kern="1200" dirty="0">
                <a:solidFill>
                  <a:schemeClr val="tx1"/>
                </a:solidFill>
                <a:effectLst/>
                <a:latin typeface="+mn-lt"/>
                <a:ea typeface="+mn-ea"/>
              </a:rPr>
              <a:t> 3 </a:t>
            </a:r>
            <a:r>
              <a:rPr lang="zh-CN" altLang="en-US" sz="1200" kern="1200" dirty="0">
                <a:solidFill>
                  <a:schemeClr val="tx1"/>
                </a:solidFill>
                <a:effectLst/>
                <a:latin typeface="+mn-lt"/>
                <a:ea typeface="+mn-ea"/>
              </a:rPr>
              <a:t>种油脂构成</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可推知，可可脂中的各种油脂少且熔点相近，而黄油中的各种油脂多且熔点不相近，因此黄油中的各种油脂性质差异可能较大，可以推出，当选。</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D</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论点：人参在针叶林里分布很少，而在阔叶林里分布更多、长得更好。</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论据：针叶林的土壤成分相对单一，且能够透下更多光线，这对于属于半阴性植物的人参生长不利，而阔叶林的遮阳效果更好。并且，阔叶林地表的厚厚落叶，可以在冬季给人参提供保暖，有利于其存活。</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本题论点论据讨论的都是人参在阔叶林里比在针叶林里分布更多、长得更好，论点与论据话题一致，削弱</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项：该项说的是人参在蒙古栎下长不好，是因为蒙古栎的落叶太厚导致参苗长不出来，说明阔叶林地表的厚厚落叶不利于人参存活，举反例削弱论据，可以削弱，当选；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项：该项说的是不同类型的林地都存在不利于人参生长的因素，而题干讨论的是林地的树种对于人参生长的影响，话题不一致，无法削弱，排除；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项：该项说的是山坡的坡度对于人参生长的影响，而题干讨论的是林地的树种对于人参生长的影响，话题不一致，无法削弱，排除；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项：该项说的是人参在糠椴、紫椴树下生长较好，而这两种树的叶子密，遮阴挡雨，说明糠椴、紫椴树应为阔叶树（二者确实是阔叶树），即人参在阔叶林里长得更好，为加强项，无法削弱，排除。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论点：压力水平会反映在头发中储存的皮质醇的含量上。</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论据：压力水平排在前五名的女性头发中含有的皮质醇水平比排在后五名的女性高出</a:t>
            </a:r>
            <a:r>
              <a:rPr lang="en-US" altLang="zh-CN" sz="1200" kern="1200" dirty="0">
                <a:solidFill>
                  <a:schemeClr val="tx1"/>
                </a:solidFill>
                <a:effectLst/>
                <a:latin typeface="+mn-lt"/>
                <a:ea typeface="+mn-ea"/>
              </a:rPr>
              <a:t> 24.3%</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本题的论点论据都是在说皮质醇和压力之间的关系，话题是一致的，故削弱优先考虑削弱论点。</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项：头发可以显示出人们的压力水平，表明头发与压力之间有联系，但不明确是否是头发中的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皮质醇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项：皮质醇被称为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压力荷尔蒙</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，在身体处于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战斗或逃避</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模式时释放，表明皮质醇的产生与压力确实有关，可以加强，无法削弱，排除；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项：表明压力对头发的危害，但没提到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皮质醇</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项：表明压力不是皮质醇产生的唯一原因，否定了压力和皮质醇之间的必然关系，削弱论点，当选。</a:t>
            </a:r>
            <a:endParaRPr lang="zh-CN" altLang="en-US" sz="1200" kern="1200" dirty="0">
              <a:solidFill>
                <a:schemeClr val="tx1"/>
              </a:solidFill>
              <a:effectLst/>
              <a:latin typeface="+mn-lt"/>
              <a:ea typeface="+mn-ea"/>
            </a:endParaRPr>
          </a:p>
          <a:p>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1</a:t>
            </a:r>
            <a:r>
              <a:rPr lang="zh-CN" altLang="en-US" sz="1200" kern="1200" dirty="0">
                <a:solidFill>
                  <a:schemeClr val="tx1"/>
                </a:solidFill>
                <a:effectLst/>
                <a:latin typeface="+mn-lt"/>
                <a:ea typeface="+mn-ea"/>
              </a:rPr>
              <a:t>）红队第一</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黄队第二；</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2</a:t>
            </a:r>
            <a:r>
              <a:rPr lang="zh-CN" altLang="en-US" sz="1200" kern="1200" dirty="0">
                <a:solidFill>
                  <a:schemeClr val="tx1"/>
                </a:solidFill>
                <a:effectLst/>
                <a:latin typeface="+mn-lt"/>
                <a:ea typeface="+mn-ea"/>
              </a:rPr>
              <a:t>）红队第三</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蓝队第四；</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3</a:t>
            </a:r>
            <a:r>
              <a:rPr lang="zh-CN" altLang="en-US" sz="1200" kern="1200" dirty="0">
                <a:solidFill>
                  <a:schemeClr val="tx1"/>
                </a:solidFill>
                <a:effectLst/>
                <a:latin typeface="+mn-lt"/>
                <a:ea typeface="+mn-ea"/>
              </a:rPr>
              <a:t>）蓝队不是第四；</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4</a:t>
            </a:r>
            <a:r>
              <a:rPr lang="zh-CN" altLang="en-US" sz="1200" kern="1200" dirty="0">
                <a:solidFill>
                  <a:schemeClr val="tx1"/>
                </a:solidFill>
                <a:effectLst/>
                <a:latin typeface="+mn-lt"/>
                <a:ea typeface="+mn-ea"/>
              </a:rPr>
              <a:t>）黄队第二。</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分析题干条件，因为四人中只有一人预测为真，若（</a:t>
            </a:r>
            <a:r>
              <a:rPr lang="en-US" altLang="zh-CN" sz="1200" kern="1200" dirty="0">
                <a:solidFill>
                  <a:schemeClr val="tx1"/>
                </a:solidFill>
                <a:effectLst/>
                <a:latin typeface="+mn-lt"/>
                <a:ea typeface="+mn-ea"/>
              </a:rPr>
              <a:t>2</a:t>
            </a:r>
            <a:r>
              <a:rPr lang="zh-CN" altLang="en-US" sz="1200" kern="1200" dirty="0">
                <a:solidFill>
                  <a:schemeClr val="tx1"/>
                </a:solidFill>
                <a:effectLst/>
                <a:latin typeface="+mn-lt"/>
                <a:ea typeface="+mn-ea"/>
              </a:rPr>
              <a:t>）为假，可得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红队第三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蓝队不是第四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，若（</a:t>
            </a:r>
            <a:r>
              <a:rPr lang="en-US" altLang="zh-CN" sz="1200" kern="1200" dirty="0">
                <a:solidFill>
                  <a:schemeClr val="tx1"/>
                </a:solidFill>
                <a:effectLst/>
                <a:latin typeface="+mn-lt"/>
                <a:ea typeface="+mn-ea"/>
              </a:rPr>
              <a:t>3</a:t>
            </a:r>
            <a:r>
              <a:rPr lang="zh-CN" altLang="en-US" sz="1200" kern="1200" dirty="0">
                <a:solidFill>
                  <a:schemeClr val="tx1"/>
                </a:solidFill>
                <a:effectLst/>
                <a:latin typeface="+mn-lt"/>
                <a:ea typeface="+mn-ea"/>
              </a:rPr>
              <a:t>）为假，可得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蓝队第四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，互相矛盾，故（</a:t>
            </a:r>
            <a:r>
              <a:rPr lang="en-US" altLang="zh-CN" sz="1200" kern="1200" dirty="0">
                <a:solidFill>
                  <a:schemeClr val="tx1"/>
                </a:solidFill>
                <a:effectLst/>
                <a:latin typeface="+mn-lt"/>
                <a:ea typeface="+mn-ea"/>
              </a:rPr>
              <a:t>2</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3</a:t>
            </a:r>
            <a:r>
              <a:rPr lang="zh-CN" altLang="en-US" sz="1200" kern="1200" dirty="0">
                <a:solidFill>
                  <a:schemeClr val="tx1"/>
                </a:solidFill>
                <a:effectLst/>
                <a:latin typeface="+mn-lt"/>
                <a:ea typeface="+mn-ea"/>
              </a:rPr>
              <a:t>）中必有一真，（</a:t>
            </a:r>
            <a:r>
              <a:rPr lang="en-US" altLang="zh-CN" sz="1200" kern="1200" dirty="0">
                <a:solidFill>
                  <a:schemeClr val="tx1"/>
                </a:solidFill>
                <a:effectLst/>
                <a:latin typeface="+mn-lt"/>
                <a:ea typeface="+mn-ea"/>
              </a:rPr>
              <a:t>1</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4</a:t>
            </a:r>
            <a:r>
              <a:rPr lang="zh-CN" altLang="en-US" sz="1200" kern="1200" dirty="0">
                <a:solidFill>
                  <a:schemeClr val="tx1"/>
                </a:solidFill>
                <a:effectLst/>
                <a:latin typeface="+mn-lt"/>
                <a:ea typeface="+mn-ea"/>
              </a:rPr>
              <a:t>）为假。</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根据（</a:t>
            </a:r>
            <a:r>
              <a:rPr lang="en-US" altLang="zh-CN" sz="1200" kern="1200" dirty="0">
                <a:solidFill>
                  <a:schemeClr val="tx1"/>
                </a:solidFill>
                <a:effectLst/>
                <a:latin typeface="+mn-lt"/>
                <a:ea typeface="+mn-ea"/>
              </a:rPr>
              <a:t>1</a:t>
            </a:r>
            <a:r>
              <a:rPr lang="zh-CN" altLang="en-US" sz="1200" kern="1200" dirty="0">
                <a:solidFill>
                  <a:schemeClr val="tx1"/>
                </a:solidFill>
                <a:effectLst/>
                <a:latin typeface="+mn-lt"/>
                <a:ea typeface="+mn-ea"/>
              </a:rPr>
              <a:t>）（</a:t>
            </a:r>
            <a:r>
              <a:rPr lang="en-US" altLang="zh-CN" sz="1200" kern="1200" dirty="0">
                <a:solidFill>
                  <a:schemeClr val="tx1"/>
                </a:solidFill>
                <a:effectLst/>
                <a:latin typeface="+mn-lt"/>
                <a:ea typeface="+mn-ea"/>
              </a:rPr>
              <a:t>4</a:t>
            </a:r>
            <a:r>
              <a:rPr lang="zh-CN" altLang="en-US" sz="1200" kern="1200" dirty="0">
                <a:solidFill>
                  <a:schemeClr val="tx1"/>
                </a:solidFill>
                <a:effectLst/>
                <a:latin typeface="+mn-lt"/>
                <a:ea typeface="+mn-ea"/>
              </a:rPr>
              <a:t>）为假可知，</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红队第一</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黄队不是第二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。若（</a:t>
            </a:r>
            <a:r>
              <a:rPr lang="en-US" altLang="zh-CN" sz="1200" kern="1200" dirty="0">
                <a:solidFill>
                  <a:schemeClr val="tx1"/>
                </a:solidFill>
                <a:effectLst/>
                <a:latin typeface="+mn-lt"/>
                <a:ea typeface="+mn-ea"/>
              </a:rPr>
              <a:t>2</a:t>
            </a:r>
            <a:r>
              <a:rPr lang="zh-CN" altLang="en-US" sz="1200" kern="1200" dirty="0">
                <a:solidFill>
                  <a:schemeClr val="tx1"/>
                </a:solidFill>
                <a:effectLst/>
                <a:latin typeface="+mn-lt"/>
                <a:ea typeface="+mn-ea"/>
              </a:rPr>
              <a:t>）为假，可得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红队第三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蓝队不是第四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红队第一</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矛盾，因此（</a:t>
            </a:r>
            <a:r>
              <a:rPr lang="en-US" altLang="zh-CN" sz="1200" kern="1200" dirty="0">
                <a:solidFill>
                  <a:schemeClr val="tx1"/>
                </a:solidFill>
                <a:effectLst/>
                <a:latin typeface="+mn-lt"/>
                <a:ea typeface="+mn-ea"/>
              </a:rPr>
              <a:t>2</a:t>
            </a:r>
            <a:r>
              <a:rPr lang="zh-CN" altLang="en-US" sz="1200" kern="1200" dirty="0">
                <a:solidFill>
                  <a:schemeClr val="tx1"/>
                </a:solidFill>
                <a:effectLst/>
                <a:latin typeface="+mn-lt"/>
                <a:ea typeface="+mn-ea"/>
              </a:rPr>
              <a:t>）为真（</a:t>
            </a:r>
            <a:r>
              <a:rPr lang="en-US" altLang="zh-CN" sz="1200" kern="1200" dirty="0">
                <a:solidFill>
                  <a:schemeClr val="tx1"/>
                </a:solidFill>
                <a:effectLst/>
                <a:latin typeface="+mn-lt"/>
                <a:ea typeface="+mn-ea"/>
              </a:rPr>
              <a:t>3</a:t>
            </a:r>
            <a:r>
              <a:rPr lang="zh-CN" altLang="en-US" sz="1200" kern="1200" dirty="0">
                <a:solidFill>
                  <a:schemeClr val="tx1"/>
                </a:solidFill>
                <a:effectLst/>
                <a:latin typeface="+mn-lt"/>
                <a:ea typeface="+mn-ea"/>
              </a:rPr>
              <a:t>）为假，进而可得</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蓝队第四</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，又因为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黄队不是第二</a:t>
            </a:r>
            <a:r>
              <a:rPr lang="en-US" altLang="zh-CN" sz="1200" kern="1200" dirty="0">
                <a:solidFill>
                  <a:schemeClr val="tx1"/>
                </a:solidFill>
                <a:effectLst/>
                <a:latin typeface="+mn-lt"/>
                <a:ea typeface="+mn-ea"/>
              </a:rPr>
              <a:t>” </a:t>
            </a:r>
            <a:r>
              <a:rPr lang="zh-CN" altLang="en-US" sz="1200" kern="1200" dirty="0">
                <a:solidFill>
                  <a:schemeClr val="tx1"/>
                </a:solidFill>
                <a:effectLst/>
                <a:latin typeface="+mn-lt"/>
                <a:ea typeface="+mn-ea"/>
              </a:rPr>
              <a:t>，则</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黄队第三</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，进而推出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绿队第二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B</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论点：牛蛙体内含有幼虫裂头蚴、广州管圆线虫等能够在人体寄生的寄生虫，食入带有这些寄生虫的牛蛙，</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会严重影响人体健康。</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项：该项指出经过高温烹饪，牛蛙身上的寄生虫会被全部杀死，说明带有寄生虫的牛蛙经过高温烹饪后食用并不会影响人体健康，削弱论点，可以削弱，当选；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项：该项指出淡水虾蟹中的肺吸虫会对人体造成影响，与论点讨论的牛蛙体内的寄生虫是否会对人体造成影响无关，话题不一致，无法削弱，排除；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项：该项指出生态养殖的牛蛙体内没有发现裂头蚴寄生虫，但不清楚是否还存在其他寄生虫影响人体的健康，为不明确项，无法削弱，排除；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项：该项指出牛蛙体内存在不会传染给人类的寄生虫，与论点讨论的牛蛙体内能在人体寄生的寄生虫是否会影响人体健康无关，无法削弱，排除。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A</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rPr>
              <a:t>A</a:t>
            </a:r>
            <a:br>
              <a:rPr lang="en-US" altLang="zh-CN" sz="1200" kern="1200" dirty="0">
                <a:solidFill>
                  <a:schemeClr val="tx1"/>
                </a:solidFill>
                <a:effectLst/>
                <a:latin typeface="+mn-lt"/>
                <a:ea typeface="+mn-ea"/>
              </a:rPr>
            </a:br>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题干第二句话指出在安静和运动或情绪激动状态下，迷走神经和交感神经对心脏的调控力度不同，且产生了不同的效应，第四句话和第五句话指出交感神经和迷走神经对胃肠道不同的调控力度及产生的不同效应，可以推出，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项：题干第一句话指出交感神经和迷走神经是调控心脏的神经，而选项说的是调控内脏器官的神经，且题干未提及神经是否受意识的支配，无中生有，无法推出，排除；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项：题干未提及</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保护内脏器官</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合理使用大脑</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的关系，无中生有，无法推出，排除；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项：题干未提及</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冠心病、胃溃疡</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与</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神经系统功能失常</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的关系，无中生有，无法推出，排除。</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论点：格陵兰岛的冰川消融受到放大效应影响。</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北极放大效应是指冰雪和气温之间容易形成正反馈，即气温升高则冰雪消融增多，没有冰雪覆盖的裸地能吸收更多的太阳辐射，加热大气，进一步加剧冰雪消融。观测显示，位于北极格陵兰岛的大多数冰川都呈现出消退趋势，这是世界上流失速度最快的冰川之一。</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本题论点讨论的是格陵兰岛的冰川消融受到放大效应的影响，论据讨论的是格陵兰岛的冰川呈现出消退趋势，即出现了更多没有冰雪覆盖的裸地，论点论据话题不一致，加强优先考虑搭桥，即建立</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冰川消融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出现了更多没有冰雪覆盖的裸地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的联系。</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项：该项指出格陵兰岛冰川消融导致了全球海平面上升，但是不明确格陵兰岛的冰川消融是否是受到了放大效应影响，为不明确项，无法加强，排除；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项：该项指出格陵兰岛冰川消退会导致海啸，而论点讨论的是格陵兰岛的冰川消融是否是受到了放大效应的影响，话题不一致，无法加强，排除；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项：该项指出格陵兰岛的冰川融化后会出现大量陆地，陆地比海洋吸收热量更快，建立了</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冰川消融</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和</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大量陆地</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的联系，为搭桥项，可以加强，当选；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项：该项讨论的是南极地区的冰川消退不明显，而论点讨论的格陵兰岛属于北极地区，话题不一致，无法加强，排除。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rPr>
              <a:t>论点：母乳喂养可降低剖宫产宝宝过敏风险。</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论据：母乳中含有双歧杆菌等益生菌，可帮助宝宝建立健康肠道菌群，训练免疫系统，降低过敏风险。</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论据讨论的是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母乳中含有的双歧杆菌等益生菌可帮助宝宝降低过敏风险</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，论点说的是</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母乳喂养可降低剖宫产宝宝过敏风险</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，论据和论点话题一致，加强优先考虑补充论据。</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A </a:t>
            </a:r>
            <a:r>
              <a:rPr lang="zh-CN" altLang="en-US" sz="1200" kern="1200" dirty="0">
                <a:solidFill>
                  <a:schemeClr val="tx1"/>
                </a:solidFill>
                <a:effectLst/>
                <a:latin typeface="+mn-lt"/>
                <a:ea typeface="+mn-ea"/>
              </a:rPr>
              <a:t>项：该项是在说剖宫产宝宝肠道健康菌群的建立，比自然分娩宝宝晚约</a:t>
            </a:r>
            <a:r>
              <a:rPr lang="en-US" altLang="zh-CN" sz="1200" kern="1200" dirty="0">
                <a:solidFill>
                  <a:schemeClr val="tx1"/>
                </a:solidFill>
                <a:effectLst/>
                <a:latin typeface="+mn-lt"/>
                <a:ea typeface="+mn-ea"/>
              </a:rPr>
              <a:t> 6 </a:t>
            </a:r>
            <a:r>
              <a:rPr lang="zh-CN" altLang="en-US" sz="1200" kern="1200" dirty="0">
                <a:solidFill>
                  <a:schemeClr val="tx1"/>
                </a:solidFill>
                <a:effectLst/>
                <a:latin typeface="+mn-lt"/>
                <a:ea typeface="+mn-ea"/>
              </a:rPr>
              <a:t>个月，并未提及母乳喂养，话题不一致，无法加强，排除；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B </a:t>
            </a:r>
            <a:r>
              <a:rPr lang="zh-CN" altLang="en-US" sz="1200" kern="1200" dirty="0">
                <a:solidFill>
                  <a:schemeClr val="tx1"/>
                </a:solidFill>
                <a:effectLst/>
                <a:latin typeface="+mn-lt"/>
                <a:ea typeface="+mn-ea"/>
              </a:rPr>
              <a:t>项：该项是在说母乳喂养期间母亲进食易过敏食物会增加宝宝过敏风险，但并不清楚母亲如果正常饮食期间母乳喂养会不会降低宝宝过敏风险，为无关项，无法加强，排除；</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C </a:t>
            </a:r>
            <a:r>
              <a:rPr lang="zh-CN" altLang="en-US" sz="1200" kern="1200" dirty="0">
                <a:solidFill>
                  <a:schemeClr val="tx1"/>
                </a:solidFill>
                <a:effectLst/>
                <a:latin typeface="+mn-lt"/>
                <a:ea typeface="+mn-ea"/>
              </a:rPr>
              <a:t>项：母乳致敏性低，是因为宝宝的免疫系统能将其中的蛋白质识别为</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自己的</a:t>
            </a:r>
            <a:r>
              <a:rPr lang="en-US" altLang="zh-CN" sz="1200" kern="1200" dirty="0">
                <a:solidFill>
                  <a:schemeClr val="tx1"/>
                </a:solidFill>
                <a:effectLst/>
                <a:latin typeface="+mn-lt"/>
                <a:ea typeface="+mn-ea"/>
              </a:rPr>
              <a:t>”</a:t>
            </a:r>
            <a:r>
              <a:rPr lang="zh-CN" altLang="en-US" sz="1200" kern="1200" dirty="0">
                <a:solidFill>
                  <a:schemeClr val="tx1"/>
                </a:solidFill>
                <a:effectLst/>
                <a:latin typeface="+mn-lt"/>
                <a:ea typeface="+mn-ea"/>
              </a:rPr>
              <a:t>，解释了为什么母乳喂养可以降低宝宝的过敏反应，补充论据，当选；</a:t>
            </a:r>
            <a:endParaRPr lang="zh-CN" altLang="en-US" sz="1200" kern="1200" dirty="0">
              <a:solidFill>
                <a:schemeClr val="tx1"/>
              </a:solidFill>
              <a:effectLst/>
              <a:latin typeface="+mn-lt"/>
              <a:ea typeface="+mn-ea"/>
            </a:endParaRPr>
          </a:p>
          <a:p>
            <a:r>
              <a:rPr lang="en-US" altLang="zh-CN" sz="1200" kern="1200" dirty="0">
                <a:solidFill>
                  <a:schemeClr val="tx1"/>
                </a:solidFill>
                <a:effectLst/>
                <a:latin typeface="+mn-lt"/>
                <a:ea typeface="+mn-ea"/>
              </a:rPr>
              <a:t>D </a:t>
            </a:r>
            <a:r>
              <a:rPr lang="zh-CN" altLang="en-US" sz="1200" kern="1200" dirty="0">
                <a:solidFill>
                  <a:schemeClr val="tx1"/>
                </a:solidFill>
                <a:effectLst/>
                <a:latin typeface="+mn-lt"/>
                <a:ea typeface="+mn-ea"/>
              </a:rPr>
              <a:t>项：把高致敏性的普通牛奶蛋白变成低致敏性的小分子蛋白质，可以降低宝宝过敏的风险，是在指出其他可以降低宝宝过敏风险的办法，但并没提及母乳喂养会不会降低宝宝过敏风险，为无关项，无法加强，排除。</a:t>
            </a:r>
            <a:endParaRPr lang="zh-CN" altLang="en-US" sz="1200" kern="1200" dirty="0">
              <a:solidFill>
                <a:schemeClr val="tx1"/>
              </a:solidFill>
              <a:effectLst/>
              <a:latin typeface="+mn-lt"/>
              <a:ea typeface="+mn-ea"/>
            </a:endParaRPr>
          </a:p>
          <a:p>
            <a:r>
              <a:rPr lang="zh-CN" altLang="en-US" sz="1200" kern="1200" dirty="0">
                <a:solidFill>
                  <a:schemeClr val="tx1"/>
                </a:solidFill>
                <a:effectLst/>
                <a:latin typeface="+mn-lt"/>
                <a:ea typeface="+mn-ea"/>
              </a:rPr>
              <a:t>故正确答案为</a:t>
            </a:r>
            <a:r>
              <a:rPr lang="en-US" altLang="zh-CN" sz="1200" kern="1200" dirty="0">
                <a:solidFill>
                  <a:schemeClr val="tx1"/>
                </a:solidFill>
                <a:effectLst/>
                <a:latin typeface="+mn-lt"/>
                <a:ea typeface="+mn-ea"/>
              </a:rPr>
              <a:t> C</a:t>
            </a:r>
            <a:r>
              <a:rPr lang="zh-CN" altLang="en-US" sz="1200" kern="1200" dirty="0">
                <a:solidFill>
                  <a:schemeClr val="tx1"/>
                </a:solidFill>
                <a:effectLst/>
                <a:latin typeface="+mn-lt"/>
                <a:ea typeface="+mn-ea"/>
              </a:rPr>
              <a:t>。</a:t>
            </a:r>
            <a:endParaRPr lang="zh-CN" altLang="en-US" sz="1200" kern="1200" dirty="0">
              <a:solidFill>
                <a:schemeClr val="tx1"/>
              </a:solidFill>
              <a:effectLst/>
              <a:latin typeface="+mn-lt"/>
              <a:ea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3"/>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5" name="图片 4"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7" name="文本框 6"/>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8" name="图片 7"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1" name="文本框 10"/>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楷体" panose="02010609060101010101"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tags" Target="../tags/tag3.xml"/><Relationship Id="rId6" Type="http://schemas.openxmlformats.org/officeDocument/2006/relationships/tags" Target="../tags/tag2.xml"/><Relationship Id="rId5" Type="http://schemas.openxmlformats.org/officeDocument/2006/relationships/tags" Target="../tags/tag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4" name="文本框 3"/>
          <p:cNvSpPr txBox="1"/>
          <p:nvPr/>
        </p:nvSpPr>
        <p:spPr>
          <a:xfrm>
            <a:off x="2807628" y="2367459"/>
            <a:ext cx="6576647" cy="2122805"/>
          </a:xfrm>
          <a:prstGeom prst="rect">
            <a:avLst/>
          </a:prstGeom>
          <a:noFill/>
        </p:spPr>
        <p:txBody>
          <a:bodyPr wrap="square" rtlCol="0">
            <a:spAutoFit/>
          </a:bodyPr>
          <a:lstStyle/>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安徽</a:t>
            </a: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2023</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年</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真题解析</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
        <p:nvSpPr>
          <p:cNvPr id="5" name="文本框 4"/>
          <p:cNvSpPr txBox="1"/>
          <p:nvPr/>
        </p:nvSpPr>
        <p:spPr>
          <a:xfrm>
            <a:off x="4675016" y="4612428"/>
            <a:ext cx="2502877" cy="398780"/>
          </a:xfrm>
          <a:prstGeom prst="rect">
            <a:avLst/>
          </a:prstGeom>
          <a:noFill/>
        </p:spPr>
        <p:txBody>
          <a:bodyPr wrap="square" rtlCol="0">
            <a:spAutoFit/>
          </a:bodyPr>
          <a:lstStyle/>
          <a:p>
            <a:r>
              <a:rPr kumimoji="1" lang="zh-CN" altLang="en-US" sz="2000" dirty="0">
                <a:solidFill>
                  <a:srgbClr val="DC5037"/>
                </a:solidFill>
                <a:latin typeface="楷体" panose="02010609060101010101" charset="-122"/>
                <a:ea typeface="楷体" panose="02010609060101010101" charset="-122"/>
                <a:cs typeface="楷体" panose="02010609060101010101" charset="-122"/>
              </a:rPr>
              <a:t>主讲老师：陆羽老师</a:t>
            </a:r>
            <a:endParaRPr kumimoji="1" lang="zh-CN" altLang="en-US" sz="2000"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61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全真阅读：沉浸式</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企业销售：盈利性</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乡村教育：均衡化</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人工智能：数字化</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线上课程：直播性</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62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针灸：疏通经脉</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慢跑：增强体质</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涅槃：化茧成蝶</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缺铁：供血不足</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促销：商品展示</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63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修缮：修葺</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淹留：逗留</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休闲：休憩</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履职：履任</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赏识：赏玩</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64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葡萄：葡萄酒</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黄金：黄金档</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香蕉：香蕉水</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杜鹃：杜鹃花</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枇杷：枇杷膏</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65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龋齿：嗜食甜品</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海鲜：食物过敏</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缺钙：骨质疏松</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运动：增强体质</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塌方：地下渗水</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66</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天荒地老：海枯石烂</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同心同德：反目成仇</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披荆斩棘：斩钉截铁</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孜孜矻矻：夙夜不懈</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望而却步：望风披靡</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67</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书柜：书籍：书页</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花坛：花卉：花蕊</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舞池：舞蹈：舞伴</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面粉：面条：面片</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鞋盒：鞋子：鞋油</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68</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桃红：橘绿：橙黄</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蚕食：牛饮：鲸吞</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中医：西医：名医</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软卧：硬卧：卧铺</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被告：原告：控告</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69</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游艇：钢材：船舶</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古玺：玉石：隶书</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旗袍：丝绸：服饰</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版画：油画：绘画</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砧板：厨具：木材</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70</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3322955"/>
          </a:xfrm>
          <a:prstGeom prst="rect">
            <a:avLst/>
          </a:prstGeom>
          <a:noFill/>
        </p:spPr>
        <p:txBody>
          <a:bodyPr wrap="square" rtlCol="0" anchor="t">
            <a:spAutoFit/>
          </a:bodyPr>
          <a:p>
            <a:pPr indent="0" algn="l" fontAlgn="auto">
              <a:lnSpc>
                <a:spcPct val="150000"/>
              </a:lnSpc>
            </a:pP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历史朝代：东汉：北宋</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热带气旋：台风：飓风</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敬辞称谓：家父：令尊</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十二时辰：丑时：午时</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8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800" dirty="0">
                <a:latin typeface="楷体" panose="02010609060101010101" charset="-122"/>
                <a:ea typeface="楷体" panose="02010609060101010101" charset="-122"/>
                <a:cs typeface="楷体" panose="02010609060101010101" charset="-122"/>
                <a:sym typeface="楷体" panose="02010609060101010101" charset="-122"/>
              </a:rPr>
              <a:t>交通工具：火车：马车</a:t>
            </a:r>
            <a:endParaRPr lang="zh-CN" altLang="en-US" sz="28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50774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借词就是音义都借自外语的词，它不仅引入了新的外来概念，而且还引入了外语的音义结合关系。意译词指只引入新的外来概念，但用本族语的构词材料和构词规则构成新词来表达它。仿译词是意译词的一类，它的特点是构词所用的本族语的构词材料和构词规则分别与所源出的外语词具有一一对应的关系。</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根据上述定义，下列属于仿译词的一组词是：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蜜月、足球</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激光、天使</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雷达、可口可乐</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黑板、高尔夫球</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4523105"/>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被害人盲点症是指被害人出于某种迫切的需要和急切的欲望，以致注意力狭窄、判断力减弱甚至轻度丧失理智，对自已所处的危险或面临的风险视而不见的一种状态。</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根据上述定义，下列不属于被害人盲点症的是：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王某为强身健体高价购买大量伪劣保健品</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林某在公交车上因争抢座位不慎滑倒受伤</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为谋高额回报黄某兼职网络刷单导致经济受损</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幻想通过理财一夜暴富的刘某给了骗子可乘之机</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0774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商业效用原则是商事实践中发展出来的一项交易惯例，市场主体提供的商品、服务以及其他标的物应当能够发挥基本的功能作用，如果欠缺必要的使用条件或者辅助设施导致其交易目的落空的，应当予以补足。最佳效用原则是指通过配置组合，使得资源能够最大程度地发挥效能，提高利用效率。</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根据上述定义，下列选项最能体现商业效用原则的是：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开发商销售商品房赠送车位</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商家促销</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买桌子送椅子</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出售的地下酒窖附带出入通道</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购买家电享受</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三包服务</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913765"/>
            <a:ext cx="10968355" cy="4929505"/>
          </a:xfrm>
          <a:prstGeom prst="rect">
            <a:avLst/>
          </a:prstGeom>
          <a:noFill/>
        </p:spPr>
        <p:txBody>
          <a:bodyPr wrap="square" rtlCol="0" anchor="t">
            <a:spAutoFit/>
          </a:bodyPr>
          <a:p>
            <a:pPr indent="0" algn="l" fontAlgn="auto">
              <a:lnSpc>
                <a:spcPct val="13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生物修复就是利用生物的生命代谢活动减少被污染的环境中的有毒有害物的浓度或使其无害化，从而使被污染了的环境能够部分地或完全地恢复到原初状态的过程。</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根据上述定义，下列不属于生物修复的是：</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在被重金属污染的土壤中种植能吸附重金属的蜈蚣草，通过收割蜈蚣草带走土壤里的部分重金属</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用玉米等粮食作物做成的降解塑料袋替代传统塑料袋，解决丢弃传统塑料对环境造成的污染问题</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利用硝化细菌、芽孢杆菌等微生物菌降解河道有机污染物，治理被污水和垃圾污染的城市河流</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3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在人工水产养殖场中投放一些藻类，利用菌藻共生关系，对池塘里的污物进行处理和净化</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169535"/>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不真正连带责任，是指各债务人之间基于不同的发生原因，对同一债权人负有以同一给付为标的的数个债务责任。如果一个债务人履行了全部债务，那么全体债务归于消灭。</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根据上述定义，下列说法正确的是：</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小张在医院治疗期间进行了输血，但由于血液质量不合格，导致小张病情加重，后小张起诉至法院。医院和血液提供机构属于不真正连带责任</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小赵委托小孙作为自己的代理人采购钢材</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10 </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吨，小孙为获私利与销售方小李串通，故意抬高钢材销售价格。小孙与小李属于不真正连带责任</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某有限公司股东小刘和小宋各持有</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50%</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的股份，后因经营不善欠债</a:t>
            </a: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 100 </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万元，债权人现向小刘主张全部债权。小刘和小宋属于不真正连带责任</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小王在路上行走突遇对面来车，小王急忙躲闪，撞伤了同在行走的周大爷，周大爷因此起诉。小王和司机属于不真正连带责任</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76</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169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在新一代信息技术形成的网络生命空间中，数字平台生态系统提供的社会化工具减少了组织创建的成本，极大地激发了社会个体创建组织的积极性，形成了虚拟世界中组织进化的新现象。大型数字平台生态系统所提供的社会化工具帮助现实社会中的个体打造了众多的数字组织，这些数字组织可以称之为社会化数字组织。</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根据上述定义，下列属于社会化数字组织的是：</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某地利用微博建立了网络红色文化学习社区宣传红军长征精神</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志愿者小李在短视频</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APP </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中组建助农协会帮助农户直播销售农产品</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某外卖平台响应国家号召积极吸纳来自偏远地区进城务工人员，帮助他们实现再就业</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登山爱好者老刘发现某社交媒体在信息交流方面十分便捷，便邀请同城登山爱好者到该社交媒体上交流登山体验</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77</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0774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生态恢复岸线是指通过人工直接或间接实施保护修复工程或在常年潮汐、冲淤等自然力作用下，将原来的人工岸线最大限度地恢复海岸自然形态、地貌单元，恢复和改善海岸生态功能的岸线。生态恢复岸线具有独特的地理、形态和动态特征，是海陆分界的地理要素，具有重要的生态功能和资源价值。</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根据上述定义，下列属于生态恢复岸线的是：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将自然海岸形态改变成人工海岸形态的堤坝</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某港口城市全力打造的生态美、人气旺的黄金旅游岸线</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某海滨城市修复建设的具有自然岸滩形态特征和生态功能的海堤</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保持自然生态属性特征，没有因人类活动而改变形态和属性的海岸线</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78</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3118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环境吸收能力是指自然环境对人类在生产生活过程中产生的废弃物具有自动容纳、吸收和消化的能力。理论上，由于环境吸收能力的存在，地球自身的力量是可以将环境恢复到原有或相近的活力水平，资源环境退化并不是不可逆的。</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根据上述定义，下列属于环境吸收能力的是：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某地开展农村人居环境整治行动，加强固体废弃物和垃圾处置</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某县通过环境治理，提升了当地环境资源所能容纳的人口和经济规模</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某市为高载能产业寻求发展空间，测算出该城市大气允许承载污染物的最大数量</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D.PM2.5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能够被大自然转化为对生态系统造成危害较小的物质，甚至能进一步被分解达到无害的状态</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79</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4707890"/>
          </a:xfrm>
          <a:prstGeom prst="rect">
            <a:avLst/>
          </a:prstGeom>
          <a:noFill/>
        </p:spPr>
        <p:txBody>
          <a:bodyPr wrap="square" rtlCol="0" anchor="t">
            <a:spAutoFit/>
          </a:bodyPr>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代表性启发，是指在使用启发法时，首先会考虑借鉴要判断的事件本身或同类事件以往的经验，即以往出现的结果；可得性启发，是指在使用启发法进行判断时，人们往往会依赖最先想到的经验和信息，并认定这些容易知觉到或回想起的事件更常出现，以此作为判断的依据。</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根据上述定义，下列属于可得性启发的是：</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人们偏向于高估连续事件发生的概率，这往往会导致对某一计划的成功过分乐观</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我们知道高质量产品一般价格不菲，因此，如果某个产品很贵，我们会认为它的质量很好</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很多人会根据服装来判断他人社会地位的高低，看到身着高档服装的人，就认为他们更成功、社会地位更高</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0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000" dirty="0">
                <a:latin typeface="楷体" panose="02010609060101010101" charset="-122"/>
                <a:ea typeface="楷体" panose="02010609060101010101" charset="-122"/>
                <a:cs typeface="楷体" panose="02010609060101010101" charset="-122"/>
                <a:sym typeface="楷体" panose="02010609060101010101" charset="-122"/>
              </a:rPr>
              <a:t>人们在判断交通工具的安全性时，都认为乘坐飞机更危险，因为首先想到的是关于飞机失事的报道，而通常想不起火车意外事故的报道</a:t>
            </a:r>
            <a:endParaRPr lang="zh-CN" altLang="en-US" sz="20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80</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77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法律规范包含多种类型。授权性规范，是规定法律主体可以为一定行为或不为一定行为的法律规范。义务性规范，是规定法律主体必须为一定行为的法律规范。禁止性规范，是规定禁止法律主体为一定行为的法律规范。</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根据上述定义，下列属于禁止性规范的是：</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自然人决定、变更姓名，或者法人、非法人组织决定、变更、转让名称的，应当依法向有关机关办理登记手续，但是法律另有规定的除外</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对亲子关系有异议且有正当理由的，父或者母可以向人民法院提起诉讼，请求确认或者否认亲子关系</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任何组织或者个人不得以丑化、污损或者利用信息技术手段伪造等方式侵害他人肖像权</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因正当防卫造成损害的，不承担民事责任</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3118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把下面的六个图形分为两类，使每一类图形都有各自的共同特征或规律，分类正确的一项是：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①②④</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③⑤⑥		</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①③⑥</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②④⑤</a:t>
            </a:r>
            <a:endParaRPr lang="en-US"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①④⑤</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②③⑥		</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①⑤⑥</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②③④</a:t>
            </a:r>
            <a:endParaRPr lang="en-US"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3703320" y="1431925"/>
            <a:ext cx="4785360" cy="3710305"/>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3118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把下面的六个图形分为两类，使每一类图形都有各自的共同特征或规律，分类正确的一项是：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①②③</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④⑤⑥		</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①③⑥</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②④⑤</a:t>
            </a:r>
            <a:endParaRPr lang="en-US"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①③④</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②⑤⑥		</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①④⑤</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a:t>
            </a:r>
            <a:r>
              <a:rPr lang="en-US" altLang="en-US" sz="2400" dirty="0">
                <a:latin typeface="楷体" panose="02010609060101010101" charset="-122"/>
                <a:ea typeface="楷体" panose="02010609060101010101" charset="-122"/>
                <a:cs typeface="楷体" panose="02010609060101010101" charset="-122"/>
                <a:sym typeface="楷体" panose="02010609060101010101" charset="-122"/>
              </a:rPr>
              <a:t>②③⑥</a:t>
            </a:r>
            <a:endParaRPr lang="en-US"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3899535" y="1407795"/>
            <a:ext cx="4765040" cy="3749675"/>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119888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下图右框内所给几何体的展开表面中，能折叠成左框内所示几何体的是：</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（注：右框内所给几何体展开表面正反面图形完全一致）</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2745740" y="1955165"/>
            <a:ext cx="6693535" cy="4005580"/>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6451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从所给四个选项中，选择最合适的一个填入问号处，使之呈现一定的规律性：</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a:t>
            </a:r>
            <a:endParaRPr lang="en-US" altLang="zh-CN"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4224655" y="1506855"/>
            <a:ext cx="3742055" cy="456946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119888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下方为某一立体图形的侧视图、正视图和顶视图，请从下列选项中选出与之符合的一项：</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pic>
        <p:nvPicPr>
          <p:cNvPr id="3" name="图片 2"/>
          <p:cNvPicPr>
            <a:picLocks noChangeAspect="1"/>
          </p:cNvPicPr>
          <p:nvPr/>
        </p:nvPicPr>
        <p:blipFill>
          <a:blip r:embed="rId1"/>
          <a:stretch>
            <a:fillRect/>
          </a:stretch>
        </p:blipFill>
        <p:spPr>
          <a:xfrm>
            <a:off x="3279140" y="1497330"/>
            <a:ext cx="5626100" cy="3877310"/>
          </a:xfrm>
          <a:prstGeom prst="rect">
            <a:avLst/>
          </a:prstGeom>
        </p:spPr>
      </p:pic>
      <p:pic>
        <p:nvPicPr>
          <p:cNvPr id="5" name="图片 4"/>
          <p:cNvPicPr>
            <a:picLocks noChangeAspect="1"/>
          </p:cNvPicPr>
          <p:nvPr/>
        </p:nvPicPr>
        <p:blipFill>
          <a:blip r:embed="rId2"/>
          <a:stretch>
            <a:fillRect/>
          </a:stretch>
        </p:blipFill>
        <p:spPr>
          <a:xfrm>
            <a:off x="1710690" y="5400675"/>
            <a:ext cx="2059940" cy="963295"/>
          </a:xfrm>
          <a:prstGeom prst="rect">
            <a:avLst/>
          </a:prstGeom>
        </p:spPr>
      </p:pic>
      <p:pic>
        <p:nvPicPr>
          <p:cNvPr id="6" name="图片 5"/>
          <p:cNvPicPr>
            <a:picLocks noChangeAspect="1"/>
          </p:cNvPicPr>
          <p:nvPr/>
        </p:nvPicPr>
        <p:blipFill>
          <a:blip r:embed="rId3"/>
          <a:stretch>
            <a:fillRect/>
          </a:stretch>
        </p:blipFill>
        <p:spPr>
          <a:xfrm>
            <a:off x="4141470" y="5292725"/>
            <a:ext cx="2254885" cy="1071245"/>
          </a:xfrm>
          <a:prstGeom prst="rect">
            <a:avLst/>
          </a:prstGeom>
        </p:spPr>
      </p:pic>
      <p:pic>
        <p:nvPicPr>
          <p:cNvPr id="7" name="图片 6"/>
          <p:cNvPicPr>
            <a:picLocks noChangeAspect="1"/>
          </p:cNvPicPr>
          <p:nvPr/>
        </p:nvPicPr>
        <p:blipFill>
          <a:blip r:embed="rId4"/>
          <a:stretch>
            <a:fillRect/>
          </a:stretch>
        </p:blipFill>
        <p:spPr>
          <a:xfrm>
            <a:off x="7226300" y="5350510"/>
            <a:ext cx="2317115" cy="10134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86</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0774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一项新研究正在给金星云层中存在生命的可能性泼冷水。科学家研究报告显示，这颗灼热行星的云层中没有足够的水蒸气来维持众所周知的生命形式。因此，国际天文学界认为金星不可能有生命。</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以下哪项如果为真，最能支持上述观点？</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研究人员认定，金星的云层中有足够的水，其大气温度也适合维持生命</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研究发现金星云层的水含量仅相当于维持类地生命所需水含量的百分之一</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在地球上，磷化氢是一种与生命有关的气体，而金星大气中含有大量的磷化氢</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最新的金星生态系统仿真模拟显示，金星的液态水可能维持大约</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30</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亿年，只是在</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7</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亿</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5</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千万年前金星才变得不适合居住</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87</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169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长距离的地下运输管道在遭遇重大地质断层事件或较大地面运动时可能遭到灾难性的破坏。研究人员开发出一种经济有效的方法，用膨胀苯乙烯（</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EPS</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土工泡沫块对管道进行保护，并基于先进的三维计算机模型，评估了在水平断层破裂情况下，由这种土工泡沫块所保护的管道的机械性能。结果发现，它们可以在断层破裂时自压缩，从而减少周围土壤对管道施加的压力，保证了管道即使遭遇水平断层破裂的情况时仍可正常运行。</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以下哪项如果为真，最能支持上述结论？</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土工泡沫块是一种廉价轻质材料的聚合物，抗压性较低</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土工泡沫块保护下的管道可以承受极高强度的构造变形</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三维计算机模型评估了土工泡沫块所保护的管道的机械性能</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土工泡沫块这种材料可变形，因而具有出色的保护管道的性能</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88</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0774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油脂是由甘油和脂肪酸结合在一起形成的链状分子，可可脂和黄油都是由无数油脂分子聚集在一起形成的，但是它们熔化方式不一样。黄油是随温度上升一点点从固体变为液体，可可脂却是达到熔点时瞬间熔化。科学分析发现，黄油是由</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100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种以上各种各样的油脂混合在一起形成的，而可可脂则只由</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3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种油脂构成。</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由此可以推出：</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黄油和可可脂熔化所需的温度不一样，可可脂所需温度更高</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黄油和可可脂熔化所需要的温度不固定，依环境变化而变化</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黄油经常用于烹饪，因为其油脂熔化方式对人体健康更有好处</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黄油中的各种油脂性质差异较大，而可可脂中的不同油脂熔点相近</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89</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4661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人参的生长与地理环境关系密切。一种观点认为，人参在针叶林里分布很少，而在阔叶林里分布更多、长得更好，这是因为针叶林的土壤成分相对单一，且能够透下更多光线，这对于属于半阴性植物的人参生长不利，而阔叶林的遮阳效果更好。并且，阔叶林地表的厚厚落叶，可以在冬季给人参提供保暖，有利于其存活。</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以下哪项如果为真，最能削弱上述观点？</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人参在蒙古栎下长不好，是因为蒙古栎的落叶太厚，参苗长不出来</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茫茫山区，不同类型的林地，多多少少存在不利于人参生长的因素</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山坡的坡度太平，容易积水，导致人参烂根；坡度太陡，则人参吸收不到足够水分</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人参在糠椴、紫椴树下生长较好，这两种树的叶子密，遮阴挡雨，风一吹动，又洒光</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90</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3118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某研究机构提取了</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1200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多名女性研究对象最靠近头皮的</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3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厘米头发，这代表过去</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3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个月新长出的头发。研究人员随后对这些女性进行了一项包含</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10 </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个问题的调查，以了解她们的压力程度。结果表明，压力水平排在前五名的女性头发中含有的皮质醇水平比排在后五名的女性高出</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24.3%</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。研究发现，压力水平会反映在头发中储存的皮质醇的含量上。</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以下哪项如果为真，最能削弱上述论证？</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长期的压力会对身体产生负面影响，头发则可以显示出人们的压力水平</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皮质醇被称为</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压力荷尔蒙</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，在身体处于</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战斗或逃避</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模式时释放</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压力通过释放荷尔蒙改变头发色素沉着，使其变灰或变白，甚至导致脱落</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皮质醇是大自然在人体的内置警报系统，但压力不是它产生的唯一原因</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91</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07746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某次体操比赛之前，有甲、乙、丙、丁四人预测红队、黄队、绿队、蓝队的出场顺序，四人的预测如下：</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甲说：只有黄队第二个出场，红队才第一个出场。</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乙说：如果红队第三个出场，那么蓝队第四个出场。</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丙说：蓝队不是第四个出场。</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丁说：黄队第二个出场。</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比赛结束后，发现四人中只有一人预测为真，那么绿队是第几个出场？</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第一个</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第二个</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第三个</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			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第四个</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92</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31180"/>
          </a:xfrm>
          <a:prstGeom prst="rect">
            <a:avLst/>
          </a:prstGeom>
          <a:noFill/>
        </p:spPr>
        <p:txBody>
          <a:bodyPr wrap="square" rtlCol="0" anchor="t">
            <a:spAutoFit/>
          </a:bodyPr>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牛蛙这一水产品种在过去无人问津，现今却成为人们餐桌上的美食。打工族在夜晚加班后，吃上一盘</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泡椒牛蛙</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或</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干锅牛蛙</a:t>
            </a: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顿时神清气爽，干劲十足。但随着牛蛙美食的普及，食品安全问题引发了社会关注。有报道称：牛蛙体内含有幼虫裂头蚴、广州管圆线虫等能够在人体寄生的寄生虫，食入带有这些寄生虫的牛蛙，会严重影响人体健康。</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以下哪项如果为真，最能削弱上述结论？</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经过高温烹饪，牛蛙身上的寄生虫会被全部杀死</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淡水虾蟹中含有肺吸虫，人感染肺吸虫会咳血、呼吸因难</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实验室对生态养殖的牛蛙进行解剖，未发现任何裂头蚴寄生虫</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4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400" dirty="0">
                <a:latin typeface="楷体" panose="02010609060101010101" charset="-122"/>
                <a:ea typeface="楷体" panose="02010609060101010101" charset="-122"/>
                <a:cs typeface="楷体" panose="02010609060101010101" charset="-122"/>
                <a:sym typeface="楷体" panose="02010609060101010101" charset="-122"/>
              </a:rPr>
              <a:t>牛蛙身上还存在只能在牛蛙本体内寄生而不会传染给人类的寄生虫</a:t>
            </a:r>
            <a:endParaRPr lang="zh-CN" altLang="en-US" sz="24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93</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77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心脏是被神经系统控制的，调控心脏的神经是交感神经和迷走神经。安静状态下，迷走神经对心脏的调控比较强，心跳每分钟</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75 </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次左右；运动或情绪激动的时候，交感神经对心脏的调控比较强，心跳会加快，收缩力也会加强。在血管壁、胃肠道、生殖系统等处都分布着各种内脏平滑肌，平滑肌运动同样受到神经支配。比如，胃肠道平滑肌接受交感神经和迷走神经的双重支配。交感神经兴奋使胃肠道运动减弱，而迷走神经兴奋则使胃肠道运动加强。</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由此可以推出：</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交感神经或迷走神经对心脏和胃肠的调控不同则产生不同的效应</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调控内脏器官的神经是交感神经和迷走神经，它们不受意识支配</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要保护我们的内脏器官，必须合理地使用大脑，维持良好的情绪</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冠心病、胃溃疡之类的疾病也与神经系统的</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功能失常</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有关系</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94</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677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北极放大效应是指冰雪和气温之间容易形成正反馈，即气温升高则冰雪消融增多，没有冰雪覆盖的裸地能吸收更多的太阳辐射，加热大气，进一步加剧冰雪消融。观测显示，位于北极格陵兰岛的大多数冰川都呈现出消退趋势，这是世界上流失速度最快的冰川之一。因此，格陵兰岛的冰川消融受到放大效应影响。</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要得到上述结论，需要补充的前提是：</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近</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30 </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年，格陵兰岛冰川融化已导致全球海平面上升了</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11 </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毫米，如果全部融化，全球海平面预计会上升</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7 </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米</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格陵兰岛冰川消退会导致大大小小冰川入海，形成冰山，进而导致海啸，摧毁近岸上因纽特人的家园</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格陵兰岛的冰川融化后显现出大量陆地，陆地比海洋吸收热量更快</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同样是极地，南极地区的冰川消退并不明显</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8400" y="208350"/>
            <a:ext cx="10969200" cy="705600"/>
          </a:xfrm>
        </p:spPr>
        <p:txBody>
          <a:bodyPr/>
          <a:lstStyle/>
          <a:p>
            <a:pPr algn="l">
              <a:buClrTx/>
              <a:buSzTx/>
              <a:buFontTx/>
            </a:pPr>
            <a:r>
              <a:rPr kumimoji="1" lang="zh-CN" sz="3735" b="1" dirty="0">
                <a:solidFill>
                  <a:srgbClr val="FF653F"/>
                </a:solidFill>
                <a:latin typeface="+mj-lt"/>
                <a:ea typeface="+mj-lt"/>
                <a:cs typeface="+mj-lt"/>
              </a:rPr>
              <a:t>题</a:t>
            </a:r>
            <a:r>
              <a:rPr kumimoji="1" lang="en-US" altLang="zh-CN" sz="3735" b="1" dirty="0">
                <a:solidFill>
                  <a:srgbClr val="FF653F"/>
                </a:solidFill>
                <a:latin typeface="+mj-lt"/>
                <a:ea typeface="+mj-lt"/>
                <a:cs typeface="+mj-lt"/>
              </a:rPr>
              <a:t>95</a:t>
            </a:r>
            <a:endParaRPr kumimoji="1" lang="en-US" altLang="zh-CN" sz="3735" b="1" dirty="0">
              <a:solidFill>
                <a:srgbClr val="FF653F"/>
              </a:solidFill>
              <a:latin typeface="+mj-lt"/>
              <a:ea typeface="+mj-lt"/>
              <a:cs typeface="+mj-lt"/>
            </a:endParaRPr>
          </a:p>
        </p:txBody>
      </p:sp>
      <p:sp>
        <p:nvSpPr>
          <p:cNvPr id="4" name="文本框 3"/>
          <p:cNvSpPr txBox="1"/>
          <p:nvPr/>
        </p:nvSpPr>
        <p:spPr>
          <a:xfrm>
            <a:off x="608330" y="756285"/>
            <a:ext cx="10968355" cy="5169535"/>
          </a:xfrm>
          <a:prstGeom prst="rect">
            <a:avLst/>
          </a:prstGeom>
          <a:noFill/>
        </p:spPr>
        <p:txBody>
          <a:bodyPr wrap="square" rtlCol="0" anchor="t">
            <a:spAutoFit/>
          </a:bodyPr>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由于剖宫产分娩是无菌分娩，分娩时胎儿不会接触到妈妈产道中的有益菌群，使得剖宫产宝宝的肠道菌群定植迟缓，影响免疫系统的发育，过敏风险也随之升高。要降低剖宫产宝宝的过敏风险，家长们需要把好饮食关。专家指出，母乳喂养可降低剖宫产宝宝过敏风险。母乳中含有双歧杆菌等益生菌，可帮助宝宝建立健康肠道菌群，训练免疫系统，降低过敏风险。</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以下哪项如果为真，最能支持上述观点？</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剖宫产宝宝肠道健康菌群的建立，比自然分娩宝宝晚约</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 6 </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个月</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B.</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研究显示，母乳喂养期间母亲进食易过敏食物，会增加宝宝过敏风险</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C.</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母乳致敏性低，是因为宝宝的免疫系统能将其中的蛋白质识别为</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自己的</a:t>
            </a: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a:t>
            </a:r>
            <a:endParaRPr lang="en-US" altLang="zh-CN" sz="2200" dirty="0">
              <a:latin typeface="楷体" panose="02010609060101010101" charset="-122"/>
              <a:ea typeface="楷体" panose="02010609060101010101" charset="-122"/>
              <a:cs typeface="楷体" panose="02010609060101010101" charset="-122"/>
              <a:sym typeface="楷体" panose="02010609060101010101" charset="-122"/>
            </a:endParaRPr>
          </a:p>
          <a:p>
            <a:pPr indent="0" algn="l" fontAlgn="auto">
              <a:lnSpc>
                <a:spcPct val="150000"/>
              </a:lnSpc>
            </a:pPr>
            <a:r>
              <a:rPr lang="en-US" altLang="zh-CN" sz="2200" dirty="0">
                <a:latin typeface="楷体" panose="02010609060101010101" charset="-122"/>
                <a:ea typeface="楷体" panose="02010609060101010101" charset="-122"/>
                <a:cs typeface="楷体" panose="02010609060101010101" charset="-122"/>
                <a:sym typeface="楷体" panose="02010609060101010101" charset="-122"/>
              </a:rPr>
              <a:t>D.</a:t>
            </a:r>
            <a:r>
              <a:rPr lang="zh-CN" altLang="en-US" sz="2200" dirty="0">
                <a:latin typeface="楷体" panose="02010609060101010101" charset="-122"/>
                <a:ea typeface="楷体" panose="02010609060101010101" charset="-122"/>
                <a:cs typeface="楷体" panose="02010609060101010101" charset="-122"/>
                <a:sym typeface="楷体" panose="02010609060101010101" charset="-122"/>
              </a:rPr>
              <a:t>把高致敏性的普通牛奶蛋白变成低致敏性的小分子蛋白质，可以降低宝宝过敏的风险</a:t>
            </a:r>
            <a:endParaRPr lang="zh-CN" altLang="en-US" sz="2200" dirty="0">
              <a:latin typeface="楷体" panose="02010609060101010101" charset="-122"/>
              <a:ea typeface="楷体" panose="02010609060101010101" charset="-122"/>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lstStyle/>
          <a:p>
            <a:r>
              <a:rPr kumimoji="1" lang="zh-CN" altLang="en-US" sz="4400" b="1" dirty="0">
                <a:solidFill>
                  <a:srgbClr val="DC5037"/>
                </a:solidFill>
                <a:latin typeface="楷体" panose="02010609060101010101" charset="-122"/>
                <a:ea typeface="楷体" panose="02010609060101010101" charset="-122"/>
                <a:cs typeface="楷体" panose="02010609060101010101" charset="-122"/>
              </a:rPr>
              <a:t>感谢收看！</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自定义设计方案">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楷体"/>
        <a:ea typeface="楷体"/>
        <a:cs typeface=""/>
      </a:majorFont>
      <a:minorFont>
        <a:latin typeface="楷体"/>
        <a:ea typeface="楷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6392</Words>
  <Application>WPS 演示</Application>
  <PresentationFormat>宽屏</PresentationFormat>
  <Paragraphs>307</Paragraphs>
  <Slides>37</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37</vt:i4>
      </vt:variant>
    </vt:vector>
  </HeadingPairs>
  <TitlesOfParts>
    <vt:vector size="45" baseType="lpstr">
      <vt:lpstr>Arial</vt:lpstr>
      <vt:lpstr>宋体</vt:lpstr>
      <vt:lpstr>Wingdings</vt:lpstr>
      <vt:lpstr>楷体</vt:lpstr>
      <vt:lpstr>Wingdings</vt:lpstr>
      <vt:lpstr>微软雅黑</vt:lpstr>
      <vt:lpstr>Arial Unicode MS</vt:lpstr>
      <vt:lpstr>自定义设计方案</vt:lpstr>
      <vt:lpstr>PowerPoint 演示文稿</vt:lpstr>
      <vt:lpstr>题61</vt:lpstr>
      <vt:lpstr>题62</vt:lpstr>
      <vt:lpstr>题63</vt:lpstr>
      <vt:lpstr>题64</vt:lpstr>
      <vt:lpstr>题65</vt:lpstr>
      <vt:lpstr>题66</vt:lpstr>
      <vt:lpstr>题67</vt:lpstr>
      <vt:lpstr>题68</vt:lpstr>
      <vt:lpstr>题69</vt:lpstr>
      <vt:lpstr>题70</vt:lpstr>
      <vt:lpstr>题71</vt:lpstr>
      <vt:lpstr>题72</vt:lpstr>
      <vt:lpstr>题73</vt:lpstr>
      <vt:lpstr>题74</vt:lpstr>
      <vt:lpstr>题75</vt:lpstr>
      <vt:lpstr>题76</vt:lpstr>
      <vt:lpstr>题77</vt:lpstr>
      <vt:lpstr>题78</vt:lpstr>
      <vt:lpstr>题79</vt:lpstr>
      <vt:lpstr>题80</vt:lpstr>
      <vt:lpstr>题81</vt:lpstr>
      <vt:lpstr>题82</vt:lpstr>
      <vt:lpstr>题83</vt:lpstr>
      <vt:lpstr>题84</vt:lpstr>
      <vt:lpstr>题85</vt:lpstr>
      <vt:lpstr>题86</vt:lpstr>
      <vt:lpstr>题87</vt:lpstr>
      <vt:lpstr>题88</vt:lpstr>
      <vt:lpstr>题89</vt:lpstr>
      <vt:lpstr>题90</vt:lpstr>
      <vt:lpstr>题91</vt:lpstr>
      <vt:lpstr>题92</vt:lpstr>
      <vt:lpstr>题93</vt:lpstr>
      <vt:lpstr>题94</vt:lpstr>
      <vt:lpstr>题95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232</cp:revision>
  <dcterms:created xsi:type="dcterms:W3CDTF">2019-06-19T02:08:00Z</dcterms:created>
  <dcterms:modified xsi:type="dcterms:W3CDTF">2026-01-05T05:42:55Z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7E0F0589F6D94CFE8A4BC2AEA01394FF_11</vt:lpwstr>
  </property>
</Properties>
</file>