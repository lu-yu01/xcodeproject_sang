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85" r:id="rId19"/>
    <p:sldId id="1374" r:id="rId20"/>
    <p:sldId id="1375" r:id="rId21"/>
    <p:sldId id="1376" r:id="rId22"/>
    <p:sldId id="1377" r:id="rId23"/>
    <p:sldId id="1378" r:id="rId24"/>
    <p:sldId id="1379" r:id="rId25"/>
    <p:sldId id="992" r:id="rId26"/>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1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1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3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中的俯视图，即从四棱锥的正上方向下观察得到的视图。已知四棱锥中有一条棱垂直于底面，其余三条棱与这条棱相交，因此从俯视角度观察，其余三条棱中应有两条棱与底面矩形边重合，另外一条棱为底面矩形的斜对角线，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【解析】元素组成相似，优先考虑样式规律。观察第一组图形发现，图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，第二组图形应用此规律，故？处图形应为图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【解析】元素组成相似，且相同部分重复出现，优先考虑样式规律中的加减同异。第一组图中，图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逆时针旋转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相加得到图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；第二组图也应满足此规律，图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逆时针旋转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相加得到图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【解析】元素组成相同，优先考虑位置规律。题干图形均出现了十六宫格，考虑内外分开看。如下图所示，内圈的黑块</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每次逆时针平移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格，外圈的黑块</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每次顺时针平移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格，外圈的黑块</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【解析】本题考查立体拼合。先将图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进行旋转，如下图所示：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再和图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以及</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项可以拼合形成正方体，如下图所示：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，虽具备精密操作能力，但仍不能算是具身智能机器人。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论据：目前具身智能机器人强调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的协同工作，它能精准的完成细节操作，且能合理规划任务。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具备精密操作能力，但不是具身智能机器人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具身智能机器人能精准的完成细节操作，且能合理规划任务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项：选项说的是只有具备规划任务能力的机器人才是具身智能机器人，说明具身智能机器人能规划任务，补充论据，可以加强，但不是论证成立的前提，排除；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不能做到合理规划任务，在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项：选项说的是具身智能机器人能够感知和作出决策，并未提及外科手术机器人，话题不一致，无法加强，排除；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项：选项说的是具身智能赋予传统机器人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协同工作的能力，补充论据，可以加强，但不是论证成立的前提，排除。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具身智能机器人→大脑小脑协同 + 精准细节操作 +合理规划任务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达芬奇机器人→有精密操作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结论：达芬奇不属于具身智能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要推出结论，缺少前提：达芬奇不具备合理规划任务的能力，切断满足全部条件的可能性。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仅规划能力为必要条件，无法直接否定达芬奇属性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补足缺失条件，贴合论证漏洞，当选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核心特征侧重感知决策，和题干判定依据不符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只解释具身智能能力来源，不能推导结论</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【解析】某地共享单车一小时后的收费大幅上涨，但共享单车月均使用人次并未减少。</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项：选项指出与多次换乘公交相比，使用共享单车的花费更低，但有可能还有其他比共享单车更便宜的交通工具，不能解释为什么共享单车收费大幅上涨后，月均使用人次并未减少，不能解释题干矛盾，排除；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项：选项指出随着生活水平的提高，人们的消费意愿逐步增强，但不明确人们能否接受共享单车收费大幅上涨，不能解释为什么共享单车收费大幅上涨后，月均使用人次并未减少，不能解释题干矛盾，排除；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单次使用共享单车时长超过一小时的当地市民微乎其微，说明共享单车一小时后的收费大幅上涨并不会对使用者产生影响，可以解释为什么共享单车一小时后的收费大幅上涨，但月均使用人次并未减少，能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项：选项指出当地仅有一家共享单车运营商，市场缺乏竞争，但除了共享单车外，人们还可以选择其他交通工具，不能解释为什么共享单车收费大幅上涨后，月均使用人次并未减少，不能解释题干矛盾，排除。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题干核心矛盾：超过 1 小时后的费用涨了 100%，但月均使用人次没降。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原价：第 1 小时 1.5 元，超过后每半小时 1 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新价：第 1 小时 1.5 元，超过后每半小时 2 元（仅超时部分涨价）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要解释 “涨价但人次不减”，关键在：大多数人根本用不到 “超过 1 小时” 的部分—— 涨价对绝大多数用户无影响。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和公交比更便宜 → 只能说明有性价比，不能解释 “涨价后不减”（公交价格没变，不能说明这次涨价为什么没影响）。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消费意愿增强 → 太笼统，不能精准解释 “偏偏这次涨价不受影响”。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单次使用超过 1 小时的人微乎其微 → 正确。绝大多数人只付前 1 小时 1.5 元，涨价部分他们用不到，所以人次不变央视网。</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只有一家运营商、缺乏竞争 → 只能解释 “敢涨价”，不能解释 “涨价后人次不减”。</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）赵、钱、孙是男生；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）李、刘、王、吴是女生；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）刘</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）从</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名在读研究生中，推选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名男生、</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名女生到企业实习。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本题没有确定信息，可根据条件（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）进行假设。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情况一：推选刘或吴，结合条件（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）可得推选孙；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情况二：不推选刘也不推选吴，结合条件（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）可得一定推选李和王。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项说法正确。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人员划分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男生（共 3 人）：赵、钱、孙；需选2 名男生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女生（共 4 人）：李、刘、王、吴；需选2 名女生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逻辑规则：选刘 或 选吴 → 选孙（刘∨吴 → 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第二步：分情况讨论女生人选（必选 2 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女生共 4 人，选 2 人，只有两种大情况：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 1：女生人选包含刘 或 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根据规则：刘∨吴 → 孙，可推出孙一定被选中。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此时 “孙被选”，则孙、王中至少 1 人被选成立。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 2：女生人选既不选刘，也不选吴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女生只剩：李、王，而女生必须选 2 人，因此只能选李 + 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此时王被选中，则孙、王中至少 1 人被选依然成立。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赵、李至少 1 人。反例：男生选钱、孙；女生选刘、吴。赵、李都没选，排除。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孙、王至少 1 人。两种情况均成立，正确。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钱、王至少 1 人。反例：男生选赵、孙；女生选刘、吴。钱、王都没选，排除。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孙、刘至少 1 人。反例：男生选赵、钱；女生选李、王。孙、刘都没选，排除。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【解析】论点：这种贫血症患者有望通过基因组编辑技术被治愈。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论据：科学家已能够利用基因组编辑技术，治疗因基因突变导致的遗传性疾病。</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，论据讨论的是利用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项：指出这种贫血症的主要表现，但论点讨论的是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这种贫血症患者有望通过基因组编辑技术被治愈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项：指出这种贫血症是一种由基因突变导致的遗传性疾病，即在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项：指出这种贫血症患者的红细胞可由直系亲属的代替，但论点讨论的是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这种贫血症患者有望通过基因组编辑技术被治愈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项：指出血红蛋白基因是导致这种贫血症的相关基因，但并未提及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血红蛋白基因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是否受到基因突变的影响，也未提及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血红蛋白基因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能否被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治愈，为不明确项，不能加强，排除。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论据：基因组编辑技术能治疗基因突变导致的遗传病。</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结论：该贫血症可通过此技术治愈。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论证存在逻辑断层：只说了该病是遗传病、血红蛋白结构异常，但未明确它是否属于基因突变导致的遗传病。要让结论成立，必须补上这一前提。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主要表现” 和能否用基因编辑治疗无关，排除。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直接衔接论据与结论，明确该病是基因突变引发的遗传病，是必要前提，当选。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红细胞替代和基因编辑治疗无关，排除。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仅指出相关基因，未提及是否由基因突变引发，无法搭建论据和结论的联系，排除。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【解析】论点：学校要提升学生的学习成绩，就必须开设体育课。翻译为：提升学习成绩开设体育课。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论据：如果没有强健的体魄，就不会有好的学习状态，如果学习状态不好，学习成绩就不可能提升。翻译为：</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好的学习状态强健的体魄，</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提升学习成绩好的学习状态，串联为：提升学习成绩好的学习状态强健的体魄。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本题需要找出论点成立的前提，优先考虑搭桥，即在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项：该项翻译为：增强体魄开设体育课，论据已经推出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，根据该项可以推出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，为搭桥项，是论点成立的前提，当选；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项：该项翻译为：学生通过体育课增强体魄，论据已经推出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，此时无法根据该项得出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，不是论点成立的前提，排除；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项：该项讨论的是学生是否希望提升自己的成绩，而论点讨论的是学习成绩是否与开设体育课有关，话题不一致，不能加强，排除；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项：该项说的是学生在课余时间会进行体育锻炼，讨论的是进行体育锻炼的时间，而论点讨论的是学习成绩是否与开设体育课有关，话题不一致，不能加强，排除。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Bw</a:t>
            </a:r>
            <a:r>
              <a:rPr lang="" altLang="en-US" sz="1200" kern="1200" dirty="0">
                <a:solidFill>
                  <a:schemeClr val="tx1"/>
                </a:solidFill>
                <a:effectLst/>
                <a:latin typeface="+mn-lt"/>
                <a:sym typeface="+mn-ea"/>
              </a:rPr>
              <a:t>ǔ </a:t>
            </a:r>
            <a:r>
              <a:rPr lang="en-US" altLang="zh-CN" sz="1200" kern="1200" dirty="0">
                <a:solidFill>
                  <a:schemeClr val="tx1"/>
                </a:solidFill>
                <a:effectLst/>
                <a:latin typeface="+mn-lt"/>
                <a:sym typeface="+mn-ea"/>
              </a:rPr>
              <a:t>diàn d</a:t>
            </a:r>
            <a:r>
              <a:rPr lang="" altLang="en-US" sz="1200" kern="1200" dirty="0">
                <a:solidFill>
                  <a:schemeClr val="tx1"/>
                </a:solidFill>
                <a:effectLst/>
                <a:latin typeface="+mn-lt"/>
                <a:sym typeface="+mn-ea"/>
              </a:rPr>
              <a:t>ǐ</a:t>
            </a:r>
            <a:r>
              <a:rPr lang="en-US" altLang="zh-CN" sz="1200" kern="1200" dirty="0">
                <a:solidFill>
                  <a:schemeClr val="tx1"/>
                </a:solidFill>
                <a:effectLst/>
                <a:latin typeface="+mn-lt"/>
                <a:sym typeface="+mn-ea"/>
              </a:rPr>
              <a:t>ng</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【解析】题干翻译为：庑殿顶</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一条正脊和四条垂脊，许多皇宫大殿庑殿顶，因此，许多皇宫大殿</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一条正脊，即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项：翻译为：现代主义建筑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没有复杂的装饰，西班牙许多建筑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装饰繁复，因此，西班牙许多建筑</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现代主义建筑，即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项：翻译为：哥特式建筑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尖形拱门，多数欧洲中世纪建筑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哥特式建筑，因此，多数欧洲中世纪建筑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尖形拱门，即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，与题干推理形式一致，当选；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项：翻译为：多数古罗马时期的建筑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有穹顶，多数古罗马时期的建筑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砖石结构，因此，有的砖石结构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有穹顶，即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，因此有的</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项：翻译为：客家围屋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防御土匪侵扰的炮楼，因此，有客家围屋的地区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防御土匪侵扰，即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【解析】网店为商品提供免费的运费险能够增加销量，但其商品退费率远高于不提供这项服务的网店，从而增加了运营成本。但提供免费运费险的很多网店仍未关闭这一服务。</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项：该项指出提供这一服务的网店比其他网店获得了更高的净利润，所以即使成本增加，但整体上该服务带来的收益大于成本，很多网店也不会关闭这一服务，可以解释题干矛盾，当选；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商品销量和运费成本是衡量网店经营状况的重要指标，但并未说明这两项指标与网店不关闭免费运费险服务之间的联系，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人工、场地等成本不受退货率影响，且占运营成本的比重不低，说明这些成本与免费运费险导致的退费率增加没有直接关系，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项：该项指出提供免费的运费险能够显著提升消费者的信任度，但是消费者的信任度提升未必可以转化成实际的利润，不能解释为什么即使增加运营成本，很多网店仍未关闭这一服务，不能解释题干矛盾，排除。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矛盾点：免费运费险拉高退货率、增加运营成本，但网店依旧保留该服务。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需要解释成本上升却仍不关闭的原因。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提供运费险的网店净利润更高。虽然退货推高了成本，但销量增长带来的收益远超额外成本，整体盈利更好，完美解释为何坚持保留，当选。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仅说明两项指标重要，没解释明知成本增加还要保留服务，无法化解矛盾。</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其他成本占比高、不受退货影响，不能说明为何愿意承担运费险带来的额外成本。</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提升信任度，但未体现信任度能否转化为收益、抵消额外成本，解释力度弱于 </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【解析】古丝绸之路之所以举世闻名（</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），靠的不仅是经济互利（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），更是丰富物产和多元文化交流（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），所以，只有经济互利（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），不可能重现古丝绸之路的辉煌（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题干论证结构为：经济互利（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）和物产、文化交流（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）两个原因共同影响了古丝绸之路举世闻名（</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）这一个结果，所以，只有经济互利（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），没有物产、文化交流（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）无法重现古丝绸之路的辉煌（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项：创新能力（</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）能够影响高水平科技自立自强的实现（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），所以，创新能力（</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）成为人才培养（</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）的核心，与题干推理逻辑不同，排除；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项：及时收割（</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）和晒干入库（</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）都能影响粮食丰收（</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），所以，天气连续晴好（</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）有助于实现粮食丰收（</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），与题干推理逻辑不同，排除；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项：完整的设施设备（</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）和高水平的教师队伍（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）都能影响高水平大学的建设（</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），因此，仅靠完善设施设备（</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），没有高水平的教师队伍（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）并不能成为高水平大学（</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），与题干推理逻辑最为相似，当选；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项：合适的运动场所（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）能够影响体育活动的开展（</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），因此，如果城市缺少合适的运动场所（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），居民就难以积极参加体育活动（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），与题干推理逻辑不同，排除。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）甲和第三名是好友且名次比该好友高；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）丁和甲不是好友但和第一名是好友；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）乙的名次比丙高。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）均提到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，可优先从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入手进行推理。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）可知，甲要么是第一名要么是第二名，结合条件（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）可知，甲不是第一名、丁不是第一名也不是第三名，则甲是第二名，丁是第四名，因此乙和丙只能是第一名和第三名，再结合条件（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）可知乙是第一名，丙是第三名。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综上所述，乙是第一名，甲是第二名，丙是第三名，丁是第四名，</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三项判断正确，</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项判断错误。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【解析】论点：在教学过程中学生应随时提问，以提升知识掌握效果。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论据：第一个班级学生的课堂专注度明显高于第二个班级。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论据讨论的是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随时提问的班级课堂专注度更高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随时提问能提升知识掌握效果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，论点论据话题不一致，优先考虑搭桥，即建立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课堂专注度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项：该项指出随时提问能活跃课堂气氛，而论点讨论的是知识掌握效果，话题不一致，无法加强，排除；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项：该项指出课堂专注度是影响知识掌握效果的重要因素，建立了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课堂专注度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项：该项指出两个班级实验前学习成绩相当，但论据讨论的是课堂专注度，话题不一致，无法加强，排除；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项：该项指出随时提问能增强自我认同感和自信，但自我认同感与知识掌握效果的关系不清楚，无法加强，排除。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论据：鼓励随时提问的班级，课堂专注度更高。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结论：鼓励随时提问，能提升知识掌握效果。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题干存在逻辑缺口：专注度和知识掌握效果之间没有建立联系。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活跃课堂气氛，和知识掌握无关，排除。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指出课堂专注度是影响知识掌握的重要因素，直接搭桥，强化论证，力度最强。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班级初始成绩相当，是保证实验有效的前提，仅能加强实验可靠性，无法衔接 “专注度→掌握效果”，支持力度弱于 </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增强认同感、自信，和知识掌握效果无关，排除。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【解析】论点：如果近期鸭鹅养殖规模保持平稳，则高端羽毛球的出厂价格将不会明显上涨。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作为高端羽毛球的必备原料，羽毛切片是鸭鹅养殖的副产品，其供应量上要取决于养殖规模，如果养殖规模有所下降，羽毛切片价格将会一路走高，进而导致高端羽毛球生产成本高企、厂家将因此被迫提高出厂价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本题论点和论据都说的是鸭鹅养殖规模会影响高端羽毛球的出厂价格，二者话题一致，要指出论证缺陷只要指出仅通过鸭鹅养殖规模无法决定高端羽毛球的出厂价格即可。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项：该项指出忽视了其他因素对高端羽毛球出厂价格的影响，提出会影响高端羽毛球出厂价格的其他因素，说明仅通过鸭鹅养殖规模无法决定高端羽毛球的出厂价格，可以指出论证缺陷，当选；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项：该项指出忽视了影响鸭鹅养殖规模的其他因素，而题干论点讨论的是高端羽毛球出厂价格的影响因素，话题不一致，无法指出论证缺陷，排除；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项：该项指出默认了高端羽毛球生产所需的羽毛切片没有替代品，是对题干第一句话的重复，无法指出论证缺陷，排除；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项：该项指出默认了鸭鹅养殖规模严重影响高端羽毛球的生产，而题干论点讨论的是高端羽毛球的出厂价格，话题不一致，无法指出论证缺陷，排除。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前提：养殖规模下降→羽毛切片涨价→高端羽毛球成本上升→出厂价上涨。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结论：养殖规模平稳→出厂价不会明显上涨。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逻辑漏洞：论证只把鸭鹅养殖规模当作影响价格的唯一因素，忽略了其他成本 / 因素也可能推高出厂价（比如人工、物流、其他原材料、市场供需等），即便养殖规模平稳，价格依旧可能上涨。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指出忽视其他影响价格的因素，直击逻辑错误，当选。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题干不讨论 “影响养殖规模的因素”，话题无关，排除。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题干未提及替代品，并非论证漏洞，排除。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文段本身就明确养殖规模会影响生产 / 价格，这是题干给出的前提，不是错误，排除。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【解析】题干理解为：公共场所都满足吸烟违法，翻译为：公共场所吸烟违法，因此，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吸烟违法</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公共场所，逻辑结构为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否后推否前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项：选项中未体现逻辑关联词，主要原因为因果关联词，不能翻译，若理解为：长时间室内活动都会导致近视，翻译为：长时间室内活动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近视，因此，近视</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长时间室内活动，逻辑结构为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项：选项理解为：在学徒时期追求精益求精才能成为优秀的工匠，翻译为：优秀的工匠</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学徒时期追求精益求精，因此，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学徒时期追求精益求精</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优秀的工匠，逻辑结构为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否后推否前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项：选项翻译为：超过</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层的楼房</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配建电梯，因此，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超过</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层的楼房</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配建电梯，逻辑结构为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项：选项翻译为：有纳米涂层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阻止液体渗入，因此，阻止液体渗入</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有纳米涂层，逻辑结构为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【解析】论点：其产品（某厂家生产的果蔬清洗机）除菌去残留效果更好。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论据：某厂家用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除菌去残留，效果看得见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这一广告语，宣传其生产的果蔬清洗机，并展示该产品与其他果蔬清洗机清洗同一种水果的视频，视频显示，该清洗机清洗产生的泡沫最多，该厂家宣称泡沫是被清洗机清洗出来的有害残留。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本题论据讨论的是该厂家的果蔬清洗机产生的泡沫最多，而泡沫是清洗出的有害残留，论点说的是该产品除菌去残留效果更好，二者话题一致，削弱优先考虑削弱论点。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项：该项指出用果蔬清洗机清洗食材，不管清洗多少遍，都会出现泡沫，说明泡沫不一定能反映食材的有害残留情况，可以削弱，保留；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项：该项指出市面上绝大部分果蔬的农药残留均未超标，有害物质极少，而论点说的是因为泡沫是清洗出的有害残留，所以该产品除菌去残留效果更好，话题不一致，无法削弱，排除；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项：该项指出用普通烹饪方式加工肉类食材，也会有泡沫，而论点说的是因为泡沫是清洗出的有害残留，所以该产品除菌去残留效果更好，话题不一致，无法削弱，排除；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项：该项指出专业化学检测是检验除菌去残留效果的唯一有效手段，说明清洗时有泡沫不能证明产品的除菌去残留效果更好，可以削弱，保留。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唯一有效手段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，表述更绝对更明确，削弱力度更强。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 </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“无论洗多少遍都会有泡沫”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这句话只能说明泡沫会一直存在，但无法证明泡沫≠有害残留。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有可能残留一直存在，所以泡沫一直有，无法切断二者联系，反驳力度极弱。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 </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果蔬有害物质少。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就算残留少，也不代表泡沫不是残留，和 “泡沫能否代表效果” 无关，无关项。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 </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肉类烹饪产生泡沫。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场景是烹饪肉类，题干是机器清洗果蔬，话题完全不一致，无关项。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 </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专业化学检测是检验除菌去残留效果的唯一有效手段。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关键点：唯一有效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意思就是：泡沫多少这种肉眼观察的方式，根本不能用来判断效果。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直接否定了厂家评判标准的有效性，从根上推翻整个推论：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你用来证明 “效果好” 的依据（看泡沫），本身就不算有效依据，因此厂家的宣传推论不成立。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这是釜底抽薪式反驳，力度最强。</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欢乐世界或动物园至少会去一个；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艺术中心，欢乐世界和人民公园至少会去一个；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动物园，人民公园和博物馆至少会去两个；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去动物园不去艺术中心。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题干没有确定信息，且涉及多种情况，故考虑假设法。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题干中动物园出现次数最多，优先考虑假设去不去动物园。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关于是否去动物园有两种情况：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第一种情况：假设去动物园，根据条件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可知，不去艺术中心，再根据条件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可知，欢乐世界和人民公园至少会去一个，再根据条件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可知，人民公园和博物馆中至少去一个，此时不确定欢乐世界是否去；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第二种情况：假设不去动物园，根据条件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可知，一定去欢乐世界，再根据条件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可知，人民公园和博物馆都要去，此时不确定艺术中心是否去。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综合上述两种情况，可以推出人民公园和欢乐世界至少会去一个成立，对应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情况一：去动物园（动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 4：动→¬ 艺，得 艺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 3：动、公、博至少去 2 个，已知动已去，因此：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公、博 至少再去 1 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情况二：不去动物园（动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 1：欢∨动，动不去 → 欢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 3：动、公、博至少去 2 个，动不去，因此公、博必须都去。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逐一验证选项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一定会去博物馆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情况一举例：动√、公√，博 ×。满足所有条件，但没去博物馆。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 A </a:t>
            </a:r>
            <a:r>
              <a:rPr lang="zh-CN" altLang="en-US" sz="1200" kern="1200" dirty="0">
                <a:solidFill>
                  <a:schemeClr val="tx1"/>
                </a:solidFill>
                <a:effectLst/>
                <a:latin typeface="+mn-lt"/>
                <a:sym typeface="+mn-ea"/>
              </a:rPr>
              <a:t>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动物园、艺术中心至少去一个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构造反例：动 ×、艺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此时动 ×，由条件 1 得 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动 ×，由条件 3 得 公√、博√；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景点：欢√、公√、博√，艺 ×、动 ×，全部条件都满足。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此例中动、艺都没去 → </a:t>
            </a:r>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人民公园、欢乐世界至少会去一个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用反证法：假设 公 × 且 欢 ×，看是否矛盾。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欢 ×，结合条件 1（欢∨动）→ 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动√，结合条件 4 → 艺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公 ×、动√，结合条件 3（动、公、博至少 2 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已有动√、公 ×，则必须 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现在：欢 ×、公 ×、动√、艺 ×、博√。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重点看条件 2：艺∨欢∨公，现在艺 ×、欢 ×、公 ×，三者全否，违反条件 2。</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说明「公 × 且欢 ×」不可能成立，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即：公∨欢 必然成立（人民公园、欢乐世界至少去一个）。</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 C </a:t>
            </a:r>
            <a:r>
              <a:rPr lang="zh-CN" altLang="en-US" sz="1200" kern="1200" dirty="0">
                <a:solidFill>
                  <a:schemeClr val="tx1"/>
                </a:solidFill>
                <a:effectLst/>
                <a:latin typeface="+mn-lt"/>
                <a:sym typeface="+mn-ea"/>
              </a:rPr>
              <a:t>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至少会去 3 个景点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构造反例：动√、公√，其余全 ×。</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检查条件：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①欢∨动 ✔️（动去了）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②艺∨欢∨公 ✔️（公去了）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③动、公、博至少 2 个 ✔️（动、公都去）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④动→¬ 艺 ✔️（艺没去）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此例只去了2 个景点，不满足 “至少 3 个” → </a:t>
            </a:r>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错误。</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【解析】论点：游客为寻求刺激的漂流体验，可以选择不穿救生衣。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论据：景区已经购买了意外保险，游客出现意外伤亡由保险公司赔付。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本题论点说的是游客为寻求刺激的漂流体验，可以选择不穿救生衣，论据说的是景区已经购买了意外保险，游客出现意外伤亡由保险公司赔付，论点论据话题不一致，削弱优先考虑拆桥。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项：选项说的是如果未穿救生衣的游客出现意外伤亡，保险公司将不予赔付，说明虽然景区已经购买了意外保险，但漂流时必须穿救生衣，拆断了论据和论点间的联系，拆桥项，可以削弱，当选；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项：选项说的是该景区为参加蹦极、过山车等项目的游客也购买了意外保险，但论点讨论的是漂流时是否穿救生衣，话题不一致，无法削弱，排除；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项：选项说的是该景区在免费为游客提供了救生衣的同时，还配备了救生员，那漂流时是否还需要穿救生衣不明确，无法削弱，排除；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项：选项说的是保障游客的人身安全是景区经营方的基本职责之一，但游客为寻求刺激的漂流体验是否还需要穿救生衣不明确，无法削弱，排除。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游客观点：景区买了意外险，出事有保险赔，因此可以不穿救生衣。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反驳核心：切断 “有保险赔付” 和 “可以不穿救生衣” 的关联。</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不穿救生衣出险，保险公司拒赔。直接打破游客 “有保险兜底” 的想法，有力反驳，当选。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其他项目也买保险，和是否需要穿救生衣无关，排除。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配备救生员，无法说明必须穿救生衣，反驳力度弱，排除。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景区有安全职责，只是道理层面的表述，没有针对游客 “保险赔付” 的核心论据进行反驳，力度不足，排除。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广东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如图所示，四棱锥的底面为矩形，其中一条棱垂直于底面，那么该四棱锥的俯视图最有可能是（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2" descr="1753340536255"/>
          <p:cNvPicPr>
            <a:picLocks noChangeAspect="1"/>
          </p:cNvPicPr>
          <p:nvPr/>
        </p:nvPicPr>
        <p:blipFill>
          <a:blip r:embed="rId1"/>
          <a:stretch>
            <a:fillRect/>
          </a:stretch>
        </p:blipFill>
        <p:spPr>
          <a:xfrm>
            <a:off x="762635" y="1933575"/>
            <a:ext cx="7705090" cy="39916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4" descr="1753340552237"/>
          <p:cNvPicPr>
            <a:picLocks noChangeAspect="1"/>
          </p:cNvPicPr>
          <p:nvPr/>
        </p:nvPicPr>
        <p:blipFill>
          <a:blip r:embed="rId1"/>
          <a:stretch>
            <a:fillRect/>
          </a:stretch>
        </p:blipFill>
        <p:spPr>
          <a:xfrm>
            <a:off x="591820" y="1490980"/>
            <a:ext cx="8341995" cy="36918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6" name="图片 6" descr="1753340572412"/>
          <p:cNvPicPr>
            <a:picLocks noChangeAspect="1"/>
          </p:cNvPicPr>
          <p:nvPr/>
        </p:nvPicPr>
        <p:blipFill>
          <a:blip r:embed="rId1"/>
          <a:stretch>
            <a:fillRect/>
          </a:stretch>
        </p:blipFill>
        <p:spPr>
          <a:xfrm>
            <a:off x="573405" y="1713865"/>
            <a:ext cx="8727440" cy="38169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从所给的四个选项中，选择最合适的一个填在问号处，使之呈现一定的规律性（</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7" name="图片 7" descr="1753340582884"/>
          <p:cNvPicPr>
            <a:picLocks noChangeAspect="1"/>
          </p:cNvPicPr>
          <p:nvPr/>
        </p:nvPicPr>
        <p:blipFill>
          <a:blip r:embed="rId1"/>
          <a:stretch>
            <a:fillRect/>
          </a:stretch>
        </p:blipFill>
        <p:spPr>
          <a:xfrm>
            <a:off x="735965" y="1767205"/>
            <a:ext cx="7267575" cy="39262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下列选项中，最有可能与所给的两个不规则立体图形形成正方体的是（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8" name="图片 4" descr="IMG_256"/>
          <p:cNvPicPr>
            <a:picLocks noChangeAspect="1"/>
          </p:cNvPicPr>
          <p:nvPr/>
        </p:nvPicPr>
        <p:blipFill>
          <a:blip r:embed="rId1"/>
          <a:stretch>
            <a:fillRect/>
          </a:stretch>
        </p:blipFill>
        <p:spPr>
          <a:xfrm>
            <a:off x="286385" y="1430655"/>
            <a:ext cx="6494780" cy="3624580"/>
          </a:xfrm>
          <a:prstGeom prst="rect">
            <a:avLst/>
          </a:prstGeom>
          <a:noFill/>
          <a:ln w="9525">
            <a:noFill/>
          </a:ln>
        </p:spPr>
      </p:pic>
      <p:pic>
        <p:nvPicPr>
          <p:cNvPr id="21" name="图片 14" descr="IMG_256"/>
          <p:cNvPicPr>
            <a:picLocks noChangeAspect="1"/>
          </p:cNvPicPr>
          <p:nvPr/>
        </p:nvPicPr>
        <p:blipFill>
          <a:blip r:embed="rId2"/>
          <a:stretch>
            <a:fillRect/>
          </a:stretch>
        </p:blipFill>
        <p:spPr>
          <a:xfrm>
            <a:off x="7709535" y="1925955"/>
            <a:ext cx="2859405" cy="1036320"/>
          </a:xfrm>
          <a:prstGeom prst="rect">
            <a:avLst/>
          </a:prstGeom>
          <a:noFill/>
          <a:ln w="9525">
            <a:noFill/>
          </a:ln>
        </p:spPr>
      </p:pic>
      <p:pic>
        <p:nvPicPr>
          <p:cNvPr id="22" name="图片 15" descr="IMG_257"/>
          <p:cNvPicPr>
            <a:picLocks noChangeAspect="1"/>
          </p:cNvPicPr>
          <p:nvPr/>
        </p:nvPicPr>
        <p:blipFill>
          <a:blip r:embed="rId3"/>
          <a:stretch>
            <a:fillRect/>
          </a:stretch>
        </p:blipFill>
        <p:spPr>
          <a:xfrm>
            <a:off x="7208520" y="3633470"/>
            <a:ext cx="4672965" cy="163131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1119822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具身智能是能感知决策并与物理世界互动的人工智能系统，目前具身智能机器人强调</a:t>
            </a:r>
            <a:r>
              <a:rPr lang="en-US" altLang="zh-CN" sz="2000" dirty="0">
                <a:cs typeface="微软雅黑" panose="020B0503020204020204" charset="-122"/>
                <a:sym typeface="+mn-ea"/>
              </a:rPr>
              <a:t>“</a:t>
            </a:r>
            <a:r>
              <a:rPr lang="zh-CN" altLang="en-US" sz="2000" dirty="0">
                <a:cs typeface="微软雅黑" panose="020B0503020204020204" charset="-122"/>
                <a:sym typeface="+mn-ea"/>
              </a:rPr>
              <a:t>大脑</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小脑</a:t>
            </a:r>
            <a:r>
              <a:rPr lang="en-US" altLang="zh-CN" sz="2000" dirty="0">
                <a:cs typeface="微软雅黑" panose="020B0503020204020204" charset="-122"/>
                <a:sym typeface="+mn-ea"/>
              </a:rPr>
              <a:t>”</a:t>
            </a:r>
            <a:r>
              <a:rPr lang="zh-CN" altLang="en-US" sz="2000" dirty="0">
                <a:cs typeface="微软雅黑" panose="020B0503020204020204" charset="-122"/>
                <a:sym typeface="+mn-ea"/>
              </a:rPr>
              <a:t>的协同工作，它能精准的完成细节操作，且能合理规划任务。因此，外科手术机器人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达芬奇</a:t>
            </a:r>
            <a:r>
              <a:rPr lang="en-US" altLang="zh-CN" sz="2000" dirty="0">
                <a:cs typeface="微软雅黑" panose="020B0503020204020204" charset="-122"/>
                <a:sym typeface="+mn-ea"/>
              </a:rPr>
              <a:t>”</a:t>
            </a:r>
            <a:r>
              <a:rPr lang="zh-CN" altLang="en-US" sz="2000" dirty="0">
                <a:cs typeface="微软雅黑" panose="020B0503020204020204" charset="-122"/>
                <a:sym typeface="+mn-ea"/>
              </a:rPr>
              <a:t>，虽具备精密操作能力，但仍不能算是具身智能机器人。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要使上述结论成立，需要补充的前提是（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只有具备规划任务能力的机器人才是具身智能机器人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外科手术机器人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达芬奇</a:t>
            </a:r>
            <a:r>
              <a:rPr lang="en-US" altLang="zh-CN" sz="2000" dirty="0">
                <a:cs typeface="微软雅黑" panose="020B0503020204020204" charset="-122"/>
                <a:sym typeface="+mn-ea"/>
              </a:rPr>
              <a:t>”</a:t>
            </a:r>
            <a:r>
              <a:rPr lang="zh-CN" altLang="en-US" sz="2000" dirty="0">
                <a:cs typeface="微软雅黑" panose="020B0503020204020204" charset="-122"/>
                <a:sym typeface="+mn-ea"/>
              </a:rPr>
              <a:t>不能做到合理规划任务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具身智能机器人的核心特征体现在能够感知并作出决策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具身智能赋予传统机器人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大脑</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小脑</a:t>
            </a:r>
            <a:r>
              <a:rPr lang="en-US" altLang="zh-CN" sz="2000" dirty="0">
                <a:cs typeface="微软雅黑" panose="020B0503020204020204" charset="-122"/>
                <a:sym typeface="+mn-ea"/>
              </a:rPr>
              <a:t>”</a:t>
            </a:r>
            <a:r>
              <a:rPr lang="zh-CN" altLang="en-US" sz="2000" dirty="0">
                <a:cs typeface="微软雅黑" panose="020B0503020204020204" charset="-122"/>
                <a:sym typeface="+mn-ea"/>
              </a:rPr>
              <a:t>协同工作的能力</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1121156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某地共享单车采用阶段收费模式，第一小时收费</a:t>
            </a:r>
            <a:r>
              <a:rPr lang="en-US" altLang="zh-CN" sz="2000" dirty="0">
                <a:cs typeface="微软雅黑" panose="020B0503020204020204" charset="-122"/>
                <a:sym typeface="+mn-ea"/>
              </a:rPr>
              <a:t>1.5</a:t>
            </a:r>
            <a:r>
              <a:rPr lang="zh-CN" altLang="en-US" sz="2000" dirty="0">
                <a:cs typeface="微软雅黑" panose="020B0503020204020204" charset="-122"/>
                <a:sym typeface="+mn-ea"/>
              </a:rPr>
              <a:t>元，其后每半小时收费</a:t>
            </a:r>
            <a:r>
              <a:rPr lang="en-US" altLang="zh-CN" sz="2000" dirty="0">
                <a:cs typeface="微软雅黑" panose="020B0503020204020204" charset="-122"/>
                <a:sym typeface="+mn-ea"/>
              </a:rPr>
              <a:t>1</a:t>
            </a:r>
            <a:r>
              <a:rPr lang="zh-CN" altLang="en-US" sz="2000" dirty="0">
                <a:cs typeface="微软雅黑" panose="020B0503020204020204" charset="-122"/>
                <a:sym typeface="+mn-ea"/>
              </a:rPr>
              <a:t>元。最近，共享单车运营商调整了收费标准，第一小时收费不变，其后每半小时收费</a:t>
            </a:r>
            <a:r>
              <a:rPr lang="en-US" altLang="zh-CN" sz="2000" dirty="0">
                <a:cs typeface="微软雅黑" panose="020B0503020204020204" charset="-122"/>
                <a:sym typeface="+mn-ea"/>
              </a:rPr>
              <a:t>2</a:t>
            </a:r>
            <a:r>
              <a:rPr lang="zh-CN" altLang="en-US" sz="2000" dirty="0">
                <a:cs typeface="微软雅黑" panose="020B0503020204020204" charset="-122"/>
                <a:sym typeface="+mn-ea"/>
              </a:rPr>
              <a:t>元，涨幅高达</a:t>
            </a:r>
            <a:r>
              <a:rPr lang="en-US" altLang="zh-CN" sz="2000" dirty="0">
                <a:cs typeface="微软雅黑" panose="020B0503020204020204" charset="-122"/>
                <a:sym typeface="+mn-ea"/>
              </a:rPr>
              <a:t>100%</a:t>
            </a:r>
            <a:r>
              <a:rPr lang="zh-CN" altLang="en-US" sz="2000" dirty="0">
                <a:cs typeface="微软雅黑" panose="020B0503020204020204" charset="-122"/>
                <a:sym typeface="+mn-ea"/>
              </a:rPr>
              <a:t>，但当地共享单车月均使用人次并未因价格调整而减少。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对上述现象，以下解释最为合理的是（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与多次换乘公交相比，使用共享单车的花费更低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随着生活水平的提高，人们的消费意愿逐步增强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单次使用共享单车时长超过一小时的当地市民微乎其微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当地仅有一家共享单车运营商，市场缺乏竞争</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111385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研究所计划从</a:t>
            </a:r>
            <a:r>
              <a:rPr lang="en-US" altLang="zh-CN" sz="2000" dirty="0">
                <a:cs typeface="微软雅黑" panose="020B0503020204020204" charset="-122"/>
                <a:sym typeface="+mn-ea"/>
              </a:rPr>
              <a:t>7</a:t>
            </a:r>
            <a:r>
              <a:rPr lang="zh-CN" altLang="en-US" sz="2000" dirty="0">
                <a:cs typeface="微软雅黑" panose="020B0503020204020204" charset="-122"/>
                <a:sym typeface="+mn-ea"/>
              </a:rPr>
              <a:t>名在读研究生中，推选</a:t>
            </a:r>
            <a:r>
              <a:rPr lang="en-US" altLang="zh-CN" sz="2000" dirty="0">
                <a:cs typeface="微软雅黑" panose="020B0503020204020204" charset="-122"/>
                <a:sym typeface="+mn-ea"/>
              </a:rPr>
              <a:t>2</a:t>
            </a:r>
            <a:r>
              <a:rPr lang="zh-CN" altLang="en-US" sz="2000" dirty="0">
                <a:cs typeface="微软雅黑" panose="020B0503020204020204" charset="-122"/>
                <a:sym typeface="+mn-ea"/>
              </a:rPr>
              <a:t>名男生、</a:t>
            </a:r>
            <a:r>
              <a:rPr lang="en-US" altLang="zh-CN" sz="2000" dirty="0">
                <a:cs typeface="微软雅黑" panose="020B0503020204020204" charset="-122"/>
                <a:sym typeface="+mn-ea"/>
              </a:rPr>
              <a:t>2</a:t>
            </a:r>
            <a:r>
              <a:rPr lang="zh-CN" altLang="en-US" sz="2000" dirty="0">
                <a:cs typeface="微软雅黑" panose="020B0503020204020204" charset="-122"/>
                <a:sym typeface="+mn-ea"/>
              </a:rPr>
              <a:t>名女生到企业实习。已知：（</a:t>
            </a:r>
            <a:r>
              <a:rPr lang="en-US" altLang="zh-CN" sz="2000" dirty="0">
                <a:cs typeface="微软雅黑" panose="020B0503020204020204" charset="-122"/>
                <a:sym typeface="+mn-ea"/>
              </a:rPr>
              <a:t>1</a:t>
            </a:r>
            <a:r>
              <a:rPr lang="zh-CN" altLang="en-US" sz="2000" dirty="0">
                <a:cs typeface="微软雅黑" panose="020B0503020204020204" charset="-122"/>
                <a:sym typeface="+mn-ea"/>
              </a:rPr>
              <a:t>）赵、钱、孙是男生；（</a:t>
            </a:r>
            <a:r>
              <a:rPr lang="en-US" altLang="zh-CN" sz="2000" dirty="0">
                <a:cs typeface="微软雅黑" panose="020B0503020204020204" charset="-122"/>
                <a:sym typeface="+mn-ea"/>
              </a:rPr>
              <a:t>2</a:t>
            </a:r>
            <a:r>
              <a:rPr lang="zh-CN" altLang="en-US" sz="2000" dirty="0">
                <a:cs typeface="微软雅黑" panose="020B0503020204020204" charset="-122"/>
                <a:sym typeface="+mn-ea"/>
              </a:rPr>
              <a:t>）李、刘、王、吴是女生；（</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）如果推选刘、吴其中一人，那么孙也会被推选。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根据上述陈述，可以得知（</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赵、李中至少有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孙、王中至少有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钱、王中至少有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孙、刘中至少有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1113155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种贫血症属于遗传性疾病，患者的血红蛋白分子结构异常，从而影响红细胞正常功能。目前，科学家已能够利用基因组编辑技术，治疗因基因突变导致的遗传性疾病。因此，这种贫血症患者有望通过基因组编辑技术被治愈。</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要使上述结论成立，需要补充的前提是（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血红蛋白分子结构异常是这种贫血症的主要表现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这种贫血症是一种由基因突变导致的遗传性疾病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这种贫血症患者的红细胞可由直系亲属的代替</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血红蛋白基因是导致这种贫血症的相关基因</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1120775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如果没有强健的体魄，就不会有好的学习状态，如果学习状态不好，学习成绩就不可能提升。因此，学校要提升学生的学习成绩，就必须开设体育课。</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要使上述结论成立，必需补充的前提是（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solidFill>
                  <a:srgbClr val="FF0000"/>
                </a:solidFill>
                <a:cs typeface="微软雅黑" panose="020B0503020204020204" charset="-122"/>
                <a:sym typeface="+mn-ea"/>
              </a:rPr>
              <a:t>论据：好的学习状态</a:t>
            </a:r>
            <a:r>
              <a:rPr lang="en-US" altLang="zh-CN" sz="2000" dirty="0">
                <a:solidFill>
                  <a:srgbClr val="FF0000"/>
                </a:solidFill>
                <a:cs typeface="微软雅黑" panose="020B0503020204020204" charset="-122"/>
                <a:sym typeface="+mn-ea"/>
              </a:rPr>
              <a:t>→</a:t>
            </a:r>
            <a:r>
              <a:rPr lang="zh-CN" altLang="en-US" sz="2000" dirty="0">
                <a:solidFill>
                  <a:srgbClr val="FF0000"/>
                </a:solidFill>
                <a:cs typeface="微软雅黑" panose="020B0503020204020204" charset="-122"/>
                <a:sym typeface="+mn-ea"/>
              </a:rPr>
              <a:t>强健的体魄</a:t>
            </a:r>
            <a:endParaRPr lang="zh-CN" altLang="en-US" sz="2000" dirty="0">
              <a:solidFill>
                <a:srgbClr val="FF0000"/>
              </a:solidFill>
              <a:cs typeface="微软雅黑" panose="020B0503020204020204" charset="-122"/>
              <a:sym typeface="+mn-ea"/>
            </a:endParaRPr>
          </a:p>
          <a:p>
            <a:pPr indent="0" fontAlgn="auto">
              <a:lnSpc>
                <a:spcPct val="150000"/>
              </a:lnSpc>
            </a:pPr>
            <a:r>
              <a:rPr lang="zh-CN" altLang="en-US" sz="2000" dirty="0">
                <a:solidFill>
                  <a:srgbClr val="FF0000"/>
                </a:solidFill>
                <a:cs typeface="微软雅黑" panose="020B0503020204020204" charset="-122"/>
                <a:sym typeface="+mn-ea"/>
              </a:rPr>
              <a:t> </a:t>
            </a:r>
            <a:r>
              <a:rPr lang="en-US" altLang="zh-CN" sz="2000" dirty="0">
                <a:solidFill>
                  <a:srgbClr val="FF0000"/>
                </a:solidFill>
                <a:cs typeface="微软雅黑" panose="020B0503020204020204" charset="-122"/>
                <a:sym typeface="+mn-ea"/>
              </a:rPr>
              <a:t>         </a:t>
            </a:r>
            <a:r>
              <a:rPr lang="zh-CN" altLang="en-US" sz="2000" dirty="0">
                <a:solidFill>
                  <a:srgbClr val="FF0000"/>
                </a:solidFill>
                <a:cs typeface="微软雅黑" panose="020B0503020204020204" charset="-122"/>
                <a:sym typeface="+mn-ea"/>
              </a:rPr>
              <a:t>学习成绩提升</a:t>
            </a:r>
            <a:r>
              <a:rPr lang="en-US" altLang="zh-CN" sz="2000" dirty="0">
                <a:solidFill>
                  <a:srgbClr val="FF0000"/>
                </a:solidFill>
                <a:cs typeface="微软雅黑" panose="020B0503020204020204" charset="-122"/>
                <a:sym typeface="+mn-ea"/>
              </a:rPr>
              <a:t>→</a:t>
            </a:r>
            <a:r>
              <a:rPr lang="zh-CN" altLang="en-US" sz="2000" dirty="0">
                <a:solidFill>
                  <a:srgbClr val="FF0000"/>
                </a:solidFill>
                <a:cs typeface="微软雅黑" panose="020B0503020204020204" charset="-122"/>
                <a:sym typeface="+mn-ea"/>
              </a:rPr>
              <a:t>好的学习状态</a:t>
            </a:r>
            <a:endParaRPr lang="zh-CN" altLang="en-US" sz="2000" dirty="0">
              <a:solidFill>
                <a:srgbClr val="FF0000"/>
              </a:solidFill>
              <a:cs typeface="微软雅黑" panose="020B0503020204020204" charset="-122"/>
              <a:sym typeface="+mn-ea"/>
            </a:endParaRPr>
          </a:p>
          <a:p>
            <a:pPr indent="0" fontAlgn="auto">
              <a:lnSpc>
                <a:spcPct val="150000"/>
              </a:lnSpc>
            </a:pPr>
            <a:r>
              <a:rPr lang="zh-CN" altLang="en-US" sz="2000" dirty="0">
                <a:solidFill>
                  <a:srgbClr val="FF0000"/>
                </a:solidFill>
                <a:cs typeface="微软雅黑" panose="020B0503020204020204" charset="-122"/>
                <a:sym typeface="+mn-ea"/>
              </a:rPr>
              <a:t>论点：学习成绩提升</a:t>
            </a:r>
            <a:r>
              <a:rPr lang="en-US" altLang="zh-CN" sz="2000" dirty="0">
                <a:solidFill>
                  <a:srgbClr val="FF0000"/>
                </a:solidFill>
                <a:cs typeface="微软雅黑" panose="020B0503020204020204" charset="-122"/>
                <a:sym typeface="+mn-ea"/>
              </a:rPr>
              <a:t>→</a:t>
            </a:r>
            <a:r>
              <a:rPr lang="zh-CN" altLang="en-US" sz="2000" dirty="0">
                <a:solidFill>
                  <a:srgbClr val="FF0000"/>
                </a:solidFill>
                <a:cs typeface="微软雅黑" panose="020B0503020204020204" charset="-122"/>
                <a:sym typeface="+mn-ea"/>
              </a:rPr>
              <a:t>开设体育课</a:t>
            </a:r>
            <a:endParaRPr lang="zh-CN" altLang="en-US" sz="2000" dirty="0">
              <a:solidFill>
                <a:srgbClr val="FF0000"/>
              </a:solidFill>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体育课是增强学生体魄的必要途径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所有学生都能通过体育课强健体魄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没有学生不希望提升自己的成绩</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学生在课余时间也会进行体育锻炼</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112890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庑殿顶是中国古代建筑的一种屋顶形式，由一条正脊和四条垂脊组成，而中国古代许多皇宫大殿有庑殿顶，因此许多皇宫大殿的屋顶只有一条正脊。</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现代主义建筑通常没有复杂的装饰，追求功能属性与简约美，而西班牙的许多建筑造型奇特，装饰繁复，因此这些建筑不属于现代主义建筑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哥特式建筑都有尖形拱门，而欧洲中世纪的建筑多数属于哥特式建筑，因此部分欧洲中世纪的建筑有尖形拱门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古罗马时期的建筑多数都有穹顶，而同一时期的建筑多为砖石结构，因此有的砖石结构建筑有穹顶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客家围屋都设有用于防御土匪侵扰的炮楼，因此有客家围屋的地区，都需要防御土匪侵扰</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1122489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网络购物平台的数据分析显示，网店为商品提供免费的运费险能够增加销量，但其商品退费率远高于不提供这项服务的网店，从而增加了运营成本。但提供免费运费险的很多网店仍未关闭这一服务。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如果以下选项为真，最有可能解释这一现象的是（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提供这一服务的网店比其他网店获得了更高的净利润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商品销量和运费成本是衡量网店经营状况的两项关键指标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人工、场地等成本不受退货率影响，且占运营成本的比重不低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提供免费的运费险能够显著提升消费者的信任度</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1122426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古丝绸之路之所以举世闻名，靠的不仅是经济互利，更是丰富物产和多元文化交流，所以，只有经济互利，不可能重现古丝绸之路的辉煌。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我国要实现高水平科技自立自强，归根结底是要靠高水平创新人才，所以，创新能力培养应该成为人才培养的核心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粮食丰收，及时收割和晒干入库都是关键环节，所以，天气连续晴好有助于实现粮食丰收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高水平大学不仅要有完整的设施设备，更要有高水平的教师队伍，因此，仅靠完善设施设备并不能成为高水平大学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体育活动需要合适的运动场所，因此，如果城市缺少合适的运动场所，居民就难以积极参加体育活动</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111747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在一次技能竞赛中，甲、乙、丙、丁</a:t>
            </a:r>
            <a:r>
              <a:rPr lang="en-US" altLang="zh-CN" sz="2000" dirty="0">
                <a:cs typeface="微软雅黑" panose="020B0503020204020204" charset="-122"/>
                <a:sym typeface="+mn-ea"/>
              </a:rPr>
              <a:t>4</a:t>
            </a:r>
            <a:r>
              <a:rPr lang="zh-CN" altLang="en-US" sz="2000" dirty="0">
                <a:cs typeface="微软雅黑" panose="020B0503020204020204" charset="-122"/>
                <a:sym typeface="+mn-ea"/>
              </a:rPr>
              <a:t>人排名前四且无人并列，已知甲和第三名是好友且名次比该好友高；丁和甲不是好友但和第一名是好友；乙的名次比丙高。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根据上述信息，以下判断错误的是（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丙的名次不高于第三名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甲的名次一定高于丙</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乙和丁是好友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乙不可能是第一名</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1119124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研究者选取同一年级的两个班级进行教学实验，第一个班级的学生在听课过程中被鼓励随时提问，而第二个班级的学生没有受到同样的鼓励，结果显示，第一个班级学生的课堂专注度明显高于第二个班级。研究者据此建议在教学过程中学生应随时提问，以提升知识掌握效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如果以下选项为真，最能支持研究者建议的是（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学生在课堂上随时主动提问能活跃课堂气氛</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课堂专注度是影响知识掌握效果的重要因素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这两个班级的学生在实验前的学习成绩相当</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随时提问能帮助学生增强自我认同感和自信</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1119124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作为高端羽毛球的必备原料，羽毛切片是鸭鹅养殖的副产品，其供应量上要取决于养殖规模，如果养殖规模有所下降，羽毛切片价格将会一路走高，进而导致高端羽毛球生产成本高企、厂家将因此被迫提高出厂价格，所以，如果近期鸭鹅养殖规模保持平稳，则高端羽毛球的出厂价格将不会明显上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上述论证的主要逻辑错误在于（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忽视了其他因素对高端羽毛球出厂价格的影响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忽视了影响鸭鹅养殖规模的其他因素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默认了高端羽毛球生产所需的羽毛切片没有替代品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默认了鸭鹅养殖规模严重影响高端羽毛球的生产</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1112647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根据法律，公共场所禁止吸烟，因此，如果有人在某个区域吸烟却不违法，说明该区域不属于公共场所。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长时间室内活动是近视的主要原因，因此近视的人都缺乏户外运动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优秀的工匠在学徒时期就追求精益求精，如果某学徒自我要求不高，那他就无法成为优秀的工匠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超过</a:t>
            </a:r>
            <a:r>
              <a:rPr lang="en-US" altLang="zh-CN" sz="2000" dirty="0">
                <a:cs typeface="微软雅黑" panose="020B0503020204020204" charset="-122"/>
                <a:sym typeface="+mn-ea"/>
              </a:rPr>
              <a:t>9</a:t>
            </a:r>
            <a:r>
              <a:rPr lang="zh-CN" altLang="en-US" sz="2000" dirty="0">
                <a:cs typeface="微软雅黑" panose="020B0503020204020204" charset="-122"/>
                <a:sym typeface="+mn-ea"/>
              </a:rPr>
              <a:t>层的楼房都会配建电梯，因此，如果某住宅楼低于</a:t>
            </a:r>
            <a:r>
              <a:rPr lang="en-US" altLang="zh-CN" sz="2000" dirty="0">
                <a:cs typeface="微软雅黑" panose="020B0503020204020204" charset="-122"/>
                <a:sym typeface="+mn-ea"/>
              </a:rPr>
              <a:t>9</a:t>
            </a:r>
            <a:r>
              <a:rPr lang="zh-CN" altLang="en-US" sz="2000" dirty="0">
                <a:cs typeface="微软雅黑" panose="020B0503020204020204" charset="-122"/>
                <a:sym typeface="+mn-ea"/>
              </a:rPr>
              <a:t>层，那么住户只能走楼梯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织物表面的纳米涂层可以阻止液体渗入，因此，某种面料防水，说明它有纳米涂层</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8025"/>
            <a:ext cx="1119124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某厂家用</a:t>
            </a:r>
            <a:r>
              <a:rPr lang="en-US" altLang="zh-CN" sz="2000" dirty="0">
                <a:cs typeface="微软雅黑" panose="020B0503020204020204" charset="-122"/>
                <a:sym typeface="+mn-ea"/>
              </a:rPr>
              <a:t>“</a:t>
            </a:r>
            <a:r>
              <a:rPr lang="zh-CN" altLang="en-US" sz="2000" dirty="0">
                <a:cs typeface="微软雅黑" panose="020B0503020204020204" charset="-122"/>
                <a:sym typeface="+mn-ea"/>
              </a:rPr>
              <a:t>除菌去残留，效果看得见</a:t>
            </a:r>
            <a:r>
              <a:rPr lang="en-US" altLang="zh-CN" sz="2000" dirty="0">
                <a:cs typeface="微软雅黑" panose="020B0503020204020204" charset="-122"/>
                <a:sym typeface="+mn-ea"/>
              </a:rPr>
              <a:t>”</a:t>
            </a:r>
            <a:r>
              <a:rPr lang="zh-CN" altLang="en-US" sz="2000" dirty="0">
                <a:cs typeface="微软雅黑" panose="020B0503020204020204" charset="-122"/>
                <a:sym typeface="+mn-ea"/>
              </a:rPr>
              <a:t>这一广告语，宣传其生产的果蔬清洗机，并展示该产品与其他果蔬清洗机清洗同一种水果的视频，视频显示，该清洗机清洗产生的泡沫最多。该厂家宣称泡沫是被清洗机清洗出来的有害残留，故其产品除菌去残留效果更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如果下列选项为真，最能反驳上述推论的是（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用果蔬清洗机清洗食材，不管清洗多少遍，都会出现泡沫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市面上绝大部分果蔬的农药残留均未超标，有害物质极少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用普通烹饪方式加工肉类食材，或多或少也会产生泡沫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专业化学检测是检验果蔬除菌去残留效果的唯一有效手段</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8025"/>
            <a:ext cx="110940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小陈计划假期前往某市旅游，他的设想如下：</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欢乐世界，动物园至少会去一个；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艺术中心，欢乐世界和人民公园至少会去一个；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动物园，人民公园和博物馆至少会去两个；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如果去动物园，则不去艺术中心。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根据上述设想，可以得出小陈（</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一定会去博物馆</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动物园，艺术中心至少会去一个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人民公园，欢乐世界至少会去一个</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至少会去</a:t>
            </a:r>
            <a:r>
              <a:rPr lang="en-US" altLang="zh-CN" sz="2000" dirty="0">
                <a:cs typeface="微软雅黑" panose="020B0503020204020204" charset="-122"/>
                <a:sym typeface="+mn-ea"/>
              </a:rPr>
              <a:t>3</a:t>
            </a:r>
            <a:r>
              <a:rPr lang="zh-CN" altLang="en-US" sz="2000" dirty="0">
                <a:cs typeface="微软雅黑" panose="020B0503020204020204" charset="-122"/>
                <a:sym typeface="+mn-ea"/>
              </a:rPr>
              <a:t>个景点</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111588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鉴于漂流项目偶尔会出现游客落水伤亡的情况，某旅游景区为每一位参加漂流项目的游客购买了意外保险，并要求游客必须穿上景区配备的救生衣，有游客对此提出疑问，既然景区已经购买了意外保险，游客出现意外伤亡由保险公司赔付，那么游客为寻求刺激的漂流体验，可以选择不穿救生衣。</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如果以下选项为真，最能反驳这一质疑的是（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如果未穿救生衣的游客出现意外伤亡，保险公司将不予赔付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该景区为参加蹦极、过山车等项目的游客也购买了意外保险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该景区在免费为游客提供了救生衣的同时，还配备了救生员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保障游客的人身安全是景区经营方的基本职责之一</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3553</Words>
  <Application>WPS 演示</Application>
  <PresentationFormat>宽屏</PresentationFormat>
  <Paragraphs>169</Paragraphs>
  <Slides>22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题46</vt:lpstr>
      <vt:lpstr>题47</vt:lpstr>
      <vt:lpstr>题48</vt:lpstr>
      <vt:lpstr>题49</vt:lpstr>
      <vt:lpstr>题50</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2026-05-26T01:41:46Z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