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2"/>
  </p:handoutMasterIdLst>
  <p:sldIdLst>
    <p:sldId id="629" r:id="rId4"/>
    <p:sldId id="1362" r:id="rId6"/>
    <p:sldId id="1363" r:id="rId7"/>
    <p:sldId id="1364" r:id="rId8"/>
    <p:sldId id="1365" r:id="rId9"/>
    <p:sldId id="1366" r:id="rId10"/>
    <p:sldId id="992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7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7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36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图形推理：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年该题型考点涵盖位置类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道、样式类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道、数量类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道、属性类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同时首次出现八面体类考法，不过题目难度适中，可通过常规理论知识解题。此前图形推理多围绕六面体等常规空间重构题型考查，此次新增考点体现了命题的小幅创新，且素材还融入过剪纸纹样、鲁绣图案等山东文化元素，贴合本土特色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以单定义考查为主，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年试卷中单定义有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道，多定义仅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道。这类题型考查的概念涵盖多个学科领域，题目表述常规，整体难度适中，解题关键在于考生抓取定义核心要件、区分易混淆选项的能力。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年考点集中在内涵关系，占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道题，外延关系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道、语义关系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道、语法关系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道。值得注意的是，该题型还融入了山东方言（如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坷垃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）等地域元素，命题本土化趋势明显。整体考查既涉及基础的词语关系，也需要考生结合常识或地域知识辅助判断。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是该模块的重点难点题型，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年以论证类题目为主，占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6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道题，其余为翻译推理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道、真假推理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道、归纳推理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道。论证类题目常结合环保政策效果、乡村教育投入等热点话题命题，重点考查考生对论点、论据的分析以及削弱、加强等逻辑思维能力；翻译推理、真假推理则侧重对逻辑规则的应用，题目难度相对可控。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北京考情分析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北京判断考情分析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337310" y="824230"/>
          <a:ext cx="792099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98"/>
                <a:gridCol w="1584198"/>
                <a:gridCol w="1584198"/>
                <a:gridCol w="1584198"/>
                <a:gridCol w="1584198"/>
              </a:tblGrid>
              <a:tr h="5689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zh-CN" altLang="en-US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2022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ea typeface="楷体" panose="02010609060101010101" charset="-122"/>
                          <a:cs typeface="楷体" panose="02010609060101010101" charset="-122"/>
                        </a:rPr>
                        <a:t>图形推理</a:t>
                      </a:r>
                      <a:endParaRPr lang="zh-CN" altLang="en-US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01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ea typeface="楷体" panose="02010609060101010101" charset="-122"/>
                          <a:cs typeface="楷体" panose="02010609060101010101" charset="-122"/>
                        </a:rPr>
                        <a:t>类比推理</a:t>
                      </a:r>
                      <a:endParaRPr lang="zh-CN" altLang="en-US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432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ea typeface="楷体" panose="02010609060101010101" charset="-122"/>
                          <a:cs typeface="楷体" panose="02010609060101010101" charset="-122"/>
                        </a:rPr>
                        <a:t>定义判断</a:t>
                      </a:r>
                      <a:endParaRPr lang="zh-CN" altLang="en-US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01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ea typeface="楷体" panose="02010609060101010101" charset="-122"/>
                          <a:cs typeface="楷体" panose="02010609060101010101" charset="-122"/>
                        </a:rPr>
                        <a:t>逻辑判断</a:t>
                      </a:r>
                      <a:endParaRPr lang="zh-CN" altLang="en-US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01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ea typeface="楷体" panose="02010609060101010101" charset="-122"/>
                          <a:cs typeface="楷体" panose="02010609060101010101" charset="-122"/>
                        </a:rPr>
                        <a:t>科学推理</a:t>
                      </a:r>
                      <a:endParaRPr lang="zh-CN" altLang="en-US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01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ea typeface="楷体" panose="02010609060101010101" charset="-122"/>
                          <a:cs typeface="楷体" panose="02010609060101010101" charset="-122"/>
                        </a:rPr>
                        <a:t>总计</a:t>
                      </a:r>
                      <a:endParaRPr lang="zh-CN" altLang="en-US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45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35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30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30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10477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图形推理题型题量分布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158875" y="904240"/>
          <a:ext cx="778002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005"/>
                <a:gridCol w="1945005"/>
                <a:gridCol w="1945005"/>
                <a:gridCol w="1945005"/>
              </a:tblGrid>
              <a:tr h="60198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zh-CN" altLang="en-US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位置类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样式类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68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数量类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重构类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7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203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定义判断题型题量分布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42010" y="1243965"/>
          <a:ext cx="8155305" cy="1449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826"/>
                <a:gridCol w="2038827"/>
                <a:gridCol w="2038826"/>
                <a:gridCol w="2038826"/>
              </a:tblGrid>
              <a:tr h="58674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单定义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多定义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76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类比推理题型题量分布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158875" y="933450"/>
          <a:ext cx="7650480" cy="231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620"/>
                <a:gridCol w="1912620"/>
                <a:gridCol w="1912620"/>
                <a:gridCol w="1912620"/>
              </a:tblGrid>
              <a:tr h="5943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zh-CN" altLang="en-US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203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集合类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203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映射类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62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语义类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 sz="1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197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语法类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endParaRPr lang="en-US" altLang="zh-CN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-2476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逻辑判断题型题量分布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469900" y="866140"/>
          <a:ext cx="8484870" cy="3502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218"/>
                <a:gridCol w="2121217"/>
                <a:gridCol w="2121218"/>
                <a:gridCol w="2121217"/>
              </a:tblGrid>
              <a:tr h="42481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2025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2024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800">
                          <a:ea typeface="楷体" panose="02010609060101010101" charset="-122"/>
                          <a:cs typeface="楷体" panose="02010609060101010101" charset="-122"/>
                        </a:rPr>
                        <a:t>2023</a:t>
                      </a:r>
                      <a:endParaRPr lang="en-US" altLang="zh-CN" sz="2800"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论证类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3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7</a:t>
                      </a:r>
                      <a:endParaRPr lang="en-US" altLang="zh-CN" b="1"/>
                    </a:p>
                  </a:txBody>
                  <a:tcPr/>
                </a:tc>
              </a:tr>
              <a:tr h="4400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分析推理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3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2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2</a:t>
                      </a:r>
                      <a:endParaRPr lang="en-US" altLang="zh-CN" b="1"/>
                    </a:p>
                  </a:txBody>
                  <a:tcPr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翻译推理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2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3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3</a:t>
                      </a:r>
                      <a:endParaRPr lang="en-US" altLang="zh-CN" b="1"/>
                    </a:p>
                  </a:txBody>
                  <a:tcPr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真假推理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</a:tr>
              <a:tr h="4400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原因解释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平行结构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归纳推理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3</a:t>
                      </a:r>
                      <a:endParaRPr lang="en-US" altLang="zh-CN" b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TABLE_ENDDRAG_ORIGIN_RECT" val="623*206"/>
  <p:tag name="TABLE_ENDDRAG_RECT" val="95*128*623*206"/>
</p:tagLst>
</file>

<file path=ppt/tags/tag32.xml><?xml version="1.0" encoding="utf-8"?>
<p:tagLst xmlns:p="http://schemas.openxmlformats.org/presentationml/2006/main">
  <p:tag name="TABLE_ENDDRAG_ORIGIN_RECT" val="612*184"/>
  <p:tag name="TABLE_ENDDRAG_RECT" val="91*71*612*184"/>
</p:tagLst>
</file>

<file path=ppt/tags/tag33.xml><?xml version="1.0" encoding="utf-8"?>
<p:tagLst xmlns:p="http://schemas.openxmlformats.org/presentationml/2006/main">
  <p:tag name="TABLE_ENDDRAG_ORIGIN_RECT" val="642*114"/>
  <p:tag name="TABLE_ENDDRAG_RECT" val="66*97*642*114"/>
</p:tagLst>
</file>

<file path=ppt/tags/tag34.xml><?xml version="1.0" encoding="utf-8"?>
<p:tagLst xmlns:p="http://schemas.openxmlformats.org/presentationml/2006/main">
  <p:tag name="TABLE_ENDDRAG_ORIGIN_RECT" val="602*182"/>
  <p:tag name="TABLE_ENDDRAG_RECT" val="91*73*602*182"/>
</p:tagLst>
</file>

<file path=ppt/tags/tag35.xml><?xml version="1.0" encoding="utf-8"?>
<p:tagLst xmlns:p="http://schemas.openxmlformats.org/presentationml/2006/main">
  <p:tag name="TABLE_ENDDRAG_ORIGIN_RECT" val="668*241"/>
  <p:tag name="TABLE_ENDDRAG_RECT" val="37*68*668*241"/>
</p:tagLst>
</file>

<file path=ppt/tags/tag36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WPS 演示</Application>
  <PresentationFormat>宽屏</PresentationFormat>
  <Paragraphs>245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 Light</vt:lpstr>
      <vt:lpstr>Wingdings</vt:lpstr>
      <vt:lpstr>楷体</vt:lpstr>
      <vt:lpstr>Arial Unicode MS</vt:lpstr>
      <vt:lpstr>Arial</vt:lpstr>
      <vt:lpstr>Office 主题​​</vt:lpstr>
      <vt:lpstr>WPS</vt:lpstr>
      <vt:lpstr>PowerPoint 演示文稿</vt:lpstr>
      <vt:lpstr>北京判断考情分析</vt:lpstr>
      <vt:lpstr>图形推理题型题量分布</vt:lpstr>
      <vt:lpstr>定义判断题型题量分布</vt:lpstr>
      <vt:lpstr>类比推理题型题量分布</vt:lpstr>
      <vt:lpstr>逻辑判断题型题量分布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197</cp:revision>
  <dcterms:created xsi:type="dcterms:W3CDTF">2019-06-19T02:08:00Z</dcterms:created>
  <dcterms:modified xsi:type="dcterms:W3CDTF">2025-11-24T03:06:15Z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2052-12.1.0.24014</vt:lpwstr>
  </property>
  <property fmtid="{D5CDD505-2E9C-101B-9397-08002B2CF9AE}" pid="3" name="ICV">
    <vt:lpwstr>7E0F0589F6D94CFE8A4BC2AEA01394FF_11</vt:lpwstr>
  </property>
</Properties>
</file>