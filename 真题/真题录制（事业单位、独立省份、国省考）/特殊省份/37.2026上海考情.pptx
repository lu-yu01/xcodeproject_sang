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</p:sldMasterIdLst>
  <p:notesMasterIdLst>
    <p:notesMasterId r:id="rId5"/>
  </p:notesMasterIdLst>
  <p:handoutMasterIdLst>
    <p:handoutMasterId r:id="rId11"/>
  </p:handoutMasterIdLst>
  <p:sldIdLst>
    <p:sldId id="629" r:id="rId4"/>
    <p:sldId id="1365" r:id="rId6"/>
    <p:sldId id="1363" r:id="rId7"/>
    <p:sldId id="1364" r:id="rId8"/>
    <p:sldId id="1366" r:id="rId9"/>
    <p:sldId id="992" r:id="rId10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8" userDrawn="1">
          <p15:clr>
            <a:srgbClr val="A4A3A4"/>
          </p15:clr>
        </p15:guide>
        <p15:guide id="2" pos="376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ei" initials="2" lastIdx="9" clrIdx="0"/>
  <p:cmAuthor id="1" name="作者" initials="作" lastIdx="3" clrIdx="2"/>
  <p:cmAuthor id="2" name="许远超" initials="许" lastIdx="8" clrIdx="3"/>
  <p:cmAuthor id="3" name="Administrator" initials="A" lastIdx="1" clrIdx="2"/>
  <p:cmAuthor id="4" name="kingsoft" initials="k" lastIdx="1" clrIdx="0"/>
  <p:cmAuthor id="5" name="刘 译璟" initials="刘" lastIdx="32" clrIdx="0"/>
  <p:cmAuthor id="6" name="番茄花园" initials="番" lastIdx="1" clrIdx="0"/>
  <p:cmAuthor id="8" name="李鹏瑞" initials="Lpr" lastIdx="0" clrIdx="7"/>
  <p:cmAuthor id="9" name="Joyfeather" initials="J" lastIdx="0" clrIdx="8"/>
  <p:cmAuthor id="10" name="微软用户" initials="微" lastIdx="0" clrIdx="9"/>
  <p:cmAuthor id="11" name="Asus" initials="A" lastIdx="0" clrIdx="10"/>
  <p:cmAuthor id="12" name="asus" initials="a" lastIdx="0" clrIdx="11"/>
  <p:cmAuthor id="13" name="未知用户4" initials="未" lastIdx="0" clrIdx="12"/>
  <p:cmAuthor id="14" name="未知用户3" initials="未" lastIdx="0" clrIdx="13"/>
  <p:cmAuthor id="15" name="tuyang" initials="t" lastIdx="0" clrIdx="14"/>
  <p:cmAuthor id="16" name="ss" initials="ss" lastIdx="0" clrIdx="15"/>
  <p:cmAuthor id="17" name="44490" initials="4" lastIdx="0" clrIdx="16"/>
  <p:cmAuthor id="18" name="59861" initials="5" lastIdx="0" clrIdx="17"/>
  <p:cmAuthor id="19" name="t19176" initials="t" lastIdx="0" clrIdx="18"/>
  <p:cmAuthor id="20" name="QH" initials="Q" lastIdx="0" clrIdx="19"/>
  <p:cmAuthor id="21" name="84407" initials="8" lastIdx="0" clrIdx="20"/>
  <p:cmAuthor id="22" name="yangmei" initials="y" lastIdx="0" clrIdx="21"/>
  <p:cmAuthor id="23" name="赵 岩" initials="赵" lastIdx="0" clrIdx="22"/>
  <p:cmAuthor id="24" name="周洁" initials="周" lastIdx="0" clrIdx="23"/>
  <p:cmAuthor id="25" name="999宝藏网" initials="9" lastIdx="0" clrIdx="24"/>
  <p:cmAuthor id="26" name="Windows 用户" initials="W" lastIdx="0" clrIdx="25"/>
  <p:cmAuthor id="27" name="dd" initials="d" lastIdx="0" clrIdx="26"/>
  <p:cmAuthor id="28" name="jiangjinggang" initials="j" lastIdx="0" clrIdx="27"/>
  <p:cmAuthor id="29" name="3157009814@qq.com" initials="3" lastIdx="0" clrIdx="28"/>
  <p:cmAuthor id="30" name="WPS_1679281038" initials="W" lastIdx="0" clrIdx="29"/>
  <p:cmAuthor id="31" name="12895" initials="1" lastIdx="0" clrIdx="30"/>
  <p:cmAuthor id="32" name="1423970900" initials="1" lastIdx="0" clrIdx="31"/>
  <p:cmAuthor id="33" name="Rachel啊" initials="R" lastIdx="0" clrIdx="32"/>
  <p:cmAuthor id="34" name="75493" initials="7" lastIdx="0" clrIdx="33"/>
  <p:cmAuthor id="35" name="周 洁" initials="周" lastIdx="0" clrIdx="34"/>
  <p:cmAuthor id="36" name="刘 童" initials="刘" lastIdx="0" clrIdx="35"/>
  <p:cmAuthor id="37" name="未知用户1" initials="未" lastIdx="0" clrIdx="36"/>
  <p:cmAuthor id="38" name="zy223200 zy223200" initials="zz" lastIdx="0" clrIdx="37"/>
  <p:cmAuthor id="39" name="zhang" initials="z" lastIdx="0" clrIdx="38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1368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218"/>
        <p:guide pos="376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6" Type="http://schemas.openxmlformats.org/officeDocument/2006/relationships/tags" Target="tags/tag24.xml"/><Relationship Id="rId15" Type="http://schemas.openxmlformats.org/officeDocument/2006/relationships/commentAuthors" Target="commentAuthors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/>
              <a:t>24</a:t>
            </a:r>
            <a:r>
              <a:rPr lang="zh-CN" altLang="en-US"/>
              <a:t>年</a:t>
            </a:r>
            <a:r>
              <a:rPr lang="en-US" altLang="zh-CN"/>
              <a:t>90</a:t>
            </a:r>
            <a:r>
              <a:rPr lang="zh-CN" altLang="en-US"/>
              <a:t>题：常识</a:t>
            </a:r>
            <a:r>
              <a:rPr lang="en-US" altLang="zh-CN"/>
              <a:t>15</a:t>
            </a:r>
            <a:r>
              <a:rPr lang="zh-CN" altLang="en-US"/>
              <a:t>、言语</a:t>
            </a:r>
            <a:r>
              <a:rPr lang="en-US" altLang="zh-CN"/>
              <a:t>15</a:t>
            </a:r>
            <a:r>
              <a:rPr lang="zh-CN" altLang="en-US"/>
              <a:t>、判断</a:t>
            </a:r>
            <a:r>
              <a:rPr lang="en-US" altLang="zh-CN"/>
              <a:t>20</a:t>
            </a:r>
            <a:r>
              <a:rPr lang="zh-CN" altLang="en-US"/>
              <a:t>、数量</a:t>
            </a:r>
            <a:r>
              <a:rPr lang="en-US" altLang="zh-CN"/>
              <a:t>15</a:t>
            </a:r>
            <a:r>
              <a:rPr lang="zh-CN" altLang="en-US"/>
              <a:t>、科推</a:t>
            </a:r>
            <a:r>
              <a:rPr lang="en-US" altLang="zh-CN"/>
              <a:t>5</a:t>
            </a:r>
            <a:r>
              <a:rPr lang="zh-CN" altLang="en-US"/>
              <a:t>、资料</a:t>
            </a:r>
            <a:r>
              <a:rPr lang="en-US" altLang="zh-CN"/>
              <a:t>20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23</a:t>
            </a:r>
            <a:r>
              <a:rPr lang="zh-CN" altLang="en-US"/>
              <a:t>年县级</a:t>
            </a:r>
            <a:r>
              <a:rPr lang="en-US" altLang="zh-CN"/>
              <a:t>100</a:t>
            </a:r>
            <a:r>
              <a:rPr lang="zh-CN" altLang="en-US"/>
              <a:t>题：常识</a:t>
            </a:r>
            <a:r>
              <a:rPr lang="en-US" altLang="zh-CN"/>
              <a:t>15</a:t>
            </a:r>
            <a:r>
              <a:rPr lang="zh-CN" altLang="en-US"/>
              <a:t>、言语</a:t>
            </a:r>
            <a:r>
              <a:rPr lang="en-US" altLang="zh-CN"/>
              <a:t>10</a:t>
            </a:r>
            <a:r>
              <a:rPr lang="zh-CN" altLang="en-US"/>
              <a:t>、</a:t>
            </a:r>
            <a:r>
              <a:rPr lang="zh-CN" altLang="en-US">
                <a:sym typeface="+mn-ea"/>
              </a:rPr>
              <a:t>判断</a:t>
            </a:r>
            <a:r>
              <a:rPr lang="en-US" altLang="zh-CN">
                <a:sym typeface="+mn-ea"/>
              </a:rPr>
              <a:t>35</a:t>
            </a:r>
            <a:r>
              <a:rPr lang="zh-CN" altLang="en-US">
                <a:sym typeface="+mn-ea"/>
              </a:rPr>
              <a:t>、</a:t>
            </a:r>
            <a:r>
              <a:rPr lang="zh-CN" altLang="en-US"/>
              <a:t>数量</a:t>
            </a:r>
            <a:r>
              <a:rPr lang="en-US" altLang="zh-CN"/>
              <a:t>15</a:t>
            </a:r>
            <a:r>
              <a:rPr lang="zh-CN" altLang="en-US"/>
              <a:t>、科推</a:t>
            </a:r>
            <a:r>
              <a:rPr lang="en-US" altLang="zh-CN"/>
              <a:t>10</a:t>
            </a:r>
            <a:r>
              <a:rPr lang="zh-CN" altLang="en-US"/>
              <a:t>、资料</a:t>
            </a:r>
            <a:r>
              <a:rPr lang="en-US" altLang="zh-CN"/>
              <a:t>15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23</a:t>
            </a:r>
            <a:r>
              <a:rPr lang="zh-CN" altLang="en-US"/>
              <a:t>年乡镇</a:t>
            </a:r>
            <a:r>
              <a:rPr lang="en-US" altLang="zh-CN"/>
              <a:t>100</a:t>
            </a:r>
            <a:r>
              <a:rPr lang="zh-CN" altLang="en-US"/>
              <a:t>题：言语</a:t>
            </a:r>
            <a:r>
              <a:rPr lang="en-US" altLang="zh-CN"/>
              <a:t>10</a:t>
            </a:r>
            <a:r>
              <a:rPr lang="zh-CN" altLang="en-US"/>
              <a:t>、常识</a:t>
            </a:r>
            <a:r>
              <a:rPr lang="en-US" altLang="zh-CN"/>
              <a:t>20</a:t>
            </a:r>
            <a:r>
              <a:rPr lang="zh-CN" altLang="en-US"/>
              <a:t>、数量</a:t>
            </a:r>
            <a:r>
              <a:rPr lang="en-US" altLang="zh-CN"/>
              <a:t>15</a:t>
            </a:r>
            <a:r>
              <a:rPr lang="zh-CN" altLang="en-US"/>
              <a:t>、判断</a:t>
            </a:r>
            <a:r>
              <a:rPr lang="en-US" altLang="zh-CN"/>
              <a:t>20</a:t>
            </a:r>
            <a:r>
              <a:rPr lang="zh-CN" altLang="en-US"/>
              <a:t>、科推</a:t>
            </a:r>
            <a:r>
              <a:rPr lang="en-US" altLang="zh-CN"/>
              <a:t>20</a:t>
            </a:r>
            <a:r>
              <a:rPr lang="zh-CN" altLang="en-US"/>
              <a:t>、资料</a:t>
            </a:r>
            <a:r>
              <a:rPr lang="en-US" altLang="zh-CN"/>
              <a:t>15</a:t>
            </a:r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665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91770" rtl="0" eaLnBrk="0" fontAlgn="base" latinLnBrk="0" hangingPunct="0">
              <a:lnSpc>
                <a:spcPct val="117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defTabSz="191770">
              <a:defRPr/>
            </a:pPr>
            <a:r>
              <a:rPr kumimoji="1" lang="zh-CN" altLang="en-US" sz="925" dirty="0">
                <a:ea typeface="宋体" panose="02010600030101010101" pitchFamily="2" charset="-122"/>
              </a:rPr>
              <a:t>甘肃</a:t>
            </a:r>
            <a:r>
              <a:rPr kumimoji="1" lang="en-US" altLang="zh-CN" sz="925" dirty="0">
                <a:ea typeface="宋体" panose="02010600030101010101" pitchFamily="2" charset="-122"/>
              </a:rPr>
              <a:t>35</a:t>
            </a:r>
            <a:r>
              <a:rPr kumimoji="1" lang="zh-CN" altLang="en-US" sz="925" dirty="0">
                <a:ea typeface="宋体" panose="02010600030101010101" pitchFamily="2" charset="-122"/>
              </a:rPr>
              <a:t>题：</a:t>
            </a:r>
            <a:r>
              <a:rPr kumimoji="1" lang="en-US" altLang="zh-CN" sz="925" dirty="0">
                <a:ea typeface="宋体" panose="02010600030101010101" pitchFamily="2" charset="-122"/>
              </a:rPr>
              <a:t>8</a:t>
            </a:r>
            <a:r>
              <a:rPr kumimoji="1" lang="zh-CN" altLang="en-US" sz="925" dirty="0">
                <a:ea typeface="宋体" panose="02010600030101010101" pitchFamily="2" charset="-122"/>
              </a:rPr>
              <a:t>图形、</a:t>
            </a:r>
            <a:r>
              <a:rPr kumimoji="1" lang="en-US" altLang="zh-CN" sz="925" dirty="0">
                <a:ea typeface="宋体" panose="02010600030101010101" pitchFamily="2" charset="-122"/>
              </a:rPr>
              <a:t>9</a:t>
            </a:r>
            <a:r>
              <a:rPr kumimoji="1" lang="zh-CN" altLang="en-US" sz="925" dirty="0">
                <a:ea typeface="宋体" panose="02010600030101010101" pitchFamily="2" charset="-122"/>
              </a:rPr>
              <a:t>个定义、</a:t>
            </a:r>
            <a:r>
              <a:rPr kumimoji="1" lang="en-US" altLang="zh-CN" sz="925" dirty="0">
                <a:ea typeface="宋体" panose="02010600030101010101" pitchFamily="2" charset="-122"/>
              </a:rPr>
              <a:t>8</a:t>
            </a:r>
            <a:r>
              <a:rPr kumimoji="1" lang="zh-CN" altLang="en-US" sz="925" dirty="0">
                <a:ea typeface="宋体" panose="02010600030101010101" pitchFamily="2" charset="-122"/>
              </a:rPr>
              <a:t>类比、</a:t>
            </a:r>
            <a:r>
              <a:rPr kumimoji="1" lang="en-US" altLang="zh-CN" sz="925" dirty="0">
                <a:ea typeface="宋体" panose="02010600030101010101" pitchFamily="2" charset="-122"/>
              </a:rPr>
              <a:t>10</a:t>
            </a:r>
            <a:r>
              <a:rPr kumimoji="1" lang="zh-CN" altLang="en-US" sz="925" dirty="0">
                <a:ea typeface="宋体" panose="02010600030101010101" pitchFamily="2" charset="-122"/>
              </a:rPr>
              <a:t>逻辑</a:t>
            </a:r>
            <a:endParaRPr kumimoji="1" lang="zh-CN" altLang="en-US" sz="925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665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91770" rtl="0" eaLnBrk="0" fontAlgn="base" latinLnBrk="0" hangingPunct="0">
              <a:lnSpc>
                <a:spcPct val="117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defTabSz="191770">
              <a:defRPr/>
            </a:pPr>
            <a:r>
              <a:rPr kumimoji="1" lang="zh-CN" altLang="en-US" sz="925" dirty="0">
                <a:ea typeface="宋体" panose="02010600030101010101" pitchFamily="2" charset="-122"/>
              </a:rPr>
              <a:t>甘肃</a:t>
            </a:r>
            <a:r>
              <a:rPr kumimoji="1" lang="en-US" altLang="zh-CN" sz="925" dirty="0">
                <a:ea typeface="宋体" panose="02010600030101010101" pitchFamily="2" charset="-122"/>
              </a:rPr>
              <a:t>35</a:t>
            </a:r>
            <a:r>
              <a:rPr kumimoji="1" lang="zh-CN" altLang="en-US" sz="925" dirty="0">
                <a:ea typeface="宋体" panose="02010600030101010101" pitchFamily="2" charset="-122"/>
              </a:rPr>
              <a:t>题：</a:t>
            </a:r>
            <a:r>
              <a:rPr kumimoji="1" lang="en-US" altLang="zh-CN" sz="925" dirty="0">
                <a:ea typeface="宋体" panose="02010600030101010101" pitchFamily="2" charset="-122"/>
              </a:rPr>
              <a:t>8</a:t>
            </a:r>
            <a:r>
              <a:rPr kumimoji="1" lang="zh-CN" altLang="en-US" sz="925" dirty="0">
                <a:ea typeface="宋体" panose="02010600030101010101" pitchFamily="2" charset="-122"/>
              </a:rPr>
              <a:t>图形、</a:t>
            </a:r>
            <a:r>
              <a:rPr kumimoji="1" lang="en-US" altLang="zh-CN" sz="925" dirty="0">
                <a:ea typeface="宋体" panose="02010600030101010101" pitchFamily="2" charset="-122"/>
              </a:rPr>
              <a:t>9</a:t>
            </a:r>
            <a:r>
              <a:rPr kumimoji="1" lang="zh-CN" altLang="en-US" sz="925" dirty="0">
                <a:ea typeface="宋体" panose="02010600030101010101" pitchFamily="2" charset="-122"/>
              </a:rPr>
              <a:t>个定义、</a:t>
            </a:r>
            <a:r>
              <a:rPr kumimoji="1" lang="en-US" altLang="zh-CN" sz="925" dirty="0">
                <a:ea typeface="宋体" panose="02010600030101010101" pitchFamily="2" charset="-122"/>
              </a:rPr>
              <a:t>8</a:t>
            </a:r>
            <a:r>
              <a:rPr kumimoji="1" lang="zh-CN" altLang="en-US" sz="925" dirty="0">
                <a:ea typeface="宋体" panose="02010600030101010101" pitchFamily="2" charset="-122"/>
              </a:rPr>
              <a:t>类比、</a:t>
            </a:r>
            <a:r>
              <a:rPr kumimoji="1" lang="en-US" altLang="zh-CN" sz="925" dirty="0">
                <a:ea typeface="宋体" panose="02010600030101010101" pitchFamily="2" charset="-122"/>
              </a:rPr>
              <a:t>10</a:t>
            </a:r>
            <a:r>
              <a:rPr kumimoji="1" lang="zh-CN" altLang="en-US" sz="925" dirty="0">
                <a:ea typeface="宋体" panose="02010600030101010101" pitchFamily="2" charset="-122"/>
              </a:rPr>
              <a:t>逻辑</a:t>
            </a:r>
            <a:endParaRPr kumimoji="1" lang="zh-CN" altLang="en-US" sz="925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665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91770" rtl="0" eaLnBrk="0" fontAlgn="base" latinLnBrk="0" hangingPunct="0">
              <a:lnSpc>
                <a:spcPct val="117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defTabSz="191770">
              <a:defRPr/>
            </a:pPr>
            <a:r>
              <a:rPr kumimoji="1" lang="zh-CN" altLang="en-US" sz="925" dirty="0">
                <a:ea typeface="宋体" panose="02010600030101010101" pitchFamily="2" charset="-122"/>
              </a:rPr>
              <a:t>甘肃</a:t>
            </a:r>
            <a:r>
              <a:rPr kumimoji="1" lang="en-US" altLang="zh-CN" sz="925" dirty="0">
                <a:ea typeface="宋体" panose="02010600030101010101" pitchFamily="2" charset="-122"/>
              </a:rPr>
              <a:t>35</a:t>
            </a:r>
            <a:r>
              <a:rPr kumimoji="1" lang="zh-CN" altLang="en-US" sz="925" dirty="0">
                <a:ea typeface="宋体" panose="02010600030101010101" pitchFamily="2" charset="-122"/>
              </a:rPr>
              <a:t>题：</a:t>
            </a:r>
            <a:r>
              <a:rPr kumimoji="1" lang="en-US" altLang="zh-CN" sz="925" dirty="0">
                <a:ea typeface="宋体" panose="02010600030101010101" pitchFamily="2" charset="-122"/>
              </a:rPr>
              <a:t>8</a:t>
            </a:r>
            <a:r>
              <a:rPr kumimoji="1" lang="zh-CN" altLang="en-US" sz="925" dirty="0">
                <a:ea typeface="宋体" panose="02010600030101010101" pitchFamily="2" charset="-122"/>
              </a:rPr>
              <a:t>图形、</a:t>
            </a:r>
            <a:r>
              <a:rPr kumimoji="1" lang="en-US" altLang="zh-CN" sz="925" dirty="0">
                <a:ea typeface="宋体" panose="02010600030101010101" pitchFamily="2" charset="-122"/>
              </a:rPr>
              <a:t>9</a:t>
            </a:r>
            <a:r>
              <a:rPr kumimoji="1" lang="zh-CN" altLang="en-US" sz="925" dirty="0">
                <a:ea typeface="宋体" panose="02010600030101010101" pitchFamily="2" charset="-122"/>
              </a:rPr>
              <a:t>个定义、</a:t>
            </a:r>
            <a:r>
              <a:rPr kumimoji="1" lang="en-US" altLang="zh-CN" sz="925" dirty="0">
                <a:ea typeface="宋体" panose="02010600030101010101" pitchFamily="2" charset="-122"/>
              </a:rPr>
              <a:t>8</a:t>
            </a:r>
            <a:r>
              <a:rPr kumimoji="1" lang="zh-CN" altLang="en-US" sz="925" dirty="0">
                <a:ea typeface="宋体" panose="02010600030101010101" pitchFamily="2" charset="-122"/>
              </a:rPr>
              <a:t>类比、</a:t>
            </a:r>
            <a:r>
              <a:rPr kumimoji="1" lang="en-US" altLang="zh-CN" sz="925" dirty="0">
                <a:ea typeface="宋体" panose="02010600030101010101" pitchFamily="2" charset="-122"/>
              </a:rPr>
              <a:t>10</a:t>
            </a:r>
            <a:r>
              <a:rPr kumimoji="1" lang="zh-CN" altLang="en-US" sz="925" dirty="0">
                <a:ea typeface="宋体" panose="02010600030101010101" pitchFamily="2" charset="-122"/>
              </a:rPr>
              <a:t>逻辑</a:t>
            </a:r>
            <a:endParaRPr kumimoji="1" lang="zh-CN" altLang="en-US" sz="925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陆羽老师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 userDrawn="1"/>
        </p:nvSpPr>
        <p:spPr>
          <a:xfrm>
            <a:off x="545123" y="-10287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陆羽老师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陆羽老师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陆羽老师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陆羽老师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陆羽老师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slideLayout" Target="../slideLayouts/slideLayout6.xml"/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tags" Target="../tags/tag19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DC5037">
                <a:alpha val="42000"/>
              </a:srgbClr>
            </a:gs>
            <a:gs pos="67000">
              <a:srgbClr val="DC5037">
                <a:alpha val="10000"/>
              </a:srgb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占位符 10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6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0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62485" cy="68580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843188" y="2364919"/>
            <a:ext cx="6576647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kumimoji="1" lang="en-US" altLang="zh-CN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202</a:t>
            </a:r>
            <a:r>
              <a:rPr kumimoji="1" lang="en-US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7</a:t>
            </a:r>
            <a:endParaRPr kumimoji="1" lang="en-US" sz="4400" b="1" dirty="0">
              <a:solidFill>
                <a:srgbClr val="DC50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ctr"/>
            <a:r>
              <a:rPr kumimoji="1" lang="zh-CN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上海考情分析</a:t>
            </a:r>
            <a:endParaRPr kumimoji="1" lang="zh-CN" altLang="en-US" sz="4400" b="1" dirty="0">
              <a:solidFill>
                <a:srgbClr val="DC50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844561" y="4253018"/>
            <a:ext cx="2502877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zh-CN" altLang="en-US" sz="2000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主讲老师：陆羽老师</a:t>
            </a:r>
            <a:endParaRPr kumimoji="1" lang="zh-CN" altLang="en-US" sz="2000" dirty="0">
              <a:solidFill>
                <a:srgbClr val="DC50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295775" y="692150"/>
            <a:ext cx="42227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判断部分考情</a:t>
            </a:r>
            <a:endParaRPr lang="zh-CN" altLang="en-US" sz="3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837565" y="1459230"/>
          <a:ext cx="10516870" cy="3825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2410"/>
                <a:gridCol w="1502410"/>
                <a:gridCol w="1502410"/>
                <a:gridCol w="1502410"/>
                <a:gridCol w="1502410"/>
                <a:gridCol w="1502410"/>
                <a:gridCol w="1502410"/>
              </a:tblGrid>
              <a:tr h="8229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题型</a:t>
                      </a:r>
                      <a:endParaRPr lang="zh-CN" altLang="en-US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None/>
                      </a:pPr>
                      <a:r>
                        <a:rPr lang="en-US" sz="24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2026年</a:t>
                      </a:r>
                      <a:endParaRPr lang="en-US" sz="24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None/>
                      </a:pPr>
                      <a:r>
                        <a:rPr lang="en-US" sz="24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2025年</a:t>
                      </a:r>
                      <a:endParaRPr lang="en-US" sz="24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>
                        <a:buClrTx/>
                        <a:buSzTx/>
                        <a:buNone/>
                      </a:pPr>
                      <a:r>
                        <a:rPr lang="en-US" sz="24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A/B</a:t>
                      </a:r>
                      <a:endParaRPr lang="en-US" sz="24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4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2023</a:t>
                      </a:r>
                      <a:r>
                        <a:rPr lang="zh-CN" altLang="en-US" sz="24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年</a:t>
                      </a:r>
                      <a:endParaRPr lang="zh-CN" altLang="en-US" sz="24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4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2022</a:t>
                      </a:r>
                      <a:r>
                        <a:rPr lang="zh-CN" altLang="en-US" sz="24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年</a:t>
                      </a:r>
                      <a:endParaRPr lang="zh-CN" altLang="en-US" sz="24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A/B</a:t>
                      </a:r>
                      <a:endParaRPr lang="zh-CN" altLang="en-US" sz="24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2021</a:t>
                      </a:r>
                      <a:r>
                        <a:rPr lang="zh-CN" altLang="en-US" sz="24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年</a:t>
                      </a:r>
                      <a:endParaRPr lang="zh-CN" altLang="en-US" sz="24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A/B</a:t>
                      </a:r>
                      <a:endParaRPr lang="zh-CN" altLang="en-US" sz="24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2020</a:t>
                      </a:r>
                      <a:r>
                        <a:rPr lang="zh-CN" altLang="en-US" sz="24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年</a:t>
                      </a:r>
                      <a:endParaRPr lang="zh-CN" altLang="en-US" sz="24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A/B</a:t>
                      </a:r>
                      <a:endParaRPr lang="zh-CN" altLang="en-US" sz="24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7505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图形推理</a:t>
                      </a:r>
                      <a:endParaRPr lang="zh-CN" altLang="en-US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12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12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12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12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12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7505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逻辑推理</a:t>
                      </a:r>
                      <a:endParaRPr lang="zh-CN" altLang="en-US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12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12</a:t>
                      </a:r>
                      <a:endParaRPr lang="en-US" altLang="zh-CN" sz="24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12</a:t>
                      </a:r>
                      <a:endParaRPr lang="en-US" altLang="zh-CN" sz="24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12</a:t>
                      </a:r>
                      <a:endParaRPr lang="en-US" altLang="zh-CN" sz="24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7505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定义判断</a:t>
                      </a:r>
                      <a:endParaRPr lang="zh-CN" altLang="en-US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4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4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4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7505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合计</a:t>
                      </a:r>
                      <a:endParaRPr lang="zh-CN" altLang="en-US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25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24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24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24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24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2999105" y="1162050"/>
          <a:ext cx="6194425" cy="27819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8765"/>
                <a:gridCol w="1548130"/>
                <a:gridCol w="1548765"/>
                <a:gridCol w="1548765"/>
              </a:tblGrid>
              <a:tr h="492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图形推理</a:t>
                      </a:r>
                      <a:endParaRPr lang="zh-CN" altLang="en-US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2026</a:t>
                      </a:r>
                      <a:r>
                        <a:rPr lang="zh-CN" altLang="en-US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年</a:t>
                      </a:r>
                      <a:endParaRPr lang="zh-CN" altLang="en-US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2025</a:t>
                      </a:r>
                      <a:r>
                        <a:rPr lang="zh-CN" altLang="en-US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年</a:t>
                      </a:r>
                      <a:endParaRPr lang="zh-CN" altLang="en-US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2024</a:t>
                      </a:r>
                      <a:r>
                        <a:rPr lang="zh-CN" altLang="en-US" sz="2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年</a:t>
                      </a:r>
                      <a:endParaRPr lang="zh-CN" altLang="en-US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508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数量类</a:t>
                      </a:r>
                      <a:endParaRPr lang="zh-CN" altLang="en-US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508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位置类</a:t>
                      </a:r>
                      <a:endParaRPr lang="zh-CN" altLang="en-US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857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样式类</a:t>
                      </a:r>
                      <a:endParaRPr lang="zh-CN" altLang="en-US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508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重构类</a:t>
                      </a:r>
                      <a:endParaRPr lang="zh-CN" altLang="en-US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508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总计</a:t>
                      </a:r>
                      <a:endParaRPr lang="zh-CN" altLang="en-US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12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12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3642995" y="567055"/>
            <a:ext cx="49060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图形推理</a:t>
            </a:r>
            <a:endParaRPr lang="zh-CN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513840" y="3909060"/>
            <a:ext cx="988631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 fontAlgn="auto">
              <a:lnSpc>
                <a:spcPct val="150000"/>
              </a:lnSpc>
            </a:pPr>
            <a:r>
              <a:rPr 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上海图形推理难度较大，考查比较有特色</a:t>
            </a:r>
            <a:endParaRPr lang="zh-CN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 fontAlgn="auto">
              <a:lnSpc>
                <a:spcPct val="150000"/>
              </a:lnSpc>
            </a:pPr>
            <a:r>
              <a:rPr 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平移非常有特色，是按照题干中固定的平移路径，并非常规的横竖绕圈移动，考频高</a:t>
            </a:r>
            <a:endParaRPr lang="zh-CN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 fontAlgn="auto">
              <a:lnSpc>
                <a:spcPct val="150000"/>
              </a:lnSpc>
            </a:pPr>
            <a:r>
              <a:rPr 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样式运算考频高，对称性一般考查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道题</a:t>
            </a:r>
            <a:endParaRPr lang="zh-CN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 fontAlgn="auto">
              <a:lnSpc>
                <a:spcPct val="150000"/>
              </a:lnSpc>
            </a:pPr>
            <a:r>
              <a:rPr 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重构类大多考查六面体及其变形</a:t>
            </a:r>
            <a:endParaRPr lang="zh-CN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 fontAlgn="auto">
              <a:lnSpc>
                <a:spcPct val="150000"/>
              </a:lnSpc>
            </a:pPr>
            <a:r>
              <a:rPr 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数量类考频不高，且一般结合其他考点进行考察。</a:t>
            </a:r>
            <a:endParaRPr lang="zh-CN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 fontAlgn="auto">
              <a:lnSpc>
                <a:spcPct val="150000"/>
              </a:lnSpc>
            </a:pPr>
            <a:endParaRPr lang="zh-CN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3336290" y="787400"/>
          <a:ext cx="5519420" cy="39636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2230"/>
                <a:gridCol w="1427480"/>
                <a:gridCol w="1379855"/>
                <a:gridCol w="1379855"/>
              </a:tblGrid>
              <a:tr h="3975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逻辑判断</a:t>
                      </a:r>
                      <a:endParaRPr lang="zh-CN" altLang="en-US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2026</a:t>
                      </a:r>
                      <a:r>
                        <a:rPr lang="zh-CN" altLang="en-US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年</a:t>
                      </a:r>
                      <a:endParaRPr lang="zh-CN" altLang="en-US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2025</a:t>
                      </a:r>
                      <a:r>
                        <a:rPr lang="zh-CN" altLang="en-US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年</a:t>
                      </a:r>
                      <a:endParaRPr lang="zh-CN" altLang="en-US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2024</a:t>
                      </a:r>
                      <a:r>
                        <a:rPr lang="zh-CN" altLang="en-US" sz="2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年</a:t>
                      </a:r>
                      <a:endParaRPr lang="zh-CN" altLang="en-US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3962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加强削弱</a:t>
                      </a:r>
                      <a:endParaRPr lang="zh-CN" altLang="en-US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3962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前提型</a:t>
                      </a:r>
                      <a:endParaRPr lang="zh-CN" altLang="en-US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3962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平行结构</a:t>
                      </a:r>
                      <a:endParaRPr lang="zh-CN" altLang="en-US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3962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翻译推理</a:t>
                      </a:r>
                      <a:endParaRPr lang="zh-CN" altLang="en-US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3962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原因解释</a:t>
                      </a:r>
                      <a:endParaRPr lang="zh-CN" altLang="en-US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3962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分析推理</a:t>
                      </a:r>
                      <a:endParaRPr lang="zh-CN" altLang="en-US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3962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归纳推理</a:t>
                      </a:r>
                      <a:endParaRPr lang="zh-CN" altLang="en-US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3962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论证评价</a:t>
                      </a:r>
                      <a:endParaRPr lang="zh-CN" altLang="en-US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3962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总计</a:t>
                      </a:r>
                      <a:endParaRPr lang="zh-CN" altLang="en-US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12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3642995" y="229235"/>
            <a:ext cx="49060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逻辑判断</a:t>
            </a:r>
            <a:endParaRPr lang="zh-CN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27050" y="4848225"/>
            <a:ext cx="1166495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 fontAlgn="auto">
              <a:lnSpc>
                <a:spcPct val="150000"/>
              </a:lnSpc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上海的分析推理一般会考查一个材料对应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个题目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 fontAlgn="auto">
              <a:lnSpc>
                <a:spcPct val="150000"/>
              </a:lnSpc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考查的题型较多，每个题型考查的题目数量都不多。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3336290" y="787400"/>
          <a:ext cx="5519420" cy="1507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2230"/>
                <a:gridCol w="1427480"/>
                <a:gridCol w="1379855"/>
                <a:gridCol w="1379855"/>
              </a:tblGrid>
              <a:tr h="7550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定义判断</a:t>
                      </a:r>
                      <a:endParaRPr lang="zh-CN" altLang="en-US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2026</a:t>
                      </a:r>
                      <a:r>
                        <a:rPr lang="zh-CN" altLang="en-US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年</a:t>
                      </a:r>
                      <a:endParaRPr lang="zh-CN" altLang="en-US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2025</a:t>
                      </a:r>
                      <a:r>
                        <a:rPr lang="zh-CN" altLang="en-US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年</a:t>
                      </a:r>
                      <a:endParaRPr lang="zh-CN" altLang="en-US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2024</a:t>
                      </a:r>
                      <a:r>
                        <a:rPr lang="zh-CN" altLang="en-US" sz="2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年</a:t>
                      </a:r>
                      <a:endParaRPr lang="zh-CN" altLang="en-US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752475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3642995" y="229235"/>
            <a:ext cx="49060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定义判断</a:t>
            </a:r>
            <a:endParaRPr lang="zh-CN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27050" y="3063875"/>
            <a:ext cx="1166495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ctr" fontAlgn="auto">
              <a:lnSpc>
                <a:spcPct val="150000"/>
              </a:lnSpc>
            </a:pPr>
            <a:r>
              <a:rPr 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只有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年考查定义判断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62485" cy="68580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844561" y="2711751"/>
            <a:ext cx="27959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zh-CN" altLang="en-US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感谢收看！</a:t>
            </a:r>
            <a:endParaRPr kumimoji="1" lang="zh-CN" altLang="en-US" sz="4400" b="1" dirty="0">
              <a:solidFill>
                <a:srgbClr val="DC50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0.xml><?xml version="1.0" encoding="utf-8"?>
<p:tagLst xmlns:p="http://schemas.openxmlformats.org/presentationml/2006/main">
  <p:tag name="TABLE_ENDDRAG_ORIGIN_RECT" val="828*295"/>
  <p:tag name="TABLE_ENDDRAG_RECT" val="65*114*828*295"/>
</p:tagLst>
</file>

<file path=ppt/tags/tag21.xml><?xml version="1.0" encoding="utf-8"?>
<p:tagLst xmlns:p="http://schemas.openxmlformats.org/presentationml/2006/main">
  <p:tag name="TABLE_ENDDRAG_ORIGIN_RECT" val="487*216"/>
  <p:tag name="TABLE_ENDDRAG_RECT" val="257*91*487*216"/>
</p:tagLst>
</file>

<file path=ppt/tags/tag22.xml><?xml version="1.0" encoding="utf-8"?>
<p:tagLst xmlns:p="http://schemas.openxmlformats.org/presentationml/2006/main">
  <p:tag name="TABLE_ENDDRAG_ORIGIN_RECT" val="434*288"/>
  <p:tag name="TABLE_ENDDRAG_RECT" val="297*65*434*288"/>
</p:tagLst>
</file>

<file path=ppt/tags/tag23.xml><?xml version="1.0" encoding="utf-8"?>
<p:tagLst xmlns:p="http://schemas.openxmlformats.org/presentationml/2006/main">
  <p:tag name="TABLE_ENDDRAG_ORIGIN_RECT" val="434*118"/>
  <p:tag name="TABLE_ENDDRAG_RECT" val="262*62*434*118"/>
</p:tagLst>
</file>

<file path=ppt/tags/tag24.xml><?xml version="1.0" encoding="utf-8"?>
<p:tagLst xmlns:p="http://schemas.openxmlformats.org/presentationml/2006/main">
  <p:tag name="resource_record_key" val="{&quot;13&quot;:[20481828,4364903,4364924],&quot;65&quot;:[20205081]}"/>
  <p:tag name="COMMONDATA" val="eyJoZGlkIjoiYzg3MDM0ZWQ4YjU1N2M3YWUwMzk3ZjZkYThmOGJjZTM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454</Words>
  <Application>WPS 演示</Application>
  <PresentationFormat>宽屏</PresentationFormat>
  <Paragraphs>222</Paragraphs>
  <Slides>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Arial</vt:lpstr>
      <vt:lpstr>宋体</vt:lpstr>
      <vt:lpstr>Wingdings</vt:lpstr>
      <vt:lpstr>微软雅黑</vt:lpstr>
      <vt:lpstr>微软雅黑 Light</vt:lpstr>
      <vt:lpstr>Wingdings</vt:lpstr>
      <vt:lpstr>Arial Unicode MS</vt:lpstr>
      <vt:lpstr>Office 主题​​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桑桑</cp:lastModifiedBy>
  <cp:revision>201</cp:revision>
  <dcterms:created xsi:type="dcterms:W3CDTF">2019-06-19T02:08:00Z</dcterms:created>
  <dcterms:modified xsi:type="dcterms:W3CDTF">2026-05-27T10:40:53Z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7E0F0589F6D94CFE8A4BC2AEA01394FF_11</vt:lpwstr>
  </property>
</Properties>
</file>