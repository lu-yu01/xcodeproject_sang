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12"/>
  </p:handoutMasterIdLst>
  <p:sldIdLst>
    <p:sldId id="629" r:id="rId4"/>
    <p:sldId id="424" r:id="rId6"/>
    <p:sldId id="1362" r:id="rId7"/>
    <p:sldId id="1363" r:id="rId8"/>
    <p:sldId id="1364" r:id="rId9"/>
    <p:sldId id="1365" r:id="rId10"/>
    <p:sldId id="992" r:id="rId11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79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3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图形推理：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年该题型考点涵盖位置类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3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道、样式类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道、数量类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3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道、属性类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，同时首次出现八面体类考法，不过题目难度适中，可通过常规理论知识解题。此前图形推理多围绕六面体等常规空间重构题型考查，此次新增考点体现了命题的小幅创新，且素材还融入过剪纸纹样、鲁绣图案等山东文化元素，贴合本土特色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以单定义考查为主，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年试卷中单定义有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8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道，多定义仅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道。这类题型考查的概念涵盖多个学科领域，题目表述常规，整体难度适中，解题关键在于考生抓取定义核心要件、区分易混淆选项的能力。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年考点集中在内涵关系，占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道题，外延关系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道、语义关系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道、语法关系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道。值得注意的是，该题型还融入了山东方言（如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坷垃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）等地域元素，命题本土化趋势明显。整体考查既涉及基础的词语关系，也需要考生结合常识或地域知识辅助判断。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是该模块的重点难点题型，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年以论证类题目为主，占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6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道题，其余为翻译推理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道、真假推理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道、归纳推理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道。论证类题目常结合环保政策效果、乡村教育投入等热点话题命题，重点考查考生对论点、论据的分析以及削弱、加强等逻辑思维能力；翻译推理、真假推理则侧重对逻辑规则的应用，题目难度相对可控。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基础常规，难度适中：该模块整体考点较为基础，大多是常规考法，</a:t>
            </a:r>
            <a:r>
              <a:rPr lang="en-US" altLang="zh-CN"/>
              <a:t>2025 </a:t>
            </a:r>
            <a:r>
              <a:rPr lang="zh-CN" altLang="en-US"/>
              <a:t>年难度相较于</a:t>
            </a:r>
            <a:r>
              <a:rPr lang="en-US" altLang="zh-CN"/>
              <a:t> 2024 </a:t>
            </a:r>
            <a:r>
              <a:rPr lang="zh-CN" altLang="en-US"/>
              <a:t>年还有所下降。除图形推理的八面体外，无过多偏题怪题，多数题目通过掌握核心知识点和常规解题方法就能顺利作答。</a:t>
            </a:r>
            <a:endParaRPr lang="zh-CN" altLang="en-US"/>
          </a:p>
          <a:p>
            <a:r>
              <a:rPr lang="zh-CN" altLang="en-US"/>
              <a:t>本土特色凸显：命题越来越注重融入山东本地元素，不仅类比推理出现山东方言，图形推理也曾采用鲁绣、剪纸等山东特色文化素材，这要求考生在备考时适当关注本土文化相关内容。</a:t>
            </a:r>
            <a:endParaRPr lang="zh-CN" altLang="en-US"/>
          </a:p>
          <a:p>
            <a:r>
              <a:rPr lang="zh-CN" altLang="en-US"/>
              <a:t>考点无明显遗漏：四个子题型的考点覆盖全面，比如图形推理涵盖位置、样式、数量等主流考点，类比推理包含外延、内涵等各类逻辑关系，逻辑判断也涉及翻译、真假、论证等常见题型，能全面考查考生的判断推理综合能力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7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8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3" name="图片 12" descr="徽标&#10;&#10;AI 生成的内容可能不正确。"/>
          <p:cNvPicPr>
            <a:picLocks noChangeAspect="1"/>
          </p:cNvPicPr>
          <p:nvPr userDrawn="1"/>
        </p:nvPicPr>
        <p:blipFill>
          <a:blip r:embed="rId10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117600" y="8475133"/>
            <a:ext cx="3657600" cy="486833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385632" y="6176859"/>
            <a:ext cx="351972" cy="35898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DEE0B-E009-AE44-A6AE-F10FE1D5839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D480-A6AF-3D48-9E05-C49B5442FA82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0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9" Type="http://schemas.openxmlformats.org/officeDocument/2006/relationships/tags" Target="../tags/tag30.xml"/><Relationship Id="rId28" Type="http://schemas.openxmlformats.org/officeDocument/2006/relationships/tags" Target="../tags/tag29.xml"/><Relationship Id="rId27" Type="http://schemas.openxmlformats.org/officeDocument/2006/relationships/tags" Target="../tags/tag28.xml"/><Relationship Id="rId26" Type="http://schemas.openxmlformats.org/officeDocument/2006/relationships/tags" Target="../tags/tag27.xml"/><Relationship Id="rId25" Type="http://schemas.openxmlformats.org/officeDocument/2006/relationships/tags" Target="../tags/tag26.xml"/><Relationship Id="rId24" Type="http://schemas.openxmlformats.org/officeDocument/2006/relationships/tags" Target="../tags/tag25.xml"/><Relationship Id="rId23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2.xml"/><Relationship Id="rId2" Type="http://schemas.openxmlformats.org/officeDocument/2006/relationships/slideLayout" Target="../slideLayouts/slideLayout4.xml"/><Relationship Id="rId19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DC5037">
                <a:alpha val="42000"/>
              </a:srgbClr>
            </a:gs>
            <a:gs pos="67000">
              <a:srgbClr val="DC5037">
                <a:alpha val="10000"/>
              </a:srgb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43188" y="2364919"/>
            <a:ext cx="6576647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</a:t>
            </a:r>
            <a:endParaRPr kumimoji="1" lang="zh-CN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kumimoji="1" 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山东考情分析</a:t>
            </a:r>
            <a:endParaRPr kumimoji="1" lang="zh-CN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44561" y="425301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000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主讲老师：桑桑老师</a:t>
            </a:r>
            <a:endParaRPr kumimoji="1" lang="zh-CN" altLang="en-US" sz="2000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山东判断考情分析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283335"/>
            <a:ext cx="8441055" cy="40824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10477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图形推理题型题量分布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911860"/>
            <a:ext cx="8486775" cy="33540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62000" y="4364990"/>
            <a:ext cx="10387965" cy="168148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基础阶段：系统掌握各类规律的图形特征，建立 “特征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→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考点” 的快速对应思维；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强化阶段：重点练习数量规律、立体图形的复杂题型，总结复合考点的解题技巧；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冲刺阶段：限时刷题（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10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题 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/ 8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分钟），提升图形敏感度和解题速度。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20383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定义判断题型题量分布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1496695" y="2564130"/>
          <a:ext cx="853376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765"/>
                <a:gridCol w="1421765"/>
                <a:gridCol w="1421765"/>
                <a:gridCol w="1421765"/>
                <a:gridCol w="1421765"/>
                <a:gridCol w="14217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2021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单定义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多定义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62000" y="3882390"/>
            <a:ext cx="10883265" cy="2522855"/>
          </a:xfrm>
          <a:prstGeom prst="rect">
            <a:avLst/>
          </a:prstGeom>
        </p:spPr>
        <p:txBody>
          <a:bodyPr wrap="square">
            <a:noAutofit/>
          </a:bodyPr>
          <a:p>
            <a:pPr indent="0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核心能力：快速定位定义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“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主体、客体、条件、结果、方式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等关键要点，排除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“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偷换概念、扩大范围、无中生有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的干扰选项；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备考建议：无需积累专业知识，重点训练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“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关键词提取能力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和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“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选项对比思维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，对于长定义可采用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“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拆分要点、逐一匹配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的解题方法，限时刷题（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10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题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/ 10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分钟）提升效率。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7683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类比推理题型题量分布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670" y="911860"/>
            <a:ext cx="8576945" cy="33324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33400" y="4244975"/>
            <a:ext cx="11124565" cy="2338070"/>
          </a:xfrm>
          <a:prstGeom prst="rect">
            <a:avLst/>
          </a:prstGeom>
        </p:spPr>
        <p:txBody>
          <a:bodyPr wrap="square">
            <a:noAutofit/>
          </a:bodyPr>
          <a:p>
            <a:pPr indent="0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积累常识：重点关注山东本土文化、常见事物属性、科技热点等，避免因常识缺失导致解题失误；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明确逻辑：区分易混淆考点（如种属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vs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组成、矛盾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vs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反对），建立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“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先看逻辑关系，再看语义语法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的解题顺序；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限时训练：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10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题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/ 5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分钟，提升快速判断关系的能力，避免过度纠结单个题目。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-2476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逻辑判断题型题量分布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075" y="692150"/>
            <a:ext cx="6191250" cy="30861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075" y="692150"/>
            <a:ext cx="7317105" cy="3647440"/>
          </a:xfrm>
          <a:prstGeom prst="rect">
            <a:avLst/>
          </a:prstGeom>
        </p:spPr>
      </p:pic>
      <p:graphicFrame>
        <p:nvGraphicFramePr>
          <p:cNvPr id="7" name="表格 6"/>
          <p:cNvGraphicFramePr/>
          <p:nvPr/>
        </p:nvGraphicFramePr>
        <p:xfrm>
          <a:off x="469900" y="748030"/>
          <a:ext cx="1292225" cy="363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225"/>
              </a:tblGrid>
              <a:tr h="44132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56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加强</a:t>
                      </a:r>
                      <a:endParaRPr lang="zh-CN" altLang="en-US" b="1"/>
                    </a:p>
                  </a:txBody>
                  <a:tcPr/>
                </a:tc>
              </a:tr>
              <a:tr h="456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削弱</a:t>
                      </a:r>
                      <a:endParaRPr lang="zh-CN" altLang="en-US" b="1"/>
                    </a:p>
                  </a:txBody>
                  <a:tcPr/>
                </a:tc>
              </a:tr>
              <a:tr h="456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分析</a:t>
                      </a:r>
                      <a:endParaRPr lang="zh-CN" altLang="en-US" b="1"/>
                    </a:p>
                  </a:txBody>
                  <a:tcPr/>
                </a:tc>
              </a:tr>
              <a:tr h="456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翻译</a:t>
                      </a:r>
                      <a:endParaRPr lang="zh-CN" altLang="en-US" b="1"/>
                    </a:p>
                  </a:txBody>
                  <a:tcPr/>
                </a:tc>
              </a:tr>
              <a:tr h="456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真假</a:t>
                      </a:r>
                      <a:endParaRPr lang="zh-CN" altLang="en-US" b="1"/>
                    </a:p>
                  </a:txBody>
                  <a:tcPr/>
                </a:tc>
              </a:tr>
              <a:tr h="456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平行</a:t>
                      </a:r>
                      <a:endParaRPr lang="zh-CN" altLang="en-US" b="1"/>
                    </a:p>
                  </a:txBody>
                  <a:tcPr/>
                </a:tc>
              </a:tr>
              <a:tr h="456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归纳</a:t>
                      </a:r>
                      <a:endParaRPr lang="zh-CN" altLang="en-US" b="1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33400" y="4397375"/>
            <a:ext cx="11441430" cy="2338070"/>
          </a:xfrm>
          <a:prstGeom prst="rect">
            <a:avLst/>
          </a:prstGeom>
        </p:spPr>
        <p:txBody>
          <a:bodyPr wrap="square">
            <a:noAutofit/>
          </a:bodyPr>
          <a:p>
            <a:pPr indent="0" fontAlgn="auto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核心突破：重点攻克加强、削弱论证题，总结常见论证模型（如因果论证、类比论证）的解题技巧；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公式熟记：翻译推理、真假推理的基础公式需烂熟于心，确保快速准确翻译和推理；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逻辑训练：分析推理题多练习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“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列表法、假设法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，提升信息整合能力；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限时刷题：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10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题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/ 12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分钟，注重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“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准确率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+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速度</a:t>
            </a:r>
            <a:r>
              <a:rPr lang="en-US" alt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 </a:t>
            </a:r>
            <a:r>
              <a:rPr lang="zh-CN" altLang="en-US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兼顾，避免在难题上过度耗时。</a:t>
            </a:r>
            <a:endParaRPr lang="zh-CN" altLang="en-US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1.xml><?xml version="1.0" encoding="utf-8"?>
<p:tagLst xmlns:p="http://schemas.openxmlformats.org/presentationml/2006/main">
  <p:tag name="resource_record_key" val="{&quot;13&quot;:[20481828,4364903,4364924],&quot;65&quot;:[20205081]}"/>
  <p:tag name="COMMONDATA" val="eyJoZGlkIjoiYzg3MDM0ZWQ4YjU1N2M3YWUwMzk3ZjZkYThmOGJjZ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684</Words>
  <Application>WPS 演示</Application>
  <PresentationFormat>宽屏</PresentationFormat>
  <Paragraphs>81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微软雅黑 Light</vt:lpstr>
      <vt:lpstr>Wingdings</vt:lpstr>
      <vt:lpstr>Arial</vt:lpstr>
      <vt:lpstr>楷体</vt:lpstr>
      <vt:lpstr>Arial Unicode MS</vt:lpstr>
      <vt:lpstr>Office 主题​​</vt:lpstr>
      <vt:lpstr>WPS</vt:lpstr>
      <vt:lpstr>PowerPoint 演示文稿</vt:lpstr>
      <vt:lpstr>山东判断考情分析</vt:lpstr>
      <vt:lpstr>图形推理题型题量分布</vt:lpstr>
      <vt:lpstr>定义判断题型题量分布</vt:lpstr>
      <vt:lpstr>类比推理题型题量分布</vt:lpstr>
      <vt:lpstr>逻辑判断题型题量分布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198</cp:revision>
  <dcterms:created xsi:type="dcterms:W3CDTF">2019-06-19T02:08:00Z</dcterms:created>
  <dcterms:modified xsi:type="dcterms:W3CDTF">2025-11-24T03:06:03Z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2052-12.1.0.24014</vt:lpwstr>
  </property>
  <property fmtid="{D5CDD505-2E9C-101B-9397-08002B2CF9AE}" pid="3" name="ICV">
    <vt:lpwstr>3651D9A3E43849B4895637CADC2B9B37_12</vt:lpwstr>
  </property>
</Properties>
</file>