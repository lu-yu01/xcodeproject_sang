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122" r:id="rId3"/>
    <p:sldId id="2573" r:id="rId5"/>
    <p:sldId id="2574" r:id="rId6"/>
    <p:sldId id="2576" r:id="rId7"/>
    <p:sldId id="2577" r:id="rId8"/>
    <p:sldId id="2578" r:id="rId9"/>
    <p:sldId id="2473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9" userDrawn="1">
          <p15:clr>
            <a:srgbClr val="A4A3A4"/>
          </p15:clr>
        </p15:guide>
        <p15:guide id="2" pos="39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7" name="李鹏飞_6bQfzI3a" initials="李" lastIdx="0" clrIdx="0"/>
  <p:cmAuthor id="8" name="小珞_QjMfU7FR" initials="小" lastIdx="0" clrIdx="0"/>
  <p:cmAuthor id="9" name="骆倩怡_Znauj26B" initials="authorId_382814100" lastIdx="0" clrIdx="0"/>
  <p:cmAuthor id="249246244" name="桑桑" initials="桑" lastIdx="1" clrIdx="0"/>
  <p:cmAuthor id="10" name="caoyue" initials="c" lastIdx="1" clrIdx="9"/>
  <p:cmAuthor id="12" name="18309297108" initials="1" lastIdx="1" clrIdx="11"/>
  <p:cmAuthor id="13" name="xmiles" initials="x" lastIdx="1" clrIdx="12"/>
  <p:cmAuthor id="2001" name="Microsoft Office User" initials="MOU" lastIdx="1" clrIdx="2"/>
  <p:cmAuthor id="11" name="ibm" initials="i" lastIdx="5" clrIdx="10"/>
  <p:cmAuthor id="14" name="kobe" initials="k" lastIdx="1" clrIdx="13"/>
  <p:cmAuthor id="15" name="MIAI" initials="M" lastIdx="1" clrIdx="14"/>
  <p:cmAuthor id="16" name="HP" initials="H" lastIdx="1" clrIdx="15"/>
  <p:cmAuthor id="17" name="yangyaqin" initials="y" lastIdx="1" clrIdx="16"/>
  <p:cmAuthor id="18" name="ASUS" initials="A" lastIdx="1" clrIdx="1"/>
  <p:cmAuthor id="76" name="Yongqiang ZHOU" initials="YZ" lastIdx="1" clrIdx="25"/>
  <p:cmAuthor id="2000" name="Beck_jUrevum2" initials="authorId_724972424" lastIdx="0" clrIdx="0"/>
  <p:cmAuthor id="1483810881" name="WPS_1679281038" initials="W" lastIdx="1" clrIdx="2"/>
  <p:cmAuthor id="25" name="小蕊" initials="小" lastIdx="0" clrIdx="24"/>
  <p:cmAuthor id="26" name="幸全" initials="幸全" lastIdx="0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8A6C"/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9"/>
        <p:guide pos="390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4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+mn-lt"/>
                <a:sym typeface="+mn-ea"/>
              </a:rPr>
              <a:t>109.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B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。解析：根据题干的分析可知，想选择尽可能多的课程，则是在情况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中，此时，公共选修课中，不选择摄影艺术和电影赏析，选择饮食健康和孙子兵法，专业选修课中，选择电子商务和多媒体，网页设计和软件设计选择其中一项，最多可选</a:t>
            </a:r>
            <a:r>
              <a:rPr lang="en-US" altLang="zh-CN" dirty="0">
                <a:effectLst/>
                <a:latin typeface="+mn-lt"/>
                <a:sym typeface="+mn-ea"/>
              </a:rPr>
              <a:t> 5 </a:t>
            </a:r>
            <a:r>
              <a:rPr lang="zh-CN" altLang="en-US" dirty="0">
                <a:effectLst/>
                <a:latin typeface="+mn-lt"/>
                <a:sym typeface="+mn-ea"/>
              </a:rPr>
              <a:t>种，此时有两种可能的组合。故答案选</a:t>
            </a:r>
            <a:r>
              <a:rPr lang="en-US" altLang="zh-CN" dirty="0">
                <a:effectLst/>
                <a:latin typeface="+mn-lt"/>
                <a:sym typeface="+mn-ea"/>
              </a:rPr>
              <a:t> B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110.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A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。解析：根据上述分析可知：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Ａ项，在所有情况中，饮食健康和多媒体至少被选择一项，不会都不选。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1 </a:t>
            </a:r>
            <a:r>
              <a:rPr lang="zh-CN" altLang="en-US" dirty="0">
                <a:effectLst/>
                <a:latin typeface="+mn-lt"/>
                <a:sym typeface="+mn-ea"/>
              </a:rPr>
              <a:t>和情况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中，电影赏析和网页设计可能都不被选，排除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C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2.1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中，摄影艺术和电子商务都不被选，在情况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 C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中，专业选修课的选择可能是，选网页设计，不选软件设计，选电子商务，不选多媒体，则多媒体和软件设计可能都不被选，排除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故答案选</a:t>
            </a:r>
            <a:r>
              <a:rPr lang="en-US" altLang="zh-CN" dirty="0">
                <a:effectLst/>
                <a:latin typeface="+mn-lt"/>
                <a:sym typeface="+mn-ea"/>
              </a:rPr>
              <a:t> A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+mn-lt"/>
                <a:sym typeface="+mn-ea"/>
              </a:rPr>
              <a:t>109.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B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。解析：根据题干的分析可知，想选择尽可能多的课程，则是在情况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中，此时，公共选修课中，不选择摄影艺术和电影赏析，选择饮食健康和孙子兵法，专业选修课中，选择电子商务和多媒体，网页设计和软件设计选择其中一项，最多可选</a:t>
            </a:r>
            <a:r>
              <a:rPr lang="en-US" altLang="zh-CN" dirty="0">
                <a:effectLst/>
                <a:latin typeface="+mn-lt"/>
                <a:sym typeface="+mn-ea"/>
              </a:rPr>
              <a:t> 5 </a:t>
            </a:r>
            <a:r>
              <a:rPr lang="zh-CN" altLang="en-US" dirty="0">
                <a:effectLst/>
                <a:latin typeface="+mn-lt"/>
                <a:sym typeface="+mn-ea"/>
              </a:rPr>
              <a:t>种，此时有两种可能的组合。故答案选</a:t>
            </a:r>
            <a:r>
              <a:rPr lang="en-US" altLang="zh-CN" dirty="0">
                <a:effectLst/>
                <a:latin typeface="+mn-lt"/>
                <a:sym typeface="+mn-ea"/>
              </a:rPr>
              <a:t> B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110.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A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。解析：根据上述分析可知：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Ａ项，在所有情况中，饮食健康和多媒体至少被选择一项，不会都不选。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1 </a:t>
            </a:r>
            <a:r>
              <a:rPr lang="zh-CN" altLang="en-US" dirty="0">
                <a:effectLst/>
                <a:latin typeface="+mn-lt"/>
                <a:sym typeface="+mn-ea"/>
              </a:rPr>
              <a:t>和情况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中，电影赏析和网页设计可能都不被选，排除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C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2.1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中，摄影艺术和电子商务都不被选，在情况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 C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中，专业选修课的选择可能是，选网页设计，不选软件设计，选电子商务，不选多媒体，则多媒体和软件设计可能都不被选，排除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故答案选</a:t>
            </a:r>
            <a:r>
              <a:rPr lang="en-US" altLang="zh-CN" dirty="0">
                <a:effectLst/>
                <a:latin typeface="+mn-lt"/>
                <a:sym typeface="+mn-ea"/>
              </a:rPr>
              <a:t> A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+mn-lt"/>
                <a:sym typeface="+mn-ea"/>
              </a:rPr>
              <a:t>109.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B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。解析：根据题干的分析可知，想选择尽可能多的课程，则是在情况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中，此时，公共选修课中，不选择摄影艺术和电影赏析，选择饮食健康和孙子兵法，专业选修课中，选择电子商务和多媒体，网页设计和软件设计选择其中一项，最多可选</a:t>
            </a:r>
            <a:r>
              <a:rPr lang="en-US" altLang="zh-CN" dirty="0">
                <a:effectLst/>
                <a:latin typeface="+mn-lt"/>
                <a:sym typeface="+mn-ea"/>
              </a:rPr>
              <a:t> 5 </a:t>
            </a:r>
            <a:r>
              <a:rPr lang="zh-CN" altLang="en-US" dirty="0">
                <a:effectLst/>
                <a:latin typeface="+mn-lt"/>
                <a:sym typeface="+mn-ea"/>
              </a:rPr>
              <a:t>种，此时有两种可能的组合。故答案选</a:t>
            </a:r>
            <a:r>
              <a:rPr lang="en-US" altLang="zh-CN" dirty="0">
                <a:effectLst/>
                <a:latin typeface="+mn-lt"/>
                <a:sym typeface="+mn-ea"/>
              </a:rPr>
              <a:t> B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110.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A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。解析：根据上述分析可知：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Ａ项，在所有情况中，饮食健康和多媒体至少被选择一项，不会都不选。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1 </a:t>
            </a:r>
            <a:r>
              <a:rPr lang="zh-CN" altLang="en-US" dirty="0">
                <a:effectLst/>
                <a:latin typeface="+mn-lt"/>
                <a:sym typeface="+mn-ea"/>
              </a:rPr>
              <a:t>和情况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中，电影赏析和网页设计可能都不被选，排除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C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2.1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中，摄影艺术和电子商务都不被选，在情况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 C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中，专业选修课的选择可能是，选网页设计，不选软件设计，选电子商务，不选多媒体，则多媒体和软件设计可能都不被选，排除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故答案选</a:t>
            </a:r>
            <a:r>
              <a:rPr lang="en-US" altLang="zh-CN" dirty="0">
                <a:effectLst/>
                <a:latin typeface="+mn-lt"/>
                <a:sym typeface="+mn-ea"/>
              </a:rPr>
              <a:t> A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+mn-lt"/>
                <a:sym typeface="+mn-ea"/>
              </a:rPr>
              <a:t>109.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B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。解析：根据题干的分析可知，想选择尽可能多的课程，则是在情况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中，此时，公共选修课中，不选择摄影艺术和电影赏析，选择饮食健康和孙子兵法，专业选修课中，选择电子商务和多媒体，网页设计和软件设计选择其中一项，最多可选</a:t>
            </a:r>
            <a:r>
              <a:rPr lang="en-US" altLang="zh-CN" dirty="0">
                <a:effectLst/>
                <a:latin typeface="+mn-lt"/>
                <a:sym typeface="+mn-ea"/>
              </a:rPr>
              <a:t> 5 </a:t>
            </a:r>
            <a:r>
              <a:rPr lang="zh-CN" altLang="en-US" dirty="0">
                <a:effectLst/>
                <a:latin typeface="+mn-lt"/>
                <a:sym typeface="+mn-ea"/>
              </a:rPr>
              <a:t>种，此时有两种可能的组合。故答案选</a:t>
            </a:r>
            <a:r>
              <a:rPr lang="en-US" altLang="zh-CN" dirty="0">
                <a:effectLst/>
                <a:latin typeface="+mn-lt"/>
                <a:sym typeface="+mn-ea"/>
              </a:rPr>
              <a:t> B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110.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A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。解析：根据上述分析可知：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Ａ项，在所有情况中，饮食健康和多媒体至少被选择一项，不会都不选。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1 </a:t>
            </a:r>
            <a:r>
              <a:rPr lang="zh-CN" altLang="en-US" dirty="0">
                <a:effectLst/>
                <a:latin typeface="+mn-lt"/>
                <a:sym typeface="+mn-ea"/>
              </a:rPr>
              <a:t>和情况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中，电影赏析和网页设计可能都不被选，排除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C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2.1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中，摄影艺术和电子商务都不被选，在情况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 C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中，专业选修课的选择可能是，选网页设计，不选软件设计，选电子商务，不选多媒体，则多媒体和软件设计可能都不被选，排除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故答案选</a:t>
            </a:r>
            <a:r>
              <a:rPr lang="en-US" altLang="zh-CN" dirty="0">
                <a:effectLst/>
                <a:latin typeface="+mn-lt"/>
                <a:sym typeface="+mn-ea"/>
              </a:rPr>
              <a:t> A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+mn-lt"/>
                <a:sym typeface="+mn-ea"/>
              </a:rPr>
              <a:t>109.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B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。解析：根据题干的分析可知，想选择尽可能多的课程，则是在情况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中，此时，公共选修课中，不选择摄影艺术和电影赏析，选择饮食健康和孙子兵法，专业选修课中，选择电子商务和多媒体，网页设计和软件设计选择其中一项，最多可选</a:t>
            </a:r>
            <a:r>
              <a:rPr lang="en-US" altLang="zh-CN" dirty="0">
                <a:effectLst/>
                <a:latin typeface="+mn-lt"/>
                <a:sym typeface="+mn-ea"/>
              </a:rPr>
              <a:t> 5 </a:t>
            </a:r>
            <a:r>
              <a:rPr lang="zh-CN" altLang="en-US" dirty="0">
                <a:effectLst/>
                <a:latin typeface="+mn-lt"/>
                <a:sym typeface="+mn-ea"/>
              </a:rPr>
              <a:t>种，此时有两种可能的组合。故答案选</a:t>
            </a:r>
            <a:r>
              <a:rPr lang="en-US" altLang="zh-CN" dirty="0">
                <a:effectLst/>
                <a:latin typeface="+mn-lt"/>
                <a:sym typeface="+mn-ea"/>
              </a:rPr>
              <a:t> B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110.</a:t>
            </a:r>
            <a:r>
              <a:rPr lang="zh-CN" altLang="en-US" dirty="0">
                <a:effectLst/>
                <a:latin typeface="+mn-lt"/>
                <a:sym typeface="+mn-ea"/>
              </a:rPr>
              <a:t>【答案】</a:t>
            </a:r>
            <a:r>
              <a:rPr lang="en-US" altLang="zh-CN" dirty="0">
                <a:effectLst/>
                <a:latin typeface="+mn-lt"/>
                <a:sym typeface="+mn-ea"/>
              </a:rPr>
              <a:t>A</a:t>
            </a:r>
            <a:r>
              <a:rPr lang="zh-CN" altLang="en-US" dirty="0">
                <a:effectLst/>
                <a:latin typeface="+mn-lt"/>
                <a:sym typeface="+mn-ea"/>
              </a:rPr>
              <a:t>。解析：根据上述分析可知：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Ａ项，在所有情况中，饮食健康和多媒体至少被选择一项，不会都不选。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1 </a:t>
            </a:r>
            <a:r>
              <a:rPr lang="zh-CN" altLang="en-US" dirty="0">
                <a:effectLst/>
                <a:latin typeface="+mn-lt"/>
                <a:sym typeface="+mn-ea"/>
              </a:rPr>
              <a:t>和情况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中，电影赏析和网页设计可能都不被选，排除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B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C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2.1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中，摄影艺术和电子商务都不被选，在情况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中，摄影艺术和电子商务可能都不被选，排除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 C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项，在情况</a:t>
            </a:r>
            <a:r>
              <a:rPr lang="en-US" altLang="zh-CN" dirty="0">
                <a:effectLst/>
                <a:latin typeface="+mn-lt"/>
                <a:sym typeface="+mn-ea"/>
              </a:rPr>
              <a:t> 2.2 </a:t>
            </a:r>
            <a:r>
              <a:rPr lang="zh-CN" altLang="en-US" dirty="0">
                <a:effectLst/>
                <a:latin typeface="+mn-lt"/>
                <a:sym typeface="+mn-ea"/>
              </a:rPr>
              <a:t>中，专业选修课的选择可能是，选网页设计，不选软件设计，选电子商务，不选多媒体，则多媒体和软件设计可能都不被选，排除</a:t>
            </a:r>
            <a:r>
              <a:rPr lang="en-US" altLang="zh-CN" dirty="0">
                <a:effectLst/>
                <a:latin typeface="+mn-lt"/>
                <a:sym typeface="+mn-ea"/>
              </a:rPr>
              <a:t>D </a:t>
            </a:r>
            <a:r>
              <a:rPr lang="zh-CN" altLang="en-US" dirty="0">
                <a:effectLst/>
                <a:latin typeface="+mn-lt"/>
                <a:sym typeface="+mn-ea"/>
              </a:rPr>
              <a:t>项。</a:t>
            </a:r>
            <a:endParaRPr lang="zh-CN" altLang="en-US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dirty="0">
                <a:effectLst/>
                <a:latin typeface="+mn-lt"/>
                <a:sym typeface="+mn-ea"/>
              </a:rPr>
              <a:t>故答案选</a:t>
            </a:r>
            <a:r>
              <a:rPr lang="en-US" altLang="zh-CN" dirty="0">
                <a:effectLst/>
                <a:latin typeface="+mn-lt"/>
                <a:sym typeface="+mn-ea"/>
              </a:rPr>
              <a:t> A</a:t>
            </a:r>
            <a:r>
              <a:rPr lang="zh-CN" altLang="en-US" dirty="0"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94690" y="146685"/>
            <a:ext cx="10803255" cy="8451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800" b="1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天津判断推理题型题量分布</a:t>
            </a:r>
            <a:endParaRPr lang="zh-CN" altLang="en-US" sz="2800" b="1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899285" y="1392555"/>
          <a:ext cx="8629650" cy="3646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275"/>
                <a:gridCol w="1438275"/>
                <a:gridCol w="1438275"/>
                <a:gridCol w="1438275"/>
                <a:gridCol w="1438275"/>
                <a:gridCol w="1438275"/>
              </a:tblGrid>
              <a:tr h="60769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2021</a:t>
                      </a:r>
                      <a:endParaRPr lang="en-US" altLang="zh-CN"/>
                    </a:p>
                  </a:txBody>
                  <a:tcPr/>
                </a:tc>
              </a:tr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图形推理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</a:tr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类比推理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定义判断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逻辑判断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总计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94690" y="146685"/>
            <a:ext cx="10803255" cy="8451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800" b="1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图形推理</a:t>
            </a:r>
            <a:endParaRPr lang="zh-CN" altLang="en-US" sz="2800" b="1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457835" y="711200"/>
          <a:ext cx="11356975" cy="5591810"/>
        </p:xfrm>
        <a:graphic>
          <a:graphicData uri="http://schemas.openxmlformats.org/drawingml/2006/table">
            <a:tbl>
              <a:tblPr/>
              <a:tblGrid>
                <a:gridCol w="935990"/>
                <a:gridCol w="812800"/>
                <a:gridCol w="6205220"/>
                <a:gridCol w="3402965"/>
              </a:tblGrid>
              <a:tr h="457200"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年份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题量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核心考查细分方向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特殊说明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526540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平面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类：数量（相同元素个数）、属性（对称性）、样式规律（黑白运算）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立体类：六面体与四棱锥结合的创新折纸盒、三视图（侧视图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+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正视图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+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顶视图）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出现 “规律类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+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立体类” 结合的创新题（如六面体与四棱锥结合折纸盒），立体类占比提升至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40%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（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04035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平面类：曲直性（线条种类）、对称性（轴对称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/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非轴对称）、数量规律（面数量奇偶）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立体类：多面体正反视图匹配、特殊立体（大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L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型面）展开图、样式类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+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立体类结合（求异后立体验证）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出现 “曲直性细分”（纯直线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/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纯曲线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/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曲直混合），立体类侧重 “视图匹配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+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展开图细节”（如灰色面与白色面相邻关系）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04035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平面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类：数量（线条穿过小白球数量）、位置（内外圈黑球移动）、属性（平行线组数）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立体类：正方体展开图拼接（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①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与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④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旋转拼合）、功能元素（黑点标记交点线数）、黑白图形相交边数量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规律类细化考点（如 “线条端点穿过线数”“斜向平行线组数”），立体类侧重 “展开图拼接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+ 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功能元素结合”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94690" y="146685"/>
            <a:ext cx="10803255" cy="8451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800" b="1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类比推理</a:t>
            </a:r>
            <a:endParaRPr lang="zh-CN" altLang="en-US" sz="2800" b="1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27685" y="702310"/>
          <a:ext cx="11243310" cy="5334000"/>
        </p:xfrm>
        <a:graphic>
          <a:graphicData uri="http://schemas.openxmlformats.org/drawingml/2006/table">
            <a:tbl>
              <a:tblPr/>
              <a:tblGrid>
                <a:gridCol w="759460"/>
                <a:gridCol w="734695"/>
                <a:gridCol w="6739890"/>
                <a:gridCol w="3009265"/>
              </a:tblGrid>
              <a:tr h="762000"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年份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题量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核心考查细分方向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特殊说明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249680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1.两词型（5题）：如 “修缮：修葺”（近义）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2.三词型（3题）：如 “细胞核：细胞质：细胞”（组成关系）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3.填空式（2题）：如 “佶屈聱牙：（ ）”“（ ）：教诲”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4.考点：映射类（6题）、集合类（3题）、语义语法类（1题）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侧重生活常识关联（如 “针灸：疏通经脉” 功能对应），成语考查较少（仅 1 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1.两词型（4题）：如“兵符：信物”（种属）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2.三词型（4题）：如“服装：唐装：西装”（种属 + 并列）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3.填空式（2题）：如“缘木求鱼：（ ）”“（ ）：抱薪救火”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4.考点：映射类（5题）、集合类（3题）、语义语法类（2题）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成语考查常态化（2 题，如 “政通人和：国泰民安”），新增 “学科常识关联”（如 “锁骨：肋骨：坐骨” 并列器官）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798320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1.两词型（5题）：如“稻田养鱼：立体农业”（种属）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2.三词型（3题）：如“搜索引擎：互联网：检索技术”（对应 + 种属）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 填空式（2题）：如“货币资金：（ ）”“（ ）：民事合同”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4. 考点：映射类（6题）、集合类（2题）、语义语法类（2）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新增 “多重关系验证”（如 “春水煮茶” 需同时满足原材料、工艺、成品关系），成语考查结合结构分析（如 “冬寒抱冰：夏热握火” 并列结构）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94690" y="146685"/>
            <a:ext cx="10803255" cy="8451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800" b="1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定义判断</a:t>
            </a:r>
            <a:endParaRPr lang="zh-CN" altLang="en-US" sz="2800" b="1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56895" y="752475"/>
          <a:ext cx="11102975" cy="5071745"/>
        </p:xfrm>
        <a:graphic>
          <a:graphicData uri="http://schemas.openxmlformats.org/drawingml/2006/table">
            <a:tbl>
              <a:tblPr/>
              <a:tblGrid>
                <a:gridCol w="753110"/>
                <a:gridCol w="739140"/>
                <a:gridCol w="6943090"/>
                <a:gridCol w="2667635"/>
              </a:tblGrid>
              <a:tr h="499745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年份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题量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核心考查细分方向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特殊说明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249680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1.单定义（7题）：涉及生态（生态恢复岸线）、法律（禁止性规范）、医学（被害人盲点症）、科技（数据隐私）等学科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2.多定义（3题）：如 “代表性启发 / 可得性启发”“商业效用原则 / 最佳效用原则”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3.选是题（8题）、选非题（2题）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定义文字长度较往年增加（平均 300-350字），多定义题量较2022年增加1题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1.单定义（6题）：涉及法律（反向缺省规则）、经济（供应商绿色压力）、地理（湖陆风）、心理（正常化偏见）等学科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2.多定义（4题）：如 “一级预防 = 健康促进 + 健康保护”“证明性广告 = 感性证明 + 纯理性论证”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3.选是题（7题）、选非题（3 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多定义题量较 2023 年增加1题，选非题增加1题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798320"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1.单定义（7题）：涉及医学（特种医学）、历史（全球史观）、科学（查全率 / 查准率）、农业（植物第一性生产）等学科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2.多定义（3题）：如 “探索性调研 / 描述性调研”“本证 / 反证”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3.选是题（8题）、选非题（2题）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defTabSz="914400" fontAlgn="auto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定义涉及“专业术语解释”（如“相变潜热、第一类相变”），需结合公式计算（如查全率 = 检索出相关文献量 / 系统内相关文献总量）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94690" y="146685"/>
            <a:ext cx="10803255" cy="8451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800" b="1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逻辑判断</a:t>
            </a:r>
            <a:endParaRPr lang="zh-CN" altLang="en-US" sz="2800" b="1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463550" y="852805"/>
          <a:ext cx="11264900" cy="5029200"/>
        </p:xfrm>
        <a:graphic>
          <a:graphicData uri="http://schemas.openxmlformats.org/drawingml/2006/table">
            <a:tbl>
              <a:tblPr/>
              <a:tblGrid>
                <a:gridCol w="811530"/>
                <a:gridCol w="892175"/>
                <a:gridCol w="5633720"/>
                <a:gridCol w="3927475"/>
              </a:tblGrid>
              <a:tr h="426720"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年份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题量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核心考查细分方向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特殊说明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8375"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1.论证类（8题）：加强题（4题）、削弱题（4题）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2.推理类（2题）：翻译推理（1题）、分析推理（1题）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论证类题干平均 200-250 字，选项干扰性中等；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推理类需结合 “否后必否前”“或关系否一推一” 规则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1395"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1.论证类（7题）：加强题（3题）、削弱题（4题）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2.推理类（3题）：分析推理（2题）、归纳推理（1题）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论证类出现 “多主体对比削弱”（如 “记忆力差异导致实验偏差”），分析推理需结合 “条件矛盾排除”（如 “郑在下午值班则与人数限制冲突”）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798320"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20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10题</a:t>
                      </a:r>
                      <a:endParaRPr lang="zh-CN" altLang="en-US" sz="20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1.论证类（7题）：加强题（4题）、削弱题（3题）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2.推理类（3题）：翻译推理（1题）、分析推理（1题）、真假推理（1题）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buClrTx/>
                        <a:buSzTx/>
                        <a:buNone/>
                        <a:tabLst>
                          <a:tab pos="2933700" algn="l"/>
                        </a:tabLs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论证类出现 “搭桥细化”（如 “β- 淀粉样蛋白沉积→阿尔茨海默症”），推理类需 “多规则组合”（如翻译推理 + 分析推理结合）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114300" marR="114300" marT="76200" marB="762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TABLE_ENDDRAG_ORIGIN_RECT" val="679*239"/>
  <p:tag name="TABLE_ENDDRAG_RECT" val="136*105*679*239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TABLE_ENDDRAG_ORIGIN_RECT" val="894*437"/>
  <p:tag name="TABLE_ENDDRAG_RECT" val="36*56*894*437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TABLE_ENDDRAG_ORIGIN_RECT" val="885*350"/>
  <p:tag name="TABLE_ENDDRAG_RECT" val="41*55*885*350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TABLE_ENDDRAG_ORIGIN_RECT" val="874*300"/>
  <p:tag name="TABLE_ENDDRAG_RECT" val="43*59*874*300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TABLE_ENDDRAG_ORIGIN_RECT" val="887*283"/>
  <p:tag name="TABLE_ENDDRAG_RECT" val="36*67*887*283"/>
</p:tagLst>
</file>

<file path=ppt/tags/tag41.xml><?xml version="1.0" encoding="utf-8"?>
<p:tagLst xmlns:p="http://schemas.openxmlformats.org/presentationml/2006/main">
  <p:tag name="resource_record_key" val="{&quot;13&quot;:[20481828,4364903,4364924],&quot;29&quot;:[50053121,50053160,50053246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2058</Words>
  <Application>WPS 演示</Application>
  <PresentationFormat>宽屏</PresentationFormat>
  <Paragraphs>237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微软雅黑 Light</vt:lpstr>
      <vt:lpstr>楷体</vt:lpstr>
      <vt:lpstr>Arial Unicode MS</vt:lpstr>
      <vt:lpstr>Inter</vt:lpstr>
      <vt:lpstr>Segoe Print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258</cp:revision>
  <dcterms:created xsi:type="dcterms:W3CDTF">2019-06-19T02:08:00Z</dcterms:created>
  <dcterms:modified xsi:type="dcterms:W3CDTF">2025-11-28T01:53:38Z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7E0F0589F6D94CFE8A4BC2AEA01394FF_11</vt:lpwstr>
  </property>
</Properties>
</file>