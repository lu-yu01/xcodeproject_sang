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2"/>
  </p:handoutMasterIdLst>
  <p:sldIdLst>
    <p:sldId id="629" r:id="rId4"/>
    <p:sldId id="424" r:id="rId6"/>
    <p:sldId id="1363" r:id="rId7"/>
    <p:sldId id="1364" r:id="rId8"/>
    <p:sldId id="1365" r:id="rId9"/>
    <p:sldId id="1366" r:id="rId10"/>
    <p:sldId id="992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微软用户" initials="微" lastIdx="0" clrIdx="7"/>
  <p:cmAuthor id="9" name="李鹏瑞" initials="李" lastIdx="0" clrIdx="8"/>
  <p:cmAuthor id="10" name="未知用户3" initials="未" lastIdx="0" clrIdx="9"/>
  <p:cmAuthor id="11" name="周洁" initials="周" lastIdx="0" clrIdx="10"/>
  <p:cmAuthor id="12" name="999宝藏网" initials="9" lastIdx="0" clrIdx="11"/>
  <p:cmAuthor id="13" name="Windows 用户" initials="W" lastIdx="0" clrIdx="12"/>
  <p:cmAuthor id="14" name="dd" initials="d" lastIdx="0" clrIdx="13"/>
  <p:cmAuthor id="15" name="jiangjinggang" initials="j" lastIdx="0" clrIdx="14"/>
  <p:cmAuthor id="16" name="tuyang" initials="t" lastIdx="0" clrIdx="15"/>
  <p:cmAuthor id="17" name="3157009814@qq.com" initials="3" lastIdx="0" clrIdx="16"/>
  <p:cmAuthor id="18" name="未知用户4" initials="未" lastIdx="0" clrIdx="17"/>
  <p:cmAuthor id="19" name="59861" initials="5" lastIdx="0" clrIdx="18"/>
  <p:cmAuthor id="20" name="QH" initials="Q" lastIdx="0" clrIdx="19"/>
  <p:cmAuthor id="21" name="84407" initials="8" lastIdx="0" clrIdx="20"/>
  <p:cmAuthor id="22" name="yangmei" initials="y" lastIdx="0" clrIdx="21"/>
  <p:cmAuthor id="23" name="赵 岩" initials="赵" lastIdx="0" clrIdx="22"/>
  <p:cmAuthor id="24" name="Joyfeather" initials="J" lastIdx="0" clrIdx="23"/>
  <p:cmAuthor id="25" name="Asus" initials="A" lastIdx="0" clrIdx="24"/>
  <p:cmAuthor id="26" name="asus" initials="a" lastIdx="0" clrIdx="25"/>
  <p:cmAuthor id="27" name="ss" initials="ss" lastIdx="0" clrIdx="26"/>
  <p:cmAuthor id="28" name="44490" initials="4" lastIdx="0" clrIdx="27"/>
  <p:cmAuthor id="29" name="t19176" initials="t" lastIdx="0" clrIdx="28"/>
  <p:cmAuthor id="30" name="WPS_1679281038" initials="W" lastIdx="0" clrIdx="29"/>
  <p:cmAuthor id="31" name="12895" initials="1" lastIdx="0" clrIdx="30"/>
  <p:cmAuthor id="32" name="1423970900" initials="1" lastIdx="0" clrIdx="31"/>
  <p:cmAuthor id="33" name="Rachel啊" initials="R" lastIdx="0" clrIdx="32"/>
  <p:cmAuthor id="34" name="75493" initials="7" lastIdx="0" clrIdx="33"/>
  <p:cmAuthor id="35" name="周 洁" initials="周" lastIdx="0" clrIdx="34"/>
  <p:cmAuthor id="36" name="刘 童" initials="刘" lastIdx="0" clrIdx="35"/>
  <p:cmAuthor id="37" name="未知用户1" initials="未" lastIdx="0" clrIdx="36"/>
  <p:cmAuthor id="38" name="zy223200 zy223200" initials="zz" lastIdx="0" clrIdx="37"/>
  <p:cmAuthor id="39" name="zhang" initials="z" lastIdx="0" clrIdx="3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8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本题属于位置类，主要考查线形关系。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第一组的图形间关系为：圆和折线分别相离、相切、相交。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第二组前两幅图的图形间关系也符合该规律，故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？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处图形的圆和折线应相交，只有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tags" Target="../tags/tag26.xml"/><Relationship Id="rId3" Type="http://schemas.openxmlformats.org/officeDocument/2006/relationships/image" Target="../media/image2.jpeg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21600000">
            <a:off x="163195" y="158115"/>
            <a:ext cx="2592071" cy="493395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21600000">
            <a:off x="0" y="5648325"/>
            <a:ext cx="1090295" cy="1209675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rot="21600000">
            <a:off x="10736580" y="0"/>
            <a:ext cx="1455420" cy="804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1" Type="http://schemas.openxmlformats.org/officeDocument/2006/relationships/theme" Target="../theme/theme2.xml"/><Relationship Id="rId30" Type="http://schemas.openxmlformats.org/officeDocument/2006/relationships/tags" Target="../tags/tag33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浙江考情分析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703705" y="2033270"/>
          <a:ext cx="8714740" cy="34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685"/>
                <a:gridCol w="2178685"/>
                <a:gridCol w="2178685"/>
                <a:gridCol w="2178685"/>
              </a:tblGrid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题型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类比推理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定义判断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435" name="文本框 4"/>
          <p:cNvSpPr txBox="1"/>
          <p:nvPr/>
        </p:nvSpPr>
        <p:spPr>
          <a:xfrm>
            <a:off x="2999740" y="5804853"/>
            <a:ext cx="5724525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57175" indent="-257175" defTabSz="309880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差异：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卷与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B/C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卷题量略有差异，考点一致</a:t>
            </a:r>
            <a:endParaRPr lang="zh-CN" altLang="en-US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Helvetica Light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浙江判断考情分析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10477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76300" y="812800"/>
          <a:ext cx="81921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505"/>
                <a:gridCol w="1102995"/>
                <a:gridCol w="1365885"/>
                <a:gridCol w="1365250"/>
                <a:gridCol w="1365250"/>
                <a:gridCol w="1365250"/>
              </a:tblGrid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图形间关系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立体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203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62000" y="1102360"/>
          <a:ext cx="8530590" cy="1214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/>
                <a:gridCol w="1421765"/>
                <a:gridCol w="1421765"/>
                <a:gridCol w="1421765"/>
                <a:gridCol w="1421765"/>
                <a:gridCol w="1421765"/>
              </a:tblGrid>
              <a:tr h="4527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20750" y="2685415"/>
            <a:ext cx="10233025" cy="230695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 </a:t>
            </a:r>
            <a:r>
              <a:rPr lang="zh-CN" altLang="en-US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卷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：主题多元，涵盖 “科技（数字经济、人工智能）、管理（基层治理、数字化治理）、社会热点（新质生产力、银发经济）”，如 </a:t>
            </a:r>
            <a:r>
              <a:rPr lang="en-US" altLang="zh-CN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 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 </a:t>
            </a:r>
            <a:r>
              <a:rPr lang="en-US" altLang="zh-CN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 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卷 “碳信用”“环境标志” 定义，贴合综合岗对 “宏观视野” 的要求；</a:t>
            </a:r>
            <a:endParaRPr lang="zh-CN" altLang="en-US" sz="16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 </a:t>
            </a:r>
            <a:r>
              <a:rPr lang="zh-CN" altLang="en-US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卷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：法律类定义占比超 </a:t>
            </a:r>
            <a:r>
              <a:rPr lang="en-US" altLang="zh-CN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40%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，如 “行政不作为”“反社会人格犯罪”，</a:t>
            </a:r>
            <a:r>
              <a:rPr lang="en-US" altLang="zh-CN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 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年新增 “生态环境损害赔偿”“行政复议” 等行政执法相关定义，需熟悉基础法律术语；</a:t>
            </a:r>
            <a:endParaRPr lang="zh-CN" altLang="en-US" sz="16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 </a:t>
            </a:r>
            <a:r>
              <a:rPr lang="zh-CN" altLang="en-US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卷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：侧重 “民生服务、乡村振兴”，如 “基层网格化管理”“养老服务补贴” 定义，题干案例多为乡镇、社区场景，阅读难度低于 </a:t>
            </a:r>
            <a:r>
              <a:rPr lang="en-US" altLang="zh-CN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 </a:t>
            </a:r>
            <a:r>
              <a:rPr lang="zh-CN" altLang="en-US" sz="16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卷。</a:t>
            </a:r>
            <a:endParaRPr lang="zh-CN" altLang="en-US" sz="16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76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25830" y="882015"/>
          <a:ext cx="826389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315"/>
                <a:gridCol w="1377315"/>
                <a:gridCol w="1377315"/>
                <a:gridCol w="1377315"/>
                <a:gridCol w="1377315"/>
                <a:gridCol w="1377315"/>
              </a:tblGrid>
              <a:tr h="5448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对应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16000" y="4618990"/>
            <a:ext cx="9937115" cy="161988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50000"/>
              </a:lnSpc>
              <a:spcBef>
                <a:spcPts val="400"/>
              </a:spcBef>
              <a:buClrTx/>
              <a:buSzTx/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 卷：考点全面，2025 年 “对应关系” 达 5 题，且出现 “多维度对应”（如 1 题同时考查 “功能 + 地域”）；</a:t>
            </a:r>
            <a:endParaRPr lang="en-US" altLang="zh-CN" sz="1600" b="1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50000"/>
              </a:lnSpc>
              <a:spcBef>
                <a:spcPts val="400"/>
              </a:spcBef>
              <a:buClrTx/>
              <a:buSzTx/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B/C 卷：删减 “交叉关系” 等复杂考点，以 “对应、包容、语义语法” 为主，题量减少 2 题（通常删减 “交叉、并列”），难度降低。</a:t>
            </a:r>
            <a:endParaRPr lang="en-US" altLang="zh-CN" sz="1600" b="1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85775" y="598805"/>
          <a:ext cx="8835390" cy="429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565"/>
                <a:gridCol w="1472565"/>
                <a:gridCol w="1472565"/>
                <a:gridCol w="1472565"/>
                <a:gridCol w="1472565"/>
                <a:gridCol w="1472565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平行结构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25780" y="4481830"/>
            <a:ext cx="10900410" cy="18611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 卷：论证类题干多为 “行政执法场景”（如 “行政处罚合理性”“生态保护政策效果”），选项需结合法律逻辑（如 “程序正当”“证据充分”）；</a:t>
            </a:r>
            <a:endParaRPr lang="en-US" altLang="zh-CN" sz="1600" b="1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 卷：分析推理题干多为 “基层工作任务”（如 “乡村振兴项目分配”“社区活动排序”），案例贴近乡镇实际，无需复杂逻辑推导；</a:t>
            </a:r>
            <a:endParaRPr lang="en-US" altLang="zh-CN" sz="1600" b="1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 卷：论证类题干多为 “宏观政策、科技热点”（如 “数字经济对就业的影响”），选项需体现 “逻辑严谨性”，干扰项设置更隐蔽。</a:t>
            </a:r>
            <a:endParaRPr lang="en-US" altLang="zh-CN" sz="1600" b="1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4.xml><?xml version="1.0" encoding="utf-8"?>
<p:tagLst xmlns:p="http://schemas.openxmlformats.org/presentationml/2006/main">
  <p:tag name="TABLE_ENDDRAG_ORIGIN_RECT" val="686*272"/>
  <p:tag name="TABLE_ENDDRAG_RECT" val="134*160*686*272"/>
</p:tagLst>
</file>

<file path=ppt/tags/tag35.xml><?xml version="1.0" encoding="utf-8"?>
<p:tagLst xmlns:p="http://schemas.openxmlformats.org/presentationml/2006/main">
  <p:tag name="TABLE_ENDDRAG_ORIGIN_RECT" val="645*269"/>
  <p:tag name="TABLE_ENDDRAG_RECT" val="69*64*645*269"/>
</p:tagLst>
</file>

<file path=ppt/tags/tag36.xml><?xml version="1.0" encoding="utf-8"?>
<p:tagLst xmlns:p="http://schemas.openxmlformats.org/presentationml/2006/main">
  <p:tag name="TABLE_ENDDRAG_ORIGIN_RECT" val="650*257"/>
  <p:tag name="TABLE_ENDDRAG_RECT" val="105*128*650*257"/>
</p:tagLst>
</file>

<file path=ppt/tags/tag37.xml><?xml version="1.0" encoding="utf-8"?>
<p:tagLst xmlns:p="http://schemas.openxmlformats.org/presentationml/2006/main">
  <p:tag name="TABLE_ENDDRAG_ORIGIN_RECT" val="695*337"/>
  <p:tag name="TABLE_ENDDRAG_RECT" val="34*69*695*337"/>
</p:tagLst>
</file>

<file path=ppt/tags/tag38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WPS 演示</Application>
  <PresentationFormat>宽屏</PresentationFormat>
  <Paragraphs>320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Helvetica Light</vt:lpstr>
      <vt:lpstr>Arial</vt:lpstr>
      <vt:lpstr>楷体</vt:lpstr>
      <vt:lpstr>Inter</vt:lpstr>
      <vt:lpstr>Segoe Print</vt:lpstr>
      <vt:lpstr>黑体</vt:lpstr>
      <vt:lpstr>Office 主题​​</vt:lpstr>
      <vt:lpstr>WPS</vt:lpstr>
      <vt:lpstr>PowerPoint 演示文稿</vt:lpstr>
      <vt:lpstr>山东判断考情分析</vt:lpstr>
      <vt:lpstr>图形推理题型题量分布</vt:lpstr>
      <vt:lpstr>定义判断题型题量分布</vt:lpstr>
      <vt:lpstr>类比推理题型题量分布</vt:lpstr>
      <vt:lpstr>逻辑判断题型题量分布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196</cp:revision>
  <dcterms:created xsi:type="dcterms:W3CDTF">2019-06-19T02:08:00Z</dcterms:created>
  <dcterms:modified xsi:type="dcterms:W3CDTF">2025-11-24T03:25:24Z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2052-12.1.0.24014</vt:lpwstr>
  </property>
  <property fmtid="{D5CDD505-2E9C-101B-9397-08002B2CF9AE}" pid="3" name="ICV">
    <vt:lpwstr>7E0F0589F6D94CFE8A4BC2AEA01394FF_11</vt:lpwstr>
  </property>
</Properties>
</file>