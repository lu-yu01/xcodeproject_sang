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5" r:id="rId4"/>
  </p:sldMasterIdLst>
  <p:notesMasterIdLst>
    <p:notesMasterId r:id="rId6"/>
  </p:notesMasterIdLst>
  <p:handoutMasterIdLst>
    <p:handoutMasterId r:id="rId21"/>
  </p:handoutMasterIdLst>
  <p:sldIdLst>
    <p:sldId id="629" r:id="rId5"/>
    <p:sldId id="1362" r:id="rId7"/>
    <p:sldId id="1363" r:id="rId8"/>
    <p:sldId id="1367" r:id="rId9"/>
    <p:sldId id="1368" r:id="rId10"/>
    <p:sldId id="1369" r:id="rId11"/>
    <p:sldId id="1364" r:id="rId12"/>
    <p:sldId id="1371" r:id="rId13"/>
    <p:sldId id="1365" r:id="rId14"/>
    <p:sldId id="1372" r:id="rId15"/>
    <p:sldId id="1373" r:id="rId16"/>
    <p:sldId id="1366" r:id="rId17"/>
    <p:sldId id="1374" r:id="rId18"/>
    <p:sldId id="1375" r:id="rId19"/>
    <p:sldId id="992" r:id="rId20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1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  <p:cmAuthor id="8" name="李鹏飞_6bQfzI3a" initials="李" lastIdx="0" clrIdx="7"/>
  <p:cmAuthor id="9" name="小珞_QjMfU7FR" initials="小" lastIdx="0" clrIdx="8"/>
  <p:cmAuthor id="10" name="骆倩怡_Znauj26B" initials="authorId_382814100" lastIdx="0" clrIdx="9"/>
  <p:cmAuthor id="11" name="桑桑" initials="桑" lastIdx="0" clrIdx="10"/>
  <p:cmAuthor id="12" name="caoyue" initials="c" lastIdx="0" clrIdx="11"/>
  <p:cmAuthor id="13" name="18309297108" initials="1" lastIdx="0" clrIdx="12"/>
  <p:cmAuthor id="14" name="xmiles" initials="x" lastIdx="0" clrIdx="13"/>
  <p:cmAuthor id="15" name="Microsoft Office User" initials="MOU" lastIdx="0" clrIdx="14"/>
  <p:cmAuthor id="16" name="ibm" initials="i" lastIdx="0" clrIdx="15"/>
  <p:cmAuthor id="17" name="kobe" initials="k" lastIdx="0" clrIdx="16"/>
  <p:cmAuthor id="18" name="MIAI" initials="M" lastIdx="0" clrIdx="17"/>
  <p:cmAuthor id="19" name="HP" initials="H" lastIdx="0" clrIdx="18"/>
  <p:cmAuthor id="20" name="yangyaqin" initials="y" lastIdx="0" clrIdx="19"/>
  <p:cmAuthor id="21" name="ASUS" initials="A" lastIdx="0" clrIdx="20"/>
  <p:cmAuthor id="22" name="Yongqiang ZHOU" initials="YZ" lastIdx="0" clrIdx="21"/>
  <p:cmAuthor id="23" name="Beck_jUrevum2" initials="authorId_724972424" lastIdx="0" clrIdx="22"/>
  <p:cmAuthor id="24" name="WPS_1679281038" initials="W" lastIdx="0" clrIdx="23"/>
  <p:cmAuthor id="25" name="小蕊" initials="小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2"/>
        <p:guide pos="381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gs" Target="tags/tag46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图形推理：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年该题型考点涵盖位置类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3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道、样式类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道、数量类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3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道、属性类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，同时首次出现八面体类考法，不过题目难度适中，可通过常规理论知识解题。此前图形推理多围绕六面体等常规空间重构题型考查，此次新增考点体现了命题的小幅创新，且素材还融入过剪纸纹样、鲁绣图案等山东文化元素，贴合本土特色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解析：题干所有图形均由两个独立的封闭图形组合构成，结构存在共性，优先考虑静态位置。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两个面公共边的条数从左到右依次为0、1、2、3、4、？，呈等差递增的规律，所以问号处图形公共边的条数应该是5条。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57.答案：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解析：元素组成不同，且无明显属性规律，考虑数量规律。题干图形内外均由多边形构成，可考虑内外分开看。观察发现，每幅图中内部直线数=外部直线数，故？处应用此规律，只有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项符合。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解析：题目要求将各图进行拼合。观察图形特征，寻找等长的平行边，将其拼合后如下图所示：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以单定义考查为主，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年试卷中单定义有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8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道，多定义仅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道。这类题型考查的概念涵盖多个学科领域，题目表述常规，整体难度适中，解题关键在于考生抓取定义核心要件、区分易混淆选项的能力。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解析：①利用言语和非言语信息；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②推测出对方可能感兴趣的话题、潜在的心理需求以及他们可能认同的观点。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项：小肖直接询问朋友的工作，不符合“推测出对方可能感兴趣的话题、潜在的心理需求以及他们可能认同的观点”，不符合定义；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项：小杨试探客户的购买意愿，但是客户只想订一套，没有推测出客户真实的需求，不符合“推测出对方可能感兴趣的话题、潜在的心理需求以及他们可能认同的观点”，不符合定义；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项：小曹根据客户穿的球衣打开话题，符合“利用言语和非言语信息，推测出对方可能感兴趣的话题、潜在的心理需求以及他们可能认同的观点”，符合定义；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项：小杜对朋友提出打网球的建议，不符合“推测出对方可能感兴趣的话题、潜在的心理需求以及他们可能认同的观点”，不符合定义。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核心：**通过线索推测对方内心 / 兴趣，不是直接提问，也不是自己输出观点教育对方**。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直接封闭式提问 “你在软件园上班吗？”，是直接猜测具体事实，不是推测**兴趣、心理需求、认同的观点**，只是猜地点，排除。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小杨说 “先订 4 套差不多”，抛出一个订货数量，引导客户说出真实想法。利用言语信息，推测客户的潜在需求，诱导客户暴露出自己真实的购买意向✅。属于冷读。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看到球衣聊球赛。这是**观察外在实物线索，直接顺着可见线索聊现成话题**。球衣是客观可见的明确信号，不是 “推测潜在的心理、需求”；看到球衣→聊球赛，属于就现象聊现象，没有推测对方内心，排除。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小杜输出自己网球的观点，朋友接受建议。只是单方面输出建议，没有推测朋友的心理需求，排除。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年考点集中在内涵关系，占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道题，外延关系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道、语义关系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道、语法关系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道。值得注意的是，该题型还融入了山东方言（如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坷垃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）等地域元素，命题本土化趋势明显。整体考查既涉及基础的词语关系，也需要考生结合常识或地域知识辅助判断。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解析：“纸币”由“纸张”制成，二者属于原材料对应关系，“纸币”是一种“货币”，二者属于包容关系中的种属关系。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项：“木椅”由“木材”制成，二者属于原材料对应关系，“木椅”是一种“椅子”，二者属于包容关系中的种属关系，与题干逻辑关系一致，符合；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项：“电扇”是一种“电器”，二者属于包容关系中的种属关系，排除；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项：“陶瓷”由“陶土”制成，但“白瓷”是“陶瓷”的一种，顺序不符，排除；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项：“面食”由“面粉”制成，二者属于原材料对应关系，但有的“面食”是“美食”，有的“美食”是“面食”，二者属于交叉关系，排除。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77.答案：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解析：逐一代入选项。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项：“运动”有“健身”的作用，二者为功能对应关系；“口罩”和“眼罩”是两种不同的用具，二者为并列关系，前后逻辑关系不一致，排除；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项：“健身”有“增肌”的作用，二者为功能对应关系；“眼罩”有“遮光”的作用，二者为功能对应关系，但前后词语顺序相反，前后逻辑关系不一致，排除；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项：“健步走”是一种“健身”方式，二者为种属关系；“丝绸”是制作“眼罩”的原材料，二者为原材料和成品的对应关系，前后逻辑关系不一致，排除；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项：“健身”的时候可能会用到“跑步机”，二者为工具对应关系；“睡眠”的时候可能会用到“眼罩”，二者为工具对应关系，前后逻辑关系一致，当选。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是该模块的重点难点题型，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年以论证类题目为主，占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6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道题，其余为翻译推理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道、真假推理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道、归纳推理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道。论证类题目常结合环保政策效果、乡村教育投入等热点话题命题，重点考查考生对论点、论据的分析以及削弱、加强等逻辑思维能力；翻译推理、真假推理则侧重对逻辑规则的应用，题目难度相对可控。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解析：根据提问方式“逻辑错误与上述推理最为相似”，确定为平行结构。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题干中推理结构为：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冻死）→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胃黏膜褐色或深褐色出血），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胃黏膜褐色或深褐色出血），所以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冻死）。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没有活力的店铺）→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衰败），¬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店铺有活力，通过特价活动带动人气），所以¬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不会衰败）。与题干推理形式不同，排除；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包容度高的城市）→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吸引各类人才聚集），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人才吸引力指数名列前茅，即能吸引人才），所以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包容度高）。与题干推理形式相同，符合；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经常饮酒）→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喉癌及消化道癌发病率明显增加），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沉迷喝酒），所以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一定得了这类癌症）。与题干推理形式不同，排除；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成熟的西瓜）→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花纹宽阔、界限清晰），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花纹宽且界限清晰），所以可能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熟了），结论为“可能性判断”，而题干是“必然性判断”，与题干推理形式不同，排除。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83.答案：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解析：论点：心脏病患者无需减少钠盐摄入量。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论据：减少钠盐摄入量并没有减少心力衰竭患者的急诊、住院或死亡风险。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论点和论据讨论的都是心脏病患者无需减少钠盐摄入量，二者话题一致，本题为削弱选非题，排除能够削弱的选项即可。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项：指出长期过量摄入钠盐会增加心脏病人中风的风险，因此证明心脏病患者需要减少钠盐摄入量，可以削弱，排除；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项：指出心脏病人减少钠盐的摄入量后可能会导致低钠血症，因此对心脏病患者就不能减少钠盐摄入量，为加强项，无法削弱，当选；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项：指出长期过量摄入钠盐会加重心脏病人的肝脏和肾脏负担，因此证明心脏病患者需要减少钠盐摄入量，可以削弱，排除；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项：指出低钠盐饮食能够改善心脏病患者的肿胀、疲劳等症状，说明了低钠盐饮食对心脏病患者有帮助，因此证明心脏病患者需要减少钠盐摄入量，可以削弱，排除。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本题为选非题，故正确答案为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7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7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0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3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tags" Target="../tags/tag3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tags" Target="../tags/tag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2027</a:t>
            </a:r>
            <a:endParaRPr kumimoji="1" lang="zh-CN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kumimoji="1" 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四川考情分析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主讲老师：陆羽老师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四川判断考情分析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075690" y="930275"/>
          <a:ext cx="10277475" cy="480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148"/>
                <a:gridCol w="1204168"/>
                <a:gridCol w="1204168"/>
                <a:gridCol w="1094291"/>
                <a:gridCol w="986095"/>
                <a:gridCol w="961428"/>
                <a:gridCol w="1024777"/>
                <a:gridCol w="1076351"/>
                <a:gridCol w="1055049"/>
              </a:tblGrid>
              <a:tr h="7340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题型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26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25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22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22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521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类比推理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515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图形推理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515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逻辑推理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9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521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定义判断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616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合计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13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图形推理题型题量分布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41985" y="732155"/>
          <a:ext cx="10951210" cy="3660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2414"/>
                <a:gridCol w="1452413"/>
                <a:gridCol w="1452414"/>
                <a:gridCol w="1026659"/>
                <a:gridCol w="969377"/>
                <a:gridCol w="1149483"/>
                <a:gridCol w="1149484"/>
                <a:gridCol w="1148932"/>
                <a:gridCol w="1150034"/>
              </a:tblGrid>
              <a:tr h="72326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考点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下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下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895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位置类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889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样式类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895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数量类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895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平面拼合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895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重构类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895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41985" y="4392295"/>
            <a:ext cx="10883265" cy="2522855"/>
          </a:xfrm>
          <a:prstGeom prst="rect">
            <a:avLst/>
          </a:prstGeom>
        </p:spPr>
        <p:txBody>
          <a:bodyPr wrap="square">
            <a:noAutofit/>
          </a:bodyPr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四川图形推理知识点与国省考基本一致，只有平面拼合一个特殊题型。</a:t>
            </a:r>
            <a:b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近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年每年都考察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题平面拼合、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题重构类（六面体必考），其余均考查平面规律。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119888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1.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从所给的四个选项中，选择最合适的一个填入问号处，使之呈现一定的规律性。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  <p:pic>
        <p:nvPicPr>
          <p:cNvPr id="71" name="图片 44" descr="IMG_2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525" y="1695450"/>
            <a:ext cx="8872220" cy="41287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119888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2.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从所给的四个选项中，选择最合适的一个填入问号处，使之呈现一定的规律性。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  <p:pic>
        <p:nvPicPr>
          <p:cNvPr id="7" name="图片 2" descr="IMG_2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00" y="1695450"/>
            <a:ext cx="8809355" cy="40970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64516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3.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下面四个图形，可以拼合（只可上下左右平移）成选项中的哪一个图形？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  <p:pic>
        <p:nvPicPr>
          <p:cNvPr id="64" name="图片 48" descr="IMG_2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755" y="1141730"/>
            <a:ext cx="6715760" cy="47009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定义判断题型题量分布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276350" y="857250"/>
          <a:ext cx="9093200" cy="2179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640"/>
                <a:gridCol w="1818640"/>
                <a:gridCol w="1818640"/>
                <a:gridCol w="1818640"/>
                <a:gridCol w="1818640"/>
              </a:tblGrid>
              <a:tr h="69342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806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单定义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</a:tr>
              <a:tr h="4819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多定义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</a:tr>
              <a:tr h="523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总计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41985" y="3214370"/>
            <a:ext cx="10883265" cy="2522855"/>
          </a:xfrm>
          <a:prstGeom prst="rect">
            <a:avLst/>
          </a:prstGeom>
        </p:spPr>
        <p:txBody>
          <a:bodyPr wrap="square">
            <a:noAutofit/>
          </a:bodyPr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四川</a:t>
            </a:r>
            <a:r>
              <a:rPr 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定义判断整体题干更短，效应类是高频特色、</a:t>
            </a:r>
            <a:endParaRPr lang="zh-CN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效应类几乎每年必考：幸存者偏差、霍桑效应、波丽安娜效应等心理学、统计学效应高频出镜。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高频素材：心理学＞社会学＞经济学＞逻辑学＞法律。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提问方式非常爱考不属于，每套试卷至少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个不属于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516953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0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4.</a:t>
            </a:r>
            <a:r>
              <a:rPr lang="zh-CN" altLang="en-US" sz="20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冷读术是一种心理学技巧，它基于人类心理的共同点，利用言语和非言语信息，推测出对方可能感兴趣的话题、潜在的心理需求以及他们可能认同的观点。</a:t>
            </a:r>
            <a:endParaRPr lang="zh-CN" altLang="en-US" sz="20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0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根据上述定义，下列最能体现冷读术的是：</a:t>
            </a:r>
            <a:endParaRPr lang="zh-CN" altLang="en-US" sz="20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0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</a:t>
            </a:r>
            <a:r>
              <a:rPr lang="zh-CN" altLang="en-US" sz="20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小肖刚认识了一个朋友，想知道对方的工作，于是说：“你在软件园上班吗？” 对方脱口而出：“不，我在金融街上班。”</a:t>
            </a:r>
            <a:endParaRPr lang="zh-CN" altLang="en-US" sz="20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0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</a:t>
            </a:r>
            <a:r>
              <a:rPr lang="zh-CN" altLang="en-US" sz="20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小杨为探知客户是否想要购买产品，说：“根据贵公司情况，先订 4 套就差不多了。” 客户接过话题说：“要不先订 1 套吧。”</a:t>
            </a:r>
            <a:endParaRPr lang="zh-CN" altLang="en-US" sz="20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0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</a:t>
            </a:r>
            <a:r>
              <a:rPr lang="zh-CN" altLang="en-US" sz="20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小曹和客户见面时，发现客户穿了一件球衣，于是主动聊起上周末的球赛，成功打开了话题</a:t>
            </a:r>
            <a:endParaRPr lang="zh-CN" altLang="en-US" sz="20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0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</a:t>
            </a:r>
            <a:r>
              <a:rPr lang="zh-CN" altLang="en-US" sz="20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小杜对朋友说：“打网球要重视体能训练，不然打不好拉锯战。” 朋友从此就注意加强体能训练</a:t>
            </a:r>
            <a:endParaRPr lang="zh-CN" altLang="en-US" sz="20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683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类比推理题型题量分布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73100" y="1105755"/>
          <a:ext cx="10845800" cy="501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440"/>
                <a:gridCol w="1111885"/>
                <a:gridCol w="1163955"/>
                <a:gridCol w="1174115"/>
                <a:gridCol w="1146175"/>
                <a:gridCol w="1328420"/>
                <a:gridCol w="1149350"/>
                <a:gridCol w="1151890"/>
                <a:gridCol w="1131570"/>
              </a:tblGrid>
              <a:tr h="9398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2026</a:t>
                      </a:r>
                      <a:endParaRPr lang="en-US" altLang="zh-CN" sz="18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18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18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18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18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下</a:t>
                      </a:r>
                      <a:endParaRPr lang="en-US" altLang="zh-CN" sz="18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18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</a:t>
                      </a:r>
                      <a:endParaRPr lang="en-US" altLang="zh-CN" sz="18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18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下</a:t>
                      </a:r>
                      <a:endParaRPr lang="en-US" altLang="zh-CN" sz="18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18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</a:t>
                      </a:r>
                      <a:endParaRPr lang="en-US" altLang="zh-CN" sz="18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</a:tr>
              <a:tr h="68453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包容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</a:tr>
              <a:tr h="68453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并列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2.5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</a:tr>
              <a:tr h="68453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交叉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</a:tr>
              <a:tr h="68453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对应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</a:tr>
              <a:tr h="68453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语义语法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</a:tr>
              <a:tr h="6477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286131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5.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纸币 ：纸张 ：货币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木椅 ：木材 ：椅子	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电扇 ：电器 ：扇子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陶瓷 ：陶土 ：白瓷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面食 ：面粉 ：美食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286131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6.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健身 对于 （    ） 相当于 （    ） 对于 眼罩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运动；口罩	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增肌；遮光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健步走；丝绸	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跑步机；睡眠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600" y="-2476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逻辑判断题型题量分布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30885" y="723265"/>
          <a:ext cx="10648315" cy="561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31"/>
                <a:gridCol w="1341931"/>
                <a:gridCol w="1341930"/>
                <a:gridCol w="995071"/>
                <a:gridCol w="1089972"/>
                <a:gridCol w="1215952"/>
                <a:gridCol w="1215951"/>
                <a:gridCol w="1117166"/>
                <a:gridCol w="988411"/>
              </a:tblGrid>
              <a:tr h="10096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下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下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505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论证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505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分析推理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505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翻译推理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905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真假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9245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论证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结构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9182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原因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解释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9182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归纳推理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9182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9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590804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7.</a:t>
            </a:r>
            <a:r>
              <a:rPr lang="zh-CN" altLang="en-US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低温下人体胃黏膜小血管先痉挛后扩张会导致出血，所以冻死的尸体的胃黏膜下有帽针头至豌豆大弥漫性斑点状出血，作褐色或深褐色。某具遗体经检查后发现胃黏膜有褐色或深褐色出血点，因此，这个人一定是被冻死的。</a:t>
            </a:r>
            <a:endParaRPr lang="zh-CN" altLang="en-US" sz="21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以下哪项所包含的逻辑错误与上述推理最为相似？</a:t>
            </a:r>
            <a:endParaRPr lang="zh-CN" altLang="en-US" sz="21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</a:t>
            </a:r>
            <a:r>
              <a:rPr lang="zh-CN" altLang="en-US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正如滞留不动的水容易变臭一样，没有活力的店铺也会衰败。这家店铺经常用特价衣服带动店铺的人气和销售，所以这家店铺肯定不会衰败</a:t>
            </a:r>
            <a:endParaRPr lang="zh-CN" altLang="en-US" sz="21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</a:t>
            </a:r>
            <a:r>
              <a:rPr lang="zh-CN" altLang="en-US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包容度高的城市必然能吸引各类人才聚集，某市人才吸引力指数连年名列前茅，所以该市的包容度一定很高</a:t>
            </a:r>
            <a:endParaRPr lang="zh-CN" altLang="en-US" sz="21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</a:t>
            </a:r>
            <a:r>
              <a:rPr lang="zh-CN" altLang="en-US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人经常饮酒会导致喉癌及消化道癌发病率明显增加，老李因生意失败沉迷喝酒，身体抵抗力下降，一定是得了喉癌或消化道癌</a:t>
            </a:r>
            <a:endParaRPr lang="zh-CN" altLang="en-US" sz="21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</a:t>
            </a:r>
            <a:r>
              <a:rPr lang="zh-CN" altLang="en-US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成熟的西瓜一般花纹宽阔、界限清晰，这些西瓜花纹很宽且界限清晰，所以这些西瓜很大可能是熟了</a:t>
            </a:r>
            <a:endParaRPr lang="zh-CN" altLang="en-US" sz="21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445389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8.</a:t>
            </a:r>
            <a:r>
              <a:rPr lang="zh-CN" altLang="en-US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普通食盐主要成分为氯化钠，过量摄入钠盐容易引发高血压和心脑血管疾病。近百年来，心脏病患者被告知要减少钠盐的摄入量，但最近一项研究表明，减少钠盐摄入量并没有减少心力衰竭患者的急诊、住院或死亡风险。据此，有人认为心脏病患者无需减少钠盐摄入量。</a:t>
            </a:r>
            <a:endParaRPr lang="zh-CN" altLang="en-US" sz="21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以下哪项如果为真，最不能质疑上述观点？</a:t>
            </a:r>
            <a:endParaRPr lang="zh-CN" altLang="en-US" sz="21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</a:t>
            </a:r>
            <a:r>
              <a:rPr lang="zh-CN" altLang="en-US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长期过量摄入钠盐会增加心脏病人中风的风险</a:t>
            </a:r>
            <a:endParaRPr lang="zh-CN" altLang="en-US" sz="21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</a:t>
            </a:r>
            <a:r>
              <a:rPr lang="zh-CN" altLang="en-US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心脏病人减少钠盐的摄入量后可能会导致低钠血症</a:t>
            </a:r>
            <a:endParaRPr lang="zh-CN" altLang="en-US" sz="21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</a:t>
            </a:r>
            <a:r>
              <a:rPr lang="zh-CN" altLang="en-US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长期过量摄入钠盐会加重心脏病人的肝脏和肾脏负担</a:t>
            </a:r>
            <a:endParaRPr lang="zh-CN" altLang="en-US" sz="21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</a:t>
            </a:r>
            <a:r>
              <a:rPr lang="zh-CN" altLang="en-US" sz="21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低钠盐饮食能够改善心脏病患者的肿胀、疲劳等症状</a:t>
            </a:r>
            <a:endParaRPr lang="zh-CN" altLang="en-US" sz="21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3.xml><?xml version="1.0" encoding="utf-8"?>
<p:tagLst xmlns:p="http://schemas.openxmlformats.org/presentationml/2006/main">
  <p:tag name="TABLE_ENDDRAG_ORIGIN_RECT" val="809*378"/>
  <p:tag name="TABLE_ENDDRAG_RECT" val="84*73*809*378"/>
</p:tagLst>
</file>

<file path=ppt/tags/tag34.xml><?xml version="1.0" encoding="utf-8"?>
<p:tagLst xmlns:p="http://schemas.openxmlformats.org/presentationml/2006/main">
  <p:tag name="TABLE_ENDDRAG_ORIGIN_RECT" val="862*288"/>
  <p:tag name="TABLE_ENDDRAG_RECT" val="50*57*862*288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TABLE_ENDDRAG_ORIGIN_RECT" val="715*171"/>
  <p:tag name="TABLE_ENDDRAG_RECT" val="100*67*715*171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TABLE_ENDDRAG_ORIGIN_RECT" val="866*307"/>
  <p:tag name="TABLE_ENDDRAG_RECT" val="48*61*866*307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TABLE_ENDDRAG_ORIGIN_RECT" val="660*376"/>
  <p:tag name="TABLE_ENDDRAG_RECT" val="57*56*660*376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1789</Words>
  <Application>WPS 演示</Application>
  <PresentationFormat>宽屏</PresentationFormat>
  <Paragraphs>536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微软雅黑 Light</vt:lpstr>
      <vt:lpstr>Wingdings</vt:lpstr>
      <vt:lpstr>Arial</vt:lpstr>
      <vt:lpstr>楷体</vt:lpstr>
      <vt:lpstr>Arial Unicode MS</vt:lpstr>
      <vt:lpstr>Office 主题​​</vt:lpstr>
      <vt:lpstr>WPS</vt:lpstr>
      <vt:lpstr>1_WPS</vt:lpstr>
      <vt:lpstr>PowerPoint 演示文稿</vt:lpstr>
      <vt:lpstr>四川判断考情分析</vt:lpstr>
      <vt:lpstr>图形推理题型题量分布</vt:lpstr>
      <vt:lpstr>PowerPoint 演示文稿</vt:lpstr>
      <vt:lpstr>PowerPoint 演示文稿</vt:lpstr>
      <vt:lpstr>PowerPoint 演示文稿</vt:lpstr>
      <vt:lpstr>定义判断题型题量分布</vt:lpstr>
      <vt:lpstr>PowerPoint 演示文稿</vt:lpstr>
      <vt:lpstr>类比推理题型题量分布</vt:lpstr>
      <vt:lpstr>PowerPoint 演示文稿</vt:lpstr>
      <vt:lpstr>PowerPoint 演示文稿</vt:lpstr>
      <vt:lpstr>逻辑判断题型题量分布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199</cp:revision>
  <dcterms:created xsi:type="dcterms:W3CDTF">2019-06-19T02:08:00Z</dcterms:created>
  <dcterms:modified xsi:type="dcterms:W3CDTF">2026-08-25T12:50:16Z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7E0F0589F6D94CFE8A4BC2AEA01394FF_11</vt:lpwstr>
  </property>
</Properties>
</file>