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48" r:id="rId4"/>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449" r:id="rId41"/>
  </p:sldIdLst>
  <p:sldSz cx="12192000" cy="6858000"/>
  <p:notesSz cx="6858000" cy="9144000"/>
  <p:embeddedFontLst>
    <p:embeddedFont>
      <p:font typeface="微软雅黑" panose="020B0503020204020204" charset="-122"/>
      <p:regular r:id="rId46"/>
      <p:bold r:id="rId47"/>
    </p:embeddedFont>
    <p:embeddedFont>
      <p:font typeface="Calibri" panose="020F0502020204030204" charset="0"/>
      <p:regular r:id="rId48"/>
      <p:bold r:id="rId49"/>
      <p:italic r:id="rId50"/>
      <p:boldItalic r:id="rId51"/>
    </p:embeddedFont>
    <p:embeddedFont>
      <p:font typeface="微软雅黑 Light" panose="020B0502040204020203" pitchFamily="34" charset="-122"/>
      <p:regular r:id="rId52"/>
    </p:embeddedFont>
  </p:embeddedFontLst>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2"/>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3" Type="http://schemas.openxmlformats.org/officeDocument/2006/relationships/tags" Target="tags/tag17.xml"/><Relationship Id="rId52" Type="http://schemas.openxmlformats.org/officeDocument/2006/relationships/font" Target="fonts/font7.fntdata"/><Relationship Id="rId51" Type="http://schemas.openxmlformats.org/officeDocument/2006/relationships/font" Target="fonts/font6.fntdata"/><Relationship Id="rId50" Type="http://schemas.openxmlformats.org/officeDocument/2006/relationships/font" Target="fonts/font5.fntdata"/><Relationship Id="rId5" Type="http://schemas.openxmlformats.org/officeDocument/2006/relationships/notesMaster" Target="notesMasters/notesMaster1.xml"/><Relationship Id="rId49" Type="http://schemas.openxmlformats.org/officeDocument/2006/relationships/font" Target="fonts/font4.fntdata"/><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解析：组成元素不同，涂黑图形与外框存在相似性。</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通过对比相邻图形可发现规律：前一幅图的涂黑图形，顺时针旋转 180° 后，直接作为后一幅图的外框，问号处只有A项符合。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解析：组成元素不同，优先考虑数量或属性。</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第一段中，每幅图形都有两个黑块，且两个黑块的最近距离均为1格；第二段中，两个黑块的最近距离均为格，问号处只有C项符合。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天津2026_0003_45f82dd5d5e0.png"/>
          <p:cNvPicPr>
            <a:picLocks noChangeAspect="1"/>
          </p:cNvPicPr>
          <p:nvPr/>
        </p:nvPicPr>
        <p:blipFill>
          <a:blip r:embed="rId3"/>
          <a:stretch>
            <a:fillRect/>
          </a:stretch>
        </p:blipFill>
        <p:spPr>
          <a:xfrm>
            <a:off x="2494710" y="6500797"/>
            <a:ext cx="1868580" cy="1500203"/>
          </a:xfrm>
          <a:prstGeom prst="rect">
            <a:avLst/>
          </a:prstGeom>
        </p:spPr>
      </p:pic>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解析：图形均由小正方形与短线连接而成，观察小正方形连接线，每幅图均存在两个小正方形连接有3条短线。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图①③⑥中连接3条短线的小正方形直接相连，图②④⑤中连接3条短线的小正方形中间隔着一个小方块，只有C项符合。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天津2026_0006_ea8bb0609e1a.png"/>
          <p:cNvPicPr>
            <a:picLocks noChangeAspect="1"/>
          </p:cNvPicPr>
          <p:nvPr/>
        </p:nvPicPr>
        <p:blipFill>
          <a:blip r:embed="rId3"/>
          <a:stretch>
            <a:fillRect/>
          </a:stretch>
        </p:blipFill>
        <p:spPr>
          <a:xfrm>
            <a:off x="685800" y="6500797"/>
            <a:ext cx="5486400" cy="1109110"/>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解析：每一幅图中都存在圆，且圆均与线存在相切的情况。</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图①②④中均存在两个切点，图③⑤⑥中均存在一个切点，问号处只有B项符合。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解析：本题要求选择不可能的选项：该魔方拧动 1 次（定义为：位于同一平面上的 9 个小正方形，平行于该平面整体转动 90°、180° 或 270°）后，某一面的视图。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 项：将魔方最上层平面整体沿逆时针方向（从上往下观察的时针方向）转动 90°，从正视图角度观察，可得到与 A 项一致的图形，符合拧动 1 次的规则，排除。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 项：将魔方最右侧竖层平面整体沿逆时针方向（从右往左观察的时针方向）旋转 90°，从正视图角度观察，可得到与 B 项一致的图形，符合拧动 1 次的规则，排除。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 项：将魔方最左侧竖层平面整体沿顺时针方向（从右往左观察的时针方向）旋转 90°，从俯视图角度观察，可得到与 C 项一致的图形，符合拧动 1 次的规则，排除。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 项：结合魔方单平面转动的规则分析，仅通过一次平面整体转动，无法形成该视图的色块分布，当选。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因此，选择 D 选项。</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解析：①大气中的冷、热、风、云、雨、雪、霜、雾、雷、电、光等各种物理现象和物理过程所构成的旅游资源；</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②气象旅游资源必须在特定的地域和时期才会出现。</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钟乳石属于喀斯特地貌景观，其形成是石灰岩被水溶解、碳酸钙长期沉淀的地质化学过程，该过程与“冷、热、风、云、雨、雪、霜、雾、雷、电、光等各种物理现象和物理过程”无关，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B项：海市蜃楼是光线经过不同密度的空气层发生折射的物理现象，涉及 “雾”“光” 等大气物理现象，且仅在特定的湿度、温度条件下出现，符合定义，排除；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C项：雾凇是空气中过冷却雾滴在接触到低于冰点的树枝、地表等物体时，迅速凝华而形成的白色不透明冰晶沉积物，涉及 “冷”“雾” 等大气物理过程，且需在低温高湿的特定冬季环境下形成，符合定义，排除；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D项：泰山 “晚霞夕照” 的奇观由云层分布与阳光折射形成，涉及 “云”“光” 等大气物理现象，且仅在傍晚特定时段、天气条件下出现，符合定义，排除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解析：①获得有关企业与环境之间的关系状态、环境对企业的影响度、企业对环境的适应度等方面的信息；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②寻找自身的最佳立足点。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企业借助调查“GDP增长率、人均可支配收入变化”来预测“未来发展机会”，体现了经济环境对企业经营的影响，是企业主动分析宏观趋势、适应外部环境的表现，符合定义中对“环境对企业的影响度、企业对环境的适应度”的描述，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企业关注“税收政策、环保政策的调整情况”，据此调整“生产技术与政策的适配情况”，反映出企业对政策环境的关注与主动适应，符合定义中关于“环境对企业的影响度、企业对环境的适应度”，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C项：企业调查“固体废弃物的处理方式”并对照“国家标准”进行判断，属于企业对法规环境的响应与自我调整，体现了“环境对企业的影响度、企业对环境的适应度”，符合定义，排除。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通过研究“污染源位置和污染物输送规律”来设计“大气、土壤采样的布点原则”，此过程侧重于环境科学方法本身，未体现企业主体与外部环境间的双向互动与适应关系，与定义中“企业与环境间关系状态、相互影响与适应”的核心内容不符，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解析：多定义，考查“情绪调节”，其关键信息为：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①个体管理和改变自己或他人情绪反应的过程、策略和能力；</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②旨在使情绪反应在强度、持续时间和表达方式上更为适应当前情境。</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小华通过观察同桌眉头紧锁、沉默不语的行为，推断出其情绪为沮丧，这体现了“个体识别、标签和理解自己及他人情绪状态的能力”，属于“情绪理解”范畴，而不属于“情绪调节”，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B项：小美在感到愤怒时，选择通过独自运动的方式来平复心情，即主动  自身的情绪反应，这体现了“个体管理和改变自己或他人情绪反应的过程、策略和能力”，符合定义，当选。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C项：老师指导孩子通过观察图片中的面部表情来区分不同情绪，这体现了“个体识别、标签和理解自己及他人情绪状态的能力”，属于“情绪理解”范畴，而不属于“情绪调节”，不符合定义，排除。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D项：咨询师协助来访者分析其焦虑情绪在何时出现，这体现了“个体识别、标签和理解自己及他人情绪状态的能力”，属于“情绪理解”范畴，而不属于“情绪调节”，不符合定义，排除。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解析：信息规制：规制机构通过信息公开的方式纠正风险和相关市场不完全的行为。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对信息的规制：是指由主管机关对相对人披露有关信息的强制性要求；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通过信息规制：是指在现代网络资讯背景下，由主管机关通过公布一定的信息来实现对相对人的规制和惩罚。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A项：社交平台并非“规制机构”，其采取的信息分级、过滤等措施，也不属于“规制机构”以“信息公开的方式”实施的规制，不符合定义，当选；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乙国颁布《网络安全法》，属于“规制机构”的行为，其中规定的信息收集与使用规则，旨在“纠正风险和相关市场不完全的行为”，并通过“对相对人披露有关信息”及“强制性要求”来实现规制，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丙国《儿童在线隐私保护法》由“规制机构”制定，限制特定网站向儿童提供服务属于“纠正风险和相关市场不完全的行为”，并通过“对相对人披露有关信息”和“强制性要求”实施规制，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D项：丁国《在线隐私保护法案》由“规制机构”推出，对违反规定的网站处以罚款，属于“纠正风险和相关市场不完全的行为”，并通过处罚“实现对相对人的规制和惩罚”，符合定义，排除。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医疗机构及医务人员从事各种医疗行为时，未对病患充分告知或者说明其病情，未对病患提供及时有用的医疗建议，未保守与病情有关的各种秘密，或未取得病患同意即采取某种医疗措施或停止继续治疗等，而违反医疗职业良知或职业伦理上应遵守的规则的过失行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A项：病历被篡改和伪造，不涉及“未对病患充分告知或者说明其病情，未提供及时有用的医疗建议……”等情况，不符合定义，排除；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B项：医生在患者有疑问时未充分解释，符合“未对病患充分告知或者说明其病情”，使用昂贵且非必要的抗生素、延长住院时间，符合“违反医疗职业良知或职业伦理”，符合定义，当选；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C项：医生告知病情后，家属主动决定撤离呼吸机，医生无不当行为，不符合“违反医疗职业良知或职业伦理”，不符合定义，排除；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D项：患者治疗后出现病情加重及并发症，不涉及“未对病患充分告知或者说明其病情，未提供及时有用的医疗建议……”等情形，不符合定义，排除。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解析：民航客座率：“实际承运人数与可供座位数的百分比”；</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航站始发载运率：“实际载运量与飞机最大载运能力之比”；</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航线载运率：“实际总周转量与最大周转量之比”；</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飞行小时生产率：“每一运输飞行小时平均完成的吨公里数”“运输总周转量/运输飞行小时”“每班最大业载×航速”。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航线载运率是“实际总周转量与最大周转量之比”，该比率直接体现飞机载运能力的利用水平。由于实际总周转量取决于客货资源的充足程度，因此该指标也能间接反映客货源的变动情况，表述正确，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B项：由飞行小时生产率的公式“运输总周转量／运输飞行小时 = 每班最大业载 × 航速”可推导出“运输总周转量 = 每班最大业载 × 航速 × 运输飞行小时”。若每班最大业载与航速提高，但运输飞行小时数不确定，则运输总周转量不一定更高；同理，在运输总周转量不确定的情况下，运输飞行小时数也不一定更多。因此，不符合定义，当选；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C项：民航客座率指“实际承运人数与可供座位数的百分比”，该指标直接反映航班座位资源的利用效率。其数值会受到市场需求强弱、票价水平等因素的影响，符合定义，排除；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航站始发载运率为“实际载运量与飞机最大载运能力之比”，该比率直接反映航站对飞机载运能力的利用效率与航班组织的合理性。在不超过100%的前提下，该比率越高，说明利用越充分，组织越合理，因此可作为调整航班和编制发送量的参考依据，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解析：①团队内部因成员多重特征（如年龄、专业背景）差异形成隐性分界线，这些分界线被称为“断裂带”，导致子群体间冲突或协同障碍，其强度由特征重叠度与子群体对立程度决定。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②断裂带可能促进或阻碍团队的创新、沟通和绩效。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研发团队因技术路线分歧形成不同观点，属于观点分歧，不涉及“团队内部因成员多重特征（如年龄、专业背景）差异形成隐性分界线”，且最终达成共识，不存在“子群体间冲突或协同障碍”，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高管团队中，60后成员偏好稳健，80后成员主张激进创新，体现了“团队内部因成员多重特征（如年龄、专业背景）差异形成隐性分界线”，最终形成决策僵局，属于“子群体间冲突或协同障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销售部按区域划分小组，属于明确的工作分工，不涉及“团队内部因成员多重特征（如年龄、专业背景）差异形成隐性分界线”，且小组间定期交换策略，属于正常协作，不存在“子群体间冲突或协同障碍”，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项目组通过匿名投票避免职称差异影响决策，旨在消除特征差异带来的潜在分界，不符合“团队内部因成员多重特征（如年龄、专业背景）差异形成隐性分界线”，也未体现“子群体间冲突或协同障碍”，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解析：多定义，考查节律“陌生化”，其关键信息为：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①广告语言的语音“陌生化”是指通过语音韵律和常规语言的相异来求得广告语言的陌生化效果</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②节律“陌生化”，即借助语音的节奏、格律（如复叠、对仗等）来区别于日常语言，从而赋予广告以语音上的“陌生化”。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五月黄梅天”与“三星白兰地”两句的句尾韵母分别为“an”和“i”，不满足“通过语句句尾韵母的相同或相近”这一条件，未实现声韵“陌生化”。而“五”对“三”“月”对“星”“黄”对“白”“梅”对“兰”“天”对“地”，对仗整齐，符合“借助语音的节奏、格律（如复叠、对仗等）”，即只体现了节律“陌生化”，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B项：“从这一面到那一面”与“认真生活每一面”句尾韵母均为“an”，符合“通过语句句尾韵母的相同或相近”，体现了声韵“陌生化”，因此不属于只体现节律“陌生化”，不符合定义，排除。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C项：“‘骑’乐无穷”与“乐在‘骑’中”句尾韵母均为“ong”，符合“通过语句句尾韵母的相同或相近”，体现了声韵“陌生化”，因此不属于只体现节律“陌生化”，不符合定义，排除。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D项：“天才第一步”与“X牌纸尿裤”句尾韵母均为“u”，符合“通过语句句尾韵母的相同或相近”，体现了声韵“陌生化”，因此不属于只体现节律“陌生化”，不符合定义，排除。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解析：①生物在人工材料或设施上附着、生长，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②使其性能下降或损坏的自然现象</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海洋生物通过分泌黏液附着在船壳表面，船舶属于人工制品，符合“生物在人工材料或设施上附着、生长”。附着层每增厚1毫米，船舶燃料消耗量会提高约3%，说明船舶动力效率因此降低，符合“使其性能下降或损坏的自然现象”，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B项：在大桥上喷涂碱性涂料使细菌等生物远离，说明生物并未在大桥上实际附着生长，不满足“生物在人工材料或设施上附着、生长”的条件，不符合定义，排除。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C项：诺如病毒附着在生鲜水果上，生鲜水果属于自然产物而非人工材料或设施，不符合“生物在人工材料或设施上附着、生长”，不符合定义，排除。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D项：森林公园设置人工设施为生物提供栖息地，这有利于生态环境的维护，并非“使其性能下降或损坏的自然现象”，不符合定义，排除。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解析：①否认是指无意识地拒绝承认那些不愉快的现实以保护自我，它是最原始、最简单的心理防卫机制。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②歪曲是把外界事实加以曲解，变化以符合内心的需要，其属于精神病性的心理防卫机制，因歪曲作用而表现的精神病现象，以妄想或幻觉最为常见。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③反作用形成是指有意识地采取某种与潜意识完全相反的看法和行动，因为真实意识表现出来不符合社会道德规范或引起内心焦虑，故而朝着相反的途径释放。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A项：赵华得知患胃癌，难以接受，认为自己没得癌症，这是无意识地拒绝接受不愉快现实，是典型的“否认”，不是“反作用形成”，不符合定义，排除；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B项：继母潜意识对孩子有敌意，但行为上故意过度溺爱，这是有意识地表现出与潜意识敌意相反的爱，以符合社会期待，属于“反作用形成”，不是“歪曲”，不符合定义，排除；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C项：小宋已分手，却以为要和女友结婚，还发喜帖，这是将外界分手事实曲解为将要结婚，甚至出现行为上的错觉，属于“歪曲”（精神病性，如妄想），不是“反作用形成”，不符合定义，排除；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D项：2岁小明打碎东西时用手蒙住眼睛，幼儿用这种行为“如果我看不见，事情就没发生”，属于无意识拒绝面对不愉快现实，是“否认”，符合定义，当选。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解析：“旧友” 指以前的朋友、老友；“故友” 狭义指去世的朋友，在日常语境中也常泛指老朋友，两者均含有“旧时结交的朋友”的含义，为近义关系。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惯犯”指经常犯罪、屡教不改的罪犯，“累犯”特指被判处有期徒刑以上刑罚，在刑罚执行完毕或赦免后法定时间内又犯应判处有期徒刑以上刑罚的罪犯。两者均含有“再次或多次犯罪”的含义，为近义关系，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B项：“开端”指事情的起始或开头，“事端”指纠纷或事故，二者语义完全不同，不属于近义关系，与题干逻辑关系不一致，排除；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C项：“出现”指显露、产生，“再现”指（过去的事物）再次出现，二者在时间频次上存在差异，并非近义关系，与题干逻辑关系不一致，排除；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D项：“消退”指减退、逐渐消失，“倒退”指向后退或退回以前的状态，二者含义不同，并非近义关系，与题干逻辑关系不一致，排除。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解析：“审计局”的主要职能是“财务监督”，且该职能是审计局区别于其他机关的专属核心职责，是机构与其主要职能的对应关系。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A项：“气象局”的职能是气象监测、预报、预警，为防灾救灾提供信息支持，但不是直接执行“防灾救灾”，与题干逻辑关系不一致，排除；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B项：“档案馆”的主要职责是收集、保管档案，开展史料编研是其工作内容之一，但“档案保管利用”是更核心的职能，史料编研是其延伸职能，与题干逻辑关系不一致，排除；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C项：“监察委员会”的主要职能是“纪律审查”（监察、调查职务违法和职务犯罪），属于其核心职责，与题干逻辑关系一致，当选；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D项：“信访局”主要职责是受理信访事项，转办督办，“矛盾调解”是其工作内容之一，但更主要的是“信访处理”，不一定直接“调解矛盾”，与题干逻辑关系不一致，排除。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解析：“撕”“扯”与“撕扯”这三个词都表示用手将物品拉裂或使其从附着处分离，它们在语义上相近，属于近义关系，且“撕”“扯”都是提手旁。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A项：“攀”指“抓住东西向上爬”，“登”指“由低处到高处”，“攀登”指“抓住东西向上爬”，三者属于近义关系，但偏方部首不同，与题干逻辑关系不一致，排除；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B项：“抛”“掷”与“抛掷”都表示投、扔的动作，三词属于近义关系，且“抛”“掷”都是提手旁，与题干逻辑关系一致，当选；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研”指“古代指用石器细细磨碎东西”，“磨”指“用磨具摩擦使物体光滑、锋利或粉碎”，“研磨”指“用工具将物体磨碎成细粉”，三者属于近义关系，但不是提手旁，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D项：“剪”指“用剪刀铰断”，“裁”指“用刀、剪等将片状物分割成若干部分”，“剪裁”指“缝制衣服时，按尺寸将衣料剪断裁开”，三者属于近义关系，但偏方部首不同，与题干逻辑关系不一致，排除。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解析：“囹圄”是古时对“监狱”的称呼，二者属于全同关系；“囚犯”被关押在“监狱”中，是对象与其所在场所的对应关系。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A项：“庙主”是“寺庙”中主持事务的僧人（或道士），与“寺庙”构成人员与场所的对应关系，不是全同关系，与题干逻辑不一致，排除；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B项：“庠序”是古代地方“学校”的别称，与“学校”构成全同关系；“学生”在“学校”中学习，是对象与场所的对应关系，与题干逻辑一致，当选；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C项：“朝廷”是“皇帝”理政的统治机构，“皇宫”是“皇帝”居所，二者为不同场所间的对应关系，不构成全同关系，与题干逻辑不一致，排除；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D项：“陷阵”意为冲入敌军阵地，“兵营”是军队驻扎的场所，二者并非全同关系，与题干逻辑不一致，排除。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解析：“疾步”（快步走）、“奔走”（快速跑动）、“风驰电掣”（形容速度极快），三者为近义关系，且词语所表示的速度程度依次加深。</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A项：“迅速”强调速度快，“高效”强调效率高，二者含义不同，不构成近义关系，与题干逻辑关系不一致，排除；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忧心”（心里担忧）、“惴惴”（形容因恐惧或忧虑而心神不定）、“惶惶不可终日”（形容内心极度惶恐，一天都过不踏实），三者为近义关系，且担忧、惶恐的程度依次加深，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C项：“向往”与“热衷”均有内心期盼、渴望之意，为近义关系；“唯恐避之不及”指生怕躲避不及，与“向往”“热衷”表达的情感方向相反，与题干逻辑关系不一致，排除；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D项：“认可”指同意、许可，“享受”指从中得到满足，二者含义不同，不构成近义关系，“甘之如饴” 指甘愿承受艰难痛苦，与前两词无明显语义关系，与题干逻辑关系不一致，排除。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解析：“乳酸菌”会使“牛奶”发生“酸败”，二者是因果对应关系；“酸败”现象的主体是“牛奶”，即“牛奶”与“酸败”构成主体与现象的对应关系。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A项：“潮湿”会导致物体“发霉”，二者是因果对应关系，但词语顺序与题干不一致，与题干逻辑关系不一致，排除；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B项：“地下水”会使“石灰岩”发生“溶蚀”，二者是因果对应关系；“溶蚀”现象的主体通常是“石灰岩”，“石灰岩”与“溶蚀”构成主体与现象的对应关系，与题干逻辑关系一致，当选；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C项：“冰箱冷藏”的目的之一是为了防止食物“变味”，二者是方式与目的的对应关系，并非因果对应关系，与题干逻辑不关系一致，排除；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D项：“缺氮”会导致植物“枯黄”，二者是因果对应关系，但词语顺序与题干相反，与题干逻辑关系不一致，排除。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解析：“电磁感应”是“发电机”的工作原理，前两词是“原理与设备”的对应关系；发电机的功能是实现“电能转换”，后两词是“设备与功能”的对应关系。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A项：“光电效应”是“太阳能电池”的工作原理，前两词是原理与设备的对应关系；太阳能电池的功能是实现“光能转换”，后两词是设备与功能的对应关系，与题干逻辑一致，保留；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B项：“压电效应”是“传感器”的工作原理，前两词是原理与设备的对应关系；“传感器”具有“振动检测”的功能，后两词是设备与功能的对应关系，与题干逻辑一致，保留；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C项：“热电效应”是“温差发电”的工作原理，但“温差发电”是一种发电方式而非具体设备，与题干“原理与设备”的对应关系不一致，排除；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D项：“变压器”的工作原理是电磁感应，而非“磁滞现象”，且“能量损耗”是变压器工作中产生的负面现象，并非其设计功能，与题干逻辑关系不一致，排除。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对比A、B两项，题干与A项的功能均指“能量形式的转换”，B项的功能是“检测振动”而非能量转换，因此题干与 A 项的功能均为能量形态的转化，属于同一范畴。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解析：“探测仪器”（工具）用于“地质勘查”（功能），最终目的是“寻找矿产”，三者为工具 - 功能 - 目的的三层对应关系。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A项：“声呐设备”是用于“海洋探测”的工具，二者属于工具－功能的对应关系，但“高精准度”是“声呐设备”具备的性能属性，并非“海洋探测”的最终目的，与题干逻辑关系不一致，排除；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B项：“激光雷达”是用于“地形测绘”的工具，二者属于工具－功能的对应关系，“清晰成像”是“地形测绘”后得到的结果，而非“地形测绘”的最终目的，与题干逻辑关系不一致，排除；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C项：“气象气球”是用于“高空探测”的工具，虽然前两词是功能对应，但词语顺序与题干不同（题干为工具在前、功能在后，该项为功能在前、工具在后），与题干逻辑关系不一致，排除；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D项：“采样机器”是用于“环境检测”的工具，“环境检测”的最终目的是“评估污染”，三者完全匹配 “工具 - 功能 - 目的” 的三层逻辑关系，与题干逻辑关系一致，符合。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解析：A项：“车位共享”是“共享经济”的方式之一，二者属于种属关系；有的“社区治理”是“基层自治”，有的“基层自治”是“社区治理”，二者属于交叉关系，前后逻辑关系不一致，排除；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B项：“车位共享”本质上是市场驱动的共享经济活动，与“公共服务”无直接联系；而“公共事务”属于“基层自治”的处理范畴，二者之间属于对应关系，前后逻辑关系不一致，排除；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C项：“车位共享”旨在缓解或解决“停车困难”，二者构成方式目的关系；“基层自治”则是“人民民主”在基层的实现方式，前后逻辑关系不一致，排除；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D项：“车位共享”是“资源统筹”的体现，二者属于对应关系；“业主议事”通常指的是业主大会或业主委员会为共同管理物业区域而进行的议事活动， “业主议事” 与 “基层自治” 是对应关系，前后逻辑关系一致，当选。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解析：A项：先进行“政策试点”，之后“总结经验”，二者为时间先后顺承关系；“项目论证”包含“可行性研究”，二者为组成关系，前后逻辑关系不一致，排除；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B项：先进行“政策试点”，之后再“全面推广”，二者为时间先后顺承关系；先进行“可行性研究”，之后再“立项批复”，二者为时间先后顺承关系，前后逻辑关系一致，当选；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C项：先进行“政策试点”，之后可能会收到“问题反馈”，二者为时间先后顺承关系；“可行性研究”和“预算编制”属于不同环节，二者为并列关系，前后逻辑关系不一致，排除；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D项：“政策试点”与“立法保障”没有直接逻辑关系；“可行性研究”是“投资决策”的依据，二者为依据对应关系，前后逻辑关系不一致，排除。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解析：论点：当时的人们已经开始食用螺、蚌，陶器的出现很可能与人们食用螺、蚌有关。</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论据：从该遗址中发掘出距今12000年前的陶器，还在遗址中发现大量完整的螺、蚌等介壳，由于螺、蚌等食物只有经水煮加热之后，才能在不打碎介壳的前提下，顺利取食其中的肉。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A项：无关选项。该选项只说明陶器是用原始捏制方法制成的，并未涉及陶器出现与食用螺、蚌之间的关联，与论点无关，无法起到支持作用，排除。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B项：无关选项。该选项指出桂林的环境和气候条件有利于获取制陶原料，但并未证明当时陶器产生与食用螺、蚌有关，与论点无关，无法支持，排除。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C项：无关选项。该选项提及旧石器晚期人群食物来源多样，但未明确表明当时已食用螺、蚌，也无法建立陶器与食用螺、蚌的关联，不能支持，排除。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D项：增加正向论据。该选项通过桂林其他地区出土的陶器中残留有螺、蚌壳的迹象，直接证明陶器可能曾用于烹煮螺、蚌，为论点提供了证据，能够支持，当选。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解析：根据提问方式中的“ 最能削弱上述观点 ”，确定为削弱论证。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论点：长期过敏的儿童，更可能产生不良情绪，引发交际和心理问题。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论据：相比不过敏的同龄儿童，容易过敏的儿童会经常感到不适且无法用言语准确表达，出现焦虑情绪的比例显著上升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A项：无关选项。该观点说明过敏会导致儿童注意力分散，但未涉及不良情绪，与论点话题无关，排除。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因果倒置。该观点提出，原本就存在焦虑倾向或情绪调节能力较差的儿童，其免疫系统更容易对环境过敏原产生过度反应，这表明是不良情绪导致了过敏反应，属于因果倒置，直接对论点进行了削弱，否定论点，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该观点提到曾因特定食物过敏导致呼吸困难的儿童，之后会对该类食物产生恐惧，但论述对象与题干“长期过敏儿童”不完全一致，且“恐惧情绪”不等同于“焦虑倾向或情绪调节问题”，与题干讨论关联较弱，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不明确项。该观点指出，得到充分家庭情感支持和良好过敏管理的过敏儿童，其焦虑水平可能与正常儿童相近，但这并不能直接说明“过敏儿童是否比不过敏儿童更易产生不良情绪”，属于不明确选项，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解析：论点：目前，社区图书室的活动过少，只有更多地举办富有吸引力的文化活动，社区图书室才能有效吸引读者。</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 项：增加反向论据。社区图书室书籍更新不及时，导致部分居民不愿前往，这指出读者稀少的另一诱因，通过举例来削弱原观点，并且是一些居民的主观原因，有一定削弱作用，保留。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 项：无关选项。举办活动确实可以对图书室进行宣传，但能否因此吸引读者并不确定，因此无法有效削弱，排除。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 项：增加反向论据。有些社区图书室虽然举办了各类趣味活动，但读者仍然稀少，这也通过举例表明活动并不必然增加读者，从而削弱原观点，并且是一些居民的主观原因，保留。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 项：否定论点。社区图书室开放时间与居民回家时间冲突，影响了读者到访，直接说明读者稀少的根本原因并非缺少活动，而是时间安排不当，且时间安排不当是居民不去社区图书室的客观原因，属于直接否定论点，具有削弱作用，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比较 A、C、D 三项，A 和 C 均为举例削弱，D 项是直接否定论点。在逻辑削弱中，直接否定论点的力度通常强于举例削弱，同时，客观原因的削弱力度强于主观原因，因此 D 项的削弱效果更佳。</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因此，选择 D 选项。</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解析：论点：在农村地区，建立人工湿地比传统污水处理厂更经济、更环保。</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论据：在农村地区建造人工湿地，与传统污水处理厂相比可节省30％的投资成本，且在处理过程中基本无能耗，运行费用低。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A项：不明确项。指出人工湿地在冬季净化效果降低，难以持续满足排放标准，从而可能不够环保，但未对比传统污水处理厂的稳定达标情况，无法比较两者的经济性和环保性，因此无法削弱结论，排除。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B项：不明确项。指出传统污水处理厂在农村地区可以实现低成本运行，但没有提及人工湿地的运行成本，因此无法比较二者的经济性，无法削弱结论，排除。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C项：不明确项。指出部分人工湿地在运行几年后维护费用显著上升，但未说明传统污水处理厂的运行维护成本，因此无法比较两者的总体经济性，无法削弱结论，排除。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D项：削弱论点。指出在土地机会成本较高的农村地区，人工湿地的总成本会超过传统污水处理厂，这直接说明在这些地区人工湿地并不比传统污水处理厂更经济，能够削弱原有论点，当选。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解析：论点：长期接触聚苯乙烯会干扰视觉功能，造成动物的视力损伤。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论据：长期暴露于聚苯乙烯环境中，斑马鱼会表现出视动反应、趋光行为的迟缓，并出现视力下降。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A项：增加正向论据。指出聚苯乙烯浓度增加会导致斑马鱼视网膜色素上皮结构损伤加剧，这表明聚苯乙烯可损害视力，通过举例补充论据，能够支持结论，保留。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B项：增加正向论据。指出500nm的聚苯乙烯会影响光传导信号通路，导致动物视觉感知异常并阻碍晶状体发育，同样表明该尺寸的聚苯乙烯可损伤视力，通过举例提供论据，能够支持结论，保留。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C项：解释原理。指出聚苯乙烯在视网膜中积累后，会引起视神经细胞转录因子减少，进而引发视力障碍，这从机制上解释了长期接触聚苯乙烯为何会导致视力受损，属于解释原因，能够支持结论，保留。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D项：无关选项。介绍了试验中评估了不同尺寸聚苯乙烯对斑马鱼行为的影响，并测量了游泳距离，但未涉及视力损伤的讨论，与论点无关，无法支持，排除。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第四步，力度比较。</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比较A、B、C三项，C项通过揭示内在机制解释了因果关系，其支持力度强于A、B两项的举例说明。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解析：论点：手写在学习阅读和识别字母形状方面更具认知优势。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论据：以36名大学生为被试，比较手写与打字时的大脑活动。脑电图结果显示，手写可显著增强大脑多区域的功能连通性，而用同一根手指反复敲击键盘的简单打字动作对大脑的刺激较小。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A项：无关选项。指出手写和打字在神经激活机制上存在差异，但未说明这种差异是否与功能连通性相关，也未说明是否会引起认知能力的差异，因此无法对论点形成有效支持，排除。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指出所有受试者都认识实验中使用的单词，但实验的目的是比较手写和打字对大脑功能连通性的不同影响，受试者是否认识单词并不影响脑电图对连通性强弱的测量，因此不会削弱实验有效性，但也不能加强论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指出实验样本具有代表性，这虽然是对实验样本可信度的支持，但论点并未强调结论必须适用于所有一般学习者，只要在大学生群体中“功能连通性增强代表认知优势”成立，论点即可成立，因此该项并非论证的必要前提，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D项：建立联系。指出大脑多区域功能连通性的增强能够提升阅读学习和字母形状识别的能力，在“功能连通性增强”和“认知优势”之间建立了直接联系，是论证成立所需的前提条件。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解析：题干有明显的信息匹配特征，确定为分析推理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（1）赵排在第一位或最后一位；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（2）孙和李顺序相邻；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（3）钱排在周的前面且二人不相邻；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（4）李和赵的距离比他与周的距离更近。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题目问“可能”的情况，优先使用代入法检验选项。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代入A项：根据条件（2），李应在第四或第六位。 假设李在第四位，由条件（4）和（1）可推出赵在第六位、周在第一位，但这与条件（3）矛盾，不成立。 假设李在第六位，由条件（1）推出赵在第一位。此时李与赵的间距最大，违反条件（4），也不成立。 因此A项不可能成立，排除。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代入B项：根据条件（4）和（1），赵在第六位，结合条件（2）推出孙在第四位。 再结合条件（3），可知钱在第一位、周在第三位，此时吴在第二位，符合所有条件。 因此B项可能成立，当选。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代入C项：由条件（1）可知，赵在第一或第六位。 假设赵在第一位，根据条件（4）推出李在第二位，结合条件（2）推出孙在第三位。此时不论钱在第四或第六位，均与条件（3）矛盾，不成立。 假设赵在第六位，则与条件（4）矛盾，不成立。 因此C项不可能成立，排除。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代入D项：该项与条件（3）直接矛盾，不可能成立，排除。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解析：题干有若干论断和真假限定，确定为真假推理。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①¬小张杨柳青年画或¬小刘杨柳青年画；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②小刘泥人张彩塑或小黄泥人张彩塑；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③¬小张泥人张彩塑且¬小刘泥人张彩塑且¬小黄泥人张彩塑；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④小张杨柳青年画且小刘杨柳青年画；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⑤¬小黄杨柳青年画且小张泥人张彩塑。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分析题干条件可知，①和④的说法为矛盾关系，必有一真一假。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根据题目信息，五个预测中只有一个预测正确。①和④的说法为矛盾关系，矛盾关系必有一真、必有一假，所以正确的人必然在这两人之中，因此②③⑤的预测均为假。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②为假，则其矛盾命题“-小刘学泥人张彩塑且-小黄学泥人张彩塑”为真，结合“每人只学一项”可知，实际情况是“小刘不学泥人张彩塑且小黄不学泥人张彩塑”，即两人都学杨柳青年画。 则A正确，当选。B项、C项错误，排除。③为假，则其矛盾命题“小张学泥人张彩塑或小刘学泥人张彩塑或小黄学泥人张彩塑”为真。结合“小刘不学泥人张彩塑且小黄不学泥人张彩塑”，或关系“否一肯一”知，小张学泥人张彩塑，D项错误，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解析：翻译题干。</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①¬象棋活动室→书法活动室；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②¬太极拳活动室或¬国画活动室；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③书法活动室→¬剪纸活动室；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④象棋活动室→国画活动室。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从确定信息入手开始推理，不设置书法活动室是对条件①的否后，否后必否前，可知设置象棋活动室，设置象棋活动室是对条件④的肯前，肯前必肯后，可知设置国画活动室，设置国画活动室是对条件②中“－国画活动室”的否定，或关系否一推一，可知不设置太极拳活动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解析：论点：财政局也调研了天河镇。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论据：（1）每个单位至多在光武镇和中兴镇中调研一个；</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（2）若某个单位不调研光武镇，则该单位也不调研辰星镇；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（3）每个单位至少在辰星镇和天河镇中调研一个；</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（4）财政局调研了辰星镇。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①¬光武镇或¬中兴镇；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②辰星镇→光武镇；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③辰星镇或天河镇；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④财政局→辰星镇。</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从已知信息④开始推导，调查辰星镇是对②的肯前，肯前必肯后，可推出一定调查光武镇，调查光武镇是对条件①中“¬光武镇”的否定，或关系“否一肯一”，可知未调查中兴镇。要得到“财政局也调研了天河镇”的结论，需要补充的条件应连接“未调查中兴镇”与“调研天河镇”之间的关系，即建立联系，也就是“¬调查中兴镇→调研天河镇”，B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天津</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66.从所给的四个选项中，选择最合适的一个填入问号处，使之呈现一定的规律性：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天津2026_0001_6e7e1da9bf02.png"/>
          <p:cNvPicPr>
            <a:picLocks noChangeAspect="1"/>
          </p:cNvPicPr>
          <p:nvPr/>
        </p:nvPicPr>
        <p:blipFill>
          <a:blip r:embed="rId1"/>
          <a:stretch>
            <a:fillRect/>
          </a:stretch>
        </p:blipFill>
        <p:spPr>
          <a:xfrm>
            <a:off x="1333500" y="1629410"/>
            <a:ext cx="9525000" cy="44564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67.从所给的四个选项中，选择最合适的一个填入问号处，使之呈现一定的规律性：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天津2026_0002_8ff328758c49.png"/>
          <p:cNvPicPr>
            <a:picLocks noChangeAspect="1"/>
          </p:cNvPicPr>
          <p:nvPr/>
        </p:nvPicPr>
        <p:blipFill>
          <a:blip r:embed="rId1"/>
          <a:stretch>
            <a:fillRect/>
          </a:stretch>
        </p:blipFill>
        <p:spPr>
          <a:xfrm>
            <a:off x="1088390" y="1658620"/>
            <a:ext cx="10015220" cy="44742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68.把下面的六个图形分成两类，使每一类图形都有各自的共同特征或规律，分组正确的一项是：</a:t>
            </a:r>
            <a:endParaRPr sz="2000" b="0">
              <a:solidFill>
                <a:srgbClr val="333333"/>
              </a:solidFill>
              <a:latin typeface="微软雅黑" panose="020B0503020204020204" charset="-122"/>
            </a:endParaRPr>
          </a:p>
        </p:txBody>
      </p:sp>
      <p:pic>
        <p:nvPicPr>
          <p:cNvPr id="4" name="Picture 3" descr="天津2026_0005_0ed66b80b78e.png"/>
          <p:cNvPicPr>
            <a:picLocks noChangeAspect="1"/>
          </p:cNvPicPr>
          <p:nvPr/>
        </p:nvPicPr>
        <p:blipFill>
          <a:blip r:embed="rId1"/>
          <a:stretch>
            <a:fillRect/>
          </a:stretch>
        </p:blipFill>
        <p:spPr>
          <a:xfrm>
            <a:off x="600000" y="1542438"/>
            <a:ext cx="10992000" cy="1786600"/>
          </a:xfrm>
          <a:prstGeom prst="rect">
            <a:avLst/>
          </a:prstGeom>
        </p:spPr>
      </p:pic>
      <p:sp>
        <p:nvSpPr>
          <p:cNvPr id="5" name="TextBox 4"/>
          <p:cNvSpPr txBox="1"/>
          <p:nvPr/>
        </p:nvSpPr>
        <p:spPr>
          <a:xfrm>
            <a:off x="750000" y="3479038"/>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A. ①②⑤,③④⑥
B. ①②⑥,③④⑤
C. ①③⑥,②④⑤
D. ①④⑤,②③⑥</a:t>
            </a:r>
            <a:endParaRPr sz="2000" b="0">
              <a:solidFill>
                <a:srgbClr val="333333"/>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69.把下面的六个图形分成两类，使每一类图形都有各自的共同特征或规律，分组正确的一项是：</a:t>
            </a:r>
            <a:endParaRPr sz="2000" b="0">
              <a:solidFill>
                <a:srgbClr val="333333"/>
              </a:solidFill>
              <a:latin typeface="微软雅黑" panose="020B0503020204020204" charset="-122"/>
            </a:endParaRPr>
          </a:p>
        </p:txBody>
      </p:sp>
      <p:pic>
        <p:nvPicPr>
          <p:cNvPr id="4" name="Picture 3" descr="天津2026_0007_e225273835ec.png"/>
          <p:cNvPicPr>
            <a:picLocks noChangeAspect="1"/>
          </p:cNvPicPr>
          <p:nvPr/>
        </p:nvPicPr>
        <p:blipFill>
          <a:blip r:embed="rId1"/>
          <a:stretch>
            <a:fillRect/>
          </a:stretch>
        </p:blipFill>
        <p:spPr>
          <a:xfrm>
            <a:off x="600000" y="1542438"/>
            <a:ext cx="10992000" cy="2104851"/>
          </a:xfrm>
          <a:prstGeom prst="rect">
            <a:avLst/>
          </a:prstGeom>
        </p:spPr>
      </p:pic>
      <p:sp>
        <p:nvSpPr>
          <p:cNvPr id="5" name="TextBox 4"/>
          <p:cNvSpPr txBox="1"/>
          <p:nvPr/>
        </p:nvSpPr>
        <p:spPr>
          <a:xfrm>
            <a:off x="750000" y="3797289"/>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A. ①②③,④⑤⑥
B. ①②④,③⑤⑥
C. ①④⑥,②③⑤ </a:t>
            </a:r>
            <a:endParaRPr sz="2000" b="0">
              <a:solidFill>
                <a:srgbClr val="333333"/>
              </a:solidFill>
              <a:latin typeface="微软雅黑" panose="020B0503020204020204" charset="-122"/>
            </a:endParaRPr>
          </a:p>
          <a:p>
            <a:pPr algn="l">
              <a:lnSpc>
                <a:spcPct val="150000"/>
              </a:lnSpc>
              <a:buClrTx/>
              <a:buSzTx/>
              <a:buFontTx/>
            </a:pPr>
            <a:r>
              <a:rPr sz="2000" b="0">
                <a:solidFill>
                  <a:srgbClr val="333333"/>
                </a:solidFill>
                <a:latin typeface="微软雅黑" panose="020B0503020204020204" charset="-122"/>
              </a:rPr>
              <a:t>D.①⑤⑥,②③④</a:t>
            </a:r>
            <a:endParaRPr sz="2000" b="0">
              <a:solidFill>
                <a:srgbClr val="333333"/>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70.以下为22个白色、5个灰色正方体组合成的三阶魔方，问哪一项不可能是该魔方拧动1次（位于同一平面上的9个小正方形平行于该平面整体转动90°、180°或270°）后某一面的视图？</a:t>
            </a:r>
            <a:endParaRPr sz="2000" b="0">
              <a:solidFill>
                <a:srgbClr val="333333"/>
              </a:solidFill>
              <a:latin typeface="微软雅黑" panose="020B0503020204020204" charset="-122"/>
            </a:endParaRPr>
          </a:p>
        </p:txBody>
      </p:sp>
      <p:pic>
        <p:nvPicPr>
          <p:cNvPr id="4" name="Picture 3" descr="天津2026_0008_24830ca930fb.png"/>
          <p:cNvPicPr>
            <a:picLocks noChangeAspect="1"/>
          </p:cNvPicPr>
          <p:nvPr/>
        </p:nvPicPr>
        <p:blipFill>
          <a:blip r:embed="rId1"/>
          <a:stretch>
            <a:fillRect/>
          </a:stretch>
        </p:blipFill>
        <p:spPr>
          <a:xfrm>
            <a:off x="600000" y="2125368"/>
            <a:ext cx="10992000" cy="30788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04585"/>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71.气象旅游资源是指大气中的冷、热、风、云、雨、雪、霜、雾、雷、电、光等各种物理现象和物理过程所构成的旅游资源。一般来说，气象旅游资源必须在特定的地域和时期才会出现。
根据上述定义，下列没有体现气象旅游资源的是：
A. 4月的阳朔，游客来到钟乳石溶洞，观看石灰岩历经亿万年形成的钟乳石景观，如“海上明月”“水品龙宫”等
B. 6月的蓬莱阁，游人立于阁前，凝望雾气蒸腾的海面，会看到海市蜃楼的幻景，它由隐达显，由显转隐，持续几分钟到几十分钟
C. 1月的松花湖、由于气温低，湿度高，街道两旁出现了洁白冰莹的雾凇，姿态各异，引来游人驻足观赏
D. 9月的泰山，游客漫步泰山极顶，往西望去，朵朵残云如峰似峦，一道道金光穿云破雾，直泻人间，形成“晚霞夕照”的奇观</a:t>
            </a:r>
            <a:endParaRPr sz="2000" b="0">
              <a:solidFill>
                <a:srgbClr val="333333"/>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72.社会环境调查是指能获得有关企业与环境之间的关系状态、环境对企业的影响度、企业对环境的适应度等方面的信息，寻找自身的最佳立足点的调查。
根据上述定义，下列没有体现社会环境调查的是：
A. 调查近10年GDP增长率、人均可支配收入变化，推测企业未来的发展机会
B. 调查当地税收政策、环保政策的调整情况，分析企业生产技术与政策的适配情况
C. 调查企业生产活动中固体废弃物的处理方式，判断企业的做法是否符合国家标准
D. 调查现有污染源的位置和污染物环境输送规律，确定大气、土壤采样的布点原则</a:t>
            </a:r>
            <a:endParaRPr sz="2000" b="0">
              <a:solidFill>
                <a:srgbClr val="333333"/>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73.情绪理解指个体识别、标签和理解自己及他人情绪状态的能力，包括识别情绪表情、理解情绪产生的原因和预测情绪可能引发的结果。这是一种认知能力。情绪调节指个体管理和改变自己或他人情绪反应的过程、策略和能力，旨在使情绪反应在强度、持续时间和表达方式上更为适应当前情境。
根据上述定义，下列主要体现了情绪调节的是：
A. 小华看到同桌眉头紧锁、沉默不语，判断他可能是因考试没考好而心情沮丧
B. 小美在感到非常愤怒时，会独自去做一会儿运动，让愤怒情绪慢慢平息下来
C. 幼儿园老师指着图片上的各种面孔，教孩子们辨别什么是高兴、什么是悲伤
D. 咨询师帮助某来访者分析，其焦虑情绪往往在任务时间节点即将到来时出现</a:t>
            </a:r>
            <a:endParaRPr sz="2000" b="0">
              <a:solidFill>
                <a:srgbClr val="333333"/>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62015"/>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74.信息规制是指规制机构通过信息公开的方式纠正风险和相关市场不完全的行为。从具体实施上，信息规制可分为对信息的规制和通过信息规制两种，前者是指由主管机关对相对人披露有关信息的强制性要求，后者是指在现代网络资讯背景下，由主管机关通过公布一定的信息来实现对相对人的规制和惩罚。
根据上述定义，下列不属于信息规制的是：
A. 甲国的一些社交平台为防止不良信息传播，采用过滤系统对不良信息进行分级、监管并及时过滤这些信息
B. 乙国颁布《网络安全法》，规定了网络运营者收集、使用个人信息的基本规则，确保网络信息的合法性
C. 丙国《儿童在线隐私保护法》规定，知名网站不得向13周岁以下儿童开放
D. 丁国推出《在线隐私保护法案》，要求媒体平台应采取一切措施核实用户年龄，某网站违反该法案后，被处高额罚款</a:t>
            </a:r>
            <a:endParaRPr sz="2000" b="0">
              <a:solidFill>
                <a:srgbClr val="333333"/>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75375"/>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75.医疗伦理损害是指医疗机构及医务人员从事各种医疗行为时，未对病患充分告知或者说明其病情，未对病患提供及时有用的医疗建议，未保守与病情有关的各种秘密，或未取得病患同意即采取某种医疗措施或停止继续治疗等，而违反医疗职业良知或职业伦理上应遵守的规则的过失行为。
根据上述定义，下列涉及了医疗伦理损害的是；
A. 患者在治疗期间发现医院对其病历进行了篡改和伪造，导致其在后续治疗中受到误导
B. 患者因咳嗽住院，医生对其使用了昂贵且非必要的抗生素，并延长其住院时间，患者感到疑惑，但医生未给予充分解释
C. 患者因外伤处于不可逆的昏迷状态，医生在告知家属情况后，家属选择撤离呼吸机，停止进一步的生命支持
D. 患者因身体不适前往一家无证诊所就诊，在接受治疗后，患者病情加重并出现并发症</a:t>
            </a:r>
            <a:endParaRPr sz="2000" b="0">
              <a:solidFill>
                <a:srgbClr val="333333"/>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33795"/>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76.民航运输生产指标中，民航客座率指的是实际承运人数与可供座位数的百分比。民航载运率包括航站始发载运率和航线载运率两个指标，其中航站始发载运率是实际载运量与飞机最大载运能力之比；航线载运率是实际总周转量与最大周转量之比；飞行小时生产率指的是每一运输飞行小时平均完成的吨公里数，以“吨公里/时”为计量单位。其计算采用两种等效公式：基于运输总周转与飞行时间的比值（运输总周转量/运输飞行小时），或每班最大业载与航速的乘积（每班最大业载×航速）。
根据上述定义，下列说法错误的是：
A. 航线载运率可反映飞机在一条航线上载运能力的利用程度，也反映客货源的变动情况
B. 每班最大业载越高，航速越快，运输总周转量就越高，运输飞行小时也越多
C. 客座率可以反映航班座位资源的使用效率，该指标会受到市场需求、票价策略的影响
D. 航站始发载运率反映了航站对飞机载运能力的利用程度和航班组织的合理性，是调整航班、编制发送量的依据</a:t>
            </a:r>
            <a:endParaRPr sz="2000" b="0">
              <a:solidFill>
                <a:srgbClr val="333333"/>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77.断裂带理论认为团队内部因成员多重特征（如年龄、专业背景）差异形成隐性分界线，这些分界线被称为“断裂带”，导致子群体间冲突或协同障碍，其强度由特征重叠度与子群体对立程度决定。断裂带可能促进或阻碍团队的创新、沟通和绩效。
根据上述定义，下列情形体现了断裂带理论的是：
A. 研发团队因技术路线分歧分成两派，但最终通过实验数据达成共识
B. 高管团队中60后成员偏好稳健战略，80后成员主张激进创新，二者之间形成决策僵局
C. 销售部按区域划分小组，华北组与华南组定期交换市场策略
D. 项目组通过匿名换票消除职称差异对方案选择的影响</a:t>
            </a:r>
            <a:endParaRPr sz="20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78.广告语言的语音“陌生化”是指通过语音韵律和常规语言的相异来求得广告语言的陌生化效果，其可分为两种方式：①声韵“陌生化”，即借助语言的音韵来实现广告语言特殊的“声韵结构”，这里较常见的是语言的押韵，即通过语句句尾韵母的相同或相近来获得与日常语言的相异效果。②节律“陌生化”，即借助语音的节奏、格律（如复叠、对仗等）来区别于日常语言，从而赋予广告以语音上的“陌生化”。
根据上述定义，下列广告语体现了节律“陌生化”的是：
A. 酒业广告语——五月黄梅天，三星白兰地
B. 洗衣粉广告语——从这一面到那一面，认真生活每一面
C. 自行车广告语——“骑”乐无穷，乐在“骑”中
D. 纸尿裤广告语——天才第一步，X牌纸尿裤</a:t>
            </a:r>
            <a:endParaRPr sz="20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79.生物污损是指生物在人工材料或设施上附着、生长，使其性能下降或损坏的自然现象。
根据上述定义，下列体现了生物污损的是：
A. 藤壶、贻贝、藻类等海洋生物通过分泌黏性物质附着于船壳表面，附着层厚度每增加1毫米，船舶燃料消耗量将提升约3%
B. 在潮间带上建造的大桥，为了防止其被硫酸盐还原细菌等腐蚀，会在其桥段上喷碱性涂料，使细菌等生物避而远之
C. 诺如病毒附着在生鲜水果上，被人们食用后在体内不断繁殖，进而引发胃肠道感染
D. 森林公园通过建设刺猬屋、蚯蚓塔、昆虫旅馆等设施，为生物的生长提供了栖息地</a:t>
            </a:r>
            <a:endParaRPr sz="20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395010"/>
            <a:ext cx="10692000" cy="5701665"/>
          </a:xfrm>
          <a:prstGeom prst="rect">
            <a:avLst/>
          </a:prstGeom>
          <a:noFill/>
        </p:spPr>
        <p:txBody>
          <a:bodyPr wrap="square" lIns="0" tIns="0" rIns="0" bIns="0">
            <a:spAutoFit/>
          </a:bodyPr>
          <a:lstStyle/>
          <a:p>
            <a:pPr algn="l">
              <a:lnSpc>
                <a:spcPct val="150000"/>
              </a:lnSpc>
            </a:pPr>
            <a:r>
              <a:rPr sz="1900" b="0">
                <a:solidFill>
                  <a:srgbClr val="333333"/>
                </a:solidFill>
                <a:latin typeface="微软雅黑" panose="020B0503020204020204" charset="-122"/>
              </a:rPr>
              <a:t>80.在心理学领域，否认是指无意识地拒绝承认那些不愉快的现实以保护自我，它是最原始、最简单的心理防卫机制。歪曲是把外界事实加以曲解，变化以符合内心的需要，其属于精神病性的心理防卫机制，因歪曲作用而表现的精神病现象，以妄想或幻觉最为常见。反作用形成是指有意识地采取某种与潜意识完全相反的看法和行动，因为真实意识表现出来不符合社会道德规范或引起内心焦虑，故而朝着相反的途径释放。
根据上述定义，下列说法正确的是：
A. 医生诊断赵华患有胃癌，但赵华难以接受，认为自己没有得癌症，赵华的这种行为属于反作用形成
B. 对丈夫前妻留下的孩子怀有敌意的继母，往往特别溺爱孩子，企图证明她没有敌视孩子，继母的这种行为属于歪曲
C. 小宋昨天和女朋友分手，却自以为要和女朋友结婚，甚至还到处向亲朋好友发喜帖，小宋的这种行为属于反作用形成
D. 2岁的小明在家里玩耍时常会不小心打碎东西，发生这种事时，他往往用手把眼睛蒙起来，小明的这种行为属于否认</a:t>
            </a:r>
            <a:endParaRPr sz="19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81.旧友∶故友
A. 惯犯∶累犯
B. 开端∶事端
C. 出现∶再现
D. 消退∶倒退</a:t>
            </a:r>
            <a:endParaRPr sz="20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82.审计局∶财务监督
A. 气象局∶防灾救灾
B. 档案馆∶史料编研
C. 监察委∶纪律审查
D. 信访局∶矛盾调解</a:t>
            </a:r>
            <a:endParaRPr sz="20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83.撕∶扯∶撕扯
A. 攀∶登∶攀登
B. 抛∶掷∶抛掷
C. 研∶磨∶研磨
D. 裁∶剪∶裁剪</a:t>
            </a:r>
            <a:endParaRPr sz="20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84.囹圄∶囚犯∶监狱
A. 庙主∶僧人∶寺庙
B. 庠序∶学生∶学校
C. 朝廷∶皇帝∶皇宫
D. 陷阵∶士兵∶兵营</a:t>
            </a:r>
            <a:endParaRPr sz="20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85.疾步∶奔走∶风驰电掣
A. 迅速∶高效∶风风火火
B. 忧心∶惴惴∶惶惶不可终日
C. 向往∶热衷∶唯恐避之不及
D. 认可∶享受∶甘之如饴</a:t>
            </a:r>
            <a:endParaRPr sz="20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86.酸败∶乳酸菌∶牛奶
A. 发霉∶木质家具∶潮湿
B. 溶蚀∶地下水∶石灰岩
C. 变味∶冰箱冷藏∶饭菜
D. 缺氧∶枯黄∶绿植叶片</a:t>
            </a:r>
            <a:endParaRPr sz="2000" b="0">
              <a:solidFill>
                <a:srgbClr val="3333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87.电磁感应∶发电机∶电能转换
A. 光电效应∶太阳能电池∶光能转换
B. 压电效应∶传感器∶振动检测
C. 热电效应∶温差发电∶热能转换
D. 磁滞现象∶变压器∶能量损耗</a:t>
            </a:r>
            <a:endParaRPr sz="2000" b="0">
              <a:solidFill>
                <a:srgbClr val="333333"/>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88.探测仪器∶地质勘查∶寻找矿产
A. 声呐设备∶海洋探测∶高精准度
B. 激光雷达∶地形测绘∶清晰成像
C. 高空探测∶气象气球∶收集数据
D. 采样机器∶环境检测∶评估污染</a:t>
            </a:r>
            <a:endParaRPr sz="2000" b="0">
              <a:solidFill>
                <a:srgbClr val="333333"/>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89.车位共享 对于 （ ） 相当于（ ）对于 基层自治
A. 共享经济∶社区治理
B. 公共服务∶公共事务
C. 停车难题∶人民民主
D. 资源统筹∶业主议事</a:t>
            </a:r>
            <a:endParaRPr sz="2000" b="0">
              <a:solidFill>
                <a:srgbClr val="333333"/>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90.政策试点 对于（ ）相当于 可行性研究 对于 （ ）
A. 经验总结；项目论证
B. 全面推广；立项批复
C. 问题反馈；预算编制
D. 立法保障；投资决策</a:t>
            </a:r>
            <a:endParaRPr sz="2000" b="0">
              <a:solidFill>
                <a:srgbClr val="333333"/>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91.甑皮岩遗址位于广西桂林的独山，考古人员从该遗址中发掘出距今12000年前的陶器，还在遗址中发现大量完整的螺、蚌等介壳，由于螺、蚌等食物只有经水煮加热之后，才能在不打碎介壳的前提下，顺利取食其中的肉。因此，研究人员认为：当时的人们已经开始食用螺、蚌，陶器的出现很可能与人们食用螺、蚌有关。
以下哪项如果为真，最能支持上述观点？
A. 这些陶器多采用原始的捏制方法制作而成，具有非常原始的特征
B. 桂林地区的地理环境和气候条件为陶器的出现提供了稳定的原料
C. 螺、蚌介壳等遗存的发现，显示出旧石器晚期人群食物的复杂性
D. 在桂林其他地区，人们也发现了陶器中残留有螺、蚌介壳的迹象</a:t>
            </a:r>
            <a:endParaRPr sz="2000" b="0">
              <a:solidFill>
                <a:srgbClr val="333333"/>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92.过敏是儿童常见的一种疾病。在遇到环境、食物中的过敏原，儿童常常会因为过敏而出现皮肤瘙痒、呼吸不畅等症状。研究发现，相比不过敏的同龄儿童，容易过敏的儿童会经常感到不适且无法用言语准确表达，出现焦虑情绪的比例显著上升。因此，研究人员认为：长期过敏的儿童，更可能产生不良情绪，引发交际和心理问题。
以下哪项如果为真，最能削弱上述观点？
A. 过敏带来的瘙痒、鼻塞等问题会分散儿童注意力，使其难以专注于学习、玩耍等活动
B. 原本具有焦虑倾向或情绪调节能力较差的儿童，免疫系统更易对环境过敏原过度反应
C. 曾经因为吃某种食物过敏而呼吸困难的儿童，往往在之后看到这类食物就会心生恐惧
D. 过敏儿童若得到家庭充分的情感支持和过敏管理，其焦虑水平与正常儿童无显著差异</a:t>
            </a:r>
            <a:endParaRPr sz="2000" b="0">
              <a:solidFill>
                <a:srgbClr val="333333"/>
              </a:solidFill>
              <a:latin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93.某市近年来陆续开设了许多社区图书室，通常来说，社区图书室离家近，看书方便，应该受到居民的热捧，然而调查发现：不少社区图书室冷冷清清，与省、市图书馆里读者众多、一座难求的情形形成了鲜明对比。有人认为，目前，社区图书室的活动过少，只有更多地举办富有吸引力的文化活动，社区图书室才能有效吸引读者。
以下哪项如果为真，最能反驳上述观点？
A. 社区图书室中图书的更新相对缓慢，这使得一些居民不愿走进社区图书室
B. 很多居民并不知道社区设有图书室，通过举办活动可以对图书室进行宣传
C. 当下，一些举办了各类趣味文化活动的社区图书室依然读者稀少，门庭冷落
D. 居民下班回到小区时，社区图书室也下班关闭，时间不匹配影响了读者来访</a:t>
            </a:r>
            <a:endParaRPr sz="2000" b="0">
              <a:solidFill>
                <a:srgbClr val="333333"/>
              </a:solidFill>
              <a:latin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341035"/>
            <a:ext cx="10692000" cy="600138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94.人工湿地尾水处理模式是一种通过模拟天然湿地系统结构和功能而建造的污水处理技术，是融合了饱和基质、水生植被、动物和水体等多个要素的生态系统。在农村地区建造人工湿地，与传统污水处理厂相比可节省30%的投资成本，且在处理过程中基本无能耗，运行费用低。因此在农村地区，建立人工湿地比传统污水处理厂更经济、更环保。
以下哪项如果为真，最能削弱上述结论？
A. 人工湿地的污水处理效率受气候条件影响很大，在冬季低温时净化效果显著下降，难以稳定达到排放标准
B. 传统污水处理厂近年来技术升级，已出现模块化、低能耗的新型处理设备，在农村地区也可实现低成本运行
C. 某些人工湿地在运行数年后会出现基质堵塞问题，疏通或更换基质的费用高昂，甚至接近重新建造的成本
D. 人工湿地需要占用大量土地，而在某些土地机会成本较高的农村地区，导致总体成本反而超过传统污水处理厂</a:t>
            </a:r>
            <a:endParaRPr sz="2000" b="0">
              <a:solidFill>
                <a:srgbClr val="333333"/>
              </a:solidFill>
              <a:latin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95.作为一种在全球范围内广泛使用的非生物降解塑料，聚苯乙烯在日常生活中极为常见。为了研究聚苯乙烯对动物的影响，科研人员对斑马鱼进行了试验，发现长期暴露于聚苯乙烯环境中，斑马鱼会表现出视动反应、趋光行为的迟缓，并出现视力下降。这让科研人员认为：长期接触聚苯乙烯会干扰视觉功能，造成动物的视力损伤。
以下哪项如果为真，最能支持上述科研人员的结论？
A. 试验结果显示，聚苯乙烯浓度越高，斑马鱼的视网膜色素上皮受到的结构性损伤就越显著
B. 500nm的聚苯乙烯会影响光传导信号通路，使动物视觉感知失调并影响晶状体发育
C. 荧光观察发现，聚苯乙烯在视网膜层积累后，视神经细胞转录因子减少，视力障碍开始出现
D. 实验同时评估了80、200、500nm的聚苯乙烯对斑马鱼行为的影响，并测量了它们的游泳距离</a:t>
            </a:r>
            <a:endParaRPr sz="2000" b="0">
              <a:solidFill>
                <a:srgbClr val="333333"/>
              </a:solidFill>
              <a:latin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96.某研究团队以36名大学生为被试，比较手写与打字时的大脑活动，脑电图结果显示，手写可显著增强大脑多区域的功能连通性，而用同一根手指反复敲击键盘的简单打字动作对大脑的刺激较小。研究人员据此认为，手写在学习阅读和识别字母形状方面更具认知优势。
以下哪项如果为真，最可能是上述研究人员预设的前提？
A. 手写与使用手指敲击键盘打字所激活的神经机制不同
B. 所有参与实验的受试者均能正确识别屏幕上显示的单词
C. 大学生在实验中的手写与打字活动能代表一般学习者的情况
D. 大脑功能连通性越强，学习阅读和识别字母形状的能力就越强</a:t>
            </a:r>
            <a:endParaRPr sz="2000" b="0">
              <a:solidFill>
                <a:srgbClr val="333333"/>
              </a:solidFill>
              <a:latin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97.来自同一个班级的六位小伙伴（赵、钱、孙、李、周、吴）从前到后排队依次领军训服装。其中，赵排在第一位或最后一位；孙和李顺序相邻，钱排在周的前面且二人不相邻；李和赵的距离比他与周的距离更近。
则排在倒数第二位的可能是：
A. 孙
B. 李
C. 周
D. 钱</a:t>
            </a:r>
            <a:endParaRPr sz="2000" b="0">
              <a:solidFill>
                <a:srgbClr val="333333"/>
              </a:solidFill>
              <a:latin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49935" y="699135"/>
            <a:ext cx="10692130" cy="5790565"/>
          </a:xfrm>
          <a:prstGeom prst="rect">
            <a:avLst/>
          </a:prstGeom>
          <a:noFill/>
        </p:spPr>
        <p:txBody>
          <a:bodyPr wrap="square" lIns="0" tIns="0" rIns="0" bIns="0">
            <a:noAutofit/>
          </a:bodyPr>
          <a:lstStyle/>
          <a:p>
            <a:pPr algn="l">
              <a:lnSpc>
                <a:spcPct val="150000"/>
              </a:lnSpc>
              <a:buClrTx/>
              <a:buSzTx/>
              <a:buFontTx/>
            </a:pPr>
            <a:r>
              <a:rPr sz="2000" b="0">
                <a:solidFill>
                  <a:srgbClr val="333333"/>
                </a:solidFill>
                <a:latin typeface="微软雅黑" panose="020B0503020204020204" charset="-122"/>
              </a:rPr>
              <a:t>98.小张、小刘、小黄准备于国庆假期去天津学习杨柳青年画和泥人张彩塑两个非遗技艺，每人学习且只学习一个非遗技艺，有如下5个预测：
（1）小张和小刘至多有一人去学习杨柳青年画；
（2）小刘和小黄至少有一人去学习泥人张彩塑：
（3）小张、小刘和小黄都不去学习泥人张彩塑；
（4）小张和小刘去学习杨柳青年画；
（5）小黄不去学习杨柳青年画并且小张去学习泥人张彩塑。
结果发现，只有1个预测正确，由此可以推出：
A. 小黄去学习杨柳青年画
B. 小黄去学习泥人张彩塑
C. 小刘不去学习杨柳青年画
D. 小张不去学习泥人张彩塑</a:t>
            </a:r>
            <a:endParaRPr sz="2000" b="0">
              <a:solidFill>
                <a:srgbClr val="333333"/>
              </a:solidFill>
              <a:latin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1411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99.为了丰富社区的精神文化生活，幸福社区计划设置五个活动室，分别是象棋，书法、太极拳、剪纸、国画，并对居民的意见进行了汇总，得出以下结论：
（1）只有设置书法活动室，才不会设置象棋活动室；
（2）不会同时设置太极拳活动和国画活动室；
（3）如果设置了书法活动室，就不会设置剪纸活动室；
（4）只要设置象棋活动室，就会设置国画活动室。
已知，该社区一定不设置书法活动室，则以下一定正确的是：
A. 设置剪纸活动室
B. 不设置太极拳活动室
C. 不设置国画活动室
D. 不设置象棋活动室</a:t>
            </a:r>
            <a:endParaRPr sz="2000" b="0">
              <a:solidFill>
                <a:srgbClr val="333333"/>
              </a:solidFill>
              <a:latin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100.为制定农村发展政策，各单位纷纷下到各镇进行调研，已知调研情况如下：
（1）每个单位至多在光武镇和中兴镇中调研一个；
（2）若某个单位不调研光武镇，则该单位也不调研辰星镇；
（3）每个单位至少在辰星镇和天河镇中调研一个；
（4）财政局调研了辰星镇。
小王知道了上述情况后断定，财政局也调研了天河镇。
以下哪项如果为真，可以成为小王断定所需的前提？
A. 财政局没有调研中兴镇
B. 不调研中兴镇的必须调研天河镇
C. 财政局没有调研光武镇
D. 调研中兴镇的都不调研天河镇</a:t>
            </a:r>
            <a:endParaRPr sz="2000" b="0">
              <a:solidFill>
                <a:srgbClr val="333333"/>
              </a:solidFill>
              <a:latin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7094</Words>
  <Application>WPS 演示</Application>
  <PresentationFormat>宽屏</PresentationFormat>
  <Paragraphs>82</Paragraphs>
  <Slides>37</Slides>
  <Notes>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37</vt:i4>
      </vt:variant>
    </vt:vector>
  </HeadingPairs>
  <TitlesOfParts>
    <vt:vector size="50" baseType="lpstr">
      <vt:lpstr>Arial</vt:lpstr>
      <vt:lpstr>宋体</vt:lpstr>
      <vt:lpstr>Wingdings</vt:lpstr>
      <vt:lpstr>江城圆体 400W</vt:lpstr>
      <vt:lpstr>微软雅黑</vt:lpstr>
      <vt:lpstr>Arial Unicode MS</vt:lpstr>
      <vt:lpstr>Calibri</vt:lpstr>
      <vt:lpstr>思源黑体 CN</vt:lpstr>
      <vt:lpstr>黑体</vt:lpstr>
      <vt:lpstr>微软雅黑 Light</vt:lpstr>
      <vt:lpstr>Wingdings</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222</cp:revision>
  <dcterms:created xsi:type="dcterms:W3CDTF">2019-06-19T02:08:00Z</dcterms:created>
  <dcterms:modified xsi:type="dcterms:W3CDTF">2026-07-16T09:27:43Z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FCCE691D4E054FED95D0A6A2CB4CCD6A_13</vt:lpwstr>
  </property>
</Properties>
</file>