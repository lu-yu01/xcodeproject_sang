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1" r:id="rId3"/>
  </p:sldMasterIdLst>
  <p:notesMasterIdLst>
    <p:notesMasterId r:id="rId5"/>
  </p:notesMasterIdLst>
  <p:sldIdLst>
    <p:sldId id="440" r:id="rId4"/>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6" r:id="rId28"/>
    <p:sldId id="437" r:id="rId29"/>
    <p:sldId id="438" r:id="rId30"/>
    <p:sldId id="439" r:id="rId31"/>
    <p:sldId id="441" r:id="rId32"/>
  </p:sldIdLst>
  <p:sldSz cx="12192000" cy="6858000"/>
  <p:notesSz cx="6858000" cy="9144000"/>
  <p:embeddedFontLst>
    <p:embeddedFont>
      <p:font typeface="微软雅黑" panose="020B0503020204020204" charset="-122"/>
      <p:regular r:id="rId37"/>
      <p:bold r:id="rId38"/>
    </p:embeddedFont>
    <p:embeddedFont>
      <p:font typeface="微软雅黑 Light" panose="020B0502040204020203" pitchFamily="34" charset="-122"/>
      <p:regular r:id="rId39"/>
    </p:embeddedFont>
    <p:embeddedFont>
      <p:font typeface="Calibri" panose="020F0502020204030204" charset="0"/>
      <p:regular r:id="rId40"/>
      <p:bold r:id="rId41"/>
      <p:italic r:id="rId42"/>
      <p:boldItalic r:id="rId43"/>
    </p:embeddedFont>
  </p:embeddedFontLst>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9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b123" initials="k" lastIdx="2" clrIdx="0"/>
  <p:cmAuthor id="2" name="作者" initials="A" lastIdx="0" clrIdx="1"/>
  <p:cmAuthor id="1483810881" name="WPS_1679281038" initials="W" lastIdx="1" clrIdx="2"/>
  <p:cmAuthor id="4" name="WPS" initials="W" lastIdx="0" clrIdx="3"/>
  <p:cmAuthor id="5" name="Wei" initials="2" lastIdx="0" clrIdx="4"/>
  <p:cmAuthor id="6" name="许远超" initials="许" lastIdx="0" clrIdx="5"/>
  <p:cmAuthor id="7" name="Administrator" initials="A" lastIdx="0" clrIdx="6"/>
  <p:cmAuthor id="8" name="kingsoft" initials="k" lastIdx="0" clrIdx="7"/>
  <p:cmAuthor id="9" name="刘 译璟" initials="刘" lastIdx="0" clrIdx="8"/>
  <p:cmAuthor id="10" name="番茄花园" initials="番" lastIdx="0" clrIdx="9"/>
  <p:cmAuthor id="11" name="李鹏飞_6bQfzI3a" initials="李" lastIdx="0" clrIdx="10"/>
  <p:cmAuthor id="12" name="小珞_QjMfU7FR" initials="小" lastIdx="0" clrIdx="11"/>
  <p:cmAuthor id="13" name="骆倩怡_Znauj26B" initials="authorId_382814100" lastIdx="0" clrIdx="12"/>
  <p:cmAuthor id="14" name="桑桑" initials="桑" lastIdx="0" clrIdx="13"/>
  <p:cmAuthor id="15" name="caoyue" initials="c" lastIdx="0" clrIdx="14"/>
  <p:cmAuthor id="16" name="18309297108" initials="1" lastIdx="0" clrIdx="15"/>
  <p:cmAuthor id="17" name="xmiles" initials="x" lastIdx="0" clrIdx="16"/>
  <p:cmAuthor id="18" name="Microsoft Office User" initials="MOU" lastIdx="0" clrIdx="17"/>
  <p:cmAuthor id="19" name="ibm" initials="i" lastIdx="0" clrIdx="18"/>
  <p:cmAuthor id="20" name="kobe" initials="k" lastIdx="0" clrIdx="19"/>
  <p:cmAuthor id="21" name="MIAI" initials="M" lastIdx="0" clrIdx="20"/>
  <p:cmAuthor id="22" name="HP" initials="H" lastIdx="0" clrIdx="21"/>
  <p:cmAuthor id="23" name="yangyaqin" initials="y" lastIdx="0" clrIdx="22"/>
  <p:cmAuthor id="24" name="ASUS" initials="A" lastIdx="0" clrIdx="23"/>
  <p:cmAuthor id="25" name="Yongqiang ZHOU" initials="YZ" lastIdx="0" clrIdx="24"/>
  <p:cmAuthor id="26" name="Beck_jUrevum2" initials="authorId_724972424" lastIdx="0" clrIdx="25"/>
  <p:cmAuthor id="27" name="小蕊" initials="小" lastIdx="0" clrIdx="2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5B6F2"/>
    <a:srgbClr val="89C3F8"/>
    <a:srgbClr val="0677EB"/>
    <a:srgbClr val="1C76C1"/>
    <a:srgbClr val="118FEC"/>
    <a:srgbClr val="4C9ACE"/>
    <a:srgbClr val="1672BF"/>
    <a:srgbClr val="CDE8FB"/>
    <a:srgbClr val="047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2"/>
        <p:guide pos="39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4" Type="http://schemas.openxmlformats.org/officeDocument/2006/relationships/tags" Target="tags/tag17.xml"/><Relationship Id="rId43" Type="http://schemas.openxmlformats.org/officeDocument/2006/relationships/font" Target="fonts/font7.fntdata"/><Relationship Id="rId42" Type="http://schemas.openxmlformats.org/officeDocument/2006/relationships/font" Target="fonts/font6.fntdata"/><Relationship Id="rId41" Type="http://schemas.openxmlformats.org/officeDocument/2006/relationships/font" Target="fonts/font5.fntdata"/><Relationship Id="rId40" Type="http://schemas.openxmlformats.org/officeDocument/2006/relationships/font" Target="fonts/font4.fntdata"/><Relationship Id="rId4" Type="http://schemas.openxmlformats.org/officeDocument/2006/relationships/slide" Target="slides/slide1.xml"/><Relationship Id="rId39" Type="http://schemas.openxmlformats.org/officeDocument/2006/relationships/font" Target="fonts/font3.fntdata"/><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解析：组成元素不同，优先考虑数量类或属性类。每个图形均有明显的封闭区间，考虑数面。</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从左到右，图形中含有的相同形状的面的个数为2、3、4、5、6，问号处应选择含有相同形状的面的个数为7个的图形，只有D项符合。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解析：组成元素不同，优先属性类和数量类，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每个图形都有直角，只有A项符合。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解析：A项：3点和6点的公共边与题干不符；</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B项：3点和2点的公共边与题干不符；</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C项：可能为题干正方体；</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D项：3点和2点的公共边与题干不符。</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解析：①在社区空间嵌入功能性设施；</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②向社区居民提供养老托育、社区助餐、健康服务、文化休闲、儿童休憩等。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 项：“社区花园中添健身器材”，健身器材是满足居民健康服务需求的功能性设施，且嵌入在社区花园这一社区空间内，符合定义；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 项：“退休教师为学生辅导功课”，是人力提供的服务，没有涉及任何嵌入式设施，不符合定义；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 项：“招募志愿者为老年人提供居家养老服务”，属于志愿服务行为，依托的是人力而非社区内的功能性设施，不符合定义；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 项：“申请社区公交车”，公交车属于公共交通资源，并非嵌入社区空间内的固定功能性设施，且服务范围不限于社区居民的日常便民需求，不符合定义。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解析：①主动调整自身行为或信息反馈机制；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②对抗平台实施价格歧视、信息茧房。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A项：“网购频繁使用多个账号”，是通过多个账号模糊用户画像，干扰平台算法对用户的价格歧视判断，属于主动调整行为以反向驯化算法，符合定义，排除；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B项：“向市场监管局举报”，是寻求外部行政监管介入，并非用户自身主动调整行为或信息反馈来干预算法，不符合定义，当选；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C项：“评论质量高”，高质量评论可向算法传递差异化反馈，影响算法对用户需求的判断，属于主动调整信息反馈机制，符合定义，排除；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D项：“有意降低停留时间”，是主动调整使用行为，减少平台对用户的行为数据采集，避免被算法精准画像，属于反向驯化算法的范畴，符合定义，排除。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解析：①用电低谷时，新能源电车接入电网进行充电，储存电能；</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②电车充电用电高峰时，电池反向输送给电网。</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 项：汽车与电网的信息交换，仅体现了数据层面的互通，没有涉及电能的充放，不符合定义，当选；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 项：智能充电、直流公共充电站有序充电，是根据电网负荷情况调整充电节奏，属于车网互动中“低谷充电”的智能调控环节，符合定义，排除；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C项：谷充峰放、为楼宇反向充电，直接对应“低谷充电、高峰放电”的核心行为，符合定义，排除；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D项：通过 V2G（Vehicle-to-Grid，车辆到电网技术）为微电系统（是电网的一部分）供电，V2G 正是车网互动的核心技术，符合定义，排除。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解析：①企业管理和创业者；</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②面临资源约束时；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③利用现有资源的用途重新解构、认识和整合。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A项：“用闲置电脑搭建服务器”，是对企业现有闲置资源的用途重构，符合定义，排除；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B项：“将滞销器材重新组合”，是对已有滞销资源的整合再利用，符合定义，排除；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C项：“按照规划进行采购”，是主动购入新资源，而非利用企业已有的资源，不符合资源拼凑的定义，当选；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D项：“用废旧布料”（结合题意应为对废旧布料的再利用），是对现有废旧资源的重新开发，符合定义，排除。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拓展</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A项：虽未直接提资源约束，但行为符合“现有资源再利用”，不违背定义；C项：“按照规划进行采购”是获取新资源，完全不符合“利用现有资源”的核心行为，直接违背定义。故正确答案为C。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解析：①以耕地种农作物作为申报条件；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②且确保耕地不荒，休耕不超过1年。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A项：“通过过度用肥使土壤有机质下降”，过度用肥会破坏耕地地力，不符合“保护耕地”的核心要求，不符合耕地保护补贴，排除；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B项：“休耕13个月”，休耕时长超过1年，违背“休耕不超过1年”的条件，不符合耕地保护补贴，排除；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C项：“种毛白杨不种粮”，毛白杨是木本植物，种植木本植物会改变耕地用途（非粮化），不符合“耕地种农作物”的申报条件，不符合耕地保护补贴，排除；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D项：“休耕10月，种有机作物，改善土壤结构”，休耕10月未超1年，符合休耕时长要求；种植有机作物既属于种植农作物范畴，又能改善土壤结构、保护耕地地力，符合耕地保护补贴，当选。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解析：多定义，考查“线条透视”：</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线条透视：随拍照距离增大，物体在视网膜或其他成像上视力缩变现象。</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空气透视：指的是随距离增大，物体细节、形状、色彩降低。</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A项：“远处物体颜色变淡”，距离增大导致的色彩清晰度降低，符合空气透视的定义，排除。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B项：“灰暗或阴影物体显远”，依靠的是明暗对比度判断距离，既不属于线条透视，也不属于空气透视，排除；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C项：“远处高大物体上实下虚”，距离增大导致的物体细节清晰度差异，属于空气透视的范畴，排除；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D项：“距离越近，拍照的画面越显大”，反向印证了“距离越远，成像越小”的规律，符合定义，当选。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解析：“曲辕犁”是古代用于耕地的农具，“压路机”是现代用于道路平整的工程机械，功能上均围绕“对地面/土壤进行作业处理”，二者是功能同属一类的古今不同事物，属于并列关系。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A项：“及第”（科举考中）和“落榜”（科举落第）是科举考试的相反结果，二者是反义关系，与题干逻辑关系不一致，排除；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B项：“霜降”和“谷雨”均为古代沿用至今的节气，属于并列关系，但不存在古今之分，与题干逻辑关系不一致，排除；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C项：“纤绳”是用于牵引船只等的绳索，功能是物理牵引；“光纤”是用于传输光信号的线缆，功能是信号传导，二者功能类别完全不同，与题干逻辑关系不一致，排除；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D项：“火炉”是古代用于提升环境温度的器具，“冰箱”是现代用于降低物品温度的电器，二者均属于温度调节工具，功能类别相同，同时一古一今，与题干逻辑关系一致，当选。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解析：“甘草”是“甘草金桔”的调味辅料，“金桔”是主料，且“甘草金桔”是由两种具体原料（甘草和金桔）复合而成的食品名称。</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A项：“酸甜”是“酸甜萝卜”的口味特点，并非原材料，与题干逻辑关系不一致，排除；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B项：“五仁”是制作“五仁月饼”的原料，“五仁”是多种果仁的统称，并非单一原料，与题干中两种原料并列的结构不完全一致，排除；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C项：“孜然”是制作“孜然牛肉”的调味料，“牛肉”是主料，且“孜然牛肉”是由孜然和牛肉两种具体原料复合而成的菜肴名称，与题干逻辑关系一致，当选；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D项：“山楂”是制作“山楂罐头”的核心原料，但“山楂罐头”是由山楂一种主要原料加工而成的罐头，没有体现两种原料的复合，排除。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解析：“鼻夹”的主要功能是“防水”，二者为物品与其功能的对应关系。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A项：“蒸架”的主要功能是支撑食物、便于蒸汽流通以加热食物，“散热”并非其主要功能，与题干逻辑不一致，排除；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B项：“香葱”的主要用途是调味，“杀菌”并非其主要功能，与题干逻辑不一致，排除；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C项：“商标”是用来区别一个经营者的品牌或服务和其他经营者的商品或服务的“标记”，“商标”是一种“标记”，二者为种属关系，与题干逻辑不一致，排除；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D项：“水库”的主要功能是“拦洪”，二者为物品与其功能的对应关系，与题干逻辑一致，当选。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解析：“午未申酉戌”与“马羊猴鸡狗”是地支与生肖的一一对应关系，且顺序一致（“午”对应“马”、“未”对应“羊”、“申”对应“猴”、“酉”对应“鸡”、“戌”对应“狗”）。</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乾坤震艮巽”与“天地雷山风”是八卦卦名与其象征物的一一对应关系，且顺序一致（“乾”为“天”、“坤”为“地”、“震”为“雷”、“艮”为“山”、“巽”为“风”），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B项：“金木水火土”与“东西南北中”分别是五行与方向，存在对应关系，但该项顺序不一致，“金木水火土”应分别对应“东南中西北”，与题干逻辑关系不一致，排除；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C项：“麦豆稻黍稷”是五谷，“黄青赤白黑”是五色，二者无直接的一一对应关联，与题干逻辑关系不一致，排除；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D项：“心肝脾肺肾”是五脏，“耳目口鼻舌”是五官，属于不同类别的人体器官划分，无对应关系，与题干逻辑关系不一致，排除。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解析：先“文件起草”，再“领导签批”，最后“归档保存”，按照工作流程的先后顺序推进，三者属于顺承关系，且针对的对象均为文件。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A项：先“素材收集”，再“剧本制作”，最后“影视拍摄”，按照影视制作的先后顺序推进，三者属于顺承关系，且针对的对象均为影视剧，与题干逻辑关系一致，当选；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B项：先“发布公告”，再“参加考试”，最后“公示名单”，三者属于顺承关系，但针对的对象不同，排除；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C项：“侦探案件”可能发生在“收集证据”之前，排除；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D项：先“打包货物”，再“物流运输”，最后“配送签收”，词语顺序与题干不符，排除。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拓展</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“边写剧本边拍摄” 属于影视创作中的特例（比如部分即兴创作的作品），但普遍、规范的影视制作流程必然是 “素材收集→剧本制作→影视拍摄”—— 没有成型的剧本框架，拍摄工作就缺乏核心依据。</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解析：“金牌厨师”为“忠实顾客”“制作佳肴”，三者构成“主体－客体－行为”的对应关系。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A项：“驻村书记”为“脱贫村民”“扶持产业”，三者构成“主体－对象－行为”的对应关系，“扶持产业”是“驻村书记”的职责，服务对象是“脱贫村民”，与题干逻辑关系一致，当选；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B项：“主任医师”的核心职责是诊疗危重病人，“基础护理”一般是护理人员的工作，与题干逻辑关系不一致，排除；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C项：“篮球教练”的职责是指导学员训练，而非代替学员“参加比赛”，“参加比赛”的主体是学员而非教练，与题干逻辑关系不一致，排除；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D项：“载重汽车”是“货车司机”的工作工具，与题干逻辑关系不一致，排除。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解析：“挡门”会让“电梯”发生“危险”，三者属于对应关系。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A项：“短路”会导致“电源”“断电”，词语顺序与题干相反，排除；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B项：“伞套”是“雨伞”的配套物品，“遮雨”是“雨伞”的功能，排除；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C项：“降雨”会让“土壤”变得“湿润”，与题干逻辑关系一致，当选；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D项：“高温”会导致“冰川”“融化”，词语顺序与题干不一致。排除。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解析：“猛禽”是“鸟类”，二者是种属关系，“金雕”是一种“猛禽”，二者是种属关系。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A项：“金融”包含“投资”（领域与行为），但“操盘”是“投资”的具体操作动作，并非“投资的一种”，与题干逻辑关系不一致，排除；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B项：“导师”在“学校”工作，二者属于场所对应关系，“职称”是“导师”的等级标识，二者是对应关系，与题干逻辑关系不一致，排除；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C项：“海洋”是“水体”，二者是种属关系，“黄海”是“海洋”，二者是种属关系，与题干逻辑关系一致，当选；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D项：“落木”本义指秋季凋落的树叶，亦可泛指落叶乔木，取其泛指含义，“落木”是“树木”，二者是种属关系，但顺序与题干相反，排除。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解析：A项：过量摄入“烟酒糖茶”会损害健康生活，二者是不利影响的对应关系；种植“草木植被”有利于“海绵城市”建设，二者属于有利影响的对应关系，前后逻辑关系不一致，排除；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B项：保持“膳食平衡”有利于“健康生活”，保护“草木植被”有利于“生态保护”，前后逻辑关系一致，当选；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C项：“极限运动”与“健康生活”无必然联系（可能有益也可能有害），“草木植被”是“植树造林”的结果，前后逻辑关系不一致，排除；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D项：“直播打赏”与“健康生活”无明显逻辑关系，“草木植被”可带来“空气清新”，前后逻辑关系不一致，排除。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解析：A项：“督导”与“督促”为近义关系，但“体态”和“心态”是两种不同维度的状态描述，二者为并列关系，前后逻辑关系不一致，排除；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B项：“督导”是一种行为，“结果”是行为的产物，二者为行为与结果的对应关系；“阳光”可形容“心态”积极，二者为偏正关系。前后逻辑关系不一致，排除；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C项：“巡视”是“督导”的一种方式，二者为行为与方式的对应关系，“阴霾”修饰“心态”表示消极，二者是偏正关系，前后逻辑关系不一致，排除；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D项：“督导”是一种具体的“工作”，二者为种属关系；“好奇”是一种具体的“心态”，二者也为种属关系，前后逻辑关系一致，当选。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解析：论点：人们可以通过使用发酵食品来抗血栓</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论据：发酵食品中有纳豆激酶活性物质，研究表明，摄入纳豆激酶在小鼠的血液中纤维蛋白的溶解速度高于未摄入纳豆激酶。</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A项：增加正向论据。指出纳豆激酶在体内实验中能溶解纤维蛋白，这是对论据的强化，不能削弱，排除。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B项：否定前提。说明纳豆激酶在人体胃肠道中会被消化酶迅速分解，分解意味着纳豆激酶会失去活性，无法发挥抗血栓作用，直接否定了“食用发酵食品发挥抗血栓作用”的前提，具有削弱作用，当选。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C项：增加正向论据。表明纳豆激酶在人体实验中表现良好，支持结论，不能削弱，排除。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D项：不明确项。指出小鼠实验结果无法直接推及人体，则不能直接确定人是否可以通过该方法来抗血栓，排除。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答案：D</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解析：论点：跑步对健康的益处超过走路。</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A项：不明确项。指出跑步在“心肺耐力”这一原研究未覆盖的健康维度的重要作用，但无法确定跑步是否比走路更有益于健康，不能支持，排除。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B项：不明确项。只说明了走路在改善骨骼、肌肉强度的效率低，未提及跟跑步的比较，不能支持，排除。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C项：无关选项。仅指出健康评价维度的多元性，未涉及跑步与走路的益处对比，不具有加强作用，排除。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D项：加强论点。直接给出“超过10年的研究表明跑步对健康的益处大于步行”的结论，针对反对者观点进行直接加强，当选。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故正确答案为D。</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解析：暂无解析。</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解析：论点：植物小分子蛋白质纯肽能有效缩短高强度运动后的肌肉恢复时间，为下一次运动储备能量。</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论据：该物质是小分子肽段，无需复杂消化可被人体直接吸收，能迅速提供氨基酸，加速肌肉修复和增长。</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A项：削弱论点。摄入该小分子蛋白纯肽组与摄入普通蛋白组的肌肉恢复速度几乎相同，否定了 “该物质能有效缩短肌肉恢复时间” 的论点，具有削弱作用。</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B项：不明确项。指出肌肉恢复需要多种营养素协同，仅靠该物质效果不明显，但可能不是完全无效，排除。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C项：无关选项。介绍该物质的研发背景和最初用途，与“是否能缩短运动后的肌肉恢复时间”无关联，无法削弱，排除。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D项：增加正向论据。说明该物质不仅吸收快，还能刺激肌肉蛋白质合成相关基因表达，有可能“加速肌肉修复”，具有支持作用，排除。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答案：B</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解析：论点：“科研+AI”的范式革命已然来临。</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论据：“AI+科研”在提高科研效率、拓展研究边界方面，展现出巨大潜力。</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A项：无关选项。AI能自动识别数据规律、实现快速分类预测，这只是AI的基础功能，未体现“范式革命”，不能支持，排除。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B项：增加正向论据。认知方法论的革新是科研范式革命的核心标志，该项直接证明 AI 不仅优化科研环节，更从根本上改变了科研的认知和研究模式，具有加强作用，当选。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C项：无关选项。指出“AI+科研”面临数据管理与共享规范的问题，属于该模式发展中的挑战，与“范式革命是否来临”无关，无法支持，排除。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D项：无关选项。提及知识产权与利益分配制度是需要解决的问题，是“AI+科研”发展中的障碍，不涉及范式变革，属于无关项，排除。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故正确答案为B。</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答案：A</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解析：论点：夜间经济振兴计划能够刺激夜间消费增加。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论据：推行计划后，该市夜间零售额同比增加25%、餐饮额同比增加18%。</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A项：增加正向论据。同样条件下，未实行该计划的城市夜间零售额、餐饮额同比增幅仅为3%、5%，远低于该市。通过对照组对比，证明是“夜间经济振兴计划”导致消费增长，可以加强，当选。</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B项：不明确项。居民参与夜间经济的频率未增加，说明政策并未提升居民参与度，但不能明确最终消费额的变化，排除；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C项：无关选项。夜间消费主力人群倾向本地场所，仅说明消费人群的偏好，与“政策是否刺激消费增长”无关，无法支持，排除。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D项：不明确项。客流量增加40%，但人均消费额减少15%，最终整体消费额的变化需计算才能确定（可能增长也可能下降），无法明确支持“政策刺激消费增加”的论点，排除。</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故正确答案为A。</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lnSpc>
                <a:spcPct val="150000"/>
              </a:lnSpc>
            </a:pPr>
            <a:r>
              <a:rPr sz="1200">
                <a:solidFill>
                  <a:srgbClr val="333333"/>
                </a:solidFill>
                <a:latin typeface="微软雅黑" panose="020B0503020204020204" charset="-122"/>
              </a:rPr>
              <a:t>答案：C</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解析：赵丽：中文专业 且 数学专业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王芳：都是师范生参加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张伟：有非师范生参加</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李华：数学专业→中文专业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孙杰：中文专业→¬数学专业</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其中赵丽和孙杰的话是矛盾关系，王芳和张伟的话是矛盾关系。</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已知“上面五个人中有两个人说的是正确的，三个人说的是错误的”，两组矛盾关系可确定两真两假，只有李华的话为假，可得数学专业且¬中文专业。必然会推出的是只有C项。</a:t>
            </a:r>
            <a:endParaRPr sz="1200">
              <a:solidFill>
                <a:srgbClr val="333333"/>
              </a:solidFill>
              <a:latin typeface="微软雅黑" panose="020B0503020204020204" charset="-122"/>
            </a:endParaRPr>
          </a:p>
          <a:p>
            <a:pPr>
              <a:lnSpc>
                <a:spcPct val="150000"/>
              </a:lnSpc>
            </a:pPr>
            <a:r>
              <a:rPr sz="1200">
                <a:solidFill>
                  <a:srgbClr val="333333"/>
                </a:solidFill>
                <a:latin typeface="微软雅黑" panose="020B0503020204020204" charset="-122"/>
              </a:rPr>
              <a:t>故正确答案为C。</a:t>
            </a:r>
            <a:endParaRPr sz="1200">
              <a:solidFill>
                <a:srgbClr val="333333"/>
              </a:solidFill>
              <a:latin typeface="微软雅黑" panose="020B0503020204020204"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681263" y="1664514"/>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山东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35.从所给的四个选项中，选择最合适的一个填入问号处，使之呈现一定的规律性：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山东2026_0001_c25036b7f2e2.png"/>
          <p:cNvPicPr>
            <a:picLocks noChangeAspect="1"/>
          </p:cNvPicPr>
          <p:nvPr/>
        </p:nvPicPr>
        <p:blipFill>
          <a:blip r:embed="rId1"/>
          <a:stretch>
            <a:fillRect/>
          </a:stretch>
        </p:blipFill>
        <p:spPr>
          <a:xfrm>
            <a:off x="730315" y="1542438"/>
            <a:ext cx="10731369" cy="4907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36.从所给的四个选项中，选择最合适的一个填入问号处，使之呈现一定的规律性</a:t>
            </a:r>
            <a:endParaRPr sz="2000" b="0">
              <a:solidFill>
                <a:srgbClr val="333333"/>
              </a:solidFill>
              <a:latin typeface="微软雅黑" panose="020B0503020204020204" charset="-122"/>
            </a:endParaRPr>
          </a:p>
        </p:txBody>
      </p:sp>
      <p:pic>
        <p:nvPicPr>
          <p:cNvPr id="4" name="Picture 3" descr="山东2026_0002_9dc9dc269917.png"/>
          <p:cNvPicPr>
            <a:picLocks noChangeAspect="1"/>
          </p:cNvPicPr>
          <p:nvPr/>
        </p:nvPicPr>
        <p:blipFill>
          <a:blip r:embed="rId1"/>
          <a:stretch>
            <a:fillRect/>
          </a:stretch>
        </p:blipFill>
        <p:spPr>
          <a:xfrm>
            <a:off x="1382354" y="1542438"/>
            <a:ext cx="9427292" cy="4907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6164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37.左边图为上面有6个不同面组成，有1-6个点数的正方体，下列可能为正方体的是：</a:t>
            </a:r>
            <a:endParaRPr sz="2000" b="0">
              <a:solidFill>
                <a:srgbClr val="333333"/>
              </a:solidFill>
              <a:latin typeface="微软雅黑" panose="020B0503020204020204" charset="-122"/>
            </a:endParaRPr>
          </a:p>
        </p:txBody>
      </p:sp>
      <p:pic>
        <p:nvPicPr>
          <p:cNvPr id="4" name="Picture 3" descr="山东2026_0003_0b3a7acf3829.png"/>
          <p:cNvPicPr>
            <a:picLocks noChangeAspect="1"/>
          </p:cNvPicPr>
          <p:nvPr/>
        </p:nvPicPr>
        <p:blipFill>
          <a:blip r:embed="rId1"/>
          <a:stretch>
            <a:fillRect/>
          </a:stretch>
        </p:blipFill>
        <p:spPr>
          <a:xfrm>
            <a:off x="600000" y="1542438"/>
            <a:ext cx="10992000" cy="26567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38.社区嵌入式服务设施，指在社区空间嵌入功能性设施，向社区居民提供养老托育、社区助餐、健康服务、文化休闲、儿童休憩等。
下列属于社区嵌入式服务设施的是：
A. 社区花园中添健身器材
B. 退休教师为学生辅导功课
C. 招募志愿者为老年人提供居家养老服务
D. 申请社区公交车</a:t>
            </a:r>
            <a:endParaRPr sz="2000" b="0">
              <a:solidFill>
                <a:srgbClr val="333333"/>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23151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39.反向驯化算法，指主动调整自身行为或信息反馈机制，对抗平台实施价格歧视、信息茧房。
下列不属于反向驯化算法的是：
A. 网购频繁使用多个账号
B. 向市场监管局举报
C. 评论质量高
D. 有意降低停留时间</a:t>
            </a:r>
            <a:endParaRPr sz="2000" b="0">
              <a:solidFill>
                <a:srgbClr val="333333"/>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40.车网互动，指新能源电车与电网的一种融合方式。用电低谷时，新能源电车接入电网进行充电，储存电能。电车充电用电高峰时，电池反向输送给电网。
下列不属于车网互动的是：
A. 汽车与电网的信息交换
B. 智能充电、直流公共充电站有序充电
C. 谷充峰放，为楼宇反向充电
D. 通过V2G为微电系统供电</a:t>
            </a:r>
            <a:endParaRPr sz="2000" b="0">
              <a:solidFill>
                <a:srgbClr val="333333"/>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41.资源拼凑，指企业管理和创业者面临资源约束时，利用现有资源的用途重新解构、认识和整合。
下列不属于资源拼凑的是：
A. 用闲置电脑搭建服务器
B. 将滞销器材重新组合
C. 按照规划进行采购
D. 用废旧布料</a:t>
            </a:r>
            <a:endParaRPr sz="2000" b="0">
              <a:solidFill>
                <a:srgbClr val="333333"/>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42.耕地纳入保护补贴，是通过中央对拥有耕地承包权的农户和农场职工的政策。以耕地种农作物作为申报条件，且确保耕地不荒，休耕不超过1年。
能体现耕地保护补贴的是：
A. 通过过度用肥使土壤有机质下降
B. 休耕13个月
C. 种毛白杨不种粮
D. 休耕10月，种有机作物，改善土壤结构</a:t>
            </a:r>
            <a:endParaRPr sz="2000" b="0">
              <a:solidFill>
                <a:srgbClr val="333333"/>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43.单眼线索，指的是仅通过一只眼能感知物体深度和距离，包括线条透视和空气透视。线条透视，指的是随拍照距离增大，物体在视网膜或其他成像上视力缩变现象。空气透视，指的是随距离增大，物体细节、形状、色彩降低。
下列属于线条透视的是：
A. 远处物体颜色变淡
B. 灰暗或阴影物体显远
C. 远处高大物体上实下虚
D. 距离越近，拍照的画面越显大</a:t>
            </a:r>
            <a:endParaRPr sz="2000" b="0">
              <a:solidFill>
                <a:srgbClr val="333333"/>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44.曲辕犁：压路机
A. 及第：落榜
B. 霜降：谷雨
C. 纤绳：光纤
D. 火炉：冰箱</a:t>
            </a:r>
            <a:endParaRPr sz="2000" b="0">
              <a:solidFill>
                <a:srgbClr val="333333"/>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45.甘草：甘草金桔
A. 酸甜：酸甜萝卜
B. 五仁：五仁月饼
C. 孜然：孜然牛肉
D. 山楂：山楂罐头</a:t>
            </a:r>
            <a:endParaRPr sz="2000" b="0">
              <a:solidFill>
                <a:srgbClr val="333333"/>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46.鼻夹：防水
A. 蒸架：散热
B. 香葱：杀菌
C. 标记：商标
D. 水库：拦洪</a:t>
            </a:r>
            <a:endParaRPr sz="2000" b="0">
              <a:solidFill>
                <a:srgbClr val="333333"/>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47.午未申酉戌∶马羊猴鸡狗
A. 乾坤震艮巽∶天地雷山风
B. 金木水火土∶东西南北中
C. 表豆稻黍稷∶黄青赤白黑
D. 心肝脾肺肾∶耳目口鼻舌</a:t>
            </a:r>
            <a:endParaRPr sz="2000" b="0">
              <a:solidFill>
                <a:srgbClr val="333333"/>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48.文件起草∶领导签批∶归档保存
A. 素材收集∶剧本制作∶影视拍摄
B. 发布公告∶参加考试∶公示名单
C. 受理举报∶收集证据∶侦探案件
D. 物流运输∶打包货物∶配送签收</a:t>
            </a:r>
            <a:endParaRPr sz="2000" b="0">
              <a:solidFill>
                <a:srgbClr val="333333"/>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49.金牌厨师∶忠实顾客∶制作佳肴
A. 驻村书记∶脱贫村民∶扶持产业
B. 主任医师∶危重病人∶基础护理
C. 篮球教练∶优秀学员∶参加比赛
D. 货车司机∶载重汽车∶修补轮胎</a:t>
            </a:r>
            <a:endParaRPr sz="2000" b="0">
              <a:solidFill>
                <a:srgbClr val="333333"/>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50.电梯∶挡门∶危险
A. 电源∶断电∶短路
B. 雨伞∶伞套∶遮雨
C. 土壤∶降雨∶湿润
D. 冰川∶融化∶高温</a:t>
            </a:r>
            <a:endParaRPr sz="2000" b="0">
              <a:solidFill>
                <a:srgbClr val="333333"/>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51.鸟类∶猛禽∶金雕
A. 金融∶投资∶操盘
B. 学校∶导师∶职称
C. 水体∶海洋∶黄海
D. 落木∶植物∶树木</a:t>
            </a:r>
            <a:endParaRPr sz="2000" b="0">
              <a:solidFill>
                <a:srgbClr val="333333"/>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52.（ ） 对于 健康生活 相当于 草木植被 对于 （ ）
A. 烟酒糖茶 海绵城市
B. 膳食平衡 生态保护
C. 极限运动 植树造林
D. 直播打赏 空气清新</a:t>
            </a:r>
            <a:endParaRPr sz="2000" b="0">
              <a:solidFill>
                <a:srgbClr val="333333"/>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276987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53.督导 对于 （ ） 相当于 （ ） 对于 心态
A. 督促 体态
B. 结果 阳光
C. 巡视 阴霾
D. 工作 好奇</a:t>
            </a:r>
            <a:endParaRPr sz="2000" b="0">
              <a:solidFill>
                <a:srgbClr val="333333"/>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54.发酵食品中有纳豆激酶活性物质，研究表明，摄入纳豆激酶在小鼠的血液中纤维蛋白的溶解速度高于未摄入纳豆激酶。研究表明，纳豆激酶具有活性抗血栓的作用。据此认为人们可以通过使用发酵食品来抗血栓。
以下选项，最能削弱以上观点的是：
A. 纳豆激酶在体内实验中能够溶于新鲜血液中的纤维蛋白
B. 纳豆激酶在人体胃肠道里会因消化酶作用被迅速分解
C. 纳豆激酶在人体实验中吸收效率和生物活性表现良好
D. 纳豆纤维在小鼠体内抗血栓的效果无法直接推及到人体</a:t>
            </a:r>
            <a:endParaRPr sz="2000" b="0">
              <a:solidFill>
                <a:srgbClr val="333333"/>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3693160"/>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55.研究表明，在降低高血压、高胆固醇、二型糖尿病，跑步与步行的效果基本一致，然而有反对者坚持认为跑步对健康的益处超过走路。
以下选项，最能够支持反对者的观点是：
A. 跑步能够有效提高心肺耐力，而心肺耐力是预测心血管疾病风险和整体死亡率的重要指标
B. 走路在改善骨骼密度和肌肉强度速度慢，想要通过走路降低骨折等风险需要长时间的锻炼
C. 身体健康标准是多维度的，血压与胆固醇并不能完全反映一个人的身体健康状况
D. 超过10年的研究表明跑步对健康的益处是大于步行的</a:t>
            </a:r>
            <a:endParaRPr sz="2000" b="0">
              <a:solidFill>
                <a:srgbClr val="3333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44766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56.某演讲比赛中，五名评委对比赛结果分别发表了自己的意见：
1.小张和小杨都获奖；
2.如果小张获奖，那么小王也获奖；
3.小王和小刘不能都获奖；
4.只有小刘获奖，小李才能获奖；</a:t>
            </a:r>
            <a:endParaRPr sz="2000" b="0">
              <a:solidFill>
                <a:srgbClr val="333333"/>
              </a:solidFill>
              <a:latin typeface="微软雅黑" panose="020B0503020204020204" charset="-122"/>
            </a:endParaRPr>
          </a:p>
          <a:p>
            <a:pPr algn="l">
              <a:lnSpc>
                <a:spcPct val="150000"/>
              </a:lnSpc>
              <a:buClrTx/>
              <a:buSzTx/>
              <a:buFontTx/>
            </a:pPr>
            <a:r>
              <a:rPr sz="2000">
                <a:solidFill>
                  <a:srgbClr val="333333"/>
                </a:solidFill>
                <a:latin typeface="微软雅黑" panose="020B0503020204020204" charset="-122"/>
                <a:sym typeface="+mn-ea"/>
              </a:rPr>
              <a:t>5.如果小李不获奖，那么小陈和小杨不能都获奖。
最终五位评委的意见都被采纳，由此下列判断为假的是：
A. 小刘或者小杨获奖
B. 小李或者小王获奖
C. 只有小陈获奖，小杨才能获奖
D. 如果小刘没有获奖，则小李没有获奖</a:t>
            </a:r>
            <a:endParaRPr sz="2000" b="0">
              <a:solidFill>
                <a:srgbClr val="333333"/>
              </a:solidFill>
              <a:latin typeface="微软雅黑" panose="020B0503020204020204" charset="-122"/>
            </a:endParaRPr>
          </a:p>
          <a:p>
            <a:pPr algn="l">
              <a:lnSpc>
                <a:spcPct val="150000"/>
              </a:lnSpc>
            </a:pPr>
            <a:endParaRPr sz="1600" b="0">
              <a:solidFill>
                <a:srgbClr val="333333"/>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57.植物小分子蛋白质纯肽是从植物蛋白中提取，并通过先进的酶解技术提炼出的小分子肽段，无需经过复杂的消化过程，是能被人体直接吸收，迅速为肌肉提供所需的氨基酸，加速肌肉修复和增长。据此有专家认为，对于刚结束高强度运动的身体而言，它能有效缩短肌肉恢复时间，为下一次运动储备充足的能量。
以下哪项如果为真，最能削弱上述现象？
A. 摄入小分子蛋白纯肽组与摄入普通蛋白肌肉恢复速度几乎相同
B. 训练后的肌肉恢复需要多种营养素协同，仅靠补充小分子蛋白质纯肽效果不明显
C. 小分子蛋白质纯肽最早在20世纪末由日本食品科技研究人员开发，并最初用于老年人肠道营养支持
D. 小分子蛋白质纯肽不仅吸收快，还能刺激肌肉中蛋白质合成相关基因的表达</a:t>
            </a:r>
            <a:endParaRPr sz="2000" b="0">
              <a:solidFill>
                <a:srgbClr val="333333"/>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58.“AI+科研”在提高科研效率、拓展研究边界方面，展现出巨大潜力：从海量天文数据的智能清洗，到蛋白质结构的秒级解析；从文献海洋的知识图谱构建，到药物研发的虚拟仿真实验等，AI技术正以惊人的渗透力重塑科研链条。因此，“科研+AI”的范式革命已然来临。
下列哪项如果为真，能够支持上述结论？
A. 人工智能可以自动识别数据中的模式和规律，从而实现快速分类和预测
B. 人工智能催生出“数据密集-智能处理-人机协同”的三元认知方法论
C. “AI+科研”面临着数据管理与流通平台缺乏统一标准格式和规范共享准则的难题
D. 知识产权与利益分配参与制度规范是“AI+科研”必须解决的大问题</a:t>
            </a:r>
            <a:endParaRPr sz="2000" b="0">
              <a:solidFill>
                <a:srgbClr val="333333"/>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415480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59.近年来某市推行了“夜间经济振兴计划”通过延长时间、加入活动的方式，使得夜间的零售额和餐饮额同比增加分别为25%和18%，所以专家认为，夜间经济振兴计划这个政策能够刺激夜间消费的增加。
以下能够支持上述观点的是：
A. 同样条件下没有实行夜间振兴计划的城市，夜间零售额和餐饮额同比上升仅为3%和5%
B. 实行该政策后居民参与夜间经济的频率没有增加
C. 夜间消费的主力人群中，60%更倾向于本地的夜间场所而并非外地的夜间场所
D. 实行该政策后夜间的客流量增加了40%，人均消费额减少了15%</a:t>
            </a:r>
            <a:endParaRPr sz="2000" b="0">
              <a:solidFill>
                <a:srgbClr val="333333"/>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750000" y="950000"/>
            <a:ext cx="10692000" cy="5078095"/>
          </a:xfrm>
          <a:prstGeom prst="rect">
            <a:avLst/>
          </a:prstGeom>
          <a:noFill/>
        </p:spPr>
        <p:txBody>
          <a:bodyPr wrap="square" lIns="0" tIns="0" rIns="0" bIns="0">
            <a:spAutoFit/>
          </a:bodyPr>
          <a:lstStyle/>
          <a:p>
            <a:pPr algn="l">
              <a:lnSpc>
                <a:spcPct val="150000"/>
              </a:lnSpc>
              <a:buClrTx/>
              <a:buSzTx/>
              <a:buFontTx/>
            </a:pPr>
            <a:r>
              <a:rPr sz="2000" b="0">
                <a:solidFill>
                  <a:srgbClr val="333333"/>
                </a:solidFill>
                <a:latin typeface="微软雅黑" panose="020B0503020204020204" charset="-122"/>
              </a:rPr>
              <a:t>60.某地要组织支教活动在报名前有几个学生做了如下猜测：
赵丽：本次支教活动中，中文专业和数学专业都参加
王芳：本次支教活动中都是师范生参加
张伟：本次支教活动中应该会有非师范生参加
李华：只有中文专业支教，数学专业才会去支教
孙杰：除非数学专业不去参加支教，否则中文专业不去参加支教
上面五个人中有两个人说的是正确的，三个人说的是错误的，那必然会推出的是：
A. 支教中有一些是师范生
B. 张伟和赵丽说的是错误的
C. 中文专业不去支教，数学专业去支教
D. 中文专业不去支教，或者数学专业不去支教</a:t>
            </a:r>
            <a:endParaRPr sz="2000" b="0">
              <a:solidFill>
                <a:srgbClr val="333333"/>
              </a:solidFill>
              <a:latin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resource_record_key" val="{&quot;29&quot;:[50000047],&quot;65&quot;:[2020508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3392</Words>
  <Application>WPS 演示</Application>
  <PresentationFormat>宽屏</PresentationFormat>
  <Paragraphs>61</Paragraphs>
  <Slides>28</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28</vt:i4>
      </vt:variant>
    </vt:vector>
  </HeadingPairs>
  <TitlesOfParts>
    <vt:vector size="38" baseType="lpstr">
      <vt:lpstr>Arial</vt:lpstr>
      <vt:lpstr>宋体</vt:lpstr>
      <vt:lpstr>Wingdings</vt:lpstr>
      <vt:lpstr>微软雅黑</vt:lpstr>
      <vt:lpstr>微软雅黑 Light</vt:lpstr>
      <vt:lpstr>Wingdings</vt:lpstr>
      <vt:lpstr>Arial Unicode MS</vt:lpstr>
      <vt:lpstr>Calibri</vt:lpstr>
      <vt:lpstr>1_Office 主题​​</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224</cp:revision>
  <dcterms:created xsi:type="dcterms:W3CDTF">2019-06-19T02:08:00Z</dcterms:created>
  <dcterms:modified xsi:type="dcterms:W3CDTF">2026-07-16T08:37:25Z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FCCE691D4E054FED95D0A6A2CB4CCD6A_13</vt:lpwstr>
  </property>
</Properties>
</file>