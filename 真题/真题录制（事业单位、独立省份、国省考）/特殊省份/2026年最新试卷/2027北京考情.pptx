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60" r:id="rId4"/>
  </p:sldMasterIdLst>
  <p:notesMasterIdLst>
    <p:notesMasterId r:id="rId6"/>
  </p:notesMasterIdLst>
  <p:handoutMasterIdLst>
    <p:handoutMasterId r:id="rId21"/>
  </p:handoutMasterIdLst>
  <p:sldIdLst>
    <p:sldId id="629" r:id="rId5"/>
    <p:sldId id="1368" r:id="rId7"/>
    <p:sldId id="1367" r:id="rId8"/>
    <p:sldId id="1363" r:id="rId9"/>
    <p:sldId id="1369" r:id="rId10"/>
    <p:sldId id="1370" r:id="rId11"/>
    <p:sldId id="1371" r:id="rId12"/>
    <p:sldId id="1372" r:id="rId13"/>
    <p:sldId id="1364" r:id="rId14"/>
    <p:sldId id="1373" r:id="rId15"/>
    <p:sldId id="1365" r:id="rId16"/>
    <p:sldId id="1374" r:id="rId17"/>
    <p:sldId id="1366" r:id="rId18"/>
    <p:sldId id="1375" r:id="rId19"/>
    <p:sldId id="992" r:id="rId20"/>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2" userDrawn="1">
          <p15:clr>
            <a:srgbClr val="A4A3A4"/>
          </p15:clr>
        </p15:guide>
        <p15:guide id="2" pos="375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8" name="李鹏飞_6bQfzI3a" initials="李" lastIdx="0" clrIdx="7"/>
  <p:cmAuthor id="9" name="小珞_QjMfU7FR" initials="小" lastIdx="0" clrIdx="8"/>
  <p:cmAuthor id="10" name="骆倩怡_Znauj26B" initials="authorId_382814100" lastIdx="0" clrIdx="9"/>
  <p:cmAuthor id="11" name="桑桑" initials="桑" lastIdx="0" clrIdx="10"/>
  <p:cmAuthor id="12" name="caoyue" initials="c" lastIdx="0" clrIdx="11"/>
  <p:cmAuthor id="13" name="18309297108" initials="1" lastIdx="0" clrIdx="12"/>
  <p:cmAuthor id="14" name="xmiles" initials="x" lastIdx="0" clrIdx="13"/>
  <p:cmAuthor id="15" name="Microsoft Office User" initials="MOU" lastIdx="0" clrIdx="14"/>
  <p:cmAuthor id="16" name="ibm" initials="i" lastIdx="0" clrIdx="15"/>
  <p:cmAuthor id="17" name="kobe" initials="k" lastIdx="0" clrIdx="16"/>
  <p:cmAuthor id="18" name="MIAI" initials="M" lastIdx="0" clrIdx="17"/>
  <p:cmAuthor id="19" name="HP" initials="H" lastIdx="0" clrIdx="18"/>
  <p:cmAuthor id="20" name="yangyaqin" initials="y" lastIdx="0" clrIdx="19"/>
  <p:cmAuthor id="21" name="ASUS" initials="A" lastIdx="0" clrIdx="20"/>
  <p:cmAuthor id="22" name="Yongqiang ZHOU" initials="YZ" lastIdx="0" clrIdx="21"/>
  <p:cmAuthor id="23" name="Beck_jUrevum2" initials="authorId_724972424" lastIdx="0" clrIdx="22"/>
  <p:cmAuthor id="24" name="WPS_1679281038" initials="W" lastIdx="0" clrIdx="23"/>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147CCA-34D0-4F95-8025-DE74D1A96181}" styleName="表样式 1 25">
    <a:wholeTbl>
      <a:tcTxStyle>
        <a:fontRef idx="none">
          <a:schemeClr val="tx1"/>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w="9525" cmpd="sng">
              <a:solidFill>
                <a:schemeClr val="accent2">
                  <a:lumMod val="40000"/>
                  <a:lumOff val="60000"/>
                </a:schemeClr>
              </a:solidFill>
              <a:prstDash val="solid"/>
            </a:ln>
          </a:insideV>
        </a:tcBdr>
        <a:fill>
          <a:solidFill>
            <a:schemeClr val="bg1">
              <a:alpha val="0"/>
            </a:schemeClr>
          </a:solidFill>
        </a:fill>
      </a:tcStyle>
    </a:wholeTbl>
    <a:band2H>
      <a:tcStyle>
        <a:tcBdr/>
        <a:fill>
          <a:solidFill>
            <a:schemeClr val="accent2">
              <a:lumMod val="40000"/>
              <a:lumOff val="60000"/>
              <a:alpha val="25000"/>
            </a:schemeClr>
          </a:solidFill>
        </a:fill>
      </a:tcStyle>
    </a:band2H>
    <a:band1V>
      <a:tcStyle>
        <a:tcBdr/>
        <a:fill>
          <a:solidFill>
            <a:schemeClr val="accent2">
              <a:lumMod val="40000"/>
              <a:lumOff val="60000"/>
              <a:alpha val="25000"/>
            </a:schemeClr>
          </a:solidFill>
        </a:fill>
      </a:tcStyle>
    </a:band1V>
    <a:band2V>
      <a:tcStyle>
        <a:tcBdr/>
        <a:fill>
          <a:solidFill>
            <a:schemeClr val="bg1">
              <a:alpha val="0"/>
            </a:schemeClr>
          </a:solidFill>
        </a:fill>
      </a:tcStyle>
    </a:band2V>
    <a:lastCol>
      <a:tcTxStyle b="on">
        <a:fontRef idx="none">
          <a:schemeClr val="tx1"/>
        </a:fontRef>
      </a:tcTxStyle>
      <a:tcStyle>
        <a:tcBdr>
          <a:left>
            <a:ln w="9525" cmpd="sng">
              <a:solidFill>
                <a:schemeClr val="accent2">
                  <a:lumMod val="40000"/>
                  <a:lumOff val="60000"/>
                </a:schemeClr>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a:noFill/>
            </a:ln>
          </a:insideV>
        </a:tcBdr>
        <a:fill>
          <a:solidFill>
            <a:schemeClr val="accent2">
              <a:lumMod val="40000"/>
              <a:lumOff val="60000"/>
              <a:alpha val="40000"/>
            </a:schemeClr>
          </a:solidFill>
        </a:fill>
      </a:tcStyle>
    </a:lastCol>
    <a:firstCol>
      <a:tcTxStyle b="on">
        <a:fontRef idx="none">
          <a:schemeClr val="tx1"/>
        </a:fontRef>
      </a:tcTxStyle>
      <a:tcStyle>
        <a:tcBdr>
          <a:left>
            <a:ln w="9525" cmpd="sng">
              <a:solidFill>
                <a:schemeClr val="accent2"/>
              </a:solidFill>
              <a:prstDash val="solid"/>
            </a:ln>
          </a:left>
          <a:right>
            <a:ln w="9525" cmpd="sng">
              <a:solidFill>
                <a:schemeClr val="accent2">
                  <a:lumMod val="40000"/>
                  <a:lumOff val="60000"/>
                </a:schemeClr>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a:noFill/>
            </a:ln>
          </a:insideV>
        </a:tcBdr>
        <a:fill>
          <a:solidFill>
            <a:schemeClr val="accent2">
              <a:lumMod val="40000"/>
              <a:lumOff val="60000"/>
              <a:alpha val="40000"/>
            </a:schemeClr>
          </a:solidFill>
        </a:fill>
      </a:tcStyle>
    </a:firstCol>
    <a:lastRow>
      <a:tcTxStyle b="on">
        <a:fontRef idx="none">
          <a:schemeClr val="accent2"/>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chemeClr val="bg1">
              <a:alpha val="0"/>
            </a:schemeClr>
          </a:solidFill>
        </a:fill>
      </a:tcStyle>
    </a:lastRow>
    <a:seCell>
      <a:tcStyle>
        <a:tcBdr>
          <a:left>
            <a:ln w="9525" cmpd="sng">
              <a:solidFill>
                <a:schemeClr val="accent2">
                  <a:lumMod val="40000"/>
                  <a:lumOff val="60000"/>
                </a:schemeClr>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chemeClr val="bg1">
              <a:alpha val="0"/>
            </a:schemeClr>
          </a:solidFill>
        </a:fill>
      </a:tcStyle>
    </a:seCell>
    <a:swCell>
      <a:tcTxStyle b="on">
        <a:fontRef idx="none">
          <a:schemeClr val="accent2"/>
        </a:fontRef>
      </a:tcTxStyle>
      <a:tcStyle>
        <a:tcBdr>
          <a:left>
            <a:ln w="9525" cmpd="sng">
              <a:solidFill>
                <a:schemeClr val="accent2"/>
              </a:solidFill>
              <a:prstDash val="solid"/>
            </a:ln>
          </a:left>
          <a:right>
            <a:ln w="9525" cmpd="sng">
              <a:solidFill>
                <a:schemeClr val="accent2">
                  <a:lumMod val="40000"/>
                  <a:lumOff val="60000"/>
                </a:schemeClr>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chemeClr val="bg1">
              <a:alpha val="0"/>
            </a:schemeClr>
          </a:solidFill>
        </a:fill>
      </a:tcStyle>
    </a:swCell>
    <a:firstRow>
      <a:tcTxStyle b="on">
        <a:fontRef idx="none">
          <a:schemeClr val="bg1"/>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w="9525" cmpd="sng">
              <a:solidFill>
                <a:schemeClr val="accent2">
                  <a:lumMod val="40000"/>
                  <a:lumOff val="60000"/>
                </a:schemeClr>
              </a:solidFill>
              <a:prstDash val="solid"/>
            </a:ln>
          </a:insideV>
        </a:tcBdr>
        <a:fill>
          <a:solidFill>
            <a:schemeClr val="accent2"/>
          </a:solidFill>
        </a:fill>
      </a:tcStyle>
    </a:firstRow>
    <a:neCell>
      <a:tcStyle>
        <a:tcBdr>
          <a:left>
            <a:ln w="9525" cmpd="sng">
              <a:solidFill>
                <a:schemeClr val="accent2">
                  <a:lumMod val="40000"/>
                  <a:lumOff val="60000"/>
                </a:schemeClr>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lumMod val="40000"/>
                  <a:lumOff val="60000"/>
                </a:schemeClr>
              </a:solidFill>
              <a:prstDash val="solid"/>
            </a:ln>
          </a:bottom>
          <a:insideH>
            <a:ln>
              <a:noFill/>
            </a:ln>
          </a:insideH>
          <a:insideV>
            <a:ln>
              <a:noFill/>
            </a:ln>
          </a:insideV>
        </a:tcBdr>
      </a:tcStyle>
    </a:neCell>
  </a:tblStyle>
  <a:tblStyle styleId="{F1EADFDB-3351-4B82-84F6-F93C6E1D39E4}" styleName="表样式 1 25">
    <a:wholeTbl>
      <a:tcTxStyle>
        <a:fontRef idx="none">
          <a:srgbClr val="000000"/>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w="9525" cmpd="sng">
              <a:solidFill>
                <a:schemeClr val="accent2">
                  <a:lumMod val="40000"/>
                  <a:lumOff val="60000"/>
                </a:schemeClr>
              </a:solidFill>
              <a:prstDash val="solid"/>
            </a:ln>
          </a:insideV>
        </a:tcBdr>
        <a:fill>
          <a:solidFill>
            <a:srgbClr val="FFFFFF"/>
          </a:solidFill>
        </a:fill>
      </a:tcStyle>
    </a:wholeTbl>
    <a:band2H>
      <a:tcStyle>
        <a:tcBdr/>
        <a:fill>
          <a:solidFill>
            <a:schemeClr val="accent2">
              <a:lumMod val="10000"/>
              <a:lumOff val="90000"/>
            </a:schemeClr>
          </a:solidFill>
        </a:fill>
      </a:tcStyle>
    </a:band2H>
    <a:band1V>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w="9525" cmpd="sng">
              <a:solidFill>
                <a:schemeClr val="accent2">
                  <a:lumMod val="40000"/>
                  <a:lumOff val="60000"/>
                </a:schemeClr>
              </a:solidFill>
              <a:prstDash val="solid"/>
            </a:ln>
          </a:insideV>
        </a:tcBdr>
        <a:fill>
          <a:solidFill>
            <a:schemeClr val="accent2">
              <a:lumMod val="10000"/>
              <a:lumOff val="90000"/>
            </a:schemeClr>
          </a:solidFill>
        </a:fill>
      </a:tcStyle>
    </a:band1V>
    <a:band2V>
      <a:tcStyle>
        <a:tcBdr>
          <a:left>
            <a:ln w="9525" cmpd="sng">
              <a:solidFill>
                <a:schemeClr val="accent2">
                  <a:lumMod val="40000"/>
                  <a:lumOff val="60000"/>
                </a:schemeClr>
              </a:solidFill>
              <a:prstDash val="solid"/>
            </a:ln>
          </a:left>
          <a:right>
            <a:ln w="9525" cmpd="sng">
              <a:solidFill>
                <a:schemeClr val="accent2">
                  <a:lumMod val="40000"/>
                  <a:lumOff val="60000"/>
                </a:schemeClr>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a:noFill/>
            </a:ln>
          </a:insideV>
        </a:tcBdr>
      </a:tcStyle>
    </a:band2V>
    <a:lastCol>
      <a:tcTxStyle b="on">
        <a:fontRef idx="none">
          <a:srgbClr val="08090C"/>
        </a:fontRef>
      </a:tcTxStyle>
      <a:tcStyle>
        <a:tcBdr>
          <a:left>
            <a:ln w="9525" cmpd="sng">
              <a:solidFill>
                <a:schemeClr val="accent2">
                  <a:lumMod val="40000"/>
                  <a:lumOff val="60000"/>
                </a:schemeClr>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a:noFill/>
            </a:ln>
          </a:insideV>
        </a:tcBdr>
        <a:fill>
          <a:solidFill>
            <a:schemeClr val="accent2">
              <a:lumMod val="20000"/>
              <a:lumOff val="80000"/>
            </a:schemeClr>
          </a:solidFill>
        </a:fill>
      </a:tcStyle>
    </a:lastCol>
    <a:firstCol>
      <a:tcTxStyle b="on">
        <a:fontRef idx="none">
          <a:srgbClr val="FFFFFF"/>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w="9525" cmpd="sng">
              <a:solidFill>
                <a:schemeClr val="accent2">
                  <a:lumMod val="40000"/>
                  <a:lumOff val="60000"/>
                </a:schemeClr>
              </a:solidFill>
              <a:prstDash val="solid"/>
            </a:ln>
          </a:insideH>
          <a:insideV>
            <a:ln>
              <a:noFill/>
            </a:ln>
          </a:insideV>
        </a:tcBdr>
        <a:fill>
          <a:solidFill>
            <a:schemeClr val="accent2"/>
          </a:solidFill>
        </a:fill>
      </a:tcStyle>
    </a:firstCol>
    <a:lastRow>
      <a:tcTxStyle b="on">
        <a:fontRef idx="none">
          <a:schemeClr val="accent2"/>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rgbClr val="FFFFFF"/>
          </a:solidFill>
        </a:fill>
      </a:tcStyle>
    </a:lastRow>
    <a:seCell>
      <a:tcStyle>
        <a:tcBdr>
          <a:left>
            <a:ln>
              <a:noFill/>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rgbClr val="FFFFFF"/>
          </a:solidFill>
        </a:fill>
      </a:tcStyle>
    </a:seCell>
    <a:swCell>
      <a:tcTxStyle b="on">
        <a:fontRef idx="none">
          <a:schemeClr val="accent2"/>
        </a:fontRef>
      </a:tcTxStyle>
      <a:tcStyle>
        <a:tcBdr>
          <a:left>
            <a:ln w="9525" cmpd="sng">
              <a:solidFill>
                <a:schemeClr val="accent2"/>
              </a:solidFill>
              <a:prstDash val="solid"/>
            </a:ln>
          </a:left>
          <a:right>
            <a:ln>
              <a:noFill/>
            </a:ln>
          </a:right>
          <a:top>
            <a:ln w="9525" cmpd="sng">
              <a:solidFill>
                <a:schemeClr val="accent2"/>
              </a:solidFill>
              <a:prstDash val="solid"/>
            </a:ln>
          </a:top>
          <a:bottom>
            <a:ln w="9525" cmpd="sng">
              <a:solidFill>
                <a:schemeClr val="accent2"/>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left>
            <a:ln w="9525" cmpd="sng">
              <a:solidFill>
                <a:schemeClr val="accent2"/>
              </a:solidFill>
              <a:prstDash val="solid"/>
            </a:ln>
          </a:left>
          <a:right>
            <a:ln w="9525" cmpd="sng">
              <a:solidFill>
                <a:schemeClr val="accent2"/>
              </a:solidFill>
              <a:prstDash val="solid"/>
            </a:ln>
          </a:right>
          <a:top>
            <a:ln w="9525" cmpd="sng">
              <a:solidFill>
                <a:schemeClr val="accent2"/>
              </a:solidFill>
              <a:prstDash val="solid"/>
            </a:ln>
          </a:top>
          <a:bottom>
            <a:ln w="9525" cmpd="sng">
              <a:solidFill>
                <a:schemeClr val="accent2"/>
              </a:solidFill>
              <a:prstDash val="solid"/>
            </a:ln>
          </a:bottom>
          <a:insideH>
            <a:ln>
              <a:noFill/>
            </a:ln>
          </a:insideH>
          <a:insideV>
            <a:ln w="9525" cmpd="sng">
              <a:solidFill>
                <a:schemeClr val="accent2">
                  <a:lumMod val="40000"/>
                  <a:lumOff val="60000"/>
                </a:schemeClr>
              </a:solidFill>
              <a:prstDash val="solid"/>
            </a:ln>
          </a:insideV>
        </a:tcBdr>
        <a:fill>
          <a:solidFill>
            <a:schemeClr val="accent2"/>
          </a:solidFill>
        </a:fill>
      </a:tcStyle>
    </a:firstRow>
    <a:nwCell>
      <a:tcTxStyle b="on">
        <a:fontRef idx="none">
          <a:schemeClr val="bg1"/>
        </a:fontRef>
      </a:tcTxStyle>
      <a:tcStyle>
        <a:tcBdr>
          <a:left>
            <a:ln w="9525" cmpd="sng">
              <a:solidFill>
                <a:schemeClr val="accent2"/>
              </a:solidFill>
              <a:prstDash val="solid"/>
            </a:ln>
          </a:left>
          <a:right>
            <a:ln w="9525" cmpd="sng">
              <a:solidFill>
                <a:schemeClr val="accent2">
                  <a:lumMod val="40000"/>
                  <a:lumOff val="60000"/>
                </a:schemeClr>
              </a:solidFill>
              <a:prstDash val="solid"/>
            </a:ln>
          </a:right>
          <a:top>
            <a:ln w="9525" cmpd="sng">
              <a:solidFill>
                <a:schemeClr val="accent2"/>
              </a:solidFill>
              <a:prstDash val="solid"/>
            </a:ln>
          </a:top>
          <a:bottom>
            <a:ln w="9525" cmpd="sng">
              <a:solidFill>
                <a:schemeClr val="accent2">
                  <a:lumMod val="40000"/>
                  <a:lumOff val="60000"/>
                </a:schemeClr>
              </a:solidFill>
              <a:prstDash val="solid"/>
            </a:ln>
          </a:bottom>
          <a:insideH>
            <a:ln>
              <a:noFill/>
            </a:ln>
          </a:insideH>
          <a:insideV>
            <a:ln>
              <a:noFill/>
            </a:ln>
          </a:insideV>
        </a:tcBdr>
        <a:fill>
          <a:solidFill>
            <a:schemeClr val="accent2"/>
          </a:solidFill>
        </a:fill>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2"/>
        <p:guide pos="375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6" Type="http://schemas.openxmlformats.org/officeDocument/2006/relationships/tags" Target="tags/tag85.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handoutMaster" Target="handoutMasters/handoutMaster1.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图形推理：</a:t>
            </a:r>
            <a:r>
              <a:rPr lang="en-US" altLang="zh-CN" sz="1200" kern="1200" dirty="0">
                <a:solidFill>
                  <a:schemeClr val="tx1"/>
                </a:solidFill>
                <a:effectLst/>
                <a:latin typeface="+mn-lt"/>
                <a:sym typeface="+mn-ea"/>
              </a:rPr>
              <a:t>2025 </a:t>
            </a:r>
            <a:r>
              <a:rPr lang="zh-CN" altLang="en-US" sz="1200" kern="1200" dirty="0">
                <a:solidFill>
                  <a:schemeClr val="tx1"/>
                </a:solidFill>
                <a:effectLst/>
                <a:latin typeface="+mn-lt"/>
                <a:sym typeface="+mn-ea"/>
              </a:rPr>
              <a:t>年该题型考点涵盖位置类</a:t>
            </a:r>
            <a:r>
              <a:rPr lang="en-US" altLang="zh-CN" sz="1200" kern="1200" dirty="0">
                <a:solidFill>
                  <a:schemeClr val="tx1"/>
                </a:solidFill>
                <a:effectLst/>
                <a:latin typeface="+mn-lt"/>
                <a:sym typeface="+mn-ea"/>
              </a:rPr>
              <a:t> 3 </a:t>
            </a:r>
            <a:r>
              <a:rPr lang="zh-CN" altLang="en-US" sz="1200" kern="1200" dirty="0">
                <a:solidFill>
                  <a:schemeClr val="tx1"/>
                </a:solidFill>
                <a:effectLst/>
                <a:latin typeface="+mn-lt"/>
                <a:sym typeface="+mn-ea"/>
              </a:rPr>
              <a:t>道、样式类</a:t>
            </a:r>
            <a:r>
              <a:rPr lang="en-US" altLang="zh-CN" sz="1200" kern="1200" dirty="0">
                <a:solidFill>
                  <a:schemeClr val="tx1"/>
                </a:solidFill>
                <a:effectLst/>
                <a:latin typeface="+mn-lt"/>
                <a:sym typeface="+mn-ea"/>
              </a:rPr>
              <a:t> 1 </a:t>
            </a:r>
            <a:r>
              <a:rPr lang="zh-CN" altLang="en-US" sz="1200" kern="1200" dirty="0">
                <a:solidFill>
                  <a:schemeClr val="tx1"/>
                </a:solidFill>
                <a:effectLst/>
                <a:latin typeface="+mn-lt"/>
                <a:sym typeface="+mn-ea"/>
              </a:rPr>
              <a:t>道、数量类</a:t>
            </a:r>
            <a:r>
              <a:rPr lang="en-US" altLang="zh-CN" sz="1200" kern="1200" dirty="0">
                <a:solidFill>
                  <a:schemeClr val="tx1"/>
                </a:solidFill>
                <a:effectLst/>
                <a:latin typeface="+mn-lt"/>
                <a:sym typeface="+mn-ea"/>
              </a:rPr>
              <a:t> 3 </a:t>
            </a:r>
            <a:r>
              <a:rPr lang="zh-CN" altLang="en-US" sz="1200" kern="1200" dirty="0">
                <a:solidFill>
                  <a:schemeClr val="tx1"/>
                </a:solidFill>
                <a:effectLst/>
                <a:latin typeface="+mn-lt"/>
                <a:sym typeface="+mn-ea"/>
              </a:rPr>
              <a:t>道、属性类</a:t>
            </a:r>
            <a:r>
              <a:rPr lang="en-US" altLang="zh-CN" sz="1200" kern="1200" dirty="0">
                <a:solidFill>
                  <a:schemeClr val="tx1"/>
                </a:solidFill>
                <a:effectLst/>
                <a:latin typeface="+mn-lt"/>
                <a:sym typeface="+mn-ea"/>
              </a:rPr>
              <a:t> 2 </a:t>
            </a:r>
            <a:r>
              <a:rPr lang="zh-CN" altLang="en-US" sz="1200" kern="1200" dirty="0">
                <a:solidFill>
                  <a:schemeClr val="tx1"/>
                </a:solidFill>
                <a:effectLst/>
                <a:latin typeface="+mn-lt"/>
                <a:sym typeface="+mn-ea"/>
              </a:rPr>
              <a:t>道，同时首次出现八面体类考法，不过题目难度适中，可通过常规理论知识解题。此前图形推理多围绕六面体等常规空间重构题型考查，此次新增考点体现了命题的小幅创新，且素材还融入过剪纸纹样、鲁绣图案等山东文化元素，贴合本土特色。</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5.</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解析：题干给了一幅图和相关公式要求，考察动态位置等相关知识。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图形首先左半部分反色，如图：；再将该图进行黑白反色，如图：；后进行下半部分镜像，此时上半部分不会发生变化，只有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项与该图上半部分相同。</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6.</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解析：题干给了一幅图和相关公式要求，考察动态位置等相关知识。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图形首先进行左右换位，如图：；后将图形进行逆时针旋转</a:t>
            </a:r>
            <a:r>
              <a:rPr lang="en-US" altLang="zh-CN" sz="1200" kern="1200" dirty="0">
                <a:solidFill>
                  <a:schemeClr val="tx1"/>
                </a:solidFill>
                <a:effectLst/>
                <a:latin typeface="+mn-lt"/>
              </a:rPr>
              <a:t>90</a:t>
            </a:r>
            <a:r>
              <a:rPr lang="zh-CN" altLang="en-US" sz="1200" kern="1200" dirty="0">
                <a:solidFill>
                  <a:schemeClr val="tx1"/>
                </a:solidFill>
                <a:effectLst/>
                <a:latin typeface="+mn-lt"/>
              </a:rPr>
              <a:t>度，如图：，后将图形在四个角的每个小方格各自顺时针选择</a:t>
            </a:r>
            <a:r>
              <a:rPr lang="en-US" altLang="zh-CN" sz="1200" kern="1200" dirty="0">
                <a:solidFill>
                  <a:schemeClr val="tx1"/>
                </a:solidFill>
                <a:effectLst/>
                <a:latin typeface="+mn-lt"/>
              </a:rPr>
              <a:t>90</a:t>
            </a:r>
            <a:r>
              <a:rPr lang="zh-CN" altLang="en-US" sz="1200" kern="1200" dirty="0">
                <a:solidFill>
                  <a:schemeClr val="tx1"/>
                </a:solidFill>
                <a:effectLst/>
                <a:latin typeface="+mn-lt"/>
              </a:rPr>
              <a:t>度，左下角三角形顺时针旋转</a:t>
            </a:r>
            <a:r>
              <a:rPr lang="en-US" altLang="zh-CN" sz="1200" kern="1200" dirty="0">
                <a:solidFill>
                  <a:schemeClr val="tx1"/>
                </a:solidFill>
                <a:effectLst/>
                <a:latin typeface="+mn-lt"/>
              </a:rPr>
              <a:t>90</a:t>
            </a:r>
            <a:r>
              <a:rPr lang="zh-CN" altLang="en-US" sz="1200" kern="1200" dirty="0">
                <a:solidFill>
                  <a:schemeClr val="tx1"/>
                </a:solidFill>
                <a:effectLst/>
                <a:latin typeface="+mn-lt"/>
              </a:rPr>
              <a:t>度后，三角形顶点应该向下，只有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7.</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解析：题干给了一幅图和相关公式要求，考察动态位置等相关知识。</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图形首先左右镜像，就是沿着竖轴翻转，翻转后如图：，后将该图形上半部分左右镜像，就是沿着竖轴翻转，翻转后如图：，后将该图形右半部分反色，左侧不变，只有</a:t>
            </a:r>
            <a:r>
              <a:rPr lang="en-US" altLang="zh-CN" sz="1200" kern="1200" dirty="0">
                <a:solidFill>
                  <a:schemeClr val="tx1"/>
                </a:solidFill>
                <a:effectLst/>
                <a:latin typeface="+mn-lt"/>
              </a:rPr>
              <a:t>A</a:t>
            </a:r>
            <a:r>
              <a:rPr lang="zh-CN" altLang="en-US" sz="1200" kern="1200" dirty="0">
                <a:solidFill>
                  <a:schemeClr val="tx1"/>
                </a:solidFill>
                <a:effectLst/>
                <a:latin typeface="+mn-lt"/>
              </a:rPr>
              <a:t>选项符合。</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13.</a:t>
            </a:r>
            <a:r>
              <a:rPr lang="zh-CN" altLang="en-US" sz="1200" kern="1200" dirty="0">
                <a:solidFill>
                  <a:schemeClr val="tx1"/>
                </a:solidFill>
                <a:effectLst/>
                <a:latin typeface="+mn-lt"/>
              </a:rPr>
              <a:t>答案：</a:t>
            </a:r>
            <a:r>
              <a:rPr lang="en-US" altLang="zh-CN" sz="1200" kern="1200" dirty="0">
                <a:solidFill>
                  <a:schemeClr val="tx1"/>
                </a:solidFill>
                <a:effectLst/>
                <a:latin typeface="+mn-lt"/>
              </a:rPr>
              <a:t>A</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解析：题干要求让观察建筑影子，这是一道视图题。</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根据影子是背光，太阳处于正西方向，所以影子是正东方向。上北下南左西右东，画一个坐标。人就在东北方位。</a:t>
            </a:r>
            <a:endParaRPr lang="zh-CN" altLang="en-US" sz="1200" kern="1200" dirty="0">
              <a:solidFill>
                <a:schemeClr val="tx1"/>
              </a:solidFill>
              <a:effectLst/>
              <a:latin typeface="+mn-lt"/>
            </a:endParaRPr>
          </a:p>
          <a:p>
            <a:endParaRPr lang="en-US" altLang="zh-CN"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A</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以单定义考查为主，</a:t>
            </a:r>
            <a:r>
              <a:rPr lang="en-US" altLang="zh-CN" sz="1200" kern="1200" dirty="0">
                <a:solidFill>
                  <a:schemeClr val="tx1"/>
                </a:solidFill>
                <a:effectLst/>
                <a:latin typeface="+mn-lt"/>
                <a:sym typeface="+mn-ea"/>
              </a:rPr>
              <a:t>2025 </a:t>
            </a:r>
            <a:r>
              <a:rPr lang="zh-CN" altLang="en-US" sz="1200" kern="1200" dirty="0">
                <a:solidFill>
                  <a:schemeClr val="tx1"/>
                </a:solidFill>
                <a:effectLst/>
                <a:latin typeface="+mn-lt"/>
                <a:sym typeface="+mn-ea"/>
              </a:rPr>
              <a:t>年试卷中单定义有</a:t>
            </a:r>
            <a:r>
              <a:rPr lang="en-US" altLang="zh-CN" sz="1200" kern="1200" dirty="0">
                <a:solidFill>
                  <a:schemeClr val="tx1"/>
                </a:solidFill>
                <a:effectLst/>
                <a:latin typeface="+mn-lt"/>
                <a:sym typeface="+mn-ea"/>
              </a:rPr>
              <a:t> 8 </a:t>
            </a:r>
            <a:r>
              <a:rPr lang="zh-CN" altLang="en-US" sz="1200" kern="1200" dirty="0">
                <a:solidFill>
                  <a:schemeClr val="tx1"/>
                </a:solidFill>
                <a:effectLst/>
                <a:latin typeface="+mn-lt"/>
                <a:sym typeface="+mn-ea"/>
              </a:rPr>
              <a:t>道，多定义仅</a:t>
            </a:r>
            <a:r>
              <a:rPr lang="en-US" altLang="zh-CN" sz="1200" kern="1200" dirty="0">
                <a:solidFill>
                  <a:schemeClr val="tx1"/>
                </a:solidFill>
                <a:effectLst/>
                <a:latin typeface="+mn-lt"/>
                <a:sym typeface="+mn-ea"/>
              </a:rPr>
              <a:t> 2 </a:t>
            </a:r>
            <a:r>
              <a:rPr lang="zh-CN" altLang="en-US" sz="1200" kern="1200" dirty="0">
                <a:solidFill>
                  <a:schemeClr val="tx1"/>
                </a:solidFill>
                <a:effectLst/>
                <a:latin typeface="+mn-lt"/>
                <a:sym typeface="+mn-ea"/>
              </a:rPr>
              <a:t>道。这类题型考查的概念涵盖多个学科领域，题目表述常规，整体难度适中，解题关键在于考生抓取定义核心要件、区分易混淆选项的能力。</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effectLst/>
                <a:latin typeface="+mn-lt"/>
                <a:sym typeface="+mn-ea"/>
              </a:rPr>
              <a:t>33.</a:t>
            </a:r>
            <a:r>
              <a:rPr lang="zh-CN" altLang="en-US" dirty="0">
                <a:effectLst/>
                <a:latin typeface="+mn-lt"/>
                <a:sym typeface="+mn-ea"/>
              </a:rPr>
              <a:t>答案：</a:t>
            </a:r>
            <a:r>
              <a:rPr lang="en-US" altLang="zh-CN" dirty="0">
                <a:effectLst/>
                <a:latin typeface="+mn-lt"/>
                <a:sym typeface="+mn-ea"/>
              </a:rPr>
              <a:t>B</a:t>
            </a:r>
            <a:endParaRPr lang="en-US" altLang="zh-CN" kern="1200" dirty="0">
              <a:solidFill>
                <a:schemeClr val="tx1"/>
              </a:solidFill>
              <a:effectLst/>
              <a:latin typeface="+mn-lt"/>
            </a:endParaRPr>
          </a:p>
          <a:p>
            <a:r>
              <a:rPr lang="zh-CN" altLang="en-US" dirty="0">
                <a:effectLst/>
                <a:latin typeface="+mn-lt"/>
                <a:sym typeface="+mn-ea"/>
              </a:rPr>
              <a:t>解析：</a:t>
            </a:r>
            <a:r>
              <a:rPr lang="en-US" altLang="en-US" dirty="0">
                <a:effectLst/>
                <a:latin typeface="+mn-lt"/>
                <a:sym typeface="+mn-ea"/>
              </a:rPr>
              <a:t>①</a:t>
            </a:r>
            <a:r>
              <a:rPr lang="zh-CN" altLang="en-US" dirty="0">
                <a:effectLst/>
                <a:latin typeface="+mn-lt"/>
                <a:sym typeface="+mn-ea"/>
              </a:rPr>
              <a:t>雇佣者与被雇佣者通过谈判协商达成。</a:t>
            </a:r>
            <a:endParaRPr lang="zh-CN" altLang="en-US" kern="1200" dirty="0">
              <a:solidFill>
                <a:schemeClr val="tx1"/>
              </a:solidFill>
              <a:effectLst/>
              <a:latin typeface="+mn-lt"/>
            </a:endParaRPr>
          </a:p>
          <a:p>
            <a:r>
              <a:rPr lang="en-US" altLang="en-US" dirty="0">
                <a:effectLst/>
                <a:latin typeface="+mn-lt"/>
                <a:sym typeface="+mn-ea"/>
              </a:rPr>
              <a:t>②</a:t>
            </a:r>
            <a:r>
              <a:rPr lang="zh-CN" altLang="en-US" dirty="0">
                <a:effectLst/>
                <a:latin typeface="+mn-lt"/>
                <a:sym typeface="+mn-ea"/>
              </a:rPr>
              <a:t>满足双方利益，非标准化的灵活工作安排。</a:t>
            </a:r>
            <a:endParaRPr lang="zh-CN" altLang="en-US" kern="1200" dirty="0">
              <a:solidFill>
                <a:schemeClr val="tx1"/>
              </a:solidFill>
              <a:effectLst/>
              <a:latin typeface="+mn-lt"/>
            </a:endParaRPr>
          </a:p>
          <a:p>
            <a:r>
              <a:rPr lang="en-US" altLang="zh-CN" dirty="0">
                <a:effectLst/>
                <a:latin typeface="+mn-lt"/>
                <a:sym typeface="+mn-ea"/>
              </a:rPr>
              <a:t>A</a:t>
            </a:r>
            <a:r>
              <a:rPr lang="zh-CN" altLang="en-US" dirty="0">
                <a:effectLst/>
                <a:latin typeface="+mn-lt"/>
                <a:sym typeface="+mn-ea"/>
              </a:rPr>
              <a:t>项：李老师和学生（不符合</a:t>
            </a:r>
            <a:r>
              <a:rPr lang="en-US" altLang="zh-CN" dirty="0">
                <a:effectLst/>
                <a:latin typeface="+mn-lt"/>
                <a:sym typeface="+mn-ea"/>
              </a:rPr>
              <a:t>“</a:t>
            </a:r>
            <a:r>
              <a:rPr lang="zh-CN" altLang="en-US" dirty="0">
                <a:effectLst/>
                <a:latin typeface="+mn-lt"/>
                <a:sym typeface="+mn-ea"/>
              </a:rPr>
              <a:t>雇佣者与被雇佣者</a:t>
            </a:r>
            <a:r>
              <a:rPr lang="en-US" altLang="zh-CN" dirty="0">
                <a:effectLst/>
                <a:latin typeface="+mn-lt"/>
                <a:sym typeface="+mn-ea"/>
              </a:rPr>
              <a:t>”</a:t>
            </a:r>
            <a:r>
              <a:rPr lang="zh-CN" altLang="en-US" dirty="0">
                <a:effectLst/>
                <a:latin typeface="+mn-lt"/>
                <a:sym typeface="+mn-ea"/>
              </a:rPr>
              <a:t>关系），排除。</a:t>
            </a:r>
            <a:endParaRPr lang="zh-CN" altLang="en-US" kern="1200" dirty="0">
              <a:solidFill>
                <a:schemeClr val="tx1"/>
              </a:solidFill>
              <a:effectLst/>
              <a:latin typeface="+mn-lt"/>
            </a:endParaRPr>
          </a:p>
          <a:p>
            <a:r>
              <a:rPr lang="en-US" altLang="zh-CN" dirty="0">
                <a:effectLst/>
                <a:latin typeface="+mn-lt"/>
                <a:sym typeface="+mn-ea"/>
              </a:rPr>
              <a:t>B</a:t>
            </a:r>
            <a:r>
              <a:rPr lang="zh-CN" altLang="en-US" dirty="0">
                <a:effectLst/>
                <a:latin typeface="+mn-lt"/>
                <a:sym typeface="+mn-ea"/>
              </a:rPr>
              <a:t>项：王经理与老板（符合</a:t>
            </a:r>
            <a:r>
              <a:rPr lang="en-US" altLang="zh-CN" dirty="0">
                <a:effectLst/>
                <a:latin typeface="+mn-lt"/>
                <a:sym typeface="+mn-ea"/>
              </a:rPr>
              <a:t>“</a:t>
            </a:r>
            <a:r>
              <a:rPr lang="zh-CN" altLang="en-US" dirty="0">
                <a:effectLst/>
                <a:latin typeface="+mn-lt"/>
                <a:sym typeface="+mn-ea"/>
              </a:rPr>
              <a:t>雇佣者与被雇佣者</a:t>
            </a:r>
            <a:r>
              <a:rPr lang="en-US" altLang="zh-CN" dirty="0">
                <a:effectLst/>
                <a:latin typeface="+mn-lt"/>
                <a:sym typeface="+mn-ea"/>
              </a:rPr>
              <a:t>”</a:t>
            </a:r>
            <a:r>
              <a:rPr lang="zh-CN" altLang="en-US" dirty="0">
                <a:effectLst/>
                <a:latin typeface="+mn-lt"/>
                <a:sym typeface="+mn-ea"/>
              </a:rPr>
              <a:t>关系），通过协商达成居家办公及每周到岗半天的安排（符合</a:t>
            </a:r>
            <a:r>
              <a:rPr lang="en-US" altLang="zh-CN" dirty="0">
                <a:effectLst/>
                <a:latin typeface="+mn-lt"/>
                <a:sym typeface="+mn-ea"/>
              </a:rPr>
              <a:t>“</a:t>
            </a:r>
            <a:r>
              <a:rPr lang="zh-CN" altLang="en-US" dirty="0">
                <a:effectLst/>
                <a:latin typeface="+mn-lt"/>
                <a:sym typeface="+mn-ea"/>
              </a:rPr>
              <a:t>满足双方利益，非标准化的灵活工作安排</a:t>
            </a:r>
            <a:r>
              <a:rPr lang="en-US" altLang="zh-CN" dirty="0">
                <a:effectLst/>
                <a:latin typeface="+mn-lt"/>
                <a:sym typeface="+mn-ea"/>
              </a:rPr>
              <a:t>”</a:t>
            </a:r>
            <a:r>
              <a:rPr lang="zh-CN" altLang="en-US" dirty="0">
                <a:effectLst/>
                <a:latin typeface="+mn-lt"/>
                <a:sym typeface="+mn-ea"/>
              </a:rPr>
              <a:t>），当选。</a:t>
            </a:r>
            <a:endParaRPr lang="zh-CN" altLang="en-US" kern="1200" dirty="0">
              <a:solidFill>
                <a:schemeClr val="tx1"/>
              </a:solidFill>
              <a:effectLst/>
              <a:latin typeface="+mn-lt"/>
            </a:endParaRPr>
          </a:p>
          <a:p>
            <a:r>
              <a:rPr lang="en-US" altLang="zh-CN" dirty="0">
                <a:effectLst/>
                <a:latin typeface="+mn-lt"/>
                <a:sym typeface="+mn-ea"/>
              </a:rPr>
              <a:t>C</a:t>
            </a:r>
            <a:r>
              <a:rPr lang="zh-CN" altLang="en-US" dirty="0">
                <a:effectLst/>
                <a:latin typeface="+mn-lt"/>
                <a:sym typeface="+mn-ea"/>
              </a:rPr>
              <a:t>项：公司规定弹性时间（不符合</a:t>
            </a:r>
            <a:r>
              <a:rPr lang="en-US" altLang="zh-CN" dirty="0">
                <a:effectLst/>
                <a:latin typeface="+mn-lt"/>
                <a:sym typeface="+mn-ea"/>
              </a:rPr>
              <a:t>“</a:t>
            </a:r>
            <a:r>
              <a:rPr lang="zh-CN" altLang="en-US" dirty="0">
                <a:effectLst/>
                <a:latin typeface="+mn-lt"/>
                <a:sym typeface="+mn-ea"/>
              </a:rPr>
              <a:t>通过谈判协商达成</a:t>
            </a:r>
            <a:r>
              <a:rPr lang="en-US" altLang="zh-CN" dirty="0">
                <a:effectLst/>
                <a:latin typeface="+mn-lt"/>
                <a:sym typeface="+mn-ea"/>
              </a:rPr>
              <a:t>”</a:t>
            </a:r>
            <a:r>
              <a:rPr lang="zh-CN" altLang="en-US" dirty="0">
                <a:effectLst/>
                <a:latin typeface="+mn-lt"/>
                <a:sym typeface="+mn-ea"/>
              </a:rPr>
              <a:t>），排除。</a:t>
            </a:r>
            <a:endParaRPr lang="zh-CN" altLang="en-US" kern="1200" dirty="0">
              <a:solidFill>
                <a:schemeClr val="tx1"/>
              </a:solidFill>
              <a:effectLst/>
              <a:latin typeface="+mn-lt"/>
            </a:endParaRPr>
          </a:p>
          <a:p>
            <a:r>
              <a:rPr lang="en-US" altLang="zh-CN" dirty="0">
                <a:effectLst/>
                <a:latin typeface="+mn-lt"/>
                <a:sym typeface="+mn-ea"/>
              </a:rPr>
              <a:t>D</a:t>
            </a:r>
            <a:r>
              <a:rPr lang="zh-CN" altLang="en-US" dirty="0">
                <a:effectLst/>
                <a:latin typeface="+mn-lt"/>
                <a:sym typeface="+mn-ea"/>
              </a:rPr>
              <a:t>项：公司宣布宿舍安排（不符合</a:t>
            </a:r>
            <a:r>
              <a:rPr lang="en-US" altLang="zh-CN" dirty="0">
                <a:effectLst/>
                <a:latin typeface="+mn-lt"/>
                <a:sym typeface="+mn-ea"/>
              </a:rPr>
              <a:t>“</a:t>
            </a:r>
            <a:r>
              <a:rPr lang="zh-CN" altLang="en-US" dirty="0">
                <a:effectLst/>
                <a:latin typeface="+mn-lt"/>
                <a:sym typeface="+mn-ea"/>
              </a:rPr>
              <a:t>通过谈判协商达成</a:t>
            </a:r>
            <a:r>
              <a:rPr lang="en-US" altLang="zh-CN" dirty="0">
                <a:effectLst/>
                <a:latin typeface="+mn-lt"/>
                <a:sym typeface="+mn-ea"/>
              </a:rPr>
              <a:t>”</a:t>
            </a:r>
            <a:r>
              <a:rPr lang="zh-CN" altLang="en-US" dirty="0">
                <a:effectLst/>
                <a:latin typeface="+mn-lt"/>
                <a:sym typeface="+mn-ea"/>
              </a:rPr>
              <a:t>），排除。</a:t>
            </a:r>
            <a:endParaRPr lang="zh-CN" altLang="en-US" kern="1200" dirty="0">
              <a:solidFill>
                <a:schemeClr val="tx1"/>
              </a:solidFill>
              <a:effectLst/>
              <a:latin typeface="+mn-lt"/>
            </a:endParaRPr>
          </a:p>
          <a:p>
            <a:r>
              <a:rPr lang="zh-CN" altLang="en-US" dirty="0">
                <a:effectLst/>
                <a:latin typeface="+mn-lt"/>
                <a:sym typeface="+mn-ea"/>
              </a:rPr>
              <a:t>故正确答案为</a:t>
            </a:r>
            <a:r>
              <a:rPr lang="en-US" altLang="zh-CN" dirty="0">
                <a:effectLst/>
                <a:latin typeface="+mn-lt"/>
                <a:sym typeface="+mn-ea"/>
              </a:rPr>
              <a:t>B</a:t>
            </a:r>
            <a:r>
              <a:rPr lang="zh-CN" altLang="en-US" dirty="0">
                <a:effectLst/>
                <a:latin typeface="+mn-lt"/>
                <a:sym typeface="+mn-ea"/>
              </a:rPr>
              <a:t>。</a:t>
            </a:r>
            <a:endParaRPr lang="zh-CN" altLang="en-US" kern="1200" dirty="0">
              <a:solidFill>
                <a:schemeClr val="tx1"/>
              </a:solidFill>
              <a:effectLst/>
              <a:latin typeface="+mn-lt"/>
            </a:endParaRPr>
          </a:p>
          <a:p>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18.</a:t>
            </a:r>
            <a:r>
              <a:rPr lang="zh-CN" altLang="en-US" sz="1200" kern="1200" dirty="0">
                <a:solidFill>
                  <a:schemeClr val="tx1"/>
                </a:solidFill>
                <a:effectLst/>
                <a:latin typeface="+mn-lt"/>
              </a:rPr>
              <a:t>答案：</a:t>
            </a:r>
            <a:r>
              <a:rPr lang="en-US" altLang="zh-CN" sz="1200" kern="1200" dirty="0">
                <a:solidFill>
                  <a:schemeClr val="tx1"/>
                </a:solidFill>
                <a:effectLst/>
                <a:latin typeface="+mn-lt"/>
              </a:rPr>
              <a:t>D</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a:t>
            </a:r>
            <a:r>
              <a:rPr lang="en-US" altLang="zh-CN" sz="1200" kern="1200" dirty="0">
                <a:solidFill>
                  <a:schemeClr val="tx1"/>
                </a:solidFill>
                <a:effectLst/>
                <a:latin typeface="+mn-lt"/>
              </a:rPr>
              <a:t>“</a:t>
            </a:r>
            <a:r>
              <a:rPr lang="zh-CN" altLang="en-US" sz="1200" kern="1200" dirty="0">
                <a:solidFill>
                  <a:schemeClr val="tx1"/>
                </a:solidFill>
                <a:effectLst/>
                <a:latin typeface="+mn-lt"/>
              </a:rPr>
              <a:t>进气阀</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内燃机</a:t>
            </a:r>
            <a:r>
              <a:rPr lang="en-US" altLang="zh-CN" sz="1200" kern="1200" dirty="0">
                <a:solidFill>
                  <a:schemeClr val="tx1"/>
                </a:solidFill>
                <a:effectLst/>
                <a:latin typeface="+mn-lt"/>
              </a:rPr>
              <a:t>”</a:t>
            </a:r>
            <a:r>
              <a:rPr lang="zh-CN" altLang="en-US" sz="1200" kern="1200" dirty="0">
                <a:solidFill>
                  <a:schemeClr val="tx1"/>
                </a:solidFill>
                <a:effectLst/>
                <a:latin typeface="+mn-lt"/>
              </a:rPr>
              <a:t>的核心部件，二者属于包容关系中的组成关系；</a:t>
            </a:r>
            <a:r>
              <a:rPr lang="en-US" altLang="zh-CN" sz="1200" kern="1200" dirty="0">
                <a:solidFill>
                  <a:schemeClr val="tx1"/>
                </a:solidFill>
                <a:effectLst/>
                <a:latin typeface="+mn-lt"/>
              </a:rPr>
              <a:t>“</a:t>
            </a:r>
            <a:r>
              <a:rPr lang="zh-CN" altLang="en-US" sz="1200" kern="1200" dirty="0">
                <a:solidFill>
                  <a:schemeClr val="tx1"/>
                </a:solidFill>
                <a:effectLst/>
                <a:latin typeface="+mn-lt"/>
              </a:rPr>
              <a:t>进气阀</a:t>
            </a:r>
            <a:r>
              <a:rPr lang="en-US" altLang="zh-CN" sz="1200" kern="1200" dirty="0">
                <a:solidFill>
                  <a:schemeClr val="tx1"/>
                </a:solidFill>
                <a:effectLst/>
                <a:latin typeface="+mn-lt"/>
              </a:rPr>
              <a:t>”</a:t>
            </a:r>
            <a:r>
              <a:rPr lang="zh-CN" altLang="en-US" sz="1200" kern="1200" dirty="0">
                <a:solidFill>
                  <a:schemeClr val="tx1"/>
                </a:solidFill>
                <a:effectLst/>
                <a:latin typeface="+mn-lt"/>
              </a:rPr>
              <a:t>的核心功能是调控内燃机运转所需的</a:t>
            </a:r>
            <a:r>
              <a:rPr lang="en-US" altLang="zh-CN" sz="1200" kern="1200" dirty="0">
                <a:solidFill>
                  <a:schemeClr val="tx1"/>
                </a:solidFill>
                <a:effectLst/>
                <a:latin typeface="+mn-lt"/>
              </a:rPr>
              <a:t>“</a:t>
            </a:r>
            <a:r>
              <a:rPr lang="zh-CN" altLang="en-US" sz="1200" kern="1200" dirty="0">
                <a:solidFill>
                  <a:schemeClr val="tx1"/>
                </a:solidFill>
                <a:effectLst/>
                <a:latin typeface="+mn-lt"/>
              </a:rPr>
              <a:t>气流</a:t>
            </a:r>
            <a:r>
              <a:rPr lang="en-US" altLang="zh-CN" sz="1200" kern="1200" dirty="0">
                <a:solidFill>
                  <a:schemeClr val="tx1"/>
                </a:solidFill>
                <a:effectLst/>
                <a:latin typeface="+mn-lt"/>
              </a:rPr>
              <a:t>”</a:t>
            </a:r>
            <a:r>
              <a:rPr lang="zh-CN" altLang="en-US" sz="1200" kern="1200" dirty="0">
                <a:solidFill>
                  <a:schemeClr val="tx1"/>
                </a:solidFill>
                <a:effectLst/>
                <a:latin typeface="+mn-lt"/>
              </a:rPr>
              <a:t>，二者属于部件与其直接控制对象的对应关系。</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A</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滤镜</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相机</a:t>
            </a:r>
            <a:r>
              <a:rPr lang="en-US" altLang="zh-CN" sz="1200" kern="1200" dirty="0">
                <a:solidFill>
                  <a:schemeClr val="tx1"/>
                </a:solidFill>
                <a:effectLst/>
                <a:latin typeface="+mn-lt"/>
              </a:rPr>
              <a:t>”</a:t>
            </a:r>
            <a:r>
              <a:rPr lang="zh-CN" altLang="en-US" sz="1200" kern="1200" dirty="0">
                <a:solidFill>
                  <a:schemeClr val="tx1"/>
                </a:solidFill>
                <a:effectLst/>
                <a:latin typeface="+mn-lt"/>
              </a:rPr>
              <a:t>的辅助配件，二者属于搭配使用的对应关系，而非组成关系；</a:t>
            </a:r>
            <a:r>
              <a:rPr lang="en-US" altLang="zh-CN" sz="1200" kern="1200" dirty="0">
                <a:solidFill>
                  <a:schemeClr val="tx1"/>
                </a:solidFill>
                <a:effectLst/>
                <a:latin typeface="+mn-lt"/>
              </a:rPr>
              <a:t>“</a:t>
            </a:r>
            <a:r>
              <a:rPr lang="zh-CN" altLang="en-US" sz="1200" kern="1200" dirty="0">
                <a:solidFill>
                  <a:schemeClr val="tx1"/>
                </a:solidFill>
                <a:effectLst/>
                <a:latin typeface="+mn-lt"/>
              </a:rPr>
              <a:t>滤镜</a:t>
            </a:r>
            <a:r>
              <a:rPr lang="en-US" altLang="zh-CN" sz="1200" kern="1200" dirty="0">
                <a:solidFill>
                  <a:schemeClr val="tx1"/>
                </a:solidFill>
                <a:effectLst/>
                <a:latin typeface="+mn-lt"/>
              </a:rPr>
              <a:t>”</a:t>
            </a:r>
            <a:r>
              <a:rPr lang="zh-CN" altLang="en-US" sz="1200" kern="1200" dirty="0">
                <a:solidFill>
                  <a:schemeClr val="tx1"/>
                </a:solidFill>
                <a:effectLst/>
                <a:latin typeface="+mn-lt"/>
              </a:rPr>
              <a:t>的作用是美化或调整拍摄后的</a:t>
            </a:r>
            <a:r>
              <a:rPr lang="en-US" altLang="zh-CN" sz="1200" kern="1200" dirty="0">
                <a:solidFill>
                  <a:schemeClr val="tx1"/>
                </a:solidFill>
                <a:effectLst/>
                <a:latin typeface="+mn-lt"/>
              </a:rPr>
              <a:t>“</a:t>
            </a:r>
            <a:r>
              <a:rPr lang="zh-CN" altLang="en-US" sz="1200" kern="1200" dirty="0">
                <a:solidFill>
                  <a:schemeClr val="tx1"/>
                </a:solidFill>
                <a:effectLst/>
                <a:latin typeface="+mn-lt"/>
              </a:rPr>
              <a:t>图片</a:t>
            </a:r>
            <a:r>
              <a:rPr lang="en-US" altLang="zh-CN" sz="1200" kern="1200" dirty="0">
                <a:solidFill>
                  <a:schemeClr val="tx1"/>
                </a:solidFill>
                <a:effectLst/>
                <a:latin typeface="+mn-lt"/>
              </a:rPr>
              <a:t>”</a:t>
            </a:r>
            <a:r>
              <a:rPr lang="zh-CN" altLang="en-US" sz="1200" kern="1200" dirty="0">
                <a:solidFill>
                  <a:schemeClr val="tx1"/>
                </a:solidFill>
                <a:effectLst/>
                <a:latin typeface="+mn-lt"/>
              </a:rPr>
              <a:t>，并非调控相机运转的关键要素，与题干逻辑关系不一致，排除。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B</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编程</a:t>
            </a:r>
            <a:r>
              <a:rPr lang="en-US" altLang="zh-CN" sz="1200" kern="1200" dirty="0">
                <a:solidFill>
                  <a:schemeClr val="tx1"/>
                </a:solidFill>
                <a:effectLst/>
                <a:latin typeface="+mn-lt"/>
              </a:rPr>
              <a:t>”</a:t>
            </a:r>
            <a:r>
              <a:rPr lang="zh-CN" altLang="en-US" sz="1200" kern="1200" dirty="0">
                <a:solidFill>
                  <a:schemeClr val="tx1"/>
                </a:solidFill>
                <a:effectLst/>
                <a:latin typeface="+mn-lt"/>
              </a:rPr>
              <a:t>是实现</a:t>
            </a:r>
            <a:r>
              <a:rPr lang="en-US" altLang="zh-CN" sz="1200" kern="1200" dirty="0">
                <a:solidFill>
                  <a:schemeClr val="tx1"/>
                </a:solidFill>
                <a:effectLst/>
                <a:latin typeface="+mn-lt"/>
              </a:rPr>
              <a:t>“</a:t>
            </a:r>
            <a:r>
              <a:rPr lang="zh-CN" altLang="en-US" sz="1200" kern="1200" dirty="0">
                <a:solidFill>
                  <a:schemeClr val="tx1"/>
                </a:solidFill>
                <a:effectLst/>
                <a:latin typeface="+mn-lt"/>
              </a:rPr>
              <a:t>计算机</a:t>
            </a:r>
            <a:r>
              <a:rPr lang="en-US" altLang="zh-CN" sz="1200" kern="1200" dirty="0">
                <a:solidFill>
                  <a:schemeClr val="tx1"/>
                </a:solidFill>
                <a:effectLst/>
                <a:latin typeface="+mn-lt"/>
              </a:rPr>
              <a:t>”“</a:t>
            </a:r>
            <a:r>
              <a:rPr lang="zh-CN" altLang="en-US" sz="1200" kern="1200" dirty="0">
                <a:solidFill>
                  <a:schemeClr val="tx1"/>
                </a:solidFill>
                <a:effectLst/>
                <a:latin typeface="+mn-lt"/>
              </a:rPr>
              <a:t>自动化</a:t>
            </a:r>
            <a:r>
              <a:rPr lang="en-US" altLang="zh-CN" sz="1200" kern="1200" dirty="0">
                <a:solidFill>
                  <a:schemeClr val="tx1"/>
                </a:solidFill>
                <a:effectLst/>
                <a:latin typeface="+mn-lt"/>
              </a:rPr>
              <a:t>”</a:t>
            </a:r>
            <a:r>
              <a:rPr lang="zh-CN" altLang="en-US" sz="1200" kern="1200" dirty="0">
                <a:solidFill>
                  <a:schemeClr val="tx1"/>
                </a:solidFill>
                <a:effectLst/>
                <a:latin typeface="+mn-lt"/>
              </a:rPr>
              <a:t>的手段，并非计算机的组成部件，三者属于方式与目的的对应关系，与题干逻辑关系不一致，排除。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C</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加速器</a:t>
            </a:r>
            <a:r>
              <a:rPr lang="en-US" altLang="zh-CN" sz="1200" kern="1200" dirty="0">
                <a:solidFill>
                  <a:schemeClr val="tx1"/>
                </a:solidFill>
                <a:effectLst/>
                <a:latin typeface="+mn-lt"/>
              </a:rPr>
              <a:t>”</a:t>
            </a:r>
            <a:r>
              <a:rPr lang="zh-CN" altLang="en-US" sz="1200" kern="1200" dirty="0">
                <a:solidFill>
                  <a:schemeClr val="tx1"/>
                </a:solidFill>
                <a:effectLst/>
                <a:latin typeface="+mn-lt"/>
              </a:rPr>
              <a:t>不是</a:t>
            </a:r>
            <a:r>
              <a:rPr lang="en-US" altLang="zh-CN" sz="1200" kern="1200" dirty="0">
                <a:solidFill>
                  <a:schemeClr val="tx1"/>
                </a:solidFill>
                <a:effectLst/>
                <a:latin typeface="+mn-lt"/>
              </a:rPr>
              <a:t>“</a:t>
            </a:r>
            <a:r>
              <a:rPr lang="zh-CN" altLang="en-US" sz="1200" kern="1200" dirty="0">
                <a:solidFill>
                  <a:schemeClr val="tx1"/>
                </a:solidFill>
                <a:effectLst/>
                <a:latin typeface="+mn-lt"/>
              </a:rPr>
              <a:t>电动机</a:t>
            </a:r>
            <a:r>
              <a:rPr lang="en-US" altLang="zh-CN" sz="1200" kern="1200" dirty="0">
                <a:solidFill>
                  <a:schemeClr val="tx1"/>
                </a:solidFill>
                <a:effectLst/>
                <a:latin typeface="+mn-lt"/>
              </a:rPr>
              <a:t>”</a:t>
            </a:r>
            <a:r>
              <a:rPr lang="zh-CN" altLang="en-US" sz="1200" kern="1200" dirty="0">
                <a:solidFill>
                  <a:schemeClr val="tx1"/>
                </a:solidFill>
                <a:effectLst/>
                <a:latin typeface="+mn-lt"/>
              </a:rPr>
              <a:t>的固有核心部件，二者属于外接控制装置与设备的搭配关系，而非组成关系；且</a:t>
            </a:r>
            <a:r>
              <a:rPr lang="en-US" altLang="zh-CN" sz="1200" kern="1200" dirty="0">
                <a:solidFill>
                  <a:schemeClr val="tx1"/>
                </a:solidFill>
                <a:effectLst/>
                <a:latin typeface="+mn-lt"/>
              </a:rPr>
              <a:t>“</a:t>
            </a:r>
            <a:r>
              <a:rPr lang="zh-CN" altLang="en-US" sz="1200" kern="1200" dirty="0">
                <a:solidFill>
                  <a:schemeClr val="tx1"/>
                </a:solidFill>
                <a:effectLst/>
                <a:latin typeface="+mn-lt"/>
              </a:rPr>
              <a:t>加速器</a:t>
            </a:r>
            <a:r>
              <a:rPr lang="en-US" altLang="zh-CN" sz="1200" kern="1200" dirty="0">
                <a:solidFill>
                  <a:schemeClr val="tx1"/>
                </a:solidFill>
                <a:effectLst/>
                <a:latin typeface="+mn-lt"/>
              </a:rPr>
              <a:t>”</a:t>
            </a:r>
            <a:r>
              <a:rPr lang="zh-CN" altLang="en-US" sz="1200" kern="1200" dirty="0">
                <a:solidFill>
                  <a:schemeClr val="tx1"/>
                </a:solidFill>
                <a:effectLst/>
                <a:latin typeface="+mn-lt"/>
              </a:rPr>
              <a:t>的直接作用对象是电流，通过调整电流间接改变</a:t>
            </a:r>
            <a:r>
              <a:rPr lang="en-US" altLang="zh-CN" sz="1200" kern="1200" dirty="0">
                <a:solidFill>
                  <a:schemeClr val="tx1"/>
                </a:solidFill>
                <a:effectLst/>
                <a:latin typeface="+mn-lt"/>
              </a:rPr>
              <a:t>“</a:t>
            </a:r>
            <a:r>
              <a:rPr lang="zh-CN" altLang="en-US" sz="1200" kern="1200" dirty="0">
                <a:solidFill>
                  <a:schemeClr val="tx1"/>
                </a:solidFill>
                <a:effectLst/>
                <a:latin typeface="+mn-lt"/>
              </a:rPr>
              <a:t>电压</a:t>
            </a:r>
            <a:r>
              <a:rPr lang="en-US" altLang="zh-CN" sz="1200" kern="1200" dirty="0">
                <a:solidFill>
                  <a:schemeClr val="tx1"/>
                </a:solidFill>
                <a:effectLst/>
                <a:latin typeface="+mn-lt"/>
              </a:rPr>
              <a:t>”</a:t>
            </a:r>
            <a:r>
              <a:rPr lang="zh-CN" altLang="en-US" sz="1200" kern="1200" dirty="0">
                <a:solidFill>
                  <a:schemeClr val="tx1"/>
                </a:solidFill>
                <a:effectLst/>
                <a:latin typeface="+mn-lt"/>
              </a:rPr>
              <a:t>，进而控制电动机转速，并非直接控制</a:t>
            </a:r>
            <a:r>
              <a:rPr lang="en-US" altLang="zh-CN" sz="1200" kern="1200" dirty="0">
                <a:solidFill>
                  <a:schemeClr val="tx1"/>
                </a:solidFill>
                <a:effectLst/>
                <a:latin typeface="+mn-lt"/>
              </a:rPr>
              <a:t>“</a:t>
            </a:r>
            <a:r>
              <a:rPr lang="zh-CN" altLang="en-US" sz="1200" kern="1200" dirty="0">
                <a:solidFill>
                  <a:schemeClr val="tx1"/>
                </a:solidFill>
                <a:effectLst/>
                <a:latin typeface="+mn-lt"/>
              </a:rPr>
              <a:t>电压</a:t>
            </a:r>
            <a:r>
              <a:rPr lang="en-US" altLang="zh-CN" sz="1200" kern="1200" dirty="0">
                <a:solidFill>
                  <a:schemeClr val="tx1"/>
                </a:solidFill>
                <a:effectLst/>
                <a:latin typeface="+mn-lt"/>
              </a:rPr>
              <a:t>”</a:t>
            </a:r>
            <a:r>
              <a:rPr lang="zh-CN" altLang="en-US" sz="1200" kern="1200" dirty="0">
                <a:solidFill>
                  <a:schemeClr val="tx1"/>
                </a:solidFill>
                <a:effectLst/>
                <a:latin typeface="+mn-lt"/>
              </a:rPr>
              <a:t>，与题干逻辑关系不一致，排除。</a:t>
            </a:r>
            <a:endParaRPr lang="zh-CN" altLang="en-US" sz="1200" kern="1200" dirty="0">
              <a:solidFill>
                <a:schemeClr val="tx1"/>
              </a:solidFill>
              <a:effectLst/>
              <a:latin typeface="+mn-lt"/>
            </a:endParaRPr>
          </a:p>
          <a:p>
            <a:r>
              <a:rPr lang="en-US" altLang="zh-CN" sz="1200" kern="1200" dirty="0">
                <a:solidFill>
                  <a:schemeClr val="tx1"/>
                </a:solidFill>
                <a:effectLst/>
                <a:latin typeface="+mn-lt"/>
              </a:rPr>
              <a:t>D</a:t>
            </a:r>
            <a:r>
              <a:rPr lang="zh-CN" altLang="en-US" sz="1200" kern="1200" dirty="0">
                <a:solidFill>
                  <a:schemeClr val="tx1"/>
                </a:solidFill>
                <a:effectLst/>
                <a:latin typeface="+mn-lt"/>
              </a:rPr>
              <a:t>项：</a:t>
            </a:r>
            <a:r>
              <a:rPr lang="en-US" altLang="zh-CN" sz="1200" kern="1200" dirty="0">
                <a:solidFill>
                  <a:schemeClr val="tx1"/>
                </a:solidFill>
                <a:effectLst/>
                <a:latin typeface="+mn-lt"/>
              </a:rPr>
              <a:t>“</a:t>
            </a:r>
            <a:r>
              <a:rPr lang="zh-CN" altLang="en-US" sz="1200" kern="1200" dirty="0">
                <a:solidFill>
                  <a:schemeClr val="tx1"/>
                </a:solidFill>
                <a:effectLst/>
                <a:latin typeface="+mn-lt"/>
              </a:rPr>
              <a:t>阀门</a:t>
            </a:r>
            <a:r>
              <a:rPr lang="en-US" altLang="zh-CN" sz="1200" kern="1200" dirty="0">
                <a:solidFill>
                  <a:schemeClr val="tx1"/>
                </a:solidFill>
                <a:effectLst/>
                <a:latin typeface="+mn-lt"/>
              </a:rPr>
              <a:t>”</a:t>
            </a:r>
            <a:r>
              <a:rPr lang="zh-CN" altLang="en-US" sz="1200" kern="1200" dirty="0">
                <a:solidFill>
                  <a:schemeClr val="tx1"/>
                </a:solidFill>
                <a:effectLst/>
                <a:latin typeface="+mn-lt"/>
              </a:rPr>
              <a:t>是</a:t>
            </a:r>
            <a:r>
              <a:rPr lang="en-US" altLang="zh-CN" sz="1200" kern="1200" dirty="0">
                <a:solidFill>
                  <a:schemeClr val="tx1"/>
                </a:solidFill>
                <a:effectLst/>
                <a:latin typeface="+mn-lt"/>
              </a:rPr>
              <a:t>“</a:t>
            </a:r>
            <a:r>
              <a:rPr lang="zh-CN" altLang="en-US" sz="1200" kern="1200" dirty="0">
                <a:solidFill>
                  <a:schemeClr val="tx1"/>
                </a:solidFill>
                <a:effectLst/>
                <a:latin typeface="+mn-lt"/>
              </a:rPr>
              <a:t>水库</a:t>
            </a:r>
            <a:r>
              <a:rPr lang="en-US" altLang="zh-CN" sz="1200" kern="1200" dirty="0">
                <a:solidFill>
                  <a:schemeClr val="tx1"/>
                </a:solidFill>
                <a:effectLst/>
                <a:latin typeface="+mn-lt"/>
              </a:rPr>
              <a:t>”</a:t>
            </a:r>
            <a:r>
              <a:rPr lang="zh-CN" altLang="en-US" sz="1200" kern="1200" dirty="0">
                <a:solidFill>
                  <a:schemeClr val="tx1"/>
                </a:solidFill>
                <a:effectLst/>
                <a:latin typeface="+mn-lt"/>
              </a:rPr>
              <a:t>的关键控制部件，二者属于包容关系中的组成关系；各类阀门（如闸阀、蝶阀等）的核心功能是控制</a:t>
            </a:r>
            <a:r>
              <a:rPr lang="en-US" altLang="zh-CN" sz="1200" kern="1200" dirty="0">
                <a:solidFill>
                  <a:schemeClr val="tx1"/>
                </a:solidFill>
                <a:effectLst/>
                <a:latin typeface="+mn-lt"/>
              </a:rPr>
              <a:t>“</a:t>
            </a:r>
            <a:r>
              <a:rPr lang="zh-CN" altLang="en-US" sz="1200" kern="1200" dirty="0">
                <a:solidFill>
                  <a:schemeClr val="tx1"/>
                </a:solidFill>
                <a:effectLst/>
                <a:latin typeface="+mn-lt"/>
              </a:rPr>
              <a:t>水流</a:t>
            </a:r>
            <a:r>
              <a:rPr lang="en-US" altLang="zh-CN" sz="1200" kern="1200" dirty="0">
                <a:solidFill>
                  <a:schemeClr val="tx1"/>
                </a:solidFill>
                <a:effectLst/>
                <a:latin typeface="+mn-lt"/>
              </a:rPr>
              <a:t>”</a:t>
            </a:r>
            <a:r>
              <a:rPr lang="zh-CN" altLang="en-US" sz="1200" kern="1200" dirty="0">
                <a:solidFill>
                  <a:schemeClr val="tx1"/>
                </a:solidFill>
                <a:effectLst/>
                <a:latin typeface="+mn-lt"/>
              </a:rPr>
              <a:t>的截流、调节与排放，以此保障水库的蓄水、输水功能，二者属于部件与其直接控制对象的对应关系，与题干逻辑关系完全一致，当选。</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D</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是该模块的重点难点题型，</a:t>
            </a:r>
            <a:r>
              <a:rPr lang="en-US" altLang="zh-CN" sz="1200" kern="1200" dirty="0">
                <a:solidFill>
                  <a:schemeClr val="tx1"/>
                </a:solidFill>
                <a:effectLst/>
                <a:latin typeface="+mn-lt"/>
                <a:sym typeface="+mn-ea"/>
              </a:rPr>
              <a:t>2025 </a:t>
            </a:r>
            <a:r>
              <a:rPr lang="zh-CN" altLang="en-US" sz="1200" kern="1200" dirty="0">
                <a:solidFill>
                  <a:schemeClr val="tx1"/>
                </a:solidFill>
                <a:effectLst/>
                <a:latin typeface="+mn-lt"/>
                <a:sym typeface="+mn-ea"/>
              </a:rPr>
              <a:t>年以论证类题目为主，占</a:t>
            </a:r>
            <a:r>
              <a:rPr lang="en-US" altLang="zh-CN" sz="1200" kern="1200" dirty="0">
                <a:solidFill>
                  <a:schemeClr val="tx1"/>
                </a:solidFill>
                <a:effectLst/>
                <a:latin typeface="+mn-lt"/>
                <a:sym typeface="+mn-ea"/>
              </a:rPr>
              <a:t> 6 </a:t>
            </a:r>
            <a:r>
              <a:rPr lang="zh-CN" altLang="en-US" sz="1200" kern="1200" dirty="0">
                <a:solidFill>
                  <a:schemeClr val="tx1"/>
                </a:solidFill>
                <a:effectLst/>
                <a:latin typeface="+mn-lt"/>
                <a:sym typeface="+mn-ea"/>
              </a:rPr>
              <a:t>道题，其余为翻译推理</a:t>
            </a:r>
            <a:r>
              <a:rPr lang="en-US" altLang="zh-CN" sz="1200" kern="1200" dirty="0">
                <a:solidFill>
                  <a:schemeClr val="tx1"/>
                </a:solidFill>
                <a:effectLst/>
                <a:latin typeface="+mn-lt"/>
                <a:sym typeface="+mn-ea"/>
              </a:rPr>
              <a:t> 1 </a:t>
            </a:r>
            <a:r>
              <a:rPr lang="zh-CN" altLang="en-US" sz="1200" kern="1200" dirty="0">
                <a:solidFill>
                  <a:schemeClr val="tx1"/>
                </a:solidFill>
                <a:effectLst/>
                <a:latin typeface="+mn-lt"/>
                <a:sym typeface="+mn-ea"/>
              </a:rPr>
              <a:t>道、真假推理</a:t>
            </a:r>
            <a:r>
              <a:rPr lang="en-US" altLang="zh-CN" sz="1200" kern="1200" dirty="0">
                <a:solidFill>
                  <a:schemeClr val="tx1"/>
                </a:solidFill>
                <a:effectLst/>
                <a:latin typeface="+mn-lt"/>
                <a:sym typeface="+mn-ea"/>
              </a:rPr>
              <a:t> 2 </a:t>
            </a:r>
            <a:r>
              <a:rPr lang="zh-CN" altLang="en-US" sz="1200" kern="1200" dirty="0">
                <a:solidFill>
                  <a:schemeClr val="tx1"/>
                </a:solidFill>
                <a:effectLst/>
                <a:latin typeface="+mn-lt"/>
                <a:sym typeface="+mn-ea"/>
              </a:rPr>
              <a:t>道、归纳推理</a:t>
            </a:r>
            <a:r>
              <a:rPr lang="en-US" altLang="zh-CN" sz="1200" kern="1200" dirty="0">
                <a:solidFill>
                  <a:schemeClr val="tx1"/>
                </a:solidFill>
                <a:effectLst/>
                <a:latin typeface="+mn-lt"/>
                <a:sym typeface="+mn-ea"/>
              </a:rPr>
              <a:t> 1 </a:t>
            </a:r>
            <a:r>
              <a:rPr lang="zh-CN" altLang="en-US" sz="1200" kern="1200" dirty="0">
                <a:solidFill>
                  <a:schemeClr val="tx1"/>
                </a:solidFill>
                <a:effectLst/>
                <a:latin typeface="+mn-lt"/>
                <a:sym typeface="+mn-ea"/>
              </a:rPr>
              <a:t>道。论证类题目常结合环保政策效果、乡村教育投入等热点话题命题，重点考查考生对论点、论据的分析以及削弱、加强等逻辑思维能力；翻译推理、真假推理则侧重对逻辑规则的应用，题目难度相对可控。</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rPr>
              <a:t>22.</a:t>
            </a:r>
            <a:r>
              <a:rPr lang="zh-CN" altLang="en-US" sz="1200" kern="1200" dirty="0">
                <a:solidFill>
                  <a:schemeClr val="tx1"/>
                </a:solidFill>
                <a:effectLst/>
                <a:latin typeface="+mn-lt"/>
              </a:rPr>
              <a:t>答案：</a:t>
            </a:r>
            <a:r>
              <a:rPr lang="en-US" altLang="zh-CN" sz="1200" kern="1200" dirty="0">
                <a:solidFill>
                  <a:schemeClr val="tx1"/>
                </a:solidFill>
                <a:effectLst/>
                <a:latin typeface="+mn-lt"/>
              </a:rPr>
              <a:t>C</a:t>
            </a:r>
            <a:endParaRPr lang="en-US" altLang="zh-CN" sz="1200" kern="1200" dirty="0">
              <a:solidFill>
                <a:schemeClr val="tx1"/>
              </a:solidFill>
              <a:effectLst/>
              <a:latin typeface="+mn-lt"/>
            </a:endParaRPr>
          </a:p>
          <a:p>
            <a:r>
              <a:rPr lang="zh-CN" altLang="en-US" sz="1200" kern="1200" dirty="0">
                <a:solidFill>
                  <a:schemeClr val="tx1"/>
                </a:solidFill>
                <a:effectLst/>
                <a:latin typeface="+mn-lt"/>
              </a:rPr>
              <a:t>解析：根据题干关联词</a:t>
            </a:r>
            <a:r>
              <a:rPr lang="en-US" altLang="zh-CN" sz="1200" kern="1200" dirty="0">
                <a:solidFill>
                  <a:schemeClr val="tx1"/>
                </a:solidFill>
                <a:effectLst/>
                <a:latin typeface="+mn-lt"/>
              </a:rPr>
              <a:t>“</a:t>
            </a:r>
            <a:r>
              <a:rPr lang="zh-CN" altLang="en-US" sz="1200" kern="1200" dirty="0">
                <a:solidFill>
                  <a:schemeClr val="tx1"/>
                </a:solidFill>
                <a:effectLst/>
                <a:latin typeface="+mn-lt"/>
              </a:rPr>
              <a:t>要么</a:t>
            </a:r>
            <a:r>
              <a:rPr lang="en-US" altLang="zh-CN" sz="1200" kern="1200" dirty="0">
                <a:solidFill>
                  <a:schemeClr val="tx1"/>
                </a:solidFill>
                <a:effectLst/>
                <a:latin typeface="+mn-lt"/>
              </a:rPr>
              <a:t>……</a:t>
            </a:r>
            <a:r>
              <a:rPr lang="zh-CN" altLang="en-US" sz="1200" kern="1200" dirty="0">
                <a:solidFill>
                  <a:schemeClr val="tx1"/>
                </a:solidFill>
                <a:effectLst/>
                <a:latin typeface="+mn-lt"/>
              </a:rPr>
              <a:t>要么</a:t>
            </a:r>
            <a:r>
              <a:rPr lang="en-US" altLang="zh-CN" sz="1200" kern="1200" dirty="0">
                <a:solidFill>
                  <a:schemeClr val="tx1"/>
                </a:solidFill>
                <a:effectLst/>
                <a:latin typeface="+mn-lt"/>
              </a:rPr>
              <a:t>”</a:t>
            </a:r>
            <a:r>
              <a:rPr lang="zh-CN" altLang="en-US" sz="1200" kern="1200" dirty="0">
                <a:solidFill>
                  <a:schemeClr val="tx1"/>
                </a:solidFill>
                <a:effectLst/>
                <a:latin typeface="+mn-lt"/>
              </a:rPr>
              <a:t>，确定为翻译推理。</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①</a:t>
            </a:r>
            <a:r>
              <a:rPr lang="zh-CN" altLang="en-US" sz="1200" kern="1200" dirty="0">
                <a:solidFill>
                  <a:schemeClr val="tx1"/>
                </a:solidFill>
                <a:effectLst/>
                <a:latin typeface="+mn-lt"/>
              </a:rPr>
              <a:t>石油</a:t>
            </a:r>
            <a:r>
              <a:rPr lang="en-US" altLang="en-US" sz="1200" kern="1200" dirty="0">
                <a:solidFill>
                  <a:schemeClr val="tx1"/>
                </a:solidFill>
                <a:effectLst/>
                <a:latin typeface="+mn-lt"/>
              </a:rPr>
              <a:t>→</a:t>
            </a:r>
            <a:r>
              <a:rPr lang="zh-CN" altLang="en-US" sz="1200" kern="1200" dirty="0">
                <a:solidFill>
                  <a:schemeClr val="tx1"/>
                </a:solidFill>
                <a:effectLst/>
                <a:latin typeface="+mn-lt"/>
              </a:rPr>
              <a:t>燃烧产生二氧化硫</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②</a:t>
            </a:r>
            <a:r>
              <a:rPr lang="zh-CN" altLang="en-US" sz="1200" kern="1200" dirty="0">
                <a:solidFill>
                  <a:schemeClr val="tx1"/>
                </a:solidFill>
                <a:effectLst/>
                <a:latin typeface="+mn-lt"/>
              </a:rPr>
              <a:t>煤油</a:t>
            </a:r>
            <a:r>
              <a:rPr lang="en-US" altLang="en-US" sz="1200" kern="1200" dirty="0">
                <a:solidFill>
                  <a:schemeClr val="tx1"/>
                </a:solidFill>
                <a:effectLst/>
                <a:latin typeface="+mn-lt"/>
              </a:rPr>
              <a:t>→</a:t>
            </a:r>
            <a:r>
              <a:rPr lang="zh-CN" altLang="en-US" sz="1200" kern="1200" dirty="0">
                <a:solidFill>
                  <a:schemeClr val="tx1"/>
                </a:solidFill>
                <a:effectLst/>
                <a:latin typeface="+mn-lt"/>
              </a:rPr>
              <a:t>燃烧产生二氧化硫</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③</a:t>
            </a:r>
            <a:r>
              <a:rPr lang="zh-CN" altLang="en-US" sz="1200" kern="1200" dirty="0">
                <a:solidFill>
                  <a:schemeClr val="tx1"/>
                </a:solidFill>
                <a:effectLst/>
                <a:latin typeface="+mn-lt"/>
              </a:rPr>
              <a:t>纯酒精</a:t>
            </a:r>
            <a:r>
              <a:rPr lang="en-US" altLang="en-US" sz="1200" kern="1200" dirty="0">
                <a:solidFill>
                  <a:schemeClr val="tx1"/>
                </a:solidFill>
                <a:effectLst/>
                <a:latin typeface="+mn-lt"/>
              </a:rPr>
              <a:t>→</a:t>
            </a:r>
            <a:r>
              <a:rPr lang="zh-CN" altLang="en-US" sz="1200" kern="1200" dirty="0">
                <a:solidFill>
                  <a:schemeClr val="tx1"/>
                </a:solidFill>
                <a:effectLst/>
                <a:latin typeface="+mn-lt"/>
              </a:rPr>
              <a:t>燃烧不产生二氧化硫</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Ⅰ</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③</a:t>
            </a:r>
            <a:r>
              <a:rPr lang="zh-CN" altLang="en-US" sz="1200" kern="1200" dirty="0">
                <a:solidFill>
                  <a:schemeClr val="tx1"/>
                </a:solidFill>
                <a:effectLst/>
                <a:latin typeface="+mn-lt"/>
              </a:rPr>
              <a:t>的肯后推理，根据肯后不确定，不一定是纯酒精，排除。</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Ⅱ</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③</a:t>
            </a:r>
            <a:r>
              <a:rPr lang="zh-CN" altLang="en-US" sz="1200" kern="1200" dirty="0">
                <a:solidFill>
                  <a:schemeClr val="tx1"/>
                </a:solidFill>
                <a:effectLst/>
                <a:latin typeface="+mn-lt"/>
              </a:rPr>
              <a:t>的肯后推理，无法确定是不是纯酒精；未知液体燃烧不产生二氧化硫是对</a:t>
            </a:r>
            <a:r>
              <a:rPr lang="en-US" altLang="en-US" sz="1200" kern="1200" dirty="0">
                <a:solidFill>
                  <a:schemeClr val="tx1"/>
                </a:solidFill>
                <a:effectLst/>
                <a:latin typeface="+mn-lt"/>
              </a:rPr>
              <a:t>②</a:t>
            </a:r>
            <a:r>
              <a:rPr lang="zh-CN" altLang="en-US" sz="1200" kern="1200" dirty="0">
                <a:solidFill>
                  <a:schemeClr val="tx1"/>
                </a:solidFill>
                <a:effectLst/>
                <a:latin typeface="+mn-lt"/>
              </a:rPr>
              <a:t>的否后推理，根据否后必否前，可以确定它不是煤油；未知液体燃烧不产生二氧化硫是对</a:t>
            </a:r>
            <a:r>
              <a:rPr lang="en-US" altLang="en-US" sz="1200" kern="1200" dirty="0">
                <a:solidFill>
                  <a:schemeClr val="tx1"/>
                </a:solidFill>
                <a:effectLst/>
                <a:latin typeface="+mn-lt"/>
              </a:rPr>
              <a:t>①</a:t>
            </a:r>
            <a:r>
              <a:rPr lang="zh-CN" altLang="en-US" sz="1200" kern="1200" dirty="0">
                <a:solidFill>
                  <a:schemeClr val="tx1"/>
                </a:solidFill>
                <a:effectLst/>
                <a:latin typeface="+mn-lt"/>
              </a:rPr>
              <a:t>的否后推理，根据否后必否前，可以确定它不是石油，所以无法推出</a:t>
            </a:r>
            <a:r>
              <a:rPr lang="en-US" altLang="en-US" sz="1200" kern="1200" dirty="0">
                <a:solidFill>
                  <a:schemeClr val="tx1"/>
                </a:solidFill>
                <a:effectLst/>
                <a:latin typeface="+mn-lt"/>
              </a:rPr>
              <a:t>Ⅱ</a:t>
            </a:r>
            <a:r>
              <a:rPr lang="zh-CN" altLang="en-US" sz="1200" kern="1200" dirty="0">
                <a:solidFill>
                  <a:schemeClr val="tx1"/>
                </a:solidFill>
                <a:effectLst/>
                <a:latin typeface="+mn-lt"/>
              </a:rPr>
              <a:t>，排除。</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Ⅲ</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①</a:t>
            </a:r>
            <a:r>
              <a:rPr lang="zh-CN" altLang="en-US" sz="1200" kern="1200" dirty="0">
                <a:solidFill>
                  <a:schemeClr val="tx1"/>
                </a:solidFill>
                <a:effectLst/>
                <a:latin typeface="+mn-lt"/>
              </a:rPr>
              <a:t>的否后推理，根据否后必否前，可以确定它不是石油，可以推出。</a:t>
            </a:r>
            <a:endParaRPr lang="zh-CN" altLang="en-US" sz="1200" kern="1200" dirty="0">
              <a:solidFill>
                <a:schemeClr val="tx1"/>
              </a:solidFill>
              <a:effectLst/>
              <a:latin typeface="+mn-lt"/>
            </a:endParaRPr>
          </a:p>
          <a:p>
            <a:r>
              <a:rPr lang="en-US" altLang="en-US" sz="1200" kern="1200" dirty="0">
                <a:solidFill>
                  <a:schemeClr val="tx1"/>
                </a:solidFill>
                <a:effectLst/>
                <a:latin typeface="+mn-lt"/>
              </a:rPr>
              <a:t>Ⅳ</a:t>
            </a:r>
            <a:r>
              <a:rPr lang="en-US" altLang="zh-CN" sz="1200" kern="1200" dirty="0">
                <a:solidFill>
                  <a:schemeClr val="tx1"/>
                </a:solidFill>
                <a:effectLst/>
                <a:latin typeface="+mn-lt"/>
              </a:rPr>
              <a:t>.</a:t>
            </a:r>
            <a:r>
              <a:rPr lang="zh-CN" altLang="en-US" sz="1200" kern="1200" dirty="0">
                <a:solidFill>
                  <a:schemeClr val="tx1"/>
                </a:solidFill>
                <a:effectLst/>
                <a:latin typeface="+mn-lt"/>
              </a:rPr>
              <a:t>未知液体燃烧不产生二氧化硫是对</a:t>
            </a:r>
            <a:r>
              <a:rPr lang="en-US" altLang="en-US" sz="1200" kern="1200" dirty="0">
                <a:solidFill>
                  <a:schemeClr val="tx1"/>
                </a:solidFill>
                <a:effectLst/>
                <a:latin typeface="+mn-lt"/>
              </a:rPr>
              <a:t>②</a:t>
            </a:r>
            <a:r>
              <a:rPr lang="zh-CN" altLang="en-US" sz="1200" kern="1200" dirty="0">
                <a:solidFill>
                  <a:schemeClr val="tx1"/>
                </a:solidFill>
                <a:effectLst/>
                <a:latin typeface="+mn-lt"/>
              </a:rPr>
              <a:t>的否后推理，根据否后必否前，可以确定它不是煤油，可以推出。</a:t>
            </a:r>
            <a:endParaRPr lang="zh-CN" altLang="en-US" sz="1200" kern="1200" dirty="0">
              <a:solidFill>
                <a:schemeClr val="tx1"/>
              </a:solidFill>
              <a:effectLst/>
              <a:latin typeface="+mn-lt"/>
            </a:endParaRPr>
          </a:p>
          <a:p>
            <a:r>
              <a:rPr lang="zh-CN" altLang="en-US" sz="1200" kern="1200" dirty="0">
                <a:solidFill>
                  <a:schemeClr val="tx1"/>
                </a:solidFill>
                <a:effectLst/>
                <a:latin typeface="+mn-lt"/>
              </a:rPr>
              <a:t>故正确答案为</a:t>
            </a:r>
            <a:r>
              <a:rPr lang="en-US" altLang="zh-CN" sz="1200" kern="1200" dirty="0">
                <a:solidFill>
                  <a:schemeClr val="tx1"/>
                </a:solidFill>
                <a:effectLst/>
                <a:latin typeface="+mn-lt"/>
              </a:rPr>
              <a:t>C</a:t>
            </a:r>
            <a:r>
              <a:rPr lang="zh-CN" altLang="en-US" sz="1200" kern="1200" dirty="0">
                <a:solidFill>
                  <a:schemeClr val="tx1"/>
                </a:solidFill>
                <a:effectLst/>
                <a:latin typeface="+mn-lt"/>
              </a:rPr>
              <a:t>。</a:t>
            </a:r>
            <a:endParaRPr lang="zh-CN" altLang="en-US" sz="1200" kern="1200" dirty="0">
              <a:solidFill>
                <a:schemeClr val="tx1"/>
              </a:solidFill>
              <a:effectLst/>
              <a:latin typeface="+mn-lt"/>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46.xml"/><Relationship Id="rId6" Type="http://schemas.openxmlformats.org/officeDocument/2006/relationships/tags" Target="../tags/tag45.xml"/><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0"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陆羽老师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5" Type="http://schemas.openxmlformats.org/officeDocument/2006/relationships/theme" Target="../theme/theme2.xml"/><Relationship Id="rId14" Type="http://schemas.openxmlformats.org/officeDocument/2006/relationships/tags" Target="../tags/tag30.xml"/><Relationship Id="rId13" Type="http://schemas.openxmlformats.org/officeDocument/2006/relationships/tags" Target="../tags/tag2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 Type="http://schemas.openxmlformats.org/officeDocument/2006/relationships/slideLayout" Target="../slideLayouts/slideLayout12.xml"/><Relationship Id="rId15" Type="http://schemas.openxmlformats.org/officeDocument/2006/relationships/theme" Target="../theme/theme3.xml"/><Relationship Id="rId14" Type="http://schemas.openxmlformats.org/officeDocument/2006/relationships/tags" Target="../tags/tag60.xml"/><Relationship Id="rId13" Type="http://schemas.openxmlformats.org/officeDocument/2006/relationships/tags" Target="../tags/tag59.xml"/><Relationship Id="rId12" Type="http://schemas.openxmlformats.org/officeDocument/2006/relationships/tags" Target="../tags/tag58.xml"/><Relationship Id="rId11" Type="http://schemas.openxmlformats.org/officeDocument/2006/relationships/tags" Target="../tags/tag57.xml"/><Relationship Id="rId10" Type="http://schemas.openxmlformats.org/officeDocument/2006/relationships/tags" Target="../tags/tag56.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9"/>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0"/>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1"/>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13"/>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4"/>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9"/>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0"/>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1"/>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2"/>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13"/>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14"/>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4.xml"/><Relationship Id="rId8" Type="http://schemas.openxmlformats.org/officeDocument/2006/relationships/tags" Target="../tags/tag68.xml"/><Relationship Id="rId7" Type="http://schemas.openxmlformats.org/officeDocument/2006/relationships/tags" Target="../tags/tag67.xml"/><Relationship Id="rId6" Type="http://schemas.openxmlformats.org/officeDocument/2006/relationships/tags" Target="../tags/tag66.xml"/><Relationship Id="rId5" Type="http://schemas.openxmlformats.org/officeDocument/2006/relationships/tags" Target="../tags/tag65.xml"/><Relationship Id="rId4" Type="http://schemas.openxmlformats.org/officeDocument/2006/relationships/tags" Target="../tags/tag64.xml"/><Relationship Id="rId3" Type="http://schemas.openxmlformats.org/officeDocument/2006/relationships/tags" Target="../tags/tag63.xml"/><Relationship Id="rId2" Type="http://schemas.openxmlformats.org/officeDocument/2006/relationships/tags" Target="../tags/tag62.xml"/><Relationship Id="rId1" Type="http://schemas.openxmlformats.org/officeDocument/2006/relationships/tags" Target="../tags/tag6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70.xml"/></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4.xml"/><Relationship Id="rId4" Type="http://schemas.openxmlformats.org/officeDocument/2006/relationships/image" Target="../media/image4.png"/><Relationship Id="rId3" Type="http://schemas.openxmlformats.org/officeDocument/2006/relationships/tags" Target="../tags/tag72.xml"/><Relationship Id="rId2" Type="http://schemas.openxmlformats.org/officeDocument/2006/relationships/image" Target="../media/image3.png"/><Relationship Id="rId1" Type="http://schemas.openxmlformats.org/officeDocument/2006/relationships/tags" Target="../tags/tag71.xml"/></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4.xml"/><Relationship Id="rId4" Type="http://schemas.openxmlformats.org/officeDocument/2006/relationships/tags" Target="../tags/tag74.xml"/><Relationship Id="rId3" Type="http://schemas.openxmlformats.org/officeDocument/2006/relationships/image" Target="../media/image5.png"/><Relationship Id="rId2" Type="http://schemas.openxmlformats.org/officeDocument/2006/relationships/tags" Target="../tags/tag73.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4.xml"/><Relationship Id="rId4" Type="http://schemas.openxmlformats.org/officeDocument/2006/relationships/tags" Target="../tags/tag76.xml"/><Relationship Id="rId3" Type="http://schemas.openxmlformats.org/officeDocument/2006/relationships/image" Target="../media/image6.png"/><Relationship Id="rId2" Type="http://schemas.openxmlformats.org/officeDocument/2006/relationships/tags" Target="../tags/tag75.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7.png"/><Relationship Id="rId1" Type="http://schemas.openxmlformats.org/officeDocument/2006/relationships/tags" Target="../tags/tag77.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4.xml"/><Relationship Id="rId2" Type="http://schemas.openxmlformats.org/officeDocument/2006/relationships/tags" Target="../tags/tag79.xml"/><Relationship Id="rId1" Type="http://schemas.openxmlformats.org/officeDocument/2006/relationships/tags" Target="../tags/tag7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8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tags" Target="../tags/tag81.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8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8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4.xml"/><Relationship Id="rId1" Type="http://schemas.openxmlformats.org/officeDocument/2006/relationships/tags" Target="../tags/tag8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1270"/>
            <a:ext cx="12262485" cy="685800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2027</a:t>
            </a:r>
            <a:endParaRPr kumimoji="1" lang="zh-CN" sz="4400" b="1" dirty="0">
              <a:solidFill>
                <a:srgbClr val="DC5037"/>
              </a:solidFill>
              <a:latin typeface="微软雅黑" panose="020B0503020204020204" charset="-122"/>
              <a:ea typeface="微软雅黑" panose="020B0503020204020204" charset="-122"/>
              <a:cs typeface="微软雅黑" panose="020B0503020204020204" charset="-122"/>
            </a:endParaRPr>
          </a:p>
          <a:p>
            <a:pPr algn="ctr"/>
            <a:r>
              <a:rPr kumimoji="1" lang="zh-CN" sz="4400" b="1" dirty="0">
                <a:solidFill>
                  <a:srgbClr val="DC5037"/>
                </a:solidFill>
                <a:latin typeface="微软雅黑" panose="020B0503020204020204" charset="-122"/>
                <a:ea typeface="微软雅黑" panose="020B0503020204020204" charset="-122"/>
                <a:cs typeface="微软雅黑" panose="020B0503020204020204" charset="-122"/>
                <a:sym typeface="+mn-ea"/>
              </a:rPr>
              <a:t>北京考情分析</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主讲老师：陆羽老师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custDataLst>
              <p:tags r:id="rId1"/>
            </p:custDataLst>
          </p:nvPr>
        </p:nvSpPr>
        <p:spPr>
          <a:xfrm>
            <a:off x="5810885" y="1572895"/>
            <a:ext cx="285115" cy="4047490"/>
          </a:xfrm>
          <a:custGeom>
            <a:avLst/>
            <a:gdLst/>
            <a:ahLst/>
            <a:cxnLst>
              <a:cxn ang="3">
                <a:pos x="hc" y="t"/>
              </a:cxn>
              <a:cxn ang="cd2">
                <a:pos x="l" y="vc"/>
              </a:cxn>
              <a:cxn ang="cd4">
                <a:pos x="hc" y="b"/>
              </a:cxn>
              <a:cxn ang="0">
                <a:pos x="r" y="vc"/>
              </a:cxn>
            </a:cxnLst>
            <a:rect l="l" t="t" r="r" b="b"/>
            <a:pathLst>
              <a:path w="449" h="6560">
                <a:moveTo>
                  <a:pt x="0" y="0"/>
                </a:moveTo>
                <a:lnTo>
                  <a:pt x="449" y="3280"/>
                </a:lnTo>
                <a:lnTo>
                  <a:pt x="0" y="6560"/>
                </a:lnTo>
                <a:lnTo>
                  <a:pt x="0" y="0"/>
                </a:lnTo>
                <a:close/>
              </a:path>
            </a:pathLst>
          </a:custGeom>
          <a:gradFill>
            <a:gsLst>
              <a:gs pos="0">
                <a:schemeClr val="accent1">
                  <a:alpha val="20000"/>
                </a:schemeClr>
              </a:gs>
              <a:gs pos="100000">
                <a:schemeClr val="accent1">
                  <a:lumMod val="40000"/>
                  <a:lumOff val="60000"/>
                  <a:alpha val="0"/>
                </a:schemeClr>
              </a:gs>
            </a:gsLst>
            <a:lin ang="0" scaled="0"/>
          </a:gradFill>
          <a:ln cap="rnd">
            <a:gradFill>
              <a:gsLst>
                <a:gs pos="0">
                  <a:schemeClr val="accent1">
                    <a:alpha val="20000"/>
                  </a:schemeClr>
                </a:gs>
                <a:gs pos="100000">
                  <a:schemeClr val="accent1">
                    <a:lumMod val="45000"/>
                    <a:lumOff val="55000"/>
                    <a:alpha val="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sp>
        <p:nvSpPr>
          <p:cNvPr id="4" name="梯形 3"/>
          <p:cNvSpPr/>
          <p:nvPr>
            <p:custDataLst>
              <p:tags r:id="rId2"/>
            </p:custDataLst>
          </p:nvPr>
        </p:nvSpPr>
        <p:spPr>
          <a:xfrm>
            <a:off x="405130" y="4850765"/>
            <a:ext cx="11381740" cy="1096645"/>
          </a:xfrm>
          <a:prstGeom prst="trapezoid">
            <a:avLst>
              <a:gd name="adj" fmla="val 53561"/>
            </a:avLst>
          </a:prstGeom>
          <a:gradFill>
            <a:gsLst>
              <a:gs pos="0">
                <a:schemeClr val="accent1">
                  <a:lumMod val="45000"/>
                  <a:lumOff val="55000"/>
                  <a:alpha val="0"/>
                </a:schemeClr>
              </a:gs>
              <a:gs pos="100000">
                <a:schemeClr val="accent1">
                  <a:alpha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标题 1"/>
          <p:cNvSpPr>
            <a:spLocks noGrp="1"/>
          </p:cNvSpPr>
          <p:nvPr>
            <p:ph type="title"/>
            <p:custDataLst>
              <p:tags r:id="rId3"/>
            </p:custDataLst>
          </p:nvPr>
        </p:nvSpPr>
        <p:spPr/>
        <p:txBody>
          <a:bodyPr/>
          <a:lstStyle/>
          <a:p>
            <a:pPr algn="ctr"/>
            <a:r>
              <a:rPr lang="zh-CN" altLang="en-US"/>
              <a:t>北京近</a:t>
            </a:r>
            <a:r>
              <a:rPr lang="en-US" altLang="zh-CN"/>
              <a:t>2</a:t>
            </a:r>
            <a:r>
              <a:rPr lang="zh-CN" altLang="en-US"/>
              <a:t>年行测题型题量分布</a:t>
            </a:r>
            <a:endParaRPr lang="zh-CN" altLang="en-US"/>
          </a:p>
        </p:txBody>
      </p:sp>
      <p:sp>
        <p:nvSpPr>
          <p:cNvPr id="6" name="矩形 5"/>
          <p:cNvSpPr/>
          <p:nvPr>
            <p:custDataLst>
              <p:tags r:id="rId4"/>
            </p:custDataLst>
          </p:nvPr>
        </p:nvSpPr>
        <p:spPr>
          <a:xfrm>
            <a:off x="405765" y="5947410"/>
            <a:ext cx="11381105" cy="368300"/>
          </a:xfrm>
          <a:prstGeom prst="rect">
            <a:avLst/>
          </a:prstGeom>
          <a:solidFill>
            <a:schemeClr val="accent1">
              <a:alpha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任意多边形 9"/>
          <p:cNvSpPr/>
          <p:nvPr>
            <p:custDataLst>
              <p:tags r:id="rId5"/>
            </p:custDataLst>
          </p:nvPr>
        </p:nvSpPr>
        <p:spPr>
          <a:xfrm flipH="1">
            <a:off x="6096000" y="1572895"/>
            <a:ext cx="285115" cy="4047490"/>
          </a:xfrm>
          <a:custGeom>
            <a:avLst/>
            <a:gdLst/>
            <a:ahLst/>
            <a:cxnLst>
              <a:cxn ang="3">
                <a:pos x="hc" y="t"/>
              </a:cxn>
              <a:cxn ang="cd2">
                <a:pos x="l" y="vc"/>
              </a:cxn>
              <a:cxn ang="cd4">
                <a:pos x="hc" y="b"/>
              </a:cxn>
              <a:cxn ang="0">
                <a:pos x="r" y="vc"/>
              </a:cxn>
            </a:cxnLst>
            <a:rect l="l" t="t" r="r" b="b"/>
            <a:pathLst>
              <a:path w="449" h="6560">
                <a:moveTo>
                  <a:pt x="0" y="0"/>
                </a:moveTo>
                <a:lnTo>
                  <a:pt x="449" y="3280"/>
                </a:lnTo>
                <a:lnTo>
                  <a:pt x="0" y="6560"/>
                </a:lnTo>
                <a:lnTo>
                  <a:pt x="0" y="0"/>
                </a:lnTo>
                <a:close/>
              </a:path>
            </a:pathLst>
          </a:custGeom>
          <a:gradFill>
            <a:gsLst>
              <a:gs pos="0">
                <a:schemeClr val="accent1">
                  <a:alpha val="20000"/>
                </a:schemeClr>
              </a:gs>
              <a:gs pos="100000">
                <a:schemeClr val="accent1">
                  <a:lumMod val="40000"/>
                  <a:lumOff val="60000"/>
                  <a:alpha val="0"/>
                </a:schemeClr>
              </a:gs>
            </a:gsLst>
            <a:lin ang="0" scaled="0"/>
          </a:gradFill>
          <a:ln cap="rnd">
            <a:gradFill>
              <a:gsLst>
                <a:gs pos="0">
                  <a:schemeClr val="accent1">
                    <a:alpha val="20000"/>
                  </a:schemeClr>
                </a:gs>
                <a:gs pos="100000">
                  <a:schemeClr val="accent1">
                    <a:lumMod val="45000"/>
                    <a:lumOff val="55000"/>
                    <a:alpha val="0"/>
                  </a:schemeClr>
                </a:gs>
              </a:gsLst>
              <a:lin ang="0" scaled="1"/>
            </a:gra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a:p>
        </p:txBody>
      </p:sp>
      <p:graphicFrame>
        <p:nvGraphicFramePr>
          <p:cNvPr id="7" name="表格 9"/>
          <p:cNvGraphicFramePr/>
          <p:nvPr>
            <p:custDataLst>
              <p:tags r:id="rId6"/>
            </p:custDataLst>
          </p:nvPr>
        </p:nvGraphicFramePr>
        <p:xfrm>
          <a:off x="695960" y="1525270"/>
          <a:ext cx="5114925" cy="4164965"/>
        </p:xfrm>
        <a:graphic>
          <a:graphicData uri="http://schemas.openxmlformats.org/drawingml/2006/table">
            <a:tbl>
              <a:tblPr firstRow="1" bandRow="1">
                <a:tableStyleId>{5C22544A-7EE6-4342-B048-85BDC9FD1C3A}</a:tableStyleId>
              </a:tblPr>
              <a:tblGrid>
                <a:gridCol w="3090545"/>
                <a:gridCol w="2024380"/>
              </a:tblGrid>
              <a:tr h="548640">
                <a:tc gridSpan="2">
                  <a:txBody>
                    <a:bodyPr/>
                    <a:p>
                      <a:pPr algn="ctr">
                        <a:lnSpc>
                          <a:spcPct val="120000"/>
                        </a:lnSpc>
                        <a:spcBef>
                          <a:spcPts val="0"/>
                        </a:spcBef>
                        <a:spcAft>
                          <a:spcPts val="0"/>
                        </a:spcAft>
                        <a:buNone/>
                      </a:pPr>
                      <a:r>
                        <a:rPr lang="zh-CN" altLang="en-US" sz="1800" b="1" spc="130">
                          <a:latin typeface="微软雅黑" panose="020B0503020204020204" charset="-122"/>
                          <a:ea typeface="微软雅黑" panose="020B0503020204020204" charset="-122"/>
                        </a:rPr>
                        <a:t>北京公务员考试</a:t>
                      </a:r>
                      <a:endParaRPr lang="zh-CN" altLang="en-US" sz="1800" b="1" spc="130">
                        <a:latin typeface="微软雅黑" panose="020B0503020204020204" charset="-122"/>
                        <a:ea typeface="微软雅黑" panose="020B0503020204020204" charset="-122"/>
                      </a:endParaRPr>
                    </a:p>
                  </a:txBody>
                  <a:tcPr marL="177800" marR="177800" marT="107950" marB="107950" anchor="ctr"/>
                </a:tc>
                <a:tc hMerge="1">
                  <a:tcPr/>
                </a:tc>
              </a:tr>
              <a:tr h="548640">
                <a:tc>
                  <a:txBody>
                    <a:bodyPr/>
                    <a:p>
                      <a:pPr algn="ctr">
                        <a:lnSpc>
                          <a:spcPct val="120000"/>
                        </a:lnSpc>
                        <a:spcBef>
                          <a:spcPts val="0"/>
                        </a:spcBef>
                        <a:spcAft>
                          <a:spcPts val="0"/>
                        </a:spcAft>
                        <a:buNone/>
                      </a:pPr>
                      <a:r>
                        <a:rPr lang="zh-CN" altLang="en-US" sz="1700" spc="130">
                          <a:latin typeface="微软雅黑" panose="020B0503020204020204" charset="-122"/>
                          <a:ea typeface="微软雅黑" panose="020B0503020204020204" charset="-122"/>
                        </a:rPr>
                        <a:t>政治理论</a:t>
                      </a:r>
                      <a:endParaRPr lang="zh-CN" altLang="en-US" sz="1700" spc="130">
                        <a:latin typeface="微软雅黑" panose="020B0503020204020204" charset="-122"/>
                        <a:ea typeface="微软雅黑" panose="020B0503020204020204" charset="-122"/>
                      </a:endParaRPr>
                    </a:p>
                  </a:txBody>
                  <a:tcPr marL="177800" marR="177800" marT="107950" marB="107950" anchor="ctr"/>
                </a:tc>
                <a:tc>
                  <a:txBody>
                    <a:bodyPr/>
                    <a:p>
                      <a:pPr algn="ctr">
                        <a:lnSpc>
                          <a:spcPct val="120000"/>
                        </a:lnSpc>
                        <a:spcBef>
                          <a:spcPts val="0"/>
                        </a:spcBef>
                        <a:spcAft>
                          <a:spcPts val="0"/>
                        </a:spcAft>
                        <a:buNone/>
                      </a:pPr>
                      <a:r>
                        <a:rPr lang="zh-CN" altLang="en-US" sz="1700" spc="130">
                          <a:latin typeface="微软雅黑" panose="020B0503020204020204" charset="-122"/>
                          <a:ea typeface="微软雅黑" panose="020B0503020204020204" charset="-122"/>
                        </a:rPr>
                        <a:t>15</a:t>
                      </a:r>
                      <a:endParaRPr lang="zh-CN" altLang="en-US" sz="1700" spc="130">
                        <a:latin typeface="微软雅黑" panose="020B0503020204020204" charset="-122"/>
                        <a:ea typeface="微软雅黑" panose="020B0503020204020204" charset="-122"/>
                      </a:endParaRPr>
                    </a:p>
                  </a:txBody>
                  <a:tcPr marL="177800" marR="177800" marT="107950" marB="107950" anchor="ctr"/>
                </a:tc>
              </a:tr>
              <a:tr h="510540">
                <a:tc>
                  <a:txBody>
                    <a:bodyPr/>
                    <a:p>
                      <a:pPr algn="ctr">
                        <a:lnSpc>
                          <a:spcPct val="120000"/>
                        </a:lnSpc>
                        <a:spcBef>
                          <a:spcPts val="0"/>
                        </a:spcBef>
                        <a:spcAft>
                          <a:spcPts val="0"/>
                        </a:spcAft>
                        <a:buNone/>
                      </a:pPr>
                      <a:r>
                        <a:rPr lang="zh-CN" altLang="en-US" sz="1600" b="0" spc="120">
                          <a:latin typeface="微软雅黑" panose="020B0503020204020204" charset="-122"/>
                          <a:ea typeface="微软雅黑" panose="020B0503020204020204" charset="-122"/>
                        </a:rPr>
                        <a:t>常识判断</a:t>
                      </a:r>
                      <a:endParaRPr lang="zh-CN" altLang="en-US" sz="1600" b="0" spc="120">
                        <a:latin typeface="微软雅黑" panose="020B0503020204020204" charset="-122"/>
                        <a:ea typeface="微软雅黑" panose="020B0503020204020204" charset="-122"/>
                      </a:endParaRPr>
                    </a:p>
                  </a:txBody>
                  <a:tcPr marL="177800" marR="177800" marT="107950" marB="107950" anchor="ctr"/>
                </a:tc>
                <a:tc>
                  <a:txBody>
                    <a:bodyPr/>
                    <a:p>
                      <a:pPr algn="ctr">
                        <a:lnSpc>
                          <a:spcPct val="120000"/>
                        </a:lnSpc>
                        <a:spcBef>
                          <a:spcPts val="0"/>
                        </a:spcBef>
                        <a:spcAft>
                          <a:spcPts val="0"/>
                        </a:spcAft>
                        <a:buNone/>
                      </a:pPr>
                      <a:r>
                        <a:rPr lang="en-US" altLang="zh-CN" sz="1600" b="0" spc="120">
                          <a:latin typeface="微软雅黑" panose="020B0503020204020204" charset="-122"/>
                          <a:ea typeface="微软雅黑" panose="020B0503020204020204" charset="-122"/>
                        </a:rPr>
                        <a:t>15</a:t>
                      </a:r>
                      <a:endParaRPr lang="en-US" altLang="zh-CN" sz="1600" b="0" spc="120">
                        <a:latin typeface="微软雅黑" panose="020B0503020204020204" charset="-122"/>
                        <a:ea typeface="微软雅黑" panose="020B0503020204020204" charset="-122"/>
                      </a:endParaRPr>
                    </a:p>
                  </a:txBody>
                  <a:tcPr marL="177800" marR="177800" marT="107950" marB="107950" anchor="ctr"/>
                </a:tc>
              </a:tr>
              <a:tr h="511810">
                <a:tc>
                  <a:txBody>
                    <a:bodyPr/>
                    <a:p>
                      <a:pPr algn="ctr">
                        <a:lnSpc>
                          <a:spcPct val="120000"/>
                        </a:lnSpc>
                        <a:spcBef>
                          <a:spcPts val="0"/>
                        </a:spcBef>
                        <a:spcAft>
                          <a:spcPts val="0"/>
                        </a:spcAft>
                        <a:buNone/>
                      </a:pPr>
                      <a:r>
                        <a:rPr lang="zh-CN" altLang="en-US" sz="1600" b="0" spc="120">
                          <a:latin typeface="微软雅黑" panose="020B0503020204020204" charset="-122"/>
                          <a:ea typeface="微软雅黑" panose="020B0503020204020204" charset="-122"/>
                        </a:rPr>
                        <a:t>言语理解</a:t>
                      </a:r>
                      <a:endParaRPr lang="zh-CN" altLang="en-US" sz="1600" b="0" spc="120">
                        <a:latin typeface="微软雅黑" panose="020B0503020204020204" charset="-122"/>
                        <a:ea typeface="微软雅黑" panose="020B0503020204020204" charset="-122"/>
                      </a:endParaRPr>
                    </a:p>
                  </a:txBody>
                  <a:tcPr marL="177800" marR="177800" marT="107950" marB="107950" anchor="ctr"/>
                </a:tc>
                <a:tc>
                  <a:txBody>
                    <a:bodyPr/>
                    <a:p>
                      <a:pPr algn="ctr">
                        <a:lnSpc>
                          <a:spcPct val="120000"/>
                        </a:lnSpc>
                        <a:spcBef>
                          <a:spcPts val="0"/>
                        </a:spcBef>
                        <a:spcAft>
                          <a:spcPts val="0"/>
                        </a:spcAft>
                        <a:buNone/>
                      </a:pPr>
                      <a:r>
                        <a:rPr lang="en-US" altLang="zh-CN" sz="1600" b="0" spc="120">
                          <a:latin typeface="微软雅黑" panose="020B0503020204020204" charset="-122"/>
                          <a:ea typeface="微软雅黑" panose="020B0503020204020204" charset="-122"/>
                        </a:rPr>
                        <a:t>20</a:t>
                      </a:r>
                      <a:endParaRPr lang="en-US" altLang="zh-CN" sz="1600" b="0" spc="120">
                        <a:latin typeface="微软雅黑" panose="020B0503020204020204" charset="-122"/>
                        <a:ea typeface="微软雅黑" panose="020B0503020204020204" charset="-122"/>
                      </a:endParaRPr>
                    </a:p>
                  </a:txBody>
                  <a:tcPr marL="177800" marR="177800" marT="107950" marB="107950" anchor="ctr"/>
                </a:tc>
              </a:tr>
              <a:tr h="511175">
                <a:tc>
                  <a:txBody>
                    <a:bodyPr/>
                    <a:p>
                      <a:pPr algn="ctr">
                        <a:lnSpc>
                          <a:spcPct val="120000"/>
                        </a:lnSpc>
                        <a:spcBef>
                          <a:spcPts val="0"/>
                        </a:spcBef>
                        <a:spcAft>
                          <a:spcPts val="0"/>
                        </a:spcAft>
                        <a:buNone/>
                      </a:pPr>
                      <a:r>
                        <a:rPr lang="zh-CN" altLang="en-US" sz="1600" b="0" spc="120">
                          <a:latin typeface="微软雅黑" panose="020B0503020204020204" charset="-122"/>
                          <a:ea typeface="微软雅黑" panose="020B0503020204020204" charset="-122"/>
                        </a:rPr>
                        <a:t>数量关系</a:t>
                      </a:r>
                      <a:endParaRPr lang="zh-CN" altLang="en-US" sz="1600" b="0" spc="120">
                        <a:latin typeface="微软雅黑" panose="020B0503020204020204" charset="-122"/>
                        <a:ea typeface="微软雅黑" panose="020B0503020204020204" charset="-122"/>
                      </a:endParaRPr>
                    </a:p>
                  </a:txBody>
                  <a:tcPr marL="177800" marR="177800" marT="107950" marB="107950" anchor="ctr"/>
                </a:tc>
                <a:tc>
                  <a:txBody>
                    <a:bodyPr/>
                    <a:p>
                      <a:pPr algn="ctr">
                        <a:lnSpc>
                          <a:spcPct val="120000"/>
                        </a:lnSpc>
                        <a:spcBef>
                          <a:spcPts val="0"/>
                        </a:spcBef>
                        <a:spcAft>
                          <a:spcPts val="0"/>
                        </a:spcAft>
                        <a:buNone/>
                      </a:pPr>
                      <a:r>
                        <a:rPr lang="en-US" altLang="zh-CN" sz="1600" b="0" spc="120">
                          <a:latin typeface="微软雅黑" panose="020B0503020204020204" charset="-122"/>
                          <a:ea typeface="微软雅黑" panose="020B0503020204020204" charset="-122"/>
                        </a:rPr>
                        <a:t>20</a:t>
                      </a:r>
                      <a:endParaRPr lang="en-US" altLang="zh-CN" sz="1600" b="0" spc="120">
                        <a:latin typeface="微软雅黑" panose="020B0503020204020204" charset="-122"/>
                        <a:ea typeface="微软雅黑" panose="020B0503020204020204" charset="-122"/>
                      </a:endParaRPr>
                    </a:p>
                  </a:txBody>
                  <a:tcPr marL="177800" marR="177800" marT="107950" marB="107950" anchor="ctr"/>
                </a:tc>
              </a:tr>
              <a:tr h="511810">
                <a:tc>
                  <a:txBody>
                    <a:bodyPr/>
                    <a:p>
                      <a:pPr algn="ctr">
                        <a:lnSpc>
                          <a:spcPct val="120000"/>
                        </a:lnSpc>
                        <a:spcBef>
                          <a:spcPts val="0"/>
                        </a:spcBef>
                        <a:spcAft>
                          <a:spcPts val="0"/>
                        </a:spcAft>
                        <a:buNone/>
                      </a:pPr>
                      <a:r>
                        <a:rPr lang="zh-CN" altLang="en-US" sz="1600" b="0" spc="120">
                          <a:latin typeface="微软雅黑" panose="020B0503020204020204" charset="-122"/>
                          <a:ea typeface="微软雅黑" panose="020B0503020204020204" charset="-122"/>
                        </a:rPr>
                        <a:t>判断推理</a:t>
                      </a:r>
                      <a:endParaRPr lang="zh-CN" altLang="en-US" sz="1600" b="0" spc="120">
                        <a:latin typeface="微软雅黑" panose="020B0503020204020204" charset="-122"/>
                        <a:ea typeface="微软雅黑" panose="020B0503020204020204" charset="-122"/>
                      </a:endParaRPr>
                    </a:p>
                  </a:txBody>
                  <a:tcPr marL="177800" marR="177800" marT="107950" marB="107950" anchor="ctr"/>
                </a:tc>
                <a:tc>
                  <a:txBody>
                    <a:bodyPr/>
                    <a:p>
                      <a:pPr algn="ctr">
                        <a:lnSpc>
                          <a:spcPct val="120000"/>
                        </a:lnSpc>
                        <a:spcBef>
                          <a:spcPts val="0"/>
                        </a:spcBef>
                        <a:spcAft>
                          <a:spcPts val="0"/>
                        </a:spcAft>
                        <a:buClrTx/>
                        <a:buSzTx/>
                        <a:buFontTx/>
                        <a:buNone/>
                      </a:pPr>
                      <a:r>
                        <a:rPr lang="en-US" altLang="zh-CN" sz="1600" b="0" spc="120">
                          <a:latin typeface="微软雅黑" panose="020B0503020204020204" charset="-122"/>
                          <a:ea typeface="微软雅黑" panose="020B0503020204020204" charset="-122"/>
                        </a:rPr>
                        <a:t>45</a:t>
                      </a:r>
                      <a:endParaRPr lang="en-US" altLang="zh-CN" sz="1600" b="0" spc="120">
                        <a:latin typeface="微软雅黑" panose="020B0503020204020204" charset="-122"/>
                        <a:ea typeface="微软雅黑" panose="020B0503020204020204" charset="-122"/>
                      </a:endParaRPr>
                    </a:p>
                  </a:txBody>
                  <a:tcPr marL="177800" marR="177800" marT="107950" marB="107950" anchor="ctr"/>
                </a:tc>
              </a:tr>
              <a:tr h="510540">
                <a:tc>
                  <a:txBody>
                    <a:bodyPr/>
                    <a:p>
                      <a:pPr algn="ctr">
                        <a:lnSpc>
                          <a:spcPct val="120000"/>
                        </a:lnSpc>
                        <a:spcBef>
                          <a:spcPts val="0"/>
                        </a:spcBef>
                        <a:spcAft>
                          <a:spcPts val="0"/>
                        </a:spcAft>
                        <a:buNone/>
                      </a:pPr>
                      <a:r>
                        <a:rPr lang="zh-CN" altLang="en-US" sz="1600" b="0" spc="120">
                          <a:latin typeface="微软雅黑" panose="020B0503020204020204" charset="-122"/>
                          <a:ea typeface="微软雅黑" panose="020B0503020204020204" charset="-122"/>
                        </a:rPr>
                        <a:t>资料分析</a:t>
                      </a:r>
                      <a:endParaRPr lang="zh-CN" altLang="en-US" sz="1600" b="0" spc="120">
                        <a:latin typeface="微软雅黑" panose="020B0503020204020204" charset="-122"/>
                        <a:ea typeface="微软雅黑" panose="020B0503020204020204" charset="-122"/>
                      </a:endParaRPr>
                    </a:p>
                  </a:txBody>
                  <a:tcPr marL="177800" marR="177800" marT="107950" marB="107950" anchor="ctr"/>
                </a:tc>
                <a:tc>
                  <a:txBody>
                    <a:bodyPr/>
                    <a:p>
                      <a:pPr algn="ctr">
                        <a:lnSpc>
                          <a:spcPct val="120000"/>
                        </a:lnSpc>
                        <a:spcBef>
                          <a:spcPts val="0"/>
                        </a:spcBef>
                        <a:spcAft>
                          <a:spcPts val="0"/>
                        </a:spcAft>
                        <a:buNone/>
                      </a:pPr>
                      <a:r>
                        <a:rPr lang="en-US" altLang="zh-CN" sz="1600" b="0" spc="120">
                          <a:latin typeface="微软雅黑" panose="020B0503020204020204" charset="-122"/>
                          <a:ea typeface="微软雅黑" panose="020B0503020204020204" charset="-122"/>
                        </a:rPr>
                        <a:t>20</a:t>
                      </a:r>
                      <a:endParaRPr lang="en-US" altLang="zh-CN" sz="1600" b="0" spc="120">
                        <a:latin typeface="微软雅黑" panose="020B0503020204020204" charset="-122"/>
                        <a:ea typeface="微软雅黑" panose="020B0503020204020204" charset="-122"/>
                      </a:endParaRPr>
                    </a:p>
                  </a:txBody>
                  <a:tcPr marL="177800" marR="177800" marT="107950" marB="107950" anchor="ctr"/>
                </a:tc>
              </a:tr>
              <a:tr h="511810">
                <a:tc>
                  <a:txBody>
                    <a:bodyPr/>
                    <a:p>
                      <a:pPr algn="ctr">
                        <a:lnSpc>
                          <a:spcPct val="120000"/>
                        </a:lnSpc>
                        <a:spcBef>
                          <a:spcPts val="0"/>
                        </a:spcBef>
                        <a:spcAft>
                          <a:spcPts val="0"/>
                        </a:spcAft>
                        <a:buNone/>
                      </a:pPr>
                      <a:r>
                        <a:rPr lang="zh-CN" altLang="en-US" sz="1600" b="0" spc="120">
                          <a:latin typeface="微软雅黑" panose="020B0503020204020204" charset="-122"/>
                          <a:ea typeface="微软雅黑" panose="020B0503020204020204" charset="-122"/>
                        </a:rPr>
                        <a:t>总计</a:t>
                      </a:r>
                      <a:endParaRPr lang="zh-CN" altLang="en-US" sz="1600" b="0" spc="120">
                        <a:latin typeface="微软雅黑" panose="020B0503020204020204" charset="-122"/>
                        <a:ea typeface="微软雅黑" panose="020B0503020204020204" charset="-122"/>
                      </a:endParaRPr>
                    </a:p>
                  </a:txBody>
                  <a:tcPr marL="177800" marR="177800" marT="107950" marB="107950" anchor="ctr"/>
                </a:tc>
                <a:tc>
                  <a:txBody>
                    <a:bodyPr/>
                    <a:p>
                      <a:pPr algn="ctr">
                        <a:lnSpc>
                          <a:spcPct val="120000"/>
                        </a:lnSpc>
                        <a:spcBef>
                          <a:spcPts val="0"/>
                        </a:spcBef>
                        <a:spcAft>
                          <a:spcPts val="0"/>
                        </a:spcAft>
                        <a:buNone/>
                      </a:pPr>
                      <a:r>
                        <a:rPr lang="en-US" altLang="zh-CN" sz="1600" b="0" spc="120">
                          <a:latin typeface="微软雅黑" panose="020B0503020204020204" charset="-122"/>
                          <a:ea typeface="微软雅黑" panose="020B0503020204020204" charset="-122"/>
                        </a:rPr>
                        <a:t>135</a:t>
                      </a:r>
                      <a:endParaRPr lang="en-US" altLang="zh-CN" sz="1600" b="0" spc="120">
                        <a:latin typeface="微软雅黑" panose="020B0503020204020204" charset="-122"/>
                        <a:ea typeface="微软雅黑" panose="020B0503020204020204" charset="-122"/>
                      </a:endParaRPr>
                    </a:p>
                  </a:txBody>
                  <a:tcPr marL="177800" marR="177800" marT="107950" marB="107950" anchor="ctr"/>
                </a:tc>
              </a:tr>
            </a:tbl>
          </a:graphicData>
        </a:graphic>
      </p:graphicFrame>
      <p:graphicFrame>
        <p:nvGraphicFramePr>
          <p:cNvPr id="8" name="表格 3"/>
          <p:cNvGraphicFramePr/>
          <p:nvPr>
            <p:custDataLst>
              <p:tags r:id="rId7"/>
            </p:custDataLst>
          </p:nvPr>
        </p:nvGraphicFramePr>
        <p:xfrm>
          <a:off x="6381115" y="1525270"/>
          <a:ext cx="5114925" cy="4164965"/>
        </p:xfrm>
        <a:graphic>
          <a:graphicData uri="http://schemas.openxmlformats.org/drawingml/2006/table">
            <a:tbl>
              <a:tblPr firstRow="1" bandRow="1">
                <a:tableStyleId>{5C22544A-7EE6-4342-B048-85BDC9FD1C3A}</a:tableStyleId>
              </a:tblPr>
              <a:tblGrid>
                <a:gridCol w="3335655"/>
                <a:gridCol w="1779270"/>
              </a:tblGrid>
              <a:tr h="621665">
                <a:tc gridSpan="2">
                  <a:txBody>
                    <a:bodyPr/>
                    <a:p>
                      <a:pPr algn="ctr">
                        <a:lnSpc>
                          <a:spcPct val="120000"/>
                        </a:lnSpc>
                        <a:spcBef>
                          <a:spcPts val="0"/>
                        </a:spcBef>
                        <a:spcAft>
                          <a:spcPts val="0"/>
                        </a:spcAft>
                        <a:buNone/>
                      </a:pPr>
                      <a:r>
                        <a:rPr lang="zh-CN" altLang="en-US" sz="1900" b="1" spc="130">
                          <a:latin typeface="微软雅黑" panose="020B0503020204020204" charset="-122"/>
                          <a:ea typeface="微软雅黑" panose="020B0503020204020204" charset="-122"/>
                        </a:rPr>
                        <a:t>判断推理</a:t>
                      </a:r>
                      <a:endParaRPr lang="zh-CN" altLang="en-US" sz="1900" b="1" spc="130">
                        <a:latin typeface="微软雅黑" panose="020B0503020204020204" charset="-122"/>
                        <a:ea typeface="微软雅黑" panose="020B0503020204020204" charset="-122"/>
                      </a:endParaRPr>
                    </a:p>
                  </a:txBody>
                  <a:tcPr marL="215900" marR="215900" marT="133350" marB="133350" anchor="ctr"/>
                </a:tc>
                <a:tc hMerge="1">
                  <a:tcPr/>
                </a:tc>
              </a:tr>
              <a:tr h="621665">
                <a:tc>
                  <a:txBody>
                    <a:bodyPr/>
                    <a:p>
                      <a:pPr algn="ctr">
                        <a:lnSpc>
                          <a:spcPct val="120000"/>
                        </a:lnSpc>
                        <a:spcBef>
                          <a:spcPts val="0"/>
                        </a:spcBef>
                        <a:spcAft>
                          <a:spcPts val="0"/>
                        </a:spcAft>
                        <a:buNone/>
                      </a:pPr>
                      <a:r>
                        <a:rPr lang="zh-CN" altLang="en-US" sz="1700" spc="130">
                          <a:latin typeface="微软雅黑" panose="020B0503020204020204" charset="-122"/>
                          <a:ea typeface="微软雅黑" panose="020B0503020204020204" charset="-122"/>
                        </a:rPr>
                        <a:t>图形推理</a:t>
                      </a:r>
                      <a:endParaRPr lang="zh-CN" altLang="en-US" sz="1700" spc="130">
                        <a:latin typeface="微软雅黑" panose="020B0503020204020204" charset="-122"/>
                        <a:ea typeface="微软雅黑" panose="020B0503020204020204" charset="-122"/>
                      </a:endParaRPr>
                    </a:p>
                  </a:txBody>
                  <a:tcPr marL="215900" marR="215900" marT="133350" marB="133350" anchor="ctr"/>
                </a:tc>
                <a:tc>
                  <a:txBody>
                    <a:bodyPr/>
                    <a:p>
                      <a:pPr algn="ctr">
                        <a:lnSpc>
                          <a:spcPct val="120000"/>
                        </a:lnSpc>
                        <a:spcBef>
                          <a:spcPts val="0"/>
                        </a:spcBef>
                        <a:spcAft>
                          <a:spcPts val="0"/>
                        </a:spcAft>
                        <a:buNone/>
                      </a:pPr>
                      <a:r>
                        <a:rPr lang="zh-CN" altLang="en-US" sz="1700" spc="130">
                          <a:latin typeface="微软雅黑" panose="020B0503020204020204" charset="-122"/>
                          <a:ea typeface="微软雅黑" panose="020B0503020204020204" charset="-122"/>
                        </a:rPr>
                        <a:t>15</a:t>
                      </a:r>
                      <a:endParaRPr lang="zh-CN" altLang="en-US" sz="1700" spc="130">
                        <a:latin typeface="微软雅黑" panose="020B0503020204020204" charset="-122"/>
                        <a:ea typeface="微软雅黑" panose="020B0503020204020204" charset="-122"/>
                      </a:endParaRPr>
                    </a:p>
                  </a:txBody>
                  <a:tcPr marL="215900" marR="215900" marT="133350" marB="133350" anchor="ctr"/>
                </a:tc>
              </a:tr>
              <a:tr h="584835">
                <a:tc>
                  <a:txBody>
                    <a:bodyPr/>
                    <a:p>
                      <a:pPr algn="ctr">
                        <a:lnSpc>
                          <a:spcPct val="120000"/>
                        </a:lnSpc>
                        <a:spcBef>
                          <a:spcPts val="0"/>
                        </a:spcBef>
                        <a:spcAft>
                          <a:spcPts val="0"/>
                        </a:spcAft>
                        <a:buNone/>
                      </a:pPr>
                      <a:r>
                        <a:rPr lang="zh-CN" altLang="en-US" sz="1700" b="0" spc="130">
                          <a:latin typeface="微软雅黑" panose="020B0503020204020204" charset="-122"/>
                          <a:ea typeface="微软雅黑" panose="020B0503020204020204" charset="-122"/>
                        </a:rPr>
                        <a:t>定义判断</a:t>
                      </a:r>
                      <a:endParaRPr lang="zh-CN" altLang="en-US" sz="1700" b="0" spc="130">
                        <a:latin typeface="微软雅黑" panose="020B0503020204020204" charset="-122"/>
                        <a:ea typeface="微软雅黑" panose="020B0503020204020204" charset="-122"/>
                      </a:endParaRPr>
                    </a:p>
                  </a:txBody>
                  <a:tcPr marL="215900" marR="215900" marT="133350" marB="133350" anchor="ctr"/>
                </a:tc>
                <a:tc>
                  <a:txBody>
                    <a:bodyPr/>
                    <a:p>
                      <a:pPr algn="ctr">
                        <a:lnSpc>
                          <a:spcPct val="120000"/>
                        </a:lnSpc>
                        <a:spcBef>
                          <a:spcPts val="0"/>
                        </a:spcBef>
                        <a:spcAft>
                          <a:spcPts val="0"/>
                        </a:spcAft>
                        <a:buNone/>
                      </a:pPr>
                      <a:r>
                        <a:rPr lang="en-US" altLang="zh-CN" sz="1700" b="0" spc="130">
                          <a:latin typeface="微软雅黑" panose="020B0503020204020204" charset="-122"/>
                          <a:ea typeface="微软雅黑" panose="020B0503020204020204" charset="-122"/>
                        </a:rPr>
                        <a:t>5</a:t>
                      </a:r>
                      <a:endParaRPr lang="en-US" altLang="zh-CN" sz="1700" b="0" spc="130">
                        <a:latin typeface="微软雅黑" panose="020B0503020204020204" charset="-122"/>
                        <a:ea typeface="微软雅黑" panose="020B0503020204020204" charset="-122"/>
                      </a:endParaRPr>
                    </a:p>
                  </a:txBody>
                  <a:tcPr marL="215900" marR="215900" marT="133350" marB="133350" anchor="ctr"/>
                </a:tc>
              </a:tr>
              <a:tr h="583565">
                <a:tc>
                  <a:txBody>
                    <a:bodyPr/>
                    <a:p>
                      <a:pPr algn="ctr">
                        <a:lnSpc>
                          <a:spcPct val="120000"/>
                        </a:lnSpc>
                        <a:spcBef>
                          <a:spcPts val="0"/>
                        </a:spcBef>
                        <a:spcAft>
                          <a:spcPts val="0"/>
                        </a:spcAft>
                        <a:buNone/>
                      </a:pPr>
                      <a:r>
                        <a:rPr lang="zh-CN" altLang="en-US" sz="1700" b="0" spc="130">
                          <a:latin typeface="微软雅黑" panose="020B0503020204020204" charset="-122"/>
                          <a:ea typeface="微软雅黑" panose="020B0503020204020204" charset="-122"/>
                        </a:rPr>
                        <a:t>类比推理</a:t>
                      </a:r>
                      <a:endParaRPr lang="zh-CN" altLang="en-US" sz="1700" b="0" spc="130">
                        <a:latin typeface="微软雅黑" panose="020B0503020204020204" charset="-122"/>
                        <a:ea typeface="微软雅黑" panose="020B0503020204020204" charset="-122"/>
                      </a:endParaRPr>
                    </a:p>
                  </a:txBody>
                  <a:tcPr marL="215900" marR="215900" marT="133350" marB="133350" anchor="ctr"/>
                </a:tc>
                <a:tc>
                  <a:txBody>
                    <a:bodyPr/>
                    <a:p>
                      <a:pPr algn="ctr">
                        <a:lnSpc>
                          <a:spcPct val="120000"/>
                        </a:lnSpc>
                        <a:spcBef>
                          <a:spcPts val="0"/>
                        </a:spcBef>
                        <a:spcAft>
                          <a:spcPts val="0"/>
                        </a:spcAft>
                        <a:buNone/>
                      </a:pPr>
                      <a:r>
                        <a:rPr lang="en-US" altLang="zh-CN" sz="1700" b="0" spc="130">
                          <a:latin typeface="微软雅黑" panose="020B0503020204020204" charset="-122"/>
                          <a:ea typeface="微软雅黑" panose="020B0503020204020204" charset="-122"/>
                        </a:rPr>
                        <a:t>5</a:t>
                      </a:r>
                      <a:endParaRPr lang="en-US" altLang="zh-CN" sz="1700" b="0" spc="130">
                        <a:latin typeface="微软雅黑" panose="020B0503020204020204" charset="-122"/>
                        <a:ea typeface="微软雅黑" panose="020B0503020204020204" charset="-122"/>
                      </a:endParaRPr>
                    </a:p>
                  </a:txBody>
                  <a:tcPr marL="215900" marR="215900" marT="133350" marB="133350" anchor="ctr"/>
                </a:tc>
              </a:tr>
              <a:tr h="584835">
                <a:tc>
                  <a:txBody>
                    <a:bodyPr/>
                    <a:p>
                      <a:pPr algn="ctr">
                        <a:lnSpc>
                          <a:spcPct val="120000"/>
                        </a:lnSpc>
                        <a:spcBef>
                          <a:spcPts val="0"/>
                        </a:spcBef>
                        <a:spcAft>
                          <a:spcPts val="0"/>
                        </a:spcAft>
                        <a:buNone/>
                      </a:pPr>
                      <a:r>
                        <a:rPr lang="zh-CN" altLang="en-US" sz="1700" b="0" spc="130">
                          <a:latin typeface="微软雅黑" panose="020B0503020204020204" charset="-122"/>
                          <a:ea typeface="微软雅黑" panose="020B0503020204020204" charset="-122"/>
                        </a:rPr>
                        <a:t>逻辑判断</a:t>
                      </a:r>
                      <a:endParaRPr lang="zh-CN" altLang="en-US" sz="1700" b="0" spc="130">
                        <a:latin typeface="微软雅黑" panose="020B0503020204020204" charset="-122"/>
                        <a:ea typeface="微软雅黑" panose="020B0503020204020204" charset="-122"/>
                      </a:endParaRPr>
                    </a:p>
                  </a:txBody>
                  <a:tcPr marL="215900" marR="215900" marT="133350" marB="133350" anchor="ctr"/>
                </a:tc>
                <a:tc>
                  <a:txBody>
                    <a:bodyPr/>
                    <a:p>
                      <a:pPr algn="ctr">
                        <a:lnSpc>
                          <a:spcPct val="120000"/>
                        </a:lnSpc>
                        <a:spcBef>
                          <a:spcPts val="0"/>
                        </a:spcBef>
                        <a:spcAft>
                          <a:spcPts val="0"/>
                        </a:spcAft>
                        <a:buNone/>
                      </a:pPr>
                      <a:r>
                        <a:rPr lang="en-US" altLang="zh-CN" sz="1700" b="0" spc="130">
                          <a:latin typeface="微软雅黑" panose="020B0503020204020204" charset="-122"/>
                          <a:ea typeface="微软雅黑" panose="020B0503020204020204" charset="-122"/>
                        </a:rPr>
                        <a:t>10</a:t>
                      </a:r>
                      <a:endParaRPr lang="en-US" altLang="zh-CN" sz="1700" b="0" spc="130">
                        <a:latin typeface="微软雅黑" panose="020B0503020204020204" charset="-122"/>
                        <a:ea typeface="微软雅黑" panose="020B0503020204020204" charset="-122"/>
                      </a:endParaRPr>
                    </a:p>
                  </a:txBody>
                  <a:tcPr marL="215900" marR="215900" marT="133350" marB="133350" anchor="ctr"/>
                </a:tc>
              </a:tr>
              <a:tr h="583565">
                <a:tc>
                  <a:txBody>
                    <a:bodyPr/>
                    <a:p>
                      <a:pPr algn="ctr">
                        <a:lnSpc>
                          <a:spcPct val="120000"/>
                        </a:lnSpc>
                        <a:spcBef>
                          <a:spcPts val="0"/>
                        </a:spcBef>
                        <a:spcAft>
                          <a:spcPts val="0"/>
                        </a:spcAft>
                        <a:buNone/>
                      </a:pPr>
                      <a:r>
                        <a:rPr lang="zh-CN" altLang="en-US" sz="1700" b="0" spc="130">
                          <a:latin typeface="微软雅黑" panose="020B0503020204020204" charset="-122"/>
                          <a:ea typeface="微软雅黑" panose="020B0503020204020204" charset="-122"/>
                        </a:rPr>
                        <a:t>科学推理</a:t>
                      </a:r>
                      <a:endParaRPr lang="zh-CN" altLang="en-US" sz="1700" b="0" spc="130">
                        <a:latin typeface="微软雅黑" panose="020B0503020204020204" charset="-122"/>
                        <a:ea typeface="微软雅黑" panose="020B0503020204020204" charset="-122"/>
                      </a:endParaRPr>
                    </a:p>
                  </a:txBody>
                  <a:tcPr marL="215900" marR="215900" marT="133350" marB="133350" anchor="ctr"/>
                </a:tc>
                <a:tc>
                  <a:txBody>
                    <a:bodyPr/>
                    <a:p>
                      <a:pPr algn="ctr">
                        <a:lnSpc>
                          <a:spcPct val="120000"/>
                        </a:lnSpc>
                        <a:spcBef>
                          <a:spcPts val="0"/>
                        </a:spcBef>
                        <a:spcAft>
                          <a:spcPts val="0"/>
                        </a:spcAft>
                        <a:buClrTx/>
                        <a:buSzTx/>
                        <a:buFontTx/>
                        <a:buNone/>
                      </a:pPr>
                      <a:r>
                        <a:rPr lang="en-US" altLang="zh-CN" sz="1700" b="0" spc="130">
                          <a:latin typeface="微软雅黑" panose="020B0503020204020204" charset="-122"/>
                          <a:ea typeface="微软雅黑" panose="020B0503020204020204" charset="-122"/>
                        </a:rPr>
                        <a:t>10</a:t>
                      </a:r>
                      <a:endParaRPr lang="en-US" altLang="zh-CN" sz="1700" b="0" spc="130">
                        <a:latin typeface="微软雅黑" panose="020B0503020204020204" charset="-122"/>
                        <a:ea typeface="微软雅黑" panose="020B0503020204020204" charset="-122"/>
                      </a:endParaRPr>
                    </a:p>
                  </a:txBody>
                  <a:tcPr marL="215900" marR="215900" marT="133350" marB="133350" anchor="ctr"/>
                </a:tc>
              </a:tr>
              <a:tr h="584835">
                <a:tc>
                  <a:txBody>
                    <a:bodyPr/>
                    <a:p>
                      <a:pPr algn="ctr">
                        <a:lnSpc>
                          <a:spcPct val="120000"/>
                        </a:lnSpc>
                        <a:spcBef>
                          <a:spcPts val="0"/>
                        </a:spcBef>
                        <a:spcAft>
                          <a:spcPts val="0"/>
                        </a:spcAft>
                        <a:buNone/>
                      </a:pPr>
                      <a:r>
                        <a:rPr lang="zh-CN" altLang="en-US" sz="1700" b="0" spc="130">
                          <a:latin typeface="微软雅黑" panose="020B0503020204020204" charset="-122"/>
                          <a:ea typeface="微软雅黑" panose="020B0503020204020204" charset="-122"/>
                        </a:rPr>
                        <a:t>总计</a:t>
                      </a:r>
                      <a:endParaRPr lang="zh-CN" altLang="en-US" sz="1700" b="0" spc="130">
                        <a:latin typeface="微软雅黑" panose="020B0503020204020204" charset="-122"/>
                        <a:ea typeface="微软雅黑" panose="020B0503020204020204" charset="-122"/>
                      </a:endParaRPr>
                    </a:p>
                  </a:txBody>
                  <a:tcPr marL="215900" marR="215900" marT="133350" marB="133350" anchor="ctr"/>
                </a:tc>
                <a:tc>
                  <a:txBody>
                    <a:bodyPr/>
                    <a:p>
                      <a:pPr algn="ctr">
                        <a:lnSpc>
                          <a:spcPct val="120000"/>
                        </a:lnSpc>
                        <a:spcBef>
                          <a:spcPts val="0"/>
                        </a:spcBef>
                        <a:spcAft>
                          <a:spcPts val="0"/>
                        </a:spcAft>
                        <a:buNone/>
                      </a:pPr>
                      <a:r>
                        <a:rPr lang="en-US" altLang="zh-CN" sz="1700" b="0" spc="130">
                          <a:latin typeface="微软雅黑" panose="020B0503020204020204" charset="-122"/>
                          <a:ea typeface="微软雅黑" panose="020B0503020204020204" charset="-122"/>
                        </a:rPr>
                        <a:t>45</a:t>
                      </a:r>
                      <a:endParaRPr lang="en-US" altLang="zh-CN" sz="1700" b="0" spc="130">
                        <a:latin typeface="微软雅黑" panose="020B0503020204020204" charset="-122"/>
                        <a:ea typeface="微软雅黑" panose="020B0503020204020204" charset="-122"/>
                      </a:endParaRPr>
                    </a:p>
                  </a:txBody>
                  <a:tcPr marL="215900" marR="215900" marT="133350" marB="133350" anchor="ctr"/>
                </a:tc>
              </a:tr>
            </a:tbl>
          </a:graphicData>
        </a:graphic>
      </p:graphicFrame>
    </p:spTree>
    <p:custDataLst>
      <p:tags r:id="rId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49530"/>
            <a:ext cx="10515600" cy="708025"/>
          </a:xfrm>
        </p:spPr>
        <p:txBody>
          <a:bodyPr/>
          <a:lstStyle/>
          <a:p>
            <a:pPr algn="ctr">
              <a:buClrTx/>
              <a:buSzTx/>
              <a:buFontTx/>
            </a:pPr>
            <a:r>
              <a:rPr kumimoji="1" lang="zh-CN" sz="2800" b="1" dirty="0">
                <a:solidFill>
                  <a:srgbClr val="FF653F"/>
                </a:solidFill>
              </a:rPr>
              <a:t>北京判断近</a:t>
            </a:r>
            <a:r>
              <a:rPr kumimoji="1" lang="en-US" altLang="zh-CN" sz="2800" b="1" dirty="0">
                <a:solidFill>
                  <a:srgbClr val="FF653F"/>
                </a:solidFill>
              </a:rPr>
              <a:t>5</a:t>
            </a:r>
            <a:r>
              <a:rPr kumimoji="1" lang="zh-CN" altLang="en-US" sz="2800" b="1" dirty="0">
                <a:solidFill>
                  <a:srgbClr val="FF653F"/>
                </a:solidFill>
              </a:rPr>
              <a:t>年</a:t>
            </a:r>
            <a:r>
              <a:rPr kumimoji="1" lang="zh-CN" sz="2800" b="1" dirty="0">
                <a:solidFill>
                  <a:srgbClr val="FF653F"/>
                </a:solidFill>
              </a:rPr>
              <a:t>考情分析</a:t>
            </a:r>
            <a:endParaRPr kumimoji="1" lang="zh-CN" sz="2800" b="1" dirty="0">
              <a:solidFill>
                <a:srgbClr val="FF653F"/>
              </a:solidFill>
            </a:endParaRPr>
          </a:p>
        </p:txBody>
      </p:sp>
      <p:graphicFrame>
        <p:nvGraphicFramePr>
          <p:cNvPr id="7" name="表格 6"/>
          <p:cNvGraphicFramePr/>
          <p:nvPr>
            <p:custDataLst>
              <p:tags r:id="rId1"/>
            </p:custDataLst>
          </p:nvPr>
        </p:nvGraphicFramePr>
        <p:xfrm>
          <a:off x="1722755" y="757555"/>
          <a:ext cx="8747125" cy="5361940"/>
        </p:xfrm>
        <a:graphic>
          <a:graphicData uri="http://schemas.openxmlformats.org/drawingml/2006/table">
            <a:tbl>
              <a:tblPr firstRow="1">
                <a:tableStyleId>{12147CCA-34D0-4F95-8025-DE74D1A96181}</a:tableStyleId>
              </a:tblPr>
              <a:tblGrid>
                <a:gridCol w="1654175"/>
                <a:gridCol w="1419225"/>
                <a:gridCol w="1417955"/>
                <a:gridCol w="1418590"/>
                <a:gridCol w="1418590"/>
                <a:gridCol w="1418590"/>
              </a:tblGrid>
              <a:tr h="797560">
                <a:tc>
                  <a:txBody>
                    <a:bodyPr/>
                    <a:p>
                      <a:pPr algn="ctr">
                        <a:lnSpc>
                          <a:spcPct val="120000"/>
                        </a:lnSpc>
                        <a:buNone/>
                      </a:pPr>
                      <a:endParaRPr lang="zh-CN" altLang="en-US" sz="2000" spc="130"/>
                    </a:p>
                  </a:txBody>
                  <a:tcPr marL="317500" marR="317500" marT="215900" marB="215900" anchor="ctr"/>
                </a:tc>
                <a:tc>
                  <a:txBody>
                    <a:bodyPr/>
                    <a:p>
                      <a:pPr algn="r">
                        <a:lnSpc>
                          <a:spcPct val="120000"/>
                        </a:lnSpc>
                        <a:buNone/>
                      </a:pPr>
                      <a:r>
                        <a:rPr lang="en-US" altLang="zh-CN" sz="2000" spc="130"/>
                        <a:t>2026</a:t>
                      </a:r>
                      <a:endParaRPr lang="en-US" altLang="zh-CN" sz="2000" spc="130"/>
                    </a:p>
                  </a:txBody>
                  <a:tcPr marL="317500" marR="317500" marT="215900" marB="215900" anchor="ctr"/>
                </a:tc>
                <a:tc>
                  <a:txBody>
                    <a:bodyPr/>
                    <a:p>
                      <a:pPr algn="r">
                        <a:lnSpc>
                          <a:spcPct val="120000"/>
                        </a:lnSpc>
                        <a:buNone/>
                      </a:pPr>
                      <a:r>
                        <a:rPr lang="en-US" altLang="zh-CN" sz="2000" spc="130"/>
                        <a:t>2025</a:t>
                      </a:r>
                      <a:endParaRPr lang="en-US" altLang="zh-CN" sz="2000" spc="130"/>
                    </a:p>
                  </a:txBody>
                  <a:tcPr marL="317500" marR="317500" marT="215900" marB="215900" anchor="ctr"/>
                </a:tc>
                <a:tc>
                  <a:txBody>
                    <a:bodyPr/>
                    <a:p>
                      <a:pPr algn="r">
                        <a:lnSpc>
                          <a:spcPct val="120000"/>
                        </a:lnSpc>
                        <a:buNone/>
                      </a:pPr>
                      <a:r>
                        <a:rPr lang="en-US" altLang="zh-CN" sz="2000" spc="130"/>
                        <a:t>2024</a:t>
                      </a:r>
                      <a:endParaRPr lang="en-US" altLang="zh-CN" sz="2000" spc="130"/>
                    </a:p>
                  </a:txBody>
                  <a:tcPr marL="317500" marR="317500" marT="215900" marB="215900" anchor="ctr"/>
                </a:tc>
                <a:tc>
                  <a:txBody>
                    <a:bodyPr/>
                    <a:p>
                      <a:pPr algn="r">
                        <a:lnSpc>
                          <a:spcPct val="120000"/>
                        </a:lnSpc>
                        <a:buNone/>
                      </a:pPr>
                      <a:r>
                        <a:rPr lang="en-US" altLang="zh-CN" sz="2000" spc="130"/>
                        <a:t>2023</a:t>
                      </a:r>
                      <a:endParaRPr lang="en-US" altLang="zh-CN" sz="2000" spc="130"/>
                    </a:p>
                  </a:txBody>
                  <a:tcPr marL="317500" marR="317500" marT="215900" marB="215900" anchor="ctr"/>
                </a:tc>
                <a:tc>
                  <a:txBody>
                    <a:bodyPr/>
                    <a:p>
                      <a:pPr algn="r">
                        <a:lnSpc>
                          <a:spcPct val="120000"/>
                        </a:lnSpc>
                        <a:buNone/>
                      </a:pPr>
                      <a:r>
                        <a:rPr lang="en-US" altLang="zh-CN" sz="2000" spc="130"/>
                        <a:t>2022</a:t>
                      </a:r>
                      <a:endParaRPr lang="en-US" altLang="zh-CN" sz="2000" spc="130"/>
                    </a:p>
                  </a:txBody>
                  <a:tcPr marL="317500" marR="317500" marT="215900" marB="215900" anchor="ctr"/>
                </a:tc>
              </a:tr>
              <a:tr h="760730">
                <a:tc>
                  <a:txBody>
                    <a:bodyPr/>
                    <a:p>
                      <a:pPr algn="ctr">
                        <a:lnSpc>
                          <a:spcPct val="120000"/>
                        </a:lnSpc>
                        <a:buNone/>
                      </a:pPr>
                      <a:r>
                        <a:rPr lang="zh-CN" altLang="en-US" sz="1800"/>
                        <a:t>图形推理</a:t>
                      </a:r>
                      <a:endParaRPr lang="zh-CN" altLang="en-US" sz="1800"/>
                    </a:p>
                  </a:txBody>
                  <a:tcPr marL="317500" marR="317500" marT="215900" marB="215900" anchor="ctr"/>
                </a:tc>
                <a:tc>
                  <a:txBody>
                    <a:bodyPr/>
                    <a:p>
                      <a:pPr algn="r">
                        <a:lnSpc>
                          <a:spcPct val="120000"/>
                        </a:lnSpc>
                        <a:buNone/>
                      </a:pPr>
                      <a:r>
                        <a:rPr lang="en-US" altLang="zh-CN" sz="1800"/>
                        <a:t>15</a:t>
                      </a:r>
                      <a:endParaRPr lang="en-US" altLang="zh-CN" sz="1800"/>
                    </a:p>
                  </a:txBody>
                  <a:tcPr marL="317500" marR="317500" marT="215900" marB="215900" anchor="ctr"/>
                </a:tc>
                <a:tc>
                  <a:txBody>
                    <a:bodyPr/>
                    <a:p>
                      <a:pPr algn="r">
                        <a:lnSpc>
                          <a:spcPct val="120000"/>
                        </a:lnSpc>
                        <a:buNone/>
                      </a:pPr>
                      <a:r>
                        <a:rPr lang="en-US" altLang="zh-CN" sz="1800"/>
                        <a:t>15</a:t>
                      </a:r>
                      <a:endParaRPr lang="en-US" altLang="zh-CN" sz="1800"/>
                    </a:p>
                  </a:txBody>
                  <a:tcPr marL="317500" marR="317500" marT="215900" marB="215900" anchor="ctr"/>
                </a:tc>
                <a:tc>
                  <a:txBody>
                    <a:bodyPr/>
                    <a:p>
                      <a:pPr algn="r">
                        <a:lnSpc>
                          <a:spcPct val="120000"/>
                        </a:lnSpc>
                        <a:buNone/>
                      </a:pPr>
                      <a:r>
                        <a:rPr lang="en-US" altLang="zh-CN" sz="1800"/>
                        <a:t>10</a:t>
                      </a:r>
                      <a:endParaRPr lang="en-US" altLang="zh-CN" sz="1800"/>
                    </a:p>
                  </a:txBody>
                  <a:tcPr marL="317500" marR="317500" marT="215900" marB="215900" anchor="ctr"/>
                </a:tc>
                <a:tc>
                  <a:txBody>
                    <a:bodyPr/>
                    <a:p>
                      <a:pPr algn="r">
                        <a:lnSpc>
                          <a:spcPct val="120000"/>
                        </a:lnSpc>
                        <a:buNone/>
                      </a:pPr>
                      <a:r>
                        <a:rPr lang="en-US" altLang="zh-CN" sz="1800"/>
                        <a:t>5</a:t>
                      </a:r>
                      <a:endParaRPr lang="en-US" altLang="zh-CN" sz="1800"/>
                    </a:p>
                  </a:txBody>
                  <a:tcPr marL="317500" marR="317500" marT="215900" marB="215900" anchor="ctr"/>
                </a:tc>
                <a:tc>
                  <a:txBody>
                    <a:bodyPr/>
                    <a:p>
                      <a:pPr algn="r">
                        <a:lnSpc>
                          <a:spcPct val="120000"/>
                        </a:lnSpc>
                        <a:buNone/>
                      </a:pPr>
                      <a:r>
                        <a:rPr lang="en-US" altLang="zh-CN" sz="1800"/>
                        <a:t>5</a:t>
                      </a:r>
                      <a:endParaRPr lang="en-US" altLang="zh-CN" sz="1800"/>
                    </a:p>
                  </a:txBody>
                  <a:tcPr marL="317500" marR="317500" marT="215900" marB="215900" anchor="ctr"/>
                </a:tc>
              </a:tr>
              <a:tr h="760730">
                <a:tc>
                  <a:txBody>
                    <a:bodyPr/>
                    <a:p>
                      <a:pPr algn="ctr">
                        <a:lnSpc>
                          <a:spcPct val="120000"/>
                        </a:lnSpc>
                        <a:buNone/>
                      </a:pPr>
                      <a:r>
                        <a:rPr lang="zh-CN" altLang="en-US" sz="1800"/>
                        <a:t>类比推理</a:t>
                      </a:r>
                      <a:endParaRPr lang="zh-CN" altLang="en-US" sz="1800"/>
                    </a:p>
                  </a:txBody>
                  <a:tcPr marL="317500" marR="317500" marT="215900" marB="215900" anchor="ctr"/>
                </a:tc>
                <a:tc>
                  <a:txBody>
                    <a:bodyPr/>
                    <a:p>
                      <a:pPr algn="r">
                        <a:lnSpc>
                          <a:spcPct val="120000"/>
                        </a:lnSpc>
                        <a:buNone/>
                      </a:pPr>
                      <a:r>
                        <a:rPr lang="en-US" altLang="zh-CN" sz="1800"/>
                        <a:t>5</a:t>
                      </a:r>
                      <a:endParaRPr lang="en-US" altLang="zh-CN" sz="1800"/>
                    </a:p>
                  </a:txBody>
                  <a:tcPr marL="317500" marR="317500" marT="215900" marB="215900" anchor="ctr"/>
                </a:tc>
                <a:tc>
                  <a:txBody>
                    <a:bodyPr/>
                    <a:p>
                      <a:pPr algn="r">
                        <a:lnSpc>
                          <a:spcPct val="120000"/>
                        </a:lnSpc>
                        <a:buNone/>
                      </a:pPr>
                      <a:r>
                        <a:rPr lang="en-US" altLang="zh-CN" sz="1800"/>
                        <a:t>5</a:t>
                      </a:r>
                      <a:endParaRPr lang="en-US" altLang="zh-CN" sz="1800"/>
                    </a:p>
                  </a:txBody>
                  <a:tcPr marL="317500" marR="317500" marT="215900" marB="215900" anchor="ctr"/>
                </a:tc>
                <a:tc>
                  <a:txBody>
                    <a:bodyPr/>
                    <a:p>
                      <a:pPr algn="r">
                        <a:lnSpc>
                          <a:spcPct val="120000"/>
                        </a:lnSpc>
                        <a:buNone/>
                      </a:pPr>
                      <a:r>
                        <a:rPr lang="en-US" altLang="zh-CN" sz="1800"/>
                        <a:t>0</a:t>
                      </a:r>
                      <a:endParaRPr lang="en-US" altLang="zh-CN" sz="1800"/>
                    </a:p>
                  </a:txBody>
                  <a:tcPr marL="317500" marR="317500" marT="215900" marB="215900" anchor="ctr"/>
                </a:tc>
                <a:tc>
                  <a:txBody>
                    <a:bodyPr/>
                    <a:p>
                      <a:pPr algn="r">
                        <a:lnSpc>
                          <a:spcPct val="120000"/>
                        </a:lnSpc>
                        <a:buNone/>
                      </a:pPr>
                      <a:r>
                        <a:rPr lang="en-US" altLang="zh-CN" sz="1800"/>
                        <a:t>0</a:t>
                      </a:r>
                      <a:endParaRPr lang="en-US" altLang="zh-CN" sz="1800"/>
                    </a:p>
                  </a:txBody>
                  <a:tcPr marL="317500" marR="317500" marT="215900" marB="215900" anchor="ctr"/>
                </a:tc>
                <a:tc>
                  <a:txBody>
                    <a:bodyPr/>
                    <a:p>
                      <a:pPr algn="r">
                        <a:lnSpc>
                          <a:spcPct val="120000"/>
                        </a:lnSpc>
                        <a:buNone/>
                      </a:pPr>
                      <a:r>
                        <a:rPr lang="en-US" altLang="zh-CN" sz="1800"/>
                        <a:t>5</a:t>
                      </a:r>
                      <a:endParaRPr lang="en-US" altLang="zh-CN" sz="1800"/>
                    </a:p>
                  </a:txBody>
                  <a:tcPr marL="317500" marR="317500" marT="215900" marB="215900" anchor="ctr"/>
                </a:tc>
              </a:tr>
              <a:tr h="760730">
                <a:tc>
                  <a:txBody>
                    <a:bodyPr/>
                    <a:p>
                      <a:pPr algn="ctr">
                        <a:lnSpc>
                          <a:spcPct val="120000"/>
                        </a:lnSpc>
                        <a:buNone/>
                      </a:pPr>
                      <a:r>
                        <a:rPr lang="zh-CN" altLang="en-US" sz="1800"/>
                        <a:t>定义判断</a:t>
                      </a:r>
                      <a:endParaRPr lang="zh-CN" altLang="en-US" sz="1800"/>
                    </a:p>
                  </a:txBody>
                  <a:tcPr marL="317500" marR="317500" marT="215900" marB="215900" anchor="ctr"/>
                </a:tc>
                <a:tc>
                  <a:txBody>
                    <a:bodyPr/>
                    <a:p>
                      <a:pPr algn="r">
                        <a:lnSpc>
                          <a:spcPct val="120000"/>
                        </a:lnSpc>
                        <a:buNone/>
                      </a:pPr>
                      <a:r>
                        <a:rPr lang="en-US" altLang="zh-CN" sz="1800"/>
                        <a:t>5</a:t>
                      </a:r>
                      <a:endParaRPr lang="en-US" altLang="zh-CN" sz="1800"/>
                    </a:p>
                  </a:txBody>
                  <a:tcPr marL="317500" marR="317500" marT="215900" marB="215900" anchor="ctr"/>
                </a:tc>
                <a:tc>
                  <a:txBody>
                    <a:bodyPr/>
                    <a:p>
                      <a:pPr algn="r">
                        <a:lnSpc>
                          <a:spcPct val="120000"/>
                        </a:lnSpc>
                        <a:buNone/>
                      </a:pPr>
                      <a:r>
                        <a:rPr lang="en-US" altLang="zh-CN" sz="1800"/>
                        <a:t>5</a:t>
                      </a:r>
                      <a:endParaRPr lang="en-US" altLang="zh-CN" sz="1800"/>
                    </a:p>
                  </a:txBody>
                  <a:tcPr marL="317500" marR="317500" marT="215900" marB="215900" anchor="ctr"/>
                </a:tc>
                <a:tc>
                  <a:txBody>
                    <a:bodyPr/>
                    <a:p>
                      <a:pPr algn="r">
                        <a:lnSpc>
                          <a:spcPct val="120000"/>
                        </a:lnSpc>
                        <a:buNone/>
                      </a:pPr>
                      <a:r>
                        <a:rPr lang="en-US" altLang="zh-CN" sz="1800"/>
                        <a:t>5</a:t>
                      </a:r>
                      <a:endParaRPr lang="en-US" altLang="zh-CN" sz="1800"/>
                    </a:p>
                  </a:txBody>
                  <a:tcPr marL="317500" marR="317500" marT="215900" marB="215900" anchor="ctr"/>
                </a:tc>
                <a:tc>
                  <a:txBody>
                    <a:bodyPr/>
                    <a:p>
                      <a:pPr algn="r">
                        <a:lnSpc>
                          <a:spcPct val="120000"/>
                        </a:lnSpc>
                        <a:buNone/>
                      </a:pPr>
                      <a:r>
                        <a:rPr lang="en-US" altLang="zh-CN" sz="1800"/>
                        <a:t>10</a:t>
                      </a:r>
                      <a:endParaRPr lang="en-US" altLang="zh-CN" sz="1800"/>
                    </a:p>
                  </a:txBody>
                  <a:tcPr marL="317500" marR="317500" marT="215900" marB="215900" anchor="ctr"/>
                </a:tc>
                <a:tc>
                  <a:txBody>
                    <a:bodyPr/>
                    <a:p>
                      <a:pPr algn="r">
                        <a:lnSpc>
                          <a:spcPct val="120000"/>
                        </a:lnSpc>
                        <a:buNone/>
                      </a:pPr>
                      <a:r>
                        <a:rPr lang="en-US" altLang="zh-CN" sz="1800"/>
                        <a:t>10</a:t>
                      </a:r>
                      <a:endParaRPr lang="en-US" altLang="zh-CN" sz="1800"/>
                    </a:p>
                  </a:txBody>
                  <a:tcPr marL="317500" marR="317500" marT="215900" marB="215900" anchor="ctr"/>
                </a:tc>
              </a:tr>
              <a:tr h="760730">
                <a:tc>
                  <a:txBody>
                    <a:bodyPr/>
                    <a:p>
                      <a:pPr algn="ctr">
                        <a:lnSpc>
                          <a:spcPct val="120000"/>
                        </a:lnSpc>
                        <a:buNone/>
                      </a:pPr>
                      <a:r>
                        <a:rPr lang="zh-CN" altLang="en-US" sz="1800"/>
                        <a:t>逻辑判断</a:t>
                      </a:r>
                      <a:endParaRPr lang="zh-CN" altLang="en-US" sz="1800"/>
                    </a:p>
                  </a:txBody>
                  <a:tcPr marL="317500" marR="317500" marT="215900" marB="215900" anchor="ctr"/>
                </a:tc>
                <a:tc>
                  <a:txBody>
                    <a:bodyPr/>
                    <a:p>
                      <a:pPr algn="r">
                        <a:lnSpc>
                          <a:spcPct val="120000"/>
                        </a:lnSpc>
                        <a:buNone/>
                      </a:pPr>
                      <a:r>
                        <a:rPr lang="en-US" altLang="zh-CN" sz="1800"/>
                        <a:t>10</a:t>
                      </a:r>
                      <a:endParaRPr lang="en-US" altLang="zh-CN" sz="1800"/>
                    </a:p>
                  </a:txBody>
                  <a:tcPr marL="317500" marR="317500" marT="215900" marB="215900" anchor="ctr"/>
                </a:tc>
                <a:tc>
                  <a:txBody>
                    <a:bodyPr/>
                    <a:p>
                      <a:pPr algn="r">
                        <a:lnSpc>
                          <a:spcPct val="120000"/>
                        </a:lnSpc>
                        <a:buNone/>
                      </a:pPr>
                      <a:r>
                        <a:rPr lang="en-US" altLang="zh-CN" sz="1800"/>
                        <a:t>10</a:t>
                      </a:r>
                      <a:endParaRPr lang="en-US" altLang="zh-CN" sz="1800"/>
                    </a:p>
                  </a:txBody>
                  <a:tcPr marL="317500" marR="317500" marT="215900" marB="215900" anchor="ctr"/>
                </a:tc>
                <a:tc>
                  <a:txBody>
                    <a:bodyPr/>
                    <a:p>
                      <a:pPr algn="r">
                        <a:lnSpc>
                          <a:spcPct val="120000"/>
                        </a:lnSpc>
                        <a:buNone/>
                      </a:pPr>
                      <a:r>
                        <a:rPr lang="en-US" altLang="zh-CN" sz="1800"/>
                        <a:t>15</a:t>
                      </a:r>
                      <a:endParaRPr lang="en-US" altLang="zh-CN" sz="1800"/>
                    </a:p>
                  </a:txBody>
                  <a:tcPr marL="317500" marR="317500" marT="215900" marB="215900" anchor="ctr"/>
                </a:tc>
                <a:tc>
                  <a:txBody>
                    <a:bodyPr/>
                    <a:p>
                      <a:pPr algn="r">
                        <a:lnSpc>
                          <a:spcPct val="120000"/>
                        </a:lnSpc>
                        <a:buNone/>
                      </a:pPr>
                      <a:r>
                        <a:rPr lang="en-US" altLang="zh-CN" sz="1800"/>
                        <a:t>15</a:t>
                      </a:r>
                      <a:endParaRPr lang="en-US" altLang="zh-CN" sz="1800"/>
                    </a:p>
                  </a:txBody>
                  <a:tcPr marL="317500" marR="317500" marT="215900" marB="215900" anchor="ctr"/>
                </a:tc>
                <a:tc>
                  <a:txBody>
                    <a:bodyPr/>
                    <a:p>
                      <a:pPr algn="r">
                        <a:lnSpc>
                          <a:spcPct val="120000"/>
                        </a:lnSpc>
                        <a:buNone/>
                      </a:pPr>
                      <a:r>
                        <a:rPr lang="en-US" altLang="zh-CN" sz="1800"/>
                        <a:t>10</a:t>
                      </a:r>
                      <a:endParaRPr lang="en-US" altLang="zh-CN" sz="1800"/>
                    </a:p>
                  </a:txBody>
                  <a:tcPr marL="317500" marR="317500" marT="215900" marB="215900" anchor="ctr"/>
                </a:tc>
              </a:tr>
              <a:tr h="760730">
                <a:tc>
                  <a:txBody>
                    <a:bodyPr/>
                    <a:p>
                      <a:pPr algn="ctr">
                        <a:lnSpc>
                          <a:spcPct val="120000"/>
                        </a:lnSpc>
                        <a:buNone/>
                      </a:pPr>
                      <a:r>
                        <a:rPr lang="zh-CN" altLang="en-US" sz="1800"/>
                        <a:t>科学推理</a:t>
                      </a:r>
                      <a:endParaRPr lang="zh-CN" altLang="en-US" sz="1800"/>
                    </a:p>
                  </a:txBody>
                  <a:tcPr marL="317500" marR="317500" marT="215900" marB="215900" anchor="ctr"/>
                </a:tc>
                <a:tc>
                  <a:txBody>
                    <a:bodyPr/>
                    <a:p>
                      <a:pPr algn="r">
                        <a:lnSpc>
                          <a:spcPct val="120000"/>
                        </a:lnSpc>
                        <a:buNone/>
                      </a:pPr>
                      <a:r>
                        <a:rPr lang="en-US" altLang="zh-CN" sz="1800"/>
                        <a:t>10</a:t>
                      </a:r>
                      <a:endParaRPr lang="en-US" altLang="zh-CN" sz="1800"/>
                    </a:p>
                  </a:txBody>
                  <a:tcPr marL="317500" marR="317500" marT="215900" marB="215900" anchor="ctr"/>
                </a:tc>
                <a:tc>
                  <a:txBody>
                    <a:bodyPr/>
                    <a:p>
                      <a:pPr algn="r">
                        <a:lnSpc>
                          <a:spcPct val="120000"/>
                        </a:lnSpc>
                        <a:buNone/>
                      </a:pPr>
                      <a:r>
                        <a:rPr lang="en-US" altLang="zh-CN" sz="1800"/>
                        <a:t>10</a:t>
                      </a:r>
                      <a:endParaRPr lang="en-US" altLang="zh-CN" sz="1800"/>
                    </a:p>
                  </a:txBody>
                  <a:tcPr marL="317500" marR="317500" marT="215900" marB="215900" anchor="ctr"/>
                </a:tc>
                <a:tc>
                  <a:txBody>
                    <a:bodyPr/>
                    <a:p>
                      <a:pPr algn="r">
                        <a:lnSpc>
                          <a:spcPct val="120000"/>
                        </a:lnSpc>
                        <a:buNone/>
                      </a:pPr>
                      <a:r>
                        <a:rPr lang="en-US" altLang="zh-CN" sz="1800"/>
                        <a:t>5</a:t>
                      </a:r>
                      <a:endParaRPr lang="en-US" altLang="zh-CN" sz="1800"/>
                    </a:p>
                  </a:txBody>
                  <a:tcPr marL="317500" marR="317500" marT="215900" marB="215900" anchor="ctr"/>
                </a:tc>
                <a:tc>
                  <a:txBody>
                    <a:bodyPr/>
                    <a:p>
                      <a:pPr algn="r">
                        <a:lnSpc>
                          <a:spcPct val="120000"/>
                        </a:lnSpc>
                        <a:buNone/>
                      </a:pPr>
                      <a:r>
                        <a:rPr lang="en-US" altLang="zh-CN" sz="1800"/>
                        <a:t>0</a:t>
                      </a:r>
                      <a:endParaRPr lang="en-US" altLang="zh-CN" sz="1800"/>
                    </a:p>
                  </a:txBody>
                  <a:tcPr marL="317500" marR="317500" marT="215900" marB="215900" anchor="ctr"/>
                </a:tc>
                <a:tc>
                  <a:txBody>
                    <a:bodyPr/>
                    <a:p>
                      <a:pPr algn="r">
                        <a:lnSpc>
                          <a:spcPct val="120000"/>
                        </a:lnSpc>
                        <a:buNone/>
                      </a:pPr>
                      <a:r>
                        <a:rPr lang="en-US" altLang="zh-CN" sz="1800"/>
                        <a:t>0</a:t>
                      </a:r>
                      <a:endParaRPr lang="en-US" altLang="zh-CN" sz="1800"/>
                    </a:p>
                  </a:txBody>
                  <a:tcPr marL="317500" marR="317500" marT="215900" marB="215900" anchor="ctr"/>
                </a:tc>
              </a:tr>
              <a:tr h="760730">
                <a:tc>
                  <a:txBody>
                    <a:bodyPr/>
                    <a:p>
                      <a:pPr algn="ctr">
                        <a:lnSpc>
                          <a:spcPct val="120000"/>
                        </a:lnSpc>
                        <a:buNone/>
                      </a:pPr>
                      <a:r>
                        <a:rPr lang="zh-CN" altLang="en-US" sz="1800"/>
                        <a:t>总计</a:t>
                      </a:r>
                      <a:endParaRPr lang="zh-CN" altLang="en-US" sz="1800"/>
                    </a:p>
                  </a:txBody>
                  <a:tcPr marL="317500" marR="317500" marT="215900" marB="215900" anchor="ctr"/>
                </a:tc>
                <a:tc>
                  <a:txBody>
                    <a:bodyPr/>
                    <a:p>
                      <a:pPr algn="r">
                        <a:lnSpc>
                          <a:spcPct val="120000"/>
                        </a:lnSpc>
                        <a:buNone/>
                      </a:pPr>
                      <a:r>
                        <a:rPr lang="en-US" altLang="zh-CN" sz="1800"/>
                        <a:t>45</a:t>
                      </a:r>
                      <a:endParaRPr lang="en-US" altLang="zh-CN" sz="1800"/>
                    </a:p>
                  </a:txBody>
                  <a:tcPr marL="317500" marR="317500" marT="215900" marB="215900" anchor="ctr"/>
                </a:tc>
                <a:tc>
                  <a:txBody>
                    <a:bodyPr/>
                    <a:p>
                      <a:pPr algn="r">
                        <a:lnSpc>
                          <a:spcPct val="120000"/>
                        </a:lnSpc>
                        <a:buNone/>
                      </a:pPr>
                      <a:r>
                        <a:rPr lang="en-US" altLang="zh-CN" sz="1800"/>
                        <a:t>45</a:t>
                      </a:r>
                      <a:endParaRPr lang="en-US" altLang="zh-CN" sz="1800"/>
                    </a:p>
                  </a:txBody>
                  <a:tcPr marL="317500" marR="317500" marT="215900" marB="215900" anchor="ctr"/>
                </a:tc>
                <a:tc>
                  <a:txBody>
                    <a:bodyPr/>
                    <a:p>
                      <a:pPr algn="r">
                        <a:lnSpc>
                          <a:spcPct val="120000"/>
                        </a:lnSpc>
                        <a:buNone/>
                      </a:pPr>
                      <a:r>
                        <a:rPr lang="en-US" altLang="zh-CN" sz="1800"/>
                        <a:t>35</a:t>
                      </a:r>
                      <a:endParaRPr lang="en-US" altLang="zh-CN" sz="1800"/>
                    </a:p>
                  </a:txBody>
                  <a:tcPr marL="317500" marR="317500" marT="215900" marB="215900" anchor="ctr"/>
                </a:tc>
                <a:tc>
                  <a:txBody>
                    <a:bodyPr/>
                    <a:p>
                      <a:pPr algn="r">
                        <a:lnSpc>
                          <a:spcPct val="120000"/>
                        </a:lnSpc>
                        <a:buNone/>
                      </a:pPr>
                      <a:r>
                        <a:rPr lang="en-US" altLang="zh-CN" sz="1800"/>
                        <a:t>30</a:t>
                      </a:r>
                      <a:endParaRPr lang="en-US" altLang="zh-CN" sz="1800"/>
                    </a:p>
                  </a:txBody>
                  <a:tcPr marL="317500" marR="317500" marT="215900" marB="215900" anchor="ctr"/>
                </a:tc>
                <a:tc>
                  <a:txBody>
                    <a:bodyPr/>
                    <a:p>
                      <a:pPr algn="r">
                        <a:lnSpc>
                          <a:spcPct val="120000"/>
                        </a:lnSpc>
                        <a:buNone/>
                      </a:pPr>
                      <a:r>
                        <a:rPr lang="en-US" altLang="zh-CN" sz="1800"/>
                        <a:t>30</a:t>
                      </a:r>
                      <a:endParaRPr lang="en-US" altLang="zh-CN" sz="1800"/>
                    </a:p>
                  </a:txBody>
                  <a:tcPr marL="317500" marR="317500" marT="215900" marB="215900" anchor="ct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104775"/>
            <a:ext cx="10515600" cy="708025"/>
          </a:xfrm>
        </p:spPr>
        <p:txBody>
          <a:bodyPr/>
          <a:lstStyle/>
          <a:p>
            <a:pPr algn="ctr">
              <a:buClrTx/>
              <a:buSzTx/>
              <a:buFontTx/>
            </a:pPr>
            <a:r>
              <a:rPr kumimoji="1" lang="zh-CN" sz="2800" b="1" dirty="0">
                <a:solidFill>
                  <a:srgbClr val="FF653F"/>
                </a:solidFill>
              </a:rPr>
              <a:t>图形推理题型题量分布</a:t>
            </a:r>
            <a:endParaRPr kumimoji="1" lang="zh-CN" sz="2800" b="1" dirty="0">
              <a:solidFill>
                <a:srgbClr val="FF653F"/>
              </a:solidFill>
            </a:endParaRPr>
          </a:p>
        </p:txBody>
      </p:sp>
      <p:graphicFrame>
        <p:nvGraphicFramePr>
          <p:cNvPr id="7" name="表格 6"/>
          <p:cNvGraphicFramePr/>
          <p:nvPr>
            <p:custDataLst>
              <p:tags r:id="rId1"/>
            </p:custDataLst>
          </p:nvPr>
        </p:nvGraphicFramePr>
        <p:xfrm>
          <a:off x="2263775" y="812800"/>
          <a:ext cx="7780020" cy="2772410"/>
        </p:xfrm>
        <a:graphic>
          <a:graphicData uri="http://schemas.openxmlformats.org/drawingml/2006/table">
            <a:tbl>
              <a:tblPr firstRow="1" firstCol="1" bandRow="1">
                <a:tableStyleId>{F1EADFDB-3351-4B82-84F6-F93C6E1D39E4}</a:tableStyleId>
              </a:tblPr>
              <a:tblGrid>
                <a:gridCol w="1556004"/>
                <a:gridCol w="1556004"/>
                <a:gridCol w="1556004"/>
                <a:gridCol w="1556004"/>
                <a:gridCol w="1556004"/>
              </a:tblGrid>
              <a:tr h="601980">
                <a:tc>
                  <a:txBody>
                    <a:bodyPr/>
                    <a:p>
                      <a:pPr algn="ctr">
                        <a:buNone/>
                      </a:pPr>
                      <a:endParaRPr lang="zh-CN" altLang="en-US" sz="2800"/>
                    </a:p>
                  </a:txBody>
                  <a:tcPr/>
                </a:tc>
                <a:tc>
                  <a:txBody>
                    <a:bodyPr/>
                    <a:p>
                      <a:pPr algn="ctr">
                        <a:buNone/>
                      </a:pPr>
                      <a:r>
                        <a:rPr lang="en-US" altLang="zh-CN" sz="2800"/>
                        <a:t>2026</a:t>
                      </a:r>
                      <a:endParaRPr lang="en-US" altLang="zh-CN" sz="2800"/>
                    </a:p>
                  </a:txBody>
                  <a:tcPr/>
                </a:tc>
                <a:tc>
                  <a:txBody>
                    <a:bodyPr/>
                    <a:p>
                      <a:pPr algn="ctr">
                        <a:buNone/>
                      </a:pPr>
                      <a:r>
                        <a:rPr lang="en-US" altLang="zh-CN" sz="2800"/>
                        <a:t>2025</a:t>
                      </a:r>
                      <a:endParaRPr lang="en-US" altLang="zh-CN" sz="2800"/>
                    </a:p>
                  </a:txBody>
                  <a:tcPr/>
                </a:tc>
                <a:tc>
                  <a:txBody>
                    <a:bodyPr/>
                    <a:p>
                      <a:pPr algn="ctr">
                        <a:buNone/>
                      </a:pPr>
                      <a:r>
                        <a:rPr lang="en-US" altLang="zh-CN" sz="2800"/>
                        <a:t>2024</a:t>
                      </a:r>
                      <a:endParaRPr lang="en-US" altLang="zh-CN" sz="2800"/>
                    </a:p>
                  </a:txBody>
                  <a:tcPr/>
                </a:tc>
                <a:tc>
                  <a:txBody>
                    <a:bodyPr/>
                    <a:p>
                      <a:pPr algn="ctr">
                        <a:buNone/>
                      </a:pPr>
                      <a:r>
                        <a:rPr lang="en-US" altLang="zh-CN" sz="2800"/>
                        <a:t>2023</a:t>
                      </a:r>
                      <a:endParaRPr lang="en-US" altLang="zh-CN" sz="2800"/>
                    </a:p>
                  </a:txBody>
                  <a:tcPr/>
                </a:tc>
              </a:tr>
              <a:tr h="425450">
                <a:tc>
                  <a:txBody>
                    <a:bodyPr/>
                    <a:p>
                      <a:pPr algn="ctr">
                        <a:buNone/>
                      </a:pPr>
                      <a:r>
                        <a:rPr lang="zh-CN" altLang="en-US"/>
                        <a:t>位置类</a:t>
                      </a:r>
                      <a:endParaRPr lang="zh-CN" altLang="en-US"/>
                    </a:p>
                  </a:txBody>
                  <a:tcPr/>
                </a:tc>
                <a:tc>
                  <a:txBody>
                    <a:bodyPr/>
                    <a:p>
                      <a:pPr algn="ctr">
                        <a:buNone/>
                      </a:pPr>
                      <a:r>
                        <a:rPr lang="en-US" altLang="zh-CN"/>
                        <a:t>4</a:t>
                      </a:r>
                      <a:endParaRPr lang="en-US" altLang="zh-CN"/>
                    </a:p>
                  </a:txBody>
                  <a:tcPr/>
                </a:tc>
                <a:tc>
                  <a:txBody>
                    <a:bodyPr/>
                    <a:p>
                      <a:pPr algn="ctr">
                        <a:buNone/>
                      </a:pPr>
                      <a:r>
                        <a:rPr lang="en-US" altLang="zh-CN"/>
                        <a:t>5</a:t>
                      </a:r>
                      <a:endParaRPr lang="en-US" altLang="zh-CN"/>
                    </a:p>
                  </a:txBody>
                  <a:tcPr/>
                </a:tc>
                <a:tc>
                  <a:txBody>
                    <a:bodyPr/>
                    <a:p>
                      <a:pPr algn="ctr">
                        <a:buNone/>
                      </a:pPr>
                      <a:r>
                        <a:rPr lang="en-US" altLang="zh-CN"/>
                        <a:t>3</a:t>
                      </a:r>
                      <a:endParaRPr lang="en-US" altLang="zh-CN"/>
                    </a:p>
                  </a:txBody>
                  <a:tcPr/>
                </a:tc>
                <a:tc>
                  <a:txBody>
                    <a:bodyPr/>
                    <a:p>
                      <a:pPr algn="ctr">
                        <a:buNone/>
                      </a:pPr>
                      <a:r>
                        <a:rPr lang="en-US" altLang="zh-CN"/>
                        <a:t>1</a:t>
                      </a:r>
                      <a:endParaRPr lang="en-US" altLang="zh-CN"/>
                    </a:p>
                  </a:txBody>
                  <a:tcPr/>
                </a:tc>
              </a:tr>
              <a:tr h="425450">
                <a:tc>
                  <a:txBody>
                    <a:bodyPr/>
                    <a:p>
                      <a:pPr algn="ctr">
                        <a:buNone/>
                      </a:pPr>
                      <a:r>
                        <a:rPr lang="zh-CN" altLang="en-US"/>
                        <a:t>样式类</a:t>
                      </a:r>
                      <a:endParaRPr lang="zh-CN" altLang="en-US"/>
                    </a:p>
                  </a:txBody>
                  <a:tcPr/>
                </a:tc>
                <a:tc>
                  <a:txBody>
                    <a:bodyPr/>
                    <a:p>
                      <a:pPr algn="ctr">
                        <a:buNone/>
                      </a:pPr>
                      <a:r>
                        <a:rPr lang="en-US" altLang="zh-CN"/>
                        <a:t>2</a:t>
                      </a:r>
                      <a:endParaRPr lang="en-US" altLang="zh-CN"/>
                    </a:p>
                  </a:txBody>
                  <a:tcPr/>
                </a:tc>
                <a:tc>
                  <a:txBody>
                    <a:bodyPr/>
                    <a:p>
                      <a:pPr algn="ctr">
                        <a:buNone/>
                      </a:pPr>
                      <a:r>
                        <a:rPr lang="en-US" altLang="zh-CN"/>
                        <a:t>2</a:t>
                      </a:r>
                      <a:endParaRPr lang="en-US" altLang="zh-CN"/>
                    </a:p>
                  </a:txBody>
                  <a:tcPr/>
                </a:tc>
                <a:tc>
                  <a:txBody>
                    <a:bodyPr/>
                    <a:p>
                      <a:pPr algn="ctr">
                        <a:buNone/>
                      </a:pPr>
                      <a:r>
                        <a:rPr lang="en-US" altLang="zh-CN"/>
                        <a:t>3</a:t>
                      </a:r>
                      <a:endParaRPr lang="en-US" altLang="zh-CN"/>
                    </a:p>
                  </a:txBody>
                  <a:tcPr/>
                </a:tc>
                <a:tc>
                  <a:txBody>
                    <a:bodyPr/>
                    <a:p>
                      <a:pPr algn="ctr">
                        <a:buNone/>
                      </a:pPr>
                      <a:r>
                        <a:rPr lang="en-US" altLang="zh-CN"/>
                        <a:t>3</a:t>
                      </a:r>
                      <a:endParaRPr lang="en-US" altLang="zh-CN"/>
                    </a:p>
                  </a:txBody>
                  <a:tcPr/>
                </a:tc>
              </a:tr>
              <a:tr h="468630">
                <a:tc>
                  <a:txBody>
                    <a:bodyPr/>
                    <a:p>
                      <a:pPr algn="ctr">
                        <a:buNone/>
                      </a:pPr>
                      <a:r>
                        <a:rPr lang="zh-CN" altLang="en-US"/>
                        <a:t>数量类</a:t>
                      </a:r>
                      <a:endParaRPr lang="zh-CN" altLang="en-US"/>
                    </a:p>
                  </a:txBody>
                  <a:tcPr/>
                </a:tc>
                <a:tc>
                  <a:txBody>
                    <a:bodyPr/>
                    <a:p>
                      <a:pPr algn="ctr">
                        <a:buNone/>
                      </a:pPr>
                      <a:r>
                        <a:rPr lang="en-US" altLang="zh-CN" sz="1800"/>
                        <a:t>1</a:t>
                      </a:r>
                      <a:endParaRPr lang="en-US" altLang="zh-CN" sz="1800"/>
                    </a:p>
                  </a:txBody>
                  <a:tcPr/>
                </a:tc>
                <a:tc>
                  <a:txBody>
                    <a:bodyPr/>
                    <a:p>
                      <a:pPr algn="ctr">
                        <a:buNone/>
                      </a:pPr>
                      <a:r>
                        <a:rPr lang="en-US" altLang="zh-CN" sz="1800"/>
                        <a:t>1</a:t>
                      </a:r>
                      <a:endParaRPr lang="en-US" altLang="zh-CN" sz="1800"/>
                    </a:p>
                  </a:txBody>
                  <a:tcPr/>
                </a:tc>
                <a:tc>
                  <a:txBody>
                    <a:bodyPr/>
                    <a:p>
                      <a:pPr algn="ctr">
                        <a:buNone/>
                      </a:pPr>
                      <a:r>
                        <a:rPr lang="en-US" altLang="zh-CN" sz="1800"/>
                        <a:t>4</a:t>
                      </a:r>
                      <a:endParaRPr lang="en-US" altLang="zh-CN" sz="1800"/>
                    </a:p>
                  </a:txBody>
                  <a:tcPr/>
                </a:tc>
                <a:tc>
                  <a:txBody>
                    <a:bodyPr/>
                    <a:p>
                      <a:pPr algn="ctr">
                        <a:buNone/>
                      </a:pPr>
                      <a:r>
                        <a:rPr lang="en-US" altLang="zh-CN" sz="1800"/>
                        <a:t>1</a:t>
                      </a:r>
                      <a:endParaRPr lang="en-US" altLang="zh-CN" sz="1800"/>
                    </a:p>
                  </a:txBody>
                  <a:tcPr/>
                </a:tc>
              </a:tr>
              <a:tr h="425450">
                <a:tc>
                  <a:txBody>
                    <a:bodyPr/>
                    <a:p>
                      <a:pPr algn="ctr">
                        <a:buNone/>
                      </a:pPr>
                      <a:r>
                        <a:rPr lang="zh-CN" altLang="en-US"/>
                        <a:t>重构类</a:t>
                      </a:r>
                      <a:endParaRPr lang="zh-CN" altLang="en-US"/>
                    </a:p>
                  </a:txBody>
                  <a:tcPr/>
                </a:tc>
                <a:tc>
                  <a:txBody>
                    <a:bodyPr/>
                    <a:p>
                      <a:pPr algn="ctr">
                        <a:buNone/>
                      </a:pPr>
                      <a:r>
                        <a:rPr lang="en-US" altLang="zh-CN"/>
                        <a:t>6</a:t>
                      </a:r>
                      <a:endParaRPr lang="en-US" altLang="zh-CN"/>
                    </a:p>
                  </a:txBody>
                  <a:tcPr/>
                </a:tc>
                <a:tc>
                  <a:txBody>
                    <a:bodyPr/>
                    <a:p>
                      <a:pPr algn="ctr">
                        <a:buNone/>
                      </a:pPr>
                      <a:r>
                        <a:rPr lang="en-US" altLang="zh-CN"/>
                        <a:t>7</a:t>
                      </a:r>
                      <a:endParaRPr lang="en-US" altLang="zh-CN"/>
                    </a:p>
                  </a:txBody>
                  <a:tcPr/>
                </a:tc>
                <a:tc>
                  <a:txBody>
                    <a:bodyPr/>
                    <a:p>
                      <a:pPr algn="ctr">
                        <a:buNone/>
                      </a:pPr>
                      <a:r>
                        <a:rPr lang="en-US" altLang="zh-CN"/>
                        <a:t>0</a:t>
                      </a:r>
                      <a:endParaRPr lang="en-US" altLang="zh-CN"/>
                    </a:p>
                  </a:txBody>
                  <a:tcPr/>
                </a:tc>
                <a:tc>
                  <a:txBody>
                    <a:bodyPr/>
                    <a:p>
                      <a:pPr algn="ctr">
                        <a:buNone/>
                      </a:pPr>
                      <a:r>
                        <a:rPr lang="en-US" altLang="zh-CN"/>
                        <a:t>0</a:t>
                      </a:r>
                      <a:endParaRPr lang="en-US" altLang="zh-CN"/>
                    </a:p>
                  </a:txBody>
                  <a:tcPr/>
                </a:tc>
              </a:tr>
              <a:tr h="425450">
                <a:tc>
                  <a:txBody>
                    <a:bodyPr/>
                    <a:p>
                      <a:pPr algn="ctr">
                        <a:buNone/>
                      </a:pPr>
                      <a:r>
                        <a:rPr lang="zh-CN" altLang="en-US"/>
                        <a:t>总计</a:t>
                      </a:r>
                      <a:endParaRPr lang="zh-CN" altLang="en-US"/>
                    </a:p>
                  </a:txBody>
                  <a:tcPr/>
                </a:tc>
                <a:tc>
                  <a:txBody>
                    <a:bodyPr/>
                    <a:p>
                      <a:pPr algn="ctr">
                        <a:buNone/>
                      </a:pPr>
                      <a:r>
                        <a:rPr lang="en-US" altLang="zh-CN"/>
                        <a:t>13</a:t>
                      </a:r>
                      <a:r>
                        <a:rPr lang="zh-CN" altLang="en-US"/>
                        <a:t>（题不全）</a:t>
                      </a:r>
                      <a:endParaRPr lang="zh-CN" altLang="en-US"/>
                    </a:p>
                  </a:txBody>
                  <a:tcPr/>
                </a:tc>
                <a:tc>
                  <a:txBody>
                    <a:bodyPr/>
                    <a:p>
                      <a:pPr algn="ctr">
                        <a:buNone/>
                      </a:pPr>
                      <a:r>
                        <a:rPr lang="en-US" altLang="zh-CN"/>
                        <a:t>15</a:t>
                      </a:r>
                      <a:endParaRPr lang="en-US" altLang="zh-CN"/>
                    </a:p>
                  </a:txBody>
                  <a:tcPr/>
                </a:tc>
                <a:tc>
                  <a:txBody>
                    <a:bodyPr/>
                    <a:p>
                      <a:pPr algn="ctr">
                        <a:buNone/>
                      </a:pPr>
                      <a:r>
                        <a:rPr lang="en-US" altLang="zh-CN"/>
                        <a:t>10</a:t>
                      </a:r>
                      <a:endParaRPr lang="en-US" altLang="zh-CN"/>
                    </a:p>
                  </a:txBody>
                  <a:tcPr/>
                </a:tc>
                <a:tc>
                  <a:txBody>
                    <a:bodyPr/>
                    <a:p>
                      <a:pPr algn="ctr">
                        <a:buNone/>
                      </a:pPr>
                      <a:r>
                        <a:rPr lang="en-US" altLang="zh-CN"/>
                        <a:t>5</a:t>
                      </a:r>
                      <a:endParaRPr lang="en-US" altLang="zh-CN"/>
                    </a:p>
                  </a:txBody>
                  <a:tcPr/>
                </a:tc>
              </a:tr>
            </a:tbl>
          </a:graphicData>
        </a:graphic>
      </p:graphicFrame>
      <p:sp>
        <p:nvSpPr>
          <p:cNvPr id="3" name="文本框 2"/>
          <p:cNvSpPr txBox="1"/>
          <p:nvPr/>
        </p:nvSpPr>
        <p:spPr>
          <a:xfrm>
            <a:off x="579755" y="4000500"/>
            <a:ext cx="11085830" cy="2168525"/>
          </a:xfrm>
          <a:prstGeom prst="rect">
            <a:avLst/>
          </a:prstGeom>
          <a:noFill/>
        </p:spPr>
        <p:txBody>
          <a:bodyPr wrap="square" rtlCol="0">
            <a:spAutoFit/>
          </a:bodyPr>
          <a:p>
            <a:pPr indent="0" fontAlgn="auto">
              <a:lnSpc>
                <a:spcPct val="150000"/>
              </a:lnSpc>
            </a:pPr>
            <a:r>
              <a:rPr lang="zh-CN" altLang="en-US"/>
              <a:t>以</a:t>
            </a:r>
            <a:r>
              <a:rPr lang="en-US" altLang="zh-CN"/>
              <a:t>25</a:t>
            </a:r>
            <a:r>
              <a:rPr lang="zh-CN" altLang="en-US"/>
              <a:t>年为例：</a:t>
            </a:r>
            <a:endParaRPr lang="zh-CN" altLang="en-US"/>
          </a:p>
          <a:p>
            <a:pPr indent="0" fontAlgn="auto">
              <a:lnSpc>
                <a:spcPct val="150000"/>
              </a:lnSpc>
            </a:pPr>
            <a:r>
              <a:rPr lang="zh-CN" altLang="en-US"/>
              <a:t>基础题目：</a:t>
            </a:r>
            <a:r>
              <a:rPr lang="en-US" altLang="zh-CN"/>
              <a:t>2</a:t>
            </a:r>
            <a:r>
              <a:rPr lang="zh-CN" altLang="en-US"/>
              <a:t>运算、平移、黑球样式、小球位置、六面体、三视图、截面图、</a:t>
            </a:r>
            <a:endParaRPr lang="zh-CN" altLang="en-US"/>
          </a:p>
          <a:p>
            <a:pPr indent="0" fontAlgn="auto">
              <a:lnSpc>
                <a:spcPct val="150000"/>
              </a:lnSpc>
            </a:pPr>
            <a:r>
              <a:rPr lang="zh-CN" altLang="en-US">
                <a:sym typeface="+mn-ea"/>
              </a:rPr>
              <a:t>特色题目：</a:t>
            </a:r>
            <a:r>
              <a:rPr lang="en-US" altLang="zh-CN">
                <a:sym typeface="+mn-ea"/>
              </a:rPr>
              <a:t>1</a:t>
            </a:r>
            <a:r>
              <a:rPr lang="zh-CN" altLang="en-US">
                <a:sym typeface="+mn-ea"/>
              </a:rPr>
              <a:t>拖</a:t>
            </a:r>
            <a:r>
              <a:rPr lang="en-US" altLang="zh-CN">
                <a:sym typeface="+mn-ea"/>
              </a:rPr>
              <a:t>3</a:t>
            </a:r>
            <a:r>
              <a:rPr lang="zh-CN" altLang="en-US">
                <a:sym typeface="+mn-ea"/>
              </a:rPr>
              <a:t>、</a:t>
            </a:r>
            <a:r>
              <a:rPr lang="en-US" altLang="zh-CN"/>
              <a:t>2</a:t>
            </a:r>
            <a:r>
              <a:rPr lang="zh-CN" altLang="en-US"/>
              <a:t>投影方向、</a:t>
            </a:r>
            <a:r>
              <a:rPr lang="zh-CN" altLang="en-US">
                <a:sym typeface="+mn-ea"/>
              </a:rPr>
              <a:t>开车拍照、平面拼合、</a:t>
            </a:r>
            <a:endParaRPr lang="zh-CN" altLang="en-US"/>
          </a:p>
          <a:p>
            <a:pPr indent="0" fontAlgn="auto">
              <a:lnSpc>
                <a:spcPct val="150000"/>
              </a:lnSpc>
            </a:pPr>
            <a:r>
              <a:rPr lang="zh-CN" altLang="en-US"/>
              <a:t>位置类，考察</a:t>
            </a:r>
            <a:r>
              <a:rPr lang="en-US" altLang="zh-CN"/>
              <a:t>1</a:t>
            </a:r>
            <a:r>
              <a:rPr lang="zh-CN" altLang="en-US"/>
              <a:t>拖</a:t>
            </a:r>
            <a:r>
              <a:rPr lang="en-US" altLang="zh-CN"/>
              <a:t>3</a:t>
            </a:r>
            <a:r>
              <a:rPr lang="zh-CN" altLang="en-US"/>
              <a:t>题型（全国唯一图推</a:t>
            </a:r>
            <a:r>
              <a:rPr lang="en-US" altLang="zh-CN"/>
              <a:t>1</a:t>
            </a:r>
            <a:r>
              <a:rPr lang="zh-CN" altLang="en-US"/>
              <a:t>拖</a:t>
            </a:r>
            <a:r>
              <a:rPr lang="en-US" altLang="zh-CN"/>
              <a:t>3</a:t>
            </a:r>
            <a:r>
              <a:rPr lang="zh-CN" altLang="en-US"/>
              <a:t>）</a:t>
            </a:r>
            <a:endParaRPr lang="zh-CN" altLang="en-US"/>
          </a:p>
          <a:p>
            <a:pPr indent="0" fontAlgn="auto">
              <a:lnSpc>
                <a:spcPct val="150000"/>
              </a:lnSpc>
            </a:pPr>
            <a:r>
              <a:rPr lang="zh-CN" altLang="en-US"/>
              <a:t>重构类，考察方向型重构</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831215" y="62230"/>
            <a:ext cx="8590280"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43" name="图片 10" descr="IMG_265"/>
          <p:cNvPicPr>
            <a:picLocks noChangeAspect="1"/>
          </p:cNvPicPr>
          <p:nvPr/>
        </p:nvPicPr>
        <p:blipFill>
          <a:blip r:embed="rId2"/>
          <a:stretch>
            <a:fillRect/>
          </a:stretch>
        </p:blipFill>
        <p:spPr>
          <a:xfrm>
            <a:off x="831215" y="913130"/>
            <a:ext cx="5800090" cy="3333115"/>
          </a:xfrm>
          <a:prstGeom prst="rect">
            <a:avLst/>
          </a:prstGeom>
          <a:noFill/>
          <a:ln w="9525">
            <a:noFill/>
          </a:ln>
        </p:spPr>
      </p:pic>
      <p:sp>
        <p:nvSpPr>
          <p:cNvPr id="3" name="矩形 2"/>
          <p:cNvSpPr/>
          <p:nvPr>
            <p:custDataLst>
              <p:tags r:id="rId3"/>
            </p:custDataLst>
          </p:nvPr>
        </p:nvSpPr>
        <p:spPr>
          <a:xfrm>
            <a:off x="831215" y="4246245"/>
            <a:ext cx="1081849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1.</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54" name="图片 11" descr="IMG_266"/>
          <p:cNvPicPr>
            <a:picLocks noChangeAspect="1"/>
          </p:cNvPicPr>
          <p:nvPr/>
        </p:nvPicPr>
        <p:blipFill>
          <a:blip r:embed="rId4"/>
          <a:stretch>
            <a:fillRect/>
          </a:stretch>
        </p:blipFill>
        <p:spPr>
          <a:xfrm>
            <a:off x="955040" y="4891405"/>
            <a:ext cx="8602345" cy="1484630"/>
          </a:xfrm>
          <a:prstGeom prst="rect">
            <a:avLst/>
          </a:prstGeom>
          <a:noFill/>
          <a:ln w="9525">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10" descr="IMG_265"/>
          <p:cNvPicPr>
            <a:picLocks noChangeAspect="1"/>
          </p:cNvPicPr>
          <p:nvPr/>
        </p:nvPicPr>
        <p:blipFill>
          <a:blip r:embed="rId1"/>
          <a:stretch>
            <a:fillRect/>
          </a:stretch>
        </p:blipFill>
        <p:spPr>
          <a:xfrm>
            <a:off x="831215" y="913130"/>
            <a:ext cx="5800090" cy="3333115"/>
          </a:xfrm>
          <a:prstGeom prst="rect">
            <a:avLst/>
          </a:prstGeom>
          <a:noFill/>
          <a:ln w="9525">
            <a:noFill/>
          </a:ln>
        </p:spPr>
      </p:pic>
      <p:sp>
        <p:nvSpPr>
          <p:cNvPr id="3" name="矩形 2"/>
          <p:cNvSpPr/>
          <p:nvPr>
            <p:custDataLst>
              <p:tags r:id="rId2"/>
            </p:custDataLst>
          </p:nvPr>
        </p:nvSpPr>
        <p:spPr>
          <a:xfrm>
            <a:off x="831215" y="4153535"/>
            <a:ext cx="1081849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2.</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55" name="图片 15" descr="IMG_270"/>
          <p:cNvPicPr>
            <a:picLocks noChangeAspect="1"/>
          </p:cNvPicPr>
          <p:nvPr/>
        </p:nvPicPr>
        <p:blipFill>
          <a:blip r:embed="rId3"/>
          <a:stretch>
            <a:fillRect/>
          </a:stretch>
        </p:blipFill>
        <p:spPr>
          <a:xfrm>
            <a:off x="831215" y="4740910"/>
            <a:ext cx="9148445" cy="1573530"/>
          </a:xfrm>
          <a:prstGeom prst="rect">
            <a:avLst/>
          </a:prstGeom>
          <a:noFill/>
          <a:ln w="9525">
            <a:noFill/>
          </a:ln>
        </p:spPr>
      </p:pic>
      <p:sp>
        <p:nvSpPr>
          <p:cNvPr id="2" name="矩形 1"/>
          <p:cNvSpPr/>
          <p:nvPr>
            <p:custDataLst>
              <p:tags r:id="rId4"/>
            </p:custDataLst>
          </p:nvPr>
        </p:nvSpPr>
        <p:spPr>
          <a:xfrm>
            <a:off x="831215" y="62230"/>
            <a:ext cx="8590280"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图片 10" descr="IMG_265"/>
          <p:cNvPicPr>
            <a:picLocks noChangeAspect="1"/>
          </p:cNvPicPr>
          <p:nvPr/>
        </p:nvPicPr>
        <p:blipFill>
          <a:blip r:embed="rId1"/>
          <a:stretch>
            <a:fillRect/>
          </a:stretch>
        </p:blipFill>
        <p:spPr>
          <a:xfrm>
            <a:off x="831215" y="913130"/>
            <a:ext cx="5668010" cy="3256915"/>
          </a:xfrm>
          <a:prstGeom prst="rect">
            <a:avLst/>
          </a:prstGeom>
          <a:noFill/>
          <a:ln w="9525">
            <a:noFill/>
          </a:ln>
        </p:spPr>
      </p:pic>
      <p:sp>
        <p:nvSpPr>
          <p:cNvPr id="3" name="矩形 2"/>
          <p:cNvSpPr/>
          <p:nvPr>
            <p:custDataLst>
              <p:tags r:id="rId2"/>
            </p:custDataLst>
          </p:nvPr>
        </p:nvSpPr>
        <p:spPr>
          <a:xfrm>
            <a:off x="831215" y="4060825"/>
            <a:ext cx="10818495" cy="64516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对左侧的图形依次进行相应的操作后，可以得到右侧哪个图形</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p:txBody>
      </p:sp>
      <p:pic>
        <p:nvPicPr>
          <p:cNvPr id="56" name="图片 19" descr="IMG_274"/>
          <p:cNvPicPr>
            <a:picLocks noChangeAspect="1"/>
          </p:cNvPicPr>
          <p:nvPr/>
        </p:nvPicPr>
        <p:blipFill>
          <a:blip r:embed="rId3"/>
          <a:stretch>
            <a:fillRect/>
          </a:stretch>
        </p:blipFill>
        <p:spPr>
          <a:xfrm>
            <a:off x="831215" y="4705985"/>
            <a:ext cx="9592310" cy="1646555"/>
          </a:xfrm>
          <a:prstGeom prst="rect">
            <a:avLst/>
          </a:prstGeom>
          <a:noFill/>
          <a:ln w="9525">
            <a:noFill/>
          </a:ln>
        </p:spPr>
      </p:pic>
      <p:sp>
        <p:nvSpPr>
          <p:cNvPr id="2" name="矩形 1"/>
          <p:cNvSpPr/>
          <p:nvPr>
            <p:custDataLst>
              <p:tags r:id="rId4"/>
            </p:custDataLst>
          </p:nvPr>
        </p:nvSpPr>
        <p:spPr>
          <a:xfrm>
            <a:off x="831215" y="62230"/>
            <a:ext cx="8590280" cy="645160"/>
          </a:xfrm>
          <a:prstGeom prst="rect">
            <a:avLst/>
          </a:prstGeom>
        </p:spPr>
        <p:txBody>
          <a:bodyPr wrap="square">
            <a:spAutoFit/>
          </a:bodyPr>
          <a:p>
            <a:pPr indent="0" fontAlgn="auto">
              <a:lnSpc>
                <a:spcPct val="150000"/>
              </a:lnSpc>
              <a:defRPr sz="7400" spc="200">
                <a:solidFill>
                  <a:srgbClr val="000000"/>
                </a:solidFill>
              </a:defRPr>
            </a:pPr>
            <a:r>
              <a:rPr lang="zh-CN" altLang="en-US" sz="2400" spc="200" dirty="0">
                <a:solidFill>
                  <a:srgbClr val="000000"/>
                </a:solidFill>
                <a:latin typeface="+mn-ea"/>
                <a:cs typeface="楷体" panose="02010609060101010101" charset="-122"/>
                <a:sym typeface="楷体" panose="02010609060101010101" charset="-122"/>
              </a:rPr>
              <a:t>下面呈现一组操作规则，根据要求完成以下</a:t>
            </a:r>
            <a:r>
              <a:rPr lang="en-US" altLang="zh-CN" sz="2400" spc="200" dirty="0">
                <a:solidFill>
                  <a:srgbClr val="000000"/>
                </a:solidFill>
                <a:latin typeface="+mn-ea"/>
                <a:cs typeface="楷体" panose="02010609060101010101" charset="-122"/>
                <a:sym typeface="楷体" panose="02010609060101010101" charset="-122"/>
              </a:rPr>
              <a:t>3</a:t>
            </a:r>
            <a:r>
              <a:rPr lang="zh-CN" altLang="en-US" sz="2400" spc="200" dirty="0">
                <a:solidFill>
                  <a:srgbClr val="000000"/>
                </a:solidFill>
                <a:latin typeface="+mn-ea"/>
                <a:cs typeface="楷体" panose="02010609060101010101" charset="-122"/>
                <a:sym typeface="楷体" panose="02010609060101010101" charset="-122"/>
              </a:rPr>
              <a:t>题</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3118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4.</a:t>
            </a:r>
            <a:r>
              <a:rPr lang="zh-CN" altLang="en-US" sz="2400" spc="200" dirty="0">
                <a:solidFill>
                  <a:srgbClr val="000000"/>
                </a:solidFill>
                <a:latin typeface="+mn-ea"/>
                <a:cs typeface="楷体" panose="02010609060101010101" charset="-122"/>
                <a:sym typeface="楷体" panose="02010609060101010101" charset="-122"/>
              </a:rPr>
              <a:t>小张在太阳处于正西方向时看到了一栋长方体形状的建筑，建筑四个墙面分别面向东西南北四个方向。他将当时看到的建筑和投影一起画了下来（如右图所示）。小张看到这景象时在建筑的哪个方向</a:t>
            </a:r>
            <a:r>
              <a:rPr lang="en-US" altLang="zh-CN" sz="2400" spc="200" dirty="0">
                <a:solidFill>
                  <a:srgbClr val="000000"/>
                </a:solidFill>
                <a:latin typeface="+mn-ea"/>
                <a:cs typeface="楷体" panose="02010609060101010101" charset="-122"/>
                <a:sym typeface="楷体" panose="02010609060101010101" charset="-122"/>
              </a:rPr>
              <a:t>?</a:t>
            </a: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endParaRPr lang="en-US" altLang="zh-CN"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东北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西北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东南</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西南</a:t>
            </a:r>
            <a:endParaRPr lang="zh-CN" altLang="en-US" sz="2400" spc="200" dirty="0">
              <a:solidFill>
                <a:srgbClr val="000000"/>
              </a:solidFill>
              <a:latin typeface="+mn-ea"/>
              <a:cs typeface="楷体" panose="02010609060101010101" charset="-122"/>
              <a:sym typeface="楷体" panose="02010609060101010101" charset="-122"/>
            </a:endParaRPr>
          </a:p>
        </p:txBody>
      </p:sp>
      <p:pic>
        <p:nvPicPr>
          <p:cNvPr id="75" name="图片 39" descr="IMG_294"/>
          <p:cNvPicPr>
            <a:picLocks noChangeAspect="1"/>
          </p:cNvPicPr>
          <p:nvPr/>
        </p:nvPicPr>
        <p:blipFill>
          <a:blip r:embed="rId2"/>
          <a:stretch>
            <a:fillRect/>
          </a:stretch>
        </p:blipFill>
        <p:spPr>
          <a:xfrm>
            <a:off x="6096000" y="2684145"/>
            <a:ext cx="4613275" cy="3006725"/>
          </a:xfrm>
          <a:prstGeom prst="rect">
            <a:avLst/>
          </a:prstGeom>
          <a:noFill/>
          <a:ln w="9525">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58495" y="203835"/>
            <a:ext cx="10515600" cy="708025"/>
          </a:xfrm>
        </p:spPr>
        <p:txBody>
          <a:bodyPr/>
          <a:lstStyle/>
          <a:p>
            <a:pPr algn="ctr">
              <a:buClrTx/>
              <a:buSzTx/>
              <a:buFontTx/>
            </a:pPr>
            <a:r>
              <a:rPr kumimoji="1" lang="zh-CN" sz="2800" b="1" dirty="0">
                <a:solidFill>
                  <a:srgbClr val="FF653F"/>
                </a:solidFill>
              </a:rPr>
              <a:t>定义判断题型题量分布</a:t>
            </a:r>
            <a:endParaRPr kumimoji="1" lang="zh-CN" sz="2800" b="1" dirty="0">
              <a:solidFill>
                <a:srgbClr val="FF653F"/>
              </a:solidFill>
            </a:endParaRPr>
          </a:p>
        </p:txBody>
      </p:sp>
      <p:graphicFrame>
        <p:nvGraphicFramePr>
          <p:cNvPr id="4" name="表格 3"/>
          <p:cNvGraphicFramePr/>
          <p:nvPr>
            <p:custDataLst>
              <p:tags r:id="rId1"/>
            </p:custDataLst>
          </p:nvPr>
        </p:nvGraphicFramePr>
        <p:xfrm>
          <a:off x="1838960" y="1185545"/>
          <a:ext cx="8155305" cy="1449070"/>
        </p:xfrm>
        <a:graphic>
          <a:graphicData uri="http://schemas.openxmlformats.org/drawingml/2006/table">
            <a:tbl>
              <a:tblPr firstRow="1" bandRow="1">
                <a:tableStyleId>{5C22544A-7EE6-4342-B048-85BDC9FD1C3A}</a:tableStyleId>
              </a:tblPr>
              <a:tblGrid>
                <a:gridCol w="2038826"/>
                <a:gridCol w="2038827"/>
                <a:gridCol w="2038826"/>
                <a:gridCol w="2038826"/>
              </a:tblGrid>
              <a:tr h="586740">
                <a:tc>
                  <a:txBody>
                    <a:bodyPr/>
                    <a:p>
                      <a:pPr algn="ctr">
                        <a:buNone/>
                      </a:pPr>
                      <a:endParaRPr lang="zh-CN" altLang="en-US"/>
                    </a:p>
                  </a:txBody>
                  <a:tcPr/>
                </a:tc>
                <a:tc>
                  <a:txBody>
                    <a:bodyPr/>
                    <a:p>
                      <a:pPr algn="ctr">
                        <a:buClrTx/>
                        <a:buSzTx/>
                        <a:buFontTx/>
                        <a:buNone/>
                      </a:pPr>
                      <a:r>
                        <a:rPr lang="en-US" altLang="zh-CN" sz="2800">
                          <a:ea typeface="楷体" panose="02010609060101010101" charset="-122"/>
                          <a:cs typeface="楷体" panose="02010609060101010101" charset="-122"/>
                        </a:rPr>
                        <a:t>2025</a:t>
                      </a:r>
                      <a:endParaRPr lang="en-US" altLang="zh-CN" sz="2800">
                        <a:ea typeface="楷体" panose="02010609060101010101" charset="-122"/>
                        <a:cs typeface="楷体" panose="02010609060101010101" charset="-122"/>
                      </a:endParaRPr>
                    </a:p>
                  </a:txBody>
                  <a:tcPr/>
                </a:tc>
                <a:tc>
                  <a:txBody>
                    <a:bodyPr/>
                    <a:p>
                      <a:pPr algn="ctr">
                        <a:buClrTx/>
                        <a:buSzTx/>
                        <a:buFontTx/>
                        <a:buNone/>
                      </a:pPr>
                      <a:r>
                        <a:rPr lang="en-US" altLang="zh-CN" sz="2800">
                          <a:ea typeface="楷体" panose="02010609060101010101" charset="-122"/>
                          <a:cs typeface="楷体" panose="02010609060101010101" charset="-122"/>
                        </a:rPr>
                        <a:t>2024</a:t>
                      </a:r>
                      <a:endParaRPr lang="en-US" altLang="zh-CN" sz="2800">
                        <a:ea typeface="楷体" panose="02010609060101010101" charset="-122"/>
                        <a:cs typeface="楷体" panose="02010609060101010101" charset="-122"/>
                      </a:endParaRPr>
                    </a:p>
                  </a:txBody>
                  <a:tcPr/>
                </a:tc>
                <a:tc>
                  <a:txBody>
                    <a:bodyPr/>
                    <a:p>
                      <a:pPr algn="ctr">
                        <a:buClrTx/>
                        <a:buSzTx/>
                        <a:buFontTx/>
                        <a:buNone/>
                      </a:pPr>
                      <a:r>
                        <a:rPr lang="en-US" altLang="zh-CN" sz="2800">
                          <a:ea typeface="楷体" panose="02010609060101010101" charset="-122"/>
                          <a:cs typeface="楷体" panose="02010609060101010101" charset="-122"/>
                        </a:rPr>
                        <a:t>2023</a:t>
                      </a:r>
                      <a:endParaRPr lang="en-US" altLang="zh-CN" sz="2800">
                        <a:ea typeface="楷体" panose="02010609060101010101" charset="-122"/>
                        <a:cs typeface="楷体" panose="02010609060101010101" charset="-122"/>
                      </a:endParaRPr>
                    </a:p>
                  </a:txBody>
                  <a:tcPr/>
                </a:tc>
              </a:tr>
              <a:tr h="431165">
                <a:tc>
                  <a:txBody>
                    <a:bodyPr/>
                    <a:p>
                      <a:pPr algn="ctr">
                        <a:buNone/>
                      </a:pPr>
                      <a:r>
                        <a:rPr lang="zh-CN" altLang="en-US" b="1"/>
                        <a:t>单定义</a:t>
                      </a:r>
                      <a:endParaRPr lang="zh-CN" altLang="en-US" b="1"/>
                    </a:p>
                  </a:txBody>
                  <a:tcPr/>
                </a:tc>
                <a:tc>
                  <a:txBody>
                    <a:bodyPr/>
                    <a:p>
                      <a:pPr algn="ctr">
                        <a:buNone/>
                      </a:pPr>
                      <a:r>
                        <a:rPr lang="en-US" altLang="zh-CN"/>
                        <a:t>4</a:t>
                      </a:r>
                      <a:endParaRPr lang="en-US" altLang="zh-CN"/>
                    </a:p>
                  </a:txBody>
                  <a:tcPr/>
                </a:tc>
                <a:tc>
                  <a:txBody>
                    <a:bodyPr/>
                    <a:p>
                      <a:pPr algn="ctr">
                        <a:buNone/>
                      </a:pPr>
                      <a:r>
                        <a:rPr lang="en-US" altLang="zh-CN"/>
                        <a:t>5</a:t>
                      </a:r>
                      <a:endParaRPr lang="en-US" altLang="zh-CN"/>
                    </a:p>
                  </a:txBody>
                  <a:tcPr/>
                </a:tc>
                <a:tc>
                  <a:txBody>
                    <a:bodyPr/>
                    <a:p>
                      <a:pPr algn="ctr">
                        <a:buNone/>
                      </a:pPr>
                      <a:r>
                        <a:rPr lang="en-US" altLang="zh-CN"/>
                        <a:t>9</a:t>
                      </a:r>
                      <a:endParaRPr lang="en-US" altLang="zh-CN"/>
                    </a:p>
                  </a:txBody>
                  <a:tcPr/>
                </a:tc>
              </a:tr>
              <a:tr h="431165">
                <a:tc>
                  <a:txBody>
                    <a:bodyPr/>
                    <a:p>
                      <a:pPr algn="ctr">
                        <a:buNone/>
                      </a:pPr>
                      <a:r>
                        <a:rPr lang="zh-CN" altLang="en-US" b="1"/>
                        <a:t>多定义</a:t>
                      </a:r>
                      <a:endParaRPr lang="zh-CN" altLang="en-US" b="1"/>
                    </a:p>
                  </a:txBody>
                  <a:tcPr/>
                </a:tc>
                <a:tc>
                  <a:txBody>
                    <a:bodyPr/>
                    <a:p>
                      <a:pPr algn="ctr">
                        <a:buNone/>
                      </a:pPr>
                      <a:r>
                        <a:rPr lang="en-US" altLang="zh-CN"/>
                        <a:t>1</a:t>
                      </a:r>
                      <a:endParaRPr lang="en-US" altLang="zh-CN"/>
                    </a:p>
                  </a:txBody>
                  <a:tcPr/>
                </a:tc>
                <a:tc>
                  <a:txBody>
                    <a:bodyPr/>
                    <a:p>
                      <a:pPr algn="ctr">
                        <a:buNone/>
                      </a:pPr>
                      <a:r>
                        <a:rPr lang="en-US" altLang="zh-CN"/>
                        <a:t>0</a:t>
                      </a:r>
                      <a:endParaRPr lang="en-US" altLang="zh-CN"/>
                    </a:p>
                  </a:txBody>
                  <a:tcPr/>
                </a:tc>
                <a:tc>
                  <a:txBody>
                    <a:bodyPr/>
                    <a:p>
                      <a:pPr algn="ctr">
                        <a:buNone/>
                      </a:pPr>
                      <a:r>
                        <a:rPr lang="en-US" altLang="zh-CN"/>
                        <a:t>1</a:t>
                      </a:r>
                      <a:endParaRPr lang="en-US" altLang="zh-CN"/>
                    </a:p>
                  </a:txBody>
                  <a:tcPr/>
                </a:tc>
              </a:tr>
            </a:tbl>
          </a:graphicData>
        </a:graphic>
      </p:graphicFrame>
      <p:graphicFrame>
        <p:nvGraphicFramePr>
          <p:cNvPr id="3" name="表格 2"/>
          <p:cNvGraphicFramePr/>
          <p:nvPr>
            <p:custDataLst>
              <p:tags r:id="rId2"/>
            </p:custDataLst>
          </p:nvPr>
        </p:nvGraphicFramePr>
        <p:xfrm>
          <a:off x="1838325" y="2908300"/>
          <a:ext cx="8155940" cy="2286000"/>
        </p:xfrm>
        <a:graphic>
          <a:graphicData uri="http://schemas.openxmlformats.org/drawingml/2006/table">
            <a:tbl>
              <a:tblPr firstRow="1" bandRow="1">
                <a:tableStyleId>{5C22544A-7EE6-4342-B048-85BDC9FD1C3A}</a:tableStyleId>
              </a:tblPr>
              <a:tblGrid>
                <a:gridCol w="4077970"/>
                <a:gridCol w="4077970"/>
              </a:tblGrid>
              <a:tr h="381000">
                <a:tc gridSpan="2">
                  <a:txBody>
                    <a:bodyPr/>
                    <a:p>
                      <a:pPr algn="ctr">
                        <a:buNone/>
                      </a:pPr>
                      <a:r>
                        <a:rPr lang="zh-CN" altLang="en-US"/>
                        <a:t>以</a:t>
                      </a:r>
                      <a:r>
                        <a:rPr lang="en-US" altLang="zh-CN"/>
                        <a:t>2025</a:t>
                      </a:r>
                      <a:r>
                        <a:rPr lang="zh-CN" altLang="en-US"/>
                        <a:t>年为例</a:t>
                      </a:r>
                      <a:endParaRPr lang="zh-CN" altLang="en-US"/>
                    </a:p>
                  </a:txBody>
                  <a:tcPr/>
                </a:tc>
                <a:tc hMerge="1">
                  <a:tcPr/>
                </a:tc>
              </a:tr>
              <a:tr h="381000">
                <a:tc>
                  <a:txBody>
                    <a:bodyPr/>
                    <a:p>
                      <a:pPr>
                        <a:buNone/>
                      </a:pPr>
                      <a:r>
                        <a:rPr lang="zh-CN" altLang="en-US"/>
                        <a:t>多定义</a:t>
                      </a:r>
                      <a:endParaRPr lang="zh-CN" altLang="en-US"/>
                    </a:p>
                  </a:txBody>
                  <a:tcPr/>
                </a:tc>
                <a:tc>
                  <a:txBody>
                    <a:bodyPr/>
                    <a:p>
                      <a:pPr>
                        <a:buNone/>
                      </a:pPr>
                      <a:r>
                        <a:rPr lang="zh-CN" altLang="en-US"/>
                        <a:t>主动收入</a:t>
                      </a:r>
                      <a:r>
                        <a:rPr lang="en-US" altLang="zh-CN"/>
                        <a:t>/</a:t>
                      </a:r>
                      <a:r>
                        <a:rPr lang="zh-CN" altLang="en-US"/>
                        <a:t>被动收入</a:t>
                      </a:r>
                      <a:endParaRPr lang="zh-CN" altLang="en-US"/>
                    </a:p>
                  </a:txBody>
                  <a:tcPr/>
                </a:tc>
              </a:tr>
              <a:tr h="381000">
                <a:tc>
                  <a:txBody>
                    <a:bodyPr/>
                    <a:p>
                      <a:pPr>
                        <a:buNone/>
                      </a:pPr>
                      <a:r>
                        <a:rPr lang="zh-CN" altLang="en-US"/>
                        <a:t>单定义</a:t>
                      </a:r>
                      <a:endParaRPr lang="zh-CN" altLang="en-US"/>
                    </a:p>
                  </a:txBody>
                  <a:tcPr/>
                </a:tc>
                <a:tc>
                  <a:txBody>
                    <a:bodyPr/>
                    <a:p>
                      <a:pPr>
                        <a:buNone/>
                      </a:pPr>
                      <a:r>
                        <a:rPr lang="zh-CN" altLang="en-US"/>
                        <a:t>体育旅游</a:t>
                      </a:r>
                      <a:endParaRPr lang="zh-CN" altLang="en-US"/>
                    </a:p>
                  </a:txBody>
                  <a:tcPr/>
                </a:tc>
              </a:tr>
              <a:tr h="381000">
                <a:tc>
                  <a:txBody>
                    <a:bodyPr/>
                    <a:p>
                      <a:pPr>
                        <a:buNone/>
                      </a:pPr>
                      <a:r>
                        <a:rPr lang="zh-CN" altLang="en-US"/>
                        <a:t>单定义</a:t>
                      </a:r>
                      <a:endParaRPr lang="zh-CN" altLang="en-US"/>
                    </a:p>
                  </a:txBody>
                  <a:tcPr/>
                </a:tc>
                <a:tc>
                  <a:txBody>
                    <a:bodyPr/>
                    <a:p>
                      <a:pPr>
                        <a:buNone/>
                      </a:pPr>
                      <a:r>
                        <a:rPr lang="zh-CN" altLang="en-US"/>
                        <a:t>个性化契约</a:t>
                      </a:r>
                      <a:endParaRPr lang="en-US" altLang="zh-CN"/>
                    </a:p>
                  </a:txBody>
                  <a:tcPr/>
                </a:tc>
              </a:tr>
              <a:tr h="381000">
                <a:tc>
                  <a:txBody>
                    <a:bodyPr/>
                    <a:p>
                      <a:pPr>
                        <a:buNone/>
                      </a:pPr>
                      <a:r>
                        <a:rPr lang="zh-CN" altLang="en-US"/>
                        <a:t>单定义</a:t>
                      </a:r>
                      <a:endParaRPr lang="zh-CN" altLang="en-US"/>
                    </a:p>
                  </a:txBody>
                  <a:tcPr/>
                </a:tc>
                <a:tc>
                  <a:txBody>
                    <a:bodyPr/>
                    <a:p>
                      <a:pPr>
                        <a:buNone/>
                      </a:pPr>
                      <a:r>
                        <a:rPr lang="zh-CN" altLang="en-US"/>
                        <a:t>生态位重叠</a:t>
                      </a:r>
                      <a:endParaRPr lang="zh-CN" altLang="en-US"/>
                    </a:p>
                  </a:txBody>
                  <a:tcPr/>
                </a:tc>
              </a:tr>
              <a:tr h="381000">
                <a:tc>
                  <a:txBody>
                    <a:bodyPr/>
                    <a:p>
                      <a:pPr>
                        <a:buNone/>
                      </a:pPr>
                      <a:r>
                        <a:rPr lang="zh-CN" altLang="en-US"/>
                        <a:t>单定义</a:t>
                      </a:r>
                      <a:endParaRPr lang="zh-CN" altLang="en-US"/>
                    </a:p>
                  </a:txBody>
                  <a:tcPr/>
                </a:tc>
                <a:tc>
                  <a:txBody>
                    <a:bodyPr/>
                    <a:p>
                      <a:pPr>
                        <a:buNone/>
                      </a:pPr>
                      <a:r>
                        <a:rPr lang="zh-CN" altLang="en-US"/>
                        <a:t>薄暮效应</a:t>
                      </a:r>
                      <a:endParaRPr lang="zh-CN" altLang="en-US"/>
                    </a:p>
                  </a:txBody>
                  <a:tcPr/>
                </a:tc>
              </a:tr>
            </a:tbl>
          </a:graphicData>
        </a:graphic>
      </p:graphicFrame>
      <p:sp>
        <p:nvSpPr>
          <p:cNvPr id="5" name="文本框 4"/>
          <p:cNvSpPr txBox="1"/>
          <p:nvPr/>
        </p:nvSpPr>
        <p:spPr>
          <a:xfrm>
            <a:off x="658495" y="5467985"/>
            <a:ext cx="11085830" cy="506730"/>
          </a:xfrm>
          <a:prstGeom prst="rect">
            <a:avLst/>
          </a:prstGeom>
          <a:noFill/>
        </p:spPr>
        <p:txBody>
          <a:bodyPr wrap="square" rtlCol="0">
            <a:spAutoFit/>
          </a:bodyPr>
          <a:p>
            <a:pPr indent="0" algn="ctr" fontAlgn="auto">
              <a:lnSpc>
                <a:spcPct val="150000"/>
              </a:lnSpc>
            </a:pPr>
            <a:r>
              <a:rPr lang="zh-CN" altLang="en-US"/>
              <a:t>定义判断中规中矩，并无特色题型。</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169535"/>
          </a:xfrm>
          <a:prstGeom prst="rect">
            <a:avLst/>
          </a:prstGeom>
        </p:spPr>
        <p:txBody>
          <a:bodyPr wrap="square">
            <a:spAutoFit/>
          </a:bodyPr>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5.</a:t>
            </a:r>
            <a:r>
              <a:rPr lang="zh-CN" altLang="en-US" sz="2000" spc="200" dirty="0">
                <a:solidFill>
                  <a:srgbClr val="000000"/>
                </a:solidFill>
                <a:latin typeface="+mn-ea"/>
                <a:cs typeface="楷体" panose="02010609060101010101" charset="-122"/>
                <a:sym typeface="楷体" panose="02010609060101010101" charset="-122"/>
              </a:rPr>
              <a:t>个性化契约是由雇佣者与被雇佣者通过谈判协商的方式达成的一种满足双方利益的、非标准化的灵活工作安排。</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zh-CN" altLang="en-US" sz="2000" spc="200" dirty="0">
                <a:solidFill>
                  <a:srgbClr val="000000"/>
                </a:solidFill>
                <a:latin typeface="+mn-ea"/>
                <a:cs typeface="楷体" panose="02010609060101010101" charset="-122"/>
                <a:sym typeface="楷体" panose="02010609060101010101" charset="-122"/>
              </a:rPr>
              <a:t>根据上述定义，以下体现出个性化契约的是：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A.</a:t>
            </a:r>
            <a:r>
              <a:rPr lang="zh-CN" altLang="en-US" sz="2000" spc="200" dirty="0">
                <a:solidFill>
                  <a:srgbClr val="000000"/>
                </a:solidFill>
                <a:latin typeface="+mn-ea"/>
                <a:cs typeface="楷体" panose="02010609060101010101" charset="-122"/>
                <a:sym typeface="楷体" panose="02010609060101010101" charset="-122"/>
              </a:rPr>
              <a:t>李老师和学生们通过协商，制定了个性化作业规则，每次月考满分的学生，接下来一个月可以自由选择是否写数学作业</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B.</a:t>
            </a:r>
            <a:r>
              <a:rPr lang="zh-CN" altLang="en-US" sz="2000" spc="200" dirty="0">
                <a:solidFill>
                  <a:srgbClr val="000000"/>
                </a:solidFill>
                <a:latin typeface="+mn-ea"/>
                <a:cs typeface="楷体" panose="02010609060101010101" charset="-122"/>
                <a:sym typeface="楷体" panose="02010609060101010101" charset="-122"/>
              </a:rPr>
              <a:t>王经理的妻子生病急需照顾，王经理提出居家办公三个月，老板同意，但要求他每周来公司半天，王经理表示可以做到</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C.</a:t>
            </a:r>
            <a:r>
              <a:rPr lang="zh-CN" altLang="en-US" sz="2000" spc="200" dirty="0">
                <a:solidFill>
                  <a:srgbClr val="000000"/>
                </a:solidFill>
                <a:latin typeface="+mn-ea"/>
                <a:cs typeface="楷体" panose="02010609060101010101" charset="-122"/>
                <a:sym typeface="楷体" panose="02010609060101010101" charset="-122"/>
              </a:rPr>
              <a:t>某公司规定，哺乳期的女员工可选择弹性工作时间，自行决定到岗和离岗时间，只需要保证每日在岗不少于</a:t>
            </a:r>
            <a:r>
              <a:rPr lang="en-US" altLang="zh-CN" sz="2000" spc="200" dirty="0">
                <a:solidFill>
                  <a:srgbClr val="000000"/>
                </a:solidFill>
                <a:latin typeface="+mn-ea"/>
                <a:cs typeface="楷体" panose="02010609060101010101" charset="-122"/>
                <a:sym typeface="楷体" panose="02010609060101010101" charset="-122"/>
              </a:rPr>
              <a:t>6</a:t>
            </a:r>
            <a:r>
              <a:rPr lang="zh-CN" altLang="en-US" sz="2000" spc="200" dirty="0">
                <a:solidFill>
                  <a:srgbClr val="000000"/>
                </a:solidFill>
                <a:latin typeface="+mn-ea"/>
                <a:cs typeface="楷体" panose="02010609060101010101" charset="-122"/>
                <a:sym typeface="楷体" panose="02010609060101010101" charset="-122"/>
              </a:rPr>
              <a:t>小时即可</a:t>
            </a:r>
            <a:endParaRPr lang="zh-CN" altLang="en-US" sz="20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000" spc="200" dirty="0">
                <a:solidFill>
                  <a:srgbClr val="000000"/>
                </a:solidFill>
                <a:latin typeface="+mn-ea"/>
                <a:cs typeface="楷体" panose="02010609060101010101" charset="-122"/>
                <a:sym typeface="楷体" panose="02010609060101010101" charset="-122"/>
              </a:rPr>
              <a:t>D.</a:t>
            </a:r>
            <a:r>
              <a:rPr lang="zh-CN" altLang="en-US" sz="2000" spc="200" dirty="0">
                <a:solidFill>
                  <a:srgbClr val="000000"/>
                </a:solidFill>
                <a:latin typeface="+mn-ea"/>
                <a:cs typeface="楷体" panose="02010609060101010101" charset="-122"/>
                <a:sym typeface="楷体" panose="02010609060101010101" charset="-122"/>
              </a:rPr>
              <a:t>某公司需搬迁到城市另一端，发现很多员工因通勤困难考虑离职，于是宣布为有需要的员工在办公地点附近安排宿舍</a:t>
            </a:r>
            <a:endParaRPr lang="zh-CN" altLang="en-US" sz="20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76835"/>
            <a:ext cx="10515600" cy="708025"/>
          </a:xfrm>
        </p:spPr>
        <p:txBody>
          <a:bodyPr/>
          <a:lstStyle/>
          <a:p>
            <a:pPr algn="ctr">
              <a:buClrTx/>
              <a:buSzTx/>
              <a:buFontTx/>
            </a:pPr>
            <a:r>
              <a:rPr kumimoji="1" lang="zh-CN" sz="2800" b="1" dirty="0">
                <a:solidFill>
                  <a:srgbClr val="FF653F"/>
                </a:solidFill>
              </a:rPr>
              <a:t>类比推理题型题量分布</a:t>
            </a:r>
            <a:endParaRPr kumimoji="1" lang="zh-CN" sz="2800" b="1" dirty="0">
              <a:solidFill>
                <a:srgbClr val="FF653F"/>
              </a:solidFill>
            </a:endParaRPr>
          </a:p>
        </p:txBody>
      </p:sp>
      <p:graphicFrame>
        <p:nvGraphicFramePr>
          <p:cNvPr id="7" name="表格 6"/>
          <p:cNvGraphicFramePr/>
          <p:nvPr>
            <p:custDataLst>
              <p:tags r:id="rId1"/>
            </p:custDataLst>
          </p:nvPr>
        </p:nvGraphicFramePr>
        <p:xfrm>
          <a:off x="2270760" y="784860"/>
          <a:ext cx="7650480" cy="2317750"/>
        </p:xfrm>
        <a:graphic>
          <a:graphicData uri="http://schemas.openxmlformats.org/drawingml/2006/table">
            <a:tbl>
              <a:tblPr firstRow="1" bandRow="1">
                <a:tableStyleId>{5C22544A-7EE6-4342-B048-85BDC9FD1C3A}</a:tableStyleId>
              </a:tblPr>
              <a:tblGrid>
                <a:gridCol w="1530096"/>
                <a:gridCol w="1530096"/>
                <a:gridCol w="1530096"/>
                <a:gridCol w="1530096"/>
                <a:gridCol w="1530096"/>
              </a:tblGrid>
              <a:tr h="594360">
                <a:tc>
                  <a:txBody>
                    <a:bodyPr/>
                    <a:p>
                      <a:pPr algn="ctr">
                        <a:buNone/>
                      </a:pPr>
                      <a:endParaRPr lang="zh-CN" altLang="en-US" sz="2800">
                        <a:ea typeface="楷体" panose="02010609060101010101" charset="-122"/>
                        <a:cs typeface="楷体" panose="02010609060101010101" charset="-122"/>
                      </a:endParaRPr>
                    </a:p>
                  </a:txBody>
                  <a:tcPr/>
                </a:tc>
                <a:tc>
                  <a:txBody>
                    <a:bodyPr/>
                    <a:p>
                      <a:pPr algn="ctr">
                        <a:buNone/>
                      </a:pPr>
                      <a:r>
                        <a:rPr lang="en-US" altLang="zh-CN" sz="2800">
                          <a:ea typeface="楷体" panose="02010609060101010101" charset="-122"/>
                          <a:cs typeface="楷体" panose="02010609060101010101" charset="-122"/>
                        </a:rPr>
                        <a:t>2026</a:t>
                      </a:r>
                      <a:endParaRPr lang="en-US" altLang="zh-CN" sz="2800">
                        <a:ea typeface="楷体" panose="02010609060101010101" charset="-122"/>
                        <a:cs typeface="楷体" panose="02010609060101010101" charset="-122"/>
                      </a:endParaRPr>
                    </a:p>
                  </a:txBody>
                  <a:tcPr/>
                </a:tc>
                <a:tc>
                  <a:txBody>
                    <a:bodyPr/>
                    <a:p>
                      <a:pPr algn="ctr">
                        <a:buNone/>
                      </a:pPr>
                      <a:r>
                        <a:rPr lang="en-US" altLang="zh-CN" sz="2800">
                          <a:ea typeface="楷体" panose="02010609060101010101" charset="-122"/>
                          <a:cs typeface="楷体" panose="02010609060101010101" charset="-122"/>
                        </a:rPr>
                        <a:t>2025</a:t>
                      </a:r>
                      <a:endParaRPr lang="zh-CN" altLang="en-US" sz="2800">
                        <a:ea typeface="楷体" panose="02010609060101010101" charset="-122"/>
                        <a:cs typeface="楷体" panose="02010609060101010101" charset="-122"/>
                      </a:endParaRPr>
                    </a:p>
                  </a:txBody>
                  <a:tcPr/>
                </a:tc>
                <a:tc>
                  <a:txBody>
                    <a:bodyPr/>
                    <a:p>
                      <a:pPr algn="ctr">
                        <a:buNone/>
                      </a:pPr>
                      <a:r>
                        <a:rPr lang="en-US" altLang="zh-CN" sz="2800">
                          <a:ea typeface="楷体" panose="02010609060101010101" charset="-122"/>
                          <a:cs typeface="楷体" panose="02010609060101010101" charset="-122"/>
                        </a:rPr>
                        <a:t>2024</a:t>
                      </a:r>
                      <a:endParaRPr lang="en-US" altLang="zh-CN" sz="2800">
                        <a:ea typeface="楷体" panose="02010609060101010101" charset="-122"/>
                        <a:cs typeface="楷体" panose="02010609060101010101" charset="-122"/>
                      </a:endParaRPr>
                    </a:p>
                  </a:txBody>
                  <a:tcPr/>
                </a:tc>
                <a:tc>
                  <a:txBody>
                    <a:bodyPr/>
                    <a:p>
                      <a:pPr algn="ctr">
                        <a:buNone/>
                      </a:pPr>
                      <a:r>
                        <a:rPr lang="en-US" altLang="zh-CN" sz="2800">
                          <a:ea typeface="楷体" panose="02010609060101010101" charset="-122"/>
                          <a:cs typeface="楷体" panose="02010609060101010101" charset="-122"/>
                        </a:rPr>
                        <a:t>2023</a:t>
                      </a:r>
                      <a:endParaRPr lang="en-US" altLang="zh-CN" sz="2800">
                        <a:ea typeface="楷体" panose="02010609060101010101" charset="-122"/>
                        <a:cs typeface="楷体" panose="02010609060101010101" charset="-122"/>
                      </a:endParaRPr>
                    </a:p>
                  </a:txBody>
                  <a:tcPr/>
                </a:tc>
              </a:tr>
              <a:tr h="420370">
                <a:tc>
                  <a:txBody>
                    <a:bodyPr/>
                    <a:p>
                      <a:pPr algn="ctr">
                        <a:buNone/>
                      </a:pPr>
                      <a:r>
                        <a:rPr lang="zh-CN" altLang="en-US" b="1"/>
                        <a:t>集合类</a:t>
                      </a:r>
                      <a:endParaRPr lang="zh-CN" altLang="en-US" b="1"/>
                    </a:p>
                  </a:txBody>
                  <a:tcPr/>
                </a:tc>
                <a:tc>
                  <a:txBody>
                    <a:bodyPr/>
                    <a:p>
                      <a:pPr algn="ctr">
                        <a:buNone/>
                      </a:pPr>
                      <a:r>
                        <a:rPr lang="en-US" altLang="zh-CN">
                          <a:ea typeface="楷体" panose="02010609060101010101" charset="-122"/>
                          <a:cs typeface="楷体" panose="02010609060101010101" charset="-122"/>
                        </a:rPr>
                        <a:t>1</a:t>
                      </a:r>
                      <a:endParaRPr lang="en-US" altLang="zh-CN">
                        <a:ea typeface="楷体" panose="02010609060101010101" charset="-122"/>
                        <a:cs typeface="楷体" panose="02010609060101010101" charset="-122"/>
                      </a:endParaRPr>
                    </a:p>
                  </a:txBody>
                  <a:tcPr/>
                </a:tc>
                <a:tc>
                  <a:txBody>
                    <a:bodyPr/>
                    <a:p>
                      <a:pPr algn="ctr">
                        <a:buNone/>
                      </a:pPr>
                      <a:r>
                        <a:rPr lang="en-US" altLang="zh-CN">
                          <a:ea typeface="楷体" panose="02010609060101010101" charset="-122"/>
                          <a:cs typeface="楷体" panose="02010609060101010101" charset="-122"/>
                        </a:rPr>
                        <a:t>2</a:t>
                      </a:r>
                      <a:endParaRPr lang="en-US" altLang="zh-CN">
                        <a:ea typeface="楷体" panose="02010609060101010101" charset="-122"/>
                        <a:cs typeface="楷体" panose="02010609060101010101" charset="-122"/>
                      </a:endParaRPr>
                    </a:p>
                  </a:txBody>
                  <a:tcPr/>
                </a:tc>
                <a:tc>
                  <a:txBody>
                    <a:bodyPr/>
                    <a:p>
                      <a:pPr algn="ctr">
                        <a:buNone/>
                      </a:pPr>
                      <a:r>
                        <a:rPr lang="en-US" altLang="zh-CN">
                          <a:ea typeface="楷体" panose="02010609060101010101" charset="-122"/>
                          <a:cs typeface="楷体" panose="02010609060101010101" charset="-122"/>
                        </a:rPr>
                        <a:t>0</a:t>
                      </a:r>
                      <a:endParaRPr lang="en-US" altLang="zh-CN">
                        <a:ea typeface="楷体" panose="02010609060101010101" charset="-122"/>
                        <a:cs typeface="楷体" panose="02010609060101010101" charset="-122"/>
                      </a:endParaRPr>
                    </a:p>
                  </a:txBody>
                  <a:tcPr/>
                </a:tc>
                <a:tc>
                  <a:txBody>
                    <a:bodyPr/>
                    <a:p>
                      <a:pPr algn="ctr">
                        <a:buNone/>
                      </a:pPr>
                      <a:r>
                        <a:rPr lang="en-US" altLang="zh-CN">
                          <a:ea typeface="楷体" panose="02010609060101010101" charset="-122"/>
                          <a:cs typeface="楷体" panose="02010609060101010101" charset="-122"/>
                        </a:rPr>
                        <a:t>0</a:t>
                      </a:r>
                      <a:endParaRPr lang="en-US" altLang="zh-CN">
                        <a:ea typeface="楷体" panose="02010609060101010101" charset="-122"/>
                        <a:cs typeface="楷体" panose="02010609060101010101" charset="-122"/>
                      </a:endParaRPr>
                    </a:p>
                  </a:txBody>
                  <a:tcPr/>
                </a:tc>
              </a:tr>
              <a:tr h="420370">
                <a:tc>
                  <a:txBody>
                    <a:bodyPr/>
                    <a:p>
                      <a:pPr algn="ctr">
                        <a:buNone/>
                      </a:pPr>
                      <a:r>
                        <a:rPr lang="zh-CN" altLang="en-US" b="1"/>
                        <a:t>映射类</a:t>
                      </a:r>
                      <a:endParaRPr lang="zh-CN" altLang="en-US" b="1"/>
                    </a:p>
                  </a:txBody>
                  <a:tcPr/>
                </a:tc>
                <a:tc>
                  <a:txBody>
                    <a:bodyPr/>
                    <a:p>
                      <a:pPr algn="ctr">
                        <a:buNone/>
                      </a:pPr>
                      <a:r>
                        <a:rPr lang="en-US" altLang="zh-CN">
                          <a:ea typeface="楷体" panose="02010609060101010101" charset="-122"/>
                          <a:cs typeface="楷体" panose="02010609060101010101" charset="-122"/>
                        </a:rPr>
                        <a:t>4</a:t>
                      </a:r>
                      <a:endParaRPr lang="en-US" altLang="zh-CN">
                        <a:ea typeface="楷体" panose="02010609060101010101" charset="-122"/>
                        <a:cs typeface="楷体" panose="02010609060101010101" charset="-122"/>
                      </a:endParaRPr>
                    </a:p>
                  </a:txBody>
                  <a:tcPr/>
                </a:tc>
                <a:tc>
                  <a:txBody>
                    <a:bodyPr/>
                    <a:p>
                      <a:pPr algn="ctr">
                        <a:buNone/>
                      </a:pPr>
                      <a:r>
                        <a:rPr lang="en-US" altLang="zh-CN">
                          <a:ea typeface="楷体" panose="02010609060101010101" charset="-122"/>
                          <a:cs typeface="楷体" panose="02010609060101010101" charset="-122"/>
                        </a:rPr>
                        <a:t>3</a:t>
                      </a:r>
                      <a:endParaRPr lang="en-US" altLang="zh-CN">
                        <a:ea typeface="楷体" panose="02010609060101010101" charset="-122"/>
                        <a:cs typeface="楷体" panose="02010609060101010101" charset="-122"/>
                      </a:endParaRPr>
                    </a:p>
                  </a:txBody>
                  <a:tcPr/>
                </a:tc>
                <a:tc>
                  <a:txBody>
                    <a:bodyPr/>
                    <a:p>
                      <a:pPr algn="ctr">
                        <a:buNone/>
                      </a:pPr>
                      <a:r>
                        <a:rPr lang="en-US" altLang="zh-CN">
                          <a:ea typeface="楷体" panose="02010609060101010101" charset="-122"/>
                          <a:cs typeface="楷体" panose="02010609060101010101" charset="-122"/>
                        </a:rPr>
                        <a:t>0</a:t>
                      </a:r>
                      <a:endParaRPr lang="en-US" altLang="zh-CN">
                        <a:ea typeface="楷体" panose="02010609060101010101" charset="-122"/>
                        <a:cs typeface="楷体" panose="02010609060101010101" charset="-122"/>
                      </a:endParaRPr>
                    </a:p>
                  </a:txBody>
                  <a:tcPr/>
                </a:tc>
                <a:tc>
                  <a:txBody>
                    <a:bodyPr/>
                    <a:p>
                      <a:pPr algn="ctr">
                        <a:buNone/>
                      </a:pPr>
                      <a:r>
                        <a:rPr lang="en-US" altLang="zh-CN">
                          <a:ea typeface="楷体" panose="02010609060101010101" charset="-122"/>
                          <a:cs typeface="楷体" panose="02010609060101010101" charset="-122"/>
                        </a:rPr>
                        <a:t>0</a:t>
                      </a:r>
                      <a:endParaRPr lang="en-US" altLang="zh-CN">
                        <a:ea typeface="楷体" panose="02010609060101010101" charset="-122"/>
                        <a:cs typeface="楷体" panose="02010609060101010101" charset="-122"/>
                      </a:endParaRPr>
                    </a:p>
                  </a:txBody>
                  <a:tcPr/>
                </a:tc>
              </a:tr>
              <a:tr h="462915">
                <a:tc>
                  <a:txBody>
                    <a:bodyPr/>
                    <a:p>
                      <a:pPr algn="ctr">
                        <a:buNone/>
                      </a:pPr>
                      <a:r>
                        <a:rPr lang="zh-CN" altLang="en-US" b="1"/>
                        <a:t>语义类</a:t>
                      </a:r>
                      <a:endParaRPr lang="zh-CN" altLang="en-US" b="1"/>
                    </a:p>
                  </a:txBody>
                  <a:tcPr/>
                </a:tc>
                <a:tc>
                  <a:txBody>
                    <a:bodyPr/>
                    <a:p>
                      <a:pPr algn="ctr">
                        <a:buNone/>
                      </a:pPr>
                      <a:r>
                        <a:rPr lang="en-US" altLang="zh-CN" sz="1800">
                          <a:ea typeface="楷体" panose="02010609060101010101" charset="-122"/>
                          <a:cs typeface="楷体" panose="02010609060101010101" charset="-122"/>
                        </a:rPr>
                        <a:t>0</a:t>
                      </a:r>
                      <a:endParaRPr lang="en-US" altLang="zh-CN" sz="1800">
                        <a:ea typeface="楷体" panose="02010609060101010101" charset="-122"/>
                        <a:cs typeface="楷体" panose="02010609060101010101" charset="-122"/>
                      </a:endParaRPr>
                    </a:p>
                  </a:txBody>
                  <a:tcPr/>
                </a:tc>
                <a:tc>
                  <a:txBody>
                    <a:bodyPr/>
                    <a:p>
                      <a:pPr algn="ctr">
                        <a:buNone/>
                      </a:pPr>
                      <a:r>
                        <a:rPr lang="en-US" altLang="zh-CN" sz="1800">
                          <a:ea typeface="楷体" panose="02010609060101010101" charset="-122"/>
                          <a:cs typeface="楷体" panose="02010609060101010101" charset="-122"/>
                        </a:rPr>
                        <a:t>0</a:t>
                      </a:r>
                      <a:endParaRPr lang="en-US" altLang="zh-CN" sz="1800">
                        <a:ea typeface="楷体" panose="02010609060101010101" charset="-122"/>
                        <a:cs typeface="楷体" panose="02010609060101010101" charset="-122"/>
                      </a:endParaRPr>
                    </a:p>
                  </a:txBody>
                  <a:tcPr/>
                </a:tc>
                <a:tc>
                  <a:txBody>
                    <a:bodyPr/>
                    <a:p>
                      <a:pPr algn="ctr">
                        <a:buNone/>
                      </a:pPr>
                      <a:r>
                        <a:rPr lang="en-US" altLang="zh-CN" sz="1800">
                          <a:ea typeface="楷体" panose="02010609060101010101" charset="-122"/>
                          <a:cs typeface="楷体" panose="02010609060101010101" charset="-122"/>
                        </a:rPr>
                        <a:t>0</a:t>
                      </a:r>
                      <a:endParaRPr lang="en-US" altLang="zh-CN" sz="1800">
                        <a:ea typeface="楷体" panose="02010609060101010101" charset="-122"/>
                        <a:cs typeface="楷体" panose="02010609060101010101" charset="-122"/>
                      </a:endParaRPr>
                    </a:p>
                  </a:txBody>
                  <a:tcPr/>
                </a:tc>
                <a:tc>
                  <a:txBody>
                    <a:bodyPr/>
                    <a:p>
                      <a:pPr algn="ctr">
                        <a:buNone/>
                      </a:pPr>
                      <a:r>
                        <a:rPr lang="en-US" altLang="zh-CN" sz="1800">
                          <a:ea typeface="楷体" panose="02010609060101010101" charset="-122"/>
                          <a:cs typeface="楷体" panose="02010609060101010101" charset="-122"/>
                        </a:rPr>
                        <a:t>0</a:t>
                      </a:r>
                      <a:endParaRPr lang="en-US" altLang="zh-CN" sz="1800">
                        <a:ea typeface="楷体" panose="02010609060101010101" charset="-122"/>
                        <a:cs typeface="楷体" panose="02010609060101010101" charset="-122"/>
                      </a:endParaRPr>
                    </a:p>
                  </a:txBody>
                  <a:tcPr/>
                </a:tc>
              </a:tr>
              <a:tr h="419735">
                <a:tc>
                  <a:txBody>
                    <a:bodyPr/>
                    <a:p>
                      <a:pPr algn="ctr">
                        <a:buNone/>
                      </a:pPr>
                      <a:r>
                        <a:rPr lang="zh-CN" altLang="en-US" b="1"/>
                        <a:t>语法类</a:t>
                      </a:r>
                      <a:endParaRPr lang="zh-CN" altLang="en-US" b="1"/>
                    </a:p>
                  </a:txBody>
                  <a:tcPr/>
                </a:tc>
                <a:tc>
                  <a:txBody>
                    <a:bodyPr/>
                    <a:p>
                      <a:pPr algn="ctr">
                        <a:buNone/>
                      </a:pPr>
                      <a:r>
                        <a:rPr lang="en-US" altLang="zh-CN">
                          <a:ea typeface="楷体" panose="02010609060101010101" charset="-122"/>
                          <a:cs typeface="楷体" panose="02010609060101010101" charset="-122"/>
                        </a:rPr>
                        <a:t>0</a:t>
                      </a:r>
                      <a:endParaRPr lang="en-US" altLang="zh-CN">
                        <a:ea typeface="楷体" panose="02010609060101010101" charset="-122"/>
                        <a:cs typeface="楷体" panose="02010609060101010101" charset="-122"/>
                      </a:endParaRPr>
                    </a:p>
                  </a:txBody>
                  <a:tcPr/>
                </a:tc>
                <a:tc>
                  <a:txBody>
                    <a:bodyPr/>
                    <a:p>
                      <a:pPr algn="ctr">
                        <a:buNone/>
                      </a:pPr>
                      <a:r>
                        <a:rPr lang="en-US" altLang="zh-CN">
                          <a:ea typeface="楷体" panose="02010609060101010101" charset="-122"/>
                          <a:cs typeface="楷体" panose="02010609060101010101" charset="-122"/>
                        </a:rPr>
                        <a:t>0</a:t>
                      </a:r>
                      <a:endParaRPr lang="en-US" altLang="zh-CN">
                        <a:ea typeface="楷体" panose="02010609060101010101" charset="-122"/>
                        <a:cs typeface="楷体" panose="02010609060101010101" charset="-122"/>
                      </a:endParaRPr>
                    </a:p>
                  </a:txBody>
                  <a:tcPr/>
                </a:tc>
                <a:tc>
                  <a:txBody>
                    <a:bodyPr/>
                    <a:p>
                      <a:pPr algn="ctr">
                        <a:buNone/>
                      </a:pPr>
                      <a:r>
                        <a:rPr lang="en-US" altLang="zh-CN">
                          <a:ea typeface="楷体" panose="02010609060101010101" charset="-122"/>
                          <a:cs typeface="楷体" panose="02010609060101010101" charset="-122"/>
                        </a:rPr>
                        <a:t>0</a:t>
                      </a:r>
                      <a:endParaRPr lang="en-US" altLang="zh-CN">
                        <a:ea typeface="楷体" panose="02010609060101010101" charset="-122"/>
                        <a:cs typeface="楷体" panose="02010609060101010101" charset="-122"/>
                      </a:endParaRPr>
                    </a:p>
                  </a:txBody>
                  <a:tcPr/>
                </a:tc>
                <a:tc>
                  <a:txBody>
                    <a:bodyPr/>
                    <a:p>
                      <a:pPr algn="ctr">
                        <a:buNone/>
                      </a:pPr>
                      <a:r>
                        <a:rPr lang="en-US" altLang="zh-CN">
                          <a:ea typeface="楷体" panose="02010609060101010101" charset="-122"/>
                          <a:cs typeface="楷体" panose="02010609060101010101" charset="-122"/>
                        </a:rPr>
                        <a:t>0</a:t>
                      </a:r>
                      <a:endParaRPr lang="en-US" altLang="zh-CN">
                        <a:ea typeface="楷体" panose="02010609060101010101" charset="-122"/>
                        <a:cs typeface="楷体" panose="02010609060101010101" charset="-122"/>
                      </a:endParaRPr>
                    </a:p>
                  </a:txBody>
                  <a:tcPr/>
                </a:tc>
              </a:tr>
            </a:tbl>
          </a:graphicData>
        </a:graphic>
      </p:graphicFrame>
      <p:sp>
        <p:nvSpPr>
          <p:cNvPr id="5" name="文本框 4"/>
          <p:cNvSpPr txBox="1"/>
          <p:nvPr/>
        </p:nvSpPr>
        <p:spPr>
          <a:xfrm>
            <a:off x="553085" y="3288665"/>
            <a:ext cx="11085830" cy="2999740"/>
          </a:xfrm>
          <a:prstGeom prst="rect">
            <a:avLst/>
          </a:prstGeom>
          <a:noFill/>
        </p:spPr>
        <p:txBody>
          <a:bodyPr wrap="square" rtlCol="0">
            <a:spAutoFit/>
          </a:bodyPr>
          <a:p>
            <a:pPr indent="0" algn="ctr" fontAlgn="auto">
              <a:lnSpc>
                <a:spcPct val="150000"/>
              </a:lnSpc>
            </a:pPr>
            <a:r>
              <a:rPr lang="zh-CN" altLang="en-US"/>
              <a:t>类比考察的词语偏向理科，科学推理中的专业词汇一定要知道是什么意思</a:t>
            </a:r>
            <a:endParaRPr lang="zh-CN" altLang="en-US"/>
          </a:p>
          <a:p>
            <a:pPr indent="0" algn="ctr" fontAlgn="auto">
              <a:lnSpc>
                <a:spcPct val="150000"/>
              </a:lnSpc>
            </a:pPr>
            <a:r>
              <a:rPr lang="zh-CN" altLang="en-US"/>
              <a:t>例：</a:t>
            </a:r>
            <a:r>
              <a:rPr lang="zh-CN" altLang="en-US" spc="200" dirty="0">
                <a:solidFill>
                  <a:srgbClr val="000000"/>
                </a:solidFill>
                <a:latin typeface="+mn-ea"/>
                <a:cs typeface="楷体" panose="02010609060101010101" charset="-122"/>
                <a:sym typeface="楷体" panose="02010609060101010101" charset="-122"/>
              </a:rPr>
              <a:t>无人机</a:t>
            </a:r>
            <a:r>
              <a:rPr lang="en-US" altLang="zh-CN" spc="200" dirty="0">
                <a:solidFill>
                  <a:srgbClr val="000000"/>
                </a:solidFill>
                <a:latin typeface="+mn-ea"/>
                <a:cs typeface="楷体" panose="02010609060101010101" charset="-122"/>
                <a:sym typeface="楷体" panose="02010609060101010101" charset="-122"/>
              </a:rPr>
              <a:t>∶</a:t>
            </a:r>
            <a:r>
              <a:rPr lang="zh-CN" altLang="en-US" spc="200" dirty="0">
                <a:solidFill>
                  <a:srgbClr val="000000"/>
                </a:solidFill>
                <a:latin typeface="+mn-ea"/>
                <a:cs typeface="楷体" panose="02010609060101010101" charset="-122"/>
                <a:sym typeface="楷体" panose="02010609060101010101" charset="-122"/>
              </a:rPr>
              <a:t>侦察</a:t>
            </a:r>
            <a:endParaRPr lang="zh-CN" altLang="en-US" spc="200" dirty="0">
              <a:solidFill>
                <a:srgbClr val="000000"/>
              </a:solidFill>
              <a:latin typeface="+mn-ea"/>
              <a:cs typeface="楷体" panose="02010609060101010101" charset="-122"/>
              <a:sym typeface="楷体" panose="02010609060101010101" charset="-122"/>
            </a:endParaRPr>
          </a:p>
          <a:p>
            <a:pPr indent="0" algn="ctr" fontAlgn="auto">
              <a:lnSpc>
                <a:spcPct val="150000"/>
              </a:lnSpc>
            </a:pPr>
            <a:r>
              <a:rPr lang="zh-CN" altLang="en-US" spc="200" dirty="0">
                <a:solidFill>
                  <a:srgbClr val="000000"/>
                </a:solidFill>
                <a:latin typeface="+mn-ea"/>
                <a:cs typeface="楷体" panose="02010609060101010101" charset="-122"/>
                <a:sym typeface="楷体" panose="02010609060101010101" charset="-122"/>
              </a:rPr>
              <a:t>石油</a:t>
            </a:r>
            <a:r>
              <a:rPr lang="en-US" altLang="zh-CN" spc="200" dirty="0">
                <a:solidFill>
                  <a:srgbClr val="000000"/>
                </a:solidFill>
                <a:latin typeface="+mn-ea"/>
                <a:cs typeface="楷体" panose="02010609060101010101" charset="-122"/>
                <a:sym typeface="楷体" panose="02010609060101010101" charset="-122"/>
              </a:rPr>
              <a:t>∶</a:t>
            </a:r>
            <a:r>
              <a:rPr lang="zh-CN" altLang="en-US" spc="200" dirty="0">
                <a:solidFill>
                  <a:srgbClr val="000000"/>
                </a:solidFill>
                <a:latin typeface="+mn-ea"/>
                <a:cs typeface="楷体" panose="02010609060101010101" charset="-122"/>
                <a:sym typeface="楷体" panose="02010609060101010101" charset="-122"/>
              </a:rPr>
              <a:t>石蜡</a:t>
            </a:r>
            <a:endParaRPr lang="zh-CN" altLang="en-US" spc="200" dirty="0">
              <a:solidFill>
                <a:srgbClr val="000000"/>
              </a:solidFill>
              <a:latin typeface="+mn-ea"/>
              <a:cs typeface="楷体" panose="02010609060101010101" charset="-122"/>
              <a:sym typeface="楷体" panose="02010609060101010101" charset="-122"/>
            </a:endParaRPr>
          </a:p>
          <a:p>
            <a:pPr indent="0" algn="ctr" fontAlgn="auto">
              <a:lnSpc>
                <a:spcPct val="150000"/>
              </a:lnSpc>
            </a:pPr>
            <a:r>
              <a:rPr lang="zh-CN" altLang="en-US" spc="200" dirty="0">
                <a:solidFill>
                  <a:srgbClr val="000000"/>
                </a:solidFill>
                <a:latin typeface="+mn-ea"/>
                <a:cs typeface="楷体" panose="02010609060101010101" charset="-122"/>
                <a:sym typeface="楷体" panose="02010609060101010101" charset="-122"/>
              </a:rPr>
              <a:t>扭矩</a:t>
            </a:r>
            <a:r>
              <a:rPr lang="en-US" altLang="zh-CN" spc="200" dirty="0">
                <a:solidFill>
                  <a:srgbClr val="000000"/>
                </a:solidFill>
                <a:latin typeface="+mn-ea"/>
                <a:cs typeface="楷体" panose="02010609060101010101" charset="-122"/>
                <a:sym typeface="楷体" panose="02010609060101010101" charset="-122"/>
              </a:rPr>
              <a:t>∶</a:t>
            </a:r>
            <a:r>
              <a:rPr lang="zh-CN" altLang="en-US" spc="200" dirty="0">
                <a:solidFill>
                  <a:srgbClr val="000000"/>
                </a:solidFill>
                <a:latin typeface="+mn-ea"/>
                <a:cs typeface="楷体" panose="02010609060101010101" charset="-122"/>
                <a:sym typeface="楷体" panose="02010609060101010101" charset="-122"/>
              </a:rPr>
              <a:t>力矩</a:t>
            </a:r>
            <a:r>
              <a:rPr lang="en-US" altLang="zh-CN" spc="200" dirty="0">
                <a:solidFill>
                  <a:srgbClr val="000000"/>
                </a:solidFill>
                <a:latin typeface="+mn-ea"/>
                <a:cs typeface="楷体" panose="02010609060101010101" charset="-122"/>
                <a:sym typeface="楷体" panose="02010609060101010101" charset="-122"/>
              </a:rPr>
              <a:t>∶</a:t>
            </a:r>
            <a:r>
              <a:rPr lang="zh-CN" altLang="en-US" spc="200" dirty="0">
                <a:solidFill>
                  <a:srgbClr val="000000"/>
                </a:solidFill>
                <a:latin typeface="+mn-ea"/>
                <a:cs typeface="楷体" panose="02010609060101010101" charset="-122"/>
                <a:sym typeface="楷体" panose="02010609060101010101" charset="-122"/>
              </a:rPr>
              <a:t>转矩</a:t>
            </a:r>
            <a:endParaRPr lang="zh-CN" altLang="en-US" spc="200" dirty="0">
              <a:solidFill>
                <a:srgbClr val="000000"/>
              </a:solidFill>
              <a:latin typeface="+mn-ea"/>
              <a:cs typeface="楷体" panose="02010609060101010101" charset="-122"/>
              <a:sym typeface="楷体" panose="02010609060101010101" charset="-122"/>
            </a:endParaRPr>
          </a:p>
          <a:p>
            <a:pPr indent="0" algn="ctr" fontAlgn="auto">
              <a:lnSpc>
                <a:spcPct val="150000"/>
              </a:lnSpc>
            </a:pPr>
            <a:r>
              <a:rPr lang="zh-CN" altLang="en-US" spc="200" dirty="0">
                <a:solidFill>
                  <a:srgbClr val="000000"/>
                </a:solidFill>
                <a:latin typeface="+mn-ea"/>
                <a:cs typeface="楷体" panose="02010609060101010101" charset="-122"/>
                <a:sym typeface="楷体" panose="02010609060101010101" charset="-122"/>
              </a:rPr>
              <a:t>光缆</a:t>
            </a:r>
            <a:r>
              <a:rPr lang="en-US" altLang="zh-CN" spc="200" dirty="0">
                <a:solidFill>
                  <a:srgbClr val="000000"/>
                </a:solidFill>
                <a:latin typeface="+mn-ea"/>
                <a:cs typeface="楷体" panose="02010609060101010101" charset="-122"/>
                <a:sym typeface="楷体" panose="02010609060101010101" charset="-122"/>
              </a:rPr>
              <a:t>∶</a:t>
            </a:r>
            <a:r>
              <a:rPr lang="zh-CN" altLang="en-US" spc="200" dirty="0">
                <a:solidFill>
                  <a:srgbClr val="000000"/>
                </a:solidFill>
                <a:latin typeface="+mn-ea"/>
                <a:cs typeface="楷体" panose="02010609060101010101" charset="-122"/>
                <a:sym typeface="楷体" panose="02010609060101010101" charset="-122"/>
              </a:rPr>
              <a:t>激光信号</a:t>
            </a:r>
            <a:r>
              <a:rPr lang="en-US" altLang="zh-CN" spc="200" dirty="0">
                <a:solidFill>
                  <a:srgbClr val="000000"/>
                </a:solidFill>
                <a:latin typeface="+mn-ea"/>
                <a:cs typeface="楷体" panose="02010609060101010101" charset="-122"/>
                <a:sym typeface="楷体" panose="02010609060101010101" charset="-122"/>
              </a:rPr>
              <a:t>∶</a:t>
            </a:r>
            <a:r>
              <a:rPr lang="zh-CN" altLang="en-US" spc="200" dirty="0">
                <a:solidFill>
                  <a:srgbClr val="000000"/>
                </a:solidFill>
                <a:latin typeface="+mn-ea"/>
                <a:cs typeface="楷体" panose="02010609060101010101" charset="-122"/>
                <a:sym typeface="楷体" panose="02010609060101010101" charset="-122"/>
              </a:rPr>
              <a:t>通信</a:t>
            </a:r>
            <a:endParaRPr lang="zh-CN" altLang="en-US" spc="200" dirty="0">
              <a:solidFill>
                <a:srgbClr val="000000"/>
              </a:solidFill>
              <a:latin typeface="+mn-ea"/>
              <a:cs typeface="楷体" panose="02010609060101010101" charset="-122"/>
              <a:sym typeface="楷体" panose="02010609060101010101" charset="-122"/>
            </a:endParaRPr>
          </a:p>
          <a:p>
            <a:pPr indent="0" algn="ctr" fontAlgn="auto">
              <a:lnSpc>
                <a:spcPct val="150000"/>
              </a:lnSpc>
            </a:pPr>
            <a:r>
              <a:rPr lang="zh-CN" altLang="en-US" spc="200" dirty="0">
                <a:solidFill>
                  <a:srgbClr val="000000"/>
                </a:solidFill>
                <a:latin typeface="+mn-ea"/>
                <a:cs typeface="楷体" panose="02010609060101010101" charset="-122"/>
                <a:sym typeface="楷体" panose="02010609060101010101" charset="-122"/>
              </a:rPr>
              <a:t>相变</a:t>
            </a:r>
            <a:r>
              <a:rPr lang="en-US" altLang="zh-CN" spc="200" dirty="0">
                <a:solidFill>
                  <a:srgbClr val="000000"/>
                </a:solidFill>
                <a:latin typeface="+mn-ea"/>
                <a:cs typeface="楷体" panose="02010609060101010101" charset="-122"/>
                <a:sym typeface="楷体" panose="02010609060101010101" charset="-122"/>
              </a:rPr>
              <a:t>∶</a:t>
            </a:r>
            <a:r>
              <a:rPr lang="zh-CN" altLang="en-US" spc="200" dirty="0">
                <a:solidFill>
                  <a:srgbClr val="000000"/>
                </a:solidFill>
                <a:latin typeface="+mn-ea"/>
                <a:cs typeface="楷体" panose="02010609060101010101" charset="-122"/>
                <a:sym typeface="楷体" panose="02010609060101010101" charset="-122"/>
              </a:rPr>
              <a:t>蒸发</a:t>
            </a:r>
            <a:r>
              <a:rPr lang="en-US" altLang="zh-CN" spc="200" dirty="0">
                <a:solidFill>
                  <a:srgbClr val="000000"/>
                </a:solidFill>
                <a:latin typeface="+mn-ea"/>
                <a:cs typeface="楷体" panose="02010609060101010101" charset="-122"/>
                <a:sym typeface="楷体" panose="02010609060101010101" charset="-122"/>
              </a:rPr>
              <a:t>∶</a:t>
            </a:r>
            <a:r>
              <a:rPr lang="zh-CN" altLang="en-US" spc="200" dirty="0">
                <a:solidFill>
                  <a:srgbClr val="000000"/>
                </a:solidFill>
                <a:latin typeface="+mn-ea"/>
                <a:cs typeface="楷体" panose="02010609060101010101" charset="-122"/>
                <a:sym typeface="楷体" panose="02010609060101010101" charset="-122"/>
              </a:rPr>
              <a:t>冷凝</a:t>
            </a:r>
            <a:endParaRPr lang="zh-CN" altLang="en-US" spc="200" dirty="0">
              <a:solidFill>
                <a:srgbClr val="000000"/>
              </a:solidFill>
              <a:latin typeface="+mn-ea"/>
              <a:cs typeface="楷体" panose="02010609060101010101" charset="-122"/>
              <a:sym typeface="楷体" panose="02010609060101010101" charset="-122"/>
            </a:endParaRPr>
          </a:p>
          <a:p>
            <a:pPr indent="0" algn="ctr" fontAlgn="auto">
              <a:lnSpc>
                <a:spcPct val="150000"/>
              </a:lnSpc>
            </a:pPr>
            <a:r>
              <a:rPr lang="zh-CN" altLang="en-US" spc="200" dirty="0">
                <a:solidFill>
                  <a:srgbClr val="000000"/>
                </a:solidFill>
                <a:latin typeface="+mn-ea"/>
                <a:cs typeface="楷体" panose="02010609060101010101" charset="-122"/>
                <a:sym typeface="楷体" panose="02010609060101010101" charset="-122"/>
              </a:rPr>
              <a:t>进气阀</a:t>
            </a:r>
            <a:r>
              <a:rPr lang="en-US" altLang="zh-CN" spc="200" dirty="0">
                <a:solidFill>
                  <a:srgbClr val="000000"/>
                </a:solidFill>
                <a:latin typeface="+mn-ea"/>
                <a:cs typeface="楷体" panose="02010609060101010101" charset="-122"/>
                <a:sym typeface="楷体" panose="02010609060101010101" charset="-122"/>
              </a:rPr>
              <a:t>∶</a:t>
            </a:r>
            <a:r>
              <a:rPr lang="zh-CN" altLang="en-US" spc="200" dirty="0">
                <a:solidFill>
                  <a:srgbClr val="000000"/>
                </a:solidFill>
                <a:latin typeface="+mn-ea"/>
                <a:cs typeface="楷体" panose="02010609060101010101" charset="-122"/>
                <a:sym typeface="楷体" panose="02010609060101010101" charset="-122"/>
              </a:rPr>
              <a:t>气流</a:t>
            </a:r>
            <a:r>
              <a:rPr lang="en-US" altLang="zh-CN" spc="200" dirty="0">
                <a:solidFill>
                  <a:srgbClr val="000000"/>
                </a:solidFill>
                <a:latin typeface="+mn-ea"/>
                <a:cs typeface="楷体" panose="02010609060101010101" charset="-122"/>
                <a:sym typeface="楷体" panose="02010609060101010101" charset="-122"/>
              </a:rPr>
              <a:t>∶</a:t>
            </a:r>
            <a:r>
              <a:rPr lang="zh-CN" altLang="en-US" spc="200" dirty="0">
                <a:solidFill>
                  <a:srgbClr val="000000"/>
                </a:solidFill>
                <a:latin typeface="+mn-ea"/>
                <a:cs typeface="楷体" panose="02010609060101010101" charset="-122"/>
                <a:sym typeface="楷体" panose="02010609060101010101" charset="-122"/>
              </a:rPr>
              <a:t>内燃机</a:t>
            </a: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2861310"/>
          </a:xfrm>
          <a:prstGeom prst="rect">
            <a:avLst/>
          </a:prstGeom>
        </p:spPr>
        <p:txBody>
          <a:bodyPr wrap="square">
            <a:spAutoFit/>
          </a:bodyPr>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6.</a:t>
            </a:r>
            <a:r>
              <a:rPr lang="zh-CN" altLang="en-US" sz="2400" spc="200" dirty="0">
                <a:solidFill>
                  <a:srgbClr val="000000"/>
                </a:solidFill>
                <a:latin typeface="+mn-ea"/>
                <a:cs typeface="楷体" panose="02010609060101010101" charset="-122"/>
                <a:sym typeface="楷体" panose="02010609060101010101" charset="-122"/>
              </a:rPr>
              <a:t>进气阀</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气流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内燃机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A.</a:t>
            </a:r>
            <a:r>
              <a:rPr lang="zh-CN" altLang="en-US" sz="2400" spc="200" dirty="0">
                <a:solidFill>
                  <a:srgbClr val="000000"/>
                </a:solidFill>
                <a:latin typeface="+mn-ea"/>
                <a:cs typeface="楷体" panose="02010609060101010101" charset="-122"/>
                <a:sym typeface="楷体" panose="02010609060101010101" charset="-122"/>
              </a:rPr>
              <a:t>滤镜</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图片</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相机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B.</a:t>
            </a:r>
            <a:r>
              <a:rPr lang="zh-CN" altLang="en-US" sz="2400" spc="200" dirty="0">
                <a:solidFill>
                  <a:srgbClr val="000000"/>
                </a:solidFill>
                <a:latin typeface="+mn-ea"/>
                <a:cs typeface="楷体" panose="02010609060101010101" charset="-122"/>
                <a:sym typeface="楷体" panose="02010609060101010101" charset="-122"/>
              </a:rPr>
              <a:t>编程</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自动化</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计算机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C.</a:t>
            </a:r>
            <a:r>
              <a:rPr lang="zh-CN" altLang="en-US" sz="2400" spc="200" dirty="0">
                <a:solidFill>
                  <a:srgbClr val="000000"/>
                </a:solidFill>
                <a:latin typeface="+mn-ea"/>
                <a:cs typeface="楷体" panose="02010609060101010101" charset="-122"/>
                <a:sym typeface="楷体" panose="02010609060101010101" charset="-122"/>
              </a:rPr>
              <a:t>加速器</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电压</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电动机</a:t>
            </a:r>
            <a:endParaRPr lang="zh-CN" altLang="en-US" sz="24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400" spc="200" dirty="0">
                <a:solidFill>
                  <a:srgbClr val="000000"/>
                </a:solidFill>
                <a:latin typeface="+mn-ea"/>
                <a:cs typeface="楷体" panose="02010609060101010101" charset="-122"/>
                <a:sym typeface="楷体" panose="02010609060101010101" charset="-122"/>
              </a:rPr>
              <a:t>D.</a:t>
            </a:r>
            <a:r>
              <a:rPr lang="zh-CN" altLang="en-US" sz="2400" spc="200" dirty="0">
                <a:solidFill>
                  <a:srgbClr val="000000"/>
                </a:solidFill>
                <a:latin typeface="+mn-ea"/>
                <a:cs typeface="楷体" panose="02010609060101010101" charset="-122"/>
                <a:sym typeface="楷体" panose="02010609060101010101" charset="-122"/>
              </a:rPr>
              <a:t>阀门</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水流</a:t>
            </a:r>
            <a:r>
              <a:rPr lang="en-US" altLang="zh-CN" sz="2400" spc="200" dirty="0">
                <a:solidFill>
                  <a:srgbClr val="000000"/>
                </a:solidFill>
                <a:latin typeface="+mn-ea"/>
                <a:cs typeface="楷体" panose="02010609060101010101" charset="-122"/>
                <a:sym typeface="楷体" panose="02010609060101010101" charset="-122"/>
              </a:rPr>
              <a:t>∶</a:t>
            </a:r>
            <a:r>
              <a:rPr lang="zh-CN" altLang="en-US" sz="2400" spc="200" dirty="0">
                <a:solidFill>
                  <a:srgbClr val="000000"/>
                </a:solidFill>
                <a:latin typeface="+mn-ea"/>
                <a:cs typeface="楷体" panose="02010609060101010101" charset="-122"/>
                <a:sym typeface="楷体" panose="02010609060101010101" charset="-122"/>
              </a:rPr>
              <a:t>水库</a:t>
            </a:r>
            <a:endParaRPr lang="zh-CN" altLang="en-US" sz="24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24765"/>
            <a:ext cx="10515600" cy="708025"/>
          </a:xfrm>
        </p:spPr>
        <p:txBody>
          <a:bodyPr/>
          <a:lstStyle/>
          <a:p>
            <a:pPr algn="ctr">
              <a:buClrTx/>
              <a:buSzTx/>
              <a:buFontTx/>
            </a:pPr>
            <a:r>
              <a:rPr kumimoji="1" lang="zh-CN" sz="2800" b="1" dirty="0">
                <a:solidFill>
                  <a:srgbClr val="FF653F"/>
                </a:solidFill>
              </a:rPr>
              <a:t>逻辑判断题型题量分布</a:t>
            </a:r>
            <a:endParaRPr kumimoji="1" lang="zh-CN" sz="2800" b="1" dirty="0">
              <a:solidFill>
                <a:srgbClr val="FF653F"/>
              </a:solidFill>
            </a:endParaRPr>
          </a:p>
        </p:txBody>
      </p:sp>
      <p:graphicFrame>
        <p:nvGraphicFramePr>
          <p:cNvPr id="7" name="表格 6"/>
          <p:cNvGraphicFramePr/>
          <p:nvPr>
            <p:custDataLst>
              <p:tags r:id="rId1"/>
            </p:custDataLst>
          </p:nvPr>
        </p:nvGraphicFramePr>
        <p:xfrm>
          <a:off x="1853565" y="866140"/>
          <a:ext cx="8484870" cy="3502025"/>
        </p:xfrm>
        <a:graphic>
          <a:graphicData uri="http://schemas.openxmlformats.org/drawingml/2006/table">
            <a:tbl>
              <a:tblPr firstRow="1" bandRow="1">
                <a:tableStyleId>{5C22544A-7EE6-4342-B048-85BDC9FD1C3A}</a:tableStyleId>
              </a:tblPr>
              <a:tblGrid>
                <a:gridCol w="2121218"/>
                <a:gridCol w="2121217"/>
                <a:gridCol w="2121218"/>
                <a:gridCol w="2121217"/>
              </a:tblGrid>
              <a:tr h="424815">
                <a:tc>
                  <a:txBody>
                    <a:bodyPr/>
                    <a:p>
                      <a:pPr>
                        <a:buNone/>
                      </a:pPr>
                      <a:endParaRPr lang="zh-CN" altLang="en-US"/>
                    </a:p>
                  </a:txBody>
                  <a:tcPr/>
                </a:tc>
                <a:tc>
                  <a:txBody>
                    <a:bodyPr/>
                    <a:p>
                      <a:pPr algn="ctr">
                        <a:buClrTx/>
                        <a:buSzTx/>
                        <a:buFontTx/>
                        <a:buNone/>
                      </a:pPr>
                      <a:r>
                        <a:rPr lang="en-US" altLang="zh-CN" sz="2800">
                          <a:ea typeface="楷体" panose="02010609060101010101" charset="-122"/>
                          <a:cs typeface="楷体" panose="02010609060101010101" charset="-122"/>
                        </a:rPr>
                        <a:t>2025</a:t>
                      </a:r>
                      <a:endParaRPr lang="en-US" altLang="zh-CN" sz="2800">
                        <a:ea typeface="楷体" panose="02010609060101010101" charset="-122"/>
                        <a:cs typeface="楷体" panose="02010609060101010101" charset="-122"/>
                      </a:endParaRPr>
                    </a:p>
                  </a:txBody>
                  <a:tcPr/>
                </a:tc>
                <a:tc>
                  <a:txBody>
                    <a:bodyPr/>
                    <a:p>
                      <a:pPr algn="ctr">
                        <a:buClrTx/>
                        <a:buSzTx/>
                        <a:buFontTx/>
                        <a:buNone/>
                      </a:pPr>
                      <a:r>
                        <a:rPr lang="en-US" altLang="zh-CN" sz="2800">
                          <a:ea typeface="楷体" panose="02010609060101010101" charset="-122"/>
                          <a:cs typeface="楷体" panose="02010609060101010101" charset="-122"/>
                        </a:rPr>
                        <a:t>2024</a:t>
                      </a:r>
                      <a:endParaRPr lang="en-US" altLang="zh-CN" sz="2800">
                        <a:ea typeface="楷体" panose="02010609060101010101" charset="-122"/>
                        <a:cs typeface="楷体" panose="02010609060101010101" charset="-122"/>
                      </a:endParaRPr>
                    </a:p>
                  </a:txBody>
                  <a:tcPr/>
                </a:tc>
                <a:tc>
                  <a:txBody>
                    <a:bodyPr/>
                    <a:p>
                      <a:pPr algn="ctr">
                        <a:buClrTx/>
                        <a:buSzTx/>
                        <a:buFontTx/>
                        <a:buNone/>
                      </a:pPr>
                      <a:r>
                        <a:rPr lang="en-US" altLang="zh-CN" sz="2800">
                          <a:ea typeface="楷体" panose="02010609060101010101" charset="-122"/>
                          <a:cs typeface="楷体" panose="02010609060101010101" charset="-122"/>
                        </a:rPr>
                        <a:t>2023</a:t>
                      </a:r>
                      <a:endParaRPr lang="en-US" altLang="zh-CN" sz="2800">
                        <a:ea typeface="楷体" panose="02010609060101010101" charset="-122"/>
                        <a:cs typeface="楷体" panose="02010609060101010101" charset="-122"/>
                      </a:endParaRPr>
                    </a:p>
                  </a:txBody>
                  <a:tcPr/>
                </a:tc>
              </a:tr>
              <a:tr h="439420">
                <a:tc>
                  <a:txBody>
                    <a:bodyPr/>
                    <a:p>
                      <a:pPr algn="ctr">
                        <a:buNone/>
                      </a:pPr>
                      <a:r>
                        <a:rPr lang="zh-CN" altLang="en-US" b="1"/>
                        <a:t>论证类</a:t>
                      </a:r>
                      <a:endParaRPr lang="zh-CN" altLang="en-US" b="1"/>
                    </a:p>
                  </a:txBody>
                  <a:tcPr/>
                </a:tc>
                <a:tc>
                  <a:txBody>
                    <a:bodyPr/>
                    <a:p>
                      <a:pPr algn="ctr">
                        <a:buNone/>
                      </a:pPr>
                      <a:r>
                        <a:rPr lang="en-US" altLang="zh-CN" b="1"/>
                        <a:t>3</a:t>
                      </a:r>
                      <a:endParaRPr lang="en-US" altLang="zh-CN" b="1"/>
                    </a:p>
                  </a:txBody>
                  <a:tcPr/>
                </a:tc>
                <a:tc>
                  <a:txBody>
                    <a:bodyPr/>
                    <a:p>
                      <a:pPr algn="ctr">
                        <a:buNone/>
                      </a:pPr>
                      <a:r>
                        <a:rPr lang="en-US" altLang="zh-CN" b="1"/>
                        <a:t>8</a:t>
                      </a:r>
                      <a:endParaRPr lang="en-US" altLang="zh-CN" b="1"/>
                    </a:p>
                  </a:txBody>
                  <a:tcPr/>
                </a:tc>
                <a:tc>
                  <a:txBody>
                    <a:bodyPr/>
                    <a:p>
                      <a:pPr algn="ctr">
                        <a:buNone/>
                      </a:pPr>
                      <a:r>
                        <a:rPr lang="en-US" altLang="zh-CN" b="1"/>
                        <a:t>7</a:t>
                      </a:r>
                      <a:endParaRPr lang="en-US" altLang="zh-CN" b="1"/>
                    </a:p>
                  </a:txBody>
                  <a:tcPr/>
                </a:tc>
              </a:tr>
              <a:tr h="440055">
                <a:tc>
                  <a:txBody>
                    <a:bodyPr/>
                    <a:p>
                      <a:pPr algn="ctr">
                        <a:buNone/>
                      </a:pPr>
                      <a:r>
                        <a:rPr lang="zh-CN" altLang="en-US" b="1"/>
                        <a:t>分析推理</a:t>
                      </a:r>
                      <a:endParaRPr lang="zh-CN" altLang="en-US" b="1"/>
                    </a:p>
                  </a:txBody>
                  <a:tcPr/>
                </a:tc>
                <a:tc>
                  <a:txBody>
                    <a:bodyPr/>
                    <a:p>
                      <a:pPr algn="ctr">
                        <a:buNone/>
                      </a:pPr>
                      <a:r>
                        <a:rPr lang="en-US" altLang="zh-CN" b="1"/>
                        <a:t>3</a:t>
                      </a:r>
                      <a:endParaRPr lang="en-US" altLang="zh-CN" b="1"/>
                    </a:p>
                  </a:txBody>
                  <a:tcPr/>
                </a:tc>
                <a:tc>
                  <a:txBody>
                    <a:bodyPr/>
                    <a:p>
                      <a:pPr algn="ctr">
                        <a:buNone/>
                      </a:pPr>
                      <a:r>
                        <a:rPr lang="en-US" altLang="zh-CN" b="1"/>
                        <a:t>2</a:t>
                      </a:r>
                      <a:endParaRPr lang="en-US" altLang="zh-CN" b="1"/>
                    </a:p>
                  </a:txBody>
                  <a:tcPr/>
                </a:tc>
                <a:tc>
                  <a:txBody>
                    <a:bodyPr/>
                    <a:p>
                      <a:pPr algn="ctr">
                        <a:buNone/>
                      </a:pPr>
                      <a:r>
                        <a:rPr lang="en-US" altLang="zh-CN" b="1"/>
                        <a:t>2</a:t>
                      </a:r>
                      <a:endParaRPr lang="en-US" altLang="zh-CN" b="1"/>
                    </a:p>
                  </a:txBody>
                  <a:tcPr/>
                </a:tc>
              </a:tr>
              <a:tr h="439420">
                <a:tc>
                  <a:txBody>
                    <a:bodyPr/>
                    <a:p>
                      <a:pPr algn="ctr">
                        <a:buNone/>
                      </a:pPr>
                      <a:r>
                        <a:rPr lang="zh-CN" altLang="en-US" b="1"/>
                        <a:t>翻译推理</a:t>
                      </a:r>
                      <a:endParaRPr lang="zh-CN" altLang="en-US" b="1"/>
                    </a:p>
                  </a:txBody>
                  <a:tcPr/>
                </a:tc>
                <a:tc>
                  <a:txBody>
                    <a:bodyPr/>
                    <a:p>
                      <a:pPr algn="ctr">
                        <a:buNone/>
                      </a:pPr>
                      <a:r>
                        <a:rPr lang="en-US" altLang="zh-CN" b="1"/>
                        <a:t>2</a:t>
                      </a:r>
                      <a:endParaRPr lang="en-US" altLang="zh-CN" b="1"/>
                    </a:p>
                  </a:txBody>
                  <a:tcPr/>
                </a:tc>
                <a:tc>
                  <a:txBody>
                    <a:bodyPr/>
                    <a:p>
                      <a:pPr algn="ctr">
                        <a:buNone/>
                      </a:pPr>
                      <a:r>
                        <a:rPr lang="en-US" altLang="zh-CN" b="1"/>
                        <a:t>3</a:t>
                      </a:r>
                      <a:endParaRPr lang="en-US" altLang="zh-CN" b="1"/>
                    </a:p>
                  </a:txBody>
                  <a:tcPr/>
                </a:tc>
                <a:tc>
                  <a:txBody>
                    <a:bodyPr/>
                    <a:p>
                      <a:pPr algn="ctr">
                        <a:buNone/>
                      </a:pPr>
                      <a:r>
                        <a:rPr lang="en-US" altLang="zh-CN" b="1"/>
                        <a:t>3</a:t>
                      </a:r>
                      <a:endParaRPr lang="en-US" altLang="zh-CN" b="1"/>
                    </a:p>
                  </a:txBody>
                  <a:tcPr/>
                </a:tc>
              </a:tr>
              <a:tr h="439420">
                <a:tc>
                  <a:txBody>
                    <a:bodyPr/>
                    <a:p>
                      <a:pPr algn="ctr">
                        <a:buNone/>
                      </a:pPr>
                      <a:r>
                        <a:rPr lang="zh-CN" altLang="en-US" b="1"/>
                        <a:t>真假推理</a:t>
                      </a:r>
                      <a:endParaRPr lang="zh-CN" altLang="en-US" b="1"/>
                    </a:p>
                  </a:txBody>
                  <a:tcPr/>
                </a:tc>
                <a:tc>
                  <a:txBody>
                    <a:bodyPr/>
                    <a:p>
                      <a:pPr algn="ctr">
                        <a:buNone/>
                      </a:pPr>
                      <a:r>
                        <a:rPr lang="en-US" altLang="zh-CN" b="1"/>
                        <a:t>0</a:t>
                      </a:r>
                      <a:endParaRPr lang="en-US" altLang="zh-CN" b="1"/>
                    </a:p>
                  </a:txBody>
                  <a:tcPr/>
                </a:tc>
                <a:tc>
                  <a:txBody>
                    <a:bodyPr/>
                    <a:p>
                      <a:pPr algn="ctr">
                        <a:buNone/>
                      </a:pPr>
                      <a:r>
                        <a:rPr lang="en-US" altLang="zh-CN" b="1"/>
                        <a:t>0</a:t>
                      </a:r>
                      <a:endParaRPr lang="en-US" altLang="zh-CN" b="1"/>
                    </a:p>
                  </a:txBody>
                  <a:tcPr/>
                </a:tc>
                <a:tc>
                  <a:txBody>
                    <a:bodyPr/>
                    <a:p>
                      <a:pPr algn="ctr">
                        <a:buNone/>
                      </a:pPr>
                      <a:r>
                        <a:rPr lang="en-US" altLang="zh-CN" b="1"/>
                        <a:t>1</a:t>
                      </a:r>
                      <a:endParaRPr lang="en-US" altLang="zh-CN" b="1"/>
                    </a:p>
                  </a:txBody>
                  <a:tcPr/>
                </a:tc>
              </a:tr>
              <a:tr h="440055">
                <a:tc>
                  <a:txBody>
                    <a:bodyPr/>
                    <a:p>
                      <a:pPr algn="ctr">
                        <a:buNone/>
                      </a:pPr>
                      <a:r>
                        <a:rPr lang="zh-CN" altLang="en-US" b="1"/>
                        <a:t>原因解释</a:t>
                      </a:r>
                      <a:endParaRPr lang="zh-CN" altLang="en-US" b="1"/>
                    </a:p>
                  </a:txBody>
                  <a:tcPr/>
                </a:tc>
                <a:tc>
                  <a:txBody>
                    <a:bodyPr/>
                    <a:p>
                      <a:pPr algn="ctr">
                        <a:buNone/>
                      </a:pPr>
                      <a:r>
                        <a:rPr lang="en-US" altLang="zh-CN" b="1"/>
                        <a:t>1</a:t>
                      </a:r>
                      <a:endParaRPr lang="en-US" altLang="zh-CN" b="1"/>
                    </a:p>
                  </a:txBody>
                  <a:tcPr/>
                </a:tc>
                <a:tc>
                  <a:txBody>
                    <a:bodyPr/>
                    <a:p>
                      <a:pPr algn="ctr">
                        <a:buNone/>
                      </a:pPr>
                      <a:r>
                        <a:rPr lang="en-US" altLang="zh-CN" b="1"/>
                        <a:t>0</a:t>
                      </a:r>
                      <a:endParaRPr lang="en-US" altLang="zh-CN" b="1"/>
                    </a:p>
                  </a:txBody>
                  <a:tcPr/>
                </a:tc>
                <a:tc>
                  <a:txBody>
                    <a:bodyPr/>
                    <a:p>
                      <a:pPr algn="ctr">
                        <a:buNone/>
                      </a:pPr>
                      <a:r>
                        <a:rPr lang="en-US" altLang="zh-CN" b="1"/>
                        <a:t>0</a:t>
                      </a:r>
                      <a:endParaRPr lang="en-US" altLang="zh-CN" b="1"/>
                    </a:p>
                  </a:txBody>
                  <a:tcPr/>
                </a:tc>
              </a:tr>
              <a:tr h="439420">
                <a:tc>
                  <a:txBody>
                    <a:bodyPr/>
                    <a:p>
                      <a:pPr algn="ctr">
                        <a:buNone/>
                      </a:pPr>
                      <a:r>
                        <a:rPr lang="zh-CN" altLang="en-US" b="1"/>
                        <a:t>平行结构</a:t>
                      </a:r>
                      <a:endParaRPr lang="zh-CN" altLang="en-US" b="1"/>
                    </a:p>
                  </a:txBody>
                  <a:tcPr/>
                </a:tc>
                <a:tc>
                  <a:txBody>
                    <a:bodyPr/>
                    <a:p>
                      <a:pPr algn="ctr">
                        <a:buNone/>
                      </a:pPr>
                      <a:r>
                        <a:rPr lang="en-US" altLang="zh-CN" b="1"/>
                        <a:t>0</a:t>
                      </a:r>
                      <a:endParaRPr lang="en-US" altLang="zh-CN" b="1"/>
                    </a:p>
                  </a:txBody>
                  <a:tcPr/>
                </a:tc>
                <a:tc>
                  <a:txBody>
                    <a:bodyPr/>
                    <a:p>
                      <a:pPr algn="ctr">
                        <a:buNone/>
                      </a:pPr>
                      <a:r>
                        <a:rPr lang="en-US" altLang="zh-CN" b="1"/>
                        <a:t>1</a:t>
                      </a:r>
                      <a:endParaRPr lang="en-US" altLang="zh-CN" b="1"/>
                    </a:p>
                  </a:txBody>
                  <a:tcPr/>
                </a:tc>
                <a:tc>
                  <a:txBody>
                    <a:bodyPr/>
                    <a:p>
                      <a:pPr algn="ctr">
                        <a:buNone/>
                      </a:pPr>
                      <a:r>
                        <a:rPr lang="en-US" altLang="zh-CN" b="1"/>
                        <a:t>0</a:t>
                      </a:r>
                      <a:endParaRPr lang="en-US" altLang="zh-CN" b="1"/>
                    </a:p>
                  </a:txBody>
                  <a:tcPr/>
                </a:tc>
              </a:tr>
              <a:tr h="439420">
                <a:tc>
                  <a:txBody>
                    <a:bodyPr/>
                    <a:p>
                      <a:pPr algn="ctr">
                        <a:buNone/>
                      </a:pPr>
                      <a:r>
                        <a:rPr lang="zh-CN" altLang="en-US" b="1"/>
                        <a:t>归纳推理</a:t>
                      </a:r>
                      <a:endParaRPr lang="zh-CN" altLang="en-US" b="1"/>
                    </a:p>
                  </a:txBody>
                  <a:tcPr/>
                </a:tc>
                <a:tc>
                  <a:txBody>
                    <a:bodyPr/>
                    <a:p>
                      <a:pPr algn="ctr">
                        <a:buNone/>
                      </a:pPr>
                      <a:r>
                        <a:rPr lang="en-US" altLang="zh-CN" b="1"/>
                        <a:t>0</a:t>
                      </a:r>
                      <a:endParaRPr lang="en-US" altLang="zh-CN" b="1"/>
                    </a:p>
                  </a:txBody>
                  <a:tcPr/>
                </a:tc>
                <a:tc>
                  <a:txBody>
                    <a:bodyPr/>
                    <a:p>
                      <a:pPr algn="ctr">
                        <a:buNone/>
                      </a:pPr>
                      <a:r>
                        <a:rPr lang="en-US" altLang="zh-CN" b="1"/>
                        <a:t>1</a:t>
                      </a:r>
                      <a:endParaRPr lang="en-US" altLang="zh-CN" b="1"/>
                    </a:p>
                  </a:txBody>
                  <a:tcPr/>
                </a:tc>
                <a:tc>
                  <a:txBody>
                    <a:bodyPr/>
                    <a:p>
                      <a:pPr algn="ctr">
                        <a:buNone/>
                      </a:pPr>
                      <a:r>
                        <a:rPr lang="en-US" altLang="zh-CN" b="1"/>
                        <a:t>3</a:t>
                      </a:r>
                      <a:endParaRPr lang="en-US" altLang="zh-CN" b="1"/>
                    </a:p>
                  </a:txBody>
                  <a:tcPr/>
                </a:tc>
              </a:tr>
            </a:tbl>
          </a:graphicData>
        </a:graphic>
      </p:graphicFrame>
      <p:sp>
        <p:nvSpPr>
          <p:cNvPr id="5" name="文本框 4"/>
          <p:cNvSpPr txBox="1"/>
          <p:nvPr/>
        </p:nvSpPr>
        <p:spPr>
          <a:xfrm>
            <a:off x="553085" y="4584700"/>
            <a:ext cx="11085830" cy="922020"/>
          </a:xfrm>
          <a:prstGeom prst="rect">
            <a:avLst/>
          </a:prstGeom>
          <a:noFill/>
        </p:spPr>
        <p:txBody>
          <a:bodyPr wrap="square" rtlCol="0">
            <a:spAutoFit/>
          </a:bodyPr>
          <a:p>
            <a:pPr indent="0" algn="ctr" fontAlgn="auto">
              <a:lnSpc>
                <a:spcPct val="150000"/>
              </a:lnSpc>
            </a:pPr>
            <a:r>
              <a:rPr lang="zh-CN"/>
              <a:t>京考的逻辑判断</a:t>
            </a:r>
            <a:r>
              <a:rPr lang="en-US" altLang="zh-CN"/>
              <a:t>24</a:t>
            </a:r>
            <a:r>
              <a:rPr lang="zh-CN" altLang="en-US"/>
              <a:t>年及以前更重视论证，</a:t>
            </a:r>
            <a:r>
              <a:rPr lang="en-US" altLang="zh-CN"/>
              <a:t>25</a:t>
            </a:r>
            <a:r>
              <a:rPr lang="zh-CN" altLang="en-US"/>
              <a:t>年及以后开始增加推理的题量。</a:t>
            </a:r>
            <a:endParaRPr lang="zh-CN" altLang="en-US"/>
          </a:p>
          <a:p>
            <a:pPr indent="0" algn="ctr" fontAlgn="auto">
              <a:lnSpc>
                <a:spcPct val="150000"/>
              </a:lnSpc>
            </a:pPr>
            <a:r>
              <a:rPr lang="zh-CN" altLang="en-US"/>
              <a:t>推理考察的相对比较简单，基础知识学会即够用</a:t>
            </a:r>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custDataLst>
              <p:tags r:id="rId1"/>
            </p:custDataLst>
          </p:nvPr>
        </p:nvSpPr>
        <p:spPr>
          <a:xfrm>
            <a:off x="694690" y="707390"/>
            <a:ext cx="10803255" cy="5677535"/>
          </a:xfrm>
          <a:prstGeom prst="rect">
            <a:avLst/>
          </a:prstGeom>
        </p:spPr>
        <p:txBody>
          <a:bodyPr wrap="square">
            <a:spAutoFit/>
          </a:bodyPr>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7.</a:t>
            </a:r>
            <a:r>
              <a:rPr lang="zh-CN" altLang="en-US" sz="2200" spc="200" dirty="0">
                <a:solidFill>
                  <a:srgbClr val="000000"/>
                </a:solidFill>
                <a:latin typeface="+mn-ea"/>
                <a:cs typeface="楷体" panose="02010609060101010101" charset="-122"/>
                <a:sym typeface="楷体" panose="02010609060101010101" charset="-122"/>
              </a:rPr>
              <a:t>石油燃烧会释放二氧化硫，煤油燃烧会释放二氧化硫，纯酒精燃烧不会释放二氧化硫。现有一种未知液体，燃烧后没有释放二氧化硫。以下对该未知液体的判断一定为真的有：</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Ⅰ</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它是纯酒精</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Ⅱ</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它要么是石油要么是煤油要么是纯酒精</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en-US" sz="2200" spc="200" dirty="0">
                <a:solidFill>
                  <a:srgbClr val="000000"/>
                </a:solidFill>
                <a:latin typeface="+mn-ea"/>
                <a:cs typeface="楷体" panose="02010609060101010101" charset="-122"/>
                <a:sym typeface="楷体" panose="02010609060101010101" charset="-122"/>
              </a:rPr>
              <a:t>Ⅲ</a:t>
            </a:r>
            <a:r>
              <a:rPr lang="en-US" altLang="zh-CN" sz="2200" spc="200" dirty="0">
                <a:solidFill>
                  <a:srgbClr val="000000"/>
                </a:solidFill>
                <a:latin typeface="+mn-ea"/>
                <a:cs typeface="楷体" panose="02010609060101010101" charset="-122"/>
                <a:sym typeface="楷体" panose="02010609060101010101" charset="-122"/>
              </a:rPr>
              <a:t>.</a:t>
            </a:r>
            <a:r>
              <a:rPr lang="zh-CN" altLang="en-US" sz="2200" spc="200" dirty="0">
                <a:solidFill>
                  <a:srgbClr val="000000"/>
                </a:solidFill>
                <a:latin typeface="+mn-ea"/>
                <a:cs typeface="楷体" panose="02010609060101010101" charset="-122"/>
                <a:sym typeface="楷体" panose="02010609060101010101" charset="-122"/>
              </a:rPr>
              <a:t>它不是石油</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IV.</a:t>
            </a:r>
            <a:r>
              <a:rPr lang="zh-CN" altLang="en-US" sz="2200" spc="200" dirty="0">
                <a:solidFill>
                  <a:srgbClr val="000000"/>
                </a:solidFill>
                <a:latin typeface="+mn-ea"/>
                <a:cs typeface="楷体" panose="02010609060101010101" charset="-122"/>
                <a:sym typeface="楷体" panose="02010609060101010101" charset="-122"/>
              </a:rPr>
              <a:t>它不是煤油</a:t>
            </a:r>
            <a:endParaRPr lang="zh-CN"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A.</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Ⅰ</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B.</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Ⅱ</a:t>
            </a:r>
            <a:endParaRPr lang="en-US" altLang="en-US"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C.</a:t>
            </a:r>
            <a:r>
              <a:rPr lang="zh-CN" altLang="en-US" sz="2200" spc="200" dirty="0">
                <a:solidFill>
                  <a:srgbClr val="000000"/>
                </a:solidFill>
                <a:latin typeface="+mn-ea"/>
                <a:cs typeface="楷体" panose="02010609060101010101" charset="-122"/>
                <a:sym typeface="楷体" panose="02010609060101010101" charset="-122"/>
              </a:rPr>
              <a:t>仅</a:t>
            </a:r>
            <a:r>
              <a:rPr lang="en-US" altLang="en-US" sz="2200" spc="200" dirty="0">
                <a:solidFill>
                  <a:srgbClr val="000000"/>
                </a:solidFill>
                <a:latin typeface="+mn-ea"/>
                <a:cs typeface="楷体" panose="02010609060101010101" charset="-122"/>
                <a:sym typeface="楷体" panose="02010609060101010101" charset="-122"/>
              </a:rPr>
              <a:t>Ⅲ</a:t>
            </a:r>
            <a:r>
              <a:rPr lang="zh-CN" altLang="en-US" sz="2200" spc="200" dirty="0">
                <a:solidFill>
                  <a:srgbClr val="000000"/>
                </a:solidFill>
                <a:latin typeface="+mn-ea"/>
                <a:cs typeface="楷体" panose="02010609060101010101" charset="-122"/>
                <a:sym typeface="楷体" panose="02010609060101010101" charset="-122"/>
              </a:rPr>
              <a:t>和</a:t>
            </a:r>
            <a:r>
              <a:rPr lang="en-US" altLang="zh-CN" sz="2200" spc="200" dirty="0">
                <a:solidFill>
                  <a:srgbClr val="000000"/>
                </a:solidFill>
                <a:latin typeface="+mn-ea"/>
                <a:cs typeface="楷体" panose="02010609060101010101" charset="-122"/>
                <a:sym typeface="楷体" panose="02010609060101010101" charset="-122"/>
              </a:rPr>
              <a:t>IV</a:t>
            </a:r>
            <a:endParaRPr lang="en-US" altLang="zh-CN" sz="2200" spc="200" dirty="0">
              <a:solidFill>
                <a:srgbClr val="000000"/>
              </a:solidFill>
              <a:latin typeface="+mn-ea"/>
              <a:cs typeface="楷体" panose="02010609060101010101" charset="-122"/>
              <a:sym typeface="楷体" panose="02010609060101010101" charset="-122"/>
            </a:endParaRPr>
          </a:p>
          <a:p>
            <a:pPr indent="0" fontAlgn="auto">
              <a:lnSpc>
                <a:spcPct val="150000"/>
              </a:lnSpc>
              <a:defRPr sz="7400" spc="200">
                <a:solidFill>
                  <a:srgbClr val="000000"/>
                </a:solidFill>
              </a:defRPr>
            </a:pPr>
            <a:r>
              <a:rPr lang="en-US" altLang="zh-CN" sz="2200" spc="200" dirty="0">
                <a:solidFill>
                  <a:srgbClr val="000000"/>
                </a:solidFill>
                <a:latin typeface="+mn-ea"/>
                <a:cs typeface="楷体" panose="02010609060101010101" charset="-122"/>
                <a:sym typeface="楷体" panose="02010609060101010101" charset="-122"/>
              </a:rPr>
              <a:t>D.</a:t>
            </a:r>
            <a:r>
              <a:rPr lang="en-US" altLang="en-US" sz="2200" spc="200" dirty="0">
                <a:solidFill>
                  <a:srgbClr val="000000"/>
                </a:solidFill>
                <a:latin typeface="+mn-ea"/>
                <a:cs typeface="楷体" panose="02010609060101010101" charset="-122"/>
                <a:sym typeface="楷体" panose="02010609060101010101" charset="-122"/>
              </a:rPr>
              <a:t>Ⅰ</a:t>
            </a:r>
            <a:r>
              <a:rPr lang="zh-CN" altLang="en-US" sz="2200" spc="200" dirty="0">
                <a:solidFill>
                  <a:srgbClr val="000000"/>
                </a:solidFill>
                <a:latin typeface="+mn-ea"/>
                <a:cs typeface="楷体" panose="02010609060101010101" charset="-122"/>
                <a:sym typeface="楷体" panose="02010609060101010101" charset="-122"/>
              </a:rPr>
              <a:t>、</a:t>
            </a:r>
            <a:r>
              <a:rPr lang="en-US" altLang="en-US" sz="2200" spc="200" dirty="0">
                <a:solidFill>
                  <a:srgbClr val="000000"/>
                </a:solidFill>
                <a:latin typeface="+mn-ea"/>
                <a:cs typeface="楷体" panose="02010609060101010101" charset="-122"/>
                <a:sym typeface="楷体" panose="02010609060101010101" charset="-122"/>
              </a:rPr>
              <a:t>Ⅲ</a:t>
            </a:r>
            <a:r>
              <a:rPr lang="zh-CN" altLang="en-US" sz="2200" spc="200" dirty="0">
                <a:solidFill>
                  <a:srgbClr val="000000"/>
                </a:solidFill>
                <a:latin typeface="+mn-ea"/>
                <a:cs typeface="楷体" panose="02010609060101010101" charset="-122"/>
                <a:sym typeface="楷体" panose="02010609060101010101" charset="-122"/>
              </a:rPr>
              <a:t>和</a:t>
            </a:r>
            <a:r>
              <a:rPr lang="en-US" altLang="zh-CN" sz="2200" spc="200" dirty="0">
                <a:solidFill>
                  <a:srgbClr val="000000"/>
                </a:solidFill>
                <a:latin typeface="+mn-ea"/>
                <a:cs typeface="楷体" panose="02010609060101010101" charset="-122"/>
                <a:sym typeface="楷体" panose="02010609060101010101" charset="-122"/>
              </a:rPr>
              <a:t>IV</a:t>
            </a:r>
            <a:endParaRPr lang="en-US" altLang="zh-CN" sz="2200" spc="200" dirty="0">
              <a:solidFill>
                <a:srgbClr val="000000"/>
              </a:solidFill>
              <a:latin typeface="+mn-ea"/>
              <a:cs typeface="楷体" panose="02010609060101010101" charset="-122"/>
              <a:sym typeface="楷体" panose="02010609060101010101"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35066_1*i*1"/>
  <p:tag name="KSO_WM_TEMPLATE_CATEGORY" val="custom"/>
  <p:tag name="KSO_WM_TEMPLATE_INDEX" val="20235066"/>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custom20235066_1*i*2"/>
  <p:tag name="KSO_WM_TEMPLATE_CATEGORY" val="custom"/>
  <p:tag name="KSO_WM_TEMPLATE_INDEX" val="20235066"/>
  <p:tag name="KSO_WM_UNIT_LAYERLEVEL" val="1"/>
  <p:tag name="KSO_WM_TAG_VERSION" val="3.0"/>
  <p:tag name="KSO_WM_BEAUTIFY_FLAG" val="#wm#"/>
</p:tagLst>
</file>

<file path=ppt/tags/tag63.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066_1*a*1"/>
  <p:tag name="KSO_WM_TEMPLATE_CATEGORY" val="custom"/>
  <p:tag name="KSO_WM_TEMPLATE_INDEX" val="20235066"/>
  <p:tag name="KSO_WM_UNIT_LAYERLEVEL" val="1"/>
  <p:tag name="KSO_WM_TAG_VERSION" val="3.0"/>
  <p:tag name="KSO_WM_BEAUTIFY_FLAG" val="#wm#"/>
  <p:tag name="KSO_WM_UNIT_VALUE" val="29"/>
  <p:tag name="KSO_WM_UNIT_PRESET_TEXT" val="单击此处添加标题"/>
  <p:tag name="KSO_WM_UNIT_TEXT_TYPE" val="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066_1*i*3"/>
  <p:tag name="KSO_WM_TEMPLATE_CATEGORY" val="custom"/>
  <p:tag name="KSO_WM_TEMPLATE_INDEX" val="20235066"/>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066_1*i*4"/>
  <p:tag name="KSO_WM_TEMPLATE_CATEGORY" val="custom"/>
  <p:tag name="KSO_WM_TEMPLATE_INDEX" val="20235066"/>
  <p:tag name="KSO_WM_UNIT_LAYERLEVEL" val="1"/>
  <p:tag name="KSO_WM_TAG_VERSION" val="3.0"/>
  <p:tag name="KSO_WM_BEAUTIFY_FLAG" val="#wm#"/>
</p:tagLst>
</file>

<file path=ppt/tags/tag66.xml><?xml version="1.0" encoding="utf-8"?>
<p:tagLst xmlns:p="http://schemas.openxmlformats.org/presentationml/2006/main">
  <p:tag name="TABLE_ENDDRAG_ORIGIN_RECT" val="211*264"/>
  <p:tag name="TABLE_ENDDRAG_RECT" val="374*121*211*264"/>
</p:tagLst>
</file>

<file path=ppt/tags/tag67.xml><?xml version="1.0" encoding="utf-8"?>
<p:tagLst xmlns:p="http://schemas.openxmlformats.org/presentationml/2006/main">
  <p:tag name="TABLE_ENDDRAG_ORIGIN_RECT" val="211*264"/>
  <p:tag name="TABLE_ENDDRAG_RECT" val="374*121*211*264"/>
</p:tagLst>
</file>

<file path=ppt/tags/tag68.xml><?xml version="1.0" encoding="utf-8"?>
<p:tagLst xmlns:p="http://schemas.openxmlformats.org/presentationml/2006/main">
  <p:tag name="KSO_WM_SLIDE_ID" val="custom20235066_1"/>
  <p:tag name="KSO_WM_TEMPLATE_SUBCATEGORY" val="0"/>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5066"/>
  <p:tag name="KSO_WM_SLIDE_LAYOUT" val="a_β"/>
  <p:tag name="KSO_WM_SLIDE_LAYOUT_CNT" val="1_2"/>
  <p:tag name="KSO_WM_SLIDE_TYPE" val="text"/>
  <p:tag name="KSO_WM_SLIDE_SUBTYPE" val="picTxt"/>
  <p:tag name="KSO_WM_SLIDE_SIZE" val="896*469"/>
  <p:tag name="KSO_WM_SLIDE_POSITION" val="31*28"/>
</p:tagLst>
</file>

<file path=ppt/tags/tag69.xml><?xml version="1.0" encoding="utf-8"?>
<p:tagLst xmlns:p="http://schemas.openxmlformats.org/presentationml/2006/main">
  <p:tag name="TABLE_ENDDRAG_ORIGIN_RECT" val="688*353"/>
  <p:tag name="TABLE_ENDDRAG_RECT" val="170*72*688*353"/>
</p:tagLst>
</file>

<file path=ppt/tags/tag70.xml><?xml version="1.0" encoding="utf-8"?>
<p:tagLst xmlns:p="http://schemas.openxmlformats.org/presentationml/2006/main">
  <p:tag name="TABLE_ENDDRAG_ORIGIN_RECT" val="612*184"/>
  <p:tag name="TABLE_ENDDRAG_RECT" val="91*71*612*184"/>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TABLE_ENDDRAG_ORIGIN_RECT" val="642*114"/>
  <p:tag name="TABLE_ENDDRAG_RECT" val="66*97*642*114"/>
</p:tagLst>
</file>

<file path=ppt/tags/tag79.xml><?xml version="1.0" encoding="utf-8"?>
<p:tagLst xmlns:p="http://schemas.openxmlformats.org/presentationml/2006/main">
  <p:tag name="TABLE_ENDDRAG_ORIGIN_RECT" val="642*180"/>
  <p:tag name="TABLE_ENDDRAG_RECT" val="144*256*642*180"/>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TABLE_ENDDRAG_ORIGIN_RECT" val="602*182"/>
  <p:tag name="TABLE_ENDDRAG_RECT" val="91*73*602*182"/>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TABLE_ENDDRAG_ORIGIN_RECT" val="668*241"/>
  <p:tag name="TABLE_ENDDRAG_RECT" val="37*68*668*241"/>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resource_record_key" val="{&quot;13&quot;:[20481828,4364903,4364924],&quot;29&quot;:[50053024,50053044,50000268,50000069],&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1512</Words>
  <Application>WPS 演示</Application>
  <PresentationFormat>宽屏</PresentationFormat>
  <Paragraphs>438</Paragraphs>
  <Slides>15</Slides>
  <Notes>4</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15</vt:i4>
      </vt:variant>
    </vt:vector>
  </HeadingPairs>
  <TitlesOfParts>
    <vt:vector size="26" baseType="lpstr">
      <vt:lpstr>Arial</vt:lpstr>
      <vt:lpstr>宋体</vt:lpstr>
      <vt:lpstr>Wingdings</vt:lpstr>
      <vt:lpstr>微软雅黑</vt:lpstr>
      <vt:lpstr>微软雅黑 Light</vt:lpstr>
      <vt:lpstr>Wingdings</vt:lpstr>
      <vt:lpstr>楷体</vt:lpstr>
      <vt:lpstr>Arial Unicode MS</vt:lpstr>
      <vt:lpstr>Office 主题​​</vt:lpstr>
      <vt:lpstr>WPS</vt:lpstr>
      <vt:lpstr>1_WPS</vt:lpstr>
      <vt:lpstr>PowerPoint 演示文稿</vt:lpstr>
      <vt:lpstr>北京近2年行测题型题量分布</vt:lpstr>
      <vt:lpstr>北京判断近5年考情分析</vt:lpstr>
      <vt:lpstr>图形推理题型题量分布</vt:lpstr>
      <vt:lpstr>PowerPoint 演示文稿</vt:lpstr>
      <vt:lpstr>PowerPoint 演示文稿</vt:lpstr>
      <vt:lpstr>PowerPoint 演示文稿</vt:lpstr>
      <vt:lpstr>PowerPoint 演示文稿</vt:lpstr>
      <vt:lpstr>定义判断题型题量分布</vt:lpstr>
      <vt:lpstr>PowerPoint 演示文稿</vt:lpstr>
      <vt:lpstr>类比推理题型题量分布</vt:lpstr>
      <vt:lpstr>PowerPoint 演示文稿</vt:lpstr>
      <vt:lpstr>逻辑判断题型题量分布</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200</cp:revision>
  <dcterms:created xsi:type="dcterms:W3CDTF">2019-06-19T02:08:00Z</dcterms:created>
  <dcterms:modified xsi:type="dcterms:W3CDTF">2026-08-20T09:56:42Z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7E0F0589F6D94CFE8A4BC2AEA01394FF_11</vt:lpwstr>
  </property>
</Properties>
</file>