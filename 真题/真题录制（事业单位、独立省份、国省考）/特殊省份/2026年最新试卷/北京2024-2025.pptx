
<file path=[Content_Types].xml><?xml version="1.0" encoding="utf-8"?>
<Types xmlns="http://schemas.openxmlformats.org/package/2006/content-types">
  <Default Extension="png" ContentType="image/png"/>
  <Default Extension="jpeg" ContentType="image/jpeg"/>
  <Default Extension="JPG" ContentType="image/.jp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56" r:id="rId4"/>
  </p:sldMasterIdLst>
  <p:notesMasterIdLst>
    <p:notesMasterId r:id="rId6"/>
  </p:notesMasterIdLst>
  <p:handoutMasterIdLst>
    <p:handoutMasterId r:id="rId63"/>
  </p:handoutMasterIdLst>
  <p:sldIdLst>
    <p:sldId id="629" r:id="rId5"/>
    <p:sldId id="1392" r:id="rId7"/>
    <p:sldId id="1393" r:id="rId8"/>
    <p:sldId id="1394" r:id="rId9"/>
    <p:sldId id="1395" r:id="rId10"/>
    <p:sldId id="1396" r:id="rId11"/>
    <p:sldId id="1397" r:id="rId12"/>
    <p:sldId id="1398" r:id="rId13"/>
    <p:sldId id="1399" r:id="rId14"/>
    <p:sldId id="1400" r:id="rId15"/>
    <p:sldId id="1401" r:id="rId16"/>
    <p:sldId id="1402" r:id="rId17"/>
    <p:sldId id="1403" r:id="rId18"/>
    <p:sldId id="1404" r:id="rId19"/>
    <p:sldId id="1405" r:id="rId20"/>
    <p:sldId id="1406" r:id="rId21"/>
    <p:sldId id="1407" r:id="rId22"/>
    <p:sldId id="1408" r:id="rId23"/>
    <p:sldId id="1409" r:id="rId24"/>
    <p:sldId id="1410" r:id="rId25"/>
    <p:sldId id="1411" r:id="rId26"/>
    <p:sldId id="1412" r:id="rId27"/>
    <p:sldId id="1413" r:id="rId28"/>
    <p:sldId id="1414" r:id="rId29"/>
    <p:sldId id="1415" r:id="rId30"/>
    <p:sldId id="1416" r:id="rId31"/>
    <p:sldId id="1417" r:id="rId32"/>
    <p:sldId id="1418" r:id="rId33"/>
    <p:sldId id="1419" r:id="rId34"/>
    <p:sldId id="1420" r:id="rId35"/>
    <p:sldId id="1421" r:id="rId36"/>
    <p:sldId id="1422" r:id="rId37"/>
    <p:sldId id="1423" r:id="rId38"/>
    <p:sldId id="1424" r:id="rId39"/>
    <p:sldId id="1425" r:id="rId40"/>
    <p:sldId id="1426" r:id="rId41"/>
    <p:sldId id="1447" r:id="rId42"/>
    <p:sldId id="1446" r:id="rId43"/>
    <p:sldId id="1428" r:id="rId44"/>
    <p:sldId id="1429" r:id="rId45"/>
    <p:sldId id="1430" r:id="rId46"/>
    <p:sldId id="1431" r:id="rId47"/>
    <p:sldId id="1432" r:id="rId48"/>
    <p:sldId id="1433" r:id="rId49"/>
    <p:sldId id="1434" r:id="rId50"/>
    <p:sldId id="1435" r:id="rId51"/>
    <p:sldId id="1436" r:id="rId52"/>
    <p:sldId id="1437" r:id="rId53"/>
    <p:sldId id="1438" r:id="rId54"/>
    <p:sldId id="1439" r:id="rId55"/>
    <p:sldId id="1440" r:id="rId56"/>
    <p:sldId id="1441" r:id="rId57"/>
    <p:sldId id="1442" r:id="rId58"/>
    <p:sldId id="1443" r:id="rId59"/>
    <p:sldId id="1444" r:id="rId60"/>
    <p:sldId id="1445" r:id="rId61"/>
    <p:sldId id="992" r:id="rId62"/>
  </p:sldIdLst>
  <p:sldSz cx="12192000" cy="6858000"/>
  <p:notesSz cx="6858000" cy="9144000"/>
  <p:custDataLst>
    <p:tags r:id="rId6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8" name="李鹏飞_6bQfzI3a" initials="李" lastIdx="0" clrIdx="7"/>
  <p:cmAuthor id="9" name="小珞_QjMfU7FR" initials="小" lastIdx="0" clrIdx="8"/>
  <p:cmAuthor id="10" name="骆倩怡_Znauj26B" initials="authorId_382814100" lastIdx="0" clrIdx="9"/>
  <p:cmAuthor id="11" name="桑桑" initials="桑" lastIdx="0" clrIdx="10"/>
  <p:cmAuthor id="12" name="caoyue" initials="c" lastIdx="0" clrIdx="11"/>
  <p:cmAuthor id="13" name="18309297108" initials="1" lastIdx="0" clrIdx="12"/>
  <p:cmAuthor id="14" name="xmiles" initials="x" lastIdx="0" clrIdx="13"/>
  <p:cmAuthor id="15" name="Microsoft Office User" initials="MOU" lastIdx="0" clrIdx="14"/>
  <p:cmAuthor id="16" name="ibm" initials="i" lastIdx="0" clrIdx="15"/>
  <p:cmAuthor id="17" name="kobe" initials="k" lastIdx="0" clrIdx="16"/>
  <p:cmAuthor id="18" name="MIAI" initials="M" lastIdx="0" clrIdx="17"/>
  <p:cmAuthor id="19" name="HP" initials="H" lastIdx="0" clrIdx="18"/>
  <p:cmAuthor id="20" name="yangyaqin" initials="y" lastIdx="0" clrIdx="19"/>
  <p:cmAuthor id="21" name="ASUS" initials="A" lastIdx="0" clrIdx="20"/>
  <p:cmAuthor id="22" name="Yongqiang ZHOU" initials="YZ" lastIdx="0" clrIdx="21"/>
  <p:cmAuthor id="23" name="Beck_jUrevum2" initials="authorId_724972424" lastIdx="0" clrIdx="22"/>
  <p:cmAuthor id="24" name="WPS_1679281038" initials="W" lastIdx="0" clrIdx="23"/>
  <p:cmAuthor id="25" name="小蕊" initials="小"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8" Type="http://schemas.openxmlformats.org/officeDocument/2006/relationships/tags" Target="tags/tag92.xml"/><Relationship Id="rId67" Type="http://schemas.openxmlformats.org/officeDocument/2006/relationships/commentAuthors" Target="commentAuthors.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handoutMaster" Target="handoutMasters/handoutMaster1.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解析：图形组成相似，所有图形均由两部分构成，优先考虑样式。</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第一段找规律，图一与图二去异求同得到图三；第二段应用规律，图一与图二去异求同得到问号处，只有</a:t>
            </a:r>
            <a:r>
              <a:rPr lang="en-US" altLang="zh-CN" sz="1200" kern="1200" dirty="0">
                <a:solidFill>
                  <a:schemeClr val="tx1"/>
                </a:solidFill>
                <a:effectLst/>
                <a:latin typeface="+mn-lt"/>
              </a:rPr>
              <a:t>C</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解析：组成元素不同，优先考虑数量或属性。</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第一段找规律，黑球都是</a:t>
            </a:r>
            <a:r>
              <a:rPr lang="en-US" altLang="zh-CN" sz="1200" kern="1200" dirty="0">
                <a:solidFill>
                  <a:schemeClr val="tx1"/>
                </a:solidFill>
                <a:effectLst/>
                <a:latin typeface="+mn-lt"/>
              </a:rPr>
              <a:t>3</a:t>
            </a:r>
            <a:r>
              <a:rPr lang="zh-CN" altLang="en-US" sz="1200" kern="1200" dirty="0">
                <a:solidFill>
                  <a:schemeClr val="tx1"/>
                </a:solidFill>
                <a:effectLst/>
                <a:latin typeface="+mn-lt"/>
              </a:rPr>
              <a:t>部分，且每部分为</a:t>
            </a:r>
            <a:r>
              <a:rPr lang="en-US" altLang="zh-CN" sz="1200" kern="1200" dirty="0">
                <a:solidFill>
                  <a:schemeClr val="tx1"/>
                </a:solidFill>
                <a:effectLst/>
                <a:latin typeface="+mn-lt"/>
              </a:rPr>
              <a:t>3</a:t>
            </a:r>
            <a:r>
              <a:rPr lang="zh-CN" altLang="en-US" sz="1200" kern="1200" dirty="0">
                <a:solidFill>
                  <a:schemeClr val="tx1"/>
                </a:solidFill>
                <a:effectLst/>
                <a:latin typeface="+mn-lt"/>
              </a:rPr>
              <a:t>个黑球；第二段应用规律，排除</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两项。继续观察，第一段每幅图形中黑色部分的形状都不同，故排除</a:t>
            </a:r>
            <a:r>
              <a:rPr lang="en-US" altLang="zh-CN" sz="1200" kern="1200" dirty="0">
                <a:solidFill>
                  <a:schemeClr val="tx1"/>
                </a:solidFill>
                <a:effectLst/>
                <a:latin typeface="+mn-lt"/>
              </a:rPr>
              <a:t>A</a:t>
            </a:r>
            <a:r>
              <a:rPr lang="zh-CN" altLang="en-US" sz="1200" kern="1200" dirty="0">
                <a:solidFill>
                  <a:schemeClr val="tx1"/>
                </a:solidFill>
                <a:effectLst/>
                <a:latin typeface="+mn-lt"/>
              </a:rPr>
              <a:t>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解析：组成元素相同（第一组每个图形都是由三条直线构成），但每一幅图中线条发生明显位置变化，考虑动态位置。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第一段找规律，外框</a:t>
            </a:r>
            <a:r>
              <a:rPr lang="en-US" altLang="zh-CN" sz="1200" kern="1200" dirty="0">
                <a:solidFill>
                  <a:schemeClr val="tx1"/>
                </a:solidFill>
                <a:effectLst/>
                <a:latin typeface="+mn-lt"/>
              </a:rPr>
              <a:t>2</a:t>
            </a:r>
            <a:r>
              <a:rPr lang="zh-CN" altLang="en-US" sz="1200" kern="1200" dirty="0">
                <a:solidFill>
                  <a:schemeClr val="tx1"/>
                </a:solidFill>
                <a:effectLst/>
                <a:latin typeface="+mn-lt"/>
              </a:rPr>
              <a:t>个线条沿着外部区域依次逆时针平移一个位置，内部</a:t>
            </a:r>
            <a:r>
              <a:rPr lang="en-US" altLang="zh-CN" sz="1200" kern="1200" dirty="0">
                <a:solidFill>
                  <a:schemeClr val="tx1"/>
                </a:solidFill>
                <a:effectLst/>
                <a:latin typeface="+mn-lt"/>
              </a:rPr>
              <a:t>1</a:t>
            </a:r>
            <a:r>
              <a:rPr lang="zh-CN" altLang="en-US" sz="1200" kern="1200" dirty="0">
                <a:solidFill>
                  <a:schemeClr val="tx1"/>
                </a:solidFill>
                <a:effectLst/>
                <a:latin typeface="+mn-lt"/>
              </a:rPr>
              <a:t>个线条沿着内部区域依次逆时针平移一个位置；第二段应用规律，外框</a:t>
            </a:r>
            <a:r>
              <a:rPr lang="en-US" altLang="zh-CN" sz="1200" kern="1200" dirty="0">
                <a:solidFill>
                  <a:schemeClr val="tx1"/>
                </a:solidFill>
                <a:effectLst/>
                <a:latin typeface="+mn-lt"/>
              </a:rPr>
              <a:t>3</a:t>
            </a:r>
            <a:r>
              <a:rPr lang="zh-CN" altLang="en-US" sz="1200" kern="1200" dirty="0">
                <a:solidFill>
                  <a:schemeClr val="tx1"/>
                </a:solidFill>
                <a:effectLst/>
                <a:latin typeface="+mn-lt"/>
              </a:rPr>
              <a:t>个线条沿着外部区域依次逆时针平移一个位置，内部</a:t>
            </a:r>
            <a:r>
              <a:rPr lang="en-US" altLang="zh-CN" sz="1200" kern="1200" dirty="0">
                <a:solidFill>
                  <a:schemeClr val="tx1"/>
                </a:solidFill>
                <a:effectLst/>
                <a:latin typeface="+mn-lt"/>
              </a:rPr>
              <a:t>2</a:t>
            </a:r>
            <a:r>
              <a:rPr lang="zh-CN" altLang="en-US" sz="1200" kern="1200" dirty="0">
                <a:solidFill>
                  <a:schemeClr val="tx1"/>
                </a:solidFill>
                <a:effectLst/>
                <a:latin typeface="+mn-lt"/>
              </a:rPr>
              <a:t>个线条依次逆时针旋转</a:t>
            </a:r>
            <a:r>
              <a:rPr lang="en-US" altLang="zh-CN" sz="1200" kern="1200" dirty="0">
                <a:solidFill>
                  <a:schemeClr val="tx1"/>
                </a:solidFill>
                <a:effectLst/>
                <a:latin typeface="+mn-lt"/>
              </a:rPr>
              <a:t>90</a:t>
            </a:r>
            <a:r>
              <a:rPr lang="zh-CN" altLang="en-US" sz="1200" kern="1200" dirty="0">
                <a:solidFill>
                  <a:schemeClr val="tx1"/>
                </a:solidFill>
                <a:effectLst/>
                <a:latin typeface="+mn-lt"/>
              </a:rPr>
              <a:t>度，如图所示：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4.</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解析：组成元素相同（每个图形都是由一个黑球和漩涡状的直线构成），但每一幅图中黑球发生明显位置变化，考虑动态位置。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由内向外看，小黑球所在的线条位置由最内侧逐渐向外侧移动，且黑球永远在左下角位置，只有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5.</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解析：题干给了一幅图和相关公式要求，考察动态位置等相关知识。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图形首先左半部分反色，如图：；再将该图进行黑白反色，如图：；后进行下半部分镜像，此时上半部分不会发生变化，只有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项与该图上半部分相同。</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6.</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解析：题干给了一幅图和相关公式要求，考察动态位置等相关知识。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图形首先进行左右换位，如图：；后将图形进行逆时针旋转</a:t>
            </a:r>
            <a:r>
              <a:rPr lang="en-US" altLang="zh-CN" sz="1200" kern="1200" dirty="0">
                <a:solidFill>
                  <a:schemeClr val="tx1"/>
                </a:solidFill>
                <a:effectLst/>
                <a:latin typeface="+mn-lt"/>
              </a:rPr>
              <a:t>90</a:t>
            </a:r>
            <a:r>
              <a:rPr lang="zh-CN" altLang="en-US" sz="1200" kern="1200" dirty="0">
                <a:solidFill>
                  <a:schemeClr val="tx1"/>
                </a:solidFill>
                <a:effectLst/>
                <a:latin typeface="+mn-lt"/>
              </a:rPr>
              <a:t>度，如图：，后将图形在四个角的每个小方格各自顺时针选择</a:t>
            </a:r>
            <a:r>
              <a:rPr lang="en-US" altLang="zh-CN" sz="1200" kern="1200" dirty="0">
                <a:solidFill>
                  <a:schemeClr val="tx1"/>
                </a:solidFill>
                <a:effectLst/>
                <a:latin typeface="+mn-lt"/>
              </a:rPr>
              <a:t>90</a:t>
            </a:r>
            <a:r>
              <a:rPr lang="zh-CN" altLang="en-US" sz="1200" kern="1200" dirty="0">
                <a:solidFill>
                  <a:schemeClr val="tx1"/>
                </a:solidFill>
                <a:effectLst/>
                <a:latin typeface="+mn-lt"/>
              </a:rPr>
              <a:t>度，左下角三角形顺时针旋转</a:t>
            </a:r>
            <a:r>
              <a:rPr lang="en-US" altLang="zh-CN" sz="1200" kern="1200" dirty="0">
                <a:solidFill>
                  <a:schemeClr val="tx1"/>
                </a:solidFill>
                <a:effectLst/>
                <a:latin typeface="+mn-lt"/>
              </a:rPr>
              <a:t>90</a:t>
            </a:r>
            <a:r>
              <a:rPr lang="zh-CN" altLang="en-US" sz="1200" kern="1200" dirty="0">
                <a:solidFill>
                  <a:schemeClr val="tx1"/>
                </a:solidFill>
                <a:effectLst/>
                <a:latin typeface="+mn-lt"/>
              </a:rPr>
              <a:t>度后，三角形顶点应该向下，只有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7.</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解析：题干给了一幅图和相关公式要求，考察动态位置等相关知识。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图形首先左右镜像，就是沿着竖轴翻转，翻转后如图：，后将该图形上半部分左右镜像，就是沿着竖轴翻转，翻转后如图：，后将该图形右半部分反色，左侧不变，只有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选项符合。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8.</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元素组成相似，优先考虑样式。</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第一行寻找规律，图一和图二求异，把求异部分涂黑，再上下翻转得到图三；第二行验证规律，符合；第三行应用规律，只有</a:t>
            </a:r>
            <a:r>
              <a:rPr lang="en-US" altLang="zh-CN" sz="1200" kern="1200" dirty="0">
                <a:solidFill>
                  <a:schemeClr val="tx1"/>
                </a:solidFill>
                <a:effectLst/>
                <a:latin typeface="+mn-lt"/>
              </a:rPr>
              <a:t>C</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9.</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r>
              <a:rPr lang="en-US" altLang="zh-CN" sz="1200" kern="1200" dirty="0">
                <a:solidFill>
                  <a:schemeClr val="tx1"/>
                </a:solidFill>
                <a:effectLst/>
                <a:latin typeface="+mn-lt"/>
              </a:rPr>
              <a:t>A</a:t>
            </a:r>
            <a:r>
              <a:rPr lang="zh-CN" altLang="en-US" sz="1200" kern="1200" dirty="0">
                <a:solidFill>
                  <a:schemeClr val="tx1"/>
                </a:solidFill>
                <a:effectLst/>
                <a:latin typeface="+mn-lt"/>
              </a:rPr>
              <a:t>项：观察</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两面的相对位置关系；如下图所示，面</a:t>
            </a:r>
            <a:r>
              <a:rPr lang="en-US" altLang="zh-CN" sz="1200" kern="1200" dirty="0">
                <a:solidFill>
                  <a:schemeClr val="tx1"/>
                </a:solidFill>
                <a:effectLst/>
                <a:latin typeface="+mn-lt"/>
              </a:rPr>
              <a:t>1</a:t>
            </a:r>
            <a:r>
              <a:rPr lang="zh-CN" altLang="en-US" sz="1200" kern="1200" dirty="0">
                <a:solidFill>
                  <a:schemeClr val="tx1"/>
                </a:solidFill>
                <a:effectLst/>
                <a:latin typeface="+mn-lt"/>
              </a:rPr>
              <a:t>的椭圆在左半面，面</a:t>
            </a:r>
            <a:r>
              <a:rPr lang="en-US" altLang="zh-CN" sz="1200" kern="1200" dirty="0">
                <a:solidFill>
                  <a:schemeClr val="tx1"/>
                </a:solidFill>
                <a:effectLst/>
                <a:latin typeface="+mn-lt"/>
              </a:rPr>
              <a:t>2</a:t>
            </a:r>
            <a:r>
              <a:rPr lang="zh-CN" altLang="en-US" sz="1200" kern="1200" dirty="0">
                <a:solidFill>
                  <a:schemeClr val="tx1"/>
                </a:solidFill>
                <a:effectLst/>
                <a:latin typeface="+mn-lt"/>
              </a:rPr>
              <a:t>的弧线在右半面，在</a:t>
            </a:r>
            <a:r>
              <a:rPr lang="en-US" altLang="zh-CN" sz="1200" kern="1200" dirty="0">
                <a:solidFill>
                  <a:schemeClr val="tx1"/>
                </a:solidFill>
                <a:effectLst/>
                <a:latin typeface="+mn-lt"/>
              </a:rPr>
              <a:t>2</a:t>
            </a:r>
            <a:r>
              <a:rPr lang="zh-CN" altLang="en-US" sz="1200" kern="1200" dirty="0">
                <a:solidFill>
                  <a:schemeClr val="tx1"/>
                </a:solidFill>
                <a:effectLst/>
                <a:latin typeface="+mn-lt"/>
              </a:rPr>
              <a:t>个面的整个面中（框出的区域）的不同的半面，和其余选项不同。</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项：将面</a:t>
            </a:r>
            <a:r>
              <a:rPr lang="en-US" altLang="zh-CN" sz="1200" kern="1200" dirty="0">
                <a:solidFill>
                  <a:schemeClr val="tx1"/>
                </a:solidFill>
                <a:effectLst/>
                <a:latin typeface="+mn-lt"/>
              </a:rPr>
              <a:t>2</a:t>
            </a:r>
            <a:r>
              <a:rPr lang="zh-CN" altLang="en-US" sz="1200" kern="1200" dirty="0">
                <a:solidFill>
                  <a:schemeClr val="tx1"/>
                </a:solidFill>
                <a:effectLst/>
                <a:latin typeface="+mn-lt"/>
              </a:rPr>
              <a:t>旋转，如下图所示，</a:t>
            </a:r>
            <a:r>
              <a:rPr lang="en-US" altLang="zh-CN" sz="1200" kern="1200" dirty="0">
                <a:solidFill>
                  <a:schemeClr val="tx1"/>
                </a:solidFill>
                <a:effectLst/>
                <a:latin typeface="+mn-lt"/>
              </a:rPr>
              <a:t>B</a:t>
            </a:r>
            <a:r>
              <a:rPr lang="zh-CN" altLang="en-US" sz="1200" kern="1200" dirty="0">
                <a:solidFill>
                  <a:schemeClr val="tx1"/>
                </a:solidFill>
                <a:effectLst/>
                <a:latin typeface="+mn-lt"/>
              </a:rPr>
              <a:t>选项的位置，观察</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两面的相对位置关系；面</a:t>
            </a:r>
            <a:r>
              <a:rPr lang="en-US" altLang="zh-CN" sz="1200" kern="1200" dirty="0">
                <a:solidFill>
                  <a:schemeClr val="tx1"/>
                </a:solidFill>
                <a:effectLst/>
                <a:latin typeface="+mn-lt"/>
              </a:rPr>
              <a:t>1</a:t>
            </a:r>
            <a:r>
              <a:rPr lang="zh-CN" altLang="en-US" sz="1200" kern="1200" dirty="0">
                <a:solidFill>
                  <a:schemeClr val="tx1"/>
                </a:solidFill>
                <a:effectLst/>
                <a:latin typeface="+mn-lt"/>
              </a:rPr>
              <a:t>的椭圆和面</a:t>
            </a:r>
            <a:r>
              <a:rPr lang="en-US" altLang="zh-CN" sz="1200" kern="1200" dirty="0">
                <a:solidFill>
                  <a:schemeClr val="tx1"/>
                </a:solidFill>
                <a:effectLst/>
                <a:latin typeface="+mn-lt"/>
              </a:rPr>
              <a:t>2</a:t>
            </a:r>
            <a:r>
              <a:rPr lang="zh-CN" altLang="en-US" sz="1200" kern="1200" dirty="0">
                <a:solidFill>
                  <a:schemeClr val="tx1"/>
                </a:solidFill>
                <a:effectLst/>
                <a:latin typeface="+mn-lt"/>
              </a:rPr>
              <a:t>的弧线在</a:t>
            </a:r>
            <a:r>
              <a:rPr lang="en-US" altLang="zh-CN" sz="1200" kern="1200" dirty="0">
                <a:solidFill>
                  <a:schemeClr val="tx1"/>
                </a:solidFill>
                <a:effectLst/>
                <a:latin typeface="+mn-lt"/>
              </a:rPr>
              <a:t>2</a:t>
            </a:r>
            <a:r>
              <a:rPr lang="zh-CN" altLang="en-US" sz="1200" kern="1200" dirty="0">
                <a:solidFill>
                  <a:schemeClr val="tx1"/>
                </a:solidFill>
                <a:effectLst/>
                <a:latin typeface="+mn-lt"/>
              </a:rPr>
              <a:t>个面的整个面的相同的半面，排除。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项：将面</a:t>
            </a:r>
            <a:r>
              <a:rPr lang="en-US" altLang="zh-CN" sz="1200" kern="1200" dirty="0">
                <a:solidFill>
                  <a:schemeClr val="tx1"/>
                </a:solidFill>
                <a:effectLst/>
                <a:latin typeface="+mn-lt"/>
              </a:rPr>
              <a:t>1</a:t>
            </a:r>
            <a:r>
              <a:rPr lang="zh-CN" altLang="en-US" sz="1200" kern="1200" dirty="0">
                <a:solidFill>
                  <a:schemeClr val="tx1"/>
                </a:solidFill>
                <a:effectLst/>
                <a:latin typeface="+mn-lt"/>
              </a:rPr>
              <a:t>平移，如下图所示，</a:t>
            </a:r>
            <a:r>
              <a:rPr lang="en-US" altLang="zh-CN" sz="1200" kern="1200" dirty="0">
                <a:solidFill>
                  <a:schemeClr val="tx1"/>
                </a:solidFill>
                <a:effectLst/>
                <a:latin typeface="+mn-lt"/>
              </a:rPr>
              <a:t>C</a:t>
            </a:r>
            <a:r>
              <a:rPr lang="zh-CN" altLang="en-US" sz="1200" kern="1200" dirty="0">
                <a:solidFill>
                  <a:schemeClr val="tx1"/>
                </a:solidFill>
                <a:effectLst/>
                <a:latin typeface="+mn-lt"/>
              </a:rPr>
              <a:t>选项的位置，观察</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两面的相对位置关系；面</a:t>
            </a:r>
            <a:r>
              <a:rPr lang="en-US" altLang="zh-CN" sz="1200" kern="1200" dirty="0">
                <a:solidFill>
                  <a:schemeClr val="tx1"/>
                </a:solidFill>
                <a:effectLst/>
                <a:latin typeface="+mn-lt"/>
              </a:rPr>
              <a:t>1</a:t>
            </a:r>
            <a:r>
              <a:rPr lang="zh-CN" altLang="en-US" sz="1200" kern="1200" dirty="0">
                <a:solidFill>
                  <a:schemeClr val="tx1"/>
                </a:solidFill>
                <a:effectLst/>
                <a:latin typeface="+mn-lt"/>
              </a:rPr>
              <a:t>的椭圆和面</a:t>
            </a:r>
            <a:r>
              <a:rPr lang="en-US" altLang="zh-CN" sz="1200" kern="1200" dirty="0">
                <a:solidFill>
                  <a:schemeClr val="tx1"/>
                </a:solidFill>
                <a:effectLst/>
                <a:latin typeface="+mn-lt"/>
              </a:rPr>
              <a:t>2</a:t>
            </a:r>
            <a:r>
              <a:rPr lang="zh-CN" altLang="en-US" sz="1200" kern="1200" dirty="0">
                <a:solidFill>
                  <a:schemeClr val="tx1"/>
                </a:solidFill>
                <a:effectLst/>
                <a:latin typeface="+mn-lt"/>
              </a:rPr>
              <a:t>的弧线在</a:t>
            </a:r>
            <a:r>
              <a:rPr lang="en-US" altLang="zh-CN" sz="1200" kern="1200" dirty="0">
                <a:solidFill>
                  <a:schemeClr val="tx1"/>
                </a:solidFill>
                <a:effectLst/>
                <a:latin typeface="+mn-lt"/>
              </a:rPr>
              <a:t>2</a:t>
            </a:r>
            <a:r>
              <a:rPr lang="zh-CN" altLang="en-US" sz="1200" kern="1200" dirty="0">
                <a:solidFill>
                  <a:schemeClr val="tx1"/>
                </a:solidFill>
                <a:effectLst/>
                <a:latin typeface="+mn-lt"/>
              </a:rPr>
              <a:t>个面的整个面的相同的半面，排除。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项：将面</a:t>
            </a:r>
            <a:r>
              <a:rPr lang="en-US" altLang="zh-CN" sz="1200" kern="1200" dirty="0">
                <a:solidFill>
                  <a:schemeClr val="tx1"/>
                </a:solidFill>
                <a:effectLst/>
                <a:latin typeface="+mn-lt"/>
              </a:rPr>
              <a:t>2</a:t>
            </a:r>
            <a:r>
              <a:rPr lang="zh-CN" altLang="en-US" sz="1200" kern="1200" dirty="0">
                <a:solidFill>
                  <a:schemeClr val="tx1"/>
                </a:solidFill>
                <a:effectLst/>
                <a:latin typeface="+mn-lt"/>
              </a:rPr>
              <a:t>旋转，如下图所示，</a:t>
            </a:r>
            <a:r>
              <a:rPr lang="en-US" altLang="zh-CN" sz="1200" kern="1200" dirty="0">
                <a:solidFill>
                  <a:schemeClr val="tx1"/>
                </a:solidFill>
                <a:effectLst/>
                <a:latin typeface="+mn-lt"/>
              </a:rPr>
              <a:t>D</a:t>
            </a:r>
            <a:r>
              <a:rPr lang="zh-CN" altLang="en-US" sz="1200" kern="1200" dirty="0">
                <a:solidFill>
                  <a:schemeClr val="tx1"/>
                </a:solidFill>
                <a:effectLst/>
                <a:latin typeface="+mn-lt"/>
              </a:rPr>
              <a:t>选项的位置，观察</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两面的相对位置关系；面</a:t>
            </a:r>
            <a:r>
              <a:rPr lang="en-US" altLang="zh-CN" sz="1200" kern="1200" dirty="0">
                <a:solidFill>
                  <a:schemeClr val="tx1"/>
                </a:solidFill>
                <a:effectLst/>
                <a:latin typeface="+mn-lt"/>
              </a:rPr>
              <a:t>1</a:t>
            </a:r>
            <a:r>
              <a:rPr lang="zh-CN" altLang="en-US" sz="1200" kern="1200" dirty="0">
                <a:solidFill>
                  <a:schemeClr val="tx1"/>
                </a:solidFill>
                <a:effectLst/>
                <a:latin typeface="+mn-lt"/>
              </a:rPr>
              <a:t>的椭圆和面</a:t>
            </a:r>
            <a:r>
              <a:rPr lang="en-US" altLang="zh-CN" sz="1200" kern="1200" dirty="0">
                <a:solidFill>
                  <a:schemeClr val="tx1"/>
                </a:solidFill>
                <a:effectLst/>
                <a:latin typeface="+mn-lt"/>
              </a:rPr>
              <a:t>2</a:t>
            </a:r>
            <a:r>
              <a:rPr lang="zh-CN" altLang="en-US" sz="1200" kern="1200" dirty="0">
                <a:solidFill>
                  <a:schemeClr val="tx1"/>
                </a:solidFill>
                <a:effectLst/>
                <a:latin typeface="+mn-lt"/>
              </a:rPr>
              <a:t>的弧线在</a:t>
            </a:r>
            <a:r>
              <a:rPr lang="en-US" altLang="zh-CN" sz="1200" kern="1200" dirty="0">
                <a:solidFill>
                  <a:schemeClr val="tx1"/>
                </a:solidFill>
                <a:effectLst/>
                <a:latin typeface="+mn-lt"/>
              </a:rPr>
              <a:t>2</a:t>
            </a:r>
            <a:r>
              <a:rPr lang="zh-CN" altLang="en-US" sz="1200" kern="1200" dirty="0">
                <a:solidFill>
                  <a:schemeClr val="tx1"/>
                </a:solidFill>
                <a:effectLst/>
                <a:latin typeface="+mn-lt"/>
              </a:rPr>
              <a:t>个面的整个面的相同的半面，排除。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10.</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解析：题目中要求增加正方体后三视图相同。</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俯视图左视图</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主视图</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若想让三视图一样，则让俯视图第一行增加一个正方体，主视图第二列增加一个，左视图第三列增加一个。左视图第三列增加的正方体即主视图第二列，结合俯视图增加一个，可知，至少增加</a:t>
            </a:r>
            <a:r>
              <a:rPr lang="en-US" altLang="zh-CN" sz="1200" kern="1200" dirty="0">
                <a:solidFill>
                  <a:schemeClr val="tx1"/>
                </a:solidFill>
                <a:effectLst/>
                <a:latin typeface="+mn-lt"/>
              </a:rPr>
              <a:t>2</a:t>
            </a:r>
            <a:r>
              <a:rPr lang="zh-CN" altLang="en-US" sz="1200" kern="1200" dirty="0">
                <a:solidFill>
                  <a:schemeClr val="tx1"/>
                </a:solidFill>
                <a:effectLst/>
                <a:latin typeface="+mn-lt"/>
              </a:rPr>
              <a:t>个即可，如图所示：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11.</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解析：沿</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三个顶点切开，其截面是？</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经过</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三个点斜切，如下图所示：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12.</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解析：题干要求让观察照片先后。</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这是倒车，向左看，很明显</a:t>
            </a:r>
            <a:r>
              <a:rPr lang="en-US" altLang="zh-CN" sz="1200" kern="1200" dirty="0">
                <a:solidFill>
                  <a:schemeClr val="tx1"/>
                </a:solidFill>
                <a:effectLst/>
                <a:latin typeface="+mn-lt"/>
              </a:rPr>
              <a:t>34</a:t>
            </a:r>
            <a:r>
              <a:rPr lang="zh-CN" altLang="en-US" sz="1200" kern="1200" dirty="0">
                <a:solidFill>
                  <a:schemeClr val="tx1"/>
                </a:solidFill>
                <a:effectLst/>
                <a:latin typeface="+mn-lt"/>
              </a:rPr>
              <a:t>相关，如果</a:t>
            </a:r>
            <a:r>
              <a:rPr lang="en-US" altLang="zh-CN" sz="1200" kern="1200" dirty="0">
                <a:solidFill>
                  <a:schemeClr val="tx1"/>
                </a:solidFill>
                <a:effectLst/>
                <a:latin typeface="+mn-lt"/>
              </a:rPr>
              <a:t>3-4</a:t>
            </a:r>
            <a:r>
              <a:rPr lang="zh-CN" altLang="en-US" sz="1200" kern="1200" dirty="0">
                <a:solidFill>
                  <a:schemeClr val="tx1"/>
                </a:solidFill>
                <a:effectLst/>
                <a:latin typeface="+mn-lt"/>
              </a:rPr>
              <a:t>倒车，那么图形是向右看才行，</a:t>
            </a:r>
            <a:r>
              <a:rPr lang="en-US" altLang="zh-CN" sz="1200" kern="1200" dirty="0">
                <a:solidFill>
                  <a:schemeClr val="tx1"/>
                </a:solidFill>
                <a:effectLst/>
                <a:latin typeface="+mn-lt"/>
              </a:rPr>
              <a:t>4-3</a:t>
            </a:r>
            <a:r>
              <a:rPr lang="zh-CN" altLang="en-US" sz="1200" kern="1200" dirty="0">
                <a:solidFill>
                  <a:schemeClr val="tx1"/>
                </a:solidFill>
                <a:effectLst/>
                <a:latin typeface="+mn-lt"/>
              </a:rPr>
              <a:t>倒车符合向左看，同理</a:t>
            </a:r>
            <a:r>
              <a:rPr lang="en-US" altLang="zh-CN" sz="1200" kern="1200" dirty="0">
                <a:solidFill>
                  <a:schemeClr val="tx1"/>
                </a:solidFill>
                <a:effectLst/>
                <a:latin typeface="+mn-lt"/>
              </a:rPr>
              <a:t>24</a:t>
            </a:r>
            <a:r>
              <a:rPr lang="zh-CN" altLang="en-US" sz="1200" kern="1200" dirty="0">
                <a:solidFill>
                  <a:schemeClr val="tx1"/>
                </a:solidFill>
                <a:effectLst/>
                <a:latin typeface="+mn-lt"/>
              </a:rPr>
              <a:t>关系应该是</a:t>
            </a:r>
            <a:r>
              <a:rPr lang="en-US" altLang="zh-CN" sz="1200" kern="1200" dirty="0">
                <a:solidFill>
                  <a:schemeClr val="tx1"/>
                </a:solidFill>
                <a:effectLst/>
                <a:latin typeface="+mn-lt"/>
              </a:rPr>
              <a:t>2-4</a:t>
            </a:r>
            <a:r>
              <a:rPr lang="zh-CN" altLang="en-US" sz="1200" kern="1200" dirty="0">
                <a:solidFill>
                  <a:schemeClr val="tx1"/>
                </a:solidFill>
                <a:effectLst/>
                <a:latin typeface="+mn-lt"/>
              </a:rPr>
              <a:t>才是向左看，</a:t>
            </a:r>
            <a:r>
              <a:rPr lang="en-US" altLang="zh-CN" sz="1200" kern="1200" dirty="0">
                <a:solidFill>
                  <a:schemeClr val="tx1"/>
                </a:solidFill>
                <a:effectLst/>
                <a:latin typeface="+mn-lt"/>
              </a:rPr>
              <a:t>12</a:t>
            </a:r>
            <a:r>
              <a:rPr lang="zh-CN" altLang="en-US" sz="1200" kern="1200" dirty="0">
                <a:solidFill>
                  <a:schemeClr val="tx1"/>
                </a:solidFill>
                <a:effectLst/>
                <a:latin typeface="+mn-lt"/>
              </a:rPr>
              <a:t>关系是</a:t>
            </a:r>
            <a:r>
              <a:rPr lang="en-US" altLang="zh-CN" sz="1200" kern="1200" dirty="0">
                <a:solidFill>
                  <a:schemeClr val="tx1"/>
                </a:solidFill>
                <a:effectLst/>
                <a:latin typeface="+mn-lt"/>
              </a:rPr>
              <a:t>1-2</a:t>
            </a:r>
            <a:r>
              <a:rPr lang="zh-CN" altLang="en-US" sz="1200" kern="1200" dirty="0">
                <a:solidFill>
                  <a:schemeClr val="tx1"/>
                </a:solidFill>
                <a:effectLst/>
                <a:latin typeface="+mn-lt"/>
              </a:rPr>
              <a:t>，连起来就是</a:t>
            </a:r>
            <a:r>
              <a:rPr lang="en-US" altLang="zh-CN" sz="1200" kern="1200" dirty="0">
                <a:solidFill>
                  <a:schemeClr val="tx1"/>
                </a:solidFill>
                <a:effectLst/>
                <a:latin typeface="+mn-lt"/>
              </a:rPr>
              <a:t>1-2-4-3</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13.</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解析：题干要求让观察建筑影子，这是一道视图题。</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根据影子是背光，太阳处于正西方向，所以影子是正东方向。上北下南左西右东，画一个坐标。人就在东北方位。</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14.</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解析：题目中要求各图平移后拼合。</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15.</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解析：题干让找光源及影子位置，这是一道视图题。</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光源照向圆柱时候，影子是在另一侧，投向小鹏的位置，排除</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选项。小鹏的右侧有一个圆柱，只有</a:t>
            </a:r>
            <a:r>
              <a:rPr lang="en-US" altLang="zh-CN" sz="1200" kern="1200" dirty="0">
                <a:solidFill>
                  <a:schemeClr val="tx1"/>
                </a:solidFill>
                <a:effectLst/>
                <a:latin typeface="+mn-lt"/>
              </a:rPr>
              <a:t>B</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16.</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解析：安塞腰鼓与翼城花鼓均为传统舞蹈，二者构成并列关系；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且两者均以地理位置命名（</a:t>
            </a:r>
            <a:r>
              <a:rPr lang="en-US" altLang="zh-CN" sz="1200" kern="1200" dirty="0">
                <a:solidFill>
                  <a:schemeClr val="tx1"/>
                </a:solidFill>
                <a:effectLst/>
                <a:latin typeface="+mn-lt"/>
              </a:rPr>
              <a:t>“</a:t>
            </a:r>
            <a:r>
              <a:rPr lang="zh-CN" altLang="en-US" sz="1200" kern="1200" dirty="0">
                <a:solidFill>
                  <a:schemeClr val="tx1"/>
                </a:solidFill>
                <a:effectLst/>
                <a:latin typeface="+mn-lt"/>
              </a:rPr>
              <a:t>安塞</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翼城</a:t>
            </a:r>
            <a:r>
              <a:rPr lang="en-US" altLang="zh-CN" sz="1200" kern="1200" dirty="0">
                <a:solidFill>
                  <a:schemeClr val="tx1"/>
                </a:solidFill>
                <a:effectLst/>
                <a:latin typeface="+mn-lt"/>
              </a:rPr>
              <a:t>”</a:t>
            </a:r>
            <a:r>
              <a:rPr lang="zh-CN" altLang="en-US" sz="1200" kern="1200" dirty="0">
                <a:solidFill>
                  <a:schemeClr val="tx1"/>
                </a:solidFill>
                <a:effectLst/>
                <a:latin typeface="+mn-lt"/>
              </a:rPr>
              <a:t>分别为地名）。</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选项：宾阳炮龙节与瑶族盘王节均为节日，属于并列关系；但宾阳炮龙节是以地理位置命名，而瑶族盘王节是以民族命名，命名方式不一致，与题干逻辑关系不一致。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选项：清明祭祖是节日祭典的一种，二者属于种属关系（包容关系），与题干的并列关系不一致。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选项：武夷茶属于茶类，扬州漆属于漆类，二者不属于同一类别，且无明确对应关系，与题干逻辑关系不一致。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选项：宜兴紫砂与龙泉青瓷均为工艺品，构成并列关系；同时两者也均以地理位置命名（</a:t>
            </a:r>
            <a:r>
              <a:rPr lang="en-US" altLang="zh-CN" sz="1200" kern="1200" dirty="0">
                <a:solidFill>
                  <a:schemeClr val="tx1"/>
                </a:solidFill>
                <a:effectLst/>
                <a:latin typeface="+mn-lt"/>
              </a:rPr>
              <a:t>“</a:t>
            </a:r>
            <a:r>
              <a:rPr lang="zh-CN" altLang="en-US" sz="1200" kern="1200" dirty="0">
                <a:solidFill>
                  <a:schemeClr val="tx1"/>
                </a:solidFill>
                <a:effectLst/>
                <a:latin typeface="+mn-lt"/>
              </a:rPr>
              <a:t>宜兴</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龙泉</a:t>
            </a:r>
            <a:r>
              <a:rPr lang="en-US" altLang="zh-CN" sz="1200" kern="1200" dirty="0">
                <a:solidFill>
                  <a:schemeClr val="tx1"/>
                </a:solidFill>
                <a:effectLst/>
                <a:latin typeface="+mn-lt"/>
              </a:rPr>
              <a:t>”</a:t>
            </a:r>
            <a:r>
              <a:rPr lang="zh-CN" altLang="en-US" sz="1200" kern="1200" dirty="0">
                <a:solidFill>
                  <a:schemeClr val="tx1"/>
                </a:solidFill>
                <a:effectLst/>
                <a:latin typeface="+mn-lt"/>
              </a:rPr>
              <a:t>分别为地名）；与题干逻辑关系一致。</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17.</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解析：信息通过大脑被记忆，三者构成功能对应关系。其中，大脑是人体器官，承担对信息进行记忆的功能。</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选项：食物通过肠道被消化，三者构成功能对应关系。肠道是人体器官，承担对食物进行消化的功能，与题干逻辑关系一致。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选项：眼睛能够识别色彩，但</a:t>
            </a:r>
            <a:r>
              <a:rPr lang="en-US" altLang="zh-CN" sz="1200" kern="1200" dirty="0">
                <a:solidFill>
                  <a:schemeClr val="tx1"/>
                </a:solidFill>
                <a:effectLst/>
                <a:latin typeface="+mn-lt"/>
              </a:rPr>
              <a:t>“</a:t>
            </a:r>
            <a:r>
              <a:rPr lang="zh-CN" altLang="en-US" sz="1200" kern="1200" dirty="0">
                <a:solidFill>
                  <a:schemeClr val="tx1"/>
                </a:solidFill>
                <a:effectLst/>
                <a:latin typeface="+mn-lt"/>
              </a:rPr>
              <a:t>生成</a:t>
            </a:r>
            <a:r>
              <a:rPr lang="en-US" altLang="zh-CN" sz="1200" kern="1200" dirty="0">
                <a:solidFill>
                  <a:schemeClr val="tx1"/>
                </a:solidFill>
                <a:effectLst/>
                <a:latin typeface="+mn-lt"/>
              </a:rPr>
              <a:t>”</a:t>
            </a:r>
            <a:r>
              <a:rPr lang="zh-CN" altLang="en-US" sz="1200" kern="1200" dirty="0">
                <a:solidFill>
                  <a:schemeClr val="tx1"/>
                </a:solidFill>
                <a:effectLst/>
                <a:latin typeface="+mn-lt"/>
              </a:rPr>
              <a:t>色彩与</a:t>
            </a:r>
            <a:r>
              <a:rPr lang="en-US" altLang="zh-CN" sz="1200" kern="1200" dirty="0">
                <a:solidFill>
                  <a:schemeClr val="tx1"/>
                </a:solidFill>
                <a:effectLst/>
                <a:latin typeface="+mn-lt"/>
              </a:rPr>
              <a:t>“</a:t>
            </a:r>
            <a:r>
              <a:rPr lang="zh-CN" altLang="en-US" sz="1200" kern="1200" dirty="0">
                <a:solidFill>
                  <a:schemeClr val="tx1"/>
                </a:solidFill>
                <a:effectLst/>
                <a:latin typeface="+mn-lt"/>
              </a:rPr>
              <a:t>眼睛</a:t>
            </a:r>
            <a:r>
              <a:rPr lang="en-US" altLang="zh-CN" sz="1200" kern="1200" dirty="0">
                <a:solidFill>
                  <a:schemeClr val="tx1"/>
                </a:solidFill>
                <a:effectLst/>
                <a:latin typeface="+mn-lt"/>
              </a:rPr>
              <a:t>”</a:t>
            </a:r>
            <a:r>
              <a:rPr lang="zh-CN" altLang="en-US" sz="1200" kern="1200" dirty="0">
                <a:solidFill>
                  <a:schemeClr val="tx1"/>
                </a:solidFill>
                <a:effectLst/>
                <a:latin typeface="+mn-lt"/>
              </a:rPr>
              <a:t>无直接逻辑关系，不属于功能对应关系，与题干逻辑关系不一致。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选项：心脏可以推动血液流动，但并不负责制造血液，</a:t>
            </a:r>
            <a:r>
              <a:rPr lang="en-US" altLang="zh-CN" sz="1200" kern="1200" dirty="0">
                <a:solidFill>
                  <a:schemeClr val="tx1"/>
                </a:solidFill>
                <a:effectLst/>
                <a:latin typeface="+mn-lt"/>
              </a:rPr>
              <a:t>“</a:t>
            </a:r>
            <a:r>
              <a:rPr lang="zh-CN" altLang="en-US" sz="1200" kern="1200" dirty="0">
                <a:solidFill>
                  <a:schemeClr val="tx1"/>
                </a:solidFill>
                <a:effectLst/>
                <a:latin typeface="+mn-lt"/>
              </a:rPr>
              <a:t>制造血液</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心脏</a:t>
            </a:r>
            <a:r>
              <a:rPr lang="en-US" altLang="zh-CN" sz="1200" kern="1200" dirty="0">
                <a:solidFill>
                  <a:schemeClr val="tx1"/>
                </a:solidFill>
                <a:effectLst/>
                <a:latin typeface="+mn-lt"/>
              </a:rPr>
              <a:t>”</a:t>
            </a:r>
            <a:r>
              <a:rPr lang="zh-CN" altLang="en-US" sz="1200" kern="1200" dirty="0">
                <a:solidFill>
                  <a:schemeClr val="tx1"/>
                </a:solidFill>
                <a:effectLst/>
                <a:latin typeface="+mn-lt"/>
              </a:rPr>
              <a:t>功能不符，与题干逻辑关系不一致。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选项：基因指导蛋白质的合成，虽然存在功能关系，但基因不是人体器官，与题干中</a:t>
            </a:r>
            <a:r>
              <a:rPr lang="en-US" altLang="zh-CN" sz="1200" kern="1200" dirty="0">
                <a:solidFill>
                  <a:schemeClr val="tx1"/>
                </a:solidFill>
                <a:effectLst/>
                <a:latin typeface="+mn-lt"/>
              </a:rPr>
              <a:t>“</a:t>
            </a:r>
            <a:r>
              <a:rPr lang="zh-CN" altLang="en-US" sz="1200" kern="1200" dirty="0">
                <a:solidFill>
                  <a:schemeClr val="tx1"/>
                </a:solidFill>
                <a:effectLst/>
                <a:latin typeface="+mn-lt"/>
              </a:rPr>
              <a:t>大脑</a:t>
            </a:r>
            <a:r>
              <a:rPr lang="en-US" altLang="zh-CN" sz="1200" kern="1200" dirty="0">
                <a:solidFill>
                  <a:schemeClr val="tx1"/>
                </a:solidFill>
                <a:effectLst/>
                <a:latin typeface="+mn-lt"/>
              </a:rPr>
              <a:t>”</a:t>
            </a:r>
            <a:r>
              <a:rPr lang="zh-CN" altLang="en-US" sz="1200" kern="1200" dirty="0">
                <a:solidFill>
                  <a:schemeClr val="tx1"/>
                </a:solidFill>
                <a:effectLst/>
                <a:latin typeface="+mn-lt"/>
              </a:rPr>
              <a:t>作为器官的角色不符，逻辑关系不一致。</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18.</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解析：无人机具有侦察的功能，二者构成功能对应关系；无人机可以用于电子对抗，二者也构成功能或应用领域对应关系。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选项：警犬具有搜毒的功能，二者构成功能对应关系；警犬也可以用于搜捕，二者同样构成功能对应关系；与题干逻辑关系一致。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选项：测温仪的工作原理是基于红外线，二者属于工具与原理对应关系，非功能对应关系，与题干逻辑关系不一致。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选项：雨林被称为地球肺脏，是一种比喻说法，二者属于比喻关系；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地球肺脏</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生态平衡</a:t>
            </a:r>
            <a:r>
              <a:rPr lang="en-US" altLang="zh-CN" sz="1200" kern="1200" dirty="0">
                <a:solidFill>
                  <a:schemeClr val="tx1"/>
                </a:solidFill>
                <a:effectLst/>
                <a:latin typeface="+mn-lt"/>
              </a:rPr>
              <a:t>”</a:t>
            </a:r>
            <a:r>
              <a:rPr lang="zh-CN" altLang="en-US" sz="1200" kern="1200" dirty="0">
                <a:solidFill>
                  <a:schemeClr val="tx1"/>
                </a:solidFill>
                <a:effectLst/>
                <a:latin typeface="+mn-lt"/>
              </a:rPr>
              <a:t>之间也不是功能对应关系，整体不符合题干逻辑。</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选项：废水存在于沟渠中，二者属于场所与内容物的对应关系，非功能关系，与题干逻辑关系不一致。</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19.</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解析：石油与石蜡之间构成原材料对应关系，即石蜡是从石油中提取的产物。</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选项：水与重水属于种属关系（重水是水的一种特殊形式），并非原材料关系，与题干逻辑关系不一致。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选项：卤水与井盐之间也构成原材料对应关系，即井盐是从卤水中提取的。与题干逻辑关系一致。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选项：豆腐与豆浆之间是制作过程中的中间产物关系，豆浆是豆腐的前期形态，并非直接提取物，与题干逻辑关系不一致。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选项：纸浆是纸张的原材料，二者确实属于原材料对应关系，但顺序为</a:t>
            </a:r>
            <a:r>
              <a:rPr lang="en-US" altLang="zh-CN" sz="1200" kern="1200" dirty="0">
                <a:solidFill>
                  <a:schemeClr val="tx1"/>
                </a:solidFill>
                <a:effectLst/>
                <a:latin typeface="+mn-lt"/>
              </a:rPr>
              <a:t>“</a:t>
            </a:r>
            <a:r>
              <a:rPr lang="zh-CN" altLang="en-US" sz="1200" kern="1200" dirty="0">
                <a:solidFill>
                  <a:schemeClr val="tx1"/>
                </a:solidFill>
                <a:effectLst/>
                <a:latin typeface="+mn-lt"/>
              </a:rPr>
              <a:t>成品</a:t>
            </a:r>
            <a:r>
              <a:rPr lang="en-US" altLang="en-US" sz="1200" kern="1200" dirty="0">
                <a:solidFill>
                  <a:schemeClr val="tx1"/>
                </a:solidFill>
                <a:effectLst/>
                <a:latin typeface="+mn-lt"/>
              </a:rPr>
              <a:t>←</a:t>
            </a:r>
            <a:r>
              <a:rPr lang="zh-CN" altLang="en-US" sz="1200" kern="1200" dirty="0">
                <a:solidFill>
                  <a:schemeClr val="tx1"/>
                </a:solidFill>
                <a:effectLst/>
                <a:latin typeface="+mn-lt"/>
              </a:rPr>
              <a:t>原料</a:t>
            </a:r>
            <a:r>
              <a:rPr lang="en-US" altLang="zh-CN" sz="1200" kern="1200" dirty="0">
                <a:solidFill>
                  <a:schemeClr val="tx1"/>
                </a:solidFill>
                <a:effectLst/>
                <a:latin typeface="+mn-lt"/>
              </a:rPr>
              <a:t>”</a:t>
            </a:r>
            <a:r>
              <a:rPr lang="zh-CN" altLang="en-US" sz="1200" kern="1200" dirty="0">
                <a:solidFill>
                  <a:schemeClr val="tx1"/>
                </a:solidFill>
                <a:effectLst/>
                <a:latin typeface="+mn-lt"/>
              </a:rPr>
              <a:t>，与题干</a:t>
            </a:r>
            <a:r>
              <a:rPr lang="en-US" altLang="zh-CN" sz="1200" kern="1200" dirty="0">
                <a:solidFill>
                  <a:schemeClr val="tx1"/>
                </a:solidFill>
                <a:effectLst/>
                <a:latin typeface="+mn-lt"/>
              </a:rPr>
              <a:t>“</a:t>
            </a:r>
            <a:r>
              <a:rPr lang="zh-CN" altLang="en-US" sz="1200" kern="1200" dirty="0">
                <a:solidFill>
                  <a:schemeClr val="tx1"/>
                </a:solidFill>
                <a:effectLst/>
                <a:latin typeface="+mn-lt"/>
              </a:rPr>
              <a:t>原料</a:t>
            </a:r>
            <a:r>
              <a:rPr lang="en-US" altLang="en-US" sz="1200" kern="1200" dirty="0">
                <a:solidFill>
                  <a:schemeClr val="tx1"/>
                </a:solidFill>
                <a:effectLst/>
                <a:latin typeface="+mn-lt"/>
              </a:rPr>
              <a:t>→</a:t>
            </a:r>
            <a:r>
              <a:rPr lang="zh-CN" altLang="en-US" sz="1200" kern="1200" dirty="0">
                <a:solidFill>
                  <a:schemeClr val="tx1"/>
                </a:solidFill>
                <a:effectLst/>
                <a:latin typeface="+mn-lt"/>
              </a:rPr>
              <a:t>成品</a:t>
            </a:r>
            <a:r>
              <a:rPr lang="en-US" altLang="zh-CN" sz="1200" kern="1200" dirty="0">
                <a:solidFill>
                  <a:schemeClr val="tx1"/>
                </a:solidFill>
                <a:effectLst/>
                <a:latin typeface="+mn-lt"/>
              </a:rPr>
              <a:t>”</a:t>
            </a:r>
            <a:r>
              <a:rPr lang="zh-CN" altLang="en-US" sz="1200" kern="1200" dirty="0">
                <a:solidFill>
                  <a:schemeClr val="tx1"/>
                </a:solidFill>
                <a:effectLst/>
                <a:latin typeface="+mn-lt"/>
              </a:rPr>
              <a:t>的顺序相反，因此逻辑顺序不一致，排除。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20.</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r>
              <a:rPr lang="en-US" altLang="zh-CN" sz="1200" kern="1200" dirty="0">
                <a:solidFill>
                  <a:schemeClr val="tx1"/>
                </a:solidFill>
                <a:effectLst/>
                <a:latin typeface="+mn-lt"/>
              </a:rPr>
              <a:t>“</a:t>
            </a:r>
            <a:r>
              <a:rPr lang="zh-CN" altLang="en-US" sz="1200" kern="1200" dirty="0">
                <a:solidFill>
                  <a:schemeClr val="tx1"/>
                </a:solidFill>
                <a:effectLst/>
                <a:latin typeface="+mn-lt"/>
              </a:rPr>
              <a:t>开环控制</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闭环控制</a:t>
            </a:r>
            <a:r>
              <a:rPr lang="en-US" altLang="zh-CN" sz="1200" kern="1200" dirty="0">
                <a:solidFill>
                  <a:schemeClr val="tx1"/>
                </a:solidFill>
                <a:effectLst/>
                <a:latin typeface="+mn-lt"/>
              </a:rPr>
              <a:t>”</a:t>
            </a:r>
            <a:r>
              <a:rPr lang="zh-CN" altLang="en-US" sz="1200" kern="1200" dirty="0">
                <a:solidFill>
                  <a:schemeClr val="tx1"/>
                </a:solidFill>
                <a:effectLst/>
                <a:latin typeface="+mn-lt"/>
              </a:rPr>
              <a:t>都是</a:t>
            </a:r>
            <a:r>
              <a:rPr lang="en-US" altLang="zh-CN" sz="1200" kern="1200" dirty="0">
                <a:solidFill>
                  <a:schemeClr val="tx1"/>
                </a:solidFill>
                <a:effectLst/>
                <a:latin typeface="+mn-lt"/>
              </a:rPr>
              <a:t>“</a:t>
            </a:r>
            <a:r>
              <a:rPr lang="zh-CN" altLang="en-US" sz="1200" kern="1200" dirty="0">
                <a:solidFill>
                  <a:schemeClr val="tx1"/>
                </a:solidFill>
                <a:effectLst/>
                <a:latin typeface="+mn-lt"/>
              </a:rPr>
              <a:t>自动控制</a:t>
            </a:r>
            <a:r>
              <a:rPr lang="en-US" altLang="zh-CN" sz="1200" kern="1200" dirty="0">
                <a:solidFill>
                  <a:schemeClr val="tx1"/>
                </a:solidFill>
                <a:effectLst/>
                <a:latin typeface="+mn-lt"/>
              </a:rPr>
              <a:t>”</a:t>
            </a:r>
            <a:r>
              <a:rPr lang="zh-CN" altLang="en-US" sz="1200" kern="1200" dirty="0">
                <a:solidFill>
                  <a:schemeClr val="tx1"/>
                </a:solidFill>
                <a:effectLst/>
                <a:latin typeface="+mn-lt"/>
              </a:rPr>
              <a:t>的一种，二者与</a:t>
            </a:r>
            <a:r>
              <a:rPr lang="en-US" altLang="zh-CN" sz="1200" kern="1200" dirty="0">
                <a:solidFill>
                  <a:schemeClr val="tx1"/>
                </a:solidFill>
                <a:effectLst/>
                <a:latin typeface="+mn-lt"/>
              </a:rPr>
              <a:t>“</a:t>
            </a:r>
            <a:r>
              <a:rPr lang="zh-CN" altLang="en-US" sz="1200" kern="1200" dirty="0">
                <a:solidFill>
                  <a:schemeClr val="tx1"/>
                </a:solidFill>
                <a:effectLst/>
                <a:latin typeface="+mn-lt"/>
              </a:rPr>
              <a:t>自动控制</a:t>
            </a:r>
            <a:r>
              <a:rPr lang="en-US" altLang="zh-CN" sz="1200" kern="1200" dirty="0">
                <a:solidFill>
                  <a:schemeClr val="tx1"/>
                </a:solidFill>
                <a:effectLst/>
                <a:latin typeface="+mn-lt"/>
              </a:rPr>
              <a:t>”</a:t>
            </a:r>
            <a:r>
              <a:rPr lang="zh-CN" altLang="en-US" sz="1200" kern="1200" dirty="0">
                <a:solidFill>
                  <a:schemeClr val="tx1"/>
                </a:solidFill>
                <a:effectLst/>
                <a:latin typeface="+mn-lt"/>
              </a:rPr>
              <a:t>属于包含关系中的种属关系；</a:t>
            </a:r>
            <a:r>
              <a:rPr lang="en-US" altLang="zh-CN" sz="1200" kern="1200" dirty="0">
                <a:solidFill>
                  <a:schemeClr val="tx1"/>
                </a:solidFill>
                <a:effectLst/>
                <a:latin typeface="+mn-lt"/>
              </a:rPr>
              <a:t>“</a:t>
            </a:r>
            <a:r>
              <a:rPr lang="zh-CN" altLang="en-US" sz="1200" kern="1200" dirty="0">
                <a:solidFill>
                  <a:schemeClr val="tx1"/>
                </a:solidFill>
                <a:effectLst/>
                <a:latin typeface="+mn-lt"/>
              </a:rPr>
              <a:t>开环控制</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闭环控制</a:t>
            </a:r>
            <a:r>
              <a:rPr lang="en-US" altLang="zh-CN" sz="1200" kern="1200" dirty="0">
                <a:solidFill>
                  <a:schemeClr val="tx1"/>
                </a:solidFill>
                <a:effectLst/>
                <a:latin typeface="+mn-lt"/>
              </a:rPr>
              <a:t>”</a:t>
            </a:r>
            <a:r>
              <a:rPr lang="zh-CN" altLang="en-US" sz="1200" kern="1200" dirty="0">
                <a:solidFill>
                  <a:schemeClr val="tx1"/>
                </a:solidFill>
                <a:effectLst/>
                <a:latin typeface="+mn-lt"/>
              </a:rPr>
              <a:t>属于并列关系。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敏感元件</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压力传感器</a:t>
            </a:r>
            <a:r>
              <a:rPr lang="en-US" altLang="zh-CN" sz="1200" kern="1200" dirty="0">
                <a:solidFill>
                  <a:schemeClr val="tx1"/>
                </a:solidFill>
                <a:effectLst/>
                <a:latin typeface="+mn-lt"/>
              </a:rPr>
              <a:t>”</a:t>
            </a:r>
            <a:r>
              <a:rPr lang="zh-CN" altLang="en-US" sz="1200" kern="1200" dirty="0">
                <a:solidFill>
                  <a:schemeClr val="tx1"/>
                </a:solidFill>
                <a:effectLst/>
                <a:latin typeface="+mn-lt"/>
              </a:rPr>
              <a:t>的组成部分，二者属于包容关系中的组成关系，排除。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伺服系统</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反馈系统</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数控机床</a:t>
            </a:r>
            <a:r>
              <a:rPr lang="en-US" altLang="zh-CN" sz="1200" kern="1200" dirty="0">
                <a:solidFill>
                  <a:schemeClr val="tx1"/>
                </a:solidFill>
                <a:effectLst/>
                <a:latin typeface="+mn-lt"/>
              </a:rPr>
              <a:t>”</a:t>
            </a:r>
            <a:r>
              <a:rPr lang="zh-CN" altLang="en-US" sz="1200" kern="1200" dirty="0">
                <a:solidFill>
                  <a:schemeClr val="tx1"/>
                </a:solidFill>
                <a:effectLst/>
                <a:latin typeface="+mn-lt"/>
              </a:rPr>
              <a:t>的组成部分，二者与</a:t>
            </a:r>
            <a:r>
              <a:rPr lang="en-US" altLang="zh-CN" sz="1200" kern="1200" dirty="0">
                <a:solidFill>
                  <a:schemeClr val="tx1"/>
                </a:solidFill>
                <a:effectLst/>
                <a:latin typeface="+mn-lt"/>
              </a:rPr>
              <a:t>“</a:t>
            </a:r>
            <a:r>
              <a:rPr lang="zh-CN" altLang="en-US" sz="1200" kern="1200" dirty="0">
                <a:solidFill>
                  <a:schemeClr val="tx1"/>
                </a:solidFill>
                <a:effectLst/>
                <a:latin typeface="+mn-lt"/>
              </a:rPr>
              <a:t>数控机床</a:t>
            </a:r>
            <a:r>
              <a:rPr lang="en-US" altLang="zh-CN" sz="1200" kern="1200" dirty="0">
                <a:solidFill>
                  <a:schemeClr val="tx1"/>
                </a:solidFill>
                <a:effectLst/>
                <a:latin typeface="+mn-lt"/>
              </a:rPr>
              <a:t>”</a:t>
            </a:r>
            <a:r>
              <a:rPr lang="zh-CN" altLang="en-US" sz="1200" kern="1200" dirty="0">
                <a:solidFill>
                  <a:schemeClr val="tx1"/>
                </a:solidFill>
                <a:effectLst/>
                <a:latin typeface="+mn-lt"/>
              </a:rPr>
              <a:t>属于包含关系中的组成关系，排除。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扭矩</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转矩</a:t>
            </a:r>
            <a:r>
              <a:rPr lang="en-US" altLang="zh-CN" sz="1200" kern="1200" dirty="0">
                <a:solidFill>
                  <a:schemeClr val="tx1"/>
                </a:solidFill>
                <a:effectLst/>
                <a:latin typeface="+mn-lt"/>
              </a:rPr>
              <a:t>”</a:t>
            </a:r>
            <a:r>
              <a:rPr lang="zh-CN" altLang="en-US" sz="1200" kern="1200" dirty="0">
                <a:solidFill>
                  <a:schemeClr val="tx1"/>
                </a:solidFill>
                <a:effectLst/>
                <a:latin typeface="+mn-lt"/>
              </a:rPr>
              <a:t>都属于</a:t>
            </a:r>
            <a:r>
              <a:rPr lang="en-US" altLang="zh-CN" sz="1200" kern="1200" dirty="0">
                <a:solidFill>
                  <a:schemeClr val="tx1"/>
                </a:solidFill>
                <a:effectLst/>
                <a:latin typeface="+mn-lt"/>
              </a:rPr>
              <a:t>“</a:t>
            </a:r>
            <a:r>
              <a:rPr lang="zh-CN" altLang="en-US" sz="1200" kern="1200" dirty="0">
                <a:solidFill>
                  <a:schemeClr val="tx1"/>
                </a:solidFill>
                <a:effectLst/>
                <a:latin typeface="+mn-lt"/>
              </a:rPr>
              <a:t>力矩</a:t>
            </a:r>
            <a:r>
              <a:rPr lang="en-US" altLang="zh-CN" sz="1200" kern="1200" dirty="0">
                <a:solidFill>
                  <a:schemeClr val="tx1"/>
                </a:solidFill>
                <a:effectLst/>
                <a:latin typeface="+mn-lt"/>
              </a:rPr>
              <a:t>”</a:t>
            </a:r>
            <a:r>
              <a:rPr lang="zh-CN" altLang="en-US" sz="1200" kern="1200" dirty="0">
                <a:solidFill>
                  <a:schemeClr val="tx1"/>
                </a:solidFill>
                <a:effectLst/>
                <a:latin typeface="+mn-lt"/>
              </a:rPr>
              <a:t>的一种，二者与</a:t>
            </a:r>
            <a:r>
              <a:rPr lang="en-US" altLang="zh-CN" sz="1200" kern="1200" dirty="0">
                <a:solidFill>
                  <a:schemeClr val="tx1"/>
                </a:solidFill>
                <a:effectLst/>
                <a:latin typeface="+mn-lt"/>
              </a:rPr>
              <a:t>“</a:t>
            </a:r>
            <a:r>
              <a:rPr lang="zh-CN" altLang="en-US" sz="1200" kern="1200" dirty="0">
                <a:solidFill>
                  <a:schemeClr val="tx1"/>
                </a:solidFill>
                <a:effectLst/>
                <a:latin typeface="+mn-lt"/>
              </a:rPr>
              <a:t>力矩</a:t>
            </a:r>
            <a:r>
              <a:rPr lang="en-US" altLang="zh-CN" sz="1200" kern="1200" dirty="0">
                <a:solidFill>
                  <a:schemeClr val="tx1"/>
                </a:solidFill>
                <a:effectLst/>
                <a:latin typeface="+mn-lt"/>
              </a:rPr>
              <a:t>”</a:t>
            </a:r>
            <a:r>
              <a:rPr lang="zh-CN" altLang="en-US" sz="1200" kern="1200" dirty="0">
                <a:solidFill>
                  <a:schemeClr val="tx1"/>
                </a:solidFill>
                <a:effectLst/>
                <a:latin typeface="+mn-lt"/>
              </a:rPr>
              <a:t>属于包含关系中的种属关系，但词语顺序与题干不一致，排除。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镜面反射</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漫反射</a:t>
            </a:r>
            <a:r>
              <a:rPr lang="en-US" altLang="zh-CN" sz="1200" kern="1200" dirty="0">
                <a:solidFill>
                  <a:schemeClr val="tx1"/>
                </a:solidFill>
                <a:effectLst/>
                <a:latin typeface="+mn-lt"/>
              </a:rPr>
              <a:t>”</a:t>
            </a:r>
            <a:r>
              <a:rPr lang="zh-CN" altLang="en-US" sz="1200" kern="1200" dirty="0">
                <a:solidFill>
                  <a:schemeClr val="tx1"/>
                </a:solidFill>
                <a:effectLst/>
                <a:latin typeface="+mn-lt"/>
              </a:rPr>
              <a:t>都是</a:t>
            </a:r>
            <a:r>
              <a:rPr lang="en-US" altLang="zh-CN" sz="1200" kern="1200" dirty="0">
                <a:solidFill>
                  <a:schemeClr val="tx1"/>
                </a:solidFill>
                <a:effectLst/>
                <a:latin typeface="+mn-lt"/>
              </a:rPr>
              <a:t>“</a:t>
            </a:r>
            <a:r>
              <a:rPr lang="zh-CN" altLang="en-US" sz="1200" kern="1200" dirty="0">
                <a:solidFill>
                  <a:schemeClr val="tx1"/>
                </a:solidFill>
                <a:effectLst/>
                <a:latin typeface="+mn-lt"/>
              </a:rPr>
              <a:t>光反射</a:t>
            </a:r>
            <a:r>
              <a:rPr lang="en-US" altLang="zh-CN" sz="1200" kern="1200" dirty="0">
                <a:solidFill>
                  <a:schemeClr val="tx1"/>
                </a:solidFill>
                <a:effectLst/>
                <a:latin typeface="+mn-lt"/>
              </a:rPr>
              <a:t>”</a:t>
            </a:r>
            <a:r>
              <a:rPr lang="zh-CN" altLang="en-US" sz="1200" kern="1200" dirty="0">
                <a:solidFill>
                  <a:schemeClr val="tx1"/>
                </a:solidFill>
                <a:effectLst/>
                <a:latin typeface="+mn-lt"/>
              </a:rPr>
              <a:t>的一种，二者与</a:t>
            </a:r>
            <a:r>
              <a:rPr lang="en-US" altLang="zh-CN" sz="1200" kern="1200" dirty="0">
                <a:solidFill>
                  <a:schemeClr val="tx1"/>
                </a:solidFill>
                <a:effectLst/>
                <a:latin typeface="+mn-lt"/>
              </a:rPr>
              <a:t>“</a:t>
            </a:r>
            <a:r>
              <a:rPr lang="zh-CN" altLang="en-US" sz="1200" kern="1200" dirty="0">
                <a:solidFill>
                  <a:schemeClr val="tx1"/>
                </a:solidFill>
                <a:effectLst/>
                <a:latin typeface="+mn-lt"/>
              </a:rPr>
              <a:t>光反射</a:t>
            </a:r>
            <a:r>
              <a:rPr lang="en-US" altLang="zh-CN" sz="1200" kern="1200" dirty="0">
                <a:solidFill>
                  <a:schemeClr val="tx1"/>
                </a:solidFill>
                <a:effectLst/>
                <a:latin typeface="+mn-lt"/>
              </a:rPr>
              <a:t>”</a:t>
            </a:r>
            <a:r>
              <a:rPr lang="zh-CN" altLang="en-US" sz="1200" kern="1200" dirty="0">
                <a:solidFill>
                  <a:schemeClr val="tx1"/>
                </a:solidFill>
                <a:effectLst/>
                <a:latin typeface="+mn-lt"/>
              </a:rPr>
              <a:t>属于包含关系中的种属关系；</a:t>
            </a:r>
            <a:r>
              <a:rPr lang="en-US" altLang="zh-CN" sz="1200" kern="1200" dirty="0">
                <a:solidFill>
                  <a:schemeClr val="tx1"/>
                </a:solidFill>
                <a:effectLst/>
                <a:latin typeface="+mn-lt"/>
              </a:rPr>
              <a:t>“</a:t>
            </a:r>
            <a:r>
              <a:rPr lang="zh-CN" altLang="en-US" sz="1200" kern="1200" dirty="0">
                <a:solidFill>
                  <a:schemeClr val="tx1"/>
                </a:solidFill>
                <a:effectLst/>
                <a:latin typeface="+mn-lt"/>
              </a:rPr>
              <a:t>镜面反射</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漫反射</a:t>
            </a:r>
            <a:r>
              <a:rPr lang="en-US" altLang="zh-CN" sz="1200" kern="1200" dirty="0">
                <a:solidFill>
                  <a:schemeClr val="tx1"/>
                </a:solidFill>
                <a:effectLst/>
                <a:latin typeface="+mn-lt"/>
              </a:rPr>
              <a:t>”</a:t>
            </a:r>
            <a:r>
              <a:rPr lang="zh-CN" altLang="en-US" sz="1200" kern="1200" dirty="0">
                <a:solidFill>
                  <a:schemeClr val="tx1"/>
                </a:solidFill>
                <a:effectLst/>
                <a:latin typeface="+mn-lt"/>
              </a:rPr>
              <a:t>属于并列关系，与题干逻辑关系一致，符合。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21.</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解析：根据提问方式中的</a:t>
            </a:r>
            <a:r>
              <a:rPr lang="en-US" altLang="zh-CN" sz="1200" kern="1200" dirty="0">
                <a:solidFill>
                  <a:schemeClr val="tx1"/>
                </a:solidFill>
                <a:effectLst/>
                <a:latin typeface="+mn-lt"/>
              </a:rPr>
              <a:t>“</a:t>
            </a:r>
            <a:r>
              <a:rPr lang="zh-CN" altLang="en-US" sz="1200" kern="1200" dirty="0">
                <a:solidFill>
                  <a:schemeClr val="tx1"/>
                </a:solidFill>
                <a:effectLst/>
                <a:latin typeface="+mn-lt"/>
              </a:rPr>
              <a:t>最能支持</a:t>
            </a:r>
            <a:r>
              <a:rPr lang="en-US" altLang="zh-CN" sz="1200" kern="1200" dirty="0">
                <a:solidFill>
                  <a:schemeClr val="tx1"/>
                </a:solidFill>
                <a:effectLst/>
                <a:latin typeface="+mn-lt"/>
              </a:rPr>
              <a:t>”</a:t>
            </a:r>
            <a:r>
              <a:rPr lang="zh-CN" altLang="en-US" sz="1200" kern="1200" dirty="0">
                <a:solidFill>
                  <a:schemeClr val="tx1"/>
                </a:solidFill>
                <a:effectLst/>
                <a:latin typeface="+mn-lt"/>
              </a:rPr>
              <a:t>，确定为加强论证。</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论点：老年人坚持做手指操，能锻炼神经，预防跌倒。</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论据：支配手指的神经元在大脑皮层占据很大面积。</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项：不明确项。该项讨论的是</a:t>
            </a:r>
            <a:r>
              <a:rPr lang="en-US" altLang="zh-CN" sz="1200" kern="1200" dirty="0">
                <a:solidFill>
                  <a:schemeClr val="tx1"/>
                </a:solidFill>
                <a:effectLst/>
                <a:latin typeface="+mn-lt"/>
              </a:rPr>
              <a:t>“</a:t>
            </a:r>
            <a:r>
              <a:rPr lang="zh-CN" altLang="en-US" sz="1200" kern="1200" dirty="0">
                <a:solidFill>
                  <a:schemeClr val="tx1"/>
                </a:solidFill>
                <a:effectLst/>
                <a:latin typeface="+mn-lt"/>
              </a:rPr>
              <a:t>手指的各种运动</a:t>
            </a:r>
            <a:r>
              <a:rPr lang="en-US" altLang="zh-CN" sz="1200" kern="1200" dirty="0">
                <a:solidFill>
                  <a:schemeClr val="tx1"/>
                </a:solidFill>
                <a:effectLst/>
                <a:latin typeface="+mn-lt"/>
              </a:rPr>
              <a:t>”</a:t>
            </a:r>
            <a:r>
              <a:rPr lang="zh-CN" altLang="en-US" sz="1200" kern="1200" dirty="0">
                <a:solidFill>
                  <a:schemeClr val="tx1"/>
                </a:solidFill>
                <a:effectLst/>
                <a:latin typeface="+mn-lt"/>
              </a:rPr>
              <a:t>，并不是在说手指操，不能说明坚持做手指操，能锻炼神经，预防跌倒，不具有加强作用，排除。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项：不明确项。该项讨论的是</a:t>
            </a:r>
            <a:r>
              <a:rPr lang="en-US" altLang="zh-CN" sz="1200" kern="1200" dirty="0">
                <a:solidFill>
                  <a:schemeClr val="tx1"/>
                </a:solidFill>
                <a:effectLst/>
                <a:latin typeface="+mn-lt"/>
              </a:rPr>
              <a:t>“</a:t>
            </a:r>
            <a:r>
              <a:rPr lang="zh-CN" altLang="en-US" sz="1200" kern="1200" dirty="0">
                <a:solidFill>
                  <a:schemeClr val="tx1"/>
                </a:solidFill>
                <a:effectLst/>
                <a:latin typeface="+mn-lt"/>
              </a:rPr>
              <a:t>手部有反射区能改善身体健康</a:t>
            </a:r>
            <a:r>
              <a:rPr lang="en-US" altLang="zh-CN" sz="1200" kern="1200" dirty="0">
                <a:solidFill>
                  <a:schemeClr val="tx1"/>
                </a:solidFill>
                <a:effectLst/>
                <a:latin typeface="+mn-lt"/>
              </a:rPr>
              <a:t>”</a:t>
            </a:r>
            <a:r>
              <a:rPr lang="zh-CN" altLang="en-US" sz="1200" kern="1200" dirty="0">
                <a:solidFill>
                  <a:schemeClr val="tx1"/>
                </a:solidFill>
                <a:effectLst/>
                <a:latin typeface="+mn-lt"/>
              </a:rPr>
              <a:t>，身体健康并不能代表预防跌倒，不具有加强作用，排除。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项：增加正向论据。该项讨论的是</a:t>
            </a:r>
            <a:r>
              <a:rPr lang="en-US" altLang="zh-CN" sz="1200" kern="1200" dirty="0">
                <a:solidFill>
                  <a:schemeClr val="tx1"/>
                </a:solidFill>
                <a:effectLst/>
                <a:latin typeface="+mn-lt"/>
              </a:rPr>
              <a:t>“</a:t>
            </a:r>
            <a:r>
              <a:rPr lang="zh-CN" altLang="en-US" sz="1200" kern="1200" dirty="0">
                <a:solidFill>
                  <a:schemeClr val="tx1"/>
                </a:solidFill>
                <a:effectLst/>
                <a:latin typeface="+mn-lt"/>
              </a:rPr>
              <a:t>手指操确实对保持身体平衡有作用</a:t>
            </a:r>
            <a:r>
              <a:rPr lang="en-US" altLang="zh-CN" sz="1200" kern="1200" dirty="0">
                <a:solidFill>
                  <a:schemeClr val="tx1"/>
                </a:solidFill>
                <a:effectLst/>
                <a:latin typeface="+mn-lt"/>
              </a:rPr>
              <a:t>”</a:t>
            </a:r>
            <a:r>
              <a:rPr lang="zh-CN" altLang="en-US" sz="1200" kern="1200" dirty="0">
                <a:solidFill>
                  <a:schemeClr val="tx1"/>
                </a:solidFill>
                <a:effectLst/>
                <a:latin typeface="+mn-lt"/>
              </a:rPr>
              <a:t>，从而可以预防摔倒，为论点补充了新论据，具有加强作用。</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项：无关选项。该项讨论的是</a:t>
            </a:r>
            <a:r>
              <a:rPr lang="en-US" altLang="zh-CN" sz="1200" kern="1200" dirty="0">
                <a:solidFill>
                  <a:schemeClr val="tx1"/>
                </a:solidFill>
                <a:effectLst/>
                <a:latin typeface="+mn-lt"/>
              </a:rPr>
              <a:t>“</a:t>
            </a:r>
            <a:r>
              <a:rPr lang="zh-CN" altLang="en-US" sz="1200" kern="1200" dirty="0">
                <a:solidFill>
                  <a:schemeClr val="tx1"/>
                </a:solidFill>
                <a:effectLst/>
                <a:latin typeface="+mn-lt"/>
              </a:rPr>
              <a:t>手指灵活可以在跌倒之后减少受伤的程度</a:t>
            </a:r>
            <a:r>
              <a:rPr lang="en-US" altLang="zh-CN" sz="1200" kern="1200" dirty="0">
                <a:solidFill>
                  <a:schemeClr val="tx1"/>
                </a:solidFill>
                <a:effectLst/>
                <a:latin typeface="+mn-lt"/>
              </a:rPr>
              <a:t>”</a:t>
            </a:r>
            <a:r>
              <a:rPr lang="zh-CN" altLang="en-US" sz="1200" kern="1200" dirty="0">
                <a:solidFill>
                  <a:schemeClr val="tx1"/>
                </a:solidFill>
                <a:effectLst/>
                <a:latin typeface="+mn-lt"/>
              </a:rPr>
              <a:t>，与论点</a:t>
            </a:r>
            <a:r>
              <a:rPr lang="en-US" altLang="zh-CN" sz="1200" kern="1200" dirty="0">
                <a:solidFill>
                  <a:schemeClr val="tx1"/>
                </a:solidFill>
                <a:effectLst/>
                <a:latin typeface="+mn-lt"/>
              </a:rPr>
              <a:t>“</a:t>
            </a:r>
            <a:r>
              <a:rPr lang="zh-CN" altLang="en-US" sz="1200" kern="1200" dirty="0">
                <a:solidFill>
                  <a:schemeClr val="tx1"/>
                </a:solidFill>
                <a:effectLst/>
                <a:latin typeface="+mn-lt"/>
              </a:rPr>
              <a:t>老年人坚持做手指操，能锻炼神经，预防跌倒</a:t>
            </a:r>
            <a:r>
              <a:rPr lang="en-US" altLang="zh-CN" sz="1200" kern="1200" dirty="0">
                <a:solidFill>
                  <a:schemeClr val="tx1"/>
                </a:solidFill>
                <a:effectLst/>
                <a:latin typeface="+mn-lt"/>
              </a:rPr>
              <a:t>”</a:t>
            </a:r>
            <a:r>
              <a:rPr lang="zh-CN" altLang="en-US" sz="1200" kern="1200" dirty="0">
                <a:solidFill>
                  <a:schemeClr val="tx1"/>
                </a:solidFill>
                <a:effectLst/>
                <a:latin typeface="+mn-lt"/>
              </a:rPr>
              <a:t>无关，论题不一致，排除。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22.</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解析：根据题干关联词</a:t>
            </a:r>
            <a:r>
              <a:rPr lang="en-US" altLang="zh-CN" sz="1200" kern="1200" dirty="0">
                <a:solidFill>
                  <a:schemeClr val="tx1"/>
                </a:solidFill>
                <a:effectLst/>
                <a:latin typeface="+mn-lt"/>
              </a:rPr>
              <a:t>“</a:t>
            </a:r>
            <a:r>
              <a:rPr lang="zh-CN" altLang="en-US" sz="1200" kern="1200" dirty="0">
                <a:solidFill>
                  <a:schemeClr val="tx1"/>
                </a:solidFill>
                <a:effectLst/>
                <a:latin typeface="+mn-lt"/>
              </a:rPr>
              <a:t>要么</a:t>
            </a:r>
            <a:r>
              <a:rPr lang="en-US" altLang="zh-CN" sz="1200" kern="1200" dirty="0">
                <a:solidFill>
                  <a:schemeClr val="tx1"/>
                </a:solidFill>
                <a:effectLst/>
                <a:latin typeface="+mn-lt"/>
              </a:rPr>
              <a:t>……</a:t>
            </a:r>
            <a:r>
              <a:rPr lang="zh-CN" altLang="en-US" sz="1200" kern="1200" dirty="0">
                <a:solidFill>
                  <a:schemeClr val="tx1"/>
                </a:solidFill>
                <a:effectLst/>
                <a:latin typeface="+mn-lt"/>
              </a:rPr>
              <a:t>要么</a:t>
            </a:r>
            <a:r>
              <a:rPr lang="en-US" altLang="zh-CN" sz="1200" kern="1200" dirty="0">
                <a:solidFill>
                  <a:schemeClr val="tx1"/>
                </a:solidFill>
                <a:effectLst/>
                <a:latin typeface="+mn-lt"/>
              </a:rPr>
              <a:t>”</a:t>
            </a:r>
            <a:r>
              <a:rPr lang="zh-CN" altLang="en-US" sz="1200" kern="1200" dirty="0">
                <a:solidFill>
                  <a:schemeClr val="tx1"/>
                </a:solidFill>
                <a:effectLst/>
                <a:latin typeface="+mn-lt"/>
              </a:rPr>
              <a:t>，确定为翻译推理。</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石油</a:t>
            </a:r>
            <a:r>
              <a:rPr lang="en-US" altLang="en-US" sz="1200" kern="1200" dirty="0">
                <a:solidFill>
                  <a:schemeClr val="tx1"/>
                </a:solidFill>
                <a:effectLst/>
                <a:latin typeface="+mn-lt"/>
              </a:rPr>
              <a:t>→</a:t>
            </a:r>
            <a:r>
              <a:rPr lang="zh-CN" altLang="en-US" sz="1200" kern="1200" dirty="0">
                <a:solidFill>
                  <a:schemeClr val="tx1"/>
                </a:solidFill>
                <a:effectLst/>
                <a:latin typeface="+mn-lt"/>
              </a:rPr>
              <a:t>燃烧产生二氧化硫</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zh-CN" altLang="en-US" sz="1200" kern="1200" dirty="0">
                <a:solidFill>
                  <a:schemeClr val="tx1"/>
                </a:solidFill>
                <a:effectLst/>
                <a:latin typeface="+mn-lt"/>
              </a:rPr>
              <a:t>煤油</a:t>
            </a:r>
            <a:r>
              <a:rPr lang="en-US" altLang="en-US" sz="1200" kern="1200" dirty="0">
                <a:solidFill>
                  <a:schemeClr val="tx1"/>
                </a:solidFill>
                <a:effectLst/>
                <a:latin typeface="+mn-lt"/>
              </a:rPr>
              <a:t>→</a:t>
            </a:r>
            <a:r>
              <a:rPr lang="zh-CN" altLang="en-US" sz="1200" kern="1200" dirty="0">
                <a:solidFill>
                  <a:schemeClr val="tx1"/>
                </a:solidFill>
                <a:effectLst/>
                <a:latin typeface="+mn-lt"/>
              </a:rPr>
              <a:t>燃烧产生二氧化硫</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③</a:t>
            </a:r>
            <a:r>
              <a:rPr lang="zh-CN" altLang="en-US" sz="1200" kern="1200" dirty="0">
                <a:solidFill>
                  <a:schemeClr val="tx1"/>
                </a:solidFill>
                <a:effectLst/>
                <a:latin typeface="+mn-lt"/>
              </a:rPr>
              <a:t>纯酒精</a:t>
            </a:r>
            <a:r>
              <a:rPr lang="en-US" altLang="en-US" sz="1200" kern="1200" dirty="0">
                <a:solidFill>
                  <a:schemeClr val="tx1"/>
                </a:solidFill>
                <a:effectLst/>
                <a:latin typeface="+mn-lt"/>
              </a:rPr>
              <a:t>→</a:t>
            </a:r>
            <a:r>
              <a:rPr lang="zh-CN" altLang="en-US" sz="1200" kern="1200" dirty="0">
                <a:solidFill>
                  <a:schemeClr val="tx1"/>
                </a:solidFill>
                <a:effectLst/>
                <a:latin typeface="+mn-lt"/>
              </a:rPr>
              <a:t>燃烧不产生二氧化硫</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Ⅰ</a:t>
            </a:r>
            <a:r>
              <a:rPr lang="en-US" altLang="zh-CN" sz="1200" kern="1200" dirty="0">
                <a:solidFill>
                  <a:schemeClr val="tx1"/>
                </a:solidFill>
                <a:effectLst/>
                <a:latin typeface="+mn-lt"/>
              </a:rPr>
              <a:t>.</a:t>
            </a:r>
            <a:r>
              <a:rPr lang="zh-CN" altLang="en-US" sz="1200" kern="1200" dirty="0">
                <a:solidFill>
                  <a:schemeClr val="tx1"/>
                </a:solidFill>
                <a:effectLst/>
                <a:latin typeface="+mn-lt"/>
              </a:rPr>
              <a:t>未知液体燃烧不产生二氧化硫是对</a:t>
            </a:r>
            <a:r>
              <a:rPr lang="en-US" altLang="en-US" sz="1200" kern="1200" dirty="0">
                <a:solidFill>
                  <a:schemeClr val="tx1"/>
                </a:solidFill>
                <a:effectLst/>
                <a:latin typeface="+mn-lt"/>
              </a:rPr>
              <a:t>③</a:t>
            </a:r>
            <a:r>
              <a:rPr lang="zh-CN" altLang="en-US" sz="1200" kern="1200" dirty="0">
                <a:solidFill>
                  <a:schemeClr val="tx1"/>
                </a:solidFill>
                <a:effectLst/>
                <a:latin typeface="+mn-lt"/>
              </a:rPr>
              <a:t>的肯后推理，根据肯后不确定，不一定是纯酒精，排除。</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Ⅱ</a:t>
            </a:r>
            <a:r>
              <a:rPr lang="en-US" altLang="zh-CN" sz="1200" kern="1200" dirty="0">
                <a:solidFill>
                  <a:schemeClr val="tx1"/>
                </a:solidFill>
                <a:effectLst/>
                <a:latin typeface="+mn-lt"/>
              </a:rPr>
              <a:t>.</a:t>
            </a:r>
            <a:r>
              <a:rPr lang="zh-CN" altLang="en-US" sz="1200" kern="1200" dirty="0">
                <a:solidFill>
                  <a:schemeClr val="tx1"/>
                </a:solidFill>
                <a:effectLst/>
                <a:latin typeface="+mn-lt"/>
              </a:rPr>
              <a:t>未知液体燃烧不产生二氧化硫是对</a:t>
            </a:r>
            <a:r>
              <a:rPr lang="en-US" altLang="en-US" sz="1200" kern="1200" dirty="0">
                <a:solidFill>
                  <a:schemeClr val="tx1"/>
                </a:solidFill>
                <a:effectLst/>
                <a:latin typeface="+mn-lt"/>
              </a:rPr>
              <a:t>③</a:t>
            </a:r>
            <a:r>
              <a:rPr lang="zh-CN" altLang="en-US" sz="1200" kern="1200" dirty="0">
                <a:solidFill>
                  <a:schemeClr val="tx1"/>
                </a:solidFill>
                <a:effectLst/>
                <a:latin typeface="+mn-lt"/>
              </a:rPr>
              <a:t>的肯后推理，无法确定是不是纯酒精；未知液体燃烧不产生二氧化硫是对</a:t>
            </a:r>
            <a:r>
              <a:rPr lang="en-US" altLang="en-US" sz="1200" kern="1200" dirty="0">
                <a:solidFill>
                  <a:schemeClr val="tx1"/>
                </a:solidFill>
                <a:effectLst/>
                <a:latin typeface="+mn-lt"/>
              </a:rPr>
              <a:t>②</a:t>
            </a:r>
            <a:r>
              <a:rPr lang="zh-CN" altLang="en-US" sz="1200" kern="1200" dirty="0">
                <a:solidFill>
                  <a:schemeClr val="tx1"/>
                </a:solidFill>
                <a:effectLst/>
                <a:latin typeface="+mn-lt"/>
              </a:rPr>
              <a:t>的否后推理，根据否后必否前，可以确定它不是煤油；未知液体燃烧不产生二氧化硫是对</a:t>
            </a:r>
            <a:r>
              <a:rPr lang="en-US" altLang="en-US" sz="1200" kern="1200" dirty="0">
                <a:solidFill>
                  <a:schemeClr val="tx1"/>
                </a:solidFill>
                <a:effectLst/>
                <a:latin typeface="+mn-lt"/>
              </a:rPr>
              <a:t>①</a:t>
            </a:r>
            <a:r>
              <a:rPr lang="zh-CN" altLang="en-US" sz="1200" kern="1200" dirty="0">
                <a:solidFill>
                  <a:schemeClr val="tx1"/>
                </a:solidFill>
                <a:effectLst/>
                <a:latin typeface="+mn-lt"/>
              </a:rPr>
              <a:t>的否后推理，根据否后必否前，可以确定它不是石油，所以无法推出</a:t>
            </a:r>
            <a:r>
              <a:rPr lang="en-US" altLang="en-US" sz="1200" kern="1200" dirty="0">
                <a:solidFill>
                  <a:schemeClr val="tx1"/>
                </a:solidFill>
                <a:effectLst/>
                <a:latin typeface="+mn-lt"/>
              </a:rPr>
              <a:t>Ⅱ</a:t>
            </a:r>
            <a:r>
              <a:rPr lang="zh-CN" altLang="en-US" sz="1200" kern="1200" dirty="0">
                <a:solidFill>
                  <a:schemeClr val="tx1"/>
                </a:solidFill>
                <a:effectLst/>
                <a:latin typeface="+mn-lt"/>
              </a:rPr>
              <a:t>，排除。</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Ⅲ</a:t>
            </a:r>
            <a:r>
              <a:rPr lang="en-US" altLang="zh-CN" sz="1200" kern="1200" dirty="0">
                <a:solidFill>
                  <a:schemeClr val="tx1"/>
                </a:solidFill>
                <a:effectLst/>
                <a:latin typeface="+mn-lt"/>
              </a:rPr>
              <a:t>.</a:t>
            </a:r>
            <a:r>
              <a:rPr lang="zh-CN" altLang="en-US" sz="1200" kern="1200" dirty="0">
                <a:solidFill>
                  <a:schemeClr val="tx1"/>
                </a:solidFill>
                <a:effectLst/>
                <a:latin typeface="+mn-lt"/>
              </a:rPr>
              <a:t>未知液体燃烧不产生二氧化硫是对</a:t>
            </a:r>
            <a:r>
              <a:rPr lang="en-US" altLang="en-US" sz="1200" kern="1200" dirty="0">
                <a:solidFill>
                  <a:schemeClr val="tx1"/>
                </a:solidFill>
                <a:effectLst/>
                <a:latin typeface="+mn-lt"/>
              </a:rPr>
              <a:t>①</a:t>
            </a:r>
            <a:r>
              <a:rPr lang="zh-CN" altLang="en-US" sz="1200" kern="1200" dirty="0">
                <a:solidFill>
                  <a:schemeClr val="tx1"/>
                </a:solidFill>
                <a:effectLst/>
                <a:latin typeface="+mn-lt"/>
              </a:rPr>
              <a:t>的否后推理，根据否后必否前，可以确定它不是石油，可以推出。</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Ⅳ</a:t>
            </a:r>
            <a:r>
              <a:rPr lang="en-US" altLang="zh-CN" sz="1200" kern="1200" dirty="0">
                <a:solidFill>
                  <a:schemeClr val="tx1"/>
                </a:solidFill>
                <a:effectLst/>
                <a:latin typeface="+mn-lt"/>
              </a:rPr>
              <a:t>.</a:t>
            </a:r>
            <a:r>
              <a:rPr lang="zh-CN" altLang="en-US" sz="1200" kern="1200" dirty="0">
                <a:solidFill>
                  <a:schemeClr val="tx1"/>
                </a:solidFill>
                <a:effectLst/>
                <a:latin typeface="+mn-lt"/>
              </a:rPr>
              <a:t>未知液体燃烧不产生二氧化硫是对</a:t>
            </a:r>
            <a:r>
              <a:rPr lang="en-US" altLang="en-US" sz="1200" kern="1200" dirty="0">
                <a:solidFill>
                  <a:schemeClr val="tx1"/>
                </a:solidFill>
                <a:effectLst/>
                <a:latin typeface="+mn-lt"/>
              </a:rPr>
              <a:t>②</a:t>
            </a:r>
            <a:r>
              <a:rPr lang="zh-CN" altLang="en-US" sz="1200" kern="1200" dirty="0">
                <a:solidFill>
                  <a:schemeClr val="tx1"/>
                </a:solidFill>
                <a:effectLst/>
                <a:latin typeface="+mn-lt"/>
              </a:rPr>
              <a:t>的否后推理，根据否后必否前，可以确定它不是煤油，可以推出。</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23.</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解析：题干提问含</a:t>
            </a:r>
            <a:r>
              <a:rPr lang="en-US" altLang="zh-CN" sz="1200" kern="1200" dirty="0">
                <a:solidFill>
                  <a:schemeClr val="tx1"/>
                </a:solidFill>
                <a:effectLst/>
                <a:latin typeface="+mn-lt"/>
              </a:rPr>
              <a:t>“</a:t>
            </a:r>
            <a:r>
              <a:rPr lang="zh-CN" altLang="en-US" sz="1200" kern="1200" dirty="0">
                <a:solidFill>
                  <a:schemeClr val="tx1"/>
                </a:solidFill>
                <a:effectLst/>
                <a:latin typeface="+mn-lt"/>
              </a:rPr>
              <a:t>必须假设</a:t>
            </a:r>
            <a:r>
              <a:rPr lang="en-US" altLang="zh-CN" sz="1200" kern="1200" dirty="0">
                <a:solidFill>
                  <a:schemeClr val="tx1"/>
                </a:solidFill>
                <a:effectLst/>
                <a:latin typeface="+mn-lt"/>
              </a:rPr>
              <a:t>”</a:t>
            </a:r>
            <a:r>
              <a:rPr lang="en-US" altLang="en-US" sz="1200" kern="1200" dirty="0">
                <a:solidFill>
                  <a:schemeClr val="tx1"/>
                </a:solidFill>
                <a:effectLst/>
                <a:latin typeface="+mn-lt"/>
              </a:rPr>
              <a:t>→</a:t>
            </a:r>
            <a:r>
              <a:rPr lang="en-US" altLang="en-US" sz="1200" kern="1200" dirty="0">
                <a:solidFill>
                  <a:schemeClr val="tx1"/>
                </a:solidFill>
                <a:effectLst/>
                <a:latin typeface="+mn-lt"/>
              </a:rPr>
              <a:t> </a:t>
            </a:r>
            <a:r>
              <a:rPr lang="zh-CN" altLang="en-US" sz="1200" kern="1200" dirty="0">
                <a:solidFill>
                  <a:schemeClr val="tx1"/>
                </a:solidFill>
                <a:effectLst/>
                <a:latin typeface="+mn-lt"/>
              </a:rPr>
              <a:t>加强论证（前提假设类）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论点：新措施实施后，全乡自来水的月消耗量至少可以节省</a:t>
            </a:r>
            <a:r>
              <a:rPr lang="en-US" altLang="zh-CN" sz="1200" kern="1200" dirty="0">
                <a:solidFill>
                  <a:schemeClr val="tx1"/>
                </a:solidFill>
                <a:effectLst/>
                <a:latin typeface="+mn-lt"/>
              </a:rPr>
              <a:t>20%</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论据：通过设定用水限额和阶梯水价来减少浪费</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Ⅰ</a:t>
            </a:r>
            <a:r>
              <a:rPr lang="zh-CN" altLang="en-US" sz="1200" kern="1200" dirty="0">
                <a:solidFill>
                  <a:schemeClr val="tx1"/>
                </a:solidFill>
                <a:effectLst/>
                <a:latin typeface="+mn-lt"/>
              </a:rPr>
              <a:t>项（建立联系）：关键依据：价格偏低是浪费的重要原因</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推理：若水价不是浪费的原因，则调价措施无法有效减少浪费，说明该前提是成立论点的必要条件</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Ⅱ</a:t>
            </a:r>
            <a:r>
              <a:rPr lang="zh-CN" altLang="en-US" sz="1200" kern="1200" dirty="0">
                <a:solidFill>
                  <a:schemeClr val="tx1"/>
                </a:solidFill>
                <a:effectLst/>
                <a:latin typeface="+mn-lt"/>
              </a:rPr>
              <a:t>项（增加正向论据）：关键依据：调整后的水价能带来经济压力</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推理：只有当用户感受到经济压力，才会减少浪费行为，从而实现节水目标，因此是论点成立的重要支撑</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Ⅲ</a:t>
            </a:r>
            <a:r>
              <a:rPr lang="zh-CN" altLang="en-US" sz="1200" kern="1200" dirty="0">
                <a:solidFill>
                  <a:schemeClr val="tx1"/>
                </a:solidFill>
                <a:effectLst/>
                <a:latin typeface="+mn-lt"/>
              </a:rPr>
              <a:t>项（无关选项）：关键依据：浪费用户数量占比与总节约量无直接关系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推理：即使有</a:t>
            </a:r>
            <a:r>
              <a:rPr lang="en-US" altLang="zh-CN" sz="1200" kern="1200" dirty="0">
                <a:solidFill>
                  <a:schemeClr val="tx1"/>
                </a:solidFill>
                <a:effectLst/>
                <a:latin typeface="+mn-lt"/>
              </a:rPr>
              <a:t>20%</a:t>
            </a:r>
            <a:r>
              <a:rPr lang="zh-CN" altLang="en-US" sz="1200" kern="1200" dirty="0">
                <a:solidFill>
                  <a:schemeClr val="tx1"/>
                </a:solidFill>
                <a:effectLst/>
                <a:latin typeface="+mn-lt"/>
              </a:rPr>
              <a:t>用户存在浪费行为，也不能保证总用水量能减少</a:t>
            </a:r>
            <a:r>
              <a:rPr lang="en-US" altLang="zh-CN" sz="1200" kern="1200" dirty="0">
                <a:solidFill>
                  <a:schemeClr val="tx1"/>
                </a:solidFill>
                <a:effectLst/>
                <a:latin typeface="+mn-lt"/>
              </a:rPr>
              <a:t>20%</a:t>
            </a:r>
            <a:r>
              <a:rPr lang="zh-CN" altLang="en-US" sz="1200" kern="1200" dirty="0">
                <a:solidFill>
                  <a:schemeClr val="tx1"/>
                </a:solidFill>
                <a:effectLst/>
                <a:latin typeface="+mn-lt"/>
              </a:rPr>
              <a:t>，论据与论点无关，排除</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Ⅳ</a:t>
            </a:r>
            <a:r>
              <a:rPr lang="zh-CN" altLang="en-US" sz="1200" kern="1200" dirty="0">
                <a:solidFill>
                  <a:schemeClr val="tx1"/>
                </a:solidFill>
                <a:effectLst/>
                <a:latin typeface="+mn-lt"/>
              </a:rPr>
              <a:t>项（补充前提）：关键依据：当前至少有</a:t>
            </a:r>
            <a:r>
              <a:rPr lang="en-US" altLang="zh-CN" sz="1200" kern="1200" dirty="0">
                <a:solidFill>
                  <a:schemeClr val="tx1"/>
                </a:solidFill>
                <a:effectLst/>
                <a:latin typeface="+mn-lt"/>
              </a:rPr>
              <a:t>20%</a:t>
            </a:r>
            <a:r>
              <a:rPr lang="zh-CN" altLang="en-US" sz="1200" kern="1200" dirty="0">
                <a:solidFill>
                  <a:schemeClr val="tx1"/>
                </a:solidFill>
                <a:effectLst/>
                <a:latin typeface="+mn-lt"/>
              </a:rPr>
              <a:t>的用水属于浪费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推理：若当前浪费水量不足</a:t>
            </a:r>
            <a:r>
              <a:rPr lang="en-US" altLang="zh-CN" sz="1200" kern="1200" dirty="0">
                <a:solidFill>
                  <a:schemeClr val="tx1"/>
                </a:solidFill>
                <a:effectLst/>
                <a:latin typeface="+mn-lt"/>
              </a:rPr>
              <a:t>20%</a:t>
            </a:r>
            <a:r>
              <a:rPr lang="zh-CN" altLang="en-US" sz="1200" kern="1200" dirty="0">
                <a:solidFill>
                  <a:schemeClr val="tx1"/>
                </a:solidFill>
                <a:effectLst/>
                <a:latin typeface="+mn-lt"/>
              </a:rPr>
              <a:t>，则即便完全杜绝浪费也无法实现</a:t>
            </a:r>
            <a:r>
              <a:rPr lang="en-US" altLang="zh-CN" sz="1200" kern="1200" dirty="0">
                <a:solidFill>
                  <a:schemeClr val="tx1"/>
                </a:solidFill>
                <a:effectLst/>
                <a:latin typeface="+mn-lt"/>
              </a:rPr>
              <a:t>20%</a:t>
            </a:r>
            <a:r>
              <a:rPr lang="zh-CN" altLang="en-US" sz="1200" kern="1200" dirty="0">
                <a:solidFill>
                  <a:schemeClr val="tx1"/>
                </a:solidFill>
                <a:effectLst/>
                <a:latin typeface="+mn-lt"/>
              </a:rPr>
              <a:t>的节水目标，否定该项将直接削弱论点，因此为必要前提</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成立的前提组合：</a:t>
            </a:r>
            <a:r>
              <a:rPr lang="en-US" altLang="en-US" sz="1200" kern="1200" dirty="0">
                <a:solidFill>
                  <a:schemeClr val="tx1"/>
                </a:solidFill>
                <a:effectLst/>
                <a:latin typeface="+mn-lt"/>
              </a:rPr>
              <a:t>Ⅰ</a:t>
            </a:r>
            <a:r>
              <a:rPr lang="zh-CN" altLang="en-US" sz="1200" kern="1200" dirty="0">
                <a:solidFill>
                  <a:schemeClr val="tx1"/>
                </a:solidFill>
                <a:effectLst/>
                <a:latin typeface="+mn-lt"/>
              </a:rPr>
              <a:t>、</a:t>
            </a:r>
            <a:r>
              <a:rPr lang="en-US" altLang="en-US" sz="1200" kern="1200" dirty="0">
                <a:solidFill>
                  <a:schemeClr val="tx1"/>
                </a:solidFill>
                <a:effectLst/>
                <a:latin typeface="+mn-lt"/>
              </a:rPr>
              <a:t>Ⅱ</a:t>
            </a:r>
            <a:r>
              <a:rPr lang="zh-CN" altLang="en-US" sz="1200" kern="1200" dirty="0">
                <a:solidFill>
                  <a:schemeClr val="tx1"/>
                </a:solidFill>
                <a:effectLst/>
                <a:latin typeface="+mn-lt"/>
              </a:rPr>
              <a:t>、</a:t>
            </a:r>
            <a:r>
              <a:rPr lang="en-US" altLang="en-US" sz="1200" kern="1200" dirty="0">
                <a:solidFill>
                  <a:schemeClr val="tx1"/>
                </a:solidFill>
                <a:effectLst/>
                <a:latin typeface="+mn-lt"/>
              </a:rPr>
              <a:t>Ⅳ</a:t>
            </a:r>
            <a:endParaRPr lang="en-US" altLang="en-US" sz="1200" kern="1200" dirty="0">
              <a:solidFill>
                <a:schemeClr val="tx1"/>
              </a:solidFill>
              <a:effectLst/>
              <a:latin typeface="+mn-lt"/>
            </a:endParaRPr>
          </a:p>
          <a:p>
            <a:r>
              <a:rPr lang="zh-CN" altLang="en-US" sz="1200" kern="1200" dirty="0">
                <a:solidFill>
                  <a:schemeClr val="tx1"/>
                </a:solidFill>
                <a:effectLst/>
                <a:latin typeface="+mn-lt"/>
              </a:rPr>
              <a:t>核心逻辑：论点要成立，必须假设当前存在足够多的浪费水量（</a:t>
            </a:r>
            <a:r>
              <a:rPr lang="en-US" altLang="en-US" sz="1200" kern="1200" dirty="0">
                <a:solidFill>
                  <a:schemeClr val="tx1"/>
                </a:solidFill>
                <a:effectLst/>
                <a:latin typeface="+mn-lt"/>
              </a:rPr>
              <a:t>Ⅳ</a:t>
            </a:r>
            <a:r>
              <a:rPr lang="zh-CN" altLang="en-US" sz="1200" kern="1200" dirty="0">
                <a:solidFill>
                  <a:schemeClr val="tx1"/>
                </a:solidFill>
                <a:effectLst/>
                <a:latin typeface="+mn-lt"/>
              </a:rPr>
              <a:t>），且调价能有效抑制浪费（</a:t>
            </a:r>
            <a:r>
              <a:rPr lang="en-US" altLang="en-US" sz="1200" kern="1200" dirty="0">
                <a:solidFill>
                  <a:schemeClr val="tx1"/>
                </a:solidFill>
                <a:effectLst/>
                <a:latin typeface="+mn-lt"/>
              </a:rPr>
              <a:t>Ⅰ</a:t>
            </a:r>
            <a:r>
              <a:rPr lang="zh-CN" altLang="en-US" sz="1200" kern="1200" dirty="0">
                <a:solidFill>
                  <a:schemeClr val="tx1"/>
                </a:solidFill>
                <a:effectLst/>
                <a:latin typeface="+mn-lt"/>
              </a:rPr>
              <a:t>、</a:t>
            </a:r>
            <a:r>
              <a:rPr lang="en-US" altLang="en-US" sz="1200" kern="1200" dirty="0">
                <a:solidFill>
                  <a:schemeClr val="tx1"/>
                </a:solidFill>
                <a:effectLst/>
                <a:latin typeface="+mn-lt"/>
              </a:rPr>
              <a:t>Ⅱ</a:t>
            </a:r>
            <a:r>
              <a:rPr lang="zh-CN" altLang="en-US" sz="1200" kern="1200" dirty="0">
                <a:solidFill>
                  <a:schemeClr val="tx1"/>
                </a:solidFill>
                <a:effectLst/>
                <a:latin typeface="+mn-lt"/>
              </a:rPr>
              <a:t>）；而浪费用户的数量（</a:t>
            </a:r>
            <a:r>
              <a:rPr lang="en-US" altLang="en-US" sz="1200" kern="1200" dirty="0">
                <a:solidFill>
                  <a:schemeClr val="tx1"/>
                </a:solidFill>
                <a:effectLst/>
                <a:latin typeface="+mn-lt"/>
              </a:rPr>
              <a:t>Ⅲ</a:t>
            </a:r>
            <a:r>
              <a:rPr lang="zh-CN" altLang="en-US" sz="1200" kern="1200" dirty="0">
                <a:solidFill>
                  <a:schemeClr val="tx1"/>
                </a:solidFill>
                <a:effectLst/>
                <a:latin typeface="+mn-lt"/>
              </a:rPr>
              <a:t>）不影响整体节水比例。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24.</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解析：根据题干关联词</a:t>
            </a:r>
            <a:r>
              <a:rPr lang="en-US" altLang="zh-CN" sz="1200" kern="1200" dirty="0">
                <a:solidFill>
                  <a:schemeClr val="tx1"/>
                </a:solidFill>
                <a:effectLst/>
                <a:latin typeface="+mn-lt"/>
              </a:rPr>
              <a:t>“</a:t>
            </a:r>
            <a:r>
              <a:rPr lang="zh-CN" altLang="en-US" sz="1200" kern="1200" dirty="0">
                <a:solidFill>
                  <a:schemeClr val="tx1"/>
                </a:solidFill>
                <a:effectLst/>
                <a:latin typeface="+mn-lt"/>
              </a:rPr>
              <a:t>或者</a:t>
            </a:r>
            <a:r>
              <a:rPr lang="en-US" altLang="zh-CN" sz="1200" kern="1200" dirty="0">
                <a:solidFill>
                  <a:schemeClr val="tx1"/>
                </a:solidFill>
                <a:effectLst/>
                <a:latin typeface="+mn-lt"/>
              </a:rPr>
              <a:t>……</a:t>
            </a:r>
            <a:r>
              <a:rPr lang="zh-CN" altLang="en-US" sz="1200" kern="1200" dirty="0">
                <a:solidFill>
                  <a:schemeClr val="tx1"/>
                </a:solidFill>
                <a:effectLst/>
                <a:latin typeface="+mn-lt"/>
              </a:rPr>
              <a:t>或者</a:t>
            </a:r>
            <a:r>
              <a:rPr lang="en-US" altLang="zh-CN" sz="1200" kern="1200" dirty="0">
                <a:solidFill>
                  <a:schemeClr val="tx1"/>
                </a:solidFill>
                <a:effectLst/>
                <a:latin typeface="+mn-lt"/>
              </a:rPr>
              <a:t>”“</a:t>
            </a:r>
            <a:r>
              <a:rPr lang="zh-CN" altLang="en-US" sz="1200" kern="1200" dirty="0">
                <a:solidFill>
                  <a:schemeClr val="tx1"/>
                </a:solidFill>
                <a:effectLst/>
                <a:latin typeface="+mn-lt"/>
              </a:rPr>
              <a:t>如果</a:t>
            </a:r>
            <a:r>
              <a:rPr lang="en-US" altLang="zh-CN" sz="1200" kern="1200" dirty="0">
                <a:solidFill>
                  <a:schemeClr val="tx1"/>
                </a:solidFill>
                <a:effectLst/>
                <a:latin typeface="+mn-lt"/>
              </a:rPr>
              <a:t>……</a:t>
            </a:r>
            <a:r>
              <a:rPr lang="zh-CN" altLang="en-US" sz="1200" kern="1200" dirty="0">
                <a:solidFill>
                  <a:schemeClr val="tx1"/>
                </a:solidFill>
                <a:effectLst/>
                <a:latin typeface="+mn-lt"/>
              </a:rPr>
              <a:t>则</a:t>
            </a:r>
            <a:r>
              <a:rPr lang="en-US" altLang="zh-CN" sz="1200" kern="1200" dirty="0">
                <a:solidFill>
                  <a:schemeClr val="tx1"/>
                </a:solidFill>
                <a:effectLst/>
                <a:latin typeface="+mn-lt"/>
              </a:rPr>
              <a:t>”</a:t>
            </a:r>
            <a:r>
              <a:rPr lang="zh-CN" altLang="en-US" sz="1200" kern="1200" dirty="0">
                <a:solidFill>
                  <a:schemeClr val="tx1"/>
                </a:solidFill>
                <a:effectLst/>
                <a:latin typeface="+mn-lt"/>
              </a:rPr>
              <a:t>，确定为翻译推理。</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所有组装机都进行了测试且没有发现不合格的组装机</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已知题干</a:t>
            </a:r>
            <a:r>
              <a:rPr lang="en-US" altLang="zh-CN" sz="1200" kern="1200" dirty="0">
                <a:solidFill>
                  <a:schemeClr val="tx1"/>
                </a:solidFill>
                <a:effectLst/>
                <a:latin typeface="+mn-lt"/>
              </a:rPr>
              <a:t>“</a:t>
            </a:r>
            <a:r>
              <a:rPr lang="zh-CN" altLang="en-US" sz="1200" kern="1200" dirty="0">
                <a:solidFill>
                  <a:schemeClr val="tx1"/>
                </a:solidFill>
                <a:effectLst/>
                <a:latin typeface="+mn-lt"/>
              </a:rPr>
              <a:t>所有组装机都进行了测试且没有发现不合格的组装机</a:t>
            </a:r>
            <a:r>
              <a:rPr lang="en-US" altLang="zh-CN" sz="1200" kern="1200" dirty="0">
                <a:solidFill>
                  <a:schemeClr val="tx1"/>
                </a:solidFill>
                <a:effectLst/>
                <a:latin typeface="+mn-lt"/>
              </a:rPr>
              <a:t>”</a:t>
            </a:r>
            <a:r>
              <a:rPr lang="zh-CN" altLang="en-US" sz="1200" kern="1200" dirty="0">
                <a:solidFill>
                  <a:schemeClr val="tx1"/>
                </a:solidFill>
                <a:effectLst/>
                <a:latin typeface="+mn-lt"/>
              </a:rPr>
              <a:t>为假，则其矛盾</a:t>
            </a:r>
            <a:r>
              <a:rPr lang="en-US" altLang="zh-CN" sz="1200" kern="1200" dirty="0">
                <a:solidFill>
                  <a:schemeClr val="tx1"/>
                </a:solidFill>
                <a:effectLst/>
                <a:latin typeface="+mn-lt"/>
              </a:rPr>
              <a:t>“</a:t>
            </a:r>
            <a:r>
              <a:rPr lang="zh-CN" altLang="en-US" sz="1200" kern="1200" dirty="0">
                <a:solidFill>
                  <a:schemeClr val="tx1"/>
                </a:solidFill>
                <a:effectLst/>
                <a:latin typeface="+mn-lt"/>
              </a:rPr>
              <a:t>有的组装机没有进行测试或发现不合格的组装机</a:t>
            </a:r>
            <a:r>
              <a:rPr lang="en-US" altLang="zh-CN" sz="1200" kern="1200" dirty="0">
                <a:solidFill>
                  <a:schemeClr val="tx1"/>
                </a:solidFill>
                <a:effectLst/>
                <a:latin typeface="+mn-lt"/>
              </a:rPr>
              <a:t>”</a:t>
            </a:r>
            <a:r>
              <a:rPr lang="zh-CN" altLang="en-US" sz="1200" kern="1200" dirty="0">
                <a:solidFill>
                  <a:schemeClr val="tx1"/>
                </a:solidFill>
                <a:effectLst/>
                <a:latin typeface="+mn-lt"/>
              </a:rPr>
              <a:t>为真。</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Ⅰ</a:t>
            </a:r>
            <a:r>
              <a:rPr lang="zh-CN" altLang="en-US" sz="1200" kern="1200" dirty="0">
                <a:solidFill>
                  <a:schemeClr val="tx1"/>
                </a:solidFill>
                <a:effectLst/>
                <a:latin typeface="+mn-lt"/>
              </a:rPr>
              <a:t>句，已知</a:t>
            </a:r>
            <a:r>
              <a:rPr lang="en-US" altLang="zh-CN" sz="1200" kern="1200" dirty="0">
                <a:solidFill>
                  <a:schemeClr val="tx1"/>
                </a:solidFill>
                <a:effectLst/>
                <a:latin typeface="+mn-lt"/>
              </a:rPr>
              <a:t>“</a:t>
            </a:r>
            <a:r>
              <a:rPr lang="zh-CN" altLang="en-US" sz="1200" kern="1200" dirty="0">
                <a:solidFill>
                  <a:schemeClr val="tx1"/>
                </a:solidFill>
                <a:effectLst/>
                <a:latin typeface="+mn-lt"/>
              </a:rPr>
              <a:t>有的组装机没有进行测试或发现不合格的组装机</a:t>
            </a:r>
            <a:r>
              <a:rPr lang="en-US" altLang="zh-CN" sz="1200" kern="1200" dirty="0">
                <a:solidFill>
                  <a:schemeClr val="tx1"/>
                </a:solidFill>
                <a:effectLst/>
                <a:latin typeface="+mn-lt"/>
              </a:rPr>
              <a:t>”</a:t>
            </a:r>
            <a:r>
              <a:rPr lang="zh-CN" altLang="en-US" sz="1200" kern="1200" dirty="0">
                <a:solidFill>
                  <a:schemeClr val="tx1"/>
                </a:solidFill>
                <a:effectLst/>
                <a:latin typeface="+mn-lt"/>
              </a:rPr>
              <a:t>为真，则无法确定</a:t>
            </a:r>
            <a:r>
              <a:rPr lang="en-US" altLang="zh-CN" sz="1200" kern="1200" dirty="0">
                <a:solidFill>
                  <a:schemeClr val="tx1"/>
                </a:solidFill>
                <a:effectLst/>
                <a:latin typeface="+mn-lt"/>
              </a:rPr>
              <a:t>“</a:t>
            </a:r>
            <a:r>
              <a:rPr lang="zh-CN" altLang="en-US" sz="1200" kern="1200" dirty="0">
                <a:solidFill>
                  <a:schemeClr val="tx1"/>
                </a:solidFill>
                <a:effectLst/>
                <a:latin typeface="+mn-lt"/>
              </a:rPr>
              <a:t>有的组装机没有进行测试</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发现不合格的组装机</a:t>
            </a:r>
            <a:r>
              <a:rPr lang="en-US" altLang="zh-CN" sz="1200" kern="1200" dirty="0">
                <a:solidFill>
                  <a:schemeClr val="tx1"/>
                </a:solidFill>
                <a:effectLst/>
                <a:latin typeface="+mn-lt"/>
              </a:rPr>
              <a:t>”</a:t>
            </a:r>
            <a:r>
              <a:rPr lang="zh-CN" altLang="en-US" sz="1200" kern="1200" dirty="0">
                <a:solidFill>
                  <a:schemeClr val="tx1"/>
                </a:solidFill>
                <a:effectLst/>
                <a:latin typeface="+mn-lt"/>
              </a:rPr>
              <a:t>哪个是真的，排除。</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Ⅱ</a:t>
            </a:r>
            <a:r>
              <a:rPr lang="zh-CN" altLang="en-US" sz="1200" kern="1200" dirty="0">
                <a:solidFill>
                  <a:schemeClr val="tx1"/>
                </a:solidFill>
                <a:effectLst/>
                <a:latin typeface="+mn-lt"/>
              </a:rPr>
              <a:t>句与题干推理一致，一定为真。</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Ⅲ</a:t>
            </a:r>
            <a:r>
              <a:rPr lang="zh-CN" altLang="en-US" sz="1200" kern="1200" dirty="0">
                <a:solidFill>
                  <a:schemeClr val="tx1"/>
                </a:solidFill>
                <a:effectLst/>
                <a:latin typeface="+mn-lt"/>
              </a:rPr>
              <a:t>句，已知</a:t>
            </a:r>
            <a:r>
              <a:rPr lang="en-US" altLang="zh-CN" sz="1200" kern="1200" dirty="0">
                <a:solidFill>
                  <a:schemeClr val="tx1"/>
                </a:solidFill>
                <a:effectLst/>
                <a:latin typeface="+mn-lt"/>
              </a:rPr>
              <a:t>“</a:t>
            </a:r>
            <a:r>
              <a:rPr lang="zh-CN" altLang="en-US" sz="1200" kern="1200" dirty="0">
                <a:solidFill>
                  <a:schemeClr val="tx1"/>
                </a:solidFill>
                <a:effectLst/>
                <a:latin typeface="+mn-lt"/>
              </a:rPr>
              <a:t>有的组装机没有进行测试或发现不合格的组装机</a:t>
            </a:r>
            <a:r>
              <a:rPr lang="en-US" altLang="zh-CN" sz="1200" kern="1200" dirty="0">
                <a:solidFill>
                  <a:schemeClr val="tx1"/>
                </a:solidFill>
                <a:effectLst/>
                <a:latin typeface="+mn-lt"/>
              </a:rPr>
              <a:t>”</a:t>
            </a:r>
            <a:r>
              <a:rPr lang="zh-CN" altLang="en-US" sz="1200" kern="1200" dirty="0">
                <a:solidFill>
                  <a:schemeClr val="tx1"/>
                </a:solidFill>
                <a:effectLst/>
                <a:latin typeface="+mn-lt"/>
              </a:rPr>
              <a:t>为真，</a:t>
            </a:r>
            <a:r>
              <a:rPr lang="en-US" altLang="en-US" sz="1200" kern="1200" dirty="0">
                <a:solidFill>
                  <a:schemeClr val="tx1"/>
                </a:solidFill>
                <a:effectLst/>
                <a:latin typeface="+mn-lt"/>
              </a:rPr>
              <a:t>Ⅲ</a:t>
            </a:r>
            <a:r>
              <a:rPr lang="zh-CN" altLang="en-US" sz="1200" kern="1200" dirty="0">
                <a:solidFill>
                  <a:schemeClr val="tx1"/>
                </a:solidFill>
                <a:effectLst/>
                <a:latin typeface="+mn-lt"/>
              </a:rPr>
              <a:t>句</a:t>
            </a:r>
            <a:r>
              <a:rPr lang="en-US" altLang="zh-CN" sz="1200" kern="1200" dirty="0">
                <a:solidFill>
                  <a:schemeClr val="tx1"/>
                </a:solidFill>
                <a:effectLst/>
                <a:latin typeface="+mn-lt"/>
              </a:rPr>
              <a:t>“</a:t>
            </a:r>
            <a:r>
              <a:rPr lang="zh-CN" altLang="en-US" sz="1200" kern="1200" dirty="0">
                <a:solidFill>
                  <a:schemeClr val="tx1"/>
                </a:solidFill>
                <a:effectLst/>
                <a:latin typeface="+mn-lt"/>
              </a:rPr>
              <a:t>对流水线上的所有组装机都进行了测试</a:t>
            </a:r>
            <a:r>
              <a:rPr lang="en-US" altLang="zh-CN" sz="1200" kern="1200" dirty="0">
                <a:solidFill>
                  <a:schemeClr val="tx1"/>
                </a:solidFill>
                <a:effectLst/>
                <a:latin typeface="+mn-lt"/>
              </a:rPr>
              <a:t>”</a:t>
            </a:r>
            <a:r>
              <a:rPr lang="zh-CN" altLang="en-US" sz="1200" kern="1200" dirty="0">
                <a:solidFill>
                  <a:schemeClr val="tx1"/>
                </a:solidFill>
                <a:effectLst/>
                <a:latin typeface="+mn-lt"/>
              </a:rPr>
              <a:t>是对</a:t>
            </a:r>
            <a:r>
              <a:rPr lang="en-US" altLang="zh-CN" sz="1200" kern="1200" dirty="0">
                <a:solidFill>
                  <a:schemeClr val="tx1"/>
                </a:solidFill>
                <a:effectLst/>
                <a:latin typeface="+mn-lt"/>
              </a:rPr>
              <a:t>“</a:t>
            </a:r>
            <a:r>
              <a:rPr lang="zh-CN" altLang="en-US" sz="1200" kern="1200" dirty="0">
                <a:solidFill>
                  <a:schemeClr val="tx1"/>
                </a:solidFill>
                <a:effectLst/>
                <a:latin typeface="+mn-lt"/>
              </a:rPr>
              <a:t>有的组装机没有进行测试</a:t>
            </a:r>
            <a:r>
              <a:rPr lang="en-US" altLang="zh-CN" sz="1200" kern="1200" dirty="0">
                <a:solidFill>
                  <a:schemeClr val="tx1"/>
                </a:solidFill>
                <a:effectLst/>
                <a:latin typeface="+mn-lt"/>
              </a:rPr>
              <a:t>”</a:t>
            </a:r>
            <a:r>
              <a:rPr lang="zh-CN" altLang="en-US" sz="1200" kern="1200" dirty="0">
                <a:solidFill>
                  <a:schemeClr val="tx1"/>
                </a:solidFill>
                <a:effectLst/>
                <a:latin typeface="+mn-lt"/>
              </a:rPr>
              <a:t>的否定，根据否定肯定式，否定一个则必然肯定另一个，可得</a:t>
            </a:r>
            <a:r>
              <a:rPr lang="en-US" altLang="zh-CN" sz="1200" kern="1200" dirty="0">
                <a:solidFill>
                  <a:schemeClr val="tx1"/>
                </a:solidFill>
                <a:effectLst/>
                <a:latin typeface="+mn-lt"/>
              </a:rPr>
              <a:t>“</a:t>
            </a:r>
            <a:r>
              <a:rPr lang="zh-CN" altLang="en-US" sz="1200" kern="1200" dirty="0">
                <a:solidFill>
                  <a:schemeClr val="tx1"/>
                </a:solidFill>
                <a:effectLst/>
                <a:latin typeface="+mn-lt"/>
              </a:rPr>
              <a:t>发现不合格的组装机</a:t>
            </a:r>
            <a:r>
              <a:rPr lang="en-US" altLang="zh-CN" sz="1200" kern="1200" dirty="0">
                <a:solidFill>
                  <a:schemeClr val="tx1"/>
                </a:solidFill>
                <a:effectLst/>
                <a:latin typeface="+mn-lt"/>
              </a:rPr>
              <a:t>”</a:t>
            </a:r>
            <a:r>
              <a:rPr lang="zh-CN" altLang="en-US" sz="1200" kern="1200" dirty="0">
                <a:solidFill>
                  <a:schemeClr val="tx1"/>
                </a:solidFill>
                <a:effectLst/>
                <a:latin typeface="+mn-lt"/>
              </a:rPr>
              <a:t>，一定为真。</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25.</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解析：题干提问含</a:t>
            </a:r>
            <a:r>
              <a:rPr lang="en-US" altLang="zh-CN" sz="1200" kern="1200" dirty="0">
                <a:solidFill>
                  <a:schemeClr val="tx1"/>
                </a:solidFill>
                <a:effectLst/>
                <a:latin typeface="+mn-lt"/>
              </a:rPr>
              <a:t>“</a:t>
            </a:r>
            <a:r>
              <a:rPr lang="zh-CN" altLang="en-US" sz="1200" kern="1200" dirty="0">
                <a:solidFill>
                  <a:schemeClr val="tx1"/>
                </a:solidFill>
                <a:effectLst/>
                <a:latin typeface="+mn-lt"/>
              </a:rPr>
              <a:t>假设</a:t>
            </a:r>
            <a:r>
              <a:rPr lang="en-US" altLang="zh-CN" sz="1200" kern="1200" dirty="0">
                <a:solidFill>
                  <a:schemeClr val="tx1"/>
                </a:solidFill>
                <a:effectLst/>
                <a:latin typeface="+mn-lt"/>
              </a:rPr>
              <a:t>”</a:t>
            </a:r>
            <a:r>
              <a:rPr lang="en-US" altLang="en-US" sz="1200" kern="1200" dirty="0">
                <a:solidFill>
                  <a:schemeClr val="tx1"/>
                </a:solidFill>
                <a:effectLst/>
                <a:latin typeface="+mn-lt"/>
              </a:rPr>
              <a:t>→</a:t>
            </a:r>
            <a:r>
              <a:rPr lang="en-US" altLang="en-US" sz="1200" kern="1200" dirty="0">
                <a:solidFill>
                  <a:schemeClr val="tx1"/>
                </a:solidFill>
                <a:effectLst/>
                <a:latin typeface="+mn-lt"/>
              </a:rPr>
              <a:t> </a:t>
            </a:r>
            <a:r>
              <a:rPr lang="zh-CN" altLang="en-US" sz="1200" kern="1200" dirty="0">
                <a:solidFill>
                  <a:schemeClr val="tx1"/>
                </a:solidFill>
                <a:effectLst/>
                <a:latin typeface="+mn-lt"/>
              </a:rPr>
              <a:t>加强论证（前提假设类）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论点：甲粒子不传递弱作用力</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论据：所有传递弱作用力的粒子都有质量</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有质量的粒子要么与希格斯场强相互作用，要么弱相互作用</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与希格斯场发生相互作用的粒子都不传递电磁作用力</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可翻译为逻辑链</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传递弱作用力的粒子</a:t>
            </a:r>
            <a:r>
              <a:rPr lang="en-US" altLang="en-US" sz="1200" kern="1200" dirty="0">
                <a:solidFill>
                  <a:schemeClr val="tx1"/>
                </a:solidFill>
                <a:effectLst/>
                <a:latin typeface="+mn-lt"/>
              </a:rPr>
              <a:t>→</a:t>
            </a:r>
            <a:r>
              <a:rPr lang="zh-CN" altLang="en-US" sz="1200" kern="1200" dirty="0">
                <a:solidFill>
                  <a:schemeClr val="tx1"/>
                </a:solidFill>
                <a:effectLst/>
                <a:latin typeface="+mn-lt"/>
              </a:rPr>
              <a:t>有质量</a:t>
            </a:r>
            <a:r>
              <a:rPr lang="en-US" altLang="en-US" sz="1200" kern="1200" dirty="0">
                <a:solidFill>
                  <a:schemeClr val="tx1"/>
                </a:solidFill>
                <a:effectLst/>
                <a:latin typeface="+mn-lt"/>
              </a:rPr>
              <a:t>→</a:t>
            </a:r>
            <a:r>
              <a:rPr lang="zh-CN" altLang="en-US" sz="1200" kern="1200" dirty="0">
                <a:solidFill>
                  <a:schemeClr val="tx1"/>
                </a:solidFill>
                <a:effectLst/>
                <a:latin typeface="+mn-lt"/>
              </a:rPr>
              <a:t>与希格斯场发生</a:t>
            </a:r>
            <a:r>
              <a:rPr lang="en-US" altLang="zh-CN" sz="1200" kern="1200" dirty="0">
                <a:solidFill>
                  <a:schemeClr val="tx1"/>
                </a:solidFill>
                <a:effectLst/>
                <a:latin typeface="+mn-lt"/>
              </a:rPr>
              <a:t>“</a:t>
            </a:r>
            <a:r>
              <a:rPr lang="zh-CN" altLang="en-US" sz="1200" kern="1200" dirty="0">
                <a:solidFill>
                  <a:schemeClr val="tx1"/>
                </a:solidFill>
                <a:effectLst/>
                <a:latin typeface="+mn-lt"/>
              </a:rPr>
              <a:t>强相互作用</a:t>
            </a:r>
            <a:r>
              <a:rPr lang="en-US" altLang="zh-CN" sz="1200" kern="1200" dirty="0">
                <a:solidFill>
                  <a:schemeClr val="tx1"/>
                </a:solidFill>
                <a:effectLst/>
                <a:latin typeface="+mn-lt"/>
              </a:rPr>
              <a:t>”</a:t>
            </a:r>
            <a:r>
              <a:rPr lang="zh-CN" altLang="en-US" sz="1200" kern="1200" dirty="0">
                <a:solidFill>
                  <a:schemeClr val="tx1"/>
                </a:solidFill>
                <a:effectLst/>
                <a:latin typeface="+mn-lt"/>
              </a:rPr>
              <a:t>或与希格斯场发生</a:t>
            </a:r>
            <a:r>
              <a:rPr lang="en-US" altLang="zh-CN" sz="1200" kern="1200" dirty="0">
                <a:solidFill>
                  <a:schemeClr val="tx1"/>
                </a:solidFill>
                <a:effectLst/>
                <a:latin typeface="+mn-lt"/>
              </a:rPr>
              <a:t>“</a:t>
            </a:r>
            <a:r>
              <a:rPr lang="zh-CN" altLang="en-US" sz="1200" kern="1200" dirty="0">
                <a:solidFill>
                  <a:schemeClr val="tx1"/>
                </a:solidFill>
                <a:effectLst/>
                <a:latin typeface="+mn-lt"/>
              </a:rPr>
              <a:t>弱相互作用</a:t>
            </a:r>
            <a:r>
              <a:rPr lang="en-US" altLang="zh-CN"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不传递电磁作用力</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Ⅰ</a:t>
            </a:r>
            <a:r>
              <a:rPr lang="en-US" altLang="zh-CN" sz="1200" kern="1200" dirty="0">
                <a:solidFill>
                  <a:schemeClr val="tx1"/>
                </a:solidFill>
                <a:effectLst/>
                <a:latin typeface="+mn-lt"/>
              </a:rPr>
              <a:t>.</a:t>
            </a:r>
            <a:r>
              <a:rPr lang="zh-CN" altLang="en-US" sz="1200" kern="1200" dirty="0">
                <a:solidFill>
                  <a:schemeClr val="tx1"/>
                </a:solidFill>
                <a:effectLst/>
                <a:latin typeface="+mn-lt"/>
              </a:rPr>
              <a:t>甲粒子没有质量：</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关键依据：</a:t>
            </a:r>
            <a:r>
              <a:rPr lang="en-US" altLang="zh-CN" sz="1200" kern="1200" dirty="0">
                <a:solidFill>
                  <a:schemeClr val="tx1"/>
                </a:solidFill>
                <a:effectLst/>
                <a:latin typeface="+mn-lt"/>
              </a:rPr>
              <a:t>“</a:t>
            </a:r>
            <a:r>
              <a:rPr lang="zh-CN" altLang="en-US" sz="1200" kern="1200" dirty="0">
                <a:solidFill>
                  <a:schemeClr val="tx1"/>
                </a:solidFill>
                <a:effectLst/>
                <a:latin typeface="+mn-lt"/>
              </a:rPr>
              <a:t>没有质量</a:t>
            </a:r>
            <a:r>
              <a:rPr lang="en-US" altLang="zh-CN" sz="1200" kern="1200" dirty="0">
                <a:solidFill>
                  <a:schemeClr val="tx1"/>
                </a:solidFill>
                <a:effectLst/>
                <a:latin typeface="+mn-lt"/>
              </a:rPr>
              <a:t>”</a:t>
            </a:r>
            <a:r>
              <a:rPr lang="zh-CN" altLang="en-US" sz="1200" kern="1200" dirty="0">
                <a:solidFill>
                  <a:schemeClr val="tx1"/>
                </a:solidFill>
                <a:effectLst/>
                <a:latin typeface="+mn-lt"/>
              </a:rPr>
              <a:t>是否定</a:t>
            </a:r>
            <a:r>
              <a:rPr lang="en-US" altLang="zh-CN" sz="1200" kern="1200" dirty="0">
                <a:solidFill>
                  <a:schemeClr val="tx1"/>
                </a:solidFill>
                <a:effectLst/>
                <a:latin typeface="+mn-lt"/>
              </a:rPr>
              <a:t>“</a:t>
            </a:r>
            <a:r>
              <a:rPr lang="zh-CN" altLang="en-US" sz="1200" kern="1200" dirty="0">
                <a:solidFill>
                  <a:schemeClr val="tx1"/>
                </a:solidFill>
                <a:effectLst/>
                <a:latin typeface="+mn-lt"/>
              </a:rPr>
              <a:t>有质量</a:t>
            </a:r>
            <a:r>
              <a:rPr lang="en-US" altLang="zh-CN" sz="1200" kern="1200" dirty="0">
                <a:solidFill>
                  <a:schemeClr val="tx1"/>
                </a:solidFill>
                <a:effectLst/>
                <a:latin typeface="+mn-lt"/>
              </a:rPr>
              <a:t>”</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推理：根据论据</a:t>
            </a:r>
            <a:r>
              <a:rPr lang="en-US" altLang="zh-CN" sz="1200" kern="1200" dirty="0">
                <a:solidFill>
                  <a:schemeClr val="tx1"/>
                </a:solidFill>
                <a:effectLst/>
                <a:latin typeface="+mn-lt"/>
              </a:rPr>
              <a:t>“</a:t>
            </a:r>
            <a:r>
              <a:rPr lang="zh-CN" altLang="en-US" sz="1200" kern="1200" dirty="0">
                <a:solidFill>
                  <a:schemeClr val="tx1"/>
                </a:solidFill>
                <a:effectLst/>
                <a:latin typeface="+mn-lt"/>
              </a:rPr>
              <a:t>传递弱作用力</a:t>
            </a:r>
            <a:r>
              <a:rPr lang="en-US" altLang="en-US" sz="1200" kern="1200" dirty="0">
                <a:solidFill>
                  <a:schemeClr val="tx1"/>
                </a:solidFill>
                <a:effectLst/>
                <a:latin typeface="+mn-lt"/>
              </a:rPr>
              <a:t>→</a:t>
            </a:r>
            <a:r>
              <a:rPr lang="zh-CN" altLang="en-US" sz="1200" kern="1200" dirty="0">
                <a:solidFill>
                  <a:schemeClr val="tx1"/>
                </a:solidFill>
                <a:effectLst/>
                <a:latin typeface="+mn-lt"/>
              </a:rPr>
              <a:t>有质量</a:t>
            </a:r>
            <a:r>
              <a:rPr lang="en-US" altLang="zh-CN" sz="1200" kern="1200" dirty="0">
                <a:solidFill>
                  <a:schemeClr val="tx1"/>
                </a:solidFill>
                <a:effectLst/>
                <a:latin typeface="+mn-lt"/>
              </a:rPr>
              <a:t>”</a:t>
            </a:r>
            <a:r>
              <a:rPr lang="zh-CN" altLang="en-US" sz="1200" kern="1200" dirty="0">
                <a:solidFill>
                  <a:schemeClr val="tx1"/>
                </a:solidFill>
                <a:effectLst/>
                <a:latin typeface="+mn-lt"/>
              </a:rPr>
              <a:t>，若甲无质量，则它一定不传递弱作用力（否后推否前）</a:t>
            </a:r>
            <a:r>
              <a:rPr lang="en-US" altLang="en-US" sz="1200" kern="1200" dirty="0">
                <a:solidFill>
                  <a:schemeClr val="tx1"/>
                </a:solidFill>
                <a:effectLst/>
                <a:latin typeface="+mn-lt"/>
              </a:rPr>
              <a:t>→</a:t>
            </a:r>
            <a:r>
              <a:rPr lang="zh-CN" altLang="en-US" sz="1200" kern="1200" dirty="0">
                <a:solidFill>
                  <a:schemeClr val="tx1"/>
                </a:solidFill>
                <a:effectLst/>
                <a:latin typeface="+mn-lt"/>
              </a:rPr>
              <a:t>是必要前提</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Ⅱ</a:t>
            </a:r>
            <a:r>
              <a:rPr lang="en-US" altLang="zh-CN" sz="1200" kern="1200" dirty="0">
                <a:solidFill>
                  <a:schemeClr val="tx1"/>
                </a:solidFill>
                <a:effectLst/>
                <a:latin typeface="+mn-lt"/>
              </a:rPr>
              <a:t>.</a:t>
            </a:r>
            <a:r>
              <a:rPr lang="zh-CN" altLang="en-US" sz="1200" kern="1200" dirty="0">
                <a:solidFill>
                  <a:schemeClr val="tx1"/>
                </a:solidFill>
                <a:effectLst/>
                <a:latin typeface="+mn-lt"/>
              </a:rPr>
              <a:t>甲粒子不与希格斯场发生</a:t>
            </a:r>
            <a:r>
              <a:rPr lang="en-US" altLang="zh-CN" sz="1200" kern="1200" dirty="0">
                <a:solidFill>
                  <a:schemeClr val="tx1"/>
                </a:solidFill>
                <a:effectLst/>
                <a:latin typeface="+mn-lt"/>
              </a:rPr>
              <a:t>“</a:t>
            </a:r>
            <a:r>
              <a:rPr lang="zh-CN" altLang="en-US" sz="1200" kern="1200" dirty="0">
                <a:solidFill>
                  <a:schemeClr val="tx1"/>
                </a:solidFill>
                <a:effectLst/>
                <a:latin typeface="+mn-lt"/>
              </a:rPr>
              <a:t>相互作用</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关键依据：</a:t>
            </a:r>
            <a:r>
              <a:rPr lang="en-US" altLang="zh-CN" sz="1200" kern="1200" dirty="0">
                <a:solidFill>
                  <a:schemeClr val="tx1"/>
                </a:solidFill>
                <a:effectLst/>
                <a:latin typeface="+mn-lt"/>
              </a:rPr>
              <a:t>“</a:t>
            </a:r>
            <a:r>
              <a:rPr lang="zh-CN" altLang="en-US" sz="1200" kern="1200" dirty="0">
                <a:solidFill>
                  <a:schemeClr val="tx1"/>
                </a:solidFill>
                <a:effectLst/>
                <a:latin typeface="+mn-lt"/>
              </a:rPr>
              <a:t>不与希格斯场相互作用</a:t>
            </a:r>
            <a:r>
              <a:rPr lang="en-US" altLang="zh-CN" sz="1200" kern="1200" dirty="0">
                <a:solidFill>
                  <a:schemeClr val="tx1"/>
                </a:solidFill>
                <a:effectLst/>
                <a:latin typeface="+mn-lt"/>
              </a:rPr>
              <a:t>”</a:t>
            </a:r>
            <a:r>
              <a:rPr lang="zh-CN" altLang="en-US" sz="1200" kern="1200" dirty="0">
                <a:solidFill>
                  <a:schemeClr val="tx1"/>
                </a:solidFill>
                <a:effectLst/>
                <a:latin typeface="+mn-lt"/>
              </a:rPr>
              <a:t>是否定与希格斯场发生</a:t>
            </a:r>
            <a:r>
              <a:rPr lang="en-US" altLang="zh-CN" sz="1200" kern="1200" dirty="0">
                <a:solidFill>
                  <a:schemeClr val="tx1"/>
                </a:solidFill>
                <a:effectLst/>
                <a:latin typeface="+mn-lt"/>
              </a:rPr>
              <a:t>“</a:t>
            </a:r>
            <a:r>
              <a:rPr lang="zh-CN" altLang="en-US" sz="1200" kern="1200" dirty="0">
                <a:solidFill>
                  <a:schemeClr val="tx1"/>
                </a:solidFill>
                <a:effectLst/>
                <a:latin typeface="+mn-lt"/>
              </a:rPr>
              <a:t>强相互作用</a:t>
            </a:r>
            <a:r>
              <a:rPr lang="en-US" altLang="zh-CN" sz="1200" kern="1200" dirty="0">
                <a:solidFill>
                  <a:schemeClr val="tx1"/>
                </a:solidFill>
                <a:effectLst/>
                <a:latin typeface="+mn-lt"/>
              </a:rPr>
              <a:t>”</a:t>
            </a:r>
            <a:r>
              <a:rPr lang="zh-CN" altLang="en-US" sz="1200" kern="1200" dirty="0">
                <a:solidFill>
                  <a:schemeClr val="tx1"/>
                </a:solidFill>
                <a:effectLst/>
                <a:latin typeface="+mn-lt"/>
              </a:rPr>
              <a:t>或与希格斯场发生</a:t>
            </a:r>
            <a:r>
              <a:rPr lang="en-US" altLang="zh-CN" sz="1200" kern="1200" dirty="0">
                <a:solidFill>
                  <a:schemeClr val="tx1"/>
                </a:solidFill>
                <a:effectLst/>
                <a:latin typeface="+mn-lt"/>
              </a:rPr>
              <a:t>“</a:t>
            </a:r>
            <a:r>
              <a:rPr lang="zh-CN" altLang="en-US" sz="1200" kern="1200" dirty="0">
                <a:solidFill>
                  <a:schemeClr val="tx1"/>
                </a:solidFill>
                <a:effectLst/>
                <a:latin typeface="+mn-lt"/>
              </a:rPr>
              <a:t>弱相互作用</a:t>
            </a:r>
            <a:r>
              <a:rPr lang="en-US" altLang="zh-CN" sz="1200" kern="1200" dirty="0">
                <a:solidFill>
                  <a:schemeClr val="tx1"/>
                </a:solidFill>
                <a:effectLst/>
                <a:latin typeface="+mn-lt"/>
              </a:rPr>
              <a:t>”</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推理：根据论据</a:t>
            </a:r>
            <a:r>
              <a:rPr lang="en-US" altLang="zh-CN" sz="1200" kern="1200" dirty="0">
                <a:solidFill>
                  <a:schemeClr val="tx1"/>
                </a:solidFill>
                <a:effectLst/>
                <a:latin typeface="+mn-lt"/>
              </a:rPr>
              <a:t>“</a:t>
            </a:r>
            <a:r>
              <a:rPr lang="zh-CN" altLang="en-US" sz="1200" kern="1200" dirty="0">
                <a:solidFill>
                  <a:schemeClr val="tx1"/>
                </a:solidFill>
                <a:effectLst/>
                <a:latin typeface="+mn-lt"/>
              </a:rPr>
              <a:t>有质量</a:t>
            </a:r>
            <a:r>
              <a:rPr lang="en-US" altLang="en-US" sz="1200" kern="1200" dirty="0">
                <a:solidFill>
                  <a:schemeClr val="tx1"/>
                </a:solidFill>
                <a:effectLst/>
                <a:latin typeface="+mn-lt"/>
              </a:rPr>
              <a:t>→</a:t>
            </a:r>
            <a:r>
              <a:rPr lang="zh-CN" altLang="en-US" sz="1200" kern="1200" dirty="0">
                <a:solidFill>
                  <a:schemeClr val="tx1"/>
                </a:solidFill>
                <a:effectLst/>
                <a:latin typeface="+mn-lt"/>
              </a:rPr>
              <a:t>与希格斯场发生</a:t>
            </a:r>
            <a:r>
              <a:rPr lang="en-US" altLang="zh-CN" sz="1200" kern="1200" dirty="0">
                <a:solidFill>
                  <a:schemeClr val="tx1"/>
                </a:solidFill>
                <a:effectLst/>
                <a:latin typeface="+mn-lt"/>
              </a:rPr>
              <a:t>“</a:t>
            </a:r>
            <a:r>
              <a:rPr lang="zh-CN" altLang="en-US" sz="1200" kern="1200" dirty="0">
                <a:solidFill>
                  <a:schemeClr val="tx1"/>
                </a:solidFill>
                <a:effectLst/>
                <a:latin typeface="+mn-lt"/>
              </a:rPr>
              <a:t>强相互作用</a:t>
            </a:r>
            <a:r>
              <a:rPr lang="en-US" altLang="zh-CN" sz="1200" kern="1200" dirty="0">
                <a:solidFill>
                  <a:schemeClr val="tx1"/>
                </a:solidFill>
                <a:effectLst/>
                <a:latin typeface="+mn-lt"/>
              </a:rPr>
              <a:t>”</a:t>
            </a:r>
            <a:r>
              <a:rPr lang="zh-CN" altLang="en-US" sz="1200" kern="1200" dirty="0">
                <a:solidFill>
                  <a:schemeClr val="tx1"/>
                </a:solidFill>
                <a:effectLst/>
                <a:latin typeface="+mn-lt"/>
              </a:rPr>
              <a:t>或与希格斯场发生</a:t>
            </a:r>
            <a:r>
              <a:rPr lang="en-US" altLang="zh-CN" sz="1200" kern="1200" dirty="0">
                <a:solidFill>
                  <a:schemeClr val="tx1"/>
                </a:solidFill>
                <a:effectLst/>
                <a:latin typeface="+mn-lt"/>
              </a:rPr>
              <a:t>“</a:t>
            </a:r>
            <a:r>
              <a:rPr lang="zh-CN" altLang="en-US" sz="1200" kern="1200" dirty="0">
                <a:solidFill>
                  <a:schemeClr val="tx1"/>
                </a:solidFill>
                <a:effectLst/>
                <a:latin typeface="+mn-lt"/>
              </a:rPr>
              <a:t>弱相互作用</a:t>
            </a:r>
            <a:r>
              <a:rPr lang="en-US" altLang="zh-CN" sz="1200" kern="1200" dirty="0">
                <a:solidFill>
                  <a:schemeClr val="tx1"/>
                </a:solidFill>
                <a:effectLst/>
                <a:latin typeface="+mn-lt"/>
              </a:rPr>
              <a:t>””</a:t>
            </a:r>
            <a:r>
              <a:rPr lang="zh-CN" altLang="en-US" sz="1200" kern="1200" dirty="0">
                <a:solidFill>
                  <a:schemeClr val="tx1"/>
                </a:solidFill>
                <a:effectLst/>
                <a:latin typeface="+mn-lt"/>
              </a:rPr>
              <a:t>，若甲不与希格斯场作用，则它没有质量，进而不能传递弱作用力（否后推否前）</a:t>
            </a:r>
            <a:r>
              <a:rPr lang="en-US" altLang="en-US" sz="1200" kern="1200" dirty="0">
                <a:solidFill>
                  <a:schemeClr val="tx1"/>
                </a:solidFill>
                <a:effectLst/>
                <a:latin typeface="+mn-lt"/>
              </a:rPr>
              <a:t>→</a:t>
            </a:r>
            <a:r>
              <a:rPr lang="zh-CN" altLang="en-US" sz="1200" kern="1200" dirty="0">
                <a:solidFill>
                  <a:schemeClr val="tx1"/>
                </a:solidFill>
                <a:effectLst/>
                <a:latin typeface="+mn-lt"/>
              </a:rPr>
              <a:t>是必要前提</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Ⅲ</a:t>
            </a:r>
            <a:r>
              <a:rPr lang="en-US" altLang="zh-CN" sz="1200" kern="1200" dirty="0">
                <a:solidFill>
                  <a:schemeClr val="tx1"/>
                </a:solidFill>
                <a:effectLst/>
                <a:latin typeface="+mn-lt"/>
              </a:rPr>
              <a:t>.</a:t>
            </a:r>
            <a:r>
              <a:rPr lang="zh-CN" altLang="en-US" sz="1200" kern="1200" dirty="0">
                <a:solidFill>
                  <a:schemeClr val="tx1"/>
                </a:solidFill>
                <a:effectLst/>
                <a:latin typeface="+mn-lt"/>
              </a:rPr>
              <a:t>甲粒子传递电磁作用力：</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关键依据：</a:t>
            </a:r>
            <a:r>
              <a:rPr lang="en-US" altLang="zh-CN" sz="1200" kern="1200" dirty="0">
                <a:solidFill>
                  <a:schemeClr val="tx1"/>
                </a:solidFill>
                <a:effectLst/>
                <a:latin typeface="+mn-lt"/>
              </a:rPr>
              <a:t>“</a:t>
            </a:r>
            <a:r>
              <a:rPr lang="zh-CN" altLang="en-US" sz="1200" kern="1200" dirty="0">
                <a:solidFill>
                  <a:schemeClr val="tx1"/>
                </a:solidFill>
                <a:effectLst/>
                <a:latin typeface="+mn-lt"/>
              </a:rPr>
              <a:t>传递电磁作用力</a:t>
            </a:r>
            <a:r>
              <a:rPr lang="en-US" altLang="zh-CN" sz="1200" kern="1200" dirty="0">
                <a:solidFill>
                  <a:schemeClr val="tx1"/>
                </a:solidFill>
                <a:effectLst/>
                <a:latin typeface="+mn-lt"/>
              </a:rPr>
              <a:t>”</a:t>
            </a:r>
            <a:r>
              <a:rPr lang="zh-CN" altLang="en-US" sz="1200" kern="1200" dirty="0">
                <a:solidFill>
                  <a:schemeClr val="tx1"/>
                </a:solidFill>
                <a:effectLst/>
                <a:latin typeface="+mn-lt"/>
              </a:rPr>
              <a:t>是否定</a:t>
            </a:r>
            <a:r>
              <a:rPr lang="en-US" altLang="zh-CN" sz="1200" kern="1200" dirty="0">
                <a:solidFill>
                  <a:schemeClr val="tx1"/>
                </a:solidFill>
                <a:effectLst/>
                <a:latin typeface="+mn-lt"/>
              </a:rPr>
              <a:t>“</a:t>
            </a:r>
            <a:r>
              <a:rPr lang="zh-CN" altLang="en-US" sz="1200" kern="1200" dirty="0">
                <a:solidFill>
                  <a:schemeClr val="tx1"/>
                </a:solidFill>
                <a:effectLst/>
                <a:latin typeface="+mn-lt"/>
              </a:rPr>
              <a:t>不传递电磁作用力</a:t>
            </a:r>
            <a:r>
              <a:rPr lang="en-US" altLang="zh-CN" sz="1200" kern="1200" dirty="0">
                <a:solidFill>
                  <a:schemeClr val="tx1"/>
                </a:solidFill>
                <a:effectLst/>
                <a:latin typeface="+mn-lt"/>
              </a:rPr>
              <a:t>”</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推理：根据论据</a:t>
            </a:r>
            <a:r>
              <a:rPr lang="en-US" altLang="zh-CN" sz="1200" kern="1200" dirty="0">
                <a:solidFill>
                  <a:schemeClr val="tx1"/>
                </a:solidFill>
                <a:effectLst/>
                <a:latin typeface="+mn-lt"/>
              </a:rPr>
              <a:t>“</a:t>
            </a:r>
            <a:r>
              <a:rPr lang="zh-CN" altLang="en-US" sz="1200" kern="1200" dirty="0">
                <a:solidFill>
                  <a:schemeClr val="tx1"/>
                </a:solidFill>
                <a:effectLst/>
                <a:latin typeface="+mn-lt"/>
              </a:rPr>
              <a:t>传递弱作用力的粒子</a:t>
            </a:r>
            <a:r>
              <a:rPr lang="en-US" altLang="en-US" sz="1200" kern="1200" dirty="0">
                <a:solidFill>
                  <a:schemeClr val="tx1"/>
                </a:solidFill>
                <a:effectLst/>
                <a:latin typeface="+mn-lt"/>
              </a:rPr>
              <a:t>→</a:t>
            </a:r>
            <a:r>
              <a:rPr lang="zh-CN" altLang="en-US" sz="1200" kern="1200" dirty="0">
                <a:solidFill>
                  <a:schemeClr val="tx1"/>
                </a:solidFill>
                <a:effectLst/>
                <a:latin typeface="+mn-lt"/>
              </a:rPr>
              <a:t>有质量</a:t>
            </a:r>
            <a:r>
              <a:rPr lang="en-US" altLang="en-US" sz="1200" kern="1200" dirty="0">
                <a:solidFill>
                  <a:schemeClr val="tx1"/>
                </a:solidFill>
                <a:effectLst/>
                <a:latin typeface="+mn-lt"/>
              </a:rPr>
              <a:t>→</a:t>
            </a:r>
            <a:r>
              <a:rPr lang="zh-CN" altLang="en-US" sz="1200" kern="1200" dirty="0">
                <a:solidFill>
                  <a:schemeClr val="tx1"/>
                </a:solidFill>
                <a:effectLst/>
                <a:latin typeface="+mn-lt"/>
              </a:rPr>
              <a:t>与希格斯场发生</a:t>
            </a:r>
            <a:r>
              <a:rPr lang="en-US" altLang="zh-CN" sz="1200" kern="1200" dirty="0">
                <a:solidFill>
                  <a:schemeClr val="tx1"/>
                </a:solidFill>
                <a:effectLst/>
                <a:latin typeface="+mn-lt"/>
              </a:rPr>
              <a:t>“</a:t>
            </a:r>
            <a:r>
              <a:rPr lang="zh-CN" altLang="en-US" sz="1200" kern="1200" dirty="0">
                <a:solidFill>
                  <a:schemeClr val="tx1"/>
                </a:solidFill>
                <a:effectLst/>
                <a:latin typeface="+mn-lt"/>
              </a:rPr>
              <a:t>强相互作用</a:t>
            </a:r>
            <a:r>
              <a:rPr lang="en-US" altLang="zh-CN" sz="1200" kern="1200" dirty="0">
                <a:solidFill>
                  <a:schemeClr val="tx1"/>
                </a:solidFill>
                <a:effectLst/>
                <a:latin typeface="+mn-lt"/>
              </a:rPr>
              <a:t>”</a:t>
            </a:r>
            <a:r>
              <a:rPr lang="zh-CN" altLang="en-US" sz="1200" kern="1200" dirty="0">
                <a:solidFill>
                  <a:schemeClr val="tx1"/>
                </a:solidFill>
                <a:effectLst/>
                <a:latin typeface="+mn-lt"/>
              </a:rPr>
              <a:t>或与希格斯场发生</a:t>
            </a:r>
            <a:r>
              <a:rPr lang="en-US" altLang="zh-CN" sz="1200" kern="1200" dirty="0">
                <a:solidFill>
                  <a:schemeClr val="tx1"/>
                </a:solidFill>
                <a:effectLst/>
                <a:latin typeface="+mn-lt"/>
              </a:rPr>
              <a:t>“</a:t>
            </a:r>
            <a:r>
              <a:rPr lang="zh-CN" altLang="en-US" sz="1200" kern="1200" dirty="0">
                <a:solidFill>
                  <a:schemeClr val="tx1"/>
                </a:solidFill>
                <a:effectLst/>
                <a:latin typeface="+mn-lt"/>
              </a:rPr>
              <a:t>弱相互作用</a:t>
            </a:r>
            <a:r>
              <a:rPr lang="en-US" altLang="zh-CN"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不传递电磁作用力</a:t>
            </a:r>
            <a:r>
              <a:rPr lang="en-US" altLang="zh-CN" sz="1200" kern="1200" dirty="0">
                <a:solidFill>
                  <a:schemeClr val="tx1"/>
                </a:solidFill>
                <a:effectLst/>
                <a:latin typeface="+mn-lt"/>
              </a:rPr>
              <a:t>”</a:t>
            </a:r>
            <a:r>
              <a:rPr lang="zh-CN" altLang="en-US" sz="1200" kern="1200" dirty="0">
                <a:solidFill>
                  <a:schemeClr val="tx1"/>
                </a:solidFill>
                <a:effectLst/>
                <a:latin typeface="+mn-lt"/>
              </a:rPr>
              <a:t>，若甲传递电磁作用力，则它不与希格斯场作用，从而也没有质量，进而不能传递弱作用力（层层否定）</a:t>
            </a:r>
            <a:r>
              <a:rPr lang="en-US" altLang="en-US" sz="1200" kern="1200" dirty="0">
                <a:solidFill>
                  <a:schemeClr val="tx1"/>
                </a:solidFill>
                <a:effectLst/>
                <a:latin typeface="+mn-lt"/>
              </a:rPr>
              <a:t>→</a:t>
            </a:r>
            <a:r>
              <a:rPr lang="zh-CN" altLang="en-US" sz="1200" kern="1200" dirty="0">
                <a:solidFill>
                  <a:schemeClr val="tx1"/>
                </a:solidFill>
                <a:effectLst/>
                <a:latin typeface="+mn-lt"/>
              </a:rPr>
              <a:t>是必要前提</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Ⅰ</a:t>
            </a:r>
            <a:r>
              <a:rPr lang="zh-CN" altLang="en-US" sz="1200" kern="1200" dirty="0">
                <a:solidFill>
                  <a:schemeClr val="tx1"/>
                </a:solidFill>
                <a:effectLst/>
                <a:latin typeface="+mn-lt"/>
              </a:rPr>
              <a:t>、</a:t>
            </a:r>
            <a:r>
              <a:rPr lang="en-US" altLang="en-US" sz="1200" kern="1200" dirty="0">
                <a:solidFill>
                  <a:schemeClr val="tx1"/>
                </a:solidFill>
                <a:effectLst/>
                <a:latin typeface="+mn-lt"/>
              </a:rPr>
              <a:t>Ⅱ</a:t>
            </a:r>
            <a:r>
              <a:rPr lang="zh-CN" altLang="en-US" sz="1200" kern="1200" dirty="0">
                <a:solidFill>
                  <a:schemeClr val="tx1"/>
                </a:solidFill>
                <a:effectLst/>
                <a:latin typeface="+mn-lt"/>
              </a:rPr>
              <a:t>、</a:t>
            </a:r>
            <a:r>
              <a:rPr lang="en-US" altLang="en-US" sz="1200" kern="1200" dirty="0">
                <a:solidFill>
                  <a:schemeClr val="tx1"/>
                </a:solidFill>
                <a:effectLst/>
                <a:latin typeface="+mn-lt"/>
              </a:rPr>
              <a:t>Ⅲ</a:t>
            </a:r>
            <a:r>
              <a:rPr lang="zh-CN" altLang="en-US" sz="1200" kern="1200" dirty="0">
                <a:solidFill>
                  <a:schemeClr val="tx1"/>
                </a:solidFill>
                <a:effectLst/>
                <a:latin typeface="+mn-lt"/>
              </a:rPr>
              <a:t>均为必要前提：</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核心逻辑：三项分别从</a:t>
            </a:r>
            <a:r>
              <a:rPr lang="en-US" altLang="zh-CN" sz="1200" kern="1200" dirty="0">
                <a:solidFill>
                  <a:schemeClr val="tx1"/>
                </a:solidFill>
                <a:effectLst/>
                <a:latin typeface="+mn-lt"/>
              </a:rPr>
              <a:t>“</a:t>
            </a:r>
            <a:r>
              <a:rPr lang="zh-CN" altLang="en-US" sz="1200" kern="1200" dirty="0">
                <a:solidFill>
                  <a:schemeClr val="tx1"/>
                </a:solidFill>
                <a:effectLst/>
                <a:latin typeface="+mn-lt"/>
              </a:rPr>
              <a:t>质量</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希格斯场作用</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电磁作用力</a:t>
            </a:r>
            <a:r>
              <a:rPr lang="en-US" altLang="zh-CN" sz="1200" kern="1200" dirty="0">
                <a:solidFill>
                  <a:schemeClr val="tx1"/>
                </a:solidFill>
                <a:effectLst/>
                <a:latin typeface="+mn-lt"/>
              </a:rPr>
              <a:t>”</a:t>
            </a:r>
            <a:r>
              <a:rPr lang="zh-CN" altLang="en-US" sz="1200" kern="1200" dirty="0">
                <a:solidFill>
                  <a:schemeClr val="tx1"/>
                </a:solidFill>
                <a:effectLst/>
                <a:latin typeface="+mn-lt"/>
              </a:rPr>
              <a:t>三个层面进行否定，均能推出甲不传递弱作用力，构成推理链条中的必要条件。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26.</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解析：根据提问方式</a:t>
            </a:r>
            <a:r>
              <a:rPr lang="en-US" altLang="zh-CN" sz="1200" kern="1200" dirty="0">
                <a:solidFill>
                  <a:schemeClr val="tx1"/>
                </a:solidFill>
                <a:effectLst/>
                <a:latin typeface="+mn-lt"/>
              </a:rPr>
              <a:t>“</a:t>
            </a:r>
            <a:r>
              <a:rPr lang="zh-CN" altLang="en-US" sz="1200" kern="1200" dirty="0">
                <a:solidFill>
                  <a:schemeClr val="tx1"/>
                </a:solidFill>
                <a:effectLst/>
                <a:latin typeface="+mn-lt"/>
              </a:rPr>
              <a:t>解释矛盾</a:t>
            </a:r>
            <a:r>
              <a:rPr lang="en-US" altLang="zh-CN" sz="1200" kern="1200" dirty="0">
                <a:solidFill>
                  <a:schemeClr val="tx1"/>
                </a:solidFill>
                <a:effectLst/>
                <a:latin typeface="+mn-lt"/>
              </a:rPr>
              <a:t>”</a:t>
            </a:r>
            <a:r>
              <a:rPr lang="zh-CN" altLang="en-US" sz="1200" kern="1200" dirty="0">
                <a:solidFill>
                  <a:schemeClr val="tx1"/>
                </a:solidFill>
                <a:effectLst/>
                <a:latin typeface="+mn-lt"/>
              </a:rPr>
              <a:t>，确定为原因解释。</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题干中</a:t>
            </a:r>
            <a:r>
              <a:rPr lang="en-US" altLang="zh-CN" sz="1200" kern="1200" dirty="0">
                <a:solidFill>
                  <a:schemeClr val="tx1"/>
                </a:solidFill>
                <a:effectLst/>
                <a:latin typeface="+mn-lt"/>
              </a:rPr>
              <a:t>50%</a:t>
            </a:r>
            <a:r>
              <a:rPr lang="zh-CN" altLang="en-US" sz="1200" kern="1200" dirty="0">
                <a:solidFill>
                  <a:schemeClr val="tx1"/>
                </a:solidFill>
                <a:effectLst/>
                <a:latin typeface="+mn-lt"/>
              </a:rPr>
              <a:t>的同学认为难题较多，</a:t>
            </a:r>
            <a:r>
              <a:rPr lang="en-US" altLang="zh-CN" sz="1200" kern="1200" dirty="0">
                <a:solidFill>
                  <a:schemeClr val="tx1"/>
                </a:solidFill>
                <a:effectLst/>
                <a:latin typeface="+mn-lt"/>
              </a:rPr>
              <a:t>40%</a:t>
            </a:r>
            <a:r>
              <a:rPr lang="zh-CN" altLang="en-US" sz="1200" kern="1200" dirty="0">
                <a:solidFill>
                  <a:schemeClr val="tx1"/>
                </a:solidFill>
                <a:effectLst/>
                <a:latin typeface="+mn-lt"/>
              </a:rPr>
              <a:t>的同学认为计算量太大，</a:t>
            </a:r>
            <a:r>
              <a:rPr lang="en-US" altLang="zh-CN" sz="1200" kern="1200" dirty="0">
                <a:solidFill>
                  <a:schemeClr val="tx1"/>
                </a:solidFill>
                <a:effectLst/>
                <a:latin typeface="+mn-lt"/>
              </a:rPr>
              <a:t>20%</a:t>
            </a:r>
            <a:r>
              <a:rPr lang="zh-CN" altLang="en-US" sz="1200" kern="1200" dirty="0">
                <a:solidFill>
                  <a:schemeClr val="tx1"/>
                </a:solidFill>
                <a:effectLst/>
                <a:latin typeface="+mn-lt"/>
              </a:rPr>
              <a:t>的同学不确定问题出在哪，总人数比例超过</a:t>
            </a:r>
            <a:r>
              <a:rPr lang="en-US" altLang="zh-CN" sz="1200" kern="1200" dirty="0">
                <a:solidFill>
                  <a:schemeClr val="tx1"/>
                </a:solidFill>
                <a:effectLst/>
                <a:latin typeface="+mn-lt"/>
              </a:rPr>
              <a:t>100%</a:t>
            </a:r>
            <a:r>
              <a:rPr lang="zh-CN" altLang="en-US" sz="1200" kern="1200" dirty="0">
                <a:solidFill>
                  <a:schemeClr val="tx1"/>
                </a:solidFill>
                <a:effectLst/>
                <a:latin typeface="+mn-lt"/>
              </a:rPr>
              <a:t>是该题的矛盾点。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项：有的同学既认为难题多又认为计算量大，说明两种同学有重合，比例也会有交叉，总比例就会比</a:t>
            </a:r>
            <a:r>
              <a:rPr lang="en-US" altLang="zh-CN" sz="1200" kern="1200" dirty="0">
                <a:solidFill>
                  <a:schemeClr val="tx1"/>
                </a:solidFill>
                <a:effectLst/>
                <a:latin typeface="+mn-lt"/>
              </a:rPr>
              <a:t>100%</a:t>
            </a:r>
            <a:r>
              <a:rPr lang="zh-CN" altLang="en-US" sz="1200" kern="1200" dirty="0">
                <a:solidFill>
                  <a:schemeClr val="tx1"/>
                </a:solidFill>
                <a:effectLst/>
                <a:latin typeface="+mn-lt"/>
              </a:rPr>
              <a:t>大，可以解释。</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项：有的同学改变了自己的看法，但是最后的结果只能有一个，无法解释比例超过</a:t>
            </a:r>
            <a:r>
              <a:rPr lang="en-US" altLang="zh-CN" sz="1200" kern="1200" dirty="0">
                <a:solidFill>
                  <a:schemeClr val="tx1"/>
                </a:solidFill>
                <a:effectLst/>
                <a:latin typeface="+mn-lt"/>
              </a:rPr>
              <a:t>100%</a:t>
            </a:r>
            <a:r>
              <a:rPr lang="zh-CN" altLang="en-US" sz="1200" kern="1200" dirty="0">
                <a:solidFill>
                  <a:schemeClr val="tx1"/>
                </a:solidFill>
                <a:effectLst/>
                <a:latin typeface="+mn-lt"/>
              </a:rPr>
              <a:t>的问题，排除。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项：比例的大小与总人数没有直接关系，无法解释，排除。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项：该项讨论的是学生找不到问题出在哪的原因，无法解释比例超过</a:t>
            </a:r>
            <a:r>
              <a:rPr lang="en-US" altLang="zh-CN" sz="1200" kern="1200" dirty="0">
                <a:solidFill>
                  <a:schemeClr val="tx1"/>
                </a:solidFill>
                <a:effectLst/>
                <a:latin typeface="+mn-lt"/>
              </a:rPr>
              <a:t>100%</a:t>
            </a:r>
            <a:r>
              <a:rPr lang="zh-CN" altLang="en-US" sz="1200" kern="1200" dirty="0">
                <a:solidFill>
                  <a:schemeClr val="tx1"/>
                </a:solidFill>
                <a:effectLst/>
                <a:latin typeface="+mn-lt"/>
              </a:rPr>
              <a:t>的问题，排除。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27.</a:t>
            </a:r>
            <a:r>
              <a:rPr lang="zh-CN" altLang="en-US" dirty="0">
                <a:effectLst/>
                <a:latin typeface="+mn-lt"/>
                <a:sym typeface="+mn-ea"/>
              </a:rPr>
              <a:t>答案：</a:t>
            </a:r>
            <a:r>
              <a:rPr lang="en-US" altLang="zh-CN" dirty="0">
                <a:effectLst/>
                <a:latin typeface="+mn-lt"/>
                <a:sym typeface="+mn-ea"/>
              </a:rPr>
              <a:t>A</a:t>
            </a:r>
            <a:endParaRPr lang="en-US" altLang="zh-CN" kern="1200" dirty="0">
              <a:solidFill>
                <a:schemeClr val="tx1"/>
              </a:solidFill>
              <a:effectLst/>
              <a:latin typeface="+mn-lt"/>
            </a:endParaRPr>
          </a:p>
          <a:p>
            <a:r>
              <a:rPr lang="zh-CN" altLang="en-US" dirty="0">
                <a:effectLst/>
                <a:latin typeface="+mn-lt"/>
                <a:sym typeface="+mn-ea"/>
              </a:rPr>
              <a:t>解析：题干提问含</a:t>
            </a:r>
            <a:r>
              <a:rPr lang="en-US" altLang="zh-CN" dirty="0">
                <a:effectLst/>
                <a:latin typeface="+mn-lt"/>
                <a:sym typeface="+mn-ea"/>
              </a:rPr>
              <a:t>“</a:t>
            </a:r>
            <a:r>
              <a:rPr lang="zh-CN" altLang="en-US" dirty="0">
                <a:effectLst/>
                <a:latin typeface="+mn-lt"/>
                <a:sym typeface="+mn-ea"/>
              </a:rPr>
              <a:t>无法质疑</a:t>
            </a:r>
            <a:r>
              <a:rPr lang="en-US" altLang="zh-CN" dirty="0">
                <a:effectLst/>
                <a:latin typeface="+mn-lt"/>
                <a:sym typeface="+mn-ea"/>
              </a:rPr>
              <a:t>”</a:t>
            </a:r>
            <a:r>
              <a:rPr lang="en-US" altLang="en-US" dirty="0">
                <a:effectLst/>
                <a:latin typeface="+mn-lt"/>
                <a:sym typeface="+mn-ea"/>
              </a:rPr>
              <a:t>→ </a:t>
            </a:r>
            <a:r>
              <a:rPr lang="zh-CN" altLang="en-US" dirty="0">
                <a:effectLst/>
                <a:latin typeface="+mn-lt"/>
                <a:sym typeface="+mn-ea"/>
              </a:rPr>
              <a:t>削弱论证选非题</a:t>
            </a:r>
            <a:endParaRPr lang="zh-CN" altLang="en-US" kern="1200" dirty="0">
              <a:solidFill>
                <a:schemeClr val="tx1"/>
              </a:solidFill>
              <a:effectLst/>
              <a:latin typeface="+mn-lt"/>
            </a:endParaRPr>
          </a:p>
          <a:p>
            <a:r>
              <a:rPr lang="zh-CN" altLang="en-US" dirty="0">
                <a:effectLst/>
                <a:latin typeface="+mn-lt"/>
                <a:sym typeface="+mn-ea"/>
              </a:rPr>
              <a:t>论点：全麦面包并不比白面包更健康。</a:t>
            </a:r>
            <a:endParaRPr lang="zh-CN" altLang="en-US" kern="1200" dirty="0">
              <a:solidFill>
                <a:schemeClr val="tx1"/>
              </a:solidFill>
              <a:effectLst/>
              <a:latin typeface="+mn-lt"/>
            </a:endParaRPr>
          </a:p>
          <a:p>
            <a:r>
              <a:rPr lang="zh-CN" altLang="en-US" dirty="0">
                <a:effectLst/>
                <a:latin typeface="+mn-lt"/>
                <a:sym typeface="+mn-ea"/>
              </a:rPr>
              <a:t>论据：两组被试三周后餐后血糖水平无显著差异。</a:t>
            </a:r>
            <a:endParaRPr lang="zh-CN" altLang="en-US" kern="1200" dirty="0">
              <a:solidFill>
                <a:schemeClr val="tx1"/>
              </a:solidFill>
              <a:effectLst/>
              <a:latin typeface="+mn-lt"/>
            </a:endParaRPr>
          </a:p>
          <a:p>
            <a:r>
              <a:rPr lang="en-US" altLang="zh-CN" dirty="0">
                <a:effectLst/>
                <a:latin typeface="+mn-lt"/>
                <a:sym typeface="+mn-ea"/>
              </a:rPr>
              <a:t>A</a:t>
            </a:r>
            <a:r>
              <a:rPr lang="zh-CN" altLang="en-US" dirty="0">
                <a:effectLst/>
                <a:latin typeface="+mn-lt"/>
                <a:sym typeface="+mn-ea"/>
              </a:rPr>
              <a:t>项（增加正向论据）：关键依据：第一组被试的平均餐后血糖水平在进入研究之前就比第二组被试高。</a:t>
            </a:r>
            <a:endParaRPr lang="zh-CN" altLang="en-US" kern="1200" dirty="0">
              <a:solidFill>
                <a:schemeClr val="tx1"/>
              </a:solidFill>
              <a:effectLst/>
              <a:latin typeface="+mn-lt"/>
            </a:endParaRPr>
          </a:p>
          <a:p>
            <a:r>
              <a:rPr lang="zh-CN" altLang="en-US" dirty="0">
                <a:effectLst/>
                <a:latin typeface="+mn-lt"/>
                <a:sym typeface="+mn-ea"/>
              </a:rPr>
              <a:t>推理：说明吃白面包后血糖水平并未显著升高，支持了全麦面包不比白面包更健康的结论。</a:t>
            </a:r>
            <a:endParaRPr lang="zh-CN" altLang="en-US" kern="1200" dirty="0">
              <a:solidFill>
                <a:schemeClr val="tx1"/>
              </a:solidFill>
              <a:effectLst/>
              <a:latin typeface="+mn-lt"/>
            </a:endParaRPr>
          </a:p>
          <a:p>
            <a:r>
              <a:rPr lang="en-US" altLang="zh-CN" dirty="0">
                <a:effectLst/>
                <a:latin typeface="+mn-lt"/>
                <a:sym typeface="+mn-ea"/>
              </a:rPr>
              <a:t>B</a:t>
            </a:r>
            <a:r>
              <a:rPr lang="zh-CN" altLang="en-US" dirty="0">
                <a:effectLst/>
                <a:latin typeface="+mn-lt"/>
                <a:sym typeface="+mn-ea"/>
              </a:rPr>
              <a:t>项（增加反向论据）：关键依据：第二组被试的其他血生化检测指标在三周后显著优于第一组。</a:t>
            </a:r>
            <a:endParaRPr lang="zh-CN" altLang="en-US" kern="1200" dirty="0">
              <a:solidFill>
                <a:schemeClr val="tx1"/>
              </a:solidFill>
              <a:effectLst/>
              <a:latin typeface="+mn-lt"/>
            </a:endParaRPr>
          </a:p>
          <a:p>
            <a:r>
              <a:rPr lang="zh-CN" altLang="en-US" dirty="0">
                <a:effectLst/>
                <a:latin typeface="+mn-lt"/>
                <a:sym typeface="+mn-ea"/>
              </a:rPr>
              <a:t>推理：说明全麦面包在其他健康指标上优于白面包，削弱了全麦面包不比白面包更健康的论点。</a:t>
            </a:r>
            <a:endParaRPr lang="zh-CN" altLang="en-US" kern="1200" dirty="0">
              <a:solidFill>
                <a:schemeClr val="tx1"/>
              </a:solidFill>
              <a:effectLst/>
              <a:latin typeface="+mn-lt"/>
            </a:endParaRPr>
          </a:p>
          <a:p>
            <a:r>
              <a:rPr lang="en-US" altLang="zh-CN" dirty="0">
                <a:effectLst/>
                <a:latin typeface="+mn-lt"/>
                <a:sym typeface="+mn-ea"/>
              </a:rPr>
              <a:t>C</a:t>
            </a:r>
            <a:r>
              <a:rPr lang="zh-CN" altLang="en-US" dirty="0">
                <a:effectLst/>
                <a:latin typeface="+mn-lt"/>
                <a:sym typeface="+mn-ea"/>
              </a:rPr>
              <a:t>项（切断联系）：关键依据：餐后血糖水平不是健康的唯一指标。</a:t>
            </a:r>
            <a:endParaRPr lang="zh-CN" altLang="en-US" kern="1200" dirty="0">
              <a:solidFill>
                <a:schemeClr val="tx1"/>
              </a:solidFill>
              <a:effectLst/>
              <a:latin typeface="+mn-lt"/>
            </a:endParaRPr>
          </a:p>
          <a:p>
            <a:r>
              <a:rPr lang="zh-CN" altLang="en-US" dirty="0">
                <a:effectLst/>
                <a:latin typeface="+mn-lt"/>
                <a:sym typeface="+mn-ea"/>
              </a:rPr>
              <a:t>推理：指出仅凭血糖水平不能全面评估健康状况，削弱了论点和论据之间的联系。</a:t>
            </a:r>
            <a:endParaRPr lang="zh-CN" altLang="en-US" kern="1200" dirty="0">
              <a:solidFill>
                <a:schemeClr val="tx1"/>
              </a:solidFill>
              <a:effectLst/>
              <a:latin typeface="+mn-lt"/>
            </a:endParaRPr>
          </a:p>
          <a:p>
            <a:r>
              <a:rPr lang="en-US" altLang="zh-CN" dirty="0">
                <a:effectLst/>
                <a:latin typeface="+mn-lt"/>
                <a:sym typeface="+mn-ea"/>
              </a:rPr>
              <a:t>D</a:t>
            </a:r>
            <a:r>
              <a:rPr lang="zh-CN" altLang="en-US" dirty="0">
                <a:effectLst/>
                <a:latin typeface="+mn-lt"/>
                <a:sym typeface="+mn-ea"/>
              </a:rPr>
              <a:t>项（无关选项）：关键依据：有些人对全麦面包中的麦麸过敏因而只能选择白面包。</a:t>
            </a:r>
            <a:endParaRPr lang="zh-CN" altLang="en-US" kern="1200" dirty="0">
              <a:solidFill>
                <a:schemeClr val="tx1"/>
              </a:solidFill>
              <a:effectLst/>
              <a:latin typeface="+mn-lt"/>
            </a:endParaRPr>
          </a:p>
          <a:p>
            <a:r>
              <a:rPr lang="zh-CN" altLang="en-US" dirty="0">
                <a:effectLst/>
                <a:latin typeface="+mn-lt"/>
                <a:sym typeface="+mn-ea"/>
              </a:rPr>
              <a:t>推理：讨论的是个体选择面包的原因，与论点</a:t>
            </a:r>
            <a:r>
              <a:rPr lang="en-US" altLang="zh-CN" dirty="0">
                <a:effectLst/>
                <a:latin typeface="+mn-lt"/>
                <a:sym typeface="+mn-ea"/>
              </a:rPr>
              <a:t>“</a:t>
            </a:r>
            <a:r>
              <a:rPr lang="zh-CN" altLang="en-US" dirty="0">
                <a:effectLst/>
                <a:latin typeface="+mn-lt"/>
                <a:sym typeface="+mn-ea"/>
              </a:rPr>
              <a:t>全麦面包是否更健康</a:t>
            </a:r>
            <a:r>
              <a:rPr lang="en-US" altLang="zh-CN" dirty="0">
                <a:effectLst/>
                <a:latin typeface="+mn-lt"/>
                <a:sym typeface="+mn-ea"/>
              </a:rPr>
              <a:t>”</a:t>
            </a:r>
            <a:r>
              <a:rPr lang="zh-CN" altLang="en-US" dirty="0">
                <a:effectLst/>
                <a:latin typeface="+mn-lt"/>
                <a:sym typeface="+mn-ea"/>
              </a:rPr>
              <a:t>无关，不具有削弱作用。</a:t>
            </a:r>
            <a:endParaRPr lang="zh-CN" altLang="en-US" kern="1200" dirty="0">
              <a:solidFill>
                <a:schemeClr val="tx1"/>
              </a:solidFill>
              <a:effectLst/>
              <a:latin typeface="+mn-lt"/>
            </a:endParaRPr>
          </a:p>
          <a:p>
            <a:r>
              <a:rPr lang="en-US" altLang="zh-CN" dirty="0">
                <a:effectLst/>
                <a:latin typeface="+mn-lt"/>
                <a:sym typeface="+mn-ea"/>
              </a:rPr>
              <a:t>A</a:t>
            </a:r>
            <a:r>
              <a:rPr lang="zh-CN" altLang="en-US" dirty="0">
                <a:effectLst/>
                <a:latin typeface="+mn-lt"/>
                <a:sym typeface="+mn-ea"/>
              </a:rPr>
              <a:t>项增加正向论据，直接支持论点。</a:t>
            </a:r>
            <a:endParaRPr lang="zh-CN" altLang="en-US" kern="1200" dirty="0">
              <a:solidFill>
                <a:schemeClr val="tx1"/>
              </a:solidFill>
              <a:effectLst/>
              <a:latin typeface="+mn-lt"/>
            </a:endParaRPr>
          </a:p>
          <a:p>
            <a:r>
              <a:rPr lang="en-US" altLang="zh-CN" dirty="0">
                <a:effectLst/>
                <a:latin typeface="+mn-lt"/>
                <a:sym typeface="+mn-ea"/>
              </a:rPr>
              <a:t>D</a:t>
            </a:r>
            <a:r>
              <a:rPr lang="zh-CN" altLang="en-US" dirty="0">
                <a:effectLst/>
                <a:latin typeface="+mn-lt"/>
                <a:sym typeface="+mn-ea"/>
              </a:rPr>
              <a:t>项为无关选项，不涉及论点的核心内容。</a:t>
            </a:r>
            <a:endParaRPr lang="zh-CN" altLang="en-US" kern="1200" dirty="0">
              <a:solidFill>
                <a:schemeClr val="tx1"/>
              </a:solidFill>
              <a:effectLst/>
              <a:latin typeface="+mn-lt"/>
            </a:endParaRPr>
          </a:p>
          <a:p>
            <a:r>
              <a:rPr lang="zh-CN" altLang="en-US" dirty="0">
                <a:effectLst/>
                <a:latin typeface="+mn-lt"/>
                <a:sym typeface="+mn-ea"/>
              </a:rPr>
              <a:t>不能质疑科学家结论的选项：</a:t>
            </a:r>
            <a:r>
              <a:rPr lang="en-US" altLang="zh-CN" dirty="0">
                <a:effectLst/>
                <a:latin typeface="+mn-lt"/>
                <a:sym typeface="+mn-ea"/>
              </a:rPr>
              <a:t>A</a:t>
            </a:r>
            <a:r>
              <a:rPr lang="zh-CN" altLang="en-US" dirty="0">
                <a:effectLst/>
                <a:latin typeface="+mn-lt"/>
                <a:sym typeface="+mn-ea"/>
              </a:rPr>
              <a:t>。</a:t>
            </a:r>
            <a:endParaRPr lang="zh-CN" altLang="en-US" kern="1200" dirty="0">
              <a:solidFill>
                <a:schemeClr val="tx1"/>
              </a:solidFill>
              <a:effectLst/>
              <a:latin typeface="+mn-lt"/>
            </a:endParaRPr>
          </a:p>
          <a:p>
            <a:r>
              <a:rPr lang="zh-CN" altLang="en-US" dirty="0">
                <a:effectLst/>
                <a:latin typeface="+mn-lt"/>
                <a:sym typeface="+mn-ea"/>
              </a:rPr>
              <a:t>核心逻辑：</a:t>
            </a:r>
            <a:r>
              <a:rPr lang="en-US" altLang="zh-CN" dirty="0">
                <a:effectLst/>
                <a:latin typeface="+mn-lt"/>
                <a:sym typeface="+mn-ea"/>
              </a:rPr>
              <a:t>A</a:t>
            </a:r>
            <a:r>
              <a:rPr lang="zh-CN" altLang="en-US" dirty="0">
                <a:effectLst/>
                <a:latin typeface="+mn-lt"/>
                <a:sym typeface="+mn-ea"/>
              </a:rPr>
              <a:t>项通过补充论据支持全麦面包不比白面包更健康的结论；</a:t>
            </a:r>
            <a:r>
              <a:rPr lang="en-US" altLang="zh-CN" dirty="0">
                <a:effectLst/>
                <a:latin typeface="+mn-lt"/>
                <a:sym typeface="+mn-ea"/>
              </a:rPr>
              <a:t>B</a:t>
            </a:r>
            <a:r>
              <a:rPr lang="zh-CN" altLang="en-US" dirty="0">
                <a:effectLst/>
                <a:latin typeface="+mn-lt"/>
                <a:sym typeface="+mn-ea"/>
              </a:rPr>
              <a:t>、</a:t>
            </a:r>
            <a:r>
              <a:rPr lang="en-US" altLang="zh-CN" dirty="0">
                <a:effectLst/>
                <a:latin typeface="+mn-lt"/>
                <a:sym typeface="+mn-ea"/>
              </a:rPr>
              <a:t>C</a:t>
            </a:r>
            <a:r>
              <a:rPr lang="zh-CN" altLang="en-US" dirty="0">
                <a:effectLst/>
                <a:latin typeface="+mn-lt"/>
                <a:sym typeface="+mn-ea"/>
              </a:rPr>
              <a:t>项从不同角度削弱论点，</a:t>
            </a:r>
            <a:r>
              <a:rPr lang="en-US" altLang="zh-CN" dirty="0">
                <a:effectLst/>
                <a:latin typeface="+mn-lt"/>
                <a:sym typeface="+mn-ea"/>
              </a:rPr>
              <a:t>D</a:t>
            </a:r>
            <a:r>
              <a:rPr lang="zh-CN" altLang="en-US" dirty="0">
                <a:effectLst/>
                <a:latin typeface="+mn-lt"/>
                <a:sym typeface="+mn-ea"/>
              </a:rPr>
              <a:t>项无关。</a:t>
            </a:r>
            <a:endParaRPr lang="zh-CN" altLang="en-US" kern="1200" dirty="0">
              <a:solidFill>
                <a:schemeClr val="tx1"/>
              </a:solidFill>
              <a:effectLst/>
              <a:latin typeface="+mn-lt"/>
            </a:endParaRPr>
          </a:p>
          <a:p>
            <a:r>
              <a:rPr lang="zh-CN" altLang="en-US" dirty="0">
                <a:effectLst/>
                <a:latin typeface="+mn-lt"/>
                <a:sym typeface="+mn-ea"/>
              </a:rPr>
              <a:t>故正确答案为</a:t>
            </a:r>
            <a:r>
              <a:rPr lang="en-US" altLang="zh-CN" dirty="0">
                <a:effectLst/>
                <a:latin typeface="+mn-lt"/>
                <a:sym typeface="+mn-ea"/>
              </a:rPr>
              <a:t>A</a:t>
            </a:r>
            <a:r>
              <a:rPr lang="zh-CN" altLang="en-US" dirty="0">
                <a:effectLst/>
                <a:latin typeface="+mn-lt"/>
                <a:sym typeface="+mn-ea"/>
              </a:rPr>
              <a:t>。</a:t>
            </a:r>
            <a:endParaRPr lang="zh-CN" altLang="en-US"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28.</a:t>
            </a:r>
            <a:r>
              <a:rPr lang="zh-CN" altLang="en-US" dirty="0">
                <a:effectLst/>
                <a:latin typeface="+mn-lt"/>
                <a:sym typeface="+mn-ea"/>
              </a:rPr>
              <a:t>答案：</a:t>
            </a:r>
            <a:r>
              <a:rPr lang="en-US" altLang="zh-CN" dirty="0">
                <a:effectLst/>
                <a:latin typeface="+mn-lt"/>
                <a:sym typeface="+mn-ea"/>
              </a:rPr>
              <a:t>A</a:t>
            </a:r>
            <a:endParaRPr lang="en-US" altLang="zh-CN" kern="1200" dirty="0">
              <a:solidFill>
                <a:schemeClr val="tx1"/>
              </a:solidFill>
              <a:effectLst/>
              <a:latin typeface="+mn-lt"/>
            </a:endParaRPr>
          </a:p>
          <a:p>
            <a:r>
              <a:rPr lang="zh-CN" altLang="en-US" dirty="0">
                <a:effectLst/>
                <a:latin typeface="+mn-lt"/>
                <a:sym typeface="+mn-ea"/>
              </a:rPr>
              <a:t>解析：题干有明显的信息匹配特征，确定为分析推理。</a:t>
            </a:r>
            <a:endParaRPr lang="zh-CN" altLang="en-US" kern="1200" dirty="0">
              <a:solidFill>
                <a:schemeClr val="tx1"/>
              </a:solidFill>
              <a:effectLst/>
              <a:latin typeface="+mn-lt"/>
            </a:endParaRPr>
          </a:p>
          <a:p>
            <a:r>
              <a:rPr lang="zh-CN" altLang="en-US" dirty="0">
                <a:effectLst/>
                <a:latin typeface="+mn-lt"/>
                <a:sym typeface="+mn-ea"/>
              </a:rPr>
              <a:t>根据条件（</a:t>
            </a:r>
            <a:r>
              <a:rPr lang="en-US" altLang="zh-CN" dirty="0">
                <a:effectLst/>
                <a:latin typeface="+mn-lt"/>
                <a:sym typeface="+mn-ea"/>
              </a:rPr>
              <a:t>1</a:t>
            </a:r>
            <a:r>
              <a:rPr lang="zh-CN" altLang="en-US" dirty="0">
                <a:effectLst/>
                <a:latin typeface="+mn-lt"/>
                <a:sym typeface="+mn-ea"/>
              </a:rPr>
              <a:t>）可知，历史博物馆可能在周二、三、五、六的上午；</a:t>
            </a:r>
            <a:endParaRPr lang="zh-CN" altLang="en-US" kern="1200" dirty="0">
              <a:solidFill>
                <a:schemeClr val="tx1"/>
              </a:solidFill>
              <a:effectLst/>
              <a:latin typeface="+mn-lt"/>
            </a:endParaRPr>
          </a:p>
          <a:p>
            <a:r>
              <a:rPr lang="zh-CN" altLang="en-US" dirty="0">
                <a:effectLst/>
                <a:latin typeface="+mn-lt"/>
                <a:sym typeface="+mn-ea"/>
              </a:rPr>
              <a:t>根据条件（</a:t>
            </a:r>
            <a:r>
              <a:rPr lang="en-US" altLang="zh-CN" dirty="0">
                <a:effectLst/>
                <a:latin typeface="+mn-lt"/>
                <a:sym typeface="+mn-ea"/>
              </a:rPr>
              <a:t>2</a:t>
            </a:r>
            <a:r>
              <a:rPr lang="zh-CN" altLang="en-US" dirty="0">
                <a:effectLst/>
                <a:latin typeface="+mn-lt"/>
                <a:sym typeface="+mn-ea"/>
              </a:rPr>
              <a:t>）可知，古籍阅览室可能在周一、二、三、五的上午；</a:t>
            </a:r>
            <a:endParaRPr lang="zh-CN" altLang="en-US" kern="1200" dirty="0">
              <a:solidFill>
                <a:schemeClr val="tx1"/>
              </a:solidFill>
              <a:effectLst/>
              <a:latin typeface="+mn-lt"/>
            </a:endParaRPr>
          </a:p>
          <a:p>
            <a:r>
              <a:rPr lang="zh-CN" altLang="en-US" dirty="0">
                <a:effectLst/>
                <a:latin typeface="+mn-lt"/>
                <a:sym typeface="+mn-ea"/>
              </a:rPr>
              <a:t>根据条件（</a:t>
            </a:r>
            <a:r>
              <a:rPr lang="en-US" altLang="zh-CN" dirty="0">
                <a:effectLst/>
                <a:latin typeface="+mn-lt"/>
                <a:sym typeface="+mn-ea"/>
              </a:rPr>
              <a:t>3</a:t>
            </a:r>
            <a:r>
              <a:rPr lang="zh-CN" altLang="en-US" dirty="0">
                <a:effectLst/>
                <a:latin typeface="+mn-lt"/>
                <a:sym typeface="+mn-ea"/>
              </a:rPr>
              <a:t>）可知，周一古籍阅览室</a:t>
            </a:r>
            <a:r>
              <a:rPr lang="en-US" altLang="en-US" dirty="0">
                <a:effectLst/>
                <a:latin typeface="+mn-lt"/>
                <a:sym typeface="+mn-ea"/>
              </a:rPr>
              <a:t>→</a:t>
            </a:r>
            <a:r>
              <a:rPr lang="zh-CN" altLang="en-US" dirty="0">
                <a:effectLst/>
                <a:latin typeface="+mn-lt"/>
                <a:sym typeface="+mn-ea"/>
              </a:rPr>
              <a:t>周二不去；</a:t>
            </a:r>
            <a:endParaRPr lang="zh-CN" altLang="en-US" kern="1200" dirty="0">
              <a:solidFill>
                <a:schemeClr val="tx1"/>
              </a:solidFill>
              <a:effectLst/>
              <a:latin typeface="+mn-lt"/>
            </a:endParaRPr>
          </a:p>
          <a:p>
            <a:r>
              <a:rPr lang="zh-CN" altLang="en-US" dirty="0">
                <a:effectLst/>
                <a:latin typeface="+mn-lt"/>
                <a:sym typeface="+mn-ea"/>
              </a:rPr>
              <a:t>根据条件（</a:t>
            </a:r>
            <a:r>
              <a:rPr lang="en-US" altLang="zh-CN" dirty="0">
                <a:effectLst/>
                <a:latin typeface="+mn-lt"/>
                <a:sym typeface="+mn-ea"/>
              </a:rPr>
              <a:t>4</a:t>
            </a:r>
            <a:r>
              <a:rPr lang="zh-CN" altLang="en-US" dirty="0">
                <a:effectLst/>
                <a:latin typeface="+mn-lt"/>
                <a:sym typeface="+mn-ea"/>
              </a:rPr>
              <a:t>），结合题干中</a:t>
            </a:r>
            <a:r>
              <a:rPr lang="en-US" altLang="zh-CN" dirty="0">
                <a:effectLst/>
                <a:latin typeface="+mn-lt"/>
                <a:sym typeface="+mn-ea"/>
              </a:rPr>
              <a:t>“</a:t>
            </a:r>
            <a:r>
              <a:rPr lang="zh-CN" altLang="en-US" dirty="0">
                <a:effectLst/>
                <a:latin typeface="+mn-lt"/>
                <a:sym typeface="+mn-ea"/>
              </a:rPr>
              <a:t>周四不安排活动</a:t>
            </a:r>
            <a:r>
              <a:rPr lang="en-US" altLang="zh-CN" dirty="0">
                <a:effectLst/>
                <a:latin typeface="+mn-lt"/>
                <a:sym typeface="+mn-ea"/>
              </a:rPr>
              <a:t>”</a:t>
            </a:r>
            <a:r>
              <a:rPr lang="zh-CN" altLang="en-US" dirty="0">
                <a:effectLst/>
                <a:latin typeface="+mn-lt"/>
                <a:sym typeface="+mn-ea"/>
              </a:rPr>
              <a:t>可知，连续两天会友可能在周一周二或周二周三。</a:t>
            </a:r>
            <a:endParaRPr lang="zh-CN" altLang="en-US" kern="1200" dirty="0">
              <a:solidFill>
                <a:schemeClr val="tx1"/>
              </a:solidFill>
              <a:effectLst/>
              <a:latin typeface="+mn-lt"/>
            </a:endParaRPr>
          </a:p>
          <a:p>
            <a:r>
              <a:rPr lang="en-US" altLang="zh-CN" dirty="0">
                <a:effectLst/>
                <a:latin typeface="+mn-lt"/>
                <a:sym typeface="+mn-ea"/>
              </a:rPr>
              <a:t>A</a:t>
            </a:r>
            <a:r>
              <a:rPr lang="zh-CN" altLang="en-US" dirty="0">
                <a:effectLst/>
                <a:latin typeface="+mn-lt"/>
                <a:sym typeface="+mn-ea"/>
              </a:rPr>
              <a:t>项：王教授周一上午去古籍阅读室，则根据（</a:t>
            </a:r>
            <a:r>
              <a:rPr lang="en-US" altLang="zh-CN" dirty="0">
                <a:effectLst/>
                <a:latin typeface="+mn-lt"/>
                <a:sym typeface="+mn-ea"/>
              </a:rPr>
              <a:t>3</a:t>
            </a:r>
            <a:r>
              <a:rPr lang="zh-CN" altLang="en-US" dirty="0">
                <a:effectLst/>
                <a:latin typeface="+mn-lt"/>
                <a:sym typeface="+mn-ea"/>
              </a:rPr>
              <a:t>），肯前必肯后，周二不去。因为一共去</a:t>
            </a:r>
            <a:r>
              <a:rPr lang="en-US" altLang="zh-CN" dirty="0">
                <a:effectLst/>
                <a:latin typeface="+mn-lt"/>
                <a:sym typeface="+mn-ea"/>
              </a:rPr>
              <a:t>3</a:t>
            </a:r>
            <a:r>
              <a:rPr lang="zh-CN" altLang="en-US" dirty="0">
                <a:effectLst/>
                <a:latin typeface="+mn-lt"/>
                <a:sym typeface="+mn-ea"/>
              </a:rPr>
              <a:t>次，可知周三、周五上午去古籍阅读室，周一下午会友，则周二下午也会友，此时，历史博物馆可以周二或周六上午去，其他时间参观旅游景点，符合条件，当选。</a:t>
            </a:r>
            <a:endParaRPr lang="zh-CN" altLang="en-US" kern="1200" dirty="0">
              <a:solidFill>
                <a:schemeClr val="tx1"/>
              </a:solidFill>
              <a:effectLst/>
              <a:latin typeface="+mn-lt"/>
            </a:endParaRPr>
          </a:p>
          <a:p>
            <a:r>
              <a:rPr lang="en-US" altLang="zh-CN" dirty="0">
                <a:effectLst/>
                <a:latin typeface="+mn-lt"/>
                <a:sym typeface="+mn-ea"/>
              </a:rPr>
              <a:t>B</a:t>
            </a:r>
            <a:r>
              <a:rPr lang="zh-CN" altLang="en-US" dirty="0">
                <a:effectLst/>
                <a:latin typeface="+mn-lt"/>
                <a:sym typeface="+mn-ea"/>
              </a:rPr>
              <a:t>项：王教授周一上午去旅游景点，周二上午去历史博物馆，则古籍阅读室只能周三、周五上午，周六闭馆，此时古籍阅读室无法安排</a:t>
            </a:r>
            <a:r>
              <a:rPr lang="en-US" altLang="zh-CN" dirty="0">
                <a:effectLst/>
                <a:latin typeface="+mn-lt"/>
                <a:sym typeface="+mn-ea"/>
              </a:rPr>
              <a:t>3</a:t>
            </a:r>
            <a:r>
              <a:rPr lang="zh-CN" altLang="en-US" dirty="0">
                <a:effectLst/>
                <a:latin typeface="+mn-lt"/>
                <a:sym typeface="+mn-ea"/>
              </a:rPr>
              <a:t>个上午，不符合题干，排除。</a:t>
            </a:r>
            <a:endParaRPr lang="zh-CN" altLang="en-US" kern="1200" dirty="0">
              <a:solidFill>
                <a:schemeClr val="tx1"/>
              </a:solidFill>
              <a:effectLst/>
              <a:latin typeface="+mn-lt"/>
            </a:endParaRPr>
          </a:p>
          <a:p>
            <a:r>
              <a:rPr lang="en-US" altLang="zh-CN" dirty="0">
                <a:effectLst/>
                <a:latin typeface="+mn-lt"/>
                <a:sym typeface="+mn-ea"/>
              </a:rPr>
              <a:t>C</a:t>
            </a:r>
            <a:r>
              <a:rPr lang="zh-CN" altLang="en-US" dirty="0">
                <a:effectLst/>
                <a:latin typeface="+mn-lt"/>
                <a:sym typeface="+mn-ea"/>
              </a:rPr>
              <a:t>项：王教授周三上午去历史博物馆，则古籍阅读室只能周一、二、五上午去，但根据（</a:t>
            </a:r>
            <a:r>
              <a:rPr lang="en-US" altLang="zh-CN" dirty="0">
                <a:effectLst/>
                <a:latin typeface="+mn-lt"/>
                <a:sym typeface="+mn-ea"/>
              </a:rPr>
              <a:t>3</a:t>
            </a:r>
            <a:r>
              <a:rPr lang="zh-CN" altLang="en-US" dirty="0">
                <a:effectLst/>
                <a:latin typeface="+mn-lt"/>
                <a:sym typeface="+mn-ea"/>
              </a:rPr>
              <a:t>）周一去古籍阅读室，周二则不能去，此时，无法安排</a:t>
            </a:r>
            <a:r>
              <a:rPr lang="en-US" altLang="zh-CN" dirty="0">
                <a:effectLst/>
                <a:latin typeface="+mn-lt"/>
                <a:sym typeface="+mn-ea"/>
              </a:rPr>
              <a:t>3</a:t>
            </a:r>
            <a:r>
              <a:rPr lang="zh-CN" altLang="en-US" dirty="0">
                <a:effectLst/>
                <a:latin typeface="+mn-lt"/>
                <a:sym typeface="+mn-ea"/>
              </a:rPr>
              <a:t>个古籍阅读室，不符合题干，排除。</a:t>
            </a:r>
            <a:endParaRPr lang="zh-CN" altLang="en-US" kern="1200" dirty="0">
              <a:solidFill>
                <a:schemeClr val="tx1"/>
              </a:solidFill>
              <a:effectLst/>
              <a:latin typeface="+mn-lt"/>
            </a:endParaRPr>
          </a:p>
          <a:p>
            <a:r>
              <a:rPr lang="en-US" altLang="zh-CN" dirty="0">
                <a:effectLst/>
                <a:latin typeface="+mn-lt"/>
                <a:sym typeface="+mn-ea"/>
              </a:rPr>
              <a:t>D</a:t>
            </a:r>
            <a:r>
              <a:rPr lang="zh-CN" altLang="en-US" dirty="0">
                <a:effectLst/>
                <a:latin typeface="+mn-lt"/>
                <a:sym typeface="+mn-ea"/>
              </a:rPr>
              <a:t>项：王教授周五上午下午都去景点旅游，则古籍阅读室只能周一、二、三上午去，但根据（</a:t>
            </a:r>
            <a:r>
              <a:rPr lang="en-US" altLang="zh-CN" dirty="0">
                <a:effectLst/>
                <a:latin typeface="+mn-lt"/>
                <a:sym typeface="+mn-ea"/>
              </a:rPr>
              <a:t>3</a:t>
            </a:r>
            <a:r>
              <a:rPr lang="zh-CN" altLang="en-US" dirty="0">
                <a:effectLst/>
                <a:latin typeface="+mn-lt"/>
                <a:sym typeface="+mn-ea"/>
              </a:rPr>
              <a:t>）周一去古籍阅读室，则周二不能去，此时，无法安排</a:t>
            </a:r>
            <a:r>
              <a:rPr lang="en-US" altLang="zh-CN" dirty="0">
                <a:effectLst/>
                <a:latin typeface="+mn-lt"/>
                <a:sym typeface="+mn-ea"/>
              </a:rPr>
              <a:t>3</a:t>
            </a:r>
            <a:r>
              <a:rPr lang="zh-CN" altLang="en-US" dirty="0">
                <a:effectLst/>
                <a:latin typeface="+mn-lt"/>
                <a:sym typeface="+mn-ea"/>
              </a:rPr>
              <a:t>个古籍阅读室，不符合题干，排除。</a:t>
            </a:r>
            <a:endParaRPr lang="zh-CN" altLang="en-US" kern="1200" dirty="0">
              <a:solidFill>
                <a:schemeClr val="tx1"/>
              </a:solidFill>
              <a:effectLst/>
              <a:latin typeface="+mn-lt"/>
            </a:endParaRPr>
          </a:p>
          <a:p>
            <a:r>
              <a:rPr lang="zh-CN" altLang="en-US" dirty="0">
                <a:effectLst/>
                <a:latin typeface="+mn-lt"/>
                <a:sym typeface="+mn-ea"/>
              </a:rPr>
              <a:t>故正确答案为</a:t>
            </a:r>
            <a:r>
              <a:rPr lang="en-US" altLang="zh-CN" dirty="0">
                <a:effectLst/>
                <a:latin typeface="+mn-lt"/>
                <a:sym typeface="+mn-ea"/>
              </a:rPr>
              <a:t>A</a:t>
            </a:r>
            <a:r>
              <a:rPr lang="zh-CN" altLang="en-US" dirty="0">
                <a:effectLst/>
                <a:latin typeface="+mn-lt"/>
                <a:sym typeface="+mn-ea"/>
              </a:rPr>
              <a:t>。</a:t>
            </a:r>
            <a:endParaRPr lang="zh-CN" altLang="en-US"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29.</a:t>
            </a:r>
            <a:r>
              <a:rPr lang="zh-CN" altLang="en-US" dirty="0">
                <a:effectLst/>
                <a:latin typeface="+mn-lt"/>
                <a:sym typeface="+mn-ea"/>
              </a:rPr>
              <a:t>答案：</a:t>
            </a:r>
            <a:r>
              <a:rPr lang="en-US" altLang="zh-CN" dirty="0">
                <a:effectLst/>
                <a:latin typeface="+mn-lt"/>
                <a:sym typeface="+mn-ea"/>
              </a:rPr>
              <a:t>D</a:t>
            </a:r>
            <a:endParaRPr lang="en-US" altLang="zh-CN" kern="1200" dirty="0">
              <a:solidFill>
                <a:schemeClr val="tx1"/>
              </a:solidFill>
              <a:effectLst/>
              <a:latin typeface="+mn-lt"/>
            </a:endParaRPr>
          </a:p>
          <a:p>
            <a:r>
              <a:rPr lang="zh-CN" altLang="en-US" dirty="0">
                <a:effectLst/>
                <a:latin typeface="+mn-lt"/>
                <a:sym typeface="+mn-ea"/>
              </a:rPr>
              <a:t>解析：题干有明显的信息匹配特征，确定为分析推理。</a:t>
            </a:r>
            <a:endParaRPr lang="zh-CN" altLang="en-US" kern="1200" dirty="0">
              <a:solidFill>
                <a:schemeClr val="tx1"/>
              </a:solidFill>
              <a:effectLst/>
              <a:latin typeface="+mn-lt"/>
            </a:endParaRPr>
          </a:p>
          <a:p>
            <a:r>
              <a:rPr lang="zh-CN" altLang="en-US" dirty="0">
                <a:effectLst/>
                <a:latin typeface="+mn-lt"/>
                <a:sym typeface="+mn-ea"/>
              </a:rPr>
              <a:t>根据条件（</a:t>
            </a:r>
            <a:r>
              <a:rPr lang="en-US" altLang="zh-CN" dirty="0">
                <a:effectLst/>
                <a:latin typeface="+mn-lt"/>
                <a:sym typeface="+mn-ea"/>
              </a:rPr>
              <a:t>4</a:t>
            </a:r>
            <a:r>
              <a:rPr lang="zh-CN" altLang="en-US" dirty="0">
                <a:effectLst/>
                <a:latin typeface="+mn-lt"/>
                <a:sym typeface="+mn-ea"/>
              </a:rPr>
              <a:t>）周六不会友，结合题干中</a:t>
            </a:r>
            <a:r>
              <a:rPr lang="en-US" altLang="zh-CN" dirty="0">
                <a:effectLst/>
                <a:latin typeface="+mn-lt"/>
                <a:sym typeface="+mn-ea"/>
              </a:rPr>
              <a:t>“</a:t>
            </a:r>
            <a:r>
              <a:rPr lang="zh-CN" altLang="en-US" dirty="0">
                <a:effectLst/>
                <a:latin typeface="+mn-lt"/>
                <a:sym typeface="+mn-ea"/>
              </a:rPr>
              <a:t>周四不安排活动</a:t>
            </a:r>
            <a:r>
              <a:rPr lang="en-US" altLang="zh-CN" dirty="0">
                <a:effectLst/>
                <a:latin typeface="+mn-lt"/>
                <a:sym typeface="+mn-ea"/>
              </a:rPr>
              <a:t>”</a:t>
            </a:r>
            <a:r>
              <a:rPr lang="zh-CN" altLang="en-US" dirty="0">
                <a:effectLst/>
                <a:latin typeface="+mn-lt"/>
                <a:sym typeface="+mn-ea"/>
              </a:rPr>
              <a:t>可知，连续两天会友可能在周一周二或周二周三，则周二一定会友。</a:t>
            </a:r>
            <a:endParaRPr lang="zh-CN" altLang="en-US" kern="1200" dirty="0">
              <a:solidFill>
                <a:schemeClr val="tx1"/>
              </a:solidFill>
              <a:effectLst/>
              <a:latin typeface="+mn-lt"/>
            </a:endParaRPr>
          </a:p>
          <a:p>
            <a:r>
              <a:rPr lang="zh-CN" altLang="en-US" dirty="0">
                <a:effectLst/>
                <a:latin typeface="+mn-lt"/>
                <a:sym typeface="+mn-ea"/>
              </a:rPr>
              <a:t>故正确答案为</a:t>
            </a:r>
            <a:r>
              <a:rPr lang="en-US" altLang="zh-CN" dirty="0">
                <a:effectLst/>
                <a:latin typeface="+mn-lt"/>
                <a:sym typeface="+mn-ea"/>
              </a:rPr>
              <a:t>D</a:t>
            </a:r>
            <a:r>
              <a:rPr lang="zh-CN" altLang="en-US" dirty="0">
                <a:effectLst/>
                <a:latin typeface="+mn-lt"/>
                <a:sym typeface="+mn-ea"/>
              </a:rPr>
              <a:t>。</a:t>
            </a:r>
            <a:endParaRPr lang="zh-CN" altLang="en-US"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30.</a:t>
            </a:r>
            <a:r>
              <a:rPr lang="zh-CN" altLang="en-US" dirty="0">
                <a:effectLst/>
                <a:latin typeface="+mn-lt"/>
                <a:sym typeface="+mn-ea"/>
              </a:rPr>
              <a:t>答案：</a:t>
            </a:r>
            <a:r>
              <a:rPr lang="en-US" altLang="zh-CN" dirty="0">
                <a:effectLst/>
                <a:latin typeface="+mn-lt"/>
                <a:sym typeface="+mn-ea"/>
              </a:rPr>
              <a:t>D</a:t>
            </a:r>
            <a:endParaRPr lang="en-US" altLang="zh-CN" kern="1200" dirty="0">
              <a:solidFill>
                <a:schemeClr val="tx1"/>
              </a:solidFill>
              <a:effectLst/>
              <a:latin typeface="+mn-lt"/>
            </a:endParaRPr>
          </a:p>
          <a:p>
            <a:r>
              <a:rPr lang="zh-CN" altLang="en-US" dirty="0">
                <a:effectLst/>
                <a:latin typeface="+mn-lt"/>
                <a:sym typeface="+mn-ea"/>
              </a:rPr>
              <a:t>解析：题干有明显的信息匹配特征，确定为分析推理。</a:t>
            </a:r>
            <a:endParaRPr lang="zh-CN" altLang="en-US" kern="1200" dirty="0">
              <a:solidFill>
                <a:schemeClr val="tx1"/>
              </a:solidFill>
              <a:effectLst/>
              <a:latin typeface="+mn-lt"/>
            </a:endParaRPr>
          </a:p>
          <a:p>
            <a:r>
              <a:rPr lang="zh-CN" altLang="en-US" dirty="0">
                <a:effectLst/>
                <a:latin typeface="+mn-lt"/>
                <a:sym typeface="+mn-ea"/>
              </a:rPr>
              <a:t>题干设问的是哪些人的名次会上升，只有原本排在作弊者后面的人名次会上升，排在作弊者前面的名次不受影响。</a:t>
            </a:r>
            <a:endParaRPr lang="zh-CN" altLang="en-US" kern="1200" dirty="0">
              <a:solidFill>
                <a:schemeClr val="tx1"/>
              </a:solidFill>
              <a:effectLst/>
              <a:latin typeface="+mn-lt"/>
            </a:endParaRPr>
          </a:p>
          <a:p>
            <a:r>
              <a:rPr lang="zh-CN" altLang="en-US" dirty="0">
                <a:effectLst/>
                <a:latin typeface="+mn-lt"/>
                <a:sym typeface="+mn-ea"/>
              </a:rPr>
              <a:t>根据（</a:t>
            </a:r>
            <a:r>
              <a:rPr lang="en-US" altLang="zh-CN" dirty="0">
                <a:effectLst/>
                <a:latin typeface="+mn-lt"/>
                <a:sym typeface="+mn-ea"/>
              </a:rPr>
              <a:t>5</a:t>
            </a:r>
            <a:r>
              <a:rPr lang="zh-CN" altLang="en-US" dirty="0">
                <a:effectLst/>
                <a:latin typeface="+mn-lt"/>
                <a:sym typeface="+mn-ea"/>
              </a:rPr>
              <a:t>）可知，吴的名次一定会受到影响，排除</a:t>
            </a:r>
            <a:r>
              <a:rPr lang="en-US" altLang="zh-CN" dirty="0">
                <a:effectLst/>
                <a:latin typeface="+mn-lt"/>
                <a:sym typeface="+mn-ea"/>
              </a:rPr>
              <a:t>A</a:t>
            </a:r>
            <a:r>
              <a:rPr lang="zh-CN" altLang="en-US" dirty="0">
                <a:effectLst/>
                <a:latin typeface="+mn-lt"/>
                <a:sym typeface="+mn-ea"/>
              </a:rPr>
              <a:t>、</a:t>
            </a:r>
            <a:r>
              <a:rPr lang="en-US" altLang="zh-CN" dirty="0">
                <a:effectLst/>
                <a:latin typeface="+mn-lt"/>
                <a:sym typeface="+mn-ea"/>
              </a:rPr>
              <a:t>C</a:t>
            </a:r>
            <a:r>
              <a:rPr lang="zh-CN" altLang="en-US" dirty="0">
                <a:effectLst/>
                <a:latin typeface="+mn-lt"/>
                <a:sym typeface="+mn-ea"/>
              </a:rPr>
              <a:t>项。</a:t>
            </a:r>
            <a:endParaRPr lang="zh-CN" altLang="en-US" kern="1200" dirty="0">
              <a:solidFill>
                <a:schemeClr val="tx1"/>
              </a:solidFill>
              <a:effectLst/>
              <a:latin typeface="+mn-lt"/>
            </a:endParaRPr>
          </a:p>
          <a:p>
            <a:r>
              <a:rPr lang="zh-CN" altLang="en-US" dirty="0">
                <a:effectLst/>
                <a:latin typeface="+mn-lt"/>
                <a:sym typeface="+mn-ea"/>
              </a:rPr>
              <a:t>根据条件（</a:t>
            </a:r>
            <a:r>
              <a:rPr lang="en-US" altLang="zh-CN" dirty="0">
                <a:effectLst/>
                <a:latin typeface="+mn-lt"/>
                <a:sym typeface="+mn-ea"/>
              </a:rPr>
              <a:t>1</a:t>
            </a:r>
            <a:r>
              <a:rPr lang="zh-CN" altLang="en-US" dirty="0">
                <a:effectLst/>
                <a:latin typeface="+mn-lt"/>
                <a:sym typeface="+mn-ea"/>
              </a:rPr>
              <a:t>）可知：钱、周、孙三人的成绩从高到低可能有</a:t>
            </a:r>
            <a:r>
              <a:rPr lang="en-US" altLang="zh-CN" dirty="0">
                <a:effectLst/>
                <a:latin typeface="+mn-lt"/>
                <a:sym typeface="+mn-ea"/>
              </a:rPr>
              <a:t>2</a:t>
            </a:r>
            <a:r>
              <a:rPr lang="zh-CN" altLang="en-US" dirty="0">
                <a:effectLst/>
                <a:latin typeface="+mn-lt"/>
                <a:sym typeface="+mn-ea"/>
              </a:rPr>
              <a:t>种情况：</a:t>
            </a:r>
            <a:r>
              <a:rPr lang="en-US" altLang="en-US" dirty="0">
                <a:effectLst/>
                <a:latin typeface="+mn-lt"/>
                <a:sym typeface="+mn-ea"/>
              </a:rPr>
              <a:t>①</a:t>
            </a:r>
            <a:r>
              <a:rPr lang="zh-CN" altLang="en-US" dirty="0">
                <a:effectLst/>
                <a:latin typeface="+mn-lt"/>
                <a:sym typeface="+mn-ea"/>
              </a:rPr>
              <a:t>周＞钱＞孙；</a:t>
            </a:r>
            <a:r>
              <a:rPr lang="en-US" altLang="en-US" dirty="0">
                <a:effectLst/>
                <a:latin typeface="+mn-lt"/>
                <a:sym typeface="+mn-ea"/>
              </a:rPr>
              <a:t>②</a:t>
            </a:r>
            <a:r>
              <a:rPr lang="zh-CN" altLang="en-US" dirty="0">
                <a:effectLst/>
                <a:latin typeface="+mn-lt"/>
                <a:sym typeface="+mn-ea"/>
              </a:rPr>
              <a:t>孙＞钱＞周。</a:t>
            </a:r>
            <a:endParaRPr lang="zh-CN" altLang="en-US" kern="1200" dirty="0">
              <a:solidFill>
                <a:schemeClr val="tx1"/>
              </a:solidFill>
              <a:effectLst/>
              <a:latin typeface="+mn-lt"/>
            </a:endParaRPr>
          </a:p>
          <a:p>
            <a:r>
              <a:rPr lang="zh-CN" altLang="en-US" dirty="0">
                <a:effectLst/>
                <a:latin typeface="+mn-lt"/>
                <a:sym typeface="+mn-ea"/>
              </a:rPr>
              <a:t>根据条件（</a:t>
            </a:r>
            <a:r>
              <a:rPr lang="en-US" altLang="zh-CN" dirty="0">
                <a:effectLst/>
                <a:latin typeface="+mn-lt"/>
                <a:sym typeface="+mn-ea"/>
              </a:rPr>
              <a:t>2</a:t>
            </a:r>
            <a:r>
              <a:rPr lang="zh-CN" altLang="en-US" dirty="0">
                <a:effectLst/>
                <a:latin typeface="+mn-lt"/>
                <a:sym typeface="+mn-ea"/>
              </a:rPr>
              <a:t>）可知：李＞孙；吴＞周。</a:t>
            </a:r>
            <a:endParaRPr lang="zh-CN" altLang="en-US" kern="1200" dirty="0">
              <a:solidFill>
                <a:schemeClr val="tx1"/>
              </a:solidFill>
              <a:effectLst/>
              <a:latin typeface="+mn-lt"/>
            </a:endParaRPr>
          </a:p>
          <a:p>
            <a:r>
              <a:rPr lang="zh-CN" altLang="en-US" dirty="0">
                <a:effectLst/>
                <a:latin typeface="+mn-lt"/>
                <a:sym typeface="+mn-ea"/>
              </a:rPr>
              <a:t>根据条件（</a:t>
            </a:r>
            <a:r>
              <a:rPr lang="en-US" altLang="zh-CN" dirty="0">
                <a:effectLst/>
                <a:latin typeface="+mn-lt"/>
                <a:sym typeface="+mn-ea"/>
              </a:rPr>
              <a:t>3</a:t>
            </a:r>
            <a:r>
              <a:rPr lang="zh-CN" altLang="en-US" dirty="0">
                <a:effectLst/>
                <a:latin typeface="+mn-lt"/>
                <a:sym typeface="+mn-ea"/>
              </a:rPr>
              <a:t>）可知：周</a:t>
            </a:r>
            <a:r>
              <a:rPr lang="en-US" altLang="zh-CN" dirty="0">
                <a:effectLst/>
                <a:latin typeface="+mn-lt"/>
                <a:sym typeface="+mn-ea"/>
              </a:rPr>
              <a:t>+</a:t>
            </a:r>
            <a:r>
              <a:rPr lang="zh-CN" altLang="en-US" dirty="0">
                <a:effectLst/>
                <a:latin typeface="+mn-lt"/>
                <a:sym typeface="+mn-ea"/>
              </a:rPr>
              <a:t>钱</a:t>
            </a:r>
            <a:r>
              <a:rPr lang="en-US" altLang="zh-CN" dirty="0">
                <a:effectLst/>
                <a:latin typeface="+mn-lt"/>
                <a:sym typeface="+mn-ea"/>
              </a:rPr>
              <a:t>=</a:t>
            </a:r>
            <a:r>
              <a:rPr lang="zh-CN" altLang="en-US" dirty="0">
                <a:effectLst/>
                <a:latin typeface="+mn-lt"/>
                <a:sym typeface="+mn-ea"/>
              </a:rPr>
              <a:t>赵</a:t>
            </a:r>
            <a:r>
              <a:rPr lang="en-US" altLang="zh-CN" dirty="0">
                <a:effectLst/>
                <a:latin typeface="+mn-lt"/>
                <a:sym typeface="+mn-ea"/>
              </a:rPr>
              <a:t>+</a:t>
            </a:r>
            <a:r>
              <a:rPr lang="zh-CN" altLang="en-US" dirty="0">
                <a:effectLst/>
                <a:latin typeface="+mn-lt"/>
                <a:sym typeface="+mn-ea"/>
              </a:rPr>
              <a:t>吴，结合吴＞周得：钱＞赵。</a:t>
            </a:r>
            <a:endParaRPr lang="zh-CN" altLang="en-US" kern="1200" dirty="0">
              <a:solidFill>
                <a:schemeClr val="tx1"/>
              </a:solidFill>
              <a:effectLst/>
              <a:latin typeface="+mn-lt"/>
            </a:endParaRPr>
          </a:p>
          <a:p>
            <a:r>
              <a:rPr lang="zh-CN" altLang="en-US" dirty="0">
                <a:effectLst/>
                <a:latin typeface="+mn-lt"/>
                <a:sym typeface="+mn-ea"/>
              </a:rPr>
              <a:t>根据条件（</a:t>
            </a:r>
            <a:r>
              <a:rPr lang="en-US" altLang="zh-CN" dirty="0">
                <a:effectLst/>
                <a:latin typeface="+mn-lt"/>
                <a:sym typeface="+mn-ea"/>
              </a:rPr>
              <a:t>4</a:t>
            </a:r>
            <a:r>
              <a:rPr lang="zh-CN" altLang="en-US" dirty="0">
                <a:effectLst/>
                <a:latin typeface="+mn-lt"/>
                <a:sym typeface="+mn-ea"/>
              </a:rPr>
              <a:t>）可知：吴、钱、孙三人成绩由高到低有</a:t>
            </a:r>
            <a:r>
              <a:rPr lang="en-US" altLang="zh-CN" dirty="0">
                <a:effectLst/>
                <a:latin typeface="+mn-lt"/>
                <a:sym typeface="+mn-ea"/>
              </a:rPr>
              <a:t>2</a:t>
            </a:r>
            <a:r>
              <a:rPr lang="zh-CN" altLang="en-US" dirty="0">
                <a:effectLst/>
                <a:latin typeface="+mn-lt"/>
                <a:sym typeface="+mn-ea"/>
              </a:rPr>
              <a:t>种情况：</a:t>
            </a:r>
            <a:r>
              <a:rPr lang="en-US" altLang="en-US" dirty="0">
                <a:effectLst/>
                <a:latin typeface="+mn-lt"/>
                <a:sym typeface="+mn-ea"/>
              </a:rPr>
              <a:t>①</a:t>
            </a:r>
            <a:r>
              <a:rPr lang="zh-CN" altLang="en-US" dirty="0">
                <a:effectLst/>
                <a:latin typeface="+mn-lt"/>
                <a:sym typeface="+mn-ea"/>
              </a:rPr>
              <a:t>钱＞吴＞孙；</a:t>
            </a:r>
            <a:r>
              <a:rPr lang="en-US" altLang="en-US" dirty="0">
                <a:effectLst/>
                <a:latin typeface="+mn-lt"/>
                <a:sym typeface="+mn-ea"/>
              </a:rPr>
              <a:t>②</a:t>
            </a:r>
            <a:r>
              <a:rPr lang="zh-CN" altLang="en-US" dirty="0">
                <a:effectLst/>
                <a:latin typeface="+mn-lt"/>
                <a:sym typeface="+mn-ea"/>
              </a:rPr>
              <a:t>孙＞吴＞钱。</a:t>
            </a:r>
            <a:endParaRPr lang="zh-CN" altLang="en-US" kern="1200" dirty="0">
              <a:solidFill>
                <a:schemeClr val="tx1"/>
              </a:solidFill>
              <a:effectLst/>
              <a:latin typeface="+mn-lt"/>
            </a:endParaRPr>
          </a:p>
          <a:p>
            <a:r>
              <a:rPr lang="zh-CN" altLang="en-US" dirty="0">
                <a:effectLst/>
                <a:latin typeface="+mn-lt"/>
                <a:sym typeface="+mn-ea"/>
              </a:rPr>
              <a:t>假设（</a:t>
            </a:r>
            <a:r>
              <a:rPr lang="en-US" altLang="zh-CN" dirty="0">
                <a:effectLst/>
                <a:latin typeface="+mn-lt"/>
                <a:sym typeface="+mn-ea"/>
              </a:rPr>
              <a:t>1</a:t>
            </a:r>
            <a:r>
              <a:rPr lang="zh-CN" altLang="en-US" dirty="0">
                <a:effectLst/>
                <a:latin typeface="+mn-lt"/>
                <a:sym typeface="+mn-ea"/>
              </a:rPr>
              <a:t>）是</a:t>
            </a:r>
            <a:r>
              <a:rPr lang="en-US" altLang="en-US" dirty="0">
                <a:effectLst/>
                <a:latin typeface="+mn-lt"/>
                <a:sym typeface="+mn-ea"/>
              </a:rPr>
              <a:t>①</a:t>
            </a:r>
            <a:r>
              <a:rPr lang="zh-CN" altLang="en-US" dirty="0">
                <a:effectLst/>
                <a:latin typeface="+mn-lt"/>
                <a:sym typeface="+mn-ea"/>
              </a:rPr>
              <a:t>周＞钱＞孙，根据吴＞周，即：吴＞周＞钱＞孙。那么与（</a:t>
            </a:r>
            <a:r>
              <a:rPr lang="en-US" altLang="zh-CN" dirty="0">
                <a:effectLst/>
                <a:latin typeface="+mn-lt"/>
                <a:sym typeface="+mn-ea"/>
              </a:rPr>
              <a:t>4</a:t>
            </a:r>
            <a:r>
              <a:rPr lang="zh-CN" altLang="en-US" dirty="0">
                <a:effectLst/>
                <a:latin typeface="+mn-lt"/>
                <a:sym typeface="+mn-ea"/>
              </a:rPr>
              <a:t>）吴的成绩在钱和孙之间相矛盾。所以（</a:t>
            </a:r>
            <a:r>
              <a:rPr lang="en-US" altLang="zh-CN" dirty="0">
                <a:effectLst/>
                <a:latin typeface="+mn-lt"/>
                <a:sym typeface="+mn-ea"/>
              </a:rPr>
              <a:t>1</a:t>
            </a:r>
            <a:r>
              <a:rPr lang="zh-CN" altLang="en-US" dirty="0">
                <a:effectLst/>
                <a:latin typeface="+mn-lt"/>
                <a:sym typeface="+mn-ea"/>
              </a:rPr>
              <a:t>）是</a:t>
            </a:r>
            <a:r>
              <a:rPr lang="en-US" altLang="en-US" dirty="0">
                <a:effectLst/>
                <a:latin typeface="+mn-lt"/>
                <a:sym typeface="+mn-ea"/>
              </a:rPr>
              <a:t>②</a:t>
            </a:r>
            <a:r>
              <a:rPr lang="zh-CN" altLang="en-US" dirty="0">
                <a:effectLst/>
                <a:latin typeface="+mn-lt"/>
                <a:sym typeface="+mn-ea"/>
              </a:rPr>
              <a:t>孙＞钱＞周。此时根据（</a:t>
            </a:r>
            <a:r>
              <a:rPr lang="en-US" altLang="zh-CN" dirty="0">
                <a:effectLst/>
                <a:latin typeface="+mn-lt"/>
                <a:sym typeface="+mn-ea"/>
              </a:rPr>
              <a:t>4</a:t>
            </a:r>
            <a:r>
              <a:rPr lang="zh-CN" altLang="en-US" dirty="0">
                <a:effectLst/>
                <a:latin typeface="+mn-lt"/>
                <a:sym typeface="+mn-ea"/>
              </a:rPr>
              <a:t>）吴的成绩在钱和孙之间，所以孙＞吴＞钱＞周。根据（</a:t>
            </a:r>
            <a:r>
              <a:rPr lang="en-US" altLang="zh-CN" dirty="0">
                <a:effectLst/>
                <a:latin typeface="+mn-lt"/>
                <a:sym typeface="+mn-ea"/>
              </a:rPr>
              <a:t>2</a:t>
            </a:r>
            <a:r>
              <a:rPr lang="zh-CN" altLang="en-US" dirty="0">
                <a:effectLst/>
                <a:latin typeface="+mn-lt"/>
                <a:sym typeface="+mn-ea"/>
              </a:rPr>
              <a:t>）李＞孙，所以李＞孙＞吴＞钱＞周。作弊者的成绩高于吴，排在作弊者后面一定会提升，所以吴后面的钱、周一定会影响，排除</a:t>
            </a:r>
            <a:r>
              <a:rPr lang="en-US" altLang="zh-CN" dirty="0">
                <a:effectLst/>
                <a:latin typeface="+mn-lt"/>
                <a:sym typeface="+mn-ea"/>
              </a:rPr>
              <a:t>B</a:t>
            </a:r>
            <a:r>
              <a:rPr lang="zh-CN" altLang="en-US" dirty="0">
                <a:effectLst/>
                <a:latin typeface="+mn-lt"/>
                <a:sym typeface="+mn-ea"/>
              </a:rPr>
              <a:t>项。</a:t>
            </a:r>
            <a:endParaRPr lang="zh-CN" altLang="en-US" kern="1200" dirty="0">
              <a:solidFill>
                <a:schemeClr val="tx1"/>
              </a:solidFill>
              <a:effectLst/>
              <a:latin typeface="+mn-lt"/>
            </a:endParaRPr>
          </a:p>
          <a:p>
            <a:r>
              <a:rPr lang="zh-CN" altLang="en-US" dirty="0">
                <a:effectLst/>
                <a:latin typeface="+mn-lt"/>
                <a:sym typeface="+mn-ea"/>
              </a:rPr>
              <a:t>故正确答案为</a:t>
            </a:r>
            <a:r>
              <a:rPr lang="en-US" altLang="zh-CN" dirty="0">
                <a:effectLst/>
                <a:latin typeface="+mn-lt"/>
                <a:sym typeface="+mn-ea"/>
              </a:rPr>
              <a:t>D</a:t>
            </a:r>
            <a:r>
              <a:rPr lang="zh-CN" altLang="en-US" dirty="0">
                <a:effectLst/>
                <a:latin typeface="+mn-lt"/>
                <a:sym typeface="+mn-ea"/>
              </a:rPr>
              <a:t>。</a:t>
            </a:r>
            <a:endParaRPr lang="zh-CN" altLang="en-US"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31.</a:t>
            </a:r>
            <a:r>
              <a:rPr lang="zh-CN" altLang="en-US" dirty="0">
                <a:effectLst/>
                <a:latin typeface="+mn-lt"/>
                <a:sym typeface="+mn-ea"/>
              </a:rPr>
              <a:t>答案：</a:t>
            </a:r>
            <a:r>
              <a:rPr lang="en-US" altLang="zh-CN" dirty="0">
                <a:effectLst/>
                <a:latin typeface="+mn-lt"/>
                <a:sym typeface="+mn-ea"/>
              </a:rPr>
              <a:t>C</a:t>
            </a:r>
            <a:endParaRPr lang="en-US" altLang="zh-CN" kern="1200" dirty="0">
              <a:solidFill>
                <a:schemeClr val="tx1"/>
              </a:solidFill>
              <a:effectLst/>
              <a:latin typeface="+mn-lt"/>
            </a:endParaRPr>
          </a:p>
          <a:p>
            <a:r>
              <a:rPr lang="zh-CN" altLang="en-US" dirty="0">
                <a:effectLst/>
                <a:latin typeface="+mn-lt"/>
                <a:sym typeface="+mn-ea"/>
              </a:rPr>
              <a:t>解析：</a:t>
            </a:r>
            <a:endParaRPr lang="zh-CN" altLang="en-US" kern="1200" dirty="0">
              <a:solidFill>
                <a:schemeClr val="tx1"/>
              </a:solidFill>
              <a:effectLst/>
              <a:latin typeface="+mn-lt"/>
            </a:endParaRPr>
          </a:p>
          <a:p>
            <a:r>
              <a:rPr lang="en-US" altLang="en-US" dirty="0">
                <a:effectLst/>
                <a:latin typeface="+mn-lt"/>
                <a:sym typeface="+mn-ea"/>
              </a:rPr>
              <a:t>①</a:t>
            </a:r>
            <a:r>
              <a:rPr lang="zh-CN" altLang="en-US" dirty="0">
                <a:effectLst/>
                <a:latin typeface="+mn-lt"/>
                <a:sym typeface="+mn-ea"/>
              </a:rPr>
              <a:t>主动收入：需持续付出劳动才能得到的固定收入，必须花费时间和精力。</a:t>
            </a:r>
            <a:endParaRPr lang="zh-CN" altLang="en-US" kern="1200" dirty="0">
              <a:solidFill>
                <a:schemeClr val="tx1"/>
              </a:solidFill>
              <a:effectLst/>
              <a:latin typeface="+mn-lt"/>
            </a:endParaRPr>
          </a:p>
          <a:p>
            <a:r>
              <a:rPr lang="en-US" altLang="en-US" dirty="0">
                <a:effectLst/>
                <a:latin typeface="+mn-lt"/>
                <a:sym typeface="+mn-ea"/>
              </a:rPr>
              <a:t>②</a:t>
            </a:r>
            <a:r>
              <a:rPr lang="zh-CN" altLang="en-US" dirty="0">
                <a:effectLst/>
                <a:latin typeface="+mn-lt"/>
                <a:sym typeface="+mn-ea"/>
              </a:rPr>
              <a:t>被动收入：不需要花费多少时间精力就可以自动获得的收入。</a:t>
            </a:r>
            <a:endParaRPr lang="zh-CN" altLang="en-US" kern="1200" dirty="0">
              <a:solidFill>
                <a:schemeClr val="tx1"/>
              </a:solidFill>
              <a:effectLst/>
              <a:latin typeface="+mn-lt"/>
            </a:endParaRPr>
          </a:p>
          <a:p>
            <a:r>
              <a:rPr lang="en-US" altLang="zh-CN" dirty="0">
                <a:effectLst/>
                <a:latin typeface="+mn-lt"/>
                <a:sym typeface="+mn-ea"/>
              </a:rPr>
              <a:t>A</a:t>
            </a:r>
            <a:r>
              <a:rPr lang="zh-CN" altLang="en-US" dirty="0">
                <a:effectLst/>
                <a:latin typeface="+mn-lt"/>
                <a:sym typeface="+mn-ea"/>
              </a:rPr>
              <a:t>项：每月的薪水需要花费时间和精力才能获得（符合</a:t>
            </a:r>
            <a:r>
              <a:rPr lang="en-US" altLang="zh-CN" dirty="0">
                <a:effectLst/>
                <a:latin typeface="+mn-lt"/>
                <a:sym typeface="+mn-ea"/>
              </a:rPr>
              <a:t>“</a:t>
            </a:r>
            <a:r>
              <a:rPr lang="zh-CN" altLang="en-US" dirty="0">
                <a:effectLst/>
                <a:latin typeface="+mn-lt"/>
                <a:sym typeface="+mn-ea"/>
              </a:rPr>
              <a:t>主动收入</a:t>
            </a:r>
            <a:r>
              <a:rPr lang="en-US" altLang="zh-CN" dirty="0">
                <a:effectLst/>
                <a:latin typeface="+mn-lt"/>
                <a:sym typeface="+mn-ea"/>
              </a:rPr>
              <a:t>”</a:t>
            </a:r>
            <a:r>
              <a:rPr lang="zh-CN" altLang="en-US" dirty="0">
                <a:effectLst/>
                <a:latin typeface="+mn-lt"/>
                <a:sym typeface="+mn-ea"/>
              </a:rPr>
              <a:t>定义），判断正确，排除。</a:t>
            </a:r>
            <a:endParaRPr lang="zh-CN" altLang="en-US" kern="1200" dirty="0">
              <a:solidFill>
                <a:schemeClr val="tx1"/>
              </a:solidFill>
              <a:effectLst/>
              <a:latin typeface="+mn-lt"/>
            </a:endParaRPr>
          </a:p>
          <a:p>
            <a:r>
              <a:rPr lang="en-US" altLang="zh-CN" dirty="0">
                <a:effectLst/>
                <a:latin typeface="+mn-lt"/>
                <a:sym typeface="+mn-ea"/>
              </a:rPr>
              <a:t>B</a:t>
            </a:r>
            <a:r>
              <a:rPr lang="zh-CN" altLang="en-US" dirty="0">
                <a:effectLst/>
                <a:latin typeface="+mn-lt"/>
                <a:sym typeface="+mn-ea"/>
              </a:rPr>
              <a:t>项：每月收的房租无需花费太多时间和精力即可获得（符合</a:t>
            </a:r>
            <a:r>
              <a:rPr lang="en-US" altLang="zh-CN" dirty="0">
                <a:effectLst/>
                <a:latin typeface="+mn-lt"/>
                <a:sym typeface="+mn-ea"/>
              </a:rPr>
              <a:t>“</a:t>
            </a:r>
            <a:r>
              <a:rPr lang="zh-CN" altLang="en-US" dirty="0">
                <a:effectLst/>
                <a:latin typeface="+mn-lt"/>
                <a:sym typeface="+mn-ea"/>
              </a:rPr>
              <a:t>被动收入</a:t>
            </a:r>
            <a:r>
              <a:rPr lang="en-US" altLang="zh-CN" dirty="0">
                <a:effectLst/>
                <a:latin typeface="+mn-lt"/>
                <a:sym typeface="+mn-ea"/>
              </a:rPr>
              <a:t>”</a:t>
            </a:r>
            <a:r>
              <a:rPr lang="zh-CN" altLang="en-US" dirty="0">
                <a:effectLst/>
                <a:latin typeface="+mn-lt"/>
                <a:sym typeface="+mn-ea"/>
              </a:rPr>
              <a:t>定义），判断正确，排除。</a:t>
            </a:r>
            <a:endParaRPr lang="zh-CN" altLang="en-US" kern="1200" dirty="0">
              <a:solidFill>
                <a:schemeClr val="tx1"/>
              </a:solidFill>
              <a:effectLst/>
              <a:latin typeface="+mn-lt"/>
            </a:endParaRPr>
          </a:p>
          <a:p>
            <a:r>
              <a:rPr lang="en-US" altLang="zh-CN" dirty="0">
                <a:effectLst/>
                <a:latin typeface="+mn-lt"/>
                <a:sym typeface="+mn-ea"/>
              </a:rPr>
              <a:t>C</a:t>
            </a:r>
            <a:r>
              <a:rPr lang="zh-CN" altLang="en-US" dirty="0">
                <a:effectLst/>
                <a:latin typeface="+mn-lt"/>
                <a:sym typeface="+mn-ea"/>
              </a:rPr>
              <a:t>项：每年的存款利息无需花费时间和精力即可获得（应属于</a:t>
            </a:r>
            <a:r>
              <a:rPr lang="en-US" altLang="zh-CN" dirty="0">
                <a:effectLst/>
                <a:latin typeface="+mn-lt"/>
                <a:sym typeface="+mn-ea"/>
              </a:rPr>
              <a:t>“</a:t>
            </a:r>
            <a:r>
              <a:rPr lang="zh-CN" altLang="en-US" dirty="0">
                <a:effectLst/>
                <a:latin typeface="+mn-lt"/>
                <a:sym typeface="+mn-ea"/>
              </a:rPr>
              <a:t>被动收入</a:t>
            </a:r>
            <a:r>
              <a:rPr lang="en-US" altLang="zh-CN" dirty="0">
                <a:effectLst/>
                <a:latin typeface="+mn-lt"/>
                <a:sym typeface="+mn-ea"/>
              </a:rPr>
              <a:t>”</a:t>
            </a:r>
            <a:r>
              <a:rPr lang="zh-CN" altLang="en-US" dirty="0">
                <a:effectLst/>
                <a:latin typeface="+mn-lt"/>
                <a:sym typeface="+mn-ea"/>
              </a:rPr>
              <a:t>，不符合</a:t>
            </a:r>
            <a:r>
              <a:rPr lang="en-US" altLang="zh-CN" dirty="0">
                <a:effectLst/>
                <a:latin typeface="+mn-lt"/>
                <a:sym typeface="+mn-ea"/>
              </a:rPr>
              <a:t>“</a:t>
            </a:r>
            <a:r>
              <a:rPr lang="zh-CN" altLang="en-US" dirty="0">
                <a:effectLst/>
                <a:latin typeface="+mn-lt"/>
                <a:sym typeface="+mn-ea"/>
              </a:rPr>
              <a:t>主动收入</a:t>
            </a:r>
            <a:r>
              <a:rPr lang="en-US" altLang="zh-CN" dirty="0">
                <a:effectLst/>
                <a:latin typeface="+mn-lt"/>
                <a:sym typeface="+mn-ea"/>
              </a:rPr>
              <a:t>”</a:t>
            </a:r>
            <a:r>
              <a:rPr lang="zh-CN" altLang="en-US" dirty="0">
                <a:effectLst/>
                <a:latin typeface="+mn-lt"/>
                <a:sym typeface="+mn-ea"/>
              </a:rPr>
              <a:t>定义），判断错误，当选。</a:t>
            </a:r>
            <a:endParaRPr lang="zh-CN" altLang="en-US" kern="1200" dirty="0">
              <a:solidFill>
                <a:schemeClr val="tx1"/>
              </a:solidFill>
              <a:effectLst/>
              <a:latin typeface="+mn-lt"/>
            </a:endParaRPr>
          </a:p>
          <a:p>
            <a:r>
              <a:rPr lang="en-US" altLang="zh-CN" dirty="0">
                <a:effectLst/>
                <a:latin typeface="+mn-lt"/>
                <a:sym typeface="+mn-ea"/>
              </a:rPr>
              <a:t>D</a:t>
            </a:r>
            <a:r>
              <a:rPr lang="zh-CN" altLang="en-US" dirty="0">
                <a:effectLst/>
                <a:latin typeface="+mn-lt"/>
                <a:sym typeface="+mn-ea"/>
              </a:rPr>
              <a:t>项：每月的退休金无需花费时间和精力即可获得（符合</a:t>
            </a:r>
            <a:r>
              <a:rPr lang="en-US" altLang="zh-CN" dirty="0">
                <a:effectLst/>
                <a:latin typeface="+mn-lt"/>
                <a:sym typeface="+mn-ea"/>
              </a:rPr>
              <a:t>“</a:t>
            </a:r>
            <a:r>
              <a:rPr lang="zh-CN" altLang="en-US" dirty="0">
                <a:effectLst/>
                <a:latin typeface="+mn-lt"/>
                <a:sym typeface="+mn-ea"/>
              </a:rPr>
              <a:t>被动收入</a:t>
            </a:r>
            <a:r>
              <a:rPr lang="en-US" altLang="zh-CN" dirty="0">
                <a:effectLst/>
                <a:latin typeface="+mn-lt"/>
                <a:sym typeface="+mn-ea"/>
              </a:rPr>
              <a:t>”</a:t>
            </a:r>
            <a:r>
              <a:rPr lang="zh-CN" altLang="en-US" dirty="0">
                <a:effectLst/>
                <a:latin typeface="+mn-lt"/>
                <a:sym typeface="+mn-ea"/>
              </a:rPr>
              <a:t>定义），判断正确，排除。</a:t>
            </a:r>
            <a:endParaRPr lang="zh-CN" altLang="en-US" kern="1200" dirty="0">
              <a:solidFill>
                <a:schemeClr val="tx1"/>
              </a:solidFill>
              <a:effectLst/>
              <a:latin typeface="+mn-lt"/>
            </a:endParaRPr>
          </a:p>
          <a:p>
            <a:r>
              <a:rPr lang="zh-CN" altLang="en-US" dirty="0">
                <a:effectLst/>
                <a:latin typeface="+mn-lt"/>
                <a:sym typeface="+mn-ea"/>
              </a:rPr>
              <a:t>故正确答案为</a:t>
            </a:r>
            <a:r>
              <a:rPr lang="en-US" altLang="zh-CN" dirty="0">
                <a:effectLst/>
                <a:latin typeface="+mn-lt"/>
                <a:sym typeface="+mn-ea"/>
              </a:rPr>
              <a:t>C</a:t>
            </a:r>
            <a:r>
              <a:rPr lang="zh-CN" altLang="en-US" dirty="0">
                <a:effectLst/>
                <a:latin typeface="+mn-lt"/>
                <a:sym typeface="+mn-ea"/>
              </a:rPr>
              <a:t>。</a:t>
            </a:r>
            <a:endParaRPr lang="zh-CN" altLang="en-US"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32.</a:t>
            </a:r>
            <a:r>
              <a:rPr lang="zh-CN" altLang="en-US" dirty="0">
                <a:effectLst/>
                <a:latin typeface="+mn-lt"/>
                <a:sym typeface="+mn-ea"/>
              </a:rPr>
              <a:t>答案：</a:t>
            </a:r>
            <a:r>
              <a:rPr lang="en-US" altLang="zh-CN" dirty="0">
                <a:effectLst/>
                <a:latin typeface="+mn-lt"/>
                <a:sym typeface="+mn-ea"/>
              </a:rPr>
              <a:t>A</a:t>
            </a:r>
            <a:endParaRPr lang="en-US" altLang="zh-CN" kern="1200" dirty="0">
              <a:solidFill>
                <a:schemeClr val="tx1"/>
              </a:solidFill>
              <a:effectLst/>
              <a:latin typeface="+mn-lt"/>
            </a:endParaRPr>
          </a:p>
          <a:p>
            <a:r>
              <a:rPr lang="zh-CN" altLang="en-US" dirty="0">
                <a:effectLst/>
                <a:latin typeface="+mn-lt"/>
                <a:sym typeface="+mn-ea"/>
              </a:rPr>
              <a:t>解析：</a:t>
            </a:r>
            <a:r>
              <a:rPr lang="en-US" altLang="en-US" dirty="0">
                <a:effectLst/>
                <a:latin typeface="+mn-lt"/>
                <a:sym typeface="+mn-ea"/>
              </a:rPr>
              <a:t>①</a:t>
            </a:r>
            <a:r>
              <a:rPr lang="zh-CN" altLang="en-US" dirty="0">
                <a:effectLst/>
                <a:latin typeface="+mn-lt"/>
                <a:sym typeface="+mn-ea"/>
              </a:rPr>
              <a:t>以参与和观看体育运动为目的，或以体育为主要内容的旅游活动形式。</a:t>
            </a:r>
            <a:endParaRPr lang="zh-CN" altLang="en-US" kern="1200" dirty="0">
              <a:solidFill>
                <a:schemeClr val="tx1"/>
              </a:solidFill>
              <a:effectLst/>
              <a:latin typeface="+mn-lt"/>
            </a:endParaRPr>
          </a:p>
          <a:p>
            <a:r>
              <a:rPr lang="en-US" altLang="en-US" dirty="0">
                <a:effectLst/>
                <a:latin typeface="+mn-lt"/>
                <a:sym typeface="+mn-ea"/>
              </a:rPr>
              <a:t>②</a:t>
            </a:r>
            <a:r>
              <a:rPr lang="zh-CN" altLang="en-US" dirty="0">
                <a:effectLst/>
                <a:latin typeface="+mn-lt"/>
                <a:sym typeface="+mn-ea"/>
              </a:rPr>
              <a:t>具有娱乐性、健身性、参与性及观赏性。</a:t>
            </a:r>
            <a:endParaRPr lang="zh-CN" altLang="en-US" kern="1200" dirty="0">
              <a:solidFill>
                <a:schemeClr val="tx1"/>
              </a:solidFill>
              <a:effectLst/>
              <a:latin typeface="+mn-lt"/>
            </a:endParaRPr>
          </a:p>
          <a:p>
            <a:r>
              <a:rPr lang="en-US" altLang="zh-CN" dirty="0">
                <a:effectLst/>
                <a:latin typeface="+mn-lt"/>
                <a:sym typeface="+mn-ea"/>
              </a:rPr>
              <a:t>A</a:t>
            </a:r>
            <a:r>
              <a:rPr lang="zh-CN" altLang="en-US" dirty="0">
                <a:effectLst/>
                <a:latin typeface="+mn-lt"/>
                <a:sym typeface="+mn-ea"/>
              </a:rPr>
              <a:t>项：各国游客因奥运赛事而来，欣赏赛事同时领略北京风土人情（符合</a:t>
            </a:r>
            <a:r>
              <a:rPr lang="en-US" altLang="zh-CN" dirty="0">
                <a:effectLst/>
                <a:latin typeface="+mn-lt"/>
                <a:sym typeface="+mn-ea"/>
              </a:rPr>
              <a:t>“</a:t>
            </a:r>
            <a:r>
              <a:rPr lang="zh-CN" altLang="en-US" dirty="0">
                <a:effectLst/>
                <a:latin typeface="+mn-lt"/>
                <a:sym typeface="+mn-ea"/>
              </a:rPr>
              <a:t>以观看体育运动为目的的旅游活动</a:t>
            </a:r>
            <a:r>
              <a:rPr lang="en-US" altLang="zh-CN" dirty="0">
                <a:effectLst/>
                <a:latin typeface="+mn-lt"/>
                <a:sym typeface="+mn-ea"/>
              </a:rPr>
              <a:t>”</a:t>
            </a:r>
            <a:r>
              <a:rPr lang="zh-CN" altLang="en-US" dirty="0">
                <a:effectLst/>
                <a:latin typeface="+mn-lt"/>
                <a:sym typeface="+mn-ea"/>
              </a:rPr>
              <a:t>），符合关键信息，当选。</a:t>
            </a:r>
            <a:endParaRPr lang="zh-CN" altLang="en-US" kern="1200" dirty="0">
              <a:solidFill>
                <a:schemeClr val="tx1"/>
              </a:solidFill>
              <a:effectLst/>
              <a:latin typeface="+mn-lt"/>
            </a:endParaRPr>
          </a:p>
          <a:p>
            <a:r>
              <a:rPr lang="en-US" altLang="zh-CN" dirty="0">
                <a:effectLst/>
                <a:latin typeface="+mn-lt"/>
                <a:sym typeface="+mn-ea"/>
              </a:rPr>
              <a:t>B</a:t>
            </a:r>
            <a:r>
              <a:rPr lang="zh-CN" altLang="en-US" dirty="0">
                <a:effectLst/>
                <a:latin typeface="+mn-lt"/>
                <a:sym typeface="+mn-ea"/>
              </a:rPr>
              <a:t>项：小镇大排档边看球边撸串（主要目的是撸串，非旅游活动），不符合关键信息，排除。</a:t>
            </a:r>
            <a:endParaRPr lang="zh-CN" altLang="en-US" kern="1200" dirty="0">
              <a:solidFill>
                <a:schemeClr val="tx1"/>
              </a:solidFill>
              <a:effectLst/>
              <a:latin typeface="+mn-lt"/>
            </a:endParaRPr>
          </a:p>
          <a:p>
            <a:r>
              <a:rPr lang="en-US" altLang="zh-CN" dirty="0">
                <a:effectLst/>
                <a:latin typeface="+mn-lt"/>
                <a:sym typeface="+mn-ea"/>
              </a:rPr>
              <a:t>C</a:t>
            </a:r>
            <a:r>
              <a:rPr lang="zh-CN" altLang="en-US" dirty="0">
                <a:effectLst/>
                <a:latin typeface="+mn-lt"/>
                <a:sym typeface="+mn-ea"/>
              </a:rPr>
              <a:t>项：小李飞往巴西只为偶遇球星（目的非参与或观看体育运动），不符合关键信息，排除。</a:t>
            </a:r>
            <a:endParaRPr lang="zh-CN" altLang="en-US" kern="1200" dirty="0">
              <a:solidFill>
                <a:schemeClr val="tx1"/>
              </a:solidFill>
              <a:effectLst/>
              <a:latin typeface="+mn-lt"/>
            </a:endParaRPr>
          </a:p>
          <a:p>
            <a:r>
              <a:rPr lang="en-US" altLang="zh-CN" dirty="0">
                <a:effectLst/>
                <a:latin typeface="+mn-lt"/>
                <a:sym typeface="+mn-ea"/>
              </a:rPr>
              <a:t>D</a:t>
            </a:r>
            <a:r>
              <a:rPr lang="zh-CN" altLang="en-US" dirty="0">
                <a:effectLst/>
                <a:latin typeface="+mn-lt"/>
                <a:sym typeface="+mn-ea"/>
              </a:rPr>
              <a:t>项：各地民众线上观看比赛（非实地旅游活动），不符合关键信息，排除。</a:t>
            </a:r>
            <a:endParaRPr lang="zh-CN" altLang="en-US" kern="1200" dirty="0">
              <a:solidFill>
                <a:schemeClr val="tx1"/>
              </a:solidFill>
              <a:effectLst/>
              <a:latin typeface="+mn-lt"/>
            </a:endParaRPr>
          </a:p>
          <a:p>
            <a:r>
              <a:rPr lang="zh-CN" altLang="en-US" dirty="0">
                <a:effectLst/>
                <a:latin typeface="+mn-lt"/>
                <a:sym typeface="+mn-ea"/>
              </a:rPr>
              <a:t>故正确答案为</a:t>
            </a:r>
            <a:r>
              <a:rPr lang="en-US" altLang="zh-CN" dirty="0">
                <a:effectLst/>
                <a:latin typeface="+mn-lt"/>
                <a:sym typeface="+mn-ea"/>
              </a:rPr>
              <a:t>A</a:t>
            </a:r>
            <a:r>
              <a:rPr lang="zh-CN" altLang="en-US" dirty="0">
                <a:effectLst/>
                <a:latin typeface="+mn-lt"/>
                <a:sym typeface="+mn-ea"/>
              </a:rPr>
              <a:t>。</a:t>
            </a:r>
            <a:endParaRPr lang="zh-CN" altLang="en-US"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33.</a:t>
            </a:r>
            <a:r>
              <a:rPr lang="zh-CN" altLang="en-US" dirty="0">
                <a:effectLst/>
                <a:latin typeface="+mn-lt"/>
                <a:sym typeface="+mn-ea"/>
              </a:rPr>
              <a:t>答案：</a:t>
            </a:r>
            <a:r>
              <a:rPr lang="en-US" altLang="zh-CN" dirty="0">
                <a:effectLst/>
                <a:latin typeface="+mn-lt"/>
                <a:sym typeface="+mn-ea"/>
              </a:rPr>
              <a:t>B</a:t>
            </a:r>
            <a:endParaRPr lang="en-US" altLang="zh-CN" kern="1200" dirty="0">
              <a:solidFill>
                <a:schemeClr val="tx1"/>
              </a:solidFill>
              <a:effectLst/>
              <a:latin typeface="+mn-lt"/>
            </a:endParaRPr>
          </a:p>
          <a:p>
            <a:r>
              <a:rPr lang="zh-CN" altLang="en-US" dirty="0">
                <a:effectLst/>
                <a:latin typeface="+mn-lt"/>
                <a:sym typeface="+mn-ea"/>
              </a:rPr>
              <a:t>解析：</a:t>
            </a:r>
            <a:r>
              <a:rPr lang="en-US" altLang="en-US" dirty="0">
                <a:effectLst/>
                <a:latin typeface="+mn-lt"/>
                <a:sym typeface="+mn-ea"/>
              </a:rPr>
              <a:t>①</a:t>
            </a:r>
            <a:r>
              <a:rPr lang="zh-CN" altLang="en-US" dirty="0">
                <a:effectLst/>
                <a:latin typeface="+mn-lt"/>
                <a:sym typeface="+mn-ea"/>
              </a:rPr>
              <a:t>雇佣者与被雇佣者通过谈判协商达成。</a:t>
            </a:r>
            <a:endParaRPr lang="zh-CN" altLang="en-US" kern="1200" dirty="0">
              <a:solidFill>
                <a:schemeClr val="tx1"/>
              </a:solidFill>
              <a:effectLst/>
              <a:latin typeface="+mn-lt"/>
            </a:endParaRPr>
          </a:p>
          <a:p>
            <a:r>
              <a:rPr lang="en-US" altLang="en-US" dirty="0">
                <a:effectLst/>
                <a:latin typeface="+mn-lt"/>
                <a:sym typeface="+mn-ea"/>
              </a:rPr>
              <a:t>②</a:t>
            </a:r>
            <a:r>
              <a:rPr lang="zh-CN" altLang="en-US" dirty="0">
                <a:effectLst/>
                <a:latin typeface="+mn-lt"/>
                <a:sym typeface="+mn-ea"/>
              </a:rPr>
              <a:t>满足双方利益，非标准化的灵活工作安排。</a:t>
            </a:r>
            <a:endParaRPr lang="zh-CN" altLang="en-US" kern="1200" dirty="0">
              <a:solidFill>
                <a:schemeClr val="tx1"/>
              </a:solidFill>
              <a:effectLst/>
              <a:latin typeface="+mn-lt"/>
            </a:endParaRPr>
          </a:p>
          <a:p>
            <a:r>
              <a:rPr lang="en-US" altLang="zh-CN" dirty="0">
                <a:effectLst/>
                <a:latin typeface="+mn-lt"/>
                <a:sym typeface="+mn-ea"/>
              </a:rPr>
              <a:t>A</a:t>
            </a:r>
            <a:r>
              <a:rPr lang="zh-CN" altLang="en-US" dirty="0">
                <a:effectLst/>
                <a:latin typeface="+mn-lt"/>
                <a:sym typeface="+mn-ea"/>
              </a:rPr>
              <a:t>项：李老师和学生（不符合</a:t>
            </a:r>
            <a:r>
              <a:rPr lang="en-US" altLang="zh-CN" dirty="0">
                <a:effectLst/>
                <a:latin typeface="+mn-lt"/>
                <a:sym typeface="+mn-ea"/>
              </a:rPr>
              <a:t>“</a:t>
            </a:r>
            <a:r>
              <a:rPr lang="zh-CN" altLang="en-US" dirty="0">
                <a:effectLst/>
                <a:latin typeface="+mn-lt"/>
                <a:sym typeface="+mn-ea"/>
              </a:rPr>
              <a:t>雇佣者与被雇佣者</a:t>
            </a:r>
            <a:r>
              <a:rPr lang="en-US" altLang="zh-CN" dirty="0">
                <a:effectLst/>
                <a:latin typeface="+mn-lt"/>
                <a:sym typeface="+mn-ea"/>
              </a:rPr>
              <a:t>”</a:t>
            </a:r>
            <a:r>
              <a:rPr lang="zh-CN" altLang="en-US" dirty="0">
                <a:effectLst/>
                <a:latin typeface="+mn-lt"/>
                <a:sym typeface="+mn-ea"/>
              </a:rPr>
              <a:t>关系），排除。</a:t>
            </a:r>
            <a:endParaRPr lang="zh-CN" altLang="en-US" kern="1200" dirty="0">
              <a:solidFill>
                <a:schemeClr val="tx1"/>
              </a:solidFill>
              <a:effectLst/>
              <a:latin typeface="+mn-lt"/>
            </a:endParaRPr>
          </a:p>
          <a:p>
            <a:r>
              <a:rPr lang="en-US" altLang="zh-CN" dirty="0">
                <a:effectLst/>
                <a:latin typeface="+mn-lt"/>
                <a:sym typeface="+mn-ea"/>
              </a:rPr>
              <a:t>B</a:t>
            </a:r>
            <a:r>
              <a:rPr lang="zh-CN" altLang="en-US" dirty="0">
                <a:effectLst/>
                <a:latin typeface="+mn-lt"/>
                <a:sym typeface="+mn-ea"/>
              </a:rPr>
              <a:t>项：王经理与老板（符合</a:t>
            </a:r>
            <a:r>
              <a:rPr lang="en-US" altLang="zh-CN" dirty="0">
                <a:effectLst/>
                <a:latin typeface="+mn-lt"/>
                <a:sym typeface="+mn-ea"/>
              </a:rPr>
              <a:t>“</a:t>
            </a:r>
            <a:r>
              <a:rPr lang="zh-CN" altLang="en-US" dirty="0">
                <a:effectLst/>
                <a:latin typeface="+mn-lt"/>
                <a:sym typeface="+mn-ea"/>
              </a:rPr>
              <a:t>雇佣者与被雇佣者</a:t>
            </a:r>
            <a:r>
              <a:rPr lang="en-US" altLang="zh-CN" dirty="0">
                <a:effectLst/>
                <a:latin typeface="+mn-lt"/>
                <a:sym typeface="+mn-ea"/>
              </a:rPr>
              <a:t>”</a:t>
            </a:r>
            <a:r>
              <a:rPr lang="zh-CN" altLang="en-US" dirty="0">
                <a:effectLst/>
                <a:latin typeface="+mn-lt"/>
                <a:sym typeface="+mn-ea"/>
              </a:rPr>
              <a:t>关系），通过协商达成居家办公及每周到岗半天的安排（符合</a:t>
            </a:r>
            <a:r>
              <a:rPr lang="en-US" altLang="zh-CN" dirty="0">
                <a:effectLst/>
                <a:latin typeface="+mn-lt"/>
                <a:sym typeface="+mn-ea"/>
              </a:rPr>
              <a:t>“</a:t>
            </a:r>
            <a:r>
              <a:rPr lang="zh-CN" altLang="en-US" dirty="0">
                <a:effectLst/>
                <a:latin typeface="+mn-lt"/>
                <a:sym typeface="+mn-ea"/>
              </a:rPr>
              <a:t>满足双方利益，非标准化的灵活工作安排</a:t>
            </a:r>
            <a:r>
              <a:rPr lang="en-US" altLang="zh-CN" dirty="0">
                <a:effectLst/>
                <a:latin typeface="+mn-lt"/>
                <a:sym typeface="+mn-ea"/>
              </a:rPr>
              <a:t>”</a:t>
            </a:r>
            <a:r>
              <a:rPr lang="zh-CN" altLang="en-US" dirty="0">
                <a:effectLst/>
                <a:latin typeface="+mn-lt"/>
                <a:sym typeface="+mn-ea"/>
              </a:rPr>
              <a:t>），当选。</a:t>
            </a:r>
            <a:endParaRPr lang="zh-CN" altLang="en-US" kern="1200" dirty="0">
              <a:solidFill>
                <a:schemeClr val="tx1"/>
              </a:solidFill>
              <a:effectLst/>
              <a:latin typeface="+mn-lt"/>
            </a:endParaRPr>
          </a:p>
          <a:p>
            <a:r>
              <a:rPr lang="en-US" altLang="zh-CN" dirty="0">
                <a:effectLst/>
                <a:latin typeface="+mn-lt"/>
                <a:sym typeface="+mn-ea"/>
              </a:rPr>
              <a:t>C</a:t>
            </a:r>
            <a:r>
              <a:rPr lang="zh-CN" altLang="en-US" dirty="0">
                <a:effectLst/>
                <a:latin typeface="+mn-lt"/>
                <a:sym typeface="+mn-ea"/>
              </a:rPr>
              <a:t>项：公司规定弹性时间（不符合</a:t>
            </a:r>
            <a:r>
              <a:rPr lang="en-US" altLang="zh-CN" dirty="0">
                <a:effectLst/>
                <a:latin typeface="+mn-lt"/>
                <a:sym typeface="+mn-ea"/>
              </a:rPr>
              <a:t>“</a:t>
            </a:r>
            <a:r>
              <a:rPr lang="zh-CN" altLang="en-US" dirty="0">
                <a:effectLst/>
                <a:latin typeface="+mn-lt"/>
                <a:sym typeface="+mn-ea"/>
              </a:rPr>
              <a:t>通过谈判协商达成</a:t>
            </a:r>
            <a:r>
              <a:rPr lang="en-US" altLang="zh-CN" dirty="0">
                <a:effectLst/>
                <a:latin typeface="+mn-lt"/>
                <a:sym typeface="+mn-ea"/>
              </a:rPr>
              <a:t>”</a:t>
            </a:r>
            <a:r>
              <a:rPr lang="zh-CN" altLang="en-US" dirty="0">
                <a:effectLst/>
                <a:latin typeface="+mn-lt"/>
                <a:sym typeface="+mn-ea"/>
              </a:rPr>
              <a:t>），排除。</a:t>
            </a:r>
            <a:endParaRPr lang="zh-CN" altLang="en-US" kern="1200" dirty="0">
              <a:solidFill>
                <a:schemeClr val="tx1"/>
              </a:solidFill>
              <a:effectLst/>
              <a:latin typeface="+mn-lt"/>
            </a:endParaRPr>
          </a:p>
          <a:p>
            <a:r>
              <a:rPr lang="en-US" altLang="zh-CN" dirty="0">
                <a:effectLst/>
                <a:latin typeface="+mn-lt"/>
                <a:sym typeface="+mn-ea"/>
              </a:rPr>
              <a:t>D</a:t>
            </a:r>
            <a:r>
              <a:rPr lang="zh-CN" altLang="en-US" dirty="0">
                <a:effectLst/>
                <a:latin typeface="+mn-lt"/>
                <a:sym typeface="+mn-ea"/>
              </a:rPr>
              <a:t>项：公司宣布宿舍安排（不符合</a:t>
            </a:r>
            <a:r>
              <a:rPr lang="en-US" altLang="zh-CN" dirty="0">
                <a:effectLst/>
                <a:latin typeface="+mn-lt"/>
                <a:sym typeface="+mn-ea"/>
              </a:rPr>
              <a:t>“</a:t>
            </a:r>
            <a:r>
              <a:rPr lang="zh-CN" altLang="en-US" dirty="0">
                <a:effectLst/>
                <a:latin typeface="+mn-lt"/>
                <a:sym typeface="+mn-ea"/>
              </a:rPr>
              <a:t>通过谈判协商达成</a:t>
            </a:r>
            <a:r>
              <a:rPr lang="en-US" altLang="zh-CN" dirty="0">
                <a:effectLst/>
                <a:latin typeface="+mn-lt"/>
                <a:sym typeface="+mn-ea"/>
              </a:rPr>
              <a:t>”</a:t>
            </a:r>
            <a:r>
              <a:rPr lang="zh-CN" altLang="en-US" dirty="0">
                <a:effectLst/>
                <a:latin typeface="+mn-lt"/>
                <a:sym typeface="+mn-ea"/>
              </a:rPr>
              <a:t>），排除。</a:t>
            </a:r>
            <a:endParaRPr lang="zh-CN" altLang="en-US" kern="1200" dirty="0">
              <a:solidFill>
                <a:schemeClr val="tx1"/>
              </a:solidFill>
              <a:effectLst/>
              <a:latin typeface="+mn-lt"/>
            </a:endParaRPr>
          </a:p>
          <a:p>
            <a:r>
              <a:rPr lang="zh-CN" altLang="en-US" dirty="0">
                <a:effectLst/>
                <a:latin typeface="+mn-lt"/>
                <a:sym typeface="+mn-ea"/>
              </a:rPr>
              <a:t>故正确答案为</a:t>
            </a:r>
            <a:r>
              <a:rPr lang="en-US" altLang="zh-CN" dirty="0">
                <a:effectLst/>
                <a:latin typeface="+mn-lt"/>
                <a:sym typeface="+mn-ea"/>
              </a:rPr>
              <a:t>B</a:t>
            </a:r>
            <a:r>
              <a:rPr lang="zh-CN" altLang="en-US" dirty="0">
                <a:effectLst/>
                <a:latin typeface="+mn-lt"/>
                <a:sym typeface="+mn-ea"/>
              </a:rPr>
              <a:t>。</a:t>
            </a:r>
            <a:endParaRPr lang="zh-CN" altLang="en-US"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34.</a:t>
            </a:r>
            <a:r>
              <a:rPr lang="zh-CN" altLang="en-US" dirty="0">
                <a:effectLst/>
                <a:latin typeface="+mn-lt"/>
                <a:sym typeface="+mn-ea"/>
              </a:rPr>
              <a:t>答案：</a:t>
            </a:r>
            <a:r>
              <a:rPr lang="en-US" altLang="zh-CN" dirty="0">
                <a:effectLst/>
                <a:latin typeface="+mn-lt"/>
                <a:sym typeface="+mn-ea"/>
              </a:rPr>
              <a:t>A</a:t>
            </a:r>
            <a:endParaRPr lang="en-US" altLang="zh-CN" kern="1200" dirty="0">
              <a:solidFill>
                <a:schemeClr val="tx1"/>
              </a:solidFill>
              <a:effectLst/>
              <a:latin typeface="+mn-lt"/>
            </a:endParaRPr>
          </a:p>
          <a:p>
            <a:r>
              <a:rPr lang="zh-CN" altLang="en-US" dirty="0">
                <a:effectLst/>
                <a:latin typeface="+mn-lt"/>
                <a:sym typeface="+mn-ea"/>
              </a:rPr>
              <a:t>解析：</a:t>
            </a:r>
            <a:r>
              <a:rPr lang="en-US" altLang="en-US" dirty="0">
                <a:effectLst/>
                <a:latin typeface="+mn-lt"/>
                <a:sym typeface="+mn-ea"/>
              </a:rPr>
              <a:t>①</a:t>
            </a:r>
            <a:r>
              <a:rPr lang="zh-CN" altLang="en-US" dirty="0">
                <a:effectLst/>
                <a:latin typeface="+mn-lt"/>
                <a:sym typeface="+mn-ea"/>
              </a:rPr>
              <a:t>两个或两个以上生态位相似；</a:t>
            </a:r>
            <a:endParaRPr lang="zh-CN" altLang="en-US" kern="1200" dirty="0">
              <a:solidFill>
                <a:schemeClr val="tx1"/>
              </a:solidFill>
              <a:effectLst/>
              <a:latin typeface="+mn-lt"/>
            </a:endParaRPr>
          </a:p>
          <a:p>
            <a:r>
              <a:rPr lang="en-US" altLang="en-US" dirty="0">
                <a:effectLst/>
                <a:latin typeface="+mn-lt"/>
                <a:sym typeface="+mn-ea"/>
              </a:rPr>
              <a:t>②</a:t>
            </a:r>
            <a:r>
              <a:rPr lang="zh-CN" altLang="en-US" dirty="0">
                <a:effectLst/>
                <a:latin typeface="+mn-lt"/>
                <a:sym typeface="+mn-ea"/>
              </a:rPr>
              <a:t>同一空间时分享或竞争共同资源。</a:t>
            </a:r>
            <a:endParaRPr lang="zh-CN" altLang="en-US" kern="1200" dirty="0">
              <a:solidFill>
                <a:schemeClr val="tx1"/>
              </a:solidFill>
              <a:effectLst/>
              <a:latin typeface="+mn-lt"/>
            </a:endParaRPr>
          </a:p>
          <a:p>
            <a:r>
              <a:rPr lang="en-US" altLang="zh-CN" dirty="0">
                <a:effectLst/>
                <a:latin typeface="+mn-lt"/>
                <a:sym typeface="+mn-ea"/>
              </a:rPr>
              <a:t>A</a:t>
            </a:r>
            <a:r>
              <a:rPr lang="zh-CN" altLang="en-US" dirty="0">
                <a:effectLst/>
                <a:latin typeface="+mn-lt"/>
                <a:sym typeface="+mn-ea"/>
              </a:rPr>
              <a:t>项：蓝鲸以浮游生物为食，鲨鱼以鱼类和其他海洋生物为食，二者食物资源不同，不符合</a:t>
            </a:r>
            <a:r>
              <a:rPr lang="en-US" altLang="zh-CN" dirty="0">
                <a:effectLst/>
                <a:latin typeface="+mn-lt"/>
                <a:sym typeface="+mn-ea"/>
              </a:rPr>
              <a:t>“</a:t>
            </a:r>
            <a:r>
              <a:rPr lang="zh-CN" altLang="en-US" dirty="0">
                <a:effectLst/>
                <a:latin typeface="+mn-lt"/>
                <a:sym typeface="+mn-ea"/>
              </a:rPr>
              <a:t>生态位相似</a:t>
            </a:r>
            <a:r>
              <a:rPr lang="en-US" altLang="zh-CN" dirty="0">
                <a:effectLst/>
                <a:latin typeface="+mn-lt"/>
                <a:sym typeface="+mn-ea"/>
              </a:rPr>
              <a:t>”</a:t>
            </a:r>
            <a:r>
              <a:rPr lang="zh-CN" altLang="en-US" dirty="0">
                <a:effectLst/>
                <a:latin typeface="+mn-lt"/>
                <a:sym typeface="+mn-ea"/>
              </a:rPr>
              <a:t>和</a:t>
            </a:r>
            <a:r>
              <a:rPr lang="en-US" altLang="zh-CN" dirty="0">
                <a:effectLst/>
                <a:latin typeface="+mn-lt"/>
                <a:sym typeface="+mn-ea"/>
              </a:rPr>
              <a:t>“</a:t>
            </a:r>
            <a:r>
              <a:rPr lang="zh-CN" altLang="en-US" dirty="0">
                <a:effectLst/>
                <a:latin typeface="+mn-lt"/>
                <a:sym typeface="+mn-ea"/>
              </a:rPr>
              <a:t>竞争共同资源</a:t>
            </a:r>
            <a:r>
              <a:rPr lang="en-US" altLang="zh-CN" dirty="0">
                <a:effectLst/>
                <a:latin typeface="+mn-lt"/>
                <a:sym typeface="+mn-ea"/>
              </a:rPr>
              <a:t>”</a:t>
            </a:r>
            <a:r>
              <a:rPr lang="zh-CN" altLang="en-US" dirty="0">
                <a:effectLst/>
                <a:latin typeface="+mn-lt"/>
                <a:sym typeface="+mn-ea"/>
              </a:rPr>
              <a:t>，不符合定义，当选。</a:t>
            </a:r>
            <a:endParaRPr lang="zh-CN" altLang="en-US" kern="1200" dirty="0">
              <a:solidFill>
                <a:schemeClr val="tx1"/>
              </a:solidFill>
              <a:effectLst/>
              <a:latin typeface="+mn-lt"/>
            </a:endParaRPr>
          </a:p>
          <a:p>
            <a:r>
              <a:rPr lang="en-US" altLang="zh-CN" dirty="0">
                <a:effectLst/>
                <a:latin typeface="+mn-lt"/>
                <a:sym typeface="+mn-ea"/>
              </a:rPr>
              <a:t>B</a:t>
            </a:r>
            <a:r>
              <a:rPr lang="zh-CN" altLang="en-US" dirty="0">
                <a:effectLst/>
                <a:latin typeface="+mn-lt"/>
                <a:sym typeface="+mn-ea"/>
              </a:rPr>
              <a:t>项：老虎和豹子生活在同一片森林，捕食相似猎物，符合</a:t>
            </a:r>
            <a:r>
              <a:rPr lang="en-US" altLang="zh-CN" dirty="0">
                <a:effectLst/>
                <a:latin typeface="+mn-lt"/>
                <a:sym typeface="+mn-ea"/>
              </a:rPr>
              <a:t>“</a:t>
            </a:r>
            <a:r>
              <a:rPr lang="zh-CN" altLang="en-US" dirty="0">
                <a:effectLst/>
                <a:latin typeface="+mn-lt"/>
                <a:sym typeface="+mn-ea"/>
              </a:rPr>
              <a:t>生态位相似</a:t>
            </a:r>
            <a:r>
              <a:rPr lang="en-US" altLang="zh-CN" dirty="0">
                <a:effectLst/>
                <a:latin typeface="+mn-lt"/>
                <a:sym typeface="+mn-ea"/>
              </a:rPr>
              <a:t>”</a:t>
            </a:r>
            <a:r>
              <a:rPr lang="zh-CN" altLang="en-US" dirty="0">
                <a:effectLst/>
                <a:latin typeface="+mn-lt"/>
                <a:sym typeface="+mn-ea"/>
              </a:rPr>
              <a:t>和</a:t>
            </a:r>
            <a:r>
              <a:rPr lang="en-US" altLang="zh-CN" dirty="0">
                <a:effectLst/>
                <a:latin typeface="+mn-lt"/>
                <a:sym typeface="+mn-ea"/>
              </a:rPr>
              <a:t>“</a:t>
            </a:r>
            <a:r>
              <a:rPr lang="zh-CN" altLang="en-US" dirty="0">
                <a:effectLst/>
                <a:latin typeface="+mn-lt"/>
                <a:sym typeface="+mn-ea"/>
              </a:rPr>
              <a:t>竞争共同资源</a:t>
            </a:r>
            <a:r>
              <a:rPr lang="en-US" altLang="zh-CN" dirty="0">
                <a:effectLst/>
                <a:latin typeface="+mn-lt"/>
                <a:sym typeface="+mn-ea"/>
              </a:rPr>
              <a:t>”</a:t>
            </a:r>
            <a:r>
              <a:rPr lang="zh-CN" altLang="en-US" dirty="0">
                <a:effectLst/>
                <a:latin typeface="+mn-lt"/>
                <a:sym typeface="+mn-ea"/>
              </a:rPr>
              <a:t>，符合定义，排除。</a:t>
            </a:r>
            <a:endParaRPr lang="zh-CN" altLang="en-US" kern="1200" dirty="0">
              <a:solidFill>
                <a:schemeClr val="tx1"/>
              </a:solidFill>
              <a:effectLst/>
              <a:latin typeface="+mn-lt"/>
            </a:endParaRPr>
          </a:p>
          <a:p>
            <a:r>
              <a:rPr lang="en-US" altLang="zh-CN" dirty="0">
                <a:effectLst/>
                <a:latin typeface="+mn-lt"/>
                <a:sym typeface="+mn-ea"/>
              </a:rPr>
              <a:t>C</a:t>
            </a:r>
            <a:r>
              <a:rPr lang="zh-CN" altLang="en-US" dirty="0">
                <a:effectLst/>
                <a:latin typeface="+mn-lt"/>
                <a:sym typeface="+mn-ea"/>
              </a:rPr>
              <a:t>项：</a:t>
            </a:r>
            <a:r>
              <a:rPr lang="en-US" altLang="zh-CN" dirty="0">
                <a:effectLst/>
                <a:latin typeface="+mn-lt"/>
                <a:sym typeface="+mn-ea"/>
              </a:rPr>
              <a:t>5</a:t>
            </a:r>
            <a:r>
              <a:rPr lang="zh-CN" altLang="en-US" dirty="0">
                <a:effectLst/>
                <a:latin typeface="+mn-lt"/>
                <a:sym typeface="+mn-ea"/>
              </a:rPr>
              <a:t>种鸣禽生活在针叶林中，均以昆虫为食且对营巢地点有相似要求，符合</a:t>
            </a:r>
            <a:r>
              <a:rPr lang="en-US" altLang="zh-CN" dirty="0">
                <a:effectLst/>
                <a:latin typeface="+mn-lt"/>
                <a:sym typeface="+mn-ea"/>
              </a:rPr>
              <a:t>“</a:t>
            </a:r>
            <a:r>
              <a:rPr lang="zh-CN" altLang="en-US" dirty="0">
                <a:effectLst/>
                <a:latin typeface="+mn-lt"/>
                <a:sym typeface="+mn-ea"/>
              </a:rPr>
              <a:t>生态位相似</a:t>
            </a:r>
            <a:r>
              <a:rPr lang="en-US" altLang="zh-CN" dirty="0">
                <a:effectLst/>
                <a:latin typeface="+mn-lt"/>
                <a:sym typeface="+mn-ea"/>
              </a:rPr>
              <a:t>”</a:t>
            </a:r>
            <a:r>
              <a:rPr lang="zh-CN" altLang="en-US" dirty="0">
                <a:effectLst/>
                <a:latin typeface="+mn-lt"/>
                <a:sym typeface="+mn-ea"/>
              </a:rPr>
              <a:t>和</a:t>
            </a:r>
            <a:r>
              <a:rPr lang="en-US" altLang="zh-CN" dirty="0">
                <a:effectLst/>
                <a:latin typeface="+mn-lt"/>
                <a:sym typeface="+mn-ea"/>
              </a:rPr>
              <a:t>“</a:t>
            </a:r>
            <a:r>
              <a:rPr lang="zh-CN" altLang="en-US" dirty="0">
                <a:effectLst/>
                <a:latin typeface="+mn-lt"/>
                <a:sym typeface="+mn-ea"/>
              </a:rPr>
              <a:t>竞争共同资源</a:t>
            </a:r>
            <a:r>
              <a:rPr lang="en-US" altLang="zh-CN" dirty="0">
                <a:effectLst/>
                <a:latin typeface="+mn-lt"/>
                <a:sym typeface="+mn-ea"/>
              </a:rPr>
              <a:t>”</a:t>
            </a:r>
            <a:r>
              <a:rPr lang="zh-CN" altLang="en-US" dirty="0">
                <a:effectLst/>
                <a:latin typeface="+mn-lt"/>
                <a:sym typeface="+mn-ea"/>
              </a:rPr>
              <a:t>，符合定义，排除。</a:t>
            </a:r>
            <a:endParaRPr lang="zh-CN" altLang="en-US" kern="1200" dirty="0">
              <a:solidFill>
                <a:schemeClr val="tx1"/>
              </a:solidFill>
              <a:effectLst/>
              <a:latin typeface="+mn-lt"/>
            </a:endParaRPr>
          </a:p>
          <a:p>
            <a:r>
              <a:rPr lang="en-US" altLang="zh-CN" dirty="0">
                <a:effectLst/>
                <a:latin typeface="+mn-lt"/>
                <a:sym typeface="+mn-ea"/>
              </a:rPr>
              <a:t>D</a:t>
            </a:r>
            <a:r>
              <a:rPr lang="zh-CN" altLang="en-US" dirty="0">
                <a:effectLst/>
                <a:latin typeface="+mn-lt"/>
                <a:sym typeface="+mn-ea"/>
              </a:rPr>
              <a:t>项：牛羚和斑马生活在非洲大草原，均以草为食，符合</a:t>
            </a:r>
            <a:r>
              <a:rPr lang="en-US" altLang="zh-CN" dirty="0">
                <a:effectLst/>
                <a:latin typeface="+mn-lt"/>
                <a:sym typeface="+mn-ea"/>
              </a:rPr>
              <a:t>“</a:t>
            </a:r>
            <a:r>
              <a:rPr lang="zh-CN" altLang="en-US" dirty="0">
                <a:effectLst/>
                <a:latin typeface="+mn-lt"/>
                <a:sym typeface="+mn-ea"/>
              </a:rPr>
              <a:t>生态位相似</a:t>
            </a:r>
            <a:r>
              <a:rPr lang="en-US" altLang="zh-CN" dirty="0">
                <a:effectLst/>
                <a:latin typeface="+mn-lt"/>
                <a:sym typeface="+mn-ea"/>
              </a:rPr>
              <a:t>”</a:t>
            </a:r>
            <a:r>
              <a:rPr lang="zh-CN" altLang="en-US" dirty="0">
                <a:effectLst/>
                <a:latin typeface="+mn-lt"/>
                <a:sym typeface="+mn-ea"/>
              </a:rPr>
              <a:t>和</a:t>
            </a:r>
            <a:r>
              <a:rPr lang="en-US" altLang="zh-CN" dirty="0">
                <a:effectLst/>
                <a:latin typeface="+mn-lt"/>
                <a:sym typeface="+mn-ea"/>
              </a:rPr>
              <a:t>“</a:t>
            </a:r>
            <a:r>
              <a:rPr lang="zh-CN" altLang="en-US" dirty="0">
                <a:effectLst/>
                <a:latin typeface="+mn-lt"/>
                <a:sym typeface="+mn-ea"/>
              </a:rPr>
              <a:t>竞争共同资源</a:t>
            </a:r>
            <a:r>
              <a:rPr lang="en-US" altLang="zh-CN" dirty="0">
                <a:effectLst/>
                <a:latin typeface="+mn-lt"/>
                <a:sym typeface="+mn-ea"/>
              </a:rPr>
              <a:t>”</a:t>
            </a:r>
            <a:r>
              <a:rPr lang="zh-CN" altLang="en-US" dirty="0">
                <a:effectLst/>
                <a:latin typeface="+mn-lt"/>
                <a:sym typeface="+mn-ea"/>
              </a:rPr>
              <a:t>，符合定义，排除。</a:t>
            </a:r>
            <a:endParaRPr lang="zh-CN" altLang="en-US" kern="1200" dirty="0">
              <a:solidFill>
                <a:schemeClr val="tx1"/>
              </a:solidFill>
              <a:effectLst/>
              <a:latin typeface="+mn-lt"/>
            </a:endParaRPr>
          </a:p>
          <a:p>
            <a:r>
              <a:rPr lang="zh-CN" altLang="en-US" dirty="0">
                <a:effectLst/>
                <a:latin typeface="+mn-lt"/>
                <a:sym typeface="+mn-ea"/>
              </a:rPr>
              <a:t>故正确答案为</a:t>
            </a:r>
            <a:r>
              <a:rPr lang="en-US" altLang="zh-CN" dirty="0">
                <a:effectLst/>
                <a:latin typeface="+mn-lt"/>
                <a:sym typeface="+mn-ea"/>
              </a:rPr>
              <a:t>A</a:t>
            </a:r>
            <a:r>
              <a:rPr lang="zh-CN" altLang="en-US" dirty="0">
                <a:effectLst/>
                <a:latin typeface="+mn-lt"/>
                <a:sym typeface="+mn-ea"/>
              </a:rPr>
              <a:t>。</a:t>
            </a:r>
            <a:endParaRPr lang="zh-CN" altLang="en-US"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35.</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r>
              <a:rPr lang="en-US" altLang="en-US" sz="1200" kern="1200" dirty="0">
                <a:solidFill>
                  <a:schemeClr val="tx1"/>
                </a:solidFill>
                <a:effectLst/>
                <a:latin typeface="+mn-lt"/>
              </a:rPr>
              <a:t>①</a:t>
            </a:r>
            <a:r>
              <a:rPr lang="zh-CN" altLang="en-US" sz="1200" kern="1200" dirty="0">
                <a:solidFill>
                  <a:schemeClr val="tx1"/>
                </a:solidFill>
                <a:effectLst/>
                <a:latin typeface="+mn-lt"/>
              </a:rPr>
              <a:t>光线减弱时，人眼优先感知明暗而非色彩，导致无法辨别色彩。</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zh-CN" altLang="en-US" sz="1200" kern="1200" dirty="0">
                <a:solidFill>
                  <a:schemeClr val="tx1"/>
                </a:solidFill>
                <a:effectLst/>
                <a:latin typeface="+mn-lt"/>
              </a:rPr>
              <a:t>明亮光线下，红色与蓝色明度相近。</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③</a:t>
            </a:r>
            <a:r>
              <a:rPr lang="zh-CN" altLang="en-US" sz="1200" kern="1200" dirty="0">
                <a:solidFill>
                  <a:schemeClr val="tx1"/>
                </a:solidFill>
                <a:effectLst/>
                <a:latin typeface="+mn-lt"/>
              </a:rPr>
              <a:t>昏暗光线下，蓝色比红色明度强</a:t>
            </a:r>
            <a:r>
              <a:rPr lang="en-US" altLang="zh-CN" sz="1200" kern="1200" dirty="0">
                <a:solidFill>
                  <a:schemeClr val="tx1"/>
                </a:solidFill>
                <a:effectLst/>
                <a:latin typeface="+mn-lt"/>
              </a:rPr>
              <a:t>16</a:t>
            </a:r>
            <a:r>
              <a:rPr lang="zh-CN" altLang="en-US" sz="1200" kern="1200" dirty="0">
                <a:solidFill>
                  <a:schemeClr val="tx1"/>
                </a:solidFill>
                <a:effectLst/>
                <a:latin typeface="+mn-lt"/>
              </a:rPr>
              <a:t>倍。</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项：黄昏时光线减弱，司机因优先感知明暗而将伤者红色夹克误认为黑色（符合</a:t>
            </a:r>
            <a:r>
              <a:rPr lang="en-US" altLang="zh-CN" sz="1200" kern="1200" dirty="0">
                <a:solidFill>
                  <a:schemeClr val="tx1"/>
                </a:solidFill>
                <a:effectLst/>
                <a:latin typeface="+mn-lt"/>
              </a:rPr>
              <a:t>“</a:t>
            </a:r>
            <a:r>
              <a:rPr lang="zh-CN" altLang="en-US" sz="1200" kern="1200" dirty="0">
                <a:solidFill>
                  <a:schemeClr val="tx1"/>
                </a:solidFill>
                <a:effectLst/>
                <a:latin typeface="+mn-lt"/>
              </a:rPr>
              <a:t>光线减弱时优先感知明暗</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项：昏暗场地中蓝紫色团服比红色团服更抢眼（符合</a:t>
            </a:r>
            <a:r>
              <a:rPr lang="en-US" altLang="zh-CN" sz="1200" kern="1200" dirty="0">
                <a:solidFill>
                  <a:schemeClr val="tx1"/>
                </a:solidFill>
                <a:effectLst/>
                <a:latin typeface="+mn-lt"/>
              </a:rPr>
              <a:t>“</a:t>
            </a:r>
            <a:r>
              <a:rPr lang="zh-CN" altLang="en-US" sz="1200" kern="1200" dirty="0">
                <a:solidFill>
                  <a:schemeClr val="tx1"/>
                </a:solidFill>
                <a:effectLst/>
                <a:latin typeface="+mn-lt"/>
              </a:rPr>
              <a:t>昏暗光线下蓝色明度更强</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项：熄灯后红色座椅显得更暗（符合</a:t>
            </a:r>
            <a:r>
              <a:rPr lang="en-US" altLang="zh-CN" sz="1200" kern="1200" dirty="0">
                <a:solidFill>
                  <a:schemeClr val="tx1"/>
                </a:solidFill>
                <a:effectLst/>
                <a:latin typeface="+mn-lt"/>
              </a:rPr>
              <a:t>“</a:t>
            </a:r>
            <a:r>
              <a:rPr lang="zh-CN" altLang="en-US" sz="1200" kern="1200" dirty="0">
                <a:solidFill>
                  <a:schemeClr val="tx1"/>
                </a:solidFill>
                <a:effectLst/>
                <a:latin typeface="+mn-lt"/>
              </a:rPr>
              <a:t>光线减弱时红色明度低</a:t>
            </a:r>
            <a:r>
              <a:rPr lang="en-US" altLang="zh-CN" sz="1200" kern="1200" dirty="0">
                <a:solidFill>
                  <a:schemeClr val="tx1"/>
                </a:solidFill>
                <a:effectLst/>
                <a:latin typeface="+mn-lt"/>
              </a:rPr>
              <a:t>”</a:t>
            </a:r>
            <a:r>
              <a:rPr lang="zh-CN" altLang="en-US" sz="1200" kern="1200" dirty="0">
                <a:solidFill>
                  <a:schemeClr val="tx1"/>
                </a:solidFill>
                <a:effectLst/>
                <a:latin typeface="+mn-lt"/>
              </a:rPr>
              <a:t>），说明优先感知明暗，符合定义，排除。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项：黑陶在不同光线下呈现色泽变化（未涉及</a:t>
            </a:r>
            <a:r>
              <a:rPr lang="en-US" altLang="zh-CN" sz="1200" kern="1200" dirty="0">
                <a:solidFill>
                  <a:schemeClr val="tx1"/>
                </a:solidFill>
                <a:effectLst/>
                <a:latin typeface="+mn-lt"/>
              </a:rPr>
              <a:t>“</a:t>
            </a:r>
            <a:r>
              <a:rPr lang="zh-CN" altLang="en-US" sz="1200" kern="1200" dirty="0">
                <a:solidFill>
                  <a:schemeClr val="tx1"/>
                </a:solidFill>
                <a:effectLst/>
                <a:latin typeface="+mn-lt"/>
              </a:rPr>
              <a:t>光线减弱时优先感知明暗导致无法辨别色彩</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解析：组成元素不同，考虑数量类或属性类。题目中出现笔画数特征图形，优先考虑笔画数。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第一段中，三个图形均为一笔画图形；第二段中，前两个图形均为两笔画图形，所以问号处应当选择两笔画图形，四个选项依次为两笔画图形、三笔画图形、一笔画图形、一笔画图形，只有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解析：组成元素不同，考虑数量类或属性类。所有图形中均出现曲线，优先考虑曲线特征。</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第一段中，三个图形中分别出现了二分之一的圆、四分之三的圆、完整的圆。第二段中，前两个图形分别出现了二分之一的圆、四分之三的圆，因此问号处应当出现完整的圆，只有</a:t>
            </a:r>
            <a:r>
              <a:rPr lang="en-US" altLang="zh-CN" sz="1200" kern="1200" dirty="0">
                <a:solidFill>
                  <a:schemeClr val="tx1"/>
                </a:solidFill>
                <a:effectLst/>
                <a:latin typeface="+mn-lt"/>
              </a:rPr>
              <a:t>D</a:t>
            </a:r>
            <a:r>
              <a:rPr lang="zh-CN" altLang="en-US" sz="1200" kern="1200" dirty="0">
                <a:solidFill>
                  <a:schemeClr val="tx1"/>
                </a:solidFill>
                <a:effectLst/>
                <a:latin typeface="+mn-lt"/>
              </a:rPr>
              <a:t>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解析：元素组成不同，优先考虑属性类规律。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均由一个黑色图形和两个空白图形组成，且黑色图形均为轴对称图形，且两个空白图形，一个轴对称，一个不对称。第一段中两个轴对称图形的两条对称轴是平行关系，第二段中两个轴对称图形的两条对称轴是垂直关系，只有</a:t>
            </a:r>
            <a:r>
              <a:rPr lang="en-US" altLang="zh-CN" sz="1200" kern="1200" dirty="0">
                <a:solidFill>
                  <a:schemeClr val="tx1"/>
                </a:solidFill>
                <a:effectLst/>
                <a:latin typeface="+mn-lt"/>
              </a:rPr>
              <a:t>D</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4.</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解析：元素组成相同，优先考虑动态位置。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小黑球在框架内层顺时针依次移动</a:t>
            </a:r>
            <a:r>
              <a:rPr lang="en-US" altLang="zh-CN" sz="1200" kern="1200" dirty="0">
                <a:solidFill>
                  <a:schemeClr val="tx1"/>
                </a:solidFill>
                <a:effectLst/>
                <a:latin typeface="+mn-lt"/>
              </a:rPr>
              <a:t>1</a:t>
            </a:r>
            <a:r>
              <a:rPr lang="zh-CN" altLang="en-US" sz="1200" kern="1200" dirty="0">
                <a:solidFill>
                  <a:schemeClr val="tx1"/>
                </a:solidFill>
                <a:effectLst/>
                <a:latin typeface="+mn-lt"/>
              </a:rPr>
              <a:t>步，空白在框架外层逆时针依次移动</a:t>
            </a:r>
            <a:r>
              <a:rPr lang="en-US" altLang="zh-CN" sz="1200" kern="1200" dirty="0">
                <a:solidFill>
                  <a:schemeClr val="tx1"/>
                </a:solidFill>
                <a:effectLst/>
                <a:latin typeface="+mn-lt"/>
              </a:rPr>
              <a:t>2</a:t>
            </a:r>
            <a:r>
              <a:rPr lang="zh-CN" altLang="en-US" sz="1200" kern="1200" dirty="0">
                <a:solidFill>
                  <a:schemeClr val="tx1"/>
                </a:solidFill>
                <a:effectLst/>
                <a:latin typeface="+mn-lt"/>
              </a:rPr>
              <a:t>步，只有</a:t>
            </a:r>
            <a:r>
              <a:rPr lang="en-US" altLang="zh-CN" sz="1200" kern="1200" dirty="0">
                <a:solidFill>
                  <a:schemeClr val="tx1"/>
                </a:solidFill>
                <a:effectLst/>
                <a:latin typeface="+mn-lt"/>
              </a:rPr>
              <a:t>C</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5.</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解析：题干给了一幅图和相关公式要求，考查动态位置等相关知识。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首先需要对图形进行</a:t>
            </a:r>
            <a:r>
              <a:rPr lang="en-US" altLang="zh-CN" sz="1200" kern="1200" dirty="0">
                <a:solidFill>
                  <a:schemeClr val="tx1"/>
                </a:solidFill>
                <a:effectLst/>
                <a:latin typeface="+mn-lt"/>
              </a:rPr>
              <a:t>“</a:t>
            </a:r>
            <a:r>
              <a:rPr lang="zh-CN" altLang="en-US" sz="1200" kern="1200" dirty="0">
                <a:solidFill>
                  <a:schemeClr val="tx1"/>
                </a:solidFill>
                <a:effectLst/>
                <a:latin typeface="+mn-lt"/>
              </a:rPr>
              <a:t>保留下半部分，将上半部分替换为下半部分的上下镜像</a:t>
            </a:r>
            <a:r>
              <a:rPr lang="en-US" altLang="zh-CN" sz="1200" kern="1200" dirty="0">
                <a:solidFill>
                  <a:schemeClr val="tx1"/>
                </a:solidFill>
                <a:effectLst/>
                <a:latin typeface="+mn-lt"/>
              </a:rPr>
              <a:t>”</a:t>
            </a:r>
            <a:r>
              <a:rPr lang="zh-CN" altLang="en-US" sz="1200" kern="1200" dirty="0">
                <a:solidFill>
                  <a:schemeClr val="tx1"/>
                </a:solidFill>
                <a:effectLst/>
                <a:latin typeface="+mn-lt"/>
              </a:rPr>
              <a:t>的操作，可得到：，然后进行</a:t>
            </a:r>
            <a:r>
              <a:rPr lang="en-US" altLang="zh-CN" sz="1200" kern="1200" dirty="0">
                <a:solidFill>
                  <a:schemeClr val="tx1"/>
                </a:solidFill>
                <a:effectLst/>
                <a:latin typeface="+mn-lt"/>
              </a:rPr>
              <a:t>“</a:t>
            </a:r>
            <a:r>
              <a:rPr lang="zh-CN" altLang="en-US" sz="1200" kern="1200" dirty="0">
                <a:solidFill>
                  <a:schemeClr val="tx1"/>
                </a:solidFill>
                <a:effectLst/>
                <a:latin typeface="+mn-lt"/>
              </a:rPr>
              <a:t>整体顺时针旋转</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，最终得到：。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6.</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解析：题干给了一幅图和相关公式要求，考查动态位置等相关知识。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首先需要对图形进行</a:t>
            </a:r>
            <a:r>
              <a:rPr lang="en-US" altLang="zh-CN" sz="1200" kern="1200" dirty="0">
                <a:solidFill>
                  <a:schemeClr val="tx1"/>
                </a:solidFill>
                <a:effectLst/>
                <a:latin typeface="+mn-lt"/>
              </a:rPr>
              <a:t>“</a:t>
            </a:r>
            <a:r>
              <a:rPr lang="zh-CN" altLang="en-US" sz="1200" kern="1200" dirty="0">
                <a:solidFill>
                  <a:schemeClr val="tx1"/>
                </a:solidFill>
                <a:effectLst/>
                <a:latin typeface="+mn-lt"/>
              </a:rPr>
              <a:t>整体左右镜像</a:t>
            </a:r>
            <a:r>
              <a:rPr lang="en-US" altLang="zh-CN" sz="1200" kern="1200" dirty="0">
                <a:solidFill>
                  <a:schemeClr val="tx1"/>
                </a:solidFill>
                <a:effectLst/>
                <a:latin typeface="+mn-lt"/>
              </a:rPr>
              <a:t>”</a:t>
            </a:r>
            <a:r>
              <a:rPr lang="zh-CN" altLang="en-US" sz="1200" kern="1200" dirty="0">
                <a:solidFill>
                  <a:schemeClr val="tx1"/>
                </a:solidFill>
                <a:effectLst/>
                <a:latin typeface="+mn-lt"/>
              </a:rPr>
              <a:t>的操作，可得到：，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然后进行</a:t>
            </a:r>
            <a:r>
              <a:rPr lang="en-US" altLang="zh-CN" sz="1200" kern="1200" dirty="0">
                <a:solidFill>
                  <a:schemeClr val="tx1"/>
                </a:solidFill>
                <a:effectLst/>
                <a:latin typeface="+mn-lt"/>
              </a:rPr>
              <a:t>“</a:t>
            </a:r>
            <a:r>
              <a:rPr lang="zh-CN" altLang="en-US" sz="1200" kern="1200" dirty="0">
                <a:solidFill>
                  <a:schemeClr val="tx1"/>
                </a:solidFill>
                <a:effectLst/>
                <a:latin typeface="+mn-lt"/>
              </a:rPr>
              <a:t>保留左半部分，将右半部分替换为左半部分的左右镜像</a:t>
            </a:r>
            <a:r>
              <a:rPr lang="en-US" altLang="zh-CN" sz="1200" kern="1200" dirty="0">
                <a:solidFill>
                  <a:schemeClr val="tx1"/>
                </a:solidFill>
                <a:effectLst/>
                <a:latin typeface="+mn-lt"/>
              </a:rPr>
              <a:t>”</a:t>
            </a:r>
            <a:r>
              <a:rPr lang="zh-CN" altLang="en-US" sz="1200" kern="1200" dirty="0">
                <a:solidFill>
                  <a:schemeClr val="tx1"/>
                </a:solidFill>
                <a:effectLst/>
                <a:latin typeface="+mn-lt"/>
              </a:rPr>
              <a:t>，最终得到：。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7.</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解析：题干给了一幅图和相关公式要求，考查动态位置等相关知识。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首先需要对图形进行</a:t>
            </a:r>
            <a:r>
              <a:rPr lang="en-US" altLang="zh-CN" sz="1200" kern="1200" dirty="0">
                <a:solidFill>
                  <a:schemeClr val="tx1"/>
                </a:solidFill>
                <a:effectLst/>
                <a:latin typeface="+mn-lt"/>
              </a:rPr>
              <a:t>“</a:t>
            </a:r>
            <a:r>
              <a:rPr lang="zh-CN" altLang="en-US" sz="1200" kern="1200" dirty="0">
                <a:solidFill>
                  <a:schemeClr val="tx1"/>
                </a:solidFill>
                <a:effectLst/>
                <a:latin typeface="+mn-lt"/>
              </a:rPr>
              <a:t>整体顺时针旋转</a:t>
            </a:r>
            <a:r>
              <a:rPr lang="en-US" altLang="zh-CN" sz="1200" kern="1200" dirty="0">
                <a:solidFill>
                  <a:schemeClr val="tx1"/>
                </a:solidFill>
                <a:effectLst/>
                <a:latin typeface="+mn-lt"/>
              </a:rPr>
              <a:t>270</a:t>
            </a:r>
            <a:r>
              <a:rPr lang="en-US"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的操作，可得到：，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然后进行</a:t>
            </a:r>
            <a:r>
              <a:rPr lang="en-US" altLang="zh-CN" sz="1200" kern="1200" dirty="0">
                <a:solidFill>
                  <a:schemeClr val="tx1"/>
                </a:solidFill>
                <a:effectLst/>
                <a:latin typeface="+mn-lt"/>
              </a:rPr>
              <a:t>“</a:t>
            </a:r>
            <a:r>
              <a:rPr lang="zh-CN" altLang="en-US" sz="1200" kern="1200" dirty="0">
                <a:solidFill>
                  <a:schemeClr val="tx1"/>
                </a:solidFill>
                <a:effectLst/>
                <a:latin typeface="+mn-lt"/>
              </a:rPr>
              <a:t>保留上半部分，将下半部分替换为上半部分的左右镜像</a:t>
            </a:r>
            <a:r>
              <a:rPr lang="en-US" altLang="zh-CN" sz="1200" kern="1200" dirty="0">
                <a:solidFill>
                  <a:schemeClr val="tx1"/>
                </a:solidFill>
                <a:effectLst/>
                <a:latin typeface="+mn-lt"/>
              </a:rPr>
              <a:t>”</a:t>
            </a:r>
            <a:r>
              <a:rPr lang="zh-CN" altLang="en-US" sz="1200" kern="1200" dirty="0">
                <a:solidFill>
                  <a:schemeClr val="tx1"/>
                </a:solidFill>
                <a:effectLst/>
                <a:latin typeface="+mn-lt"/>
              </a:rPr>
              <a:t>，最终得到：。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8.</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在题干与各个选项上分别在面</a:t>
            </a:r>
            <a:r>
              <a:rPr lang="en-US" altLang="zh-CN" sz="1200" kern="1200" dirty="0">
                <a:solidFill>
                  <a:schemeClr val="tx1"/>
                </a:solidFill>
                <a:effectLst/>
                <a:latin typeface="+mn-lt"/>
              </a:rPr>
              <a:t>1</a:t>
            </a:r>
            <a:r>
              <a:rPr lang="zh-CN" altLang="en-US" sz="1200" kern="1200" dirty="0">
                <a:solidFill>
                  <a:schemeClr val="tx1"/>
                </a:solidFill>
                <a:effectLst/>
                <a:latin typeface="+mn-lt"/>
              </a:rPr>
              <a:t>上画箭头，如图所示，</a:t>
            </a:r>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C</a:t>
            </a:r>
            <a:r>
              <a:rPr lang="zh-CN" altLang="en-US" sz="1200" kern="1200" dirty="0">
                <a:solidFill>
                  <a:schemeClr val="tx1"/>
                </a:solidFill>
                <a:effectLst/>
                <a:latin typeface="+mn-lt"/>
              </a:rPr>
              <a:t>项和</a:t>
            </a:r>
            <a:r>
              <a:rPr lang="en-US" altLang="zh-CN" sz="1200" kern="1200" dirty="0">
                <a:solidFill>
                  <a:schemeClr val="tx1"/>
                </a:solidFill>
                <a:effectLst/>
                <a:latin typeface="+mn-lt"/>
              </a:rPr>
              <a:t>D</a:t>
            </a:r>
            <a:r>
              <a:rPr lang="zh-CN" altLang="en-US" sz="1200" kern="1200" dirty="0">
                <a:solidFill>
                  <a:schemeClr val="tx1"/>
                </a:solidFill>
                <a:effectLst/>
                <a:latin typeface="+mn-lt"/>
              </a:rPr>
              <a:t>项中面</a:t>
            </a:r>
            <a:r>
              <a:rPr lang="en-US" altLang="zh-CN" sz="1200" kern="1200" dirty="0">
                <a:solidFill>
                  <a:schemeClr val="tx1"/>
                </a:solidFill>
                <a:effectLst/>
                <a:latin typeface="+mn-lt"/>
              </a:rPr>
              <a:t>2</a:t>
            </a:r>
            <a:r>
              <a:rPr lang="zh-CN" altLang="en-US" sz="1200" kern="1200" dirty="0">
                <a:solidFill>
                  <a:schemeClr val="tx1"/>
                </a:solidFill>
                <a:effectLst/>
                <a:latin typeface="+mn-lt"/>
              </a:rPr>
              <a:t>在面</a:t>
            </a:r>
            <a:r>
              <a:rPr lang="en-US" altLang="zh-CN" sz="1200" kern="1200" dirty="0">
                <a:solidFill>
                  <a:schemeClr val="tx1"/>
                </a:solidFill>
                <a:effectLst/>
                <a:latin typeface="+mn-lt"/>
              </a:rPr>
              <a:t>1</a:t>
            </a:r>
            <a:r>
              <a:rPr lang="zh-CN" altLang="en-US" sz="1200" kern="1200" dirty="0">
                <a:solidFill>
                  <a:schemeClr val="tx1"/>
                </a:solidFill>
                <a:effectLst/>
                <a:latin typeface="+mn-lt"/>
              </a:rPr>
              <a:t>右边，</a:t>
            </a:r>
            <a:r>
              <a:rPr lang="en-US" altLang="zh-CN" sz="1200" kern="1200" dirty="0">
                <a:solidFill>
                  <a:schemeClr val="tx1"/>
                </a:solidFill>
                <a:effectLst/>
                <a:latin typeface="+mn-lt"/>
              </a:rPr>
              <a:t>B</a:t>
            </a:r>
            <a:r>
              <a:rPr lang="zh-CN" altLang="en-US" sz="1200" kern="1200" dirty="0">
                <a:solidFill>
                  <a:schemeClr val="tx1"/>
                </a:solidFill>
                <a:effectLst/>
                <a:latin typeface="+mn-lt"/>
              </a:rPr>
              <a:t>项中面</a:t>
            </a:r>
            <a:r>
              <a:rPr lang="en-US" altLang="zh-CN" sz="1200" kern="1200" dirty="0">
                <a:solidFill>
                  <a:schemeClr val="tx1"/>
                </a:solidFill>
                <a:effectLst/>
                <a:latin typeface="+mn-lt"/>
              </a:rPr>
              <a:t>2</a:t>
            </a:r>
            <a:r>
              <a:rPr lang="zh-CN" altLang="en-US" sz="1200" kern="1200" dirty="0">
                <a:solidFill>
                  <a:schemeClr val="tx1"/>
                </a:solidFill>
                <a:effectLst/>
                <a:latin typeface="+mn-lt"/>
              </a:rPr>
              <a:t>在面</a:t>
            </a:r>
            <a:r>
              <a:rPr lang="en-US" altLang="zh-CN" sz="1200" kern="1200" dirty="0">
                <a:solidFill>
                  <a:schemeClr val="tx1"/>
                </a:solidFill>
                <a:effectLst/>
                <a:latin typeface="+mn-lt"/>
              </a:rPr>
              <a:t>1</a:t>
            </a:r>
            <a:r>
              <a:rPr lang="zh-CN" altLang="en-US" sz="1200" kern="1200" dirty="0">
                <a:solidFill>
                  <a:schemeClr val="tx1"/>
                </a:solidFill>
                <a:effectLst/>
                <a:latin typeface="+mn-lt"/>
              </a:rPr>
              <a:t>的左边，所以</a:t>
            </a:r>
            <a:r>
              <a:rPr lang="en-US" altLang="zh-CN" sz="1200" kern="1200" dirty="0">
                <a:solidFill>
                  <a:schemeClr val="tx1"/>
                </a:solidFill>
                <a:effectLst/>
                <a:latin typeface="+mn-lt"/>
              </a:rPr>
              <a:t>B</a:t>
            </a:r>
            <a:r>
              <a:rPr lang="zh-CN" altLang="en-US" sz="1200" kern="1200" dirty="0">
                <a:solidFill>
                  <a:schemeClr val="tx1"/>
                </a:solidFill>
                <a:effectLst/>
                <a:latin typeface="+mn-lt"/>
              </a:rPr>
              <a:t>项与其他三个不同。</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9.</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解析：选择不可能是该多面体的视图。</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项：不可能是该多面体的视图，当选；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项：是该多面体的后视图，排除；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项：先从多面体左侧观察得到左视图，再将左视图逆时针旋转</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zh-CN" altLang="en-US" sz="1200" kern="1200" dirty="0">
                <a:solidFill>
                  <a:schemeClr val="tx1"/>
                </a:solidFill>
                <a:effectLst/>
                <a:latin typeface="+mn-lt"/>
              </a:rPr>
              <a:t>，旋转后的图形与</a:t>
            </a:r>
            <a:r>
              <a:rPr lang="en-US" altLang="zh-CN" sz="1200" kern="1200" dirty="0">
                <a:solidFill>
                  <a:schemeClr val="tx1"/>
                </a:solidFill>
                <a:effectLst/>
                <a:latin typeface="+mn-lt"/>
              </a:rPr>
              <a:t>C</a:t>
            </a:r>
            <a:r>
              <a:rPr lang="zh-CN" altLang="en-US" sz="1200" kern="1200" dirty="0">
                <a:solidFill>
                  <a:schemeClr val="tx1"/>
                </a:solidFill>
                <a:effectLst/>
                <a:latin typeface="+mn-lt"/>
              </a:rPr>
              <a:t>项一致，排除；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项：先从多面体右侧观察得到右视图，再将右视图顺时针旋转</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zh-CN" altLang="en-US" sz="1200" kern="1200" dirty="0">
                <a:solidFill>
                  <a:schemeClr val="tx1"/>
                </a:solidFill>
                <a:effectLst/>
                <a:latin typeface="+mn-lt"/>
              </a:rPr>
              <a:t>，旋转后的图形与</a:t>
            </a:r>
            <a:r>
              <a:rPr lang="en-US" altLang="zh-CN" sz="1200" kern="1200" dirty="0">
                <a:solidFill>
                  <a:schemeClr val="tx1"/>
                </a:solidFill>
                <a:effectLst/>
                <a:latin typeface="+mn-lt"/>
              </a:rPr>
              <a:t>D</a:t>
            </a:r>
            <a:r>
              <a:rPr lang="zh-CN" altLang="en-US" sz="1200" kern="1200" dirty="0">
                <a:solidFill>
                  <a:schemeClr val="tx1"/>
                </a:solidFill>
                <a:effectLst/>
                <a:latin typeface="+mn-lt"/>
              </a:rPr>
              <a:t>项一致，排除。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10.</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解析：选择能够与最左边图形组合成实心正方体的选项。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所给图形是一个</a:t>
            </a:r>
            <a:r>
              <a:rPr lang="en-US" altLang="zh-CN" sz="1200" kern="1200" dirty="0">
                <a:solidFill>
                  <a:schemeClr val="tx1"/>
                </a:solidFill>
                <a:effectLst/>
                <a:latin typeface="+mn-lt"/>
              </a:rPr>
              <a:t>3</a:t>
            </a:r>
            <a:r>
              <a:rPr lang="zh-CN" altLang="en-US" sz="1200" kern="1200" dirty="0">
                <a:solidFill>
                  <a:schemeClr val="tx1"/>
                </a:solidFill>
                <a:effectLst/>
                <a:latin typeface="+mn-lt"/>
              </a:rPr>
              <a:t>层的残缺立体图形，按照题目要求最上层还需补充</a:t>
            </a:r>
            <a:r>
              <a:rPr lang="en-US" altLang="zh-CN" sz="1200" kern="1200" dirty="0">
                <a:solidFill>
                  <a:schemeClr val="tx1"/>
                </a:solidFill>
                <a:effectLst/>
                <a:latin typeface="+mn-lt"/>
              </a:rPr>
              <a:t>7</a:t>
            </a:r>
            <a:r>
              <a:rPr lang="zh-CN" altLang="en-US" sz="1200" kern="1200" dirty="0">
                <a:solidFill>
                  <a:schemeClr val="tx1"/>
                </a:solidFill>
                <a:effectLst/>
                <a:latin typeface="+mn-lt"/>
              </a:rPr>
              <a:t>块，中间层需补充</a:t>
            </a:r>
            <a:r>
              <a:rPr lang="en-US" altLang="zh-CN" sz="1200" kern="1200" dirty="0">
                <a:solidFill>
                  <a:schemeClr val="tx1"/>
                </a:solidFill>
                <a:effectLst/>
                <a:latin typeface="+mn-lt"/>
              </a:rPr>
              <a:t>3</a:t>
            </a:r>
            <a:r>
              <a:rPr lang="zh-CN" altLang="en-US" sz="1200" kern="1200" dirty="0">
                <a:solidFill>
                  <a:schemeClr val="tx1"/>
                </a:solidFill>
                <a:effectLst/>
                <a:latin typeface="+mn-lt"/>
              </a:rPr>
              <a:t>块，最底层需补充</a:t>
            </a:r>
            <a:r>
              <a:rPr lang="en-US" altLang="zh-CN" sz="1200" kern="1200" dirty="0">
                <a:solidFill>
                  <a:schemeClr val="tx1"/>
                </a:solidFill>
                <a:effectLst/>
                <a:latin typeface="+mn-lt"/>
              </a:rPr>
              <a:t>3</a:t>
            </a:r>
            <a:r>
              <a:rPr lang="zh-CN" altLang="en-US" sz="1200" kern="1200" dirty="0">
                <a:solidFill>
                  <a:schemeClr val="tx1"/>
                </a:solidFill>
                <a:effectLst/>
                <a:latin typeface="+mn-lt"/>
              </a:rPr>
              <a:t>块。观察选项，发现选项没有方块数量差异，所以需要结合位置进行选择。</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项：选项底层包含</a:t>
            </a:r>
            <a:r>
              <a:rPr lang="en-US" altLang="zh-CN" sz="1200" kern="1200" dirty="0">
                <a:solidFill>
                  <a:schemeClr val="tx1"/>
                </a:solidFill>
                <a:effectLst/>
                <a:latin typeface="+mn-lt"/>
              </a:rPr>
              <a:t>7</a:t>
            </a:r>
            <a:r>
              <a:rPr lang="zh-CN" altLang="en-US" sz="1200" kern="1200" dirty="0">
                <a:solidFill>
                  <a:schemeClr val="tx1"/>
                </a:solidFill>
                <a:effectLst/>
                <a:latin typeface="+mn-lt"/>
              </a:rPr>
              <a:t>个方块，需将其向上翻转后，如图所示，无法与题干完整组合，排除；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项：选项底层包含</a:t>
            </a:r>
            <a:r>
              <a:rPr lang="en-US" altLang="zh-CN" sz="1200" kern="1200" dirty="0">
                <a:solidFill>
                  <a:schemeClr val="tx1"/>
                </a:solidFill>
                <a:effectLst/>
                <a:latin typeface="+mn-lt"/>
              </a:rPr>
              <a:t>7</a:t>
            </a:r>
            <a:r>
              <a:rPr lang="zh-CN" altLang="en-US" sz="1200" kern="1200" dirty="0">
                <a:solidFill>
                  <a:schemeClr val="tx1"/>
                </a:solidFill>
                <a:effectLst/>
                <a:latin typeface="+mn-lt"/>
              </a:rPr>
              <a:t>个方块，需将其向上翻转后，如图所示，可以与题干完整组合成一个实心正方体，当选；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项：选项底层包含</a:t>
            </a:r>
            <a:r>
              <a:rPr lang="en-US" altLang="zh-CN" sz="1200" kern="1200" dirty="0">
                <a:solidFill>
                  <a:schemeClr val="tx1"/>
                </a:solidFill>
                <a:effectLst/>
                <a:latin typeface="+mn-lt"/>
              </a:rPr>
              <a:t>7</a:t>
            </a:r>
            <a:r>
              <a:rPr lang="zh-CN" altLang="en-US" sz="1200" kern="1200" dirty="0">
                <a:solidFill>
                  <a:schemeClr val="tx1"/>
                </a:solidFill>
                <a:effectLst/>
                <a:latin typeface="+mn-lt"/>
              </a:rPr>
              <a:t>个方块，需将其向上翻转后，如图所示，无法与题干完整组合，排除；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项：选项底层包含</a:t>
            </a:r>
            <a:r>
              <a:rPr lang="en-US" altLang="zh-CN" sz="1200" kern="1200" dirty="0">
                <a:solidFill>
                  <a:schemeClr val="tx1"/>
                </a:solidFill>
                <a:effectLst/>
                <a:latin typeface="+mn-lt"/>
              </a:rPr>
              <a:t>7</a:t>
            </a:r>
            <a:r>
              <a:rPr lang="zh-CN" altLang="en-US" sz="1200" kern="1200" dirty="0">
                <a:solidFill>
                  <a:schemeClr val="tx1"/>
                </a:solidFill>
                <a:effectLst/>
                <a:latin typeface="+mn-lt"/>
              </a:rPr>
              <a:t>个方块，需将其向上翻转后，如图所示，无法与题干完整拼接，排除。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11.</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解析：选择一项不可能是将该魔方拧动</a:t>
            </a:r>
            <a:r>
              <a:rPr lang="en-US" altLang="zh-CN" sz="1200" kern="1200" dirty="0">
                <a:solidFill>
                  <a:schemeClr val="tx1"/>
                </a:solidFill>
                <a:effectLst/>
                <a:latin typeface="+mn-lt"/>
              </a:rPr>
              <a:t>1</a:t>
            </a:r>
            <a:r>
              <a:rPr lang="zh-CN" altLang="en-US" sz="1200" kern="1200" dirty="0">
                <a:solidFill>
                  <a:schemeClr val="tx1"/>
                </a:solidFill>
                <a:effectLst/>
                <a:latin typeface="+mn-lt"/>
              </a:rPr>
              <a:t>次（位于同一平面的</a:t>
            </a:r>
            <a:r>
              <a:rPr lang="en-US" altLang="zh-CN" sz="1200" kern="1200" dirty="0">
                <a:solidFill>
                  <a:schemeClr val="tx1"/>
                </a:solidFill>
                <a:effectLst/>
                <a:latin typeface="+mn-lt"/>
              </a:rPr>
              <a:t>9</a:t>
            </a:r>
            <a:r>
              <a:rPr lang="zh-CN" altLang="en-US" sz="1200" kern="1200" dirty="0">
                <a:solidFill>
                  <a:schemeClr val="tx1"/>
                </a:solidFill>
                <a:effectLst/>
                <a:latin typeface="+mn-lt"/>
              </a:rPr>
              <a:t>个正方体旋转</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180</a:t>
            </a:r>
            <a:r>
              <a:rPr lang="en-US" altLang="en-US" sz="1200" kern="1200" dirty="0">
                <a:solidFill>
                  <a:schemeClr val="tx1"/>
                </a:solidFill>
                <a:effectLst/>
                <a:latin typeface="+mn-lt"/>
              </a:rPr>
              <a:t>°</a:t>
            </a:r>
            <a:r>
              <a:rPr lang="zh-CN" altLang="en-US" sz="1200" kern="1200" dirty="0">
                <a:solidFill>
                  <a:schemeClr val="tx1"/>
                </a:solidFill>
                <a:effectLst/>
                <a:latin typeface="+mn-lt"/>
              </a:rPr>
              <a:t>或</a:t>
            </a:r>
            <a:r>
              <a:rPr lang="en-US" altLang="zh-CN" sz="1200" kern="1200" dirty="0">
                <a:solidFill>
                  <a:schemeClr val="tx1"/>
                </a:solidFill>
                <a:effectLst/>
                <a:latin typeface="+mn-lt"/>
              </a:rPr>
              <a:t>270</a:t>
            </a:r>
            <a:r>
              <a:rPr lang="en-US" altLang="en-US" sz="1200" kern="1200" dirty="0">
                <a:solidFill>
                  <a:schemeClr val="tx1"/>
                </a:solidFill>
                <a:effectLst/>
                <a:latin typeface="+mn-lt"/>
              </a:rPr>
              <a:t>°</a:t>
            </a:r>
            <a:r>
              <a:rPr lang="zh-CN" altLang="en-US" sz="1200" kern="1200" dirty="0">
                <a:solidFill>
                  <a:schemeClr val="tx1"/>
                </a:solidFill>
                <a:effectLst/>
                <a:latin typeface="+mn-lt"/>
              </a:rPr>
              <a:t>）后的视图。</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项：将魔方第二垂直平面整体旋转</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zh-CN" altLang="en-US" sz="1200" kern="1200" dirty="0">
                <a:solidFill>
                  <a:schemeClr val="tx1"/>
                </a:solidFill>
                <a:effectLst/>
                <a:latin typeface="+mn-lt"/>
              </a:rPr>
              <a:t>后，如下图所示：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从俯视的视角即可观察到</a:t>
            </a:r>
            <a:r>
              <a:rPr lang="en-US" altLang="zh-CN" sz="1200" kern="1200" dirty="0">
                <a:solidFill>
                  <a:schemeClr val="tx1"/>
                </a:solidFill>
                <a:effectLst/>
                <a:latin typeface="+mn-lt"/>
              </a:rPr>
              <a:t>A</a:t>
            </a:r>
            <a:r>
              <a:rPr lang="zh-CN" altLang="en-US" sz="1200" kern="1200" dirty="0">
                <a:solidFill>
                  <a:schemeClr val="tx1"/>
                </a:solidFill>
                <a:effectLst/>
                <a:latin typeface="+mn-lt"/>
              </a:rPr>
              <a:t>项的视图，排除；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项：将魔方第三水平平面整体旋转</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zh-CN" altLang="en-US" sz="1200" kern="1200" dirty="0">
                <a:solidFill>
                  <a:schemeClr val="tx1"/>
                </a:solidFill>
                <a:effectLst/>
                <a:latin typeface="+mn-lt"/>
              </a:rPr>
              <a:t>后，如下图所示：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从后视的视角即可观察到</a:t>
            </a:r>
            <a:r>
              <a:rPr lang="en-US" altLang="zh-CN" sz="1200" kern="1200" dirty="0">
                <a:solidFill>
                  <a:schemeClr val="tx1"/>
                </a:solidFill>
                <a:effectLst/>
                <a:latin typeface="+mn-lt"/>
              </a:rPr>
              <a:t>B</a:t>
            </a:r>
            <a:r>
              <a:rPr lang="zh-CN" altLang="en-US" sz="1200" kern="1200" dirty="0">
                <a:solidFill>
                  <a:schemeClr val="tx1"/>
                </a:solidFill>
                <a:effectLst/>
                <a:latin typeface="+mn-lt"/>
              </a:rPr>
              <a:t>项的视图，排除；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项：将魔方第三水平平面整体旋转</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zh-CN" altLang="en-US" sz="1200" kern="1200" dirty="0">
                <a:solidFill>
                  <a:schemeClr val="tx1"/>
                </a:solidFill>
                <a:effectLst/>
                <a:latin typeface="+mn-lt"/>
              </a:rPr>
              <a:t>后，如下图所示：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从正视的视角观察到的视图应为如下图所示：</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再将看到的视图逆时针旋转</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zh-CN" altLang="en-US" sz="1200" kern="1200" dirty="0">
                <a:solidFill>
                  <a:schemeClr val="tx1"/>
                </a:solidFill>
                <a:effectLst/>
                <a:latin typeface="+mn-lt"/>
              </a:rPr>
              <a:t>后为，如下图所示：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也与</a:t>
            </a:r>
            <a:r>
              <a:rPr lang="en-US" altLang="zh-CN" sz="1200" kern="1200" dirty="0">
                <a:solidFill>
                  <a:schemeClr val="tx1"/>
                </a:solidFill>
                <a:effectLst/>
                <a:latin typeface="+mn-lt"/>
              </a:rPr>
              <a:t>C</a:t>
            </a:r>
            <a:r>
              <a:rPr lang="zh-CN" altLang="en-US" sz="1200" kern="1200" dirty="0">
                <a:solidFill>
                  <a:schemeClr val="tx1"/>
                </a:solidFill>
                <a:effectLst/>
                <a:latin typeface="+mn-lt"/>
              </a:rPr>
              <a:t>选项不符，结合提问方式，当选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项：将魔方第二行第二列对应的面整体旋转</a:t>
            </a:r>
            <a:r>
              <a:rPr lang="en-US" altLang="zh-CN" sz="1200" kern="1200" dirty="0">
                <a:solidFill>
                  <a:schemeClr val="tx1"/>
                </a:solidFill>
                <a:effectLst/>
                <a:latin typeface="+mn-lt"/>
              </a:rPr>
              <a:t>180</a:t>
            </a:r>
            <a:r>
              <a:rPr lang="en-US" altLang="en-US" sz="1200" kern="1200" dirty="0">
                <a:solidFill>
                  <a:schemeClr val="tx1"/>
                </a:solidFill>
                <a:effectLst/>
                <a:latin typeface="+mn-lt"/>
              </a:rPr>
              <a:t>°</a:t>
            </a:r>
            <a:r>
              <a:rPr lang="zh-CN" altLang="en-US" sz="1200" kern="1200" dirty="0">
                <a:solidFill>
                  <a:schemeClr val="tx1"/>
                </a:solidFill>
                <a:effectLst/>
                <a:latin typeface="+mn-lt"/>
              </a:rPr>
              <a:t>后，如下图所示：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从左视的视角即可观察到</a:t>
            </a:r>
            <a:r>
              <a:rPr lang="en-US" altLang="zh-CN" sz="1200" kern="1200" dirty="0">
                <a:solidFill>
                  <a:schemeClr val="tx1"/>
                </a:solidFill>
                <a:effectLst/>
                <a:latin typeface="+mn-lt"/>
              </a:rPr>
              <a:t>D</a:t>
            </a:r>
            <a:r>
              <a:rPr lang="zh-CN" altLang="en-US" sz="1200" kern="1200" dirty="0">
                <a:solidFill>
                  <a:schemeClr val="tx1"/>
                </a:solidFill>
                <a:effectLst/>
                <a:latin typeface="+mn-lt"/>
              </a:rPr>
              <a:t>项的视图，排除。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12.</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解析：选择经</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三个顶点的平面切出的选项。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如下图所示，经过</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三个点斜切，只有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项能切出。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13.</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解析：题干让找景物位置，这是一道视图题。</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观察者小冯面向高塔和矮塔，且矮塔在其左侧，高塔在其右侧，排除</a:t>
            </a:r>
            <a:r>
              <a:rPr lang="en-US" altLang="zh-CN" sz="1200" kern="1200" dirty="0">
                <a:solidFill>
                  <a:schemeClr val="tx1"/>
                </a:solidFill>
                <a:effectLst/>
                <a:latin typeface="+mn-lt"/>
              </a:rPr>
              <a:t>B</a:t>
            </a:r>
            <a:r>
              <a:rPr lang="zh-CN" altLang="en-US" sz="1200" kern="1200" dirty="0">
                <a:solidFill>
                  <a:schemeClr val="tx1"/>
                </a:solidFill>
                <a:effectLst/>
                <a:latin typeface="+mn-lt"/>
              </a:rPr>
              <a:t>和</a:t>
            </a:r>
            <a:r>
              <a:rPr lang="en-US" altLang="zh-CN" sz="1200" kern="1200" dirty="0">
                <a:solidFill>
                  <a:schemeClr val="tx1"/>
                </a:solidFill>
                <a:effectLst/>
                <a:latin typeface="+mn-lt"/>
              </a:rPr>
              <a:t>C</a:t>
            </a:r>
            <a:r>
              <a:rPr lang="zh-CN" altLang="en-US" sz="1200" kern="1200" dirty="0">
                <a:solidFill>
                  <a:schemeClr val="tx1"/>
                </a:solidFill>
                <a:effectLst/>
                <a:latin typeface="+mn-lt"/>
              </a:rPr>
              <a:t>项；高塔后面有个树，并挡住树的一部分，没有被高塔挡住树的部分，又挡住了矮塔一部分，说明高塔在矮塔前面，排除</a:t>
            </a:r>
            <a:r>
              <a:rPr lang="en-US" altLang="zh-CN" sz="1200" kern="1200" dirty="0">
                <a:solidFill>
                  <a:schemeClr val="tx1"/>
                </a:solidFill>
                <a:effectLst/>
                <a:latin typeface="+mn-lt"/>
              </a:rPr>
              <a:t>D</a:t>
            </a:r>
            <a:r>
              <a:rPr lang="zh-CN" altLang="en-US" sz="1200" kern="1200" dirty="0">
                <a:solidFill>
                  <a:schemeClr val="tx1"/>
                </a:solidFill>
                <a:effectLst/>
                <a:latin typeface="+mn-lt"/>
              </a:rPr>
              <a:t>选项。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14.</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时刻</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历史</a:t>
            </a:r>
            <a:r>
              <a:rPr lang="en-US" altLang="zh-CN" sz="1200" kern="1200" dirty="0">
                <a:solidFill>
                  <a:schemeClr val="tx1"/>
                </a:solidFill>
                <a:effectLst/>
                <a:latin typeface="+mn-lt"/>
              </a:rPr>
              <a:t>”</a:t>
            </a:r>
            <a:r>
              <a:rPr lang="zh-CN" altLang="en-US" sz="1200" kern="1200" dirty="0">
                <a:solidFill>
                  <a:schemeClr val="tx1"/>
                </a:solidFill>
                <a:effectLst/>
                <a:latin typeface="+mn-lt"/>
              </a:rPr>
              <a:t>事件发生的时间节点，二者属于组成关系；</a:t>
            </a:r>
            <a:r>
              <a:rPr lang="en-US" altLang="zh-CN" sz="1200" kern="1200" dirty="0">
                <a:solidFill>
                  <a:schemeClr val="tx1"/>
                </a:solidFill>
                <a:effectLst/>
                <a:latin typeface="+mn-lt"/>
              </a:rPr>
              <a:t>“</a:t>
            </a:r>
            <a:r>
              <a:rPr lang="zh-CN" altLang="en-US" sz="1200" kern="1200" dirty="0">
                <a:solidFill>
                  <a:schemeClr val="tx1"/>
                </a:solidFill>
                <a:effectLst/>
                <a:latin typeface="+mn-lt"/>
              </a:rPr>
              <a:t>地图</a:t>
            </a:r>
            <a:r>
              <a:rPr lang="en-US" altLang="zh-CN" sz="1200" kern="1200" dirty="0">
                <a:solidFill>
                  <a:schemeClr val="tx1"/>
                </a:solidFill>
                <a:effectLst/>
                <a:latin typeface="+mn-lt"/>
              </a:rPr>
              <a:t>”</a:t>
            </a:r>
            <a:r>
              <a:rPr lang="zh-CN" altLang="en-US" sz="1200" kern="1200" dirty="0">
                <a:solidFill>
                  <a:schemeClr val="tx1"/>
                </a:solidFill>
                <a:effectLst/>
                <a:latin typeface="+mn-lt"/>
              </a:rPr>
              <a:t>是标注</a:t>
            </a:r>
            <a:r>
              <a:rPr lang="en-US" altLang="zh-CN" sz="1200" kern="1200" dirty="0">
                <a:solidFill>
                  <a:schemeClr val="tx1"/>
                </a:solidFill>
                <a:effectLst/>
                <a:latin typeface="+mn-lt"/>
              </a:rPr>
              <a:t>“</a:t>
            </a:r>
            <a:r>
              <a:rPr lang="zh-CN" altLang="en-US" sz="1200" kern="1200" dirty="0">
                <a:solidFill>
                  <a:schemeClr val="tx1"/>
                </a:solidFill>
                <a:effectLst/>
                <a:latin typeface="+mn-lt"/>
              </a:rPr>
              <a:t>地点</a:t>
            </a:r>
            <a:r>
              <a:rPr lang="en-US" altLang="zh-CN" sz="1200" kern="1200" dirty="0">
                <a:solidFill>
                  <a:schemeClr val="tx1"/>
                </a:solidFill>
                <a:effectLst/>
                <a:latin typeface="+mn-lt"/>
              </a:rPr>
              <a:t>”</a:t>
            </a:r>
            <a:r>
              <a:rPr lang="zh-CN" altLang="en-US" sz="1200" kern="1200" dirty="0">
                <a:solidFill>
                  <a:schemeClr val="tx1"/>
                </a:solidFill>
                <a:effectLst/>
                <a:latin typeface="+mn-lt"/>
              </a:rPr>
              <a:t>的工具，二者属于工具对应关系，前后逻辑关系不一致，排除；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刻度</a:t>
            </a:r>
            <a:r>
              <a:rPr lang="en-US" altLang="zh-CN" sz="1200" kern="1200" dirty="0">
                <a:solidFill>
                  <a:schemeClr val="tx1"/>
                </a:solidFill>
                <a:effectLst/>
                <a:latin typeface="+mn-lt"/>
              </a:rPr>
              <a:t>”</a:t>
            </a:r>
            <a:r>
              <a:rPr lang="zh-CN" altLang="en-US" sz="1200" kern="1200" dirty="0">
                <a:solidFill>
                  <a:schemeClr val="tx1"/>
                </a:solidFill>
                <a:effectLst/>
                <a:latin typeface="+mn-lt"/>
              </a:rPr>
              <a:t>是测量</a:t>
            </a:r>
            <a:r>
              <a:rPr lang="en-US" altLang="zh-CN" sz="1200" kern="1200" dirty="0">
                <a:solidFill>
                  <a:schemeClr val="tx1"/>
                </a:solidFill>
                <a:effectLst/>
                <a:latin typeface="+mn-lt"/>
              </a:rPr>
              <a:t>“</a:t>
            </a:r>
            <a:r>
              <a:rPr lang="zh-CN" altLang="en-US" sz="1200" kern="1200" dirty="0">
                <a:solidFill>
                  <a:schemeClr val="tx1"/>
                </a:solidFill>
                <a:effectLst/>
                <a:latin typeface="+mn-lt"/>
              </a:rPr>
              <a:t>时刻</a:t>
            </a:r>
            <a:r>
              <a:rPr lang="en-US" altLang="zh-CN" sz="1200" kern="1200" dirty="0">
                <a:solidFill>
                  <a:schemeClr val="tx1"/>
                </a:solidFill>
                <a:effectLst/>
                <a:latin typeface="+mn-lt"/>
              </a:rPr>
              <a:t>”</a:t>
            </a:r>
            <a:r>
              <a:rPr lang="zh-CN" altLang="en-US" sz="1200" kern="1200" dirty="0">
                <a:solidFill>
                  <a:schemeClr val="tx1"/>
                </a:solidFill>
                <a:effectLst/>
                <a:latin typeface="+mn-lt"/>
              </a:rPr>
              <a:t>的标记，</a:t>
            </a:r>
            <a:r>
              <a:rPr lang="en-US" altLang="zh-CN" sz="1200" kern="1200" dirty="0">
                <a:solidFill>
                  <a:schemeClr val="tx1"/>
                </a:solidFill>
                <a:effectLst/>
                <a:latin typeface="+mn-lt"/>
              </a:rPr>
              <a:t>“</a:t>
            </a:r>
            <a:r>
              <a:rPr lang="zh-CN" altLang="en-US" sz="1200" kern="1200" dirty="0">
                <a:solidFill>
                  <a:schemeClr val="tx1"/>
                </a:solidFill>
                <a:effectLst/>
                <a:latin typeface="+mn-lt"/>
              </a:rPr>
              <a:t>坐标</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地图</a:t>
            </a:r>
            <a:r>
              <a:rPr lang="en-US" altLang="zh-CN" sz="1200" kern="1200" dirty="0">
                <a:solidFill>
                  <a:schemeClr val="tx1"/>
                </a:solidFill>
                <a:effectLst/>
                <a:latin typeface="+mn-lt"/>
              </a:rPr>
              <a:t>”</a:t>
            </a:r>
            <a:r>
              <a:rPr lang="zh-CN" altLang="en-US" sz="1200" kern="1200" dirty="0">
                <a:solidFill>
                  <a:schemeClr val="tx1"/>
                </a:solidFill>
                <a:effectLst/>
                <a:latin typeface="+mn-lt"/>
              </a:rPr>
              <a:t>上定位的工具，前后均为对应关系，前后词语顺序不一致，排除；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日晷</a:t>
            </a:r>
            <a:r>
              <a:rPr lang="en-US" altLang="zh-CN" sz="1200" kern="1200" dirty="0">
                <a:solidFill>
                  <a:schemeClr val="tx1"/>
                </a:solidFill>
                <a:effectLst/>
                <a:latin typeface="+mn-lt"/>
              </a:rPr>
              <a:t>”</a:t>
            </a:r>
            <a:r>
              <a:rPr lang="zh-CN" altLang="en-US" sz="1200" kern="1200" dirty="0">
                <a:solidFill>
                  <a:schemeClr val="tx1"/>
                </a:solidFill>
                <a:effectLst/>
                <a:latin typeface="+mn-lt"/>
              </a:rPr>
              <a:t>是显示</a:t>
            </a:r>
            <a:r>
              <a:rPr lang="en-US" altLang="zh-CN" sz="1200" kern="1200" dirty="0">
                <a:solidFill>
                  <a:schemeClr val="tx1"/>
                </a:solidFill>
                <a:effectLst/>
                <a:latin typeface="+mn-lt"/>
              </a:rPr>
              <a:t>“</a:t>
            </a:r>
            <a:r>
              <a:rPr lang="zh-CN" altLang="en-US" sz="1200" kern="1200" dirty="0">
                <a:solidFill>
                  <a:schemeClr val="tx1"/>
                </a:solidFill>
                <a:effectLst/>
                <a:latin typeface="+mn-lt"/>
              </a:rPr>
              <a:t>时刻</a:t>
            </a:r>
            <a:r>
              <a:rPr lang="en-US" altLang="zh-CN" sz="1200" kern="1200" dirty="0">
                <a:solidFill>
                  <a:schemeClr val="tx1"/>
                </a:solidFill>
                <a:effectLst/>
                <a:latin typeface="+mn-lt"/>
              </a:rPr>
              <a:t>”</a:t>
            </a:r>
            <a:r>
              <a:rPr lang="zh-CN" altLang="en-US" sz="1200" kern="1200" dirty="0">
                <a:solidFill>
                  <a:schemeClr val="tx1"/>
                </a:solidFill>
                <a:effectLst/>
                <a:latin typeface="+mn-lt"/>
              </a:rPr>
              <a:t>的工具（日晷的核心功能是通过光影对应时刻），</a:t>
            </a:r>
            <a:r>
              <a:rPr lang="en-US" altLang="zh-CN" sz="1200" kern="1200" dirty="0">
                <a:solidFill>
                  <a:schemeClr val="tx1"/>
                </a:solidFill>
                <a:effectLst/>
                <a:latin typeface="+mn-lt"/>
              </a:rPr>
              <a:t>“</a:t>
            </a:r>
            <a:r>
              <a:rPr lang="zh-CN" altLang="en-US" sz="1200" kern="1200" dirty="0">
                <a:solidFill>
                  <a:schemeClr val="tx1"/>
                </a:solidFill>
                <a:effectLst/>
                <a:latin typeface="+mn-lt"/>
              </a:rPr>
              <a:t>地图</a:t>
            </a:r>
            <a:r>
              <a:rPr lang="en-US" altLang="zh-CN" sz="1200" kern="1200" dirty="0">
                <a:solidFill>
                  <a:schemeClr val="tx1"/>
                </a:solidFill>
                <a:effectLst/>
                <a:latin typeface="+mn-lt"/>
              </a:rPr>
              <a:t>”</a:t>
            </a:r>
            <a:r>
              <a:rPr lang="zh-CN" altLang="en-US" sz="1200" kern="1200" dirty="0">
                <a:solidFill>
                  <a:schemeClr val="tx1"/>
                </a:solidFill>
                <a:effectLst/>
                <a:latin typeface="+mn-lt"/>
              </a:rPr>
              <a:t>是显示</a:t>
            </a:r>
            <a:r>
              <a:rPr lang="en-US" altLang="zh-CN" sz="1200" kern="1200" dirty="0">
                <a:solidFill>
                  <a:schemeClr val="tx1"/>
                </a:solidFill>
                <a:effectLst/>
                <a:latin typeface="+mn-lt"/>
              </a:rPr>
              <a:t>“</a:t>
            </a:r>
            <a:r>
              <a:rPr lang="zh-CN" altLang="en-US" sz="1200" kern="1200" dirty="0">
                <a:solidFill>
                  <a:schemeClr val="tx1"/>
                </a:solidFill>
                <a:effectLst/>
                <a:latin typeface="+mn-lt"/>
              </a:rPr>
              <a:t>位置</a:t>
            </a:r>
            <a:r>
              <a:rPr lang="en-US" altLang="zh-CN" sz="1200" kern="1200" dirty="0">
                <a:solidFill>
                  <a:schemeClr val="tx1"/>
                </a:solidFill>
                <a:effectLst/>
                <a:latin typeface="+mn-lt"/>
              </a:rPr>
              <a:t>”</a:t>
            </a:r>
            <a:r>
              <a:rPr lang="zh-CN" altLang="en-US" sz="1200" kern="1200" dirty="0">
                <a:solidFill>
                  <a:schemeClr val="tx1"/>
                </a:solidFill>
                <a:effectLst/>
                <a:latin typeface="+mn-lt"/>
              </a:rPr>
              <a:t>的工具（地图的核心功能是通过图形标注位置），前后均为工具对应，前后逻辑关系一致，当选；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时刻</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周期</a:t>
            </a:r>
            <a:r>
              <a:rPr lang="en-US" altLang="zh-CN" sz="1200" kern="1200" dirty="0">
                <a:solidFill>
                  <a:schemeClr val="tx1"/>
                </a:solidFill>
                <a:effectLst/>
                <a:latin typeface="+mn-lt"/>
              </a:rPr>
              <a:t>”</a:t>
            </a:r>
            <a:r>
              <a:rPr lang="zh-CN" altLang="en-US" sz="1200" kern="1200" dirty="0">
                <a:solidFill>
                  <a:schemeClr val="tx1"/>
                </a:solidFill>
                <a:effectLst/>
                <a:latin typeface="+mn-lt"/>
              </a:rPr>
              <a:t>中的一个时间节点，</a:t>
            </a:r>
            <a:r>
              <a:rPr lang="en-US" altLang="zh-CN" sz="1200" kern="1200" dirty="0">
                <a:solidFill>
                  <a:schemeClr val="tx1"/>
                </a:solidFill>
                <a:effectLst/>
                <a:latin typeface="+mn-lt"/>
              </a:rPr>
              <a:t>“</a:t>
            </a:r>
            <a:r>
              <a:rPr lang="zh-CN" altLang="en-US" sz="1200" kern="1200" dirty="0">
                <a:solidFill>
                  <a:schemeClr val="tx1"/>
                </a:solidFill>
                <a:effectLst/>
                <a:latin typeface="+mn-lt"/>
              </a:rPr>
              <a:t>经纬</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地图</a:t>
            </a:r>
            <a:r>
              <a:rPr lang="en-US" altLang="zh-CN" sz="1200" kern="1200" dirty="0">
                <a:solidFill>
                  <a:schemeClr val="tx1"/>
                </a:solidFill>
                <a:effectLst/>
                <a:latin typeface="+mn-lt"/>
              </a:rPr>
              <a:t>”</a:t>
            </a:r>
            <a:r>
              <a:rPr lang="zh-CN" altLang="en-US" sz="1200" kern="1200" dirty="0">
                <a:solidFill>
                  <a:schemeClr val="tx1"/>
                </a:solidFill>
                <a:effectLst/>
                <a:latin typeface="+mn-lt"/>
              </a:rPr>
              <a:t>上的坐标系统，前后对应方式不一致，排除。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15.</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r>
              <a:rPr lang="en-US" altLang="zh-CN" sz="1200" kern="1200" dirty="0">
                <a:solidFill>
                  <a:schemeClr val="tx1"/>
                </a:solidFill>
                <a:effectLst/>
                <a:latin typeface="+mn-lt"/>
              </a:rPr>
              <a:t>“</a:t>
            </a:r>
            <a:r>
              <a:rPr lang="zh-CN" altLang="en-US" sz="1200" kern="1200" dirty="0">
                <a:solidFill>
                  <a:schemeClr val="tx1"/>
                </a:solidFill>
                <a:effectLst/>
                <a:latin typeface="+mn-lt"/>
              </a:rPr>
              <a:t>图书馆</a:t>
            </a:r>
            <a:r>
              <a:rPr lang="en-US" altLang="zh-CN" sz="1200" kern="1200" dirty="0">
                <a:solidFill>
                  <a:schemeClr val="tx1"/>
                </a:solidFill>
                <a:effectLst/>
                <a:latin typeface="+mn-lt"/>
              </a:rPr>
              <a:t>”</a:t>
            </a:r>
            <a:r>
              <a:rPr lang="zh-CN" altLang="en-US" sz="1200" kern="1200" dirty="0">
                <a:solidFill>
                  <a:schemeClr val="tx1"/>
                </a:solidFill>
                <a:effectLst/>
                <a:latin typeface="+mn-lt"/>
              </a:rPr>
              <a:t>是进行</a:t>
            </a:r>
            <a:r>
              <a:rPr lang="en-US" altLang="zh-CN" sz="1200" kern="1200" dirty="0">
                <a:solidFill>
                  <a:schemeClr val="tx1"/>
                </a:solidFill>
                <a:effectLst/>
                <a:latin typeface="+mn-lt"/>
              </a:rPr>
              <a:t>“</a:t>
            </a:r>
            <a:r>
              <a:rPr lang="zh-CN" altLang="en-US" sz="1200" kern="1200" dirty="0">
                <a:solidFill>
                  <a:schemeClr val="tx1"/>
                </a:solidFill>
                <a:effectLst/>
                <a:latin typeface="+mn-lt"/>
              </a:rPr>
              <a:t>文献检索</a:t>
            </a:r>
            <a:r>
              <a:rPr lang="en-US" altLang="zh-CN" sz="1200" kern="1200" dirty="0">
                <a:solidFill>
                  <a:schemeClr val="tx1"/>
                </a:solidFill>
                <a:effectLst/>
                <a:latin typeface="+mn-lt"/>
              </a:rPr>
              <a:t>”</a:t>
            </a:r>
            <a:r>
              <a:rPr lang="zh-CN" altLang="en-US" sz="1200" kern="1200" dirty="0">
                <a:solidFill>
                  <a:schemeClr val="tx1"/>
                </a:solidFill>
                <a:effectLst/>
                <a:latin typeface="+mn-lt"/>
              </a:rPr>
              <a:t>的主要场所，目的是为了找到</a:t>
            </a:r>
            <a:r>
              <a:rPr lang="en-US" altLang="zh-CN" sz="1200" kern="1200" dirty="0">
                <a:solidFill>
                  <a:schemeClr val="tx1"/>
                </a:solidFill>
                <a:effectLst/>
                <a:latin typeface="+mn-lt"/>
              </a:rPr>
              <a:t>“</a:t>
            </a:r>
            <a:r>
              <a:rPr lang="zh-CN" altLang="en-US" sz="1200" kern="1200" dirty="0">
                <a:solidFill>
                  <a:schemeClr val="tx1"/>
                </a:solidFill>
                <a:effectLst/>
                <a:latin typeface="+mn-lt"/>
              </a:rPr>
              <a:t>论文</a:t>
            </a:r>
            <a:r>
              <a:rPr lang="en-US" altLang="zh-CN" sz="1200" kern="1200" dirty="0">
                <a:solidFill>
                  <a:schemeClr val="tx1"/>
                </a:solidFill>
                <a:effectLst/>
                <a:latin typeface="+mn-lt"/>
              </a:rPr>
              <a:t>”</a:t>
            </a:r>
            <a:r>
              <a:rPr lang="zh-CN" altLang="en-US" sz="1200" kern="1200" dirty="0">
                <a:solidFill>
                  <a:schemeClr val="tx1"/>
                </a:solidFill>
                <a:effectLst/>
                <a:latin typeface="+mn-lt"/>
              </a:rPr>
              <a:t>，三者属于行为、对象、场所之间的对应关系。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休闲娱乐</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民众</a:t>
            </a:r>
            <a:r>
              <a:rPr lang="en-US" altLang="zh-CN" sz="1200" kern="1200" dirty="0">
                <a:solidFill>
                  <a:schemeClr val="tx1"/>
                </a:solidFill>
                <a:effectLst/>
                <a:latin typeface="+mn-lt"/>
              </a:rPr>
              <a:t>”</a:t>
            </a:r>
            <a:r>
              <a:rPr lang="zh-CN" altLang="en-US" sz="1200" kern="1200" dirty="0">
                <a:solidFill>
                  <a:schemeClr val="tx1"/>
                </a:solidFill>
                <a:effectLst/>
                <a:latin typeface="+mn-lt"/>
              </a:rPr>
              <a:t>在</a:t>
            </a:r>
            <a:r>
              <a:rPr lang="en-US" altLang="zh-CN" sz="1200" kern="1200" dirty="0">
                <a:solidFill>
                  <a:schemeClr val="tx1"/>
                </a:solidFill>
                <a:effectLst/>
                <a:latin typeface="+mn-lt"/>
              </a:rPr>
              <a:t>“</a:t>
            </a:r>
            <a:r>
              <a:rPr lang="zh-CN" altLang="en-US" sz="1200" kern="1200" dirty="0">
                <a:solidFill>
                  <a:schemeClr val="tx1"/>
                </a:solidFill>
                <a:effectLst/>
                <a:latin typeface="+mn-lt"/>
              </a:rPr>
              <a:t>假期</a:t>
            </a:r>
            <a:r>
              <a:rPr lang="en-US" altLang="zh-CN" sz="1200" kern="1200" dirty="0">
                <a:solidFill>
                  <a:schemeClr val="tx1"/>
                </a:solidFill>
                <a:effectLst/>
                <a:latin typeface="+mn-lt"/>
              </a:rPr>
              <a:t>”</a:t>
            </a:r>
            <a:r>
              <a:rPr lang="zh-CN" altLang="en-US" sz="1200" kern="1200" dirty="0">
                <a:solidFill>
                  <a:schemeClr val="tx1"/>
                </a:solidFill>
                <a:effectLst/>
                <a:latin typeface="+mn-lt"/>
              </a:rPr>
              <a:t>进行的活动，三者属于活动、主体、时间之间的对应关系，排除；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促销推广</a:t>
            </a:r>
            <a:r>
              <a:rPr lang="en-US" altLang="zh-CN" sz="1200" kern="1200" dirty="0">
                <a:solidFill>
                  <a:schemeClr val="tx1"/>
                </a:solidFill>
                <a:effectLst/>
                <a:latin typeface="+mn-lt"/>
              </a:rPr>
              <a:t>”</a:t>
            </a:r>
            <a:r>
              <a:rPr lang="zh-CN" altLang="en-US" sz="1200" kern="1200" dirty="0">
                <a:solidFill>
                  <a:schemeClr val="tx1"/>
                </a:solidFill>
                <a:effectLst/>
                <a:latin typeface="+mn-lt"/>
              </a:rPr>
              <a:t>在</a:t>
            </a:r>
            <a:r>
              <a:rPr lang="en-US" altLang="zh-CN" sz="1200" kern="1200" dirty="0">
                <a:solidFill>
                  <a:schemeClr val="tx1"/>
                </a:solidFill>
                <a:effectLst/>
                <a:latin typeface="+mn-lt"/>
              </a:rPr>
              <a:t>“</a:t>
            </a:r>
            <a:r>
              <a:rPr lang="zh-CN" altLang="en-US" sz="1200" kern="1200" dirty="0">
                <a:solidFill>
                  <a:schemeClr val="tx1"/>
                </a:solidFill>
                <a:effectLst/>
                <a:latin typeface="+mn-lt"/>
              </a:rPr>
              <a:t>商场</a:t>
            </a:r>
            <a:r>
              <a:rPr lang="en-US" altLang="zh-CN" sz="1200" kern="1200" dirty="0">
                <a:solidFill>
                  <a:schemeClr val="tx1"/>
                </a:solidFill>
                <a:effectLst/>
                <a:latin typeface="+mn-lt"/>
              </a:rPr>
              <a:t>”</a:t>
            </a:r>
            <a:r>
              <a:rPr lang="zh-CN" altLang="en-US" sz="1200" kern="1200" dirty="0">
                <a:solidFill>
                  <a:schemeClr val="tx1"/>
                </a:solidFill>
                <a:effectLst/>
                <a:latin typeface="+mn-lt"/>
              </a:rPr>
              <a:t>进行，但是</a:t>
            </a:r>
            <a:r>
              <a:rPr lang="en-US" altLang="zh-CN" sz="1200" kern="1200" dirty="0">
                <a:solidFill>
                  <a:schemeClr val="tx1"/>
                </a:solidFill>
                <a:effectLst/>
                <a:latin typeface="+mn-lt"/>
              </a:rPr>
              <a:t>“</a:t>
            </a:r>
            <a:r>
              <a:rPr lang="zh-CN" altLang="en-US" sz="1200" kern="1200" dirty="0">
                <a:solidFill>
                  <a:schemeClr val="tx1"/>
                </a:solidFill>
                <a:effectLst/>
                <a:latin typeface="+mn-lt"/>
              </a:rPr>
              <a:t>价格</a:t>
            </a:r>
            <a:r>
              <a:rPr lang="en-US" altLang="zh-CN" sz="1200" kern="1200" dirty="0">
                <a:solidFill>
                  <a:schemeClr val="tx1"/>
                </a:solidFill>
                <a:effectLst/>
                <a:latin typeface="+mn-lt"/>
              </a:rPr>
              <a:t>”</a:t>
            </a:r>
            <a:r>
              <a:rPr lang="zh-CN" altLang="en-US" sz="1200" kern="1200" dirty="0">
                <a:solidFill>
                  <a:schemeClr val="tx1"/>
                </a:solidFill>
                <a:effectLst/>
                <a:latin typeface="+mn-lt"/>
              </a:rPr>
              <a:t>是促销中涉及的因素而不是对象，排除；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检查诊断</a:t>
            </a:r>
            <a:r>
              <a:rPr lang="en-US" altLang="zh-CN" sz="1200" kern="1200" dirty="0">
                <a:solidFill>
                  <a:schemeClr val="tx1"/>
                </a:solidFill>
                <a:effectLst/>
                <a:latin typeface="+mn-lt"/>
              </a:rPr>
              <a:t>”</a:t>
            </a:r>
            <a:r>
              <a:rPr lang="zh-CN" altLang="en-US" sz="1200" kern="1200" dirty="0">
                <a:solidFill>
                  <a:schemeClr val="tx1"/>
                </a:solidFill>
                <a:effectLst/>
                <a:latin typeface="+mn-lt"/>
              </a:rPr>
              <a:t>是在</a:t>
            </a:r>
            <a:r>
              <a:rPr lang="en-US" altLang="zh-CN" sz="1200" kern="1200" dirty="0">
                <a:solidFill>
                  <a:schemeClr val="tx1"/>
                </a:solidFill>
                <a:effectLst/>
                <a:latin typeface="+mn-lt"/>
              </a:rPr>
              <a:t>“</a:t>
            </a:r>
            <a:r>
              <a:rPr lang="zh-CN" altLang="en-US" sz="1200" kern="1200" dirty="0">
                <a:solidFill>
                  <a:schemeClr val="tx1"/>
                </a:solidFill>
                <a:effectLst/>
                <a:latin typeface="+mn-lt"/>
              </a:rPr>
              <a:t>医院</a:t>
            </a:r>
            <a:r>
              <a:rPr lang="en-US" altLang="zh-CN" sz="1200" kern="1200" dirty="0">
                <a:solidFill>
                  <a:schemeClr val="tx1"/>
                </a:solidFill>
                <a:effectLst/>
                <a:latin typeface="+mn-lt"/>
              </a:rPr>
              <a:t>”</a:t>
            </a:r>
            <a:r>
              <a:rPr lang="zh-CN" altLang="en-US" sz="1200" kern="1200" dirty="0">
                <a:solidFill>
                  <a:schemeClr val="tx1"/>
                </a:solidFill>
                <a:effectLst/>
                <a:latin typeface="+mn-lt"/>
              </a:rPr>
              <a:t>进行的活动，目的是发现或确认</a:t>
            </a:r>
            <a:r>
              <a:rPr lang="en-US" altLang="zh-CN" sz="1200" kern="1200" dirty="0">
                <a:solidFill>
                  <a:schemeClr val="tx1"/>
                </a:solidFill>
                <a:effectLst/>
                <a:latin typeface="+mn-lt"/>
              </a:rPr>
              <a:t>“</a:t>
            </a:r>
            <a:r>
              <a:rPr lang="zh-CN" altLang="en-US" sz="1200" kern="1200" dirty="0">
                <a:solidFill>
                  <a:schemeClr val="tx1"/>
                </a:solidFill>
                <a:effectLst/>
                <a:latin typeface="+mn-lt"/>
              </a:rPr>
              <a:t>疾病</a:t>
            </a:r>
            <a:r>
              <a:rPr lang="en-US" altLang="zh-CN" sz="1200" kern="1200" dirty="0">
                <a:solidFill>
                  <a:schemeClr val="tx1"/>
                </a:solidFill>
                <a:effectLst/>
                <a:latin typeface="+mn-lt"/>
              </a:rPr>
              <a:t>”</a:t>
            </a:r>
            <a:r>
              <a:rPr lang="zh-CN" altLang="en-US" sz="1200" kern="1200" dirty="0">
                <a:solidFill>
                  <a:schemeClr val="tx1"/>
                </a:solidFill>
                <a:effectLst/>
                <a:latin typeface="+mn-lt"/>
              </a:rPr>
              <a:t>，三者属于行为、对象、场所之间的对应关系，当选；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嫁接修剪</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果农</a:t>
            </a:r>
            <a:r>
              <a:rPr lang="en-US" altLang="zh-CN" sz="1200" kern="1200" dirty="0">
                <a:solidFill>
                  <a:schemeClr val="tx1"/>
                </a:solidFill>
                <a:effectLst/>
                <a:latin typeface="+mn-lt"/>
              </a:rPr>
              <a:t>”</a:t>
            </a:r>
            <a:r>
              <a:rPr lang="zh-CN" altLang="en-US" sz="1200" kern="1200" dirty="0">
                <a:solidFill>
                  <a:schemeClr val="tx1"/>
                </a:solidFill>
                <a:effectLst/>
                <a:latin typeface="+mn-lt"/>
              </a:rPr>
              <a:t>对</a:t>
            </a:r>
            <a:r>
              <a:rPr lang="en-US" altLang="zh-CN" sz="1200" kern="1200" dirty="0">
                <a:solidFill>
                  <a:schemeClr val="tx1"/>
                </a:solidFill>
                <a:effectLst/>
                <a:latin typeface="+mn-lt"/>
              </a:rPr>
              <a:t>“</a:t>
            </a:r>
            <a:r>
              <a:rPr lang="zh-CN" altLang="en-US" sz="1200" kern="1200" dirty="0">
                <a:solidFill>
                  <a:schemeClr val="tx1"/>
                </a:solidFill>
                <a:effectLst/>
                <a:latin typeface="+mn-lt"/>
              </a:rPr>
              <a:t>果树</a:t>
            </a:r>
            <a:r>
              <a:rPr lang="en-US" altLang="zh-CN" sz="1200" kern="1200" dirty="0">
                <a:solidFill>
                  <a:schemeClr val="tx1"/>
                </a:solidFill>
                <a:effectLst/>
                <a:latin typeface="+mn-lt"/>
              </a:rPr>
              <a:t>”</a:t>
            </a:r>
            <a:r>
              <a:rPr lang="zh-CN" altLang="en-US" sz="1200" kern="1200" dirty="0">
                <a:solidFill>
                  <a:schemeClr val="tx1"/>
                </a:solidFill>
                <a:effectLst/>
                <a:latin typeface="+mn-lt"/>
              </a:rPr>
              <a:t>的农事活动，但第三个词是</a:t>
            </a:r>
            <a:r>
              <a:rPr lang="en-US" altLang="zh-CN" sz="1200" kern="1200" dirty="0">
                <a:solidFill>
                  <a:schemeClr val="tx1"/>
                </a:solidFill>
                <a:effectLst/>
                <a:latin typeface="+mn-lt"/>
              </a:rPr>
              <a:t>“</a:t>
            </a:r>
            <a:r>
              <a:rPr lang="zh-CN" altLang="en-US" sz="1200" kern="1200" dirty="0">
                <a:solidFill>
                  <a:schemeClr val="tx1"/>
                </a:solidFill>
                <a:effectLst/>
                <a:latin typeface="+mn-lt"/>
              </a:rPr>
              <a:t>果农</a:t>
            </a:r>
            <a:r>
              <a:rPr lang="en-US" altLang="zh-CN" sz="1200" kern="1200" dirty="0">
                <a:solidFill>
                  <a:schemeClr val="tx1"/>
                </a:solidFill>
                <a:effectLst/>
                <a:latin typeface="+mn-lt"/>
              </a:rPr>
              <a:t>”</a:t>
            </a:r>
            <a:r>
              <a:rPr lang="zh-CN" altLang="en-US" sz="1200" kern="1200" dirty="0">
                <a:solidFill>
                  <a:schemeClr val="tx1"/>
                </a:solidFill>
                <a:effectLst/>
                <a:latin typeface="+mn-lt"/>
              </a:rPr>
              <a:t>（人），不是场所，排除。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ndParaRPr>
          </a:p>
          <a:p>
            <a:r>
              <a:rPr lang="en-US" altLang="zh-CN" sz="1200" kern="1200" dirty="0">
                <a:solidFill>
                  <a:schemeClr val="tx1"/>
                </a:solidFill>
                <a:effectLst/>
                <a:latin typeface="+mn-lt"/>
              </a:rPr>
              <a:t>16.</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r>
              <a:rPr lang="en-US" altLang="zh-CN" sz="1200" kern="1200" dirty="0">
                <a:solidFill>
                  <a:schemeClr val="tx1"/>
                </a:solidFill>
                <a:effectLst/>
                <a:latin typeface="+mn-lt"/>
              </a:rPr>
              <a:t>“</a:t>
            </a:r>
            <a:r>
              <a:rPr lang="zh-CN" altLang="en-US" sz="1200" kern="1200" dirty="0">
                <a:solidFill>
                  <a:schemeClr val="tx1"/>
                </a:solidFill>
                <a:effectLst/>
                <a:latin typeface="+mn-lt"/>
              </a:rPr>
              <a:t>光缆</a:t>
            </a:r>
            <a:r>
              <a:rPr lang="en-US" altLang="zh-CN" sz="1200" kern="1200" dirty="0">
                <a:solidFill>
                  <a:schemeClr val="tx1"/>
                </a:solidFill>
                <a:effectLst/>
                <a:latin typeface="+mn-lt"/>
              </a:rPr>
              <a:t>”</a:t>
            </a:r>
            <a:r>
              <a:rPr lang="zh-CN" altLang="en-US" sz="1200" kern="1200" dirty="0">
                <a:solidFill>
                  <a:schemeClr val="tx1"/>
                </a:solidFill>
                <a:effectLst/>
                <a:latin typeface="+mn-lt"/>
              </a:rPr>
              <a:t>是传输</a:t>
            </a:r>
            <a:r>
              <a:rPr lang="en-US" altLang="zh-CN" sz="1200" kern="1200" dirty="0">
                <a:solidFill>
                  <a:schemeClr val="tx1"/>
                </a:solidFill>
                <a:effectLst/>
                <a:latin typeface="+mn-lt"/>
              </a:rPr>
              <a:t>“</a:t>
            </a:r>
            <a:r>
              <a:rPr lang="zh-CN" altLang="en-US" sz="1200" kern="1200" dirty="0">
                <a:solidFill>
                  <a:schemeClr val="tx1"/>
                </a:solidFill>
                <a:effectLst/>
                <a:latin typeface="+mn-lt"/>
              </a:rPr>
              <a:t>激光信号</a:t>
            </a:r>
            <a:r>
              <a:rPr lang="en-US" altLang="zh-CN" sz="1200" kern="1200" dirty="0">
                <a:solidFill>
                  <a:schemeClr val="tx1"/>
                </a:solidFill>
                <a:effectLst/>
                <a:latin typeface="+mn-lt"/>
              </a:rPr>
              <a:t>”</a:t>
            </a:r>
            <a:r>
              <a:rPr lang="zh-CN" altLang="en-US" sz="1200" kern="1200" dirty="0">
                <a:solidFill>
                  <a:schemeClr val="tx1"/>
                </a:solidFill>
                <a:effectLst/>
                <a:latin typeface="+mn-lt"/>
              </a:rPr>
              <a:t>的物理载体，二者属于载体与传输对象的对应关系；</a:t>
            </a:r>
            <a:r>
              <a:rPr lang="en-US" altLang="zh-CN" sz="1200" kern="1200" dirty="0">
                <a:solidFill>
                  <a:schemeClr val="tx1"/>
                </a:solidFill>
                <a:effectLst/>
                <a:latin typeface="+mn-lt"/>
              </a:rPr>
              <a:t>“</a:t>
            </a:r>
            <a:r>
              <a:rPr lang="zh-CN" altLang="en-US" sz="1200" kern="1200" dirty="0">
                <a:solidFill>
                  <a:schemeClr val="tx1"/>
                </a:solidFill>
                <a:effectLst/>
                <a:latin typeface="+mn-lt"/>
              </a:rPr>
              <a:t>通信</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光缆</a:t>
            </a:r>
            <a:r>
              <a:rPr lang="en-US" altLang="zh-CN" sz="1200" kern="1200" dirty="0">
                <a:solidFill>
                  <a:schemeClr val="tx1"/>
                </a:solidFill>
                <a:effectLst/>
                <a:latin typeface="+mn-lt"/>
              </a:rPr>
              <a:t>”</a:t>
            </a:r>
            <a:r>
              <a:rPr lang="zh-CN" altLang="en-US" sz="1200" kern="1200" dirty="0">
                <a:solidFill>
                  <a:schemeClr val="tx1"/>
                </a:solidFill>
                <a:effectLst/>
                <a:latin typeface="+mn-lt"/>
              </a:rPr>
              <a:t>借助</a:t>
            </a:r>
            <a:r>
              <a:rPr lang="en-US" altLang="zh-CN" sz="1200" kern="1200" dirty="0">
                <a:solidFill>
                  <a:schemeClr val="tx1"/>
                </a:solidFill>
                <a:effectLst/>
                <a:latin typeface="+mn-lt"/>
              </a:rPr>
              <a:t>“</a:t>
            </a:r>
            <a:r>
              <a:rPr lang="zh-CN" altLang="en-US" sz="1200" kern="1200" dirty="0">
                <a:solidFill>
                  <a:schemeClr val="tx1"/>
                </a:solidFill>
                <a:effectLst/>
                <a:latin typeface="+mn-lt"/>
              </a:rPr>
              <a:t>激光信号</a:t>
            </a:r>
            <a:r>
              <a:rPr lang="en-US" altLang="zh-CN" sz="1200" kern="1200" dirty="0">
                <a:solidFill>
                  <a:schemeClr val="tx1"/>
                </a:solidFill>
                <a:effectLst/>
                <a:latin typeface="+mn-lt"/>
              </a:rPr>
              <a:t>”</a:t>
            </a:r>
            <a:r>
              <a:rPr lang="zh-CN" altLang="en-US" sz="1200" kern="1200" dirty="0">
                <a:solidFill>
                  <a:schemeClr val="tx1"/>
                </a:solidFill>
                <a:effectLst/>
                <a:latin typeface="+mn-lt"/>
              </a:rPr>
              <a:t>实现的核心专属功能，二者属于功能对应关系。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摄像头</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图像</a:t>
            </a:r>
            <a:r>
              <a:rPr lang="en-US" altLang="zh-CN" sz="1200" kern="1200" dirty="0">
                <a:solidFill>
                  <a:schemeClr val="tx1"/>
                </a:solidFill>
                <a:effectLst/>
                <a:latin typeface="+mn-lt"/>
              </a:rPr>
              <a:t>”</a:t>
            </a:r>
            <a:r>
              <a:rPr lang="zh-CN" altLang="en-US" sz="1200" kern="1200" dirty="0">
                <a:solidFill>
                  <a:schemeClr val="tx1"/>
                </a:solidFill>
                <a:effectLst/>
                <a:latin typeface="+mn-lt"/>
              </a:rPr>
              <a:t>的采集与传输载体，二者属于载体与传输对象的对应关系；</a:t>
            </a:r>
            <a:r>
              <a:rPr lang="en-US" altLang="zh-CN" sz="1200" kern="1200" dirty="0">
                <a:solidFill>
                  <a:schemeClr val="tx1"/>
                </a:solidFill>
                <a:effectLst/>
                <a:latin typeface="+mn-lt"/>
              </a:rPr>
              <a:t>“</a:t>
            </a:r>
            <a:r>
              <a:rPr lang="zh-CN" altLang="en-US" sz="1200" kern="1200" dirty="0">
                <a:solidFill>
                  <a:schemeClr val="tx1"/>
                </a:solidFill>
                <a:effectLst/>
                <a:latin typeface="+mn-lt"/>
              </a:rPr>
              <a:t>图像</a:t>
            </a:r>
            <a:r>
              <a:rPr lang="en-US" altLang="zh-CN" sz="1200" kern="1200" dirty="0">
                <a:solidFill>
                  <a:schemeClr val="tx1"/>
                </a:solidFill>
                <a:effectLst/>
                <a:latin typeface="+mn-lt"/>
              </a:rPr>
              <a:t>”</a:t>
            </a:r>
            <a:r>
              <a:rPr lang="zh-CN" altLang="en-US" sz="1200" kern="1200" dirty="0">
                <a:solidFill>
                  <a:schemeClr val="tx1"/>
                </a:solidFill>
                <a:effectLst/>
                <a:latin typeface="+mn-lt"/>
              </a:rPr>
              <a:t>是摄像头专门捕捉和传输的对象，</a:t>
            </a:r>
            <a:r>
              <a:rPr lang="en-US" altLang="zh-CN" sz="1200" kern="1200" dirty="0">
                <a:solidFill>
                  <a:schemeClr val="tx1"/>
                </a:solidFill>
                <a:effectLst/>
                <a:latin typeface="+mn-lt"/>
              </a:rPr>
              <a:t>“</a:t>
            </a:r>
            <a:r>
              <a:rPr lang="zh-CN" altLang="en-US" sz="1200" kern="1200" dirty="0">
                <a:solidFill>
                  <a:schemeClr val="tx1"/>
                </a:solidFill>
                <a:effectLst/>
                <a:latin typeface="+mn-lt"/>
              </a:rPr>
              <a:t>监控</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摄像头</a:t>
            </a:r>
            <a:r>
              <a:rPr lang="en-US" altLang="zh-CN" sz="1200" kern="1200" dirty="0">
                <a:solidFill>
                  <a:schemeClr val="tx1"/>
                </a:solidFill>
                <a:effectLst/>
                <a:latin typeface="+mn-lt"/>
              </a:rPr>
              <a:t>”</a:t>
            </a:r>
            <a:r>
              <a:rPr lang="zh-CN" altLang="en-US" sz="1200" kern="1200" dirty="0">
                <a:solidFill>
                  <a:schemeClr val="tx1"/>
                </a:solidFill>
                <a:effectLst/>
                <a:latin typeface="+mn-lt"/>
              </a:rPr>
              <a:t>借助</a:t>
            </a:r>
            <a:r>
              <a:rPr lang="en-US" altLang="zh-CN" sz="1200" kern="1200" dirty="0">
                <a:solidFill>
                  <a:schemeClr val="tx1"/>
                </a:solidFill>
                <a:effectLst/>
                <a:latin typeface="+mn-lt"/>
              </a:rPr>
              <a:t>“</a:t>
            </a:r>
            <a:r>
              <a:rPr lang="zh-CN" altLang="en-US" sz="1200" kern="1200" dirty="0">
                <a:solidFill>
                  <a:schemeClr val="tx1"/>
                </a:solidFill>
                <a:effectLst/>
                <a:latin typeface="+mn-lt"/>
              </a:rPr>
              <a:t>图像</a:t>
            </a:r>
            <a:r>
              <a:rPr lang="en-US" altLang="zh-CN" sz="1200" kern="1200" dirty="0">
                <a:solidFill>
                  <a:schemeClr val="tx1"/>
                </a:solidFill>
                <a:effectLst/>
                <a:latin typeface="+mn-lt"/>
              </a:rPr>
              <a:t>”</a:t>
            </a:r>
            <a:r>
              <a:rPr lang="zh-CN" altLang="en-US" sz="1200" kern="1200" dirty="0">
                <a:solidFill>
                  <a:schemeClr val="tx1"/>
                </a:solidFill>
                <a:effectLst/>
                <a:latin typeface="+mn-lt"/>
              </a:rPr>
              <a:t>实现的核心专属功能，二者属于功能对应关系，与题干逻辑关系完全一致，符合。</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水管</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水流</a:t>
            </a:r>
            <a:r>
              <a:rPr lang="en-US" altLang="zh-CN" sz="1200" kern="1200" dirty="0">
                <a:solidFill>
                  <a:schemeClr val="tx1"/>
                </a:solidFill>
                <a:effectLst/>
                <a:latin typeface="+mn-lt"/>
              </a:rPr>
              <a:t>”</a:t>
            </a:r>
            <a:r>
              <a:rPr lang="zh-CN" altLang="en-US" sz="1200" kern="1200" dirty="0">
                <a:solidFill>
                  <a:schemeClr val="tx1"/>
                </a:solidFill>
                <a:effectLst/>
                <a:latin typeface="+mn-lt"/>
              </a:rPr>
              <a:t>的传输载体，二者属于载体与传输对象的对应关系；但</a:t>
            </a:r>
            <a:r>
              <a:rPr lang="en-US" altLang="zh-CN" sz="1200" kern="1200" dirty="0">
                <a:solidFill>
                  <a:schemeClr val="tx1"/>
                </a:solidFill>
                <a:effectLst/>
                <a:latin typeface="+mn-lt"/>
              </a:rPr>
              <a:t>“</a:t>
            </a:r>
            <a:r>
              <a:rPr lang="zh-CN" altLang="en-US" sz="1200" kern="1200" dirty="0">
                <a:solidFill>
                  <a:schemeClr val="tx1"/>
                </a:solidFill>
                <a:effectLst/>
                <a:latin typeface="+mn-lt"/>
              </a:rPr>
              <a:t>排水</a:t>
            </a:r>
            <a:r>
              <a:rPr lang="en-US" altLang="zh-CN" sz="1200" kern="1200" dirty="0">
                <a:solidFill>
                  <a:schemeClr val="tx1"/>
                </a:solidFill>
                <a:effectLst/>
                <a:latin typeface="+mn-lt"/>
              </a:rPr>
              <a:t>”</a:t>
            </a:r>
            <a:r>
              <a:rPr lang="zh-CN" altLang="en-US" sz="1200" kern="1200" dirty="0">
                <a:solidFill>
                  <a:schemeClr val="tx1"/>
                </a:solidFill>
                <a:effectLst/>
                <a:latin typeface="+mn-lt"/>
              </a:rPr>
              <a:t>只是</a:t>
            </a:r>
            <a:r>
              <a:rPr lang="en-US" altLang="zh-CN" sz="1200" kern="1200" dirty="0">
                <a:solidFill>
                  <a:schemeClr val="tx1"/>
                </a:solidFill>
                <a:effectLst/>
                <a:latin typeface="+mn-lt"/>
              </a:rPr>
              <a:t>“</a:t>
            </a:r>
            <a:r>
              <a:rPr lang="zh-CN" altLang="en-US" sz="1200" kern="1200" dirty="0">
                <a:solidFill>
                  <a:schemeClr val="tx1"/>
                </a:solidFill>
                <a:effectLst/>
                <a:latin typeface="+mn-lt"/>
              </a:rPr>
              <a:t>水管</a:t>
            </a:r>
            <a:r>
              <a:rPr lang="en-US" altLang="zh-CN" sz="1200" kern="1200" dirty="0">
                <a:solidFill>
                  <a:schemeClr val="tx1"/>
                </a:solidFill>
                <a:effectLst/>
                <a:latin typeface="+mn-lt"/>
              </a:rPr>
              <a:t>”</a:t>
            </a:r>
            <a:r>
              <a:rPr lang="zh-CN" altLang="en-US" sz="1200" kern="1200" dirty="0">
                <a:solidFill>
                  <a:schemeClr val="tx1"/>
                </a:solidFill>
                <a:effectLst/>
                <a:latin typeface="+mn-lt"/>
              </a:rPr>
              <a:t>的功能之一（还可用于输水、供水），并非核心专属功能，且</a:t>
            </a:r>
            <a:r>
              <a:rPr lang="en-US" altLang="zh-CN" sz="1200" kern="1200" dirty="0">
                <a:solidFill>
                  <a:schemeClr val="tx1"/>
                </a:solidFill>
                <a:effectLst/>
                <a:latin typeface="+mn-lt"/>
              </a:rPr>
              <a:t>“</a:t>
            </a:r>
            <a:r>
              <a:rPr lang="zh-CN" altLang="en-US" sz="1200" kern="1200" dirty="0">
                <a:solidFill>
                  <a:schemeClr val="tx1"/>
                </a:solidFill>
                <a:effectLst/>
                <a:latin typeface="+mn-lt"/>
              </a:rPr>
              <a:t>水流</a:t>
            </a:r>
            <a:r>
              <a:rPr lang="en-US" altLang="zh-CN" sz="1200" kern="1200" dirty="0">
                <a:solidFill>
                  <a:schemeClr val="tx1"/>
                </a:solidFill>
                <a:effectLst/>
                <a:latin typeface="+mn-lt"/>
              </a:rPr>
              <a:t>”</a:t>
            </a:r>
            <a:r>
              <a:rPr lang="zh-CN" altLang="en-US" sz="1200" kern="1200" dirty="0">
                <a:solidFill>
                  <a:schemeClr val="tx1"/>
                </a:solidFill>
                <a:effectLst/>
                <a:latin typeface="+mn-lt"/>
              </a:rPr>
              <a:t>是物质类介质，与题干中</a:t>
            </a:r>
            <a:r>
              <a:rPr lang="en-US" altLang="zh-CN" sz="1200" kern="1200" dirty="0">
                <a:solidFill>
                  <a:schemeClr val="tx1"/>
                </a:solidFill>
                <a:effectLst/>
                <a:latin typeface="+mn-lt"/>
              </a:rPr>
              <a:t>“</a:t>
            </a:r>
            <a:r>
              <a:rPr lang="zh-CN" altLang="en-US" sz="1200" kern="1200" dirty="0">
                <a:solidFill>
                  <a:schemeClr val="tx1"/>
                </a:solidFill>
                <a:effectLst/>
                <a:latin typeface="+mn-lt"/>
              </a:rPr>
              <a:t>激光信号</a:t>
            </a:r>
            <a:r>
              <a:rPr lang="en-US" altLang="zh-CN" sz="1200" kern="1200" dirty="0">
                <a:solidFill>
                  <a:schemeClr val="tx1"/>
                </a:solidFill>
                <a:effectLst/>
                <a:latin typeface="+mn-lt"/>
              </a:rPr>
              <a:t>”</a:t>
            </a:r>
            <a:r>
              <a:rPr lang="zh-CN" altLang="en-US" sz="1200" kern="1200" dirty="0">
                <a:solidFill>
                  <a:schemeClr val="tx1"/>
                </a:solidFill>
                <a:effectLst/>
                <a:latin typeface="+mn-lt"/>
              </a:rPr>
              <a:t>的信息类属性不同，与题干逻辑关系不一致，排除。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电池</a:t>
            </a:r>
            <a:r>
              <a:rPr lang="en-US" altLang="zh-CN" sz="1200" kern="1200" dirty="0">
                <a:solidFill>
                  <a:schemeClr val="tx1"/>
                </a:solidFill>
                <a:effectLst/>
                <a:latin typeface="+mn-lt"/>
              </a:rPr>
              <a:t>”</a:t>
            </a:r>
            <a:r>
              <a:rPr lang="zh-CN" altLang="en-US" sz="1200" kern="1200" dirty="0">
                <a:solidFill>
                  <a:schemeClr val="tx1"/>
                </a:solidFill>
                <a:effectLst/>
                <a:latin typeface="+mn-lt"/>
              </a:rPr>
              <a:t>的作用是提供</a:t>
            </a:r>
            <a:r>
              <a:rPr lang="en-US" altLang="zh-CN" sz="1200" kern="1200" dirty="0">
                <a:solidFill>
                  <a:schemeClr val="tx1"/>
                </a:solidFill>
                <a:effectLst/>
                <a:latin typeface="+mn-lt"/>
              </a:rPr>
              <a:t>“</a:t>
            </a:r>
            <a:r>
              <a:rPr lang="zh-CN" altLang="en-US" sz="1200" kern="1200" dirty="0">
                <a:solidFill>
                  <a:schemeClr val="tx1"/>
                </a:solidFill>
                <a:effectLst/>
                <a:latin typeface="+mn-lt"/>
              </a:rPr>
              <a:t>电流</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，二者属于供能装置与输出能源的对应关系，而非载体与传输对象的对应关系；</a:t>
            </a:r>
            <a:r>
              <a:rPr lang="en-US" altLang="zh-CN" sz="1200" kern="1200" dirty="0">
                <a:solidFill>
                  <a:schemeClr val="tx1"/>
                </a:solidFill>
                <a:effectLst/>
                <a:latin typeface="+mn-lt"/>
              </a:rPr>
              <a:t>“</a:t>
            </a:r>
            <a:r>
              <a:rPr lang="zh-CN" altLang="en-US" sz="1200" kern="1200" dirty="0">
                <a:solidFill>
                  <a:schemeClr val="tx1"/>
                </a:solidFill>
                <a:effectLst/>
                <a:latin typeface="+mn-lt"/>
              </a:rPr>
              <a:t>电器</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电流</a:t>
            </a:r>
            <a:r>
              <a:rPr lang="en-US" altLang="zh-CN" sz="1200" kern="1200" dirty="0">
                <a:solidFill>
                  <a:schemeClr val="tx1"/>
                </a:solidFill>
                <a:effectLst/>
                <a:latin typeface="+mn-lt"/>
              </a:rPr>
              <a:t>”</a:t>
            </a:r>
            <a:r>
              <a:rPr lang="zh-CN" altLang="en-US" sz="1200" kern="1200" dirty="0">
                <a:solidFill>
                  <a:schemeClr val="tx1"/>
                </a:solidFill>
                <a:effectLst/>
                <a:latin typeface="+mn-lt"/>
              </a:rPr>
              <a:t>的作用对象，三者逻辑与题干完全不符，排除。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燃油</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摩托车</a:t>
            </a:r>
            <a:r>
              <a:rPr lang="en-US" altLang="zh-CN" sz="1200" kern="1200" dirty="0">
                <a:solidFill>
                  <a:schemeClr val="tx1"/>
                </a:solidFill>
                <a:effectLst/>
                <a:latin typeface="+mn-lt"/>
              </a:rPr>
              <a:t>”</a:t>
            </a:r>
            <a:r>
              <a:rPr lang="zh-CN" altLang="en-US" sz="1200" kern="1200" dirty="0">
                <a:solidFill>
                  <a:schemeClr val="tx1"/>
                </a:solidFill>
                <a:effectLst/>
                <a:latin typeface="+mn-lt"/>
              </a:rPr>
              <a:t>运行的能源，二者属于交通工具与动力来源的对应关系；</a:t>
            </a:r>
            <a:r>
              <a:rPr lang="en-US" altLang="zh-CN" sz="1200" kern="1200" dirty="0">
                <a:solidFill>
                  <a:schemeClr val="tx1"/>
                </a:solidFill>
                <a:effectLst/>
                <a:latin typeface="+mn-lt"/>
              </a:rPr>
              <a:t>“</a:t>
            </a:r>
            <a:r>
              <a:rPr lang="zh-CN" altLang="en-US" sz="1200" kern="1200" dirty="0">
                <a:solidFill>
                  <a:schemeClr val="tx1"/>
                </a:solidFill>
                <a:effectLst/>
                <a:latin typeface="+mn-lt"/>
              </a:rPr>
              <a:t>驾驶</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摩托车</a:t>
            </a:r>
            <a:r>
              <a:rPr lang="en-US" altLang="zh-CN" sz="1200" kern="1200" dirty="0">
                <a:solidFill>
                  <a:schemeClr val="tx1"/>
                </a:solidFill>
                <a:effectLst/>
                <a:latin typeface="+mn-lt"/>
              </a:rPr>
              <a:t>”</a:t>
            </a:r>
            <a:r>
              <a:rPr lang="zh-CN" altLang="en-US" sz="1200" kern="1200" dirty="0">
                <a:solidFill>
                  <a:schemeClr val="tx1"/>
                </a:solidFill>
                <a:effectLst/>
                <a:latin typeface="+mn-lt"/>
              </a:rPr>
              <a:t>是动宾关系，与题干的</a:t>
            </a:r>
            <a:r>
              <a:rPr lang="en-US" altLang="zh-CN" sz="1200" kern="1200" dirty="0">
                <a:solidFill>
                  <a:schemeClr val="tx1"/>
                </a:solidFill>
                <a:effectLst/>
                <a:latin typeface="+mn-lt"/>
              </a:rPr>
              <a:t>“</a:t>
            </a:r>
            <a:r>
              <a:rPr lang="zh-CN" altLang="en-US" sz="1200" kern="1200" dirty="0">
                <a:solidFill>
                  <a:schemeClr val="tx1"/>
                </a:solidFill>
                <a:effectLst/>
                <a:latin typeface="+mn-lt"/>
              </a:rPr>
              <a:t>载体</a:t>
            </a:r>
            <a:r>
              <a:rPr lang="en-US" altLang="zh-CN" sz="1200" kern="1200" dirty="0">
                <a:solidFill>
                  <a:schemeClr val="tx1"/>
                </a:solidFill>
                <a:effectLst/>
                <a:latin typeface="+mn-lt"/>
              </a:rPr>
              <a:t>-</a:t>
            </a:r>
            <a:r>
              <a:rPr lang="zh-CN" altLang="en-US" sz="1200" kern="1200" dirty="0">
                <a:solidFill>
                  <a:schemeClr val="tx1"/>
                </a:solidFill>
                <a:effectLst/>
                <a:latin typeface="+mn-lt"/>
              </a:rPr>
              <a:t>对象</a:t>
            </a:r>
            <a:r>
              <a:rPr lang="en-US" altLang="zh-CN" sz="1200" kern="1200" dirty="0">
                <a:solidFill>
                  <a:schemeClr val="tx1"/>
                </a:solidFill>
                <a:effectLst/>
                <a:latin typeface="+mn-lt"/>
              </a:rPr>
              <a:t>-</a:t>
            </a:r>
            <a:r>
              <a:rPr lang="zh-CN" altLang="en-US" sz="1200" kern="1200" dirty="0">
                <a:solidFill>
                  <a:schemeClr val="tx1"/>
                </a:solidFill>
                <a:effectLst/>
                <a:latin typeface="+mn-lt"/>
              </a:rPr>
              <a:t>功能</a:t>
            </a:r>
            <a:r>
              <a:rPr lang="en-US" altLang="zh-CN" sz="1200" kern="1200" dirty="0">
                <a:solidFill>
                  <a:schemeClr val="tx1"/>
                </a:solidFill>
                <a:effectLst/>
                <a:latin typeface="+mn-lt"/>
              </a:rPr>
              <a:t>”</a:t>
            </a:r>
            <a:r>
              <a:rPr lang="zh-CN" altLang="en-US" sz="1200" kern="1200" dirty="0">
                <a:solidFill>
                  <a:schemeClr val="tx1"/>
                </a:solidFill>
                <a:effectLst/>
                <a:latin typeface="+mn-lt"/>
              </a:rPr>
              <a:t>逻辑关系不一致，排除。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17.</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r>
              <a:rPr lang="en-US" altLang="zh-CN" sz="1200" kern="1200" dirty="0">
                <a:solidFill>
                  <a:schemeClr val="tx1"/>
                </a:solidFill>
                <a:effectLst/>
                <a:latin typeface="+mn-lt"/>
              </a:rPr>
              <a:t>“</a:t>
            </a:r>
            <a:r>
              <a:rPr lang="zh-CN" altLang="en-US" sz="1200" kern="1200" dirty="0">
                <a:solidFill>
                  <a:schemeClr val="tx1"/>
                </a:solidFill>
                <a:effectLst/>
                <a:latin typeface="+mn-lt"/>
              </a:rPr>
              <a:t>整数</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分数</a:t>
            </a:r>
            <a:r>
              <a:rPr lang="en-US" altLang="zh-CN" sz="1200" kern="1200" dirty="0">
                <a:solidFill>
                  <a:schemeClr val="tx1"/>
                </a:solidFill>
                <a:effectLst/>
                <a:latin typeface="+mn-lt"/>
              </a:rPr>
              <a:t>”</a:t>
            </a:r>
            <a:r>
              <a:rPr lang="zh-CN" altLang="en-US" sz="1200" kern="1200" dirty="0">
                <a:solidFill>
                  <a:schemeClr val="tx1"/>
                </a:solidFill>
                <a:effectLst/>
                <a:latin typeface="+mn-lt"/>
              </a:rPr>
              <a:t>都是</a:t>
            </a:r>
            <a:r>
              <a:rPr lang="en-US" altLang="zh-CN" sz="1200" kern="1200" dirty="0">
                <a:solidFill>
                  <a:schemeClr val="tx1"/>
                </a:solidFill>
                <a:effectLst/>
                <a:latin typeface="+mn-lt"/>
              </a:rPr>
              <a:t>“</a:t>
            </a:r>
            <a:r>
              <a:rPr lang="zh-CN" altLang="en-US" sz="1200" kern="1200" dirty="0">
                <a:solidFill>
                  <a:schemeClr val="tx1"/>
                </a:solidFill>
                <a:effectLst/>
                <a:latin typeface="+mn-lt"/>
              </a:rPr>
              <a:t>有理数</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整数</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分数</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二者属于并列关系中的矛盾关系，分别与</a:t>
            </a:r>
            <a:r>
              <a:rPr lang="en-US" altLang="zh-CN" sz="1200" kern="1200" dirty="0">
                <a:solidFill>
                  <a:schemeClr val="tx1"/>
                </a:solidFill>
                <a:effectLst/>
                <a:latin typeface="+mn-lt"/>
              </a:rPr>
              <a:t>“</a:t>
            </a:r>
            <a:r>
              <a:rPr lang="zh-CN" altLang="en-US" sz="1200" kern="1200" dirty="0">
                <a:solidFill>
                  <a:schemeClr val="tx1"/>
                </a:solidFill>
                <a:effectLst/>
                <a:latin typeface="+mn-lt"/>
              </a:rPr>
              <a:t>有理数</a:t>
            </a:r>
            <a:r>
              <a:rPr lang="en-US" altLang="zh-CN" sz="1200" kern="1200" dirty="0">
                <a:solidFill>
                  <a:schemeClr val="tx1"/>
                </a:solidFill>
                <a:effectLst/>
                <a:latin typeface="+mn-lt"/>
              </a:rPr>
              <a:t>”</a:t>
            </a:r>
            <a:r>
              <a:rPr lang="zh-CN" altLang="en-US" sz="1200" kern="1200" dirty="0">
                <a:solidFill>
                  <a:schemeClr val="tx1"/>
                </a:solidFill>
                <a:effectLst/>
                <a:latin typeface="+mn-lt"/>
              </a:rPr>
              <a:t>构成包容关系中的种属关系。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热量</a:t>
            </a:r>
            <a:r>
              <a:rPr lang="en-US" altLang="zh-CN" sz="1200" kern="1200" dirty="0">
                <a:solidFill>
                  <a:schemeClr val="tx1"/>
                </a:solidFill>
                <a:effectLst/>
                <a:latin typeface="+mn-lt"/>
              </a:rPr>
              <a:t>”</a:t>
            </a:r>
            <a:r>
              <a:rPr lang="zh-CN" altLang="en-US" sz="1200" kern="1200" dirty="0">
                <a:solidFill>
                  <a:schemeClr val="tx1"/>
                </a:solidFill>
                <a:effectLst/>
                <a:latin typeface="+mn-lt"/>
              </a:rPr>
              <a:t>是热传递过程中转移的能量，</a:t>
            </a:r>
            <a:r>
              <a:rPr lang="en-US" altLang="zh-CN" sz="1200" kern="1200" dirty="0">
                <a:solidFill>
                  <a:schemeClr val="tx1"/>
                </a:solidFill>
                <a:effectLst/>
                <a:latin typeface="+mn-lt"/>
              </a:rPr>
              <a:t>“</a:t>
            </a:r>
            <a:r>
              <a:rPr lang="zh-CN" altLang="en-US" sz="1200" kern="1200" dirty="0">
                <a:solidFill>
                  <a:schemeClr val="tx1"/>
                </a:solidFill>
                <a:effectLst/>
                <a:latin typeface="+mn-lt"/>
              </a:rPr>
              <a:t>温度</a:t>
            </a:r>
            <a:r>
              <a:rPr lang="en-US" altLang="zh-CN" sz="1200" kern="1200" dirty="0">
                <a:solidFill>
                  <a:schemeClr val="tx1"/>
                </a:solidFill>
                <a:effectLst/>
                <a:latin typeface="+mn-lt"/>
              </a:rPr>
              <a:t>”</a:t>
            </a:r>
            <a:r>
              <a:rPr lang="zh-CN" altLang="en-US" sz="1200" kern="1200" dirty="0">
                <a:solidFill>
                  <a:schemeClr val="tx1"/>
                </a:solidFill>
                <a:effectLst/>
                <a:latin typeface="+mn-lt"/>
              </a:rPr>
              <a:t>是物体冷热程度的量度，</a:t>
            </a:r>
            <a:r>
              <a:rPr lang="en-US" altLang="zh-CN" sz="1200" kern="1200" dirty="0">
                <a:solidFill>
                  <a:schemeClr val="tx1"/>
                </a:solidFill>
                <a:effectLst/>
                <a:latin typeface="+mn-lt"/>
              </a:rPr>
              <a:t>“</a:t>
            </a:r>
            <a:r>
              <a:rPr lang="zh-CN" altLang="en-US" sz="1200" kern="1200" dirty="0">
                <a:solidFill>
                  <a:schemeClr val="tx1"/>
                </a:solidFill>
                <a:effectLst/>
                <a:latin typeface="+mn-lt"/>
              </a:rPr>
              <a:t>内能</a:t>
            </a:r>
            <a:r>
              <a:rPr lang="en-US" altLang="zh-CN" sz="1200" kern="1200" dirty="0">
                <a:solidFill>
                  <a:schemeClr val="tx1"/>
                </a:solidFill>
                <a:effectLst/>
                <a:latin typeface="+mn-lt"/>
              </a:rPr>
              <a:t>”</a:t>
            </a:r>
            <a:r>
              <a:rPr lang="zh-CN" altLang="en-US" sz="1200" kern="1200" dirty="0">
                <a:solidFill>
                  <a:schemeClr val="tx1"/>
                </a:solidFill>
                <a:effectLst/>
                <a:latin typeface="+mn-lt"/>
              </a:rPr>
              <a:t>是物体内部所有分子的动能和势能总和，三者是热学中三个不同的物理量，三者属于并列关系，与题干逻辑关系不一致；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相变</a:t>
            </a:r>
            <a:r>
              <a:rPr lang="en-US" altLang="zh-CN" sz="1200" kern="1200" dirty="0">
                <a:solidFill>
                  <a:schemeClr val="tx1"/>
                </a:solidFill>
                <a:effectLst/>
                <a:latin typeface="+mn-lt"/>
              </a:rPr>
              <a:t>”</a:t>
            </a:r>
            <a:r>
              <a:rPr lang="zh-CN" altLang="en-US" sz="1200" kern="1200" dirty="0">
                <a:solidFill>
                  <a:schemeClr val="tx1"/>
                </a:solidFill>
                <a:effectLst/>
                <a:latin typeface="+mn-lt"/>
              </a:rPr>
              <a:t>是物质从一种相态转变为另一种相态的过程，</a:t>
            </a:r>
            <a:r>
              <a:rPr lang="en-US" altLang="zh-CN" sz="1200" kern="1200" dirty="0">
                <a:solidFill>
                  <a:schemeClr val="tx1"/>
                </a:solidFill>
                <a:effectLst/>
                <a:latin typeface="+mn-lt"/>
              </a:rPr>
              <a:t>“</a:t>
            </a:r>
            <a:r>
              <a:rPr lang="zh-CN" altLang="en-US" sz="1200" kern="1200" dirty="0">
                <a:solidFill>
                  <a:schemeClr val="tx1"/>
                </a:solidFill>
                <a:effectLst/>
                <a:latin typeface="+mn-lt"/>
              </a:rPr>
              <a:t>蒸发</a:t>
            </a:r>
            <a:r>
              <a:rPr lang="en-US" altLang="zh-CN" sz="1200" kern="1200" dirty="0">
                <a:solidFill>
                  <a:schemeClr val="tx1"/>
                </a:solidFill>
                <a:effectLst/>
                <a:latin typeface="+mn-lt"/>
              </a:rPr>
              <a:t>”</a:t>
            </a:r>
            <a:r>
              <a:rPr lang="zh-CN" altLang="en-US" sz="1200" kern="1200" dirty="0">
                <a:solidFill>
                  <a:schemeClr val="tx1"/>
                </a:solidFill>
                <a:effectLst/>
                <a:latin typeface="+mn-lt"/>
              </a:rPr>
              <a:t>属于汽化（液态变气态）的一种形式，</a:t>
            </a:r>
            <a:r>
              <a:rPr lang="en-US" altLang="zh-CN" sz="1200" kern="1200" dirty="0">
                <a:solidFill>
                  <a:schemeClr val="tx1"/>
                </a:solidFill>
                <a:effectLst/>
                <a:latin typeface="+mn-lt"/>
              </a:rPr>
              <a:t>“</a:t>
            </a:r>
            <a:r>
              <a:rPr lang="zh-CN" altLang="en-US" sz="1200" kern="1200" dirty="0">
                <a:solidFill>
                  <a:schemeClr val="tx1"/>
                </a:solidFill>
                <a:effectLst/>
                <a:latin typeface="+mn-lt"/>
              </a:rPr>
              <a:t>冷凝</a:t>
            </a:r>
            <a:r>
              <a:rPr lang="en-US" altLang="zh-CN" sz="1200" kern="1200" dirty="0">
                <a:solidFill>
                  <a:schemeClr val="tx1"/>
                </a:solidFill>
                <a:effectLst/>
                <a:latin typeface="+mn-lt"/>
              </a:rPr>
              <a:t>”</a:t>
            </a:r>
            <a:r>
              <a:rPr lang="zh-CN" altLang="en-US" sz="1200" kern="1200" dirty="0">
                <a:solidFill>
                  <a:schemeClr val="tx1"/>
                </a:solidFill>
                <a:effectLst/>
                <a:latin typeface="+mn-lt"/>
              </a:rPr>
              <a:t>属于液化（气态变液态）的一种形式，</a:t>
            </a:r>
            <a:r>
              <a:rPr lang="en-US" altLang="zh-CN" sz="1200" kern="1200" dirty="0">
                <a:solidFill>
                  <a:schemeClr val="tx1"/>
                </a:solidFill>
                <a:effectLst/>
                <a:latin typeface="+mn-lt"/>
              </a:rPr>
              <a:t>“</a:t>
            </a:r>
            <a:r>
              <a:rPr lang="zh-CN" altLang="en-US" sz="1200" kern="1200" dirty="0">
                <a:solidFill>
                  <a:schemeClr val="tx1"/>
                </a:solidFill>
                <a:effectLst/>
                <a:latin typeface="+mn-lt"/>
              </a:rPr>
              <a:t>蒸发</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冷凝</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二者属于并列关系中的反对关系，与题干逻辑关系不一致；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导电性</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绝缘性</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材料</a:t>
            </a:r>
            <a:r>
              <a:rPr lang="en-US" altLang="zh-CN" sz="1200" kern="1200" dirty="0">
                <a:solidFill>
                  <a:schemeClr val="tx1"/>
                </a:solidFill>
                <a:effectLst/>
                <a:latin typeface="+mn-lt"/>
              </a:rPr>
              <a:t>”</a:t>
            </a:r>
            <a:r>
              <a:rPr lang="zh-CN" altLang="en-US" sz="1200" kern="1200" dirty="0">
                <a:solidFill>
                  <a:schemeClr val="tx1"/>
                </a:solidFill>
                <a:effectLst/>
                <a:latin typeface="+mn-lt"/>
              </a:rPr>
              <a:t>的两种不同属性，二者与</a:t>
            </a:r>
            <a:r>
              <a:rPr lang="en-US" altLang="zh-CN" sz="1200" kern="1200" dirty="0">
                <a:solidFill>
                  <a:schemeClr val="tx1"/>
                </a:solidFill>
                <a:effectLst/>
                <a:latin typeface="+mn-lt"/>
              </a:rPr>
              <a:t>“</a:t>
            </a:r>
            <a:r>
              <a:rPr lang="zh-CN" altLang="en-US" sz="1200" kern="1200" dirty="0">
                <a:solidFill>
                  <a:schemeClr val="tx1"/>
                </a:solidFill>
                <a:effectLst/>
                <a:latin typeface="+mn-lt"/>
              </a:rPr>
              <a:t>材料</a:t>
            </a:r>
            <a:r>
              <a:rPr lang="en-US" altLang="zh-CN" sz="1200" kern="1200" dirty="0">
                <a:solidFill>
                  <a:schemeClr val="tx1"/>
                </a:solidFill>
                <a:effectLst/>
                <a:latin typeface="+mn-lt"/>
              </a:rPr>
              <a:t>”</a:t>
            </a:r>
            <a:r>
              <a:rPr lang="zh-CN" altLang="en-US" sz="1200" kern="1200" dirty="0">
                <a:solidFill>
                  <a:schemeClr val="tx1"/>
                </a:solidFill>
                <a:effectLst/>
                <a:latin typeface="+mn-lt"/>
              </a:rPr>
              <a:t>属于属性关系，与题干逻辑关系不一致；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晶体</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非晶体</a:t>
            </a:r>
            <a:r>
              <a:rPr lang="en-US" altLang="zh-CN" sz="1200" kern="1200" dirty="0">
                <a:solidFill>
                  <a:schemeClr val="tx1"/>
                </a:solidFill>
                <a:effectLst/>
                <a:latin typeface="+mn-lt"/>
              </a:rPr>
              <a:t>”</a:t>
            </a:r>
            <a:r>
              <a:rPr lang="zh-CN" altLang="en-US" sz="1200" kern="1200" dirty="0">
                <a:solidFill>
                  <a:schemeClr val="tx1"/>
                </a:solidFill>
                <a:effectLst/>
                <a:latin typeface="+mn-lt"/>
              </a:rPr>
              <a:t>都是</a:t>
            </a:r>
            <a:r>
              <a:rPr lang="en-US" altLang="zh-CN" sz="1200" kern="1200" dirty="0">
                <a:solidFill>
                  <a:schemeClr val="tx1"/>
                </a:solidFill>
                <a:effectLst/>
                <a:latin typeface="+mn-lt"/>
              </a:rPr>
              <a:t>“</a:t>
            </a:r>
            <a:r>
              <a:rPr lang="zh-CN" altLang="en-US" sz="1200" kern="1200" dirty="0">
                <a:solidFill>
                  <a:schemeClr val="tx1"/>
                </a:solidFill>
                <a:effectLst/>
                <a:latin typeface="+mn-lt"/>
              </a:rPr>
              <a:t>固体</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晶体</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非晶体</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二者属于并列关系中的矛盾关系，分别与</a:t>
            </a:r>
            <a:r>
              <a:rPr lang="en-US" altLang="zh-CN" sz="1200" kern="1200" dirty="0">
                <a:solidFill>
                  <a:schemeClr val="tx1"/>
                </a:solidFill>
                <a:effectLst/>
                <a:latin typeface="+mn-lt"/>
              </a:rPr>
              <a:t>“</a:t>
            </a:r>
            <a:r>
              <a:rPr lang="zh-CN" altLang="en-US" sz="1200" kern="1200" dirty="0">
                <a:solidFill>
                  <a:schemeClr val="tx1"/>
                </a:solidFill>
                <a:effectLst/>
                <a:latin typeface="+mn-lt"/>
              </a:rPr>
              <a:t>固体</a:t>
            </a:r>
            <a:r>
              <a:rPr lang="en-US" altLang="zh-CN" sz="1200" kern="1200" dirty="0">
                <a:solidFill>
                  <a:schemeClr val="tx1"/>
                </a:solidFill>
                <a:effectLst/>
                <a:latin typeface="+mn-lt"/>
              </a:rPr>
              <a:t>”</a:t>
            </a:r>
            <a:r>
              <a:rPr lang="zh-CN" altLang="en-US" sz="1200" kern="1200" dirty="0">
                <a:solidFill>
                  <a:schemeClr val="tx1"/>
                </a:solidFill>
                <a:effectLst/>
                <a:latin typeface="+mn-lt"/>
              </a:rPr>
              <a:t>构成包容关系中的种属关系。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18.</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r>
              <a:rPr lang="en-US" altLang="zh-CN" sz="1200" kern="1200" dirty="0">
                <a:solidFill>
                  <a:schemeClr val="tx1"/>
                </a:solidFill>
                <a:effectLst/>
                <a:latin typeface="+mn-lt"/>
              </a:rPr>
              <a:t>“</a:t>
            </a:r>
            <a:r>
              <a:rPr lang="zh-CN" altLang="en-US" sz="1200" kern="1200" dirty="0">
                <a:solidFill>
                  <a:schemeClr val="tx1"/>
                </a:solidFill>
                <a:effectLst/>
                <a:latin typeface="+mn-lt"/>
              </a:rPr>
              <a:t>进气阀</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内燃机</a:t>
            </a:r>
            <a:r>
              <a:rPr lang="en-US" altLang="zh-CN" sz="1200" kern="1200" dirty="0">
                <a:solidFill>
                  <a:schemeClr val="tx1"/>
                </a:solidFill>
                <a:effectLst/>
                <a:latin typeface="+mn-lt"/>
              </a:rPr>
              <a:t>”</a:t>
            </a:r>
            <a:r>
              <a:rPr lang="zh-CN" altLang="en-US" sz="1200" kern="1200" dirty="0">
                <a:solidFill>
                  <a:schemeClr val="tx1"/>
                </a:solidFill>
                <a:effectLst/>
                <a:latin typeface="+mn-lt"/>
              </a:rPr>
              <a:t>的核心部件，二者属于包容关系中的组成关系；</a:t>
            </a:r>
            <a:r>
              <a:rPr lang="en-US" altLang="zh-CN" sz="1200" kern="1200" dirty="0">
                <a:solidFill>
                  <a:schemeClr val="tx1"/>
                </a:solidFill>
                <a:effectLst/>
                <a:latin typeface="+mn-lt"/>
              </a:rPr>
              <a:t>“</a:t>
            </a:r>
            <a:r>
              <a:rPr lang="zh-CN" altLang="en-US" sz="1200" kern="1200" dirty="0">
                <a:solidFill>
                  <a:schemeClr val="tx1"/>
                </a:solidFill>
                <a:effectLst/>
                <a:latin typeface="+mn-lt"/>
              </a:rPr>
              <a:t>进气阀</a:t>
            </a:r>
            <a:r>
              <a:rPr lang="en-US" altLang="zh-CN" sz="1200" kern="1200" dirty="0">
                <a:solidFill>
                  <a:schemeClr val="tx1"/>
                </a:solidFill>
                <a:effectLst/>
                <a:latin typeface="+mn-lt"/>
              </a:rPr>
              <a:t>”</a:t>
            </a:r>
            <a:r>
              <a:rPr lang="zh-CN" altLang="en-US" sz="1200" kern="1200" dirty="0">
                <a:solidFill>
                  <a:schemeClr val="tx1"/>
                </a:solidFill>
                <a:effectLst/>
                <a:latin typeface="+mn-lt"/>
              </a:rPr>
              <a:t>的核心功能是调控内燃机运转所需的</a:t>
            </a:r>
            <a:r>
              <a:rPr lang="en-US" altLang="zh-CN" sz="1200" kern="1200" dirty="0">
                <a:solidFill>
                  <a:schemeClr val="tx1"/>
                </a:solidFill>
                <a:effectLst/>
                <a:latin typeface="+mn-lt"/>
              </a:rPr>
              <a:t>“</a:t>
            </a:r>
            <a:r>
              <a:rPr lang="zh-CN" altLang="en-US" sz="1200" kern="1200" dirty="0">
                <a:solidFill>
                  <a:schemeClr val="tx1"/>
                </a:solidFill>
                <a:effectLst/>
                <a:latin typeface="+mn-lt"/>
              </a:rPr>
              <a:t>气流</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，二者属于部件与其直接控制对象的对应关系。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滤镜</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相机</a:t>
            </a:r>
            <a:r>
              <a:rPr lang="en-US" altLang="zh-CN" sz="1200" kern="1200" dirty="0">
                <a:solidFill>
                  <a:schemeClr val="tx1"/>
                </a:solidFill>
                <a:effectLst/>
                <a:latin typeface="+mn-lt"/>
              </a:rPr>
              <a:t>”</a:t>
            </a:r>
            <a:r>
              <a:rPr lang="zh-CN" altLang="en-US" sz="1200" kern="1200" dirty="0">
                <a:solidFill>
                  <a:schemeClr val="tx1"/>
                </a:solidFill>
                <a:effectLst/>
                <a:latin typeface="+mn-lt"/>
              </a:rPr>
              <a:t>的辅助配件，二者属于搭配使用的对应关系，而非组成关系；</a:t>
            </a:r>
            <a:r>
              <a:rPr lang="en-US" altLang="zh-CN" sz="1200" kern="1200" dirty="0">
                <a:solidFill>
                  <a:schemeClr val="tx1"/>
                </a:solidFill>
                <a:effectLst/>
                <a:latin typeface="+mn-lt"/>
              </a:rPr>
              <a:t>“</a:t>
            </a:r>
            <a:r>
              <a:rPr lang="zh-CN" altLang="en-US" sz="1200" kern="1200" dirty="0">
                <a:solidFill>
                  <a:schemeClr val="tx1"/>
                </a:solidFill>
                <a:effectLst/>
                <a:latin typeface="+mn-lt"/>
              </a:rPr>
              <a:t>滤镜</a:t>
            </a:r>
            <a:r>
              <a:rPr lang="en-US" altLang="zh-CN" sz="1200" kern="1200" dirty="0">
                <a:solidFill>
                  <a:schemeClr val="tx1"/>
                </a:solidFill>
                <a:effectLst/>
                <a:latin typeface="+mn-lt"/>
              </a:rPr>
              <a:t>”</a:t>
            </a:r>
            <a:r>
              <a:rPr lang="zh-CN" altLang="en-US" sz="1200" kern="1200" dirty="0">
                <a:solidFill>
                  <a:schemeClr val="tx1"/>
                </a:solidFill>
                <a:effectLst/>
                <a:latin typeface="+mn-lt"/>
              </a:rPr>
              <a:t>的作用是美化或调整拍摄后的</a:t>
            </a:r>
            <a:r>
              <a:rPr lang="en-US" altLang="zh-CN" sz="1200" kern="1200" dirty="0">
                <a:solidFill>
                  <a:schemeClr val="tx1"/>
                </a:solidFill>
                <a:effectLst/>
                <a:latin typeface="+mn-lt"/>
              </a:rPr>
              <a:t>“</a:t>
            </a:r>
            <a:r>
              <a:rPr lang="zh-CN" altLang="en-US" sz="1200" kern="1200" dirty="0">
                <a:solidFill>
                  <a:schemeClr val="tx1"/>
                </a:solidFill>
                <a:effectLst/>
                <a:latin typeface="+mn-lt"/>
              </a:rPr>
              <a:t>图片</a:t>
            </a:r>
            <a:r>
              <a:rPr lang="en-US" altLang="zh-CN" sz="1200" kern="1200" dirty="0">
                <a:solidFill>
                  <a:schemeClr val="tx1"/>
                </a:solidFill>
                <a:effectLst/>
                <a:latin typeface="+mn-lt"/>
              </a:rPr>
              <a:t>”</a:t>
            </a:r>
            <a:r>
              <a:rPr lang="zh-CN" altLang="en-US" sz="1200" kern="1200" dirty="0">
                <a:solidFill>
                  <a:schemeClr val="tx1"/>
                </a:solidFill>
                <a:effectLst/>
                <a:latin typeface="+mn-lt"/>
              </a:rPr>
              <a:t>，并非调控相机运转的关键要素，与题干逻辑关系不一致，排除。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编程</a:t>
            </a:r>
            <a:r>
              <a:rPr lang="en-US" altLang="zh-CN" sz="1200" kern="1200" dirty="0">
                <a:solidFill>
                  <a:schemeClr val="tx1"/>
                </a:solidFill>
                <a:effectLst/>
                <a:latin typeface="+mn-lt"/>
              </a:rPr>
              <a:t>”</a:t>
            </a:r>
            <a:r>
              <a:rPr lang="zh-CN" altLang="en-US" sz="1200" kern="1200" dirty="0">
                <a:solidFill>
                  <a:schemeClr val="tx1"/>
                </a:solidFill>
                <a:effectLst/>
                <a:latin typeface="+mn-lt"/>
              </a:rPr>
              <a:t>是实现</a:t>
            </a:r>
            <a:r>
              <a:rPr lang="en-US" altLang="zh-CN" sz="1200" kern="1200" dirty="0">
                <a:solidFill>
                  <a:schemeClr val="tx1"/>
                </a:solidFill>
                <a:effectLst/>
                <a:latin typeface="+mn-lt"/>
              </a:rPr>
              <a:t>“</a:t>
            </a:r>
            <a:r>
              <a:rPr lang="zh-CN" altLang="en-US" sz="1200" kern="1200" dirty="0">
                <a:solidFill>
                  <a:schemeClr val="tx1"/>
                </a:solidFill>
                <a:effectLst/>
                <a:latin typeface="+mn-lt"/>
              </a:rPr>
              <a:t>计算机</a:t>
            </a:r>
            <a:r>
              <a:rPr lang="en-US" altLang="zh-CN" sz="1200" kern="1200" dirty="0">
                <a:solidFill>
                  <a:schemeClr val="tx1"/>
                </a:solidFill>
                <a:effectLst/>
                <a:latin typeface="+mn-lt"/>
              </a:rPr>
              <a:t>”“</a:t>
            </a:r>
            <a:r>
              <a:rPr lang="zh-CN" altLang="en-US" sz="1200" kern="1200" dirty="0">
                <a:solidFill>
                  <a:schemeClr val="tx1"/>
                </a:solidFill>
                <a:effectLst/>
                <a:latin typeface="+mn-lt"/>
              </a:rPr>
              <a:t>自动化</a:t>
            </a:r>
            <a:r>
              <a:rPr lang="en-US" altLang="zh-CN" sz="1200" kern="1200" dirty="0">
                <a:solidFill>
                  <a:schemeClr val="tx1"/>
                </a:solidFill>
                <a:effectLst/>
                <a:latin typeface="+mn-lt"/>
              </a:rPr>
              <a:t>”</a:t>
            </a:r>
            <a:r>
              <a:rPr lang="zh-CN" altLang="en-US" sz="1200" kern="1200" dirty="0">
                <a:solidFill>
                  <a:schemeClr val="tx1"/>
                </a:solidFill>
                <a:effectLst/>
                <a:latin typeface="+mn-lt"/>
              </a:rPr>
              <a:t>的手段，并非计算机的组成部件，三者属于方式与目的的对应关系，与题干逻辑关系不一致，排除。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加速器</a:t>
            </a:r>
            <a:r>
              <a:rPr lang="en-US" altLang="zh-CN" sz="1200" kern="1200" dirty="0">
                <a:solidFill>
                  <a:schemeClr val="tx1"/>
                </a:solidFill>
                <a:effectLst/>
                <a:latin typeface="+mn-lt"/>
              </a:rPr>
              <a:t>”</a:t>
            </a:r>
            <a:r>
              <a:rPr lang="zh-CN" altLang="en-US" sz="1200" kern="1200" dirty="0">
                <a:solidFill>
                  <a:schemeClr val="tx1"/>
                </a:solidFill>
                <a:effectLst/>
                <a:latin typeface="+mn-lt"/>
              </a:rPr>
              <a:t>不是</a:t>
            </a:r>
            <a:r>
              <a:rPr lang="en-US" altLang="zh-CN" sz="1200" kern="1200" dirty="0">
                <a:solidFill>
                  <a:schemeClr val="tx1"/>
                </a:solidFill>
                <a:effectLst/>
                <a:latin typeface="+mn-lt"/>
              </a:rPr>
              <a:t>“</a:t>
            </a:r>
            <a:r>
              <a:rPr lang="zh-CN" altLang="en-US" sz="1200" kern="1200" dirty="0">
                <a:solidFill>
                  <a:schemeClr val="tx1"/>
                </a:solidFill>
                <a:effectLst/>
                <a:latin typeface="+mn-lt"/>
              </a:rPr>
              <a:t>电动机</a:t>
            </a:r>
            <a:r>
              <a:rPr lang="en-US" altLang="zh-CN" sz="1200" kern="1200" dirty="0">
                <a:solidFill>
                  <a:schemeClr val="tx1"/>
                </a:solidFill>
                <a:effectLst/>
                <a:latin typeface="+mn-lt"/>
              </a:rPr>
              <a:t>”</a:t>
            </a:r>
            <a:r>
              <a:rPr lang="zh-CN" altLang="en-US" sz="1200" kern="1200" dirty="0">
                <a:solidFill>
                  <a:schemeClr val="tx1"/>
                </a:solidFill>
                <a:effectLst/>
                <a:latin typeface="+mn-lt"/>
              </a:rPr>
              <a:t>的固有核心部件，二者属于外接控制装置与设备的搭配关系，而非组成关系；且</a:t>
            </a:r>
            <a:r>
              <a:rPr lang="en-US" altLang="zh-CN" sz="1200" kern="1200" dirty="0">
                <a:solidFill>
                  <a:schemeClr val="tx1"/>
                </a:solidFill>
                <a:effectLst/>
                <a:latin typeface="+mn-lt"/>
              </a:rPr>
              <a:t>“</a:t>
            </a:r>
            <a:r>
              <a:rPr lang="zh-CN" altLang="en-US" sz="1200" kern="1200" dirty="0">
                <a:solidFill>
                  <a:schemeClr val="tx1"/>
                </a:solidFill>
                <a:effectLst/>
                <a:latin typeface="+mn-lt"/>
              </a:rPr>
              <a:t>加速器</a:t>
            </a:r>
            <a:r>
              <a:rPr lang="en-US" altLang="zh-CN" sz="1200" kern="1200" dirty="0">
                <a:solidFill>
                  <a:schemeClr val="tx1"/>
                </a:solidFill>
                <a:effectLst/>
                <a:latin typeface="+mn-lt"/>
              </a:rPr>
              <a:t>”</a:t>
            </a:r>
            <a:r>
              <a:rPr lang="zh-CN" altLang="en-US" sz="1200" kern="1200" dirty="0">
                <a:solidFill>
                  <a:schemeClr val="tx1"/>
                </a:solidFill>
                <a:effectLst/>
                <a:latin typeface="+mn-lt"/>
              </a:rPr>
              <a:t>的直接作用对象是电流，通过调整电流间接改变</a:t>
            </a:r>
            <a:r>
              <a:rPr lang="en-US" altLang="zh-CN" sz="1200" kern="1200" dirty="0">
                <a:solidFill>
                  <a:schemeClr val="tx1"/>
                </a:solidFill>
                <a:effectLst/>
                <a:latin typeface="+mn-lt"/>
              </a:rPr>
              <a:t>“</a:t>
            </a:r>
            <a:r>
              <a:rPr lang="zh-CN" altLang="en-US" sz="1200" kern="1200" dirty="0">
                <a:solidFill>
                  <a:schemeClr val="tx1"/>
                </a:solidFill>
                <a:effectLst/>
                <a:latin typeface="+mn-lt"/>
              </a:rPr>
              <a:t>电压</a:t>
            </a:r>
            <a:r>
              <a:rPr lang="en-US" altLang="zh-CN" sz="1200" kern="1200" dirty="0">
                <a:solidFill>
                  <a:schemeClr val="tx1"/>
                </a:solidFill>
                <a:effectLst/>
                <a:latin typeface="+mn-lt"/>
              </a:rPr>
              <a:t>”</a:t>
            </a:r>
            <a:r>
              <a:rPr lang="zh-CN" altLang="en-US" sz="1200" kern="1200" dirty="0">
                <a:solidFill>
                  <a:schemeClr val="tx1"/>
                </a:solidFill>
                <a:effectLst/>
                <a:latin typeface="+mn-lt"/>
              </a:rPr>
              <a:t>，进而控制电动机转速，并非直接控制</a:t>
            </a:r>
            <a:r>
              <a:rPr lang="en-US" altLang="zh-CN" sz="1200" kern="1200" dirty="0">
                <a:solidFill>
                  <a:schemeClr val="tx1"/>
                </a:solidFill>
                <a:effectLst/>
                <a:latin typeface="+mn-lt"/>
              </a:rPr>
              <a:t>“</a:t>
            </a:r>
            <a:r>
              <a:rPr lang="zh-CN" altLang="en-US" sz="1200" kern="1200" dirty="0">
                <a:solidFill>
                  <a:schemeClr val="tx1"/>
                </a:solidFill>
                <a:effectLst/>
                <a:latin typeface="+mn-lt"/>
              </a:rPr>
              <a:t>电压</a:t>
            </a:r>
            <a:r>
              <a:rPr lang="en-US" altLang="zh-CN" sz="1200" kern="1200" dirty="0">
                <a:solidFill>
                  <a:schemeClr val="tx1"/>
                </a:solidFill>
                <a:effectLst/>
                <a:latin typeface="+mn-lt"/>
              </a:rPr>
              <a:t>”</a:t>
            </a:r>
            <a:r>
              <a:rPr lang="zh-CN" altLang="en-US" sz="1200" kern="1200" dirty="0">
                <a:solidFill>
                  <a:schemeClr val="tx1"/>
                </a:solidFill>
                <a:effectLst/>
                <a:latin typeface="+mn-lt"/>
              </a:rPr>
              <a:t>，与题干逻辑关系不一致，排除。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阀门</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水库</a:t>
            </a:r>
            <a:r>
              <a:rPr lang="en-US" altLang="zh-CN" sz="1200" kern="1200" dirty="0">
                <a:solidFill>
                  <a:schemeClr val="tx1"/>
                </a:solidFill>
                <a:effectLst/>
                <a:latin typeface="+mn-lt"/>
              </a:rPr>
              <a:t>”</a:t>
            </a:r>
            <a:r>
              <a:rPr lang="zh-CN" altLang="en-US" sz="1200" kern="1200" dirty="0">
                <a:solidFill>
                  <a:schemeClr val="tx1"/>
                </a:solidFill>
                <a:effectLst/>
                <a:latin typeface="+mn-lt"/>
              </a:rPr>
              <a:t>的关键控制部件，二者属于包容关系中的组成关系；各类阀门（如闸阀、蝶阀等）的核心功能是控制</a:t>
            </a:r>
            <a:r>
              <a:rPr lang="en-US" altLang="zh-CN" sz="1200" kern="1200" dirty="0">
                <a:solidFill>
                  <a:schemeClr val="tx1"/>
                </a:solidFill>
                <a:effectLst/>
                <a:latin typeface="+mn-lt"/>
              </a:rPr>
              <a:t>“</a:t>
            </a:r>
            <a:r>
              <a:rPr lang="zh-CN" altLang="en-US" sz="1200" kern="1200" dirty="0">
                <a:solidFill>
                  <a:schemeClr val="tx1"/>
                </a:solidFill>
                <a:effectLst/>
                <a:latin typeface="+mn-lt"/>
              </a:rPr>
              <a:t>水流</a:t>
            </a:r>
            <a:r>
              <a:rPr lang="en-US" altLang="zh-CN" sz="1200" kern="1200" dirty="0">
                <a:solidFill>
                  <a:schemeClr val="tx1"/>
                </a:solidFill>
                <a:effectLst/>
                <a:latin typeface="+mn-lt"/>
              </a:rPr>
              <a:t>”</a:t>
            </a:r>
            <a:r>
              <a:rPr lang="zh-CN" altLang="en-US" sz="1200" kern="1200" dirty="0">
                <a:solidFill>
                  <a:schemeClr val="tx1"/>
                </a:solidFill>
                <a:effectLst/>
                <a:latin typeface="+mn-lt"/>
              </a:rPr>
              <a:t>的截流、调节与排放，以此保障水库的蓄水、输水功能，二者属于部件与其直接控制对象的对应关系，与题干逻辑关系完全一致，当选。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tags" Target="../tags/tag16.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slideLayout" Target="../slideLayouts/slideLayout10.xml"/><Relationship Id="rId3" Type="http://schemas.openxmlformats.org/officeDocument/2006/relationships/slideLayout" Target="../slideLayouts/slideLayout9.xml"/><Relationship Id="rId2" Type="http://schemas.openxmlformats.org/officeDocument/2006/relationships/slideLayout" Target="../slideLayouts/slideLayout8.xml"/><Relationship Id="rId11" Type="http://schemas.openxmlformats.org/officeDocument/2006/relationships/theme" Target="../theme/theme3.xml"/><Relationship Id="rId10" Type="http://schemas.openxmlformats.org/officeDocument/2006/relationships/tags" Target="../tags/tag3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10"/>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10"/>
    </p:custData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4.xml"/><Relationship Id="rId2" Type="http://schemas.openxmlformats.org/officeDocument/2006/relationships/image" Target="../media/image2.png"/><Relationship Id="rId1" Type="http://schemas.openxmlformats.org/officeDocument/2006/relationships/tags" Target="../tags/tag33.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tags" Target="../tags/tag34.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tags" Target="../tags/tag35.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4.xml"/><Relationship Id="rId2" Type="http://schemas.openxmlformats.org/officeDocument/2006/relationships/image" Target="../media/image5.png"/><Relationship Id="rId1" Type="http://schemas.openxmlformats.org/officeDocument/2006/relationships/tags" Target="../tags/tag36.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4.xml"/><Relationship Id="rId4" Type="http://schemas.openxmlformats.org/officeDocument/2006/relationships/image" Target="../media/image7.png"/><Relationship Id="rId3" Type="http://schemas.openxmlformats.org/officeDocument/2006/relationships/tags" Target="../tags/tag38.xml"/><Relationship Id="rId2" Type="http://schemas.openxmlformats.org/officeDocument/2006/relationships/image" Target="../media/image6.png"/><Relationship Id="rId1" Type="http://schemas.openxmlformats.org/officeDocument/2006/relationships/tags" Target="../tags/tag37.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4.xml"/><Relationship Id="rId4" Type="http://schemas.openxmlformats.org/officeDocument/2006/relationships/tags" Target="../tags/tag40.xml"/><Relationship Id="rId3" Type="http://schemas.openxmlformats.org/officeDocument/2006/relationships/image" Target="../media/image8.png"/><Relationship Id="rId2" Type="http://schemas.openxmlformats.org/officeDocument/2006/relationships/tags" Target="../tags/tag39.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4.xml"/><Relationship Id="rId4" Type="http://schemas.openxmlformats.org/officeDocument/2006/relationships/tags" Target="../tags/tag42.xml"/><Relationship Id="rId3" Type="http://schemas.openxmlformats.org/officeDocument/2006/relationships/image" Target="../media/image9.png"/><Relationship Id="rId2" Type="http://schemas.openxmlformats.org/officeDocument/2006/relationships/tags" Target="../tags/tag41.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tags" Target="../tags/tag43.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4.xml"/><Relationship Id="rId2" Type="http://schemas.openxmlformats.org/officeDocument/2006/relationships/image" Target="../media/image11.png"/><Relationship Id="rId1" Type="http://schemas.openxmlformats.org/officeDocument/2006/relationships/tags" Target="../tags/tag44.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4.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tags" Target="../tags/tag45.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4.xml"/><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tags" Target="../tags/tag46.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4.xml"/><Relationship Id="rId2" Type="http://schemas.openxmlformats.org/officeDocument/2006/relationships/image" Target="../media/image16.png"/><Relationship Id="rId1" Type="http://schemas.openxmlformats.org/officeDocument/2006/relationships/tags" Target="../tags/tag47.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4.xml"/><Relationship Id="rId2" Type="http://schemas.openxmlformats.org/officeDocument/2006/relationships/image" Target="../media/image17.png"/><Relationship Id="rId1" Type="http://schemas.openxmlformats.org/officeDocument/2006/relationships/tags" Target="../tags/tag48.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4.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tags" Target="../tags/tag49.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4.xml"/><Relationship Id="rId2" Type="http://schemas.openxmlformats.org/officeDocument/2006/relationships/image" Target="../media/image20.png"/><Relationship Id="rId1" Type="http://schemas.openxmlformats.org/officeDocument/2006/relationships/tags" Target="../tags/tag50.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5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5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5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5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5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5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5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58.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59.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60.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6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6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63.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64.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6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6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6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ags" Target="../tags/tag68.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69.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70.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9.xml"/><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9.xml"/><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4.xml"/><Relationship Id="rId2" Type="http://schemas.openxmlformats.org/officeDocument/2006/relationships/image" Target="../media/image21.png"/><Relationship Id="rId1" Type="http://schemas.openxmlformats.org/officeDocument/2006/relationships/tags" Target="../tags/tag71.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4.xml"/><Relationship Id="rId2" Type="http://schemas.openxmlformats.org/officeDocument/2006/relationships/image" Target="../media/image22.png"/><Relationship Id="rId1" Type="http://schemas.openxmlformats.org/officeDocument/2006/relationships/tags" Target="../tags/tag72.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4.xml"/><Relationship Id="rId2" Type="http://schemas.openxmlformats.org/officeDocument/2006/relationships/image" Target="../media/image23.png"/><Relationship Id="rId1" Type="http://schemas.openxmlformats.org/officeDocument/2006/relationships/tags" Target="../tags/tag73.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4.xml"/><Relationship Id="rId2" Type="http://schemas.openxmlformats.org/officeDocument/2006/relationships/image" Target="../media/image24.png"/><Relationship Id="rId1" Type="http://schemas.openxmlformats.org/officeDocument/2006/relationships/tags" Target="../tags/tag74.xml"/></Relationships>
</file>

<file path=ppt/slides/_rels/slide43.xml.rels><?xml version="1.0" encoding="UTF-8" standalone="yes"?>
<Relationships xmlns="http://schemas.openxmlformats.org/package/2006/relationships"><Relationship Id="rId6" Type="http://schemas.openxmlformats.org/officeDocument/2006/relationships/notesSlide" Target="../notesSlides/notesSlide43.xml"/><Relationship Id="rId5" Type="http://schemas.openxmlformats.org/officeDocument/2006/relationships/slideLayout" Target="../slideLayouts/slideLayout4.xml"/><Relationship Id="rId4" Type="http://schemas.openxmlformats.org/officeDocument/2006/relationships/image" Target="../media/image26.png"/><Relationship Id="rId3" Type="http://schemas.openxmlformats.org/officeDocument/2006/relationships/tags" Target="../tags/tag76.xml"/><Relationship Id="rId2" Type="http://schemas.openxmlformats.org/officeDocument/2006/relationships/image" Target="../media/image25.png"/><Relationship Id="rId1" Type="http://schemas.openxmlformats.org/officeDocument/2006/relationships/tags" Target="../tags/tag75.xml"/></Relationships>
</file>

<file path=ppt/slides/_rels/slide44.xml.rels><?xml version="1.0" encoding="UTF-8" standalone="yes"?>
<Relationships xmlns="http://schemas.openxmlformats.org/package/2006/relationships"><Relationship Id="rId6" Type="http://schemas.openxmlformats.org/officeDocument/2006/relationships/notesSlide" Target="../notesSlides/notesSlide44.xml"/><Relationship Id="rId5" Type="http://schemas.openxmlformats.org/officeDocument/2006/relationships/slideLayout" Target="../slideLayouts/slideLayout4.xml"/><Relationship Id="rId4" Type="http://schemas.openxmlformats.org/officeDocument/2006/relationships/image" Target="../media/image27.png"/><Relationship Id="rId3" Type="http://schemas.openxmlformats.org/officeDocument/2006/relationships/tags" Target="../tags/tag78.xml"/><Relationship Id="rId2" Type="http://schemas.openxmlformats.org/officeDocument/2006/relationships/image" Target="../media/image25.png"/><Relationship Id="rId1" Type="http://schemas.openxmlformats.org/officeDocument/2006/relationships/tags" Target="../tags/tag77.xml"/></Relationships>
</file>

<file path=ppt/slides/_rels/slide45.xml.rels><?xml version="1.0" encoding="UTF-8" standalone="yes"?>
<Relationships xmlns="http://schemas.openxmlformats.org/package/2006/relationships"><Relationship Id="rId6" Type="http://schemas.openxmlformats.org/officeDocument/2006/relationships/notesSlide" Target="../notesSlides/notesSlide45.xml"/><Relationship Id="rId5" Type="http://schemas.openxmlformats.org/officeDocument/2006/relationships/slideLayout" Target="../slideLayouts/slideLayout4.xml"/><Relationship Id="rId4" Type="http://schemas.openxmlformats.org/officeDocument/2006/relationships/image" Target="../media/image28.png"/><Relationship Id="rId3" Type="http://schemas.openxmlformats.org/officeDocument/2006/relationships/tags" Target="../tags/tag80.xml"/><Relationship Id="rId2" Type="http://schemas.openxmlformats.org/officeDocument/2006/relationships/image" Target="../media/image25.png"/><Relationship Id="rId1" Type="http://schemas.openxmlformats.org/officeDocument/2006/relationships/tags" Target="../tags/tag79.xml"/></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4.xml"/><Relationship Id="rId2" Type="http://schemas.openxmlformats.org/officeDocument/2006/relationships/image" Target="../media/image29.png"/><Relationship Id="rId1" Type="http://schemas.openxmlformats.org/officeDocument/2006/relationships/tags" Target="../tags/tag81.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4.xml"/><Relationship Id="rId2" Type="http://schemas.openxmlformats.org/officeDocument/2006/relationships/image" Target="../media/image30.png"/><Relationship Id="rId1" Type="http://schemas.openxmlformats.org/officeDocument/2006/relationships/tags" Target="../tags/tag82.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4.xml"/><Relationship Id="rId2" Type="http://schemas.openxmlformats.org/officeDocument/2006/relationships/image" Target="../media/image31.png"/><Relationship Id="rId1" Type="http://schemas.openxmlformats.org/officeDocument/2006/relationships/tags" Target="../tags/tag83.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4.xml"/><Relationship Id="rId2" Type="http://schemas.openxmlformats.org/officeDocument/2006/relationships/image" Target="../media/image32.png"/><Relationship Id="rId1" Type="http://schemas.openxmlformats.org/officeDocument/2006/relationships/tags" Target="../tags/tag84.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4.xml"/><Relationship Id="rId2" Type="http://schemas.openxmlformats.org/officeDocument/2006/relationships/image" Target="../media/image33.png"/><Relationship Id="rId1" Type="http://schemas.openxmlformats.org/officeDocument/2006/relationships/tags" Target="../tags/tag85.xml"/></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51.xml"/><Relationship Id="rId4" Type="http://schemas.openxmlformats.org/officeDocument/2006/relationships/slideLayout" Target="../slideLayouts/slideLayout4.xml"/><Relationship Id="rId3" Type="http://schemas.openxmlformats.org/officeDocument/2006/relationships/image" Target="../media/image35.png"/><Relationship Id="rId2" Type="http://schemas.openxmlformats.org/officeDocument/2006/relationships/image" Target="../media/image34.tiff"/><Relationship Id="rId1" Type="http://schemas.openxmlformats.org/officeDocument/2006/relationships/tags" Target="../tags/tag86.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4.xml"/><Relationship Id="rId1" Type="http://schemas.openxmlformats.org/officeDocument/2006/relationships/tags" Target="../tags/tag87.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88.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4.xml"/><Relationship Id="rId1" Type="http://schemas.openxmlformats.org/officeDocument/2006/relationships/tags" Target="../tags/tag89.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4.xml"/><Relationship Id="rId1" Type="http://schemas.openxmlformats.org/officeDocument/2006/relationships/tags" Target="../tags/tag90.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4.xml"/><Relationship Id="rId1" Type="http://schemas.openxmlformats.org/officeDocument/2006/relationships/tags" Target="../tags/tag91.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5.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9" name="文本框 8"/>
          <p:cNvSpPr txBox="1"/>
          <p:nvPr/>
        </p:nvSpPr>
        <p:spPr>
          <a:xfrm>
            <a:off x="2807628" y="1708964"/>
            <a:ext cx="6576647" cy="2122805"/>
          </a:xfrm>
          <a:prstGeom prst="rect">
            <a:avLst/>
          </a:prstGeom>
          <a:noFill/>
        </p:spPr>
        <p:txBody>
          <a:bodyPr wrap="square" rtlCol="0">
            <a:spAutoFit/>
          </a:bodyPr>
          <a:p>
            <a:pPr indent="0" algn="ctr" fontAlgn="auto">
              <a:lnSpc>
                <a:spcPct val="150000"/>
              </a:lnSpc>
            </a:pP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北京</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indent="0" algn="ctr" fontAlgn="auto">
              <a:lnSpc>
                <a:spcPct val="150000"/>
              </a:lnSpc>
            </a:pP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34064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52.</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从所给的四个选项中，选择最合适的一个填入问号处，不仅使两套图形表现出最大的相似性，而且使第二套图形也表现出自己的特征。</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2" name="图片 1" descr="IMG_256"/>
          <p:cNvPicPr>
            <a:picLocks noChangeAspect="1"/>
          </p:cNvPicPr>
          <p:nvPr/>
        </p:nvPicPr>
        <p:blipFill>
          <a:blip r:embed="rId2"/>
          <a:stretch>
            <a:fillRect/>
          </a:stretch>
        </p:blipFill>
        <p:spPr>
          <a:xfrm>
            <a:off x="1821815" y="2294255"/>
            <a:ext cx="8548370" cy="3679190"/>
          </a:xfrm>
          <a:prstGeom prst="rect">
            <a:avLst/>
          </a:prstGeom>
          <a:noFill/>
          <a:ln w="9525">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53.</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从所给的四个选项中，选择最合适的一个填入问号处，不仅使两套图形表现出最大的相似性，而且使第二套图形也表现出自己的特征。</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20" name="图片 3" descr="IMG_258"/>
          <p:cNvPicPr>
            <a:picLocks noChangeAspect="1"/>
          </p:cNvPicPr>
          <p:nvPr/>
        </p:nvPicPr>
        <p:blipFill>
          <a:blip r:embed="rId2"/>
          <a:stretch>
            <a:fillRect/>
          </a:stretch>
        </p:blipFill>
        <p:spPr>
          <a:xfrm>
            <a:off x="1683385" y="2234565"/>
            <a:ext cx="8825865" cy="3950970"/>
          </a:xfrm>
          <a:prstGeom prst="rect">
            <a:avLst/>
          </a:prstGeom>
          <a:noFill/>
          <a:ln w="9525">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54.</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从所给的四个选项中，选择最合适的一个填入问号处，不仅使两套图形表现出最大的相似性，而且使第二套图形也表现出自己的特征。</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41" name="图片 5" descr="IMG_260"/>
          <p:cNvPicPr>
            <a:picLocks noChangeAspect="1"/>
          </p:cNvPicPr>
          <p:nvPr/>
        </p:nvPicPr>
        <p:blipFill>
          <a:blip r:embed="rId2"/>
          <a:stretch>
            <a:fillRect/>
          </a:stretch>
        </p:blipFill>
        <p:spPr>
          <a:xfrm>
            <a:off x="1132205" y="2150745"/>
            <a:ext cx="9927590" cy="3844925"/>
          </a:xfrm>
          <a:prstGeom prst="rect">
            <a:avLst/>
          </a:prstGeom>
          <a:noFill/>
          <a:ln w="9525">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55.</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从所给的四个选项中，选择最合适的一个填入问号处，使图形呈现一定的规律性。</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42" name="图片 8" descr="IMG_263"/>
          <p:cNvPicPr>
            <a:picLocks noChangeAspect="1"/>
          </p:cNvPicPr>
          <p:nvPr/>
        </p:nvPicPr>
        <p:blipFill>
          <a:blip r:embed="rId2"/>
          <a:stretch>
            <a:fillRect/>
          </a:stretch>
        </p:blipFill>
        <p:spPr>
          <a:xfrm>
            <a:off x="1540510" y="1906270"/>
            <a:ext cx="9112250" cy="4173220"/>
          </a:xfrm>
          <a:prstGeom prst="rect">
            <a:avLst/>
          </a:prstGeom>
          <a:noFill/>
          <a:ln w="9525">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831215" y="62230"/>
            <a:ext cx="8590280" cy="645160"/>
          </a:xfrm>
          <a:prstGeom prst="rect">
            <a:avLst/>
          </a:prstGeom>
        </p:spPr>
        <p:txBody>
          <a:bodyPr wrap="square">
            <a:spAutoFit/>
          </a:bodyPr>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下面呈现一组操作规则，根据要求完成以下</a:t>
            </a: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题</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43" name="图片 10" descr="IMG_265"/>
          <p:cNvPicPr>
            <a:picLocks noChangeAspect="1"/>
          </p:cNvPicPr>
          <p:nvPr/>
        </p:nvPicPr>
        <p:blipFill>
          <a:blip r:embed="rId2"/>
          <a:stretch>
            <a:fillRect/>
          </a:stretch>
        </p:blipFill>
        <p:spPr>
          <a:xfrm>
            <a:off x="831215" y="913130"/>
            <a:ext cx="5800090" cy="3333115"/>
          </a:xfrm>
          <a:prstGeom prst="rect">
            <a:avLst/>
          </a:prstGeom>
          <a:noFill/>
          <a:ln w="9525">
            <a:noFill/>
          </a:ln>
        </p:spPr>
      </p:pic>
      <p:sp>
        <p:nvSpPr>
          <p:cNvPr id="3" name="矩形 2"/>
          <p:cNvSpPr/>
          <p:nvPr>
            <p:custDataLst>
              <p:tags r:id="rId3"/>
            </p:custDataLst>
          </p:nvPr>
        </p:nvSpPr>
        <p:spPr>
          <a:xfrm>
            <a:off x="831215" y="4246245"/>
            <a:ext cx="1081849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56.</a:t>
            </a:r>
            <a:r>
              <a:rPr lang="zh-CN" altLang="en-US" sz="2400" spc="200" dirty="0">
                <a:solidFill>
                  <a:srgbClr val="000000"/>
                </a:solidFill>
                <a:latin typeface="+mn-ea"/>
                <a:cs typeface="楷体" panose="02010609060101010101" charset="-122"/>
                <a:sym typeface="楷体" panose="02010609060101010101" charset="-122"/>
              </a:rPr>
              <a:t>对左侧的图形依次进行相应的操作后，可以得到右侧哪个图形</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54" name="图片 11" descr="IMG_266"/>
          <p:cNvPicPr>
            <a:picLocks noChangeAspect="1"/>
          </p:cNvPicPr>
          <p:nvPr/>
        </p:nvPicPr>
        <p:blipFill>
          <a:blip r:embed="rId4"/>
          <a:stretch>
            <a:fillRect/>
          </a:stretch>
        </p:blipFill>
        <p:spPr>
          <a:xfrm>
            <a:off x="831215" y="5067300"/>
            <a:ext cx="8602345" cy="1484630"/>
          </a:xfrm>
          <a:prstGeom prst="rect">
            <a:avLst/>
          </a:prstGeom>
          <a:noFill/>
          <a:ln w="9525">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图片 10" descr="IMG_265"/>
          <p:cNvPicPr>
            <a:picLocks noChangeAspect="1"/>
          </p:cNvPicPr>
          <p:nvPr/>
        </p:nvPicPr>
        <p:blipFill>
          <a:blip r:embed="rId1"/>
          <a:stretch>
            <a:fillRect/>
          </a:stretch>
        </p:blipFill>
        <p:spPr>
          <a:xfrm>
            <a:off x="831215" y="913130"/>
            <a:ext cx="5800090" cy="3333115"/>
          </a:xfrm>
          <a:prstGeom prst="rect">
            <a:avLst/>
          </a:prstGeom>
          <a:noFill/>
          <a:ln w="9525">
            <a:noFill/>
          </a:ln>
        </p:spPr>
      </p:pic>
      <p:sp>
        <p:nvSpPr>
          <p:cNvPr id="3" name="矩形 2"/>
          <p:cNvSpPr/>
          <p:nvPr>
            <p:custDataLst>
              <p:tags r:id="rId2"/>
            </p:custDataLst>
          </p:nvPr>
        </p:nvSpPr>
        <p:spPr>
          <a:xfrm>
            <a:off x="831215" y="4153535"/>
            <a:ext cx="1081849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57.</a:t>
            </a:r>
            <a:r>
              <a:rPr lang="zh-CN" altLang="en-US" sz="2400" spc="200" dirty="0">
                <a:solidFill>
                  <a:srgbClr val="000000"/>
                </a:solidFill>
                <a:latin typeface="+mn-ea"/>
                <a:cs typeface="楷体" panose="02010609060101010101" charset="-122"/>
                <a:sym typeface="楷体" panose="02010609060101010101" charset="-122"/>
              </a:rPr>
              <a:t>对左侧的图形依次进行相应的操作后，可以得到右侧哪个图形</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55" name="图片 15" descr="IMG_270"/>
          <p:cNvPicPr>
            <a:picLocks noChangeAspect="1"/>
          </p:cNvPicPr>
          <p:nvPr/>
        </p:nvPicPr>
        <p:blipFill>
          <a:blip r:embed="rId3"/>
          <a:stretch>
            <a:fillRect/>
          </a:stretch>
        </p:blipFill>
        <p:spPr>
          <a:xfrm>
            <a:off x="831215" y="4798695"/>
            <a:ext cx="9148445" cy="1573530"/>
          </a:xfrm>
          <a:prstGeom prst="rect">
            <a:avLst/>
          </a:prstGeom>
          <a:noFill/>
          <a:ln w="9525">
            <a:noFill/>
          </a:ln>
        </p:spPr>
      </p:pic>
      <p:sp>
        <p:nvSpPr>
          <p:cNvPr id="2" name="矩形 1"/>
          <p:cNvSpPr/>
          <p:nvPr>
            <p:custDataLst>
              <p:tags r:id="rId4"/>
            </p:custDataLst>
          </p:nvPr>
        </p:nvSpPr>
        <p:spPr>
          <a:xfrm>
            <a:off x="831215" y="62230"/>
            <a:ext cx="8590280" cy="645160"/>
          </a:xfrm>
          <a:prstGeom prst="rect">
            <a:avLst/>
          </a:prstGeom>
        </p:spPr>
        <p:txBody>
          <a:bodyPr wrap="square">
            <a:spAutoFit/>
          </a:bodyPr>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下面呈现一组操作规则，根据要求完成以下</a:t>
            </a: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题</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图片 10" descr="IMG_265"/>
          <p:cNvPicPr>
            <a:picLocks noChangeAspect="1"/>
          </p:cNvPicPr>
          <p:nvPr/>
        </p:nvPicPr>
        <p:blipFill>
          <a:blip r:embed="rId1"/>
          <a:stretch>
            <a:fillRect/>
          </a:stretch>
        </p:blipFill>
        <p:spPr>
          <a:xfrm>
            <a:off x="831215" y="913130"/>
            <a:ext cx="5800090" cy="3333115"/>
          </a:xfrm>
          <a:prstGeom prst="rect">
            <a:avLst/>
          </a:prstGeom>
          <a:noFill/>
          <a:ln w="9525">
            <a:noFill/>
          </a:ln>
        </p:spPr>
      </p:pic>
      <p:sp>
        <p:nvSpPr>
          <p:cNvPr id="3" name="矩形 2"/>
          <p:cNvSpPr/>
          <p:nvPr>
            <p:custDataLst>
              <p:tags r:id="rId2"/>
            </p:custDataLst>
          </p:nvPr>
        </p:nvSpPr>
        <p:spPr>
          <a:xfrm>
            <a:off x="831215" y="4126865"/>
            <a:ext cx="1081849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58.</a:t>
            </a:r>
            <a:r>
              <a:rPr lang="zh-CN" altLang="en-US" sz="2400" spc="200" dirty="0">
                <a:solidFill>
                  <a:srgbClr val="000000"/>
                </a:solidFill>
                <a:latin typeface="+mn-ea"/>
                <a:cs typeface="楷体" panose="02010609060101010101" charset="-122"/>
                <a:sym typeface="楷体" panose="02010609060101010101" charset="-122"/>
              </a:rPr>
              <a:t>对左侧的图形依次进行相应的操作后，可以得到右侧哪个图形</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56" name="图片 19" descr="IMG_274"/>
          <p:cNvPicPr>
            <a:picLocks noChangeAspect="1"/>
          </p:cNvPicPr>
          <p:nvPr/>
        </p:nvPicPr>
        <p:blipFill>
          <a:blip r:embed="rId3"/>
          <a:stretch>
            <a:fillRect/>
          </a:stretch>
        </p:blipFill>
        <p:spPr>
          <a:xfrm>
            <a:off x="831215" y="4772025"/>
            <a:ext cx="9592310" cy="1646555"/>
          </a:xfrm>
          <a:prstGeom prst="rect">
            <a:avLst/>
          </a:prstGeom>
          <a:noFill/>
          <a:ln w="9525">
            <a:noFill/>
          </a:ln>
        </p:spPr>
      </p:pic>
      <p:sp>
        <p:nvSpPr>
          <p:cNvPr id="2" name="矩形 1"/>
          <p:cNvSpPr/>
          <p:nvPr>
            <p:custDataLst>
              <p:tags r:id="rId4"/>
            </p:custDataLst>
          </p:nvPr>
        </p:nvSpPr>
        <p:spPr>
          <a:xfrm>
            <a:off x="831215" y="62230"/>
            <a:ext cx="8590280" cy="645160"/>
          </a:xfrm>
          <a:prstGeom prst="rect">
            <a:avLst/>
          </a:prstGeom>
        </p:spPr>
        <p:txBody>
          <a:bodyPr wrap="square">
            <a:spAutoFit/>
          </a:bodyPr>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下面呈现一组操作规则，根据要求完成以下</a:t>
            </a: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题</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59.</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从所给的四个选项中，选择最合适的一个填入问号处，使图形呈现一定的规律性。</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60" name="图片 23" descr="IMG_278"/>
          <p:cNvPicPr>
            <a:picLocks noChangeAspect="1"/>
          </p:cNvPicPr>
          <p:nvPr/>
        </p:nvPicPr>
        <p:blipFill>
          <a:blip r:embed="rId2"/>
          <a:stretch>
            <a:fillRect/>
          </a:stretch>
        </p:blipFill>
        <p:spPr>
          <a:xfrm>
            <a:off x="3844925" y="1433195"/>
            <a:ext cx="4502150" cy="4596765"/>
          </a:xfrm>
          <a:prstGeom prst="rect">
            <a:avLst/>
          </a:prstGeom>
          <a:noFill/>
          <a:ln w="9525">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60.</a:t>
            </a:r>
            <a:r>
              <a:rPr lang="zh-CN" altLang="en-US" sz="2400" spc="200" dirty="0">
                <a:solidFill>
                  <a:srgbClr val="000000"/>
                </a:solidFill>
                <a:latin typeface="+mn-ea"/>
                <a:cs typeface="楷体" panose="02010609060101010101" charset="-122"/>
                <a:sym typeface="楷体" panose="02010609060101010101" charset="-122"/>
              </a:rPr>
              <a:t>以下除哪一项外，都是同一正方体纸盒的外表面展开图</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63" name="图片 26" descr="IMG_281"/>
          <p:cNvPicPr>
            <a:picLocks noChangeAspect="1"/>
          </p:cNvPicPr>
          <p:nvPr/>
        </p:nvPicPr>
        <p:blipFill>
          <a:blip r:embed="rId2"/>
          <a:stretch>
            <a:fillRect/>
          </a:stretch>
        </p:blipFill>
        <p:spPr>
          <a:xfrm>
            <a:off x="824865" y="1651635"/>
            <a:ext cx="10747375" cy="2856230"/>
          </a:xfrm>
          <a:prstGeom prst="rect">
            <a:avLst/>
          </a:prstGeom>
          <a:noFill/>
          <a:ln w="9525">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4523105"/>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61.</a:t>
            </a:r>
            <a:r>
              <a:rPr lang="zh-CN" altLang="en-US" sz="2400" spc="200" dirty="0">
                <a:solidFill>
                  <a:srgbClr val="000000"/>
                </a:solidFill>
                <a:latin typeface="+mn-ea"/>
                <a:cs typeface="楷体" panose="02010609060101010101" charset="-122"/>
                <a:sym typeface="楷体" panose="02010609060101010101" charset="-122"/>
              </a:rPr>
              <a:t>下图为</a:t>
            </a:r>
            <a:r>
              <a:rPr lang="en-US" altLang="zh-CN" sz="2400" spc="200" dirty="0">
                <a:solidFill>
                  <a:srgbClr val="000000"/>
                </a:solidFill>
                <a:latin typeface="+mn-ea"/>
                <a:cs typeface="楷体" panose="02010609060101010101" charset="-122"/>
                <a:sym typeface="楷体" panose="02010609060101010101" charset="-122"/>
              </a:rPr>
              <a:t>20</a:t>
            </a:r>
            <a:r>
              <a:rPr lang="zh-CN" altLang="en-US" sz="2400" spc="200" dirty="0">
                <a:solidFill>
                  <a:srgbClr val="000000"/>
                </a:solidFill>
                <a:latin typeface="+mn-ea"/>
                <a:cs typeface="楷体" panose="02010609060101010101" charset="-122"/>
                <a:sym typeface="楷体" panose="02010609060101010101" charset="-122"/>
              </a:rPr>
              <a:t>个等大的白色正方体组合而成的多面体，至少在其中再添加几个同样的正方体后，其主视图、左视图和俯视图将是相同的图形</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A.1</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B.2</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C.3</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D.4</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72" name="图片 29" descr="IMG_284"/>
          <p:cNvPicPr>
            <a:picLocks noChangeAspect="1"/>
          </p:cNvPicPr>
          <p:nvPr/>
        </p:nvPicPr>
        <p:blipFill>
          <a:blip r:embed="rId2"/>
          <a:stretch>
            <a:fillRect/>
          </a:stretch>
        </p:blipFill>
        <p:spPr>
          <a:xfrm>
            <a:off x="4893945" y="2156460"/>
            <a:ext cx="3025775" cy="3411855"/>
          </a:xfrm>
          <a:prstGeom prst="rect">
            <a:avLst/>
          </a:prstGeom>
          <a:noFill/>
          <a:ln w="9525">
            <a:noFill/>
          </a:ln>
        </p:spPr>
      </p:pic>
      <p:pic>
        <p:nvPicPr>
          <p:cNvPr id="17" name="图片 34" descr="IMG_289"/>
          <p:cNvPicPr>
            <a:picLocks noChangeAspect="1"/>
          </p:cNvPicPr>
          <p:nvPr/>
        </p:nvPicPr>
        <p:blipFill>
          <a:blip r:embed="rId3"/>
          <a:stretch>
            <a:fillRect/>
          </a:stretch>
        </p:blipFill>
        <p:spPr>
          <a:xfrm>
            <a:off x="9309735" y="3602990"/>
            <a:ext cx="1854835" cy="1854835"/>
          </a:xfrm>
          <a:prstGeom prst="rect">
            <a:avLst/>
          </a:prstGeom>
          <a:noFill/>
          <a:ln w="9525">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62.</a:t>
            </a:r>
            <a:r>
              <a:rPr lang="zh-CN" altLang="en-US" sz="2400" spc="200" dirty="0">
                <a:solidFill>
                  <a:srgbClr val="000000"/>
                </a:solidFill>
                <a:latin typeface="+mn-ea"/>
                <a:cs typeface="楷体" panose="02010609060101010101" charset="-122"/>
                <a:sym typeface="楷体" panose="02010609060101010101" charset="-122"/>
              </a:rPr>
              <a:t>左图为给定的多面体，将其沿</a:t>
            </a: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a:t>
            </a: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a:t>
            </a: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三个顶点切开，其截面是？</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73" name="图片 73" descr="IMG_290"/>
          <p:cNvPicPr>
            <a:picLocks noChangeAspect="1"/>
          </p:cNvPicPr>
          <p:nvPr/>
        </p:nvPicPr>
        <p:blipFill>
          <a:blip r:embed="rId2"/>
          <a:stretch>
            <a:fillRect/>
          </a:stretch>
        </p:blipFill>
        <p:spPr>
          <a:xfrm>
            <a:off x="826135" y="1958340"/>
            <a:ext cx="10831195" cy="2803525"/>
          </a:xfrm>
          <a:prstGeom prst="rect">
            <a:avLst/>
          </a:prstGeom>
          <a:noFill/>
          <a:ln w="9525">
            <a:noFill/>
          </a:ln>
        </p:spPr>
      </p:pic>
      <p:pic>
        <p:nvPicPr>
          <p:cNvPr id="3" name="图片 36" descr="IMG_291"/>
          <p:cNvPicPr>
            <a:picLocks noChangeAspect="1"/>
          </p:cNvPicPr>
          <p:nvPr/>
        </p:nvPicPr>
        <p:blipFill>
          <a:blip r:embed="rId3"/>
          <a:stretch>
            <a:fillRect/>
          </a:stretch>
        </p:blipFill>
        <p:spPr>
          <a:xfrm>
            <a:off x="825818" y="4665028"/>
            <a:ext cx="2428875" cy="2047875"/>
          </a:xfrm>
          <a:prstGeom prst="rect">
            <a:avLst/>
          </a:prstGeom>
          <a:noFill/>
          <a:ln w="9525">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0774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63.</a:t>
            </a:r>
            <a:r>
              <a:rPr lang="zh-CN" altLang="en-US" sz="2400" spc="200" dirty="0">
                <a:solidFill>
                  <a:srgbClr val="000000"/>
                </a:solidFill>
                <a:latin typeface="+mn-ea"/>
                <a:cs typeface="楷体" panose="02010609060101010101" charset="-122"/>
                <a:sym typeface="楷体" panose="02010609060101010101" charset="-122"/>
              </a:rPr>
              <a:t>小高乘汽车外出时，在司机倒车过程中，透过左侧车窗沿路用连拍拍下了几张照片。请按照时间先后顺序重新排列画面。</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A.1-2-3-4</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B.1-2-4-3</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C.3-4-2-1</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D.4-3-2-1</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74" name="图片 37" descr="IMG_292"/>
          <p:cNvPicPr>
            <a:picLocks noChangeAspect="1"/>
          </p:cNvPicPr>
          <p:nvPr/>
        </p:nvPicPr>
        <p:blipFill>
          <a:blip r:embed="rId2"/>
          <a:stretch>
            <a:fillRect/>
          </a:stretch>
        </p:blipFill>
        <p:spPr>
          <a:xfrm>
            <a:off x="4963160" y="2042795"/>
            <a:ext cx="5473065" cy="4121785"/>
          </a:xfrm>
          <a:prstGeom prst="rect">
            <a:avLst/>
          </a:prstGeom>
          <a:noFill/>
          <a:ln w="9525">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64.</a:t>
            </a:r>
            <a:r>
              <a:rPr lang="zh-CN" altLang="en-US" sz="2400" spc="200" dirty="0">
                <a:solidFill>
                  <a:srgbClr val="000000"/>
                </a:solidFill>
                <a:latin typeface="+mn-ea"/>
                <a:cs typeface="楷体" panose="02010609060101010101" charset="-122"/>
                <a:sym typeface="楷体" panose="02010609060101010101" charset="-122"/>
              </a:rPr>
              <a:t>小张在太阳处于正西方向时看到了一栋长方体形状的建筑，建筑四个墙面分别面向东西南北四个方向。他将当时看到的建筑和投影一起画了下来（如右图所示）。小张看到这景象时在建筑的哪个方向</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东北</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西北</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东南</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西南</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75" name="图片 39" descr="IMG_294"/>
          <p:cNvPicPr>
            <a:picLocks noChangeAspect="1"/>
          </p:cNvPicPr>
          <p:nvPr/>
        </p:nvPicPr>
        <p:blipFill>
          <a:blip r:embed="rId2"/>
          <a:stretch>
            <a:fillRect/>
          </a:stretch>
        </p:blipFill>
        <p:spPr>
          <a:xfrm>
            <a:off x="6096000" y="2684145"/>
            <a:ext cx="4613275" cy="3006725"/>
          </a:xfrm>
          <a:prstGeom prst="rect">
            <a:avLst/>
          </a:prstGeom>
          <a:noFill/>
          <a:ln w="9525">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65.</a:t>
            </a:r>
            <a:r>
              <a:rPr lang="zh-CN" altLang="en-US" sz="2400" spc="200" dirty="0">
                <a:solidFill>
                  <a:srgbClr val="000000"/>
                </a:solidFill>
                <a:latin typeface="+mn-ea"/>
                <a:cs typeface="楷体" panose="02010609060101010101" charset="-122"/>
                <a:sym typeface="楷体" panose="02010609060101010101" charset="-122"/>
              </a:rPr>
              <a:t>下面的</a:t>
            </a:r>
            <a:r>
              <a:rPr lang="en-US" altLang="zh-CN" sz="2400" spc="200" dirty="0">
                <a:solidFill>
                  <a:srgbClr val="000000"/>
                </a:solidFill>
                <a:latin typeface="+mn-ea"/>
                <a:cs typeface="楷体" panose="02010609060101010101" charset="-122"/>
                <a:sym typeface="楷体" panose="02010609060101010101" charset="-122"/>
              </a:rPr>
              <a:t>5</a:t>
            </a:r>
            <a:r>
              <a:rPr lang="zh-CN" altLang="en-US" sz="2400" spc="200" dirty="0">
                <a:solidFill>
                  <a:srgbClr val="000000"/>
                </a:solidFill>
                <a:latin typeface="+mn-ea"/>
                <a:cs typeface="楷体" panose="02010609060101010101" charset="-122"/>
                <a:sym typeface="楷体" panose="02010609060101010101" charset="-122"/>
              </a:rPr>
              <a:t>块拼图能拼成哪个选项对应的形状</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79" name="图片 42" descr="IMG_297"/>
          <p:cNvPicPr>
            <a:picLocks noChangeAspect="1"/>
          </p:cNvPicPr>
          <p:nvPr/>
        </p:nvPicPr>
        <p:blipFill>
          <a:blip r:embed="rId2"/>
          <a:stretch>
            <a:fillRect/>
          </a:stretch>
        </p:blipFill>
        <p:spPr>
          <a:xfrm>
            <a:off x="1687195" y="1544320"/>
            <a:ext cx="8888730" cy="4619625"/>
          </a:xfrm>
          <a:prstGeom prst="rect">
            <a:avLst/>
          </a:prstGeom>
          <a:noFill/>
          <a:ln w="9525">
            <a:noFill/>
          </a:ln>
        </p:spPr>
      </p:pic>
      <p:pic>
        <p:nvPicPr>
          <p:cNvPr id="46" name="图片 44" descr="IMG_299"/>
          <p:cNvPicPr>
            <a:picLocks noChangeAspect="1"/>
          </p:cNvPicPr>
          <p:nvPr/>
        </p:nvPicPr>
        <p:blipFill>
          <a:blip r:embed="rId3"/>
          <a:stretch>
            <a:fillRect/>
          </a:stretch>
        </p:blipFill>
        <p:spPr>
          <a:xfrm>
            <a:off x="220345" y="3668395"/>
            <a:ext cx="2050415" cy="1917700"/>
          </a:xfrm>
          <a:prstGeom prst="rect">
            <a:avLst/>
          </a:prstGeom>
          <a:noFill/>
          <a:ln w="9525">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753235"/>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66.</a:t>
            </a:r>
            <a:r>
              <a:rPr lang="zh-CN" altLang="en-US" sz="2400" spc="200" dirty="0">
                <a:solidFill>
                  <a:srgbClr val="000000"/>
                </a:solidFill>
                <a:latin typeface="+mn-ea"/>
                <a:cs typeface="楷体" panose="02010609060101010101" charset="-122"/>
                <a:sym typeface="楷体" panose="02010609060101010101" charset="-122"/>
              </a:rPr>
              <a:t>小鹏将一个光源和三个相同的圆柱体摆在桌子上，并从一旁观察三个物体的影子。如果观察时小鹏、光源和三个圆柱体的位置关系如下图所示，那么小鹏当时看到的画面最可能是哪个</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87" name="图片 45" descr="IMG_300"/>
          <p:cNvPicPr>
            <a:picLocks noChangeAspect="1"/>
          </p:cNvPicPr>
          <p:nvPr/>
        </p:nvPicPr>
        <p:blipFill>
          <a:blip r:embed="rId2"/>
          <a:stretch>
            <a:fillRect/>
          </a:stretch>
        </p:blipFill>
        <p:spPr>
          <a:xfrm>
            <a:off x="6991350" y="1868170"/>
            <a:ext cx="3576320" cy="4819650"/>
          </a:xfrm>
          <a:prstGeom prst="rect">
            <a:avLst/>
          </a:prstGeom>
          <a:noFill/>
          <a:ln w="9525">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055"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67.</a:t>
            </a:r>
            <a:r>
              <a:rPr lang="zh-CN" altLang="en-US" sz="2400" spc="200" dirty="0">
                <a:solidFill>
                  <a:srgbClr val="000000"/>
                </a:solidFill>
                <a:latin typeface="+mn-ea"/>
                <a:cs typeface="楷体" panose="02010609060101010101" charset="-122"/>
                <a:sym typeface="楷体" panose="02010609060101010101" charset="-122"/>
              </a:rPr>
              <a:t>安塞腰鼓</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翼城花鼓</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宾阳炮龙节</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瑶族盘王节</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节日祭典</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清明祭祖</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武夷茶</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扬州漆</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宜兴紫砂</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龙泉青瓷</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68.</a:t>
            </a:r>
            <a:r>
              <a:rPr lang="zh-CN" altLang="en-US" sz="2400" spc="200" dirty="0">
                <a:solidFill>
                  <a:srgbClr val="000000"/>
                </a:solidFill>
                <a:latin typeface="+mn-ea"/>
                <a:cs typeface="楷体" panose="02010609060101010101" charset="-122"/>
                <a:sym typeface="楷体" panose="02010609060101010101" charset="-122"/>
              </a:rPr>
              <a:t>信息</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记忆</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大脑</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食物</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消化</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肠道</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色彩</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生成</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眼睛</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血液</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制造</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心脏</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蛋白</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合成</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基因</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69.</a:t>
            </a:r>
            <a:r>
              <a:rPr lang="zh-CN" altLang="en-US" sz="2400" spc="200" dirty="0">
                <a:solidFill>
                  <a:srgbClr val="000000"/>
                </a:solidFill>
                <a:latin typeface="+mn-ea"/>
                <a:cs typeface="楷体" panose="02010609060101010101" charset="-122"/>
                <a:sym typeface="楷体" panose="02010609060101010101" charset="-122"/>
              </a:rPr>
              <a:t>无人机</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侦察</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电子对抗</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警犬</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搜毒</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搜捕</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红外线</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测温仪</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成像</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雨林</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地球肺脏</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生态平衡</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沟渠</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废水</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灌溉</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70.</a:t>
            </a:r>
            <a:r>
              <a:rPr lang="zh-CN" altLang="en-US" sz="2400" spc="200" dirty="0">
                <a:solidFill>
                  <a:srgbClr val="000000"/>
                </a:solidFill>
                <a:latin typeface="+mn-ea"/>
                <a:cs typeface="楷体" panose="02010609060101010101" charset="-122"/>
                <a:sym typeface="楷体" panose="02010609060101010101" charset="-122"/>
              </a:rPr>
              <a:t>石油</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石蜡</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水</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重水</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卤水</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井盐</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豆腐</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豆浆</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纸张</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纸浆</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71.</a:t>
            </a:r>
            <a:r>
              <a:rPr lang="zh-CN" altLang="en-US" sz="2400" spc="200" dirty="0">
                <a:solidFill>
                  <a:srgbClr val="000000"/>
                </a:solidFill>
                <a:latin typeface="+mn-ea"/>
                <a:cs typeface="楷体" panose="02010609060101010101" charset="-122"/>
                <a:sym typeface="楷体" panose="02010609060101010101" charset="-122"/>
              </a:rPr>
              <a:t>自动控制</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开环控制</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闭环控制</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压力传感器</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敏感元件</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信号处理</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数控机床</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伺服系统</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反馈系统</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扭矩</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力矩</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转矩</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光反射</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镜面反射</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漫反射</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77535"/>
          </a:xfrm>
          <a:prstGeom prst="rect">
            <a:avLst/>
          </a:prstGeom>
        </p:spPr>
        <p:txBody>
          <a:bodyPr wrap="square">
            <a:spAutoFit/>
          </a:bodyPr>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72.</a:t>
            </a:r>
            <a:r>
              <a:rPr lang="zh-CN" altLang="en-US" sz="2200" spc="200" dirty="0">
                <a:solidFill>
                  <a:srgbClr val="000000"/>
                </a:solidFill>
                <a:latin typeface="+mn-ea"/>
                <a:cs typeface="楷体" panose="02010609060101010101" charset="-122"/>
                <a:sym typeface="楷体" panose="02010609060101010101" charset="-122"/>
              </a:rPr>
              <a:t>近年来，手指操获得越来越多的青睐，越来越多的人练习手指操。有医生提出，支配手指的神经元在大脑皮层占据很大面积，老年人坚持做手指操，能锻炼运动神经，预防跌倒。</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200" spc="200" dirty="0">
                <a:solidFill>
                  <a:srgbClr val="000000"/>
                </a:solidFill>
                <a:latin typeface="+mn-ea"/>
                <a:cs typeface="楷体" panose="02010609060101010101" charset="-122"/>
                <a:sym typeface="楷体" panose="02010609060101010101" charset="-122"/>
              </a:rPr>
              <a:t>以下各项如果为真，哪项最能支持该医生的结论</a:t>
            </a:r>
            <a:r>
              <a:rPr lang="en-US" altLang="zh-CN" sz="2200" spc="200" dirty="0">
                <a:solidFill>
                  <a:srgbClr val="000000"/>
                </a:solidFill>
                <a:latin typeface="+mn-ea"/>
                <a:cs typeface="楷体" panose="02010609060101010101" charset="-122"/>
                <a:sym typeface="楷体" panose="02010609060101010101" charset="-122"/>
              </a:rPr>
              <a:t>?</a:t>
            </a:r>
            <a:endParaRPr lang="en-US" altLang="zh-CN"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A.</a:t>
            </a:r>
            <a:r>
              <a:rPr lang="zh-CN" altLang="en-US" sz="2200" spc="200" dirty="0">
                <a:solidFill>
                  <a:srgbClr val="000000"/>
                </a:solidFill>
                <a:latin typeface="+mn-ea"/>
                <a:cs typeface="楷体" panose="02010609060101010101" charset="-122"/>
                <a:sym typeface="楷体" panose="02010609060101010101" charset="-122"/>
              </a:rPr>
              <a:t>手指各种运动可以促进脑部血液循环，延缓神经细胞的老化，维护大脑健康</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B.</a:t>
            </a:r>
            <a:r>
              <a:rPr lang="zh-CN" altLang="en-US" sz="2200" spc="200" dirty="0">
                <a:solidFill>
                  <a:srgbClr val="000000"/>
                </a:solidFill>
                <a:latin typeface="+mn-ea"/>
                <a:cs typeface="楷体" panose="02010609060101010101" charset="-122"/>
                <a:sym typeface="楷体" panose="02010609060101010101" charset="-122"/>
              </a:rPr>
              <a:t>手部有全身各个部位对应的反射区，以特定方式活动双手能改善身体不良状况，促进身体健康</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C.</a:t>
            </a:r>
            <a:r>
              <a:rPr lang="zh-CN" altLang="en-US" sz="2200" spc="200" dirty="0">
                <a:solidFill>
                  <a:srgbClr val="000000"/>
                </a:solidFill>
                <a:latin typeface="+mn-ea"/>
                <a:cs typeface="楷体" panose="02010609060101010101" charset="-122"/>
                <a:sym typeface="楷体" panose="02010609060101010101" charset="-122"/>
              </a:rPr>
              <a:t>特定模式的手指操可以在锻炼大脑的同时提升平衡感，帮助身体在快要跌倒时依靠双手找回平衡</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D.</a:t>
            </a:r>
            <a:r>
              <a:rPr lang="zh-CN" altLang="en-US" sz="2200" spc="200" dirty="0">
                <a:solidFill>
                  <a:srgbClr val="000000"/>
                </a:solidFill>
                <a:latin typeface="+mn-ea"/>
                <a:cs typeface="楷体" panose="02010609060101010101" charset="-122"/>
                <a:sym typeface="楷体" panose="02010609060101010101" charset="-122"/>
              </a:rPr>
              <a:t>提高手指灵活性可以让老人在失去平衡时握紧支撑物维持姿势，有效减轻跌倒后受伤程度</a:t>
            </a:r>
            <a:endParaRPr lang="zh-CN" altLang="en-US" sz="22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77535"/>
          </a:xfrm>
          <a:prstGeom prst="rect">
            <a:avLst/>
          </a:prstGeom>
        </p:spPr>
        <p:txBody>
          <a:bodyPr wrap="square">
            <a:spAutoFit/>
          </a:bodyPr>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73.</a:t>
            </a:r>
            <a:r>
              <a:rPr lang="zh-CN" altLang="en-US" sz="2200" spc="200" dirty="0">
                <a:solidFill>
                  <a:srgbClr val="000000"/>
                </a:solidFill>
                <a:latin typeface="+mn-ea"/>
                <a:cs typeface="楷体" panose="02010609060101010101" charset="-122"/>
                <a:sym typeface="楷体" panose="02010609060101010101" charset="-122"/>
              </a:rPr>
              <a:t>石油燃烧会释放二氧化硫，煤油燃烧会释放二氧化硫，纯酒精燃烧不会释放二氧化硫。现有一种未知液体，燃烧后没有释放二氧化硫。以下对该未知液体的判断一定为真的有：</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200" spc="200" dirty="0">
                <a:solidFill>
                  <a:srgbClr val="000000"/>
                </a:solidFill>
                <a:latin typeface="+mn-ea"/>
                <a:cs typeface="楷体" panose="02010609060101010101" charset="-122"/>
                <a:sym typeface="楷体" panose="02010609060101010101" charset="-122"/>
              </a:rPr>
              <a:t>Ⅰ</a:t>
            </a:r>
            <a:r>
              <a:rPr lang="en-US" altLang="zh-CN" sz="2200" spc="200" dirty="0">
                <a:solidFill>
                  <a:srgbClr val="000000"/>
                </a:solidFill>
                <a:latin typeface="+mn-ea"/>
                <a:cs typeface="楷体" panose="02010609060101010101" charset="-122"/>
                <a:sym typeface="楷体" panose="02010609060101010101" charset="-122"/>
              </a:rPr>
              <a:t>.</a:t>
            </a:r>
            <a:r>
              <a:rPr lang="zh-CN" altLang="en-US" sz="2200" spc="200" dirty="0">
                <a:solidFill>
                  <a:srgbClr val="000000"/>
                </a:solidFill>
                <a:latin typeface="+mn-ea"/>
                <a:cs typeface="楷体" panose="02010609060101010101" charset="-122"/>
                <a:sym typeface="楷体" panose="02010609060101010101" charset="-122"/>
              </a:rPr>
              <a:t>它是纯酒精</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200" spc="200" dirty="0">
                <a:solidFill>
                  <a:srgbClr val="000000"/>
                </a:solidFill>
                <a:latin typeface="+mn-ea"/>
                <a:cs typeface="楷体" panose="02010609060101010101" charset="-122"/>
                <a:sym typeface="楷体" panose="02010609060101010101" charset="-122"/>
              </a:rPr>
              <a:t>Ⅱ</a:t>
            </a:r>
            <a:r>
              <a:rPr lang="en-US" altLang="zh-CN" sz="2200" spc="200" dirty="0">
                <a:solidFill>
                  <a:srgbClr val="000000"/>
                </a:solidFill>
                <a:latin typeface="+mn-ea"/>
                <a:cs typeface="楷体" panose="02010609060101010101" charset="-122"/>
                <a:sym typeface="楷体" panose="02010609060101010101" charset="-122"/>
              </a:rPr>
              <a:t>.</a:t>
            </a:r>
            <a:r>
              <a:rPr lang="zh-CN" altLang="en-US" sz="2200" spc="200" dirty="0">
                <a:solidFill>
                  <a:srgbClr val="000000"/>
                </a:solidFill>
                <a:latin typeface="+mn-ea"/>
                <a:cs typeface="楷体" panose="02010609060101010101" charset="-122"/>
                <a:sym typeface="楷体" panose="02010609060101010101" charset="-122"/>
              </a:rPr>
              <a:t>它要么是石油要么是煤油要么是纯酒精</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200" spc="200" dirty="0">
                <a:solidFill>
                  <a:srgbClr val="000000"/>
                </a:solidFill>
                <a:latin typeface="+mn-ea"/>
                <a:cs typeface="楷体" panose="02010609060101010101" charset="-122"/>
                <a:sym typeface="楷体" panose="02010609060101010101" charset="-122"/>
              </a:rPr>
              <a:t>Ⅲ</a:t>
            </a:r>
            <a:r>
              <a:rPr lang="en-US" altLang="zh-CN" sz="2200" spc="200" dirty="0">
                <a:solidFill>
                  <a:srgbClr val="000000"/>
                </a:solidFill>
                <a:latin typeface="+mn-ea"/>
                <a:cs typeface="楷体" panose="02010609060101010101" charset="-122"/>
                <a:sym typeface="楷体" panose="02010609060101010101" charset="-122"/>
              </a:rPr>
              <a:t>.</a:t>
            </a:r>
            <a:r>
              <a:rPr lang="zh-CN" altLang="en-US" sz="2200" spc="200" dirty="0">
                <a:solidFill>
                  <a:srgbClr val="000000"/>
                </a:solidFill>
                <a:latin typeface="+mn-ea"/>
                <a:cs typeface="楷体" panose="02010609060101010101" charset="-122"/>
                <a:sym typeface="楷体" panose="02010609060101010101" charset="-122"/>
              </a:rPr>
              <a:t>它不是石油</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IV.</a:t>
            </a:r>
            <a:r>
              <a:rPr lang="zh-CN" altLang="en-US" sz="2200" spc="200" dirty="0">
                <a:solidFill>
                  <a:srgbClr val="000000"/>
                </a:solidFill>
                <a:latin typeface="+mn-ea"/>
                <a:cs typeface="楷体" panose="02010609060101010101" charset="-122"/>
                <a:sym typeface="楷体" panose="02010609060101010101" charset="-122"/>
              </a:rPr>
              <a:t>它不是煤油</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A.</a:t>
            </a:r>
            <a:r>
              <a:rPr lang="zh-CN" altLang="en-US" sz="2200" spc="200" dirty="0">
                <a:solidFill>
                  <a:srgbClr val="000000"/>
                </a:solidFill>
                <a:latin typeface="+mn-ea"/>
                <a:cs typeface="楷体" panose="02010609060101010101" charset="-122"/>
                <a:sym typeface="楷体" panose="02010609060101010101" charset="-122"/>
              </a:rPr>
              <a:t>仅</a:t>
            </a:r>
            <a:r>
              <a:rPr lang="en-US" altLang="en-US" sz="2200" spc="200" dirty="0">
                <a:solidFill>
                  <a:srgbClr val="000000"/>
                </a:solidFill>
                <a:latin typeface="+mn-ea"/>
                <a:cs typeface="楷体" panose="02010609060101010101" charset="-122"/>
                <a:sym typeface="楷体" panose="02010609060101010101" charset="-122"/>
              </a:rPr>
              <a:t>Ⅰ</a:t>
            </a:r>
            <a:endParaRPr lang="en-US"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B.</a:t>
            </a:r>
            <a:r>
              <a:rPr lang="zh-CN" altLang="en-US" sz="2200" spc="200" dirty="0">
                <a:solidFill>
                  <a:srgbClr val="000000"/>
                </a:solidFill>
                <a:latin typeface="+mn-ea"/>
                <a:cs typeface="楷体" panose="02010609060101010101" charset="-122"/>
                <a:sym typeface="楷体" panose="02010609060101010101" charset="-122"/>
              </a:rPr>
              <a:t>仅</a:t>
            </a:r>
            <a:r>
              <a:rPr lang="en-US" altLang="en-US" sz="2200" spc="200" dirty="0">
                <a:solidFill>
                  <a:srgbClr val="000000"/>
                </a:solidFill>
                <a:latin typeface="+mn-ea"/>
                <a:cs typeface="楷体" panose="02010609060101010101" charset="-122"/>
                <a:sym typeface="楷体" panose="02010609060101010101" charset="-122"/>
              </a:rPr>
              <a:t>Ⅱ</a:t>
            </a:r>
            <a:endParaRPr lang="en-US"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C.</a:t>
            </a:r>
            <a:r>
              <a:rPr lang="zh-CN" altLang="en-US" sz="2200" spc="200" dirty="0">
                <a:solidFill>
                  <a:srgbClr val="000000"/>
                </a:solidFill>
                <a:latin typeface="+mn-ea"/>
                <a:cs typeface="楷体" panose="02010609060101010101" charset="-122"/>
                <a:sym typeface="楷体" panose="02010609060101010101" charset="-122"/>
              </a:rPr>
              <a:t>仅</a:t>
            </a:r>
            <a:r>
              <a:rPr lang="en-US" altLang="en-US" sz="2200" spc="200" dirty="0">
                <a:solidFill>
                  <a:srgbClr val="000000"/>
                </a:solidFill>
                <a:latin typeface="+mn-ea"/>
                <a:cs typeface="楷体" panose="02010609060101010101" charset="-122"/>
                <a:sym typeface="楷体" panose="02010609060101010101" charset="-122"/>
              </a:rPr>
              <a:t>Ⅲ</a:t>
            </a:r>
            <a:r>
              <a:rPr lang="zh-CN" altLang="en-US" sz="2200" spc="200" dirty="0">
                <a:solidFill>
                  <a:srgbClr val="000000"/>
                </a:solidFill>
                <a:latin typeface="+mn-ea"/>
                <a:cs typeface="楷体" panose="02010609060101010101" charset="-122"/>
                <a:sym typeface="楷体" panose="02010609060101010101" charset="-122"/>
              </a:rPr>
              <a:t>和</a:t>
            </a:r>
            <a:r>
              <a:rPr lang="en-US" altLang="zh-CN" sz="2200" spc="200" dirty="0">
                <a:solidFill>
                  <a:srgbClr val="000000"/>
                </a:solidFill>
                <a:latin typeface="+mn-ea"/>
                <a:cs typeface="楷体" panose="02010609060101010101" charset="-122"/>
                <a:sym typeface="楷体" panose="02010609060101010101" charset="-122"/>
              </a:rPr>
              <a:t>IV</a:t>
            </a:r>
            <a:endParaRPr lang="en-US" altLang="zh-CN"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D.</a:t>
            </a:r>
            <a:r>
              <a:rPr lang="en-US" altLang="en-US" sz="2200" spc="200" dirty="0">
                <a:solidFill>
                  <a:srgbClr val="000000"/>
                </a:solidFill>
                <a:latin typeface="+mn-ea"/>
                <a:cs typeface="楷体" panose="02010609060101010101" charset="-122"/>
                <a:sym typeface="楷体" panose="02010609060101010101" charset="-122"/>
              </a:rPr>
              <a:t>Ⅰ</a:t>
            </a:r>
            <a:r>
              <a:rPr lang="zh-CN" altLang="en-US" sz="2200" spc="200" dirty="0">
                <a:solidFill>
                  <a:srgbClr val="000000"/>
                </a:solidFill>
                <a:latin typeface="+mn-ea"/>
                <a:cs typeface="楷体" panose="02010609060101010101" charset="-122"/>
                <a:sym typeface="楷体" panose="02010609060101010101" charset="-122"/>
              </a:rPr>
              <a:t>、</a:t>
            </a:r>
            <a:r>
              <a:rPr lang="en-US" altLang="en-US" sz="2200" spc="200" dirty="0">
                <a:solidFill>
                  <a:srgbClr val="000000"/>
                </a:solidFill>
                <a:latin typeface="+mn-ea"/>
                <a:cs typeface="楷体" panose="02010609060101010101" charset="-122"/>
                <a:sym typeface="楷体" panose="02010609060101010101" charset="-122"/>
              </a:rPr>
              <a:t>Ⅲ</a:t>
            </a:r>
            <a:r>
              <a:rPr lang="zh-CN" altLang="en-US" sz="2200" spc="200" dirty="0">
                <a:solidFill>
                  <a:srgbClr val="000000"/>
                </a:solidFill>
                <a:latin typeface="+mn-ea"/>
                <a:cs typeface="楷体" panose="02010609060101010101" charset="-122"/>
                <a:sym typeface="楷体" panose="02010609060101010101" charset="-122"/>
              </a:rPr>
              <a:t>和</a:t>
            </a:r>
            <a:r>
              <a:rPr lang="en-US" altLang="zh-CN" sz="2200" spc="200" dirty="0">
                <a:solidFill>
                  <a:srgbClr val="000000"/>
                </a:solidFill>
                <a:latin typeface="+mn-ea"/>
                <a:cs typeface="楷体" panose="02010609060101010101" charset="-122"/>
                <a:sym typeface="楷体" panose="02010609060101010101" charset="-122"/>
              </a:rPr>
              <a:t>IV</a:t>
            </a:r>
            <a:endParaRPr lang="en-US" altLang="zh-CN" sz="22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74.</a:t>
            </a:r>
            <a:r>
              <a:rPr lang="zh-CN" altLang="en-US" sz="2000" spc="200" dirty="0">
                <a:solidFill>
                  <a:srgbClr val="000000"/>
                </a:solidFill>
                <a:latin typeface="+mn-ea"/>
                <a:cs typeface="楷体" panose="02010609060101010101" charset="-122"/>
                <a:sym typeface="楷体" panose="02010609060101010101" charset="-122"/>
              </a:rPr>
              <a:t>某乡自来水厂为减少本乡的自来水浪费问题，将出台一项自来水调价措施：根据家庭人口数量规定每户的月自来水消费限额，不超过限额的，按最低水价收费；超过限额的，按最低水价的两倍收费。据估计，新措施实施后，全乡自来水的月消耗量至少可以节省</a:t>
            </a:r>
            <a:r>
              <a:rPr lang="en-US" altLang="zh-CN" sz="2000" spc="200" dirty="0">
                <a:solidFill>
                  <a:srgbClr val="000000"/>
                </a:solidFill>
                <a:latin typeface="+mn-ea"/>
                <a:cs typeface="楷体" panose="02010609060101010101" charset="-122"/>
                <a:sym typeface="楷体" panose="02010609060101010101" charset="-122"/>
              </a:rPr>
              <a:t>20%</a:t>
            </a:r>
            <a:r>
              <a:rPr lang="zh-CN" altLang="en-US" sz="2000" spc="200" dirty="0">
                <a:solidFill>
                  <a:srgbClr val="000000"/>
                </a:solidFill>
                <a:latin typeface="+mn-ea"/>
                <a:cs typeface="楷体" panose="02010609060101010101" charset="-122"/>
                <a:sym typeface="楷体" panose="02010609060101010101" charset="-122"/>
              </a:rPr>
              <a:t>。为使上述估计成立，必须假设？</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Ⅰ</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自来水价格偏低是造成该乡自来水浪费这一现象的重要原因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Ⅱ</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调整后的自来水价格足以给浪费自来水的用户带来经济上的压力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Ⅲ</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该乡至少有</a:t>
            </a:r>
            <a:r>
              <a:rPr lang="en-US" altLang="zh-CN" sz="2000" spc="200" dirty="0">
                <a:solidFill>
                  <a:srgbClr val="000000"/>
                </a:solidFill>
                <a:latin typeface="+mn-ea"/>
                <a:cs typeface="楷体" panose="02010609060101010101" charset="-122"/>
                <a:sym typeface="楷体" panose="02010609060101010101" charset="-122"/>
              </a:rPr>
              <a:t>20%</a:t>
            </a:r>
            <a:r>
              <a:rPr lang="zh-CN" altLang="en-US" sz="2000" spc="200" dirty="0">
                <a:solidFill>
                  <a:srgbClr val="000000"/>
                </a:solidFill>
                <a:latin typeface="+mn-ea"/>
                <a:cs typeface="楷体" panose="02010609060101010101" charset="-122"/>
                <a:sym typeface="楷体" panose="02010609060101010101" charset="-122"/>
              </a:rPr>
              <a:t>的自来水用户存在自来水使用上的浪费问题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IV.</a:t>
            </a:r>
            <a:r>
              <a:rPr lang="zh-CN" altLang="en-US" sz="2000" spc="200" dirty="0">
                <a:solidFill>
                  <a:srgbClr val="000000"/>
                </a:solidFill>
                <a:latin typeface="+mn-ea"/>
                <a:cs typeface="楷体" panose="02010609060101010101" charset="-122"/>
                <a:sym typeface="楷体" panose="02010609060101010101" charset="-122"/>
              </a:rPr>
              <a:t>该乡当前至少有</a:t>
            </a:r>
            <a:r>
              <a:rPr lang="en-US" altLang="zh-CN" sz="2000" spc="200" dirty="0">
                <a:solidFill>
                  <a:srgbClr val="000000"/>
                </a:solidFill>
                <a:latin typeface="+mn-ea"/>
                <a:cs typeface="楷体" panose="02010609060101010101" charset="-122"/>
                <a:sym typeface="楷体" panose="02010609060101010101" charset="-122"/>
              </a:rPr>
              <a:t>20%</a:t>
            </a:r>
            <a:r>
              <a:rPr lang="zh-CN" altLang="en-US" sz="2000" spc="200" dirty="0">
                <a:solidFill>
                  <a:srgbClr val="000000"/>
                </a:solidFill>
                <a:latin typeface="+mn-ea"/>
                <a:cs typeface="楷体" panose="02010609060101010101" charset="-122"/>
                <a:sym typeface="楷体" panose="02010609060101010101" charset="-122"/>
              </a:rPr>
              <a:t>的自来水使用属于浪费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spc="200" dirty="0">
                <a:solidFill>
                  <a:srgbClr val="000000"/>
                </a:solidFill>
                <a:latin typeface="+mn-ea"/>
                <a:cs typeface="楷体" panose="02010609060101010101" charset="-122"/>
                <a:sym typeface="楷体" panose="02010609060101010101" charset="-122"/>
              </a:rPr>
              <a:t>Ⅰ</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Ⅱ</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Ⅲ</a:t>
            </a:r>
            <a:r>
              <a:rPr lang="zh-CN" altLang="en-US" sz="2000" spc="200" dirty="0">
                <a:solidFill>
                  <a:srgbClr val="000000"/>
                </a:solidFill>
                <a:latin typeface="+mn-ea"/>
                <a:cs typeface="楷体" panose="02010609060101010101" charset="-122"/>
                <a:sym typeface="楷体" panose="02010609060101010101" charset="-122"/>
              </a:rPr>
              <a:t>和</a:t>
            </a:r>
            <a:r>
              <a:rPr lang="en-US" altLang="zh-CN" sz="2000" spc="200" dirty="0">
                <a:solidFill>
                  <a:srgbClr val="000000"/>
                </a:solidFill>
                <a:latin typeface="+mn-ea"/>
                <a:cs typeface="楷体" panose="02010609060101010101" charset="-122"/>
                <a:sym typeface="楷体" panose="02010609060101010101" charset="-122"/>
              </a:rPr>
              <a:t>IV</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Ⅰ</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Ⅱ</a:t>
            </a:r>
            <a:r>
              <a:rPr lang="zh-CN" altLang="en-US" sz="2000" spc="200" dirty="0">
                <a:solidFill>
                  <a:srgbClr val="000000"/>
                </a:solidFill>
                <a:latin typeface="+mn-ea"/>
                <a:cs typeface="楷体" panose="02010609060101010101" charset="-122"/>
                <a:sym typeface="楷体" panose="02010609060101010101" charset="-122"/>
              </a:rPr>
              <a:t>和</a:t>
            </a:r>
            <a:r>
              <a:rPr lang="en-US" altLang="en-US" sz="2000" spc="200" dirty="0">
                <a:solidFill>
                  <a:srgbClr val="000000"/>
                </a:solidFill>
                <a:latin typeface="+mn-ea"/>
                <a:cs typeface="楷体" panose="02010609060101010101" charset="-122"/>
                <a:sym typeface="楷体" panose="02010609060101010101" charset="-122"/>
              </a:rPr>
              <a:t>Ⅲ</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Ⅱ</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Ⅲ</a:t>
            </a:r>
            <a:r>
              <a:rPr lang="zh-CN" altLang="en-US" sz="2000" spc="200" dirty="0">
                <a:solidFill>
                  <a:srgbClr val="000000"/>
                </a:solidFill>
                <a:latin typeface="+mn-ea"/>
                <a:cs typeface="楷体" panose="02010609060101010101" charset="-122"/>
                <a:sym typeface="楷体" panose="02010609060101010101" charset="-122"/>
              </a:rPr>
              <a:t>和</a:t>
            </a:r>
            <a:r>
              <a:rPr lang="en-US" altLang="zh-CN" sz="2000" spc="200" dirty="0">
                <a:solidFill>
                  <a:srgbClr val="000000"/>
                </a:solidFill>
                <a:latin typeface="+mn-ea"/>
                <a:cs typeface="楷体" panose="02010609060101010101" charset="-122"/>
                <a:sym typeface="楷体" panose="02010609060101010101" charset="-122"/>
              </a:rPr>
              <a:t>IV</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Ⅰ</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Ⅱ</a:t>
            </a:r>
            <a:r>
              <a:rPr lang="zh-CN" altLang="en-US" sz="2000" spc="200" dirty="0">
                <a:solidFill>
                  <a:srgbClr val="000000"/>
                </a:solidFill>
                <a:latin typeface="+mn-ea"/>
                <a:cs typeface="楷体" panose="02010609060101010101" charset="-122"/>
                <a:sym typeface="楷体" panose="02010609060101010101" charset="-122"/>
              </a:rPr>
              <a:t>和</a:t>
            </a:r>
            <a:r>
              <a:rPr lang="en-US" altLang="zh-CN" sz="2000" spc="200" dirty="0">
                <a:solidFill>
                  <a:srgbClr val="000000"/>
                </a:solidFill>
                <a:latin typeface="+mn-ea"/>
                <a:cs typeface="楷体" panose="02010609060101010101" charset="-122"/>
                <a:sym typeface="楷体" panose="02010609060101010101" charset="-122"/>
              </a:rPr>
              <a:t>IV</a:t>
            </a:r>
            <a:endParaRPr lang="en-US" altLang="zh-CN"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169535"/>
          </a:xfrm>
          <a:prstGeom prst="rect">
            <a:avLst/>
          </a:prstGeom>
        </p:spPr>
        <p:txBody>
          <a:bodyPr wrap="square">
            <a:spAutoFit/>
          </a:bodyPr>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75.</a:t>
            </a:r>
            <a:r>
              <a:rPr lang="zh-CN" altLang="en-US" sz="2200" spc="200" dirty="0">
                <a:solidFill>
                  <a:srgbClr val="000000"/>
                </a:solidFill>
                <a:latin typeface="+mn-ea"/>
                <a:cs typeface="楷体" panose="02010609060101010101" charset="-122"/>
                <a:sym typeface="楷体" panose="02010609060101010101" charset="-122"/>
              </a:rPr>
              <a:t>某加工车间新增加了一条流水线。有人称，在试运行期间对流水线上的所有组装机都进行了测试，没有发现不合格的组装机。</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200" spc="200" dirty="0">
                <a:solidFill>
                  <a:srgbClr val="000000"/>
                </a:solidFill>
                <a:latin typeface="+mn-ea"/>
                <a:cs typeface="楷体" panose="02010609060101010101" charset="-122"/>
                <a:sym typeface="楷体" panose="02010609060101010101" charset="-122"/>
              </a:rPr>
              <a:t>如果上述论断为假，那么以下一定为真的有？</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200" spc="200" dirty="0">
                <a:solidFill>
                  <a:srgbClr val="000000"/>
                </a:solidFill>
                <a:latin typeface="+mn-ea"/>
                <a:cs typeface="楷体" panose="02010609060101010101" charset="-122"/>
                <a:sym typeface="楷体" panose="02010609060101010101" charset="-122"/>
              </a:rPr>
              <a:t>Ⅰ</a:t>
            </a:r>
            <a:r>
              <a:rPr lang="en-US" altLang="zh-CN" sz="2200" spc="200" dirty="0">
                <a:solidFill>
                  <a:srgbClr val="000000"/>
                </a:solidFill>
                <a:latin typeface="+mn-ea"/>
                <a:cs typeface="楷体" panose="02010609060101010101" charset="-122"/>
                <a:sym typeface="楷体" panose="02010609060101010101" charset="-122"/>
              </a:rPr>
              <a:t>.</a:t>
            </a:r>
            <a:r>
              <a:rPr lang="zh-CN" altLang="en-US" sz="2200" spc="200" dirty="0">
                <a:solidFill>
                  <a:srgbClr val="000000"/>
                </a:solidFill>
                <a:latin typeface="+mn-ea"/>
                <a:cs typeface="楷体" panose="02010609060101010101" charset="-122"/>
                <a:sym typeface="楷体" panose="02010609060101010101" charset="-122"/>
              </a:rPr>
              <a:t>流水线上有的组装机尚未经测试，同时发现了不合格的组装机。</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200" spc="200" dirty="0">
                <a:solidFill>
                  <a:srgbClr val="000000"/>
                </a:solidFill>
                <a:latin typeface="+mn-ea"/>
                <a:cs typeface="楷体" panose="02010609060101010101" charset="-122"/>
                <a:sym typeface="楷体" panose="02010609060101010101" charset="-122"/>
              </a:rPr>
              <a:t>Ⅱ</a:t>
            </a:r>
            <a:r>
              <a:rPr lang="en-US" altLang="zh-CN" sz="2200" spc="200" dirty="0">
                <a:solidFill>
                  <a:srgbClr val="000000"/>
                </a:solidFill>
                <a:latin typeface="+mn-ea"/>
                <a:cs typeface="楷体" panose="02010609060101010101" charset="-122"/>
                <a:sym typeface="楷体" panose="02010609060101010101" charset="-122"/>
              </a:rPr>
              <a:t>.</a:t>
            </a:r>
            <a:r>
              <a:rPr lang="zh-CN" altLang="en-US" sz="2200" spc="200" dirty="0">
                <a:solidFill>
                  <a:srgbClr val="000000"/>
                </a:solidFill>
                <a:latin typeface="+mn-ea"/>
                <a:cs typeface="楷体" panose="02010609060101010101" charset="-122"/>
                <a:sym typeface="楷体" panose="02010609060101010101" charset="-122"/>
              </a:rPr>
              <a:t>或者有的组装机尚未经测试，或者发现了不合格的组装机。</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200" spc="200" dirty="0">
                <a:solidFill>
                  <a:srgbClr val="000000"/>
                </a:solidFill>
                <a:latin typeface="+mn-ea"/>
                <a:cs typeface="楷体" panose="02010609060101010101" charset="-122"/>
                <a:sym typeface="楷体" panose="02010609060101010101" charset="-122"/>
              </a:rPr>
              <a:t>Ⅲ</a:t>
            </a:r>
            <a:r>
              <a:rPr lang="en-US" altLang="zh-CN" sz="2200" spc="200" dirty="0">
                <a:solidFill>
                  <a:srgbClr val="000000"/>
                </a:solidFill>
                <a:latin typeface="+mn-ea"/>
                <a:cs typeface="楷体" panose="02010609060101010101" charset="-122"/>
                <a:sym typeface="楷体" panose="02010609060101010101" charset="-122"/>
              </a:rPr>
              <a:t>.</a:t>
            </a:r>
            <a:r>
              <a:rPr lang="zh-CN" altLang="en-US" sz="2200" spc="200" dirty="0">
                <a:solidFill>
                  <a:srgbClr val="000000"/>
                </a:solidFill>
                <a:latin typeface="+mn-ea"/>
                <a:cs typeface="楷体" panose="02010609060101010101" charset="-122"/>
                <a:sym typeface="楷体" panose="02010609060101010101" charset="-122"/>
              </a:rPr>
              <a:t>如果对流水线上的所有组装机都进行了测试，则可发现不合格的组装机。</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A.</a:t>
            </a:r>
            <a:r>
              <a:rPr lang="zh-CN" altLang="en-US" sz="2200" spc="200" dirty="0">
                <a:solidFill>
                  <a:srgbClr val="000000"/>
                </a:solidFill>
                <a:latin typeface="+mn-ea"/>
                <a:cs typeface="楷体" panose="02010609060101010101" charset="-122"/>
                <a:sym typeface="楷体" panose="02010609060101010101" charset="-122"/>
              </a:rPr>
              <a:t>仅</a:t>
            </a:r>
            <a:r>
              <a:rPr lang="en-US" altLang="en-US" sz="2200" spc="200" dirty="0">
                <a:solidFill>
                  <a:srgbClr val="000000"/>
                </a:solidFill>
                <a:latin typeface="+mn-ea"/>
                <a:cs typeface="楷体" panose="02010609060101010101" charset="-122"/>
                <a:sym typeface="楷体" panose="02010609060101010101" charset="-122"/>
              </a:rPr>
              <a:t>Ⅰ</a:t>
            </a:r>
            <a:r>
              <a:rPr lang="zh-CN" altLang="en-US" sz="2200" spc="200" dirty="0">
                <a:solidFill>
                  <a:srgbClr val="000000"/>
                </a:solidFill>
                <a:latin typeface="+mn-ea"/>
                <a:cs typeface="楷体" panose="02010609060101010101" charset="-122"/>
                <a:sym typeface="楷体" panose="02010609060101010101" charset="-122"/>
              </a:rPr>
              <a:t>和</a:t>
            </a:r>
            <a:r>
              <a:rPr lang="en-US" altLang="en-US" sz="2200" spc="200" dirty="0">
                <a:solidFill>
                  <a:srgbClr val="000000"/>
                </a:solidFill>
                <a:latin typeface="+mn-ea"/>
                <a:cs typeface="楷体" panose="02010609060101010101" charset="-122"/>
                <a:sym typeface="楷体" panose="02010609060101010101" charset="-122"/>
              </a:rPr>
              <a:t>Ⅱ</a:t>
            </a:r>
            <a:endParaRPr lang="en-US"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B.</a:t>
            </a:r>
            <a:r>
              <a:rPr lang="zh-CN" altLang="en-US" sz="2200" spc="200" dirty="0">
                <a:solidFill>
                  <a:srgbClr val="000000"/>
                </a:solidFill>
                <a:latin typeface="+mn-ea"/>
                <a:cs typeface="楷体" panose="02010609060101010101" charset="-122"/>
                <a:sym typeface="楷体" panose="02010609060101010101" charset="-122"/>
              </a:rPr>
              <a:t>仅</a:t>
            </a:r>
            <a:r>
              <a:rPr lang="en-US" altLang="en-US" sz="2200" spc="200" dirty="0">
                <a:solidFill>
                  <a:srgbClr val="000000"/>
                </a:solidFill>
                <a:latin typeface="+mn-ea"/>
                <a:cs typeface="楷体" panose="02010609060101010101" charset="-122"/>
                <a:sym typeface="楷体" panose="02010609060101010101" charset="-122"/>
              </a:rPr>
              <a:t>Ⅱ</a:t>
            </a:r>
            <a:r>
              <a:rPr lang="zh-CN" altLang="en-US" sz="2200" spc="200" dirty="0">
                <a:solidFill>
                  <a:srgbClr val="000000"/>
                </a:solidFill>
                <a:latin typeface="+mn-ea"/>
                <a:cs typeface="楷体" panose="02010609060101010101" charset="-122"/>
                <a:sym typeface="楷体" panose="02010609060101010101" charset="-122"/>
              </a:rPr>
              <a:t>和</a:t>
            </a:r>
            <a:r>
              <a:rPr lang="en-US" altLang="en-US" sz="2200" spc="200" dirty="0">
                <a:solidFill>
                  <a:srgbClr val="000000"/>
                </a:solidFill>
                <a:latin typeface="+mn-ea"/>
                <a:cs typeface="楷体" panose="02010609060101010101" charset="-122"/>
                <a:sym typeface="楷体" panose="02010609060101010101" charset="-122"/>
              </a:rPr>
              <a:t>Ⅲ</a:t>
            </a:r>
            <a:endParaRPr lang="en-US"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C.</a:t>
            </a:r>
            <a:r>
              <a:rPr lang="zh-CN" altLang="en-US" sz="2200" spc="200" dirty="0">
                <a:solidFill>
                  <a:srgbClr val="000000"/>
                </a:solidFill>
                <a:latin typeface="+mn-ea"/>
                <a:cs typeface="楷体" panose="02010609060101010101" charset="-122"/>
                <a:sym typeface="楷体" panose="02010609060101010101" charset="-122"/>
              </a:rPr>
              <a:t>仅</a:t>
            </a:r>
            <a:r>
              <a:rPr lang="en-US" altLang="en-US" sz="2200" spc="200" dirty="0">
                <a:solidFill>
                  <a:srgbClr val="000000"/>
                </a:solidFill>
                <a:latin typeface="+mn-ea"/>
                <a:cs typeface="楷体" panose="02010609060101010101" charset="-122"/>
                <a:sym typeface="楷体" panose="02010609060101010101" charset="-122"/>
              </a:rPr>
              <a:t>Ⅰ</a:t>
            </a:r>
            <a:r>
              <a:rPr lang="zh-CN" altLang="en-US" sz="2200" spc="200" dirty="0">
                <a:solidFill>
                  <a:srgbClr val="000000"/>
                </a:solidFill>
                <a:latin typeface="+mn-ea"/>
                <a:cs typeface="楷体" panose="02010609060101010101" charset="-122"/>
                <a:sym typeface="楷体" panose="02010609060101010101" charset="-122"/>
              </a:rPr>
              <a:t>和</a:t>
            </a:r>
            <a:r>
              <a:rPr lang="en-US" altLang="en-US" sz="2200" spc="200" dirty="0">
                <a:solidFill>
                  <a:srgbClr val="000000"/>
                </a:solidFill>
                <a:latin typeface="+mn-ea"/>
                <a:cs typeface="楷体" panose="02010609060101010101" charset="-122"/>
                <a:sym typeface="楷体" panose="02010609060101010101" charset="-122"/>
              </a:rPr>
              <a:t>Ⅲ</a:t>
            </a:r>
            <a:endParaRPr lang="en-US"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D.</a:t>
            </a:r>
            <a:r>
              <a:rPr lang="en-US" altLang="en-US" sz="2200" spc="200" dirty="0">
                <a:solidFill>
                  <a:srgbClr val="000000"/>
                </a:solidFill>
                <a:latin typeface="+mn-ea"/>
                <a:cs typeface="楷体" panose="02010609060101010101" charset="-122"/>
                <a:sym typeface="楷体" panose="02010609060101010101" charset="-122"/>
              </a:rPr>
              <a:t>Ⅰ</a:t>
            </a:r>
            <a:r>
              <a:rPr lang="zh-CN" altLang="en-US" sz="2200" spc="200" dirty="0">
                <a:solidFill>
                  <a:srgbClr val="000000"/>
                </a:solidFill>
                <a:latin typeface="+mn-ea"/>
                <a:cs typeface="楷体" panose="02010609060101010101" charset="-122"/>
                <a:sym typeface="楷体" panose="02010609060101010101" charset="-122"/>
              </a:rPr>
              <a:t>、</a:t>
            </a:r>
            <a:r>
              <a:rPr lang="en-US" altLang="en-US" sz="2200" spc="200" dirty="0">
                <a:solidFill>
                  <a:srgbClr val="000000"/>
                </a:solidFill>
                <a:latin typeface="+mn-ea"/>
                <a:cs typeface="楷体" panose="02010609060101010101" charset="-122"/>
                <a:sym typeface="楷体" panose="02010609060101010101" charset="-122"/>
              </a:rPr>
              <a:t>Ⅱ</a:t>
            </a:r>
            <a:r>
              <a:rPr lang="zh-CN" altLang="en-US" sz="2200" spc="200" dirty="0">
                <a:solidFill>
                  <a:srgbClr val="000000"/>
                </a:solidFill>
                <a:latin typeface="+mn-ea"/>
                <a:cs typeface="楷体" panose="02010609060101010101" charset="-122"/>
                <a:sym typeface="楷体" panose="02010609060101010101" charset="-122"/>
              </a:rPr>
              <a:t>和</a:t>
            </a:r>
            <a:r>
              <a:rPr lang="en-US" altLang="en-US" sz="2200" spc="200" dirty="0">
                <a:solidFill>
                  <a:srgbClr val="000000"/>
                </a:solidFill>
                <a:latin typeface="+mn-ea"/>
                <a:cs typeface="楷体" panose="02010609060101010101" charset="-122"/>
                <a:sym typeface="楷体" panose="02010609060101010101" charset="-122"/>
              </a:rPr>
              <a:t>Ⅲ</a:t>
            </a:r>
            <a:endParaRPr lang="en-US" altLang="en-US" sz="22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76.</a:t>
            </a:r>
            <a:r>
              <a:rPr lang="zh-CN" altLang="en-US" sz="2000" spc="200" dirty="0">
                <a:solidFill>
                  <a:srgbClr val="000000"/>
                </a:solidFill>
                <a:latin typeface="+mn-ea"/>
                <a:cs typeface="楷体" panose="02010609060101010101" charset="-122"/>
                <a:sym typeface="楷体" panose="02010609060101010101" charset="-122"/>
              </a:rPr>
              <a:t>所有传递弱作用力的粒子都有质量，所有有质量的粒子，或者与希格斯场发生</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强相互作用</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而获得大的质量，或者与希格斯场发生</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弱相互作用</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而获得小的质量，所有与希格斯场发生</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相互作用</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的粒子都不传递电磁作用力，因此，甲粒子不传递弱作用力。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以下选项中，哪项可能是上述论证所假设的</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Ⅰ</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甲粒子没有质量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Ⅱ</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甲粒子不与希格斯场发生：</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相互作用</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Ⅲ</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甲粒子传递电磁作用力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Ⅰ</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Ⅱ</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Ⅲ</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Ⅰ</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Ⅱ</a:t>
            </a:r>
            <a:r>
              <a:rPr lang="zh-CN" altLang="en-US" sz="2000" spc="200" dirty="0">
                <a:solidFill>
                  <a:srgbClr val="000000"/>
                </a:solidFill>
                <a:latin typeface="+mn-ea"/>
                <a:cs typeface="楷体" panose="02010609060101010101" charset="-122"/>
                <a:sym typeface="楷体" panose="02010609060101010101" charset="-122"/>
              </a:rPr>
              <a:t>和</a:t>
            </a:r>
            <a:r>
              <a:rPr lang="en-US" altLang="en-US" sz="2000" spc="200" dirty="0">
                <a:solidFill>
                  <a:srgbClr val="000000"/>
                </a:solidFill>
                <a:latin typeface="+mn-ea"/>
                <a:cs typeface="楷体" panose="02010609060101010101" charset="-122"/>
                <a:sym typeface="楷体" panose="02010609060101010101" charset="-122"/>
              </a:rPr>
              <a:t>Ⅲ</a:t>
            </a:r>
            <a:endParaRPr lang="en-US"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4523105"/>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77.</a:t>
            </a:r>
            <a:r>
              <a:rPr lang="zh-CN" altLang="en-US" sz="2400" spc="200" dirty="0">
                <a:solidFill>
                  <a:srgbClr val="000000"/>
                </a:solidFill>
                <a:latin typeface="+mn-ea"/>
                <a:cs typeface="楷体" panose="02010609060101010101" charset="-122"/>
                <a:sym typeface="楷体" panose="02010609060101010101" charset="-122"/>
              </a:rPr>
              <a:t>某大学某课程期中考试同学们成绩不太理想，该课教师做了次随堂调查，</a:t>
            </a:r>
            <a:r>
              <a:rPr lang="en-US" altLang="zh-CN" sz="2400" spc="200" dirty="0">
                <a:solidFill>
                  <a:srgbClr val="000000"/>
                </a:solidFill>
                <a:latin typeface="+mn-ea"/>
                <a:cs typeface="楷体" panose="02010609060101010101" charset="-122"/>
                <a:sym typeface="楷体" panose="02010609060101010101" charset="-122"/>
              </a:rPr>
              <a:t>50%</a:t>
            </a:r>
            <a:r>
              <a:rPr lang="zh-CN" altLang="en-US" sz="2400" spc="200" dirty="0">
                <a:solidFill>
                  <a:srgbClr val="000000"/>
                </a:solidFill>
                <a:latin typeface="+mn-ea"/>
                <a:cs typeface="楷体" panose="02010609060101010101" charset="-122"/>
                <a:sym typeface="楷体" panose="02010609060101010101" charset="-122"/>
              </a:rPr>
              <a:t>的同学认为难题比较多，</a:t>
            </a:r>
            <a:r>
              <a:rPr lang="en-US" altLang="zh-CN" sz="2400" spc="200" dirty="0">
                <a:solidFill>
                  <a:srgbClr val="000000"/>
                </a:solidFill>
                <a:latin typeface="+mn-ea"/>
                <a:cs typeface="楷体" panose="02010609060101010101" charset="-122"/>
                <a:sym typeface="楷体" panose="02010609060101010101" charset="-122"/>
              </a:rPr>
              <a:t>40%</a:t>
            </a:r>
            <a:r>
              <a:rPr lang="zh-CN" altLang="en-US" sz="2400" spc="200" dirty="0">
                <a:solidFill>
                  <a:srgbClr val="000000"/>
                </a:solidFill>
                <a:latin typeface="+mn-ea"/>
                <a:cs typeface="楷体" panose="02010609060101010101" charset="-122"/>
                <a:sym typeface="楷体" panose="02010609060101010101" charset="-122"/>
              </a:rPr>
              <a:t>的同学认为计算量太大，</a:t>
            </a:r>
            <a:r>
              <a:rPr lang="en-US" altLang="zh-CN" sz="2400" spc="200" dirty="0">
                <a:solidFill>
                  <a:srgbClr val="000000"/>
                </a:solidFill>
                <a:latin typeface="+mn-ea"/>
                <a:cs typeface="楷体" panose="02010609060101010101" charset="-122"/>
                <a:sym typeface="楷体" panose="02010609060101010101" charset="-122"/>
              </a:rPr>
              <a:t>20%</a:t>
            </a:r>
            <a:r>
              <a:rPr lang="zh-CN" altLang="en-US" sz="2400" spc="200" dirty="0">
                <a:solidFill>
                  <a:srgbClr val="000000"/>
                </a:solidFill>
                <a:latin typeface="+mn-ea"/>
                <a:cs typeface="楷体" panose="02010609060101010101" charset="-122"/>
                <a:sym typeface="楷体" panose="02010609060101010101" charset="-122"/>
              </a:rPr>
              <a:t>的同学不确定主要问题出在哪里。</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以下哪项最能合理地解释上述看来包含矛盾的陈述</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有的同学既认为难题比较多又认为计算量太大</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有的同学改变了自己的看法</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该门课程这学期总共有</a:t>
            </a:r>
            <a:r>
              <a:rPr lang="en-US" altLang="zh-CN" sz="2400" spc="200" dirty="0">
                <a:solidFill>
                  <a:srgbClr val="000000"/>
                </a:solidFill>
                <a:latin typeface="+mn-ea"/>
                <a:cs typeface="楷体" panose="02010609060101010101" charset="-122"/>
                <a:sym typeface="楷体" panose="02010609060101010101" charset="-122"/>
              </a:rPr>
              <a:t>110</a:t>
            </a:r>
            <a:r>
              <a:rPr lang="zh-CN" altLang="en-US" sz="2400" spc="200" dirty="0">
                <a:solidFill>
                  <a:srgbClr val="000000"/>
                </a:solidFill>
                <a:latin typeface="+mn-ea"/>
                <a:cs typeface="楷体" panose="02010609060101010101" charset="-122"/>
                <a:sym typeface="楷体" panose="02010609060101010101" charset="-122"/>
              </a:rPr>
              <a:t>名同学</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称不确定主要问题出在哪里的同学实际上是认为自己没有充分复习</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78.</a:t>
            </a:r>
            <a:r>
              <a:rPr lang="zh-CN" altLang="en-US" sz="2400" spc="200" dirty="0">
                <a:solidFill>
                  <a:srgbClr val="000000"/>
                </a:solidFill>
                <a:latin typeface="+mn-ea"/>
                <a:cs typeface="楷体" panose="02010609060101010101" charset="-122"/>
                <a:sym typeface="楷体" panose="02010609060101010101" charset="-122"/>
              </a:rPr>
              <a:t>为了验证</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全麦面包更健康</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的说法，科学家将</a:t>
            </a:r>
            <a:r>
              <a:rPr lang="en-US" altLang="zh-CN" sz="2400" spc="200" dirty="0">
                <a:solidFill>
                  <a:srgbClr val="000000"/>
                </a:solidFill>
                <a:latin typeface="+mn-ea"/>
                <a:cs typeface="楷体" panose="02010609060101010101" charset="-122"/>
                <a:sym typeface="楷体" panose="02010609060101010101" charset="-122"/>
              </a:rPr>
              <a:t>20</a:t>
            </a:r>
            <a:r>
              <a:rPr lang="zh-CN" altLang="en-US" sz="2400" spc="200" dirty="0">
                <a:solidFill>
                  <a:srgbClr val="000000"/>
                </a:solidFill>
                <a:latin typeface="+mn-ea"/>
                <a:cs typeface="楷体" panose="02010609060101010101" charset="-122"/>
                <a:sym typeface="楷体" panose="02010609060101010101" charset="-122"/>
              </a:rPr>
              <a:t>名健康被试随机分为两组，第一组吃白面包，第二组吃全麦面包，连续三周之后测量餐后血糖水平，竟然发现两组被试餐后血糖水平无显著差异，于是科学家得出结论，全麦面包并不比白面包更健康。</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以下陈述如果为真，哪项无法质疑科学家的结论</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第一组被试的平均餐后血糖水平在进入研究之前就比第二组被试高</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第二组被试的其他跟疾病相关的血生化检测指标在三周后显著优于第一组</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餐后血糖水平不是健康的唯一指标</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有些人对全麦面包中的麦麸过敏因而只能选择白面包</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92775"/>
          </a:xfrm>
          <a:prstGeom prst="rect">
            <a:avLst/>
          </a:prstGeom>
        </p:spPr>
        <p:txBody>
          <a:bodyPr wrap="square">
            <a:spAutoFit/>
          </a:bodyPr>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做文献研究的王教授计划暑假时去西安旅行，除来回路途时间外，他还有周一至周六完整的六天时间。他为这六天做了一个计划：除周四这天休息、不安排活动之外，其他五天他每天上午和下午均有日程安排，而且每个半天他只进行一种活动，晚上不安排活动。具体计划如下</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个上午去陕西历史博物馆，该馆周一闭馆。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个上午去陕西图书馆古籍阅览室阅览，该阅览室周六闭馆。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）如果周一去陕西图书馆古籍阅览室阅览，则周二不去。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）在连续的两天下午会友，周六不会友。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5</a:t>
            </a:r>
            <a:r>
              <a:rPr lang="zh-CN" altLang="en-US" sz="2000" spc="200" dirty="0">
                <a:solidFill>
                  <a:srgbClr val="000000"/>
                </a:solidFill>
                <a:latin typeface="+mn-ea"/>
                <a:cs typeface="楷体" panose="02010609060101010101" charset="-122"/>
                <a:sym typeface="楷体" panose="02010609060101010101" charset="-122"/>
              </a:rPr>
              <a:t>）另外的时段去参观西安的一些旅游景点。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79.</a:t>
            </a:r>
            <a:r>
              <a:rPr lang="zh-CN" altLang="en-US" sz="2000" spc="200" dirty="0">
                <a:solidFill>
                  <a:srgbClr val="000000"/>
                </a:solidFill>
                <a:latin typeface="+mn-ea"/>
                <a:cs typeface="楷体" panose="02010609060101010101" charset="-122"/>
                <a:sym typeface="楷体" panose="02010609060101010101" charset="-122"/>
              </a:rPr>
              <a:t>按照王教授的计划，则以下哪项有可能为真？</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王教授周一上午去陕西图书馆古书籍阅览室阅览，周一下午会友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王教授周一上午去西安的某旅游景点，周二上午去陕西历史博物馆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王教授周三上午去陕西历史博物馆，周三下午会友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王教授周五上午和下午都去西安的一些旅游景点参观</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92775"/>
          </a:xfrm>
          <a:prstGeom prst="rect">
            <a:avLst/>
          </a:prstGeom>
        </p:spPr>
        <p:txBody>
          <a:bodyPr wrap="square">
            <a:spAutoFit/>
          </a:bodyPr>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做文献研究的王教授计划暑假时去西安旅行，除来回路途时间外，他还有周一至周六完整的六天时间。他为这六天做了一个计划：除周四这天休息、不安排活动之外，其他五天他每天上午和下午均有日程安排，而且每个半天他只进行一种活动，晚上不安排活动。具体计划如下</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个上午去陕西历史博物馆，该馆周一闭馆。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个上午去陕西图书馆古籍阅览室阅览，该阅览室周六闭馆。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）如果周一去陕西图书馆古籍阅览室阅览，则周二不去。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）在连续的两天下午会友，周六不会友。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5</a:t>
            </a:r>
            <a:r>
              <a:rPr lang="zh-CN" altLang="en-US" sz="2000" spc="200" dirty="0">
                <a:solidFill>
                  <a:srgbClr val="000000"/>
                </a:solidFill>
                <a:latin typeface="+mn-ea"/>
                <a:cs typeface="楷体" panose="02010609060101010101" charset="-122"/>
                <a:sym typeface="楷体" panose="02010609060101010101" charset="-122"/>
              </a:rPr>
              <a:t>）另外的时段去参观西安的一些旅游景点。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80.</a:t>
            </a:r>
            <a:r>
              <a:rPr lang="zh-CN" altLang="en-US" sz="2000" spc="200" dirty="0">
                <a:solidFill>
                  <a:srgbClr val="000000"/>
                </a:solidFill>
                <a:latin typeface="+mn-ea"/>
                <a:cs typeface="楷体" panose="02010609060101010101" charset="-122"/>
                <a:sym typeface="楷体" panose="02010609060101010101" charset="-122"/>
              </a:rPr>
              <a:t>按照王教授的计划，下面哪一天他一定会友</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周一</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周五</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周三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周二</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81.</a:t>
            </a:r>
            <a:r>
              <a:rPr lang="zh-CN" altLang="en-US" sz="2000" spc="200" dirty="0">
                <a:solidFill>
                  <a:srgbClr val="000000"/>
                </a:solidFill>
                <a:latin typeface="+mn-ea"/>
                <a:cs typeface="楷体" panose="02010609060101010101" charset="-122"/>
                <a:sym typeface="楷体" panose="02010609060101010101" charset="-122"/>
              </a:rPr>
              <a:t>赵、钱、孙、李、周、吴参加某次考试，成绩各不相同，但其中有一人有作弊行为。已知</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）钱的成绩是周和孙成绩的平均数。</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）孙的成绩比李差，周的成绩比吴差。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）周和钱的成绩之和与赵和吴的成绩之和相同。</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）吴的成绩在钱和孙之间。</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5</a:t>
            </a:r>
            <a:r>
              <a:rPr lang="zh-CN" altLang="en-US" sz="2000" spc="200" dirty="0">
                <a:solidFill>
                  <a:srgbClr val="000000"/>
                </a:solidFill>
                <a:latin typeface="+mn-ea"/>
                <a:cs typeface="楷体" panose="02010609060101010101" charset="-122"/>
                <a:sym typeface="楷体" panose="02010609060101010101" charset="-122"/>
              </a:rPr>
              <a:t>）作弊者的成绩高于吴，但不是第一名。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如作弊者被发现且成绩被判为最后一名，则哪几个人的名次将会有所上升</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赵、钱、孙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孙、周、吴</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赵、孙、李、周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赵、钱、周、吴</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4523105"/>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82.</a:t>
            </a:r>
            <a:r>
              <a:rPr lang="zh-CN" altLang="en-US" sz="2400" spc="200" dirty="0">
                <a:solidFill>
                  <a:srgbClr val="000000"/>
                </a:solidFill>
                <a:latin typeface="+mn-ea"/>
                <a:cs typeface="楷体" panose="02010609060101010101" charset="-122"/>
                <a:sym typeface="楷体" panose="02010609060101010101" charset="-122"/>
              </a:rPr>
              <a:t>主动收入，是指需持续付出劳动才能得到的固定收入，最大的特点是必须花费时间和精力去获得。与之相对的是被动收入，是指不需要花费多少时间精力就可以自动获得的收入。</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根据上述定义，以下判断不正确的是：</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每月的薪水属于主动收入</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每月收的房租属于被动收入</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每年的存款利息属于主动收入</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每月的退休金属于被动收入</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4523105"/>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83.</a:t>
            </a:r>
            <a:r>
              <a:rPr lang="zh-CN" altLang="en-US" sz="2400" spc="200" dirty="0">
                <a:solidFill>
                  <a:srgbClr val="000000"/>
                </a:solidFill>
                <a:latin typeface="+mn-ea"/>
                <a:cs typeface="楷体" panose="02010609060101010101" charset="-122"/>
                <a:sym typeface="楷体" panose="02010609060101010101" charset="-122"/>
              </a:rPr>
              <a:t>体育旅游是指人们以参与和观看体育运动为目的，或以体育为主要内容的一种旅游活动形式，具有明显的娱乐性、健身性、参与性以及观赏性等特征。</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根据上述定义，以下属于体育旅游的是：</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北京奥运期间各国游客络绎不绝，欣赏赛事的同时领略北京风土人情</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世界杯赛事期间，小镇夜晚的大排档格外热闹，很多人边看球边撸串</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小李买了张机票飞往巴西，想偶遇自己的偶像球星罗纳尔多</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某地</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村超</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开幕式现场表演和足球比赛吸引了各地民众线上观看</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84.</a:t>
            </a:r>
            <a:r>
              <a:rPr lang="zh-CN" altLang="en-US" sz="2000" spc="200" dirty="0">
                <a:solidFill>
                  <a:srgbClr val="000000"/>
                </a:solidFill>
                <a:latin typeface="+mn-ea"/>
                <a:cs typeface="楷体" panose="02010609060101010101" charset="-122"/>
                <a:sym typeface="楷体" panose="02010609060101010101" charset="-122"/>
              </a:rPr>
              <a:t>个性化契约是由雇佣者与被雇佣者通过谈判协商的方式达成的一种满足双方利益的、非标准化的灵活工作安排。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根据上述定义，以下体现出个性化契约的是：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李老师和学生们通过协商，制定了个性化作业规则，每次月考满分的学生，接下来一个月可以自由选择是否写数学作业</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王经理的妻子生病急需照顾，王经理提出居家办公三个月，老板同意，但要求他每周来公司半天，王经理表示可以做到</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某公司规定，哺乳期的女员工可选择弹性工作时间，自行决定到岗和离岗时间，只需要保证每日在岗不少于</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小时即可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某公司需搬迁到城市另一端，发现很多员工因通勤困难考虑离职，于是宣布为有需要的员工在办公地点附近安排宿舍</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85.</a:t>
            </a:r>
            <a:r>
              <a:rPr lang="zh-CN" altLang="en-US" sz="2400" spc="200" dirty="0">
                <a:solidFill>
                  <a:srgbClr val="000000"/>
                </a:solidFill>
                <a:latin typeface="+mn-ea"/>
                <a:cs typeface="楷体" panose="02010609060101010101" charset="-122"/>
                <a:sym typeface="楷体" panose="02010609060101010101" charset="-122"/>
              </a:rPr>
              <a:t>生态位是指每个个体或种群在种群或群落中的时空位置及功能关系。生态位重叠是指两个或两个以上生态位相似的物种生活于同一空间时分享或竞争共同资源的现象。</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根据上述定义，以下不存在生态位重叠的是：</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深海的蓝鲸与鲨鱼共同分享同一片海域</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老虎和豹子都喜欢生活在植被茂盛且猎物数量种类都非常多的同一片森林</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C.5</a:t>
            </a:r>
            <a:r>
              <a:rPr lang="zh-CN" altLang="en-US" sz="2400" spc="200" dirty="0">
                <a:solidFill>
                  <a:srgbClr val="000000"/>
                </a:solidFill>
                <a:latin typeface="+mn-ea"/>
                <a:cs typeface="楷体" panose="02010609060101010101" charset="-122"/>
                <a:sym typeface="楷体" panose="02010609060101010101" charset="-122"/>
              </a:rPr>
              <a:t>种鸣禽在针叶林里一起生活，均以昆虫为食，对营巢地点也有相似要求</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非洲大草原上的牛羚和斑马都以草为食</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29272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86.</a:t>
            </a:r>
            <a:r>
              <a:rPr lang="zh-CN" altLang="en-US" sz="2000" spc="200" dirty="0">
                <a:solidFill>
                  <a:srgbClr val="000000"/>
                </a:solidFill>
                <a:latin typeface="+mn-ea"/>
                <a:cs typeface="楷体" panose="02010609060101010101" charset="-122"/>
                <a:sym typeface="楷体" panose="02010609060101010101" charset="-122"/>
              </a:rPr>
              <a:t>薄暮效应，指人眼视觉在光线减弱时，会从优先感知色彩转为优先感知明暗，从而产生无法辨别色彩的视觉现象。明度是眼睛对光源和物体表面的明暗程度的感觉，主要是由光线强弱决定的一种视觉经验。在明亮光线下，红色与蓝色明度相近，在昏暗光线下，蓝色比红色明度强</a:t>
            </a:r>
            <a:r>
              <a:rPr lang="en-US" altLang="zh-CN" sz="2000" spc="200" dirty="0">
                <a:solidFill>
                  <a:srgbClr val="000000"/>
                </a:solidFill>
                <a:latin typeface="+mn-ea"/>
                <a:cs typeface="楷体" panose="02010609060101010101" charset="-122"/>
                <a:sym typeface="楷体" panose="02010609060101010101" charset="-122"/>
              </a:rPr>
              <a:t>16</a:t>
            </a:r>
            <a:r>
              <a:rPr lang="zh-CN" altLang="en-US" sz="2000" spc="200" dirty="0">
                <a:solidFill>
                  <a:srgbClr val="000000"/>
                </a:solidFill>
                <a:latin typeface="+mn-ea"/>
                <a:cs typeface="楷体" panose="02010609060101010101" charset="-122"/>
                <a:sym typeface="楷体" panose="02010609060101010101" charset="-122"/>
              </a:rPr>
              <a:t>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根据上述定义，以下没有呈现出薄暮效应的是：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卡车司机在黄昏时发生了事故。司机坚称当时自己精神专注，车速正常，但伤者穿着一身黑色的衣服，和远处黑色景物融为一体。但实际上伤者穿着鲜艳的红色夹克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某偶像团体选择了蓝紫色代表团体，一旦进入昏暗的表演场地，穿着蓝紫色团服的该团体粉丝就会比穿着红色团服的对手团队的粉丝更加抢眼</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电影院往往选择红色座椅，因为室内灯光熄灭后，红色座椅会显得更暗，不会影响观众欣赏影片过程中的注意力和专注度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黑陶是我国的国家级非物质文化遗产。手工制作的黑陶制品在不同光线下能呈现紫、靛、银等色泽</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9" name="文本框 8"/>
          <p:cNvSpPr txBox="1"/>
          <p:nvPr/>
        </p:nvSpPr>
        <p:spPr>
          <a:xfrm>
            <a:off x="2807628" y="1742619"/>
            <a:ext cx="6576647" cy="2122805"/>
          </a:xfrm>
          <a:prstGeom prst="rect">
            <a:avLst/>
          </a:prstGeom>
          <a:noFill/>
        </p:spPr>
        <p:txBody>
          <a:bodyPr wrap="square" rtlCol="0">
            <a:spAutoFit/>
          </a:bodyPr>
          <a:p>
            <a:pPr indent="0" algn="ctr" fontAlgn="auto">
              <a:lnSpc>
                <a:spcPct val="150000"/>
              </a:lnSpc>
            </a:pP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北京</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2025</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indent="0" algn="ctr" fontAlgn="auto">
              <a:lnSpc>
                <a:spcPct val="150000"/>
              </a:lnSpc>
            </a:pP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34064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45.</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从所给的四个选项中，选择最合适的一个填入问号处，不仅使两套图形表现出最大的相似性，而且使第二套图形也表现出自己的特征。</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90" name="图片 67" descr="IMG_256"/>
          <p:cNvPicPr>
            <a:picLocks noChangeAspect="1"/>
          </p:cNvPicPr>
          <p:nvPr/>
        </p:nvPicPr>
        <p:blipFill>
          <a:blip r:embed="rId2"/>
          <a:stretch>
            <a:fillRect/>
          </a:stretch>
        </p:blipFill>
        <p:spPr>
          <a:xfrm>
            <a:off x="1633220" y="2012950"/>
            <a:ext cx="8926830" cy="3889375"/>
          </a:xfrm>
          <a:prstGeom prst="rect">
            <a:avLst/>
          </a:prstGeom>
          <a:noFill/>
          <a:ln w="9525">
            <a:noFill/>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46.</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从所给的四个选项中，选择最合适的一个填入问号处，不仅使两套图形表现出最大的相似性，而且使第二套图形也表现出自己的特征。</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91" name="图片 68" descr="IMG_257"/>
          <p:cNvPicPr>
            <a:picLocks noChangeAspect="1"/>
          </p:cNvPicPr>
          <p:nvPr/>
        </p:nvPicPr>
        <p:blipFill>
          <a:blip r:embed="rId2"/>
          <a:stretch>
            <a:fillRect/>
          </a:stretch>
        </p:blipFill>
        <p:spPr>
          <a:xfrm>
            <a:off x="1292225" y="2103755"/>
            <a:ext cx="9606915" cy="4234815"/>
          </a:xfrm>
          <a:prstGeom prst="rect">
            <a:avLst/>
          </a:prstGeom>
          <a:noFill/>
          <a:ln w="9525">
            <a:noFill/>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47.</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从所给的四个选项中，选择最合适的一个填入问号处，不仅使两套图形表现出最大的相似性，而且使第二套图形也表现出自己的特征。</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97" name="图片 69" descr="IMG_258"/>
          <p:cNvPicPr>
            <a:picLocks noChangeAspect="1"/>
          </p:cNvPicPr>
          <p:nvPr/>
        </p:nvPicPr>
        <p:blipFill>
          <a:blip r:embed="rId2"/>
          <a:stretch>
            <a:fillRect/>
          </a:stretch>
        </p:blipFill>
        <p:spPr>
          <a:xfrm>
            <a:off x="1689100" y="2056765"/>
            <a:ext cx="8813165" cy="3928110"/>
          </a:xfrm>
          <a:prstGeom prst="rect">
            <a:avLst/>
          </a:prstGeom>
          <a:noFill/>
          <a:ln w="9525">
            <a:noFill/>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48.</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从所给的四个选项中，选择最合适的一个填入问号处，使图形呈现一定的规律性。</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100" name="图片 70" descr="IMG_259"/>
          <p:cNvPicPr>
            <a:picLocks noChangeAspect="1"/>
          </p:cNvPicPr>
          <p:nvPr/>
        </p:nvPicPr>
        <p:blipFill>
          <a:blip r:embed="rId2"/>
          <a:stretch>
            <a:fillRect/>
          </a:stretch>
        </p:blipFill>
        <p:spPr>
          <a:xfrm>
            <a:off x="1706880" y="1906270"/>
            <a:ext cx="8779510" cy="4101465"/>
          </a:xfrm>
          <a:prstGeom prst="rect">
            <a:avLst/>
          </a:prstGeom>
          <a:noFill/>
          <a:ln w="9525">
            <a:noFill/>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2051685" y="65405"/>
            <a:ext cx="8089265" cy="645160"/>
          </a:xfrm>
          <a:prstGeom prst="rect">
            <a:avLst/>
          </a:prstGeom>
        </p:spPr>
        <p:txBody>
          <a:bodyPr wrap="square">
            <a:spAutoFit/>
          </a:bodyPr>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下面呈现一组操作规则，根据要求完成以下</a:t>
            </a: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题。</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105" name="图片 71" descr="IMG_260"/>
          <p:cNvPicPr>
            <a:picLocks noChangeAspect="1"/>
          </p:cNvPicPr>
          <p:nvPr/>
        </p:nvPicPr>
        <p:blipFill>
          <a:blip r:embed="rId2"/>
          <a:stretch>
            <a:fillRect/>
          </a:stretch>
        </p:blipFill>
        <p:spPr>
          <a:xfrm>
            <a:off x="3893820" y="707390"/>
            <a:ext cx="4615180" cy="3574415"/>
          </a:xfrm>
          <a:prstGeom prst="rect">
            <a:avLst/>
          </a:prstGeom>
          <a:noFill/>
          <a:ln w="9525">
            <a:noFill/>
          </a:ln>
        </p:spPr>
      </p:pic>
      <p:sp>
        <p:nvSpPr>
          <p:cNvPr id="2" name="矩形 1"/>
          <p:cNvSpPr/>
          <p:nvPr>
            <p:custDataLst>
              <p:tags r:id="rId3"/>
            </p:custDataLst>
          </p:nvPr>
        </p:nvSpPr>
        <p:spPr>
          <a:xfrm>
            <a:off x="744855" y="4281805"/>
            <a:ext cx="10586720"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49.</a:t>
            </a:r>
            <a:r>
              <a:rPr lang="zh-CN" altLang="en-US" sz="2400" spc="200" dirty="0">
                <a:solidFill>
                  <a:srgbClr val="000000"/>
                </a:solidFill>
                <a:latin typeface="+mn-ea"/>
                <a:cs typeface="楷体" panose="02010609060101010101" charset="-122"/>
                <a:sym typeface="楷体" panose="02010609060101010101" charset="-122"/>
              </a:rPr>
              <a:t>对左侧的图形依次进行相应的操作后，可以得到右侧哪个图形</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106" name="图片 72" descr="IMG_261"/>
          <p:cNvPicPr>
            <a:picLocks noChangeAspect="1"/>
          </p:cNvPicPr>
          <p:nvPr/>
        </p:nvPicPr>
        <p:blipFill>
          <a:blip r:embed="rId4"/>
          <a:stretch>
            <a:fillRect/>
          </a:stretch>
        </p:blipFill>
        <p:spPr>
          <a:xfrm>
            <a:off x="896620" y="5032375"/>
            <a:ext cx="6350000" cy="1306830"/>
          </a:xfrm>
          <a:prstGeom prst="rect">
            <a:avLst/>
          </a:prstGeom>
          <a:noFill/>
          <a:ln w="9525">
            <a:noFill/>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1993900" y="62230"/>
            <a:ext cx="8089265" cy="645160"/>
          </a:xfrm>
          <a:prstGeom prst="rect">
            <a:avLst/>
          </a:prstGeom>
        </p:spPr>
        <p:txBody>
          <a:bodyPr wrap="square">
            <a:spAutoFit/>
          </a:bodyPr>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下面呈现一组操作规则，根据要求完成以下</a:t>
            </a: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题。</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105" name="图片 71" descr="IMG_260"/>
          <p:cNvPicPr>
            <a:picLocks noChangeAspect="1"/>
          </p:cNvPicPr>
          <p:nvPr/>
        </p:nvPicPr>
        <p:blipFill>
          <a:blip r:embed="rId2"/>
          <a:stretch>
            <a:fillRect/>
          </a:stretch>
        </p:blipFill>
        <p:spPr>
          <a:xfrm>
            <a:off x="3893820" y="707390"/>
            <a:ext cx="4615180" cy="3574415"/>
          </a:xfrm>
          <a:prstGeom prst="rect">
            <a:avLst/>
          </a:prstGeom>
          <a:noFill/>
          <a:ln w="9525">
            <a:noFill/>
          </a:ln>
        </p:spPr>
      </p:pic>
      <p:sp>
        <p:nvSpPr>
          <p:cNvPr id="2" name="矩形 1"/>
          <p:cNvSpPr/>
          <p:nvPr>
            <p:custDataLst>
              <p:tags r:id="rId3"/>
            </p:custDataLst>
          </p:nvPr>
        </p:nvSpPr>
        <p:spPr>
          <a:xfrm>
            <a:off x="744855" y="4175125"/>
            <a:ext cx="10586720"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50.</a:t>
            </a:r>
            <a:r>
              <a:rPr lang="zh-CN" altLang="en-US" sz="2400" spc="200" dirty="0">
                <a:solidFill>
                  <a:srgbClr val="000000"/>
                </a:solidFill>
                <a:latin typeface="+mn-ea"/>
                <a:cs typeface="楷体" panose="02010609060101010101" charset="-122"/>
                <a:sym typeface="楷体" panose="02010609060101010101" charset="-122"/>
              </a:rPr>
              <a:t>对左侧的图形依次进行相应的操作后，可以得到右侧哪个图形</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107" name="图片 75" descr="IMG_264"/>
          <p:cNvPicPr>
            <a:picLocks noChangeAspect="1"/>
          </p:cNvPicPr>
          <p:nvPr/>
        </p:nvPicPr>
        <p:blipFill>
          <a:blip r:embed="rId4"/>
          <a:stretch>
            <a:fillRect/>
          </a:stretch>
        </p:blipFill>
        <p:spPr>
          <a:xfrm>
            <a:off x="850265" y="4820285"/>
            <a:ext cx="7339330" cy="1457325"/>
          </a:xfrm>
          <a:prstGeom prst="rect">
            <a:avLst/>
          </a:prstGeom>
          <a:noFill/>
          <a:ln w="9525">
            <a:noFill/>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2157095" y="62230"/>
            <a:ext cx="8089265" cy="645160"/>
          </a:xfrm>
          <a:prstGeom prst="rect">
            <a:avLst/>
          </a:prstGeom>
        </p:spPr>
        <p:txBody>
          <a:bodyPr wrap="square">
            <a:spAutoFit/>
          </a:bodyPr>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下面呈现一组操作规则，根据要求完成以下</a:t>
            </a: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题。</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105" name="图片 71" descr="IMG_260"/>
          <p:cNvPicPr>
            <a:picLocks noChangeAspect="1"/>
          </p:cNvPicPr>
          <p:nvPr/>
        </p:nvPicPr>
        <p:blipFill>
          <a:blip r:embed="rId2"/>
          <a:stretch>
            <a:fillRect/>
          </a:stretch>
        </p:blipFill>
        <p:spPr>
          <a:xfrm>
            <a:off x="3893820" y="707390"/>
            <a:ext cx="4615180" cy="3574415"/>
          </a:xfrm>
          <a:prstGeom prst="rect">
            <a:avLst/>
          </a:prstGeom>
          <a:noFill/>
          <a:ln w="9525">
            <a:noFill/>
          </a:ln>
        </p:spPr>
      </p:pic>
      <p:sp>
        <p:nvSpPr>
          <p:cNvPr id="2" name="矩形 1"/>
          <p:cNvSpPr/>
          <p:nvPr>
            <p:custDataLst>
              <p:tags r:id="rId3"/>
            </p:custDataLst>
          </p:nvPr>
        </p:nvSpPr>
        <p:spPr>
          <a:xfrm>
            <a:off x="744855" y="4148455"/>
            <a:ext cx="10586720"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51.</a:t>
            </a:r>
            <a:r>
              <a:rPr lang="zh-CN" altLang="en-US" sz="2400" spc="200" dirty="0">
                <a:solidFill>
                  <a:srgbClr val="000000"/>
                </a:solidFill>
                <a:latin typeface="+mn-ea"/>
                <a:cs typeface="楷体" panose="02010609060101010101" charset="-122"/>
                <a:sym typeface="楷体" panose="02010609060101010101" charset="-122"/>
              </a:rPr>
              <a:t>对左侧的图形依次进行相应的操作后，可以得到右侧哪个图形</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108" name="图片 78" descr="IMG_267"/>
          <p:cNvPicPr>
            <a:picLocks noChangeAspect="1"/>
          </p:cNvPicPr>
          <p:nvPr/>
        </p:nvPicPr>
        <p:blipFill>
          <a:blip r:embed="rId4"/>
          <a:stretch>
            <a:fillRect/>
          </a:stretch>
        </p:blipFill>
        <p:spPr>
          <a:xfrm>
            <a:off x="869950" y="4793615"/>
            <a:ext cx="7164070" cy="1494155"/>
          </a:xfrm>
          <a:prstGeom prst="rect">
            <a:avLst/>
          </a:prstGeom>
          <a:noFill/>
          <a:ln w="9525">
            <a:noFill/>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52.</a:t>
            </a:r>
            <a:r>
              <a:rPr lang="zh-CN" altLang="en-US" sz="2400" spc="200" dirty="0">
                <a:solidFill>
                  <a:srgbClr val="000000"/>
                </a:solidFill>
                <a:latin typeface="+mn-ea"/>
                <a:cs typeface="楷体" panose="02010609060101010101" charset="-122"/>
                <a:sym typeface="楷体" panose="02010609060101010101" charset="-122"/>
              </a:rPr>
              <a:t>以下除哪一项外，均为同一正方体纸盒的外表面展开图</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109" name="图片 81" descr="IMG_270"/>
          <p:cNvPicPr>
            <a:picLocks noChangeAspect="1"/>
          </p:cNvPicPr>
          <p:nvPr/>
        </p:nvPicPr>
        <p:blipFill>
          <a:blip r:embed="rId2"/>
          <a:stretch>
            <a:fillRect/>
          </a:stretch>
        </p:blipFill>
        <p:spPr>
          <a:xfrm>
            <a:off x="911860" y="1530985"/>
            <a:ext cx="10640695" cy="2553970"/>
          </a:xfrm>
          <a:prstGeom prst="rect">
            <a:avLst/>
          </a:prstGeom>
          <a:noFill/>
          <a:ln w="9525">
            <a:noFill/>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53.</a:t>
            </a:r>
            <a:r>
              <a:rPr lang="zh-CN" altLang="en-US" sz="2400" spc="200" dirty="0">
                <a:solidFill>
                  <a:srgbClr val="000000"/>
                </a:solidFill>
                <a:latin typeface="+mn-ea"/>
                <a:cs typeface="楷体" panose="02010609060101010101" charset="-122"/>
                <a:sym typeface="楷体" panose="02010609060101010101" charset="-122"/>
              </a:rPr>
              <a:t>左图为</a:t>
            </a:r>
            <a:r>
              <a:rPr lang="en-US" altLang="zh-CN" sz="2400" spc="200" dirty="0">
                <a:solidFill>
                  <a:srgbClr val="000000"/>
                </a:solidFill>
                <a:latin typeface="+mn-ea"/>
                <a:cs typeface="楷体" panose="02010609060101010101" charset="-122"/>
                <a:sym typeface="楷体" panose="02010609060101010101" charset="-122"/>
              </a:rPr>
              <a:t>12</a:t>
            </a:r>
            <a:r>
              <a:rPr lang="zh-CN" altLang="en-US" sz="2400" spc="200" dirty="0">
                <a:solidFill>
                  <a:srgbClr val="000000"/>
                </a:solidFill>
                <a:latin typeface="+mn-ea"/>
                <a:cs typeface="楷体" panose="02010609060101010101" charset="-122"/>
                <a:sym typeface="楷体" panose="02010609060101010101" charset="-122"/>
              </a:rPr>
              <a:t>个白色、</a:t>
            </a: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个灰色正方体组合成的多面体，问以下哪一项不可能是该多面体的视图</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121" name="图片 83" descr="IMG_272"/>
          <p:cNvPicPr>
            <a:picLocks noChangeAspect="1"/>
          </p:cNvPicPr>
          <p:nvPr/>
        </p:nvPicPr>
        <p:blipFill>
          <a:blip r:embed="rId2"/>
          <a:stretch>
            <a:fillRect/>
          </a:stretch>
        </p:blipFill>
        <p:spPr>
          <a:xfrm>
            <a:off x="1078865" y="1951990"/>
            <a:ext cx="10035540" cy="2810510"/>
          </a:xfrm>
          <a:prstGeom prst="rect">
            <a:avLst/>
          </a:prstGeom>
          <a:noFill/>
          <a:ln w="9525">
            <a:noFill/>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54.</a:t>
            </a:r>
            <a:r>
              <a:rPr lang="zh-CN" altLang="en-US" sz="2400" spc="200" dirty="0">
                <a:solidFill>
                  <a:srgbClr val="000000"/>
                </a:solidFill>
                <a:latin typeface="+mn-ea"/>
                <a:cs typeface="楷体" panose="02010609060101010101" charset="-122"/>
                <a:sym typeface="楷体" panose="02010609060101010101" charset="-122"/>
              </a:rPr>
              <a:t>以下</a:t>
            </a:r>
            <a:r>
              <a:rPr lang="en-US" altLang="zh-CN" sz="2400" spc="200" dirty="0">
                <a:solidFill>
                  <a:srgbClr val="000000"/>
                </a:solidFill>
                <a:latin typeface="+mn-ea"/>
                <a:cs typeface="楷体" panose="02010609060101010101" charset="-122"/>
                <a:sym typeface="楷体" panose="02010609060101010101" charset="-122"/>
              </a:rPr>
              <a:t>4</a:t>
            </a:r>
            <a:r>
              <a:rPr lang="zh-CN" altLang="en-US" sz="2400" spc="200" dirty="0">
                <a:solidFill>
                  <a:srgbClr val="000000"/>
                </a:solidFill>
                <a:latin typeface="+mn-ea"/>
                <a:cs typeface="楷体" panose="02010609060101010101" charset="-122"/>
                <a:sym typeface="楷体" panose="02010609060101010101" charset="-122"/>
              </a:rPr>
              <a:t>个图形中，能够与最左边图形组合成实心正方体的是。</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122" name="图片 84" descr="IMG_273"/>
          <p:cNvPicPr>
            <a:picLocks noChangeAspect="1"/>
          </p:cNvPicPr>
          <p:nvPr/>
        </p:nvPicPr>
        <p:blipFill>
          <a:blip r:embed="rId2"/>
          <a:stretch>
            <a:fillRect/>
          </a:stretch>
        </p:blipFill>
        <p:spPr>
          <a:xfrm>
            <a:off x="969645" y="1674495"/>
            <a:ext cx="10253345" cy="2871470"/>
          </a:xfrm>
          <a:prstGeom prst="rect">
            <a:avLst/>
          </a:prstGeom>
          <a:noFill/>
          <a:ln w="9525">
            <a:noFill/>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753235"/>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55.</a:t>
            </a:r>
            <a:r>
              <a:rPr lang="zh-CN" altLang="en-US" sz="2400" spc="200" dirty="0">
                <a:solidFill>
                  <a:srgbClr val="000000"/>
                </a:solidFill>
                <a:latin typeface="+mn-ea"/>
                <a:cs typeface="楷体" panose="02010609060101010101" charset="-122"/>
                <a:sym typeface="楷体" panose="02010609060101010101" charset="-122"/>
              </a:rPr>
              <a:t>左图为</a:t>
            </a:r>
            <a:r>
              <a:rPr lang="en-US" altLang="zh-CN" sz="2400" spc="200" dirty="0">
                <a:solidFill>
                  <a:srgbClr val="000000"/>
                </a:solidFill>
                <a:latin typeface="+mn-ea"/>
                <a:cs typeface="楷体" panose="02010609060101010101" charset="-122"/>
                <a:sym typeface="楷体" panose="02010609060101010101" charset="-122"/>
              </a:rPr>
              <a:t>5</a:t>
            </a:r>
            <a:r>
              <a:rPr lang="zh-CN" altLang="en-US" sz="2400" spc="200" dirty="0">
                <a:solidFill>
                  <a:srgbClr val="000000"/>
                </a:solidFill>
                <a:latin typeface="+mn-ea"/>
                <a:cs typeface="楷体" panose="02010609060101010101" charset="-122"/>
                <a:sym typeface="楷体" panose="02010609060101010101" charset="-122"/>
              </a:rPr>
              <a:t>个黑色和</a:t>
            </a:r>
            <a:r>
              <a:rPr lang="en-US" altLang="zh-CN" sz="2400" spc="200" dirty="0">
                <a:solidFill>
                  <a:srgbClr val="000000"/>
                </a:solidFill>
                <a:latin typeface="+mn-ea"/>
                <a:cs typeface="楷体" panose="02010609060101010101" charset="-122"/>
                <a:sym typeface="楷体" panose="02010609060101010101" charset="-122"/>
              </a:rPr>
              <a:t>22</a:t>
            </a:r>
            <a:r>
              <a:rPr lang="zh-CN" altLang="en-US" sz="2400" spc="200" dirty="0">
                <a:solidFill>
                  <a:srgbClr val="000000"/>
                </a:solidFill>
                <a:latin typeface="+mn-ea"/>
                <a:cs typeface="楷体" panose="02010609060101010101" charset="-122"/>
                <a:sym typeface="楷体" panose="02010609060101010101" charset="-122"/>
              </a:rPr>
              <a:t>个白色正方体组成的三阶魔方。以下哪个图形不可能是将该魔方拧动</a:t>
            </a:r>
            <a:r>
              <a:rPr lang="en-US" altLang="zh-CN" sz="2400" spc="200" dirty="0">
                <a:solidFill>
                  <a:srgbClr val="000000"/>
                </a:solidFill>
                <a:latin typeface="+mn-ea"/>
                <a:cs typeface="楷体" panose="02010609060101010101" charset="-122"/>
                <a:sym typeface="楷体" panose="02010609060101010101" charset="-122"/>
              </a:rPr>
              <a:t>1</a:t>
            </a:r>
            <a:r>
              <a:rPr lang="zh-CN" altLang="en-US" sz="2400" spc="200" dirty="0">
                <a:solidFill>
                  <a:srgbClr val="000000"/>
                </a:solidFill>
                <a:latin typeface="+mn-ea"/>
                <a:cs typeface="楷体" panose="02010609060101010101" charset="-122"/>
                <a:sym typeface="楷体" panose="02010609060101010101" charset="-122"/>
              </a:rPr>
              <a:t>次（位于同一平面的</a:t>
            </a:r>
            <a:r>
              <a:rPr lang="en-US" altLang="zh-CN" sz="2400" spc="200" dirty="0">
                <a:solidFill>
                  <a:srgbClr val="000000"/>
                </a:solidFill>
                <a:latin typeface="+mn-ea"/>
                <a:cs typeface="楷体" panose="02010609060101010101" charset="-122"/>
                <a:sym typeface="楷体" panose="02010609060101010101" charset="-122"/>
              </a:rPr>
              <a:t>9</a:t>
            </a:r>
            <a:r>
              <a:rPr lang="zh-CN" altLang="en-US" sz="2400" spc="200" dirty="0">
                <a:solidFill>
                  <a:srgbClr val="000000"/>
                </a:solidFill>
                <a:latin typeface="+mn-ea"/>
                <a:cs typeface="楷体" panose="02010609060101010101" charset="-122"/>
                <a:sym typeface="楷体" panose="02010609060101010101" charset="-122"/>
              </a:rPr>
              <a:t>个正方体旋转</a:t>
            </a:r>
            <a:r>
              <a:rPr lang="en-US" altLang="zh-CN" sz="2400" spc="200" dirty="0">
                <a:solidFill>
                  <a:srgbClr val="000000"/>
                </a:solidFill>
                <a:latin typeface="+mn-ea"/>
                <a:cs typeface="楷体" panose="02010609060101010101" charset="-122"/>
                <a:sym typeface="楷体" panose="02010609060101010101" charset="-122"/>
              </a:rPr>
              <a:t>90</a:t>
            </a:r>
            <a:r>
              <a:rPr lang="en-US" altLang="en-US"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a:t>
            </a:r>
            <a:r>
              <a:rPr lang="en-US" altLang="zh-CN" sz="2400" spc="200" dirty="0">
                <a:solidFill>
                  <a:srgbClr val="000000"/>
                </a:solidFill>
                <a:latin typeface="+mn-ea"/>
                <a:cs typeface="楷体" panose="02010609060101010101" charset="-122"/>
                <a:sym typeface="楷体" panose="02010609060101010101" charset="-122"/>
              </a:rPr>
              <a:t>180</a:t>
            </a:r>
            <a:r>
              <a:rPr lang="en-US" altLang="en-US"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或</a:t>
            </a:r>
            <a:r>
              <a:rPr lang="en-US" altLang="zh-CN" sz="2400" spc="200" dirty="0">
                <a:solidFill>
                  <a:srgbClr val="000000"/>
                </a:solidFill>
                <a:latin typeface="+mn-ea"/>
                <a:cs typeface="楷体" panose="02010609060101010101" charset="-122"/>
                <a:sym typeface="楷体" panose="02010609060101010101" charset="-122"/>
              </a:rPr>
              <a:t>270</a:t>
            </a:r>
            <a:r>
              <a:rPr lang="en-US" altLang="en-US"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）后某个面的外观</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123" name="图片 89" descr="IMG_278"/>
          <p:cNvPicPr>
            <a:picLocks noChangeAspect="1"/>
          </p:cNvPicPr>
          <p:nvPr/>
        </p:nvPicPr>
        <p:blipFill>
          <a:blip r:embed="rId2"/>
          <a:stretch>
            <a:fillRect/>
          </a:stretch>
        </p:blipFill>
        <p:spPr>
          <a:xfrm>
            <a:off x="850900" y="2811145"/>
            <a:ext cx="10353040" cy="2903220"/>
          </a:xfrm>
          <a:prstGeom prst="rect">
            <a:avLst/>
          </a:prstGeom>
          <a:noFill/>
          <a:ln w="9525">
            <a:noFill/>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56.</a:t>
            </a:r>
            <a:r>
              <a:rPr lang="zh-CN" altLang="en-US" sz="2400" spc="200" dirty="0">
                <a:solidFill>
                  <a:srgbClr val="000000"/>
                </a:solidFill>
                <a:latin typeface="+mn-ea"/>
                <a:cs typeface="楷体" panose="02010609060101010101" charset="-122"/>
                <a:sym typeface="楷体" panose="02010609060101010101" charset="-122"/>
              </a:rPr>
              <a:t>将左图所示的物体沿</a:t>
            </a: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a:t>
            </a: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a:t>
            </a: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三个点所在的面切开，则哪一项可能是其截面？</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124" name="图片 96" descr="IMG_285"/>
          <p:cNvPicPr>
            <a:picLocks noChangeAspect="1"/>
          </p:cNvPicPr>
          <p:nvPr/>
        </p:nvPicPr>
        <p:blipFill>
          <a:blip r:embed="rId2"/>
          <a:stretch>
            <a:fillRect/>
          </a:stretch>
        </p:blipFill>
        <p:spPr>
          <a:xfrm>
            <a:off x="821055" y="2080260"/>
            <a:ext cx="10549890" cy="3090545"/>
          </a:xfrm>
          <a:prstGeom prst="rect">
            <a:avLst/>
          </a:prstGeom>
          <a:noFill/>
          <a:ln w="9525">
            <a:noFill/>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57.</a:t>
            </a:r>
            <a:r>
              <a:rPr lang="zh-CN" altLang="en-US" sz="2400" spc="200" dirty="0">
                <a:solidFill>
                  <a:srgbClr val="000000"/>
                </a:solidFill>
                <a:latin typeface="+mn-ea"/>
                <a:cs typeface="楷体" panose="02010609060101010101" charset="-122"/>
                <a:sym typeface="楷体" panose="02010609060101010101" charset="-122"/>
              </a:rPr>
              <a:t>小冯外出散步时，在一个山坡上看到了一高一低两座塔，并拍下了照片。则当时小冯和两座塔的位置关系（俯视图）可能是哪种</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135" name="图片 98" descr="IMG_287"/>
          <p:cNvPicPr>
            <a:picLocks noChangeAspect="1"/>
          </p:cNvPicPr>
          <p:nvPr/>
        </p:nvPicPr>
        <p:blipFill>
          <a:blip r:embed="rId2"/>
          <a:stretch>
            <a:fillRect/>
          </a:stretch>
        </p:blipFill>
        <p:spPr>
          <a:xfrm>
            <a:off x="897255" y="2211705"/>
            <a:ext cx="4862195" cy="3028315"/>
          </a:xfrm>
          <a:prstGeom prst="rect">
            <a:avLst/>
          </a:prstGeom>
          <a:noFill/>
          <a:ln w="9525">
            <a:noFill/>
          </a:ln>
        </p:spPr>
      </p:pic>
      <p:pic>
        <p:nvPicPr>
          <p:cNvPr id="136" name="图片 99" descr="IMG_288"/>
          <p:cNvPicPr>
            <a:picLocks noChangeAspect="1"/>
          </p:cNvPicPr>
          <p:nvPr/>
        </p:nvPicPr>
        <p:blipFill>
          <a:blip r:embed="rId3"/>
          <a:stretch>
            <a:fillRect/>
          </a:stretch>
        </p:blipFill>
        <p:spPr>
          <a:xfrm>
            <a:off x="5861050" y="2211705"/>
            <a:ext cx="4859020" cy="3028315"/>
          </a:xfrm>
          <a:prstGeom prst="rect">
            <a:avLst/>
          </a:prstGeom>
          <a:noFill/>
          <a:ln w="9525">
            <a:noFill/>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58.</a:t>
            </a:r>
            <a:r>
              <a:rPr lang="zh-CN" altLang="en-US" sz="2400" spc="200" dirty="0">
                <a:solidFill>
                  <a:srgbClr val="000000"/>
                </a:solidFill>
                <a:latin typeface="+mn-ea"/>
                <a:cs typeface="楷体" panose="02010609060101010101" charset="-122"/>
                <a:sym typeface="楷体" panose="02010609060101010101" charset="-122"/>
              </a:rPr>
              <a:t>时刻之于（）相当于（）之于地图</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历史；地点</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刻度；坐标</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日晷；位置</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周期；经纬</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59.</a:t>
            </a:r>
            <a:r>
              <a:rPr lang="zh-CN" altLang="en-US" sz="2400" spc="200" dirty="0">
                <a:solidFill>
                  <a:srgbClr val="000000"/>
                </a:solidFill>
                <a:latin typeface="+mn-ea"/>
                <a:cs typeface="楷体" panose="02010609060101010101" charset="-122"/>
                <a:sym typeface="楷体" panose="02010609060101010101" charset="-122"/>
              </a:rPr>
              <a:t>文献检索</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论文</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图书馆</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休闲娱乐</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民众</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假期</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促销推广</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价格</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商场</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检查诊断</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疾病</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医院</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嫁接修剪</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果树</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果农</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60.</a:t>
            </a:r>
            <a:r>
              <a:rPr lang="zh-CN" altLang="en-US" sz="2400" spc="200" dirty="0">
                <a:solidFill>
                  <a:srgbClr val="000000"/>
                </a:solidFill>
                <a:latin typeface="+mn-ea"/>
                <a:cs typeface="楷体" panose="02010609060101010101" charset="-122"/>
                <a:sym typeface="楷体" panose="02010609060101010101" charset="-122"/>
              </a:rPr>
              <a:t>光缆</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激光信号</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通信</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摄像头</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图像</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监控</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水管</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水流</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排水</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电池</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电流</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电器</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摩托车</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燃油</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驾驶</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341503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61.</a:t>
            </a:r>
            <a:r>
              <a:rPr lang="zh-CN" altLang="en-US" sz="2400" spc="200" dirty="0">
                <a:solidFill>
                  <a:srgbClr val="000000"/>
                </a:solidFill>
                <a:latin typeface="+mn-ea"/>
                <a:cs typeface="楷体" panose="02010609060101010101" charset="-122"/>
                <a:sym typeface="楷体" panose="02010609060101010101" charset="-122"/>
              </a:rPr>
              <a:t>有理数</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整数</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分数</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热量</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温度</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内能</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相变</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蒸发</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冷凝</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材料</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导电性</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绝缘性</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固体</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晶体</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非晶体</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62.</a:t>
            </a:r>
            <a:r>
              <a:rPr lang="zh-CN" altLang="en-US" sz="2400" spc="200" dirty="0">
                <a:solidFill>
                  <a:srgbClr val="000000"/>
                </a:solidFill>
                <a:latin typeface="+mn-ea"/>
                <a:cs typeface="楷体" panose="02010609060101010101" charset="-122"/>
                <a:sym typeface="楷体" panose="02010609060101010101" charset="-122"/>
              </a:rPr>
              <a:t>进气阀</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气流</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内燃机</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滤镜</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图片</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相机</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编程</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自动化</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计算机</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加速器</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电压</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电动机</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阀门</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水流</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水库</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5749</Words>
  <Application>WPS 演示</Application>
  <PresentationFormat>宽屏</PresentationFormat>
  <Paragraphs>295</Paragraphs>
  <Slides>57</Slides>
  <Notes>4</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57</vt:i4>
      </vt:variant>
    </vt:vector>
  </HeadingPairs>
  <TitlesOfParts>
    <vt:vector size="68" baseType="lpstr">
      <vt:lpstr>Arial</vt:lpstr>
      <vt:lpstr>宋体</vt:lpstr>
      <vt:lpstr>Wingdings</vt:lpstr>
      <vt:lpstr>微软雅黑</vt:lpstr>
      <vt:lpstr>微软雅黑 Light</vt:lpstr>
      <vt:lpstr>Wingdings</vt:lpstr>
      <vt:lpstr>楷体</vt:lpstr>
      <vt:lpstr>Arial Unicode MS</vt:lpstr>
      <vt:lpstr>Office 主题​​</vt:lpstr>
      <vt:lpstr>WPS</vt:lpstr>
      <vt:lpstr>1_WPS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199</cp:revision>
  <dcterms:created xsi:type="dcterms:W3CDTF">2019-06-19T02:08:00Z</dcterms:created>
  <dcterms:modified xsi:type="dcterms:W3CDTF">2026-07-16T07:30:08Z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7E0F0589F6D94CFE8A4BC2AEA01394FF_11</vt:lpwstr>
  </property>
</Properties>
</file>