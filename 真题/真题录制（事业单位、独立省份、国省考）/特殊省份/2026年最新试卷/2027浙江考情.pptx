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5"/>
  </p:notesMasterIdLst>
  <p:handoutMasterIdLst>
    <p:handoutMasterId r:id="rId19"/>
  </p:handoutMasterIdLst>
  <p:sldIdLst>
    <p:sldId id="629" r:id="rId4"/>
    <p:sldId id="424" r:id="rId6"/>
    <p:sldId id="1363" r:id="rId7"/>
    <p:sldId id="1367" r:id="rId8"/>
    <p:sldId id="1368" r:id="rId9"/>
    <p:sldId id="1364" r:id="rId10"/>
    <p:sldId id="1371" r:id="rId11"/>
    <p:sldId id="1365" r:id="rId12"/>
    <p:sldId id="1369" r:id="rId13"/>
    <p:sldId id="1370" r:id="rId14"/>
    <p:sldId id="1366" r:id="rId15"/>
    <p:sldId id="1372" r:id="rId16"/>
    <p:sldId id="1373" r:id="rId17"/>
    <p:sldId id="992" r:id="rId18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9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ei" initials="2" lastIdx="9" clrIdx="0"/>
  <p:cmAuthor id="1" name="作者" initials="作" lastIdx="3" clrIdx="2"/>
  <p:cmAuthor id="2" name="许远超" initials="许" lastIdx="8" clrIdx="3"/>
  <p:cmAuthor id="3" name="Administrator" initials="A" lastIdx="1" clrIdx="2"/>
  <p:cmAuthor id="4" name="kingsoft" initials="k" lastIdx="1" clrIdx="0"/>
  <p:cmAuthor id="5" name="刘 译璟" initials="刘" lastIdx="32" clrIdx="0"/>
  <p:cmAuthor id="6" name="番茄花园" initials="番" lastIdx="1" clrIdx="0"/>
  <p:cmAuthor id="8" name="微软用户" initials="微" lastIdx="0" clrIdx="7"/>
  <p:cmAuthor id="9" name="李鹏瑞" initials="李" lastIdx="0" clrIdx="8"/>
  <p:cmAuthor id="10" name="未知用户3" initials="未" lastIdx="0" clrIdx="9"/>
  <p:cmAuthor id="11" name="周洁" initials="周" lastIdx="0" clrIdx="10"/>
  <p:cmAuthor id="12" name="999宝藏网" initials="9" lastIdx="0" clrIdx="11"/>
  <p:cmAuthor id="13" name="Windows 用户" initials="W" lastIdx="0" clrIdx="12"/>
  <p:cmAuthor id="14" name="dd" initials="d" lastIdx="0" clrIdx="13"/>
  <p:cmAuthor id="15" name="jiangjinggang" initials="j" lastIdx="0" clrIdx="14"/>
  <p:cmAuthor id="16" name="tuyang" initials="t" lastIdx="0" clrIdx="15"/>
  <p:cmAuthor id="17" name="3157009814@qq.com" initials="3" lastIdx="0" clrIdx="16"/>
  <p:cmAuthor id="18" name="未知用户4" initials="未" lastIdx="0" clrIdx="17"/>
  <p:cmAuthor id="19" name="59861" initials="5" lastIdx="0" clrIdx="18"/>
  <p:cmAuthor id="20" name="QH" initials="Q" lastIdx="0" clrIdx="19"/>
  <p:cmAuthor id="21" name="84407" initials="8" lastIdx="0" clrIdx="20"/>
  <p:cmAuthor id="22" name="yangmei" initials="y" lastIdx="0" clrIdx="21"/>
  <p:cmAuthor id="23" name="赵 岩" initials="赵" lastIdx="0" clrIdx="22"/>
  <p:cmAuthor id="24" name="Joyfeather" initials="J" lastIdx="0" clrIdx="23"/>
  <p:cmAuthor id="25" name="Asus" initials="A" lastIdx="0" clrIdx="24"/>
  <p:cmAuthor id="26" name="asus" initials="a" lastIdx="0" clrIdx="25"/>
  <p:cmAuthor id="27" name="ss" initials="ss" lastIdx="0" clrIdx="26"/>
  <p:cmAuthor id="28" name="44490" initials="4" lastIdx="0" clrIdx="27"/>
  <p:cmAuthor id="29" name="t19176" initials="t" lastIdx="0" clrIdx="28"/>
  <p:cmAuthor id="30" name="WPS_1679281038" initials="W" lastIdx="0" clrIdx="29"/>
  <p:cmAuthor id="31" name="12895" initials="1" lastIdx="0" clrIdx="30"/>
  <p:cmAuthor id="32" name="1423970900" initials="1" lastIdx="0" clrIdx="31"/>
  <p:cmAuthor id="33" name="Rachel啊" initials="R" lastIdx="0" clrIdx="32"/>
  <p:cmAuthor id="34" name="75493" initials="7" lastIdx="0" clrIdx="33"/>
  <p:cmAuthor id="35" name="周 洁" initials="周" lastIdx="0" clrIdx="34"/>
  <p:cmAuthor id="36" name="刘 童" initials="刘" lastIdx="0" clrIdx="35"/>
  <p:cmAuthor id="37" name="未知用户1" initials="未" lastIdx="0" clrIdx="36"/>
  <p:cmAuthor id="38" name="zy223200 zy223200" initials="zz" lastIdx="0" clrIdx="37"/>
  <p:cmAuthor id="39" name="zhang" initials="z" lastIdx="0" clrIdx="38"/>
  <p:cmAuthor id="40" name="李鹏飞_6bQfzI3a" initials="李" lastIdx="0" clrIdx="39"/>
  <p:cmAuthor id="41" name="小珞_QjMfU7FR" initials="小" lastIdx="0" clrIdx="40"/>
  <p:cmAuthor id="42" name="骆倩怡_Znauj26B" initials="authorId_382814100" lastIdx="0" clrIdx="41"/>
  <p:cmAuthor id="43" name="桑桑" initials="桑" lastIdx="0" clrIdx="42"/>
  <p:cmAuthor id="44" name="caoyue" initials="c" lastIdx="0" clrIdx="43"/>
  <p:cmAuthor id="45" name="18309297108" initials="1" lastIdx="0" clrIdx="44"/>
  <p:cmAuthor id="46" name="xmiles" initials="x" lastIdx="0" clrIdx="45"/>
  <p:cmAuthor id="47" name="Microsoft Office User" initials="MOU" lastIdx="0" clrIdx="46"/>
  <p:cmAuthor id="48" name="ibm" initials="i" lastIdx="0" clrIdx="47"/>
  <p:cmAuthor id="49" name="kobe" initials="k" lastIdx="0" clrIdx="48"/>
  <p:cmAuthor id="50" name="MIAI" initials="M" lastIdx="0" clrIdx="49"/>
  <p:cmAuthor id="51" name="HP" initials="H" lastIdx="0" clrIdx="50"/>
  <p:cmAuthor id="52" name="yangyaqin" initials="y" lastIdx="0" clrIdx="51"/>
  <p:cmAuthor id="53" name="ASUS" initials="A" lastIdx="0" clrIdx="52"/>
  <p:cmAuthor id="54" name="Yongqiang ZHOU" initials="YZ" lastIdx="0" clrIdx="53"/>
  <p:cmAuthor id="55" name="Beck_jUrevum2" initials="authorId_724972424" lastIdx="0" clrIdx="54"/>
  <p:cmAuthor id="56" name="小蕊" initials="小" lastIdx="0" clrIdx="55"/>
  <p:cmAuthor id="57" name="幸全" initials="幸全" lastIdx="0" clrIdx="56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1368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79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gs" Target="tags/tag28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微软雅黑" panose="020B050302020402020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【解析】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本题属于位置类，主要考查线形关系。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第一组的图形间关系为：圆和折线分别相离、相切、相交。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第二组前两幅图的图形间关系也符合该规律，故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？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处图形的圆和折线应相交，只有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项符合。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图形推理：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2025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年该题型考点涵盖位置类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3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道、样式类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1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道、数量类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3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道、属性类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，同时首次出现八面体类考法，不过题目难度适中，可通过常规理论知识解题。此前图形推理多围绕六面体等常规空间重构题型考查，此次新增考点体现了命题的小幅创新，且素材还融入过剪纸纹样、鲁绣图案等山东文化元素，贴合本土特色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76.【答案】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【解析】元素组成不同，且每幅图均为两个封闭图形相交而成，考虑图形间关系。观察发现，题干图形均相交于面，考虑相交面的形状。图①④⑥相交面为四边形，图②③⑤相交面为五边形，即图①④⑥为一组，图②③⑤为一组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因此本题选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67.答案：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解析:元素组成不同，且无明显属性规律，考虑数量规律。观察发现，题干图形均由直线和曲线构成，且直线和曲线出现明显相交，考虑曲直交点数。题干图形的曲直交点数均为3，故“？”处应选择有3个曲直交点的图形，只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项符合。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以单定义考查为主，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2025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年试卷中单定义有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8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道，多定义仅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道。这类题型考查的概念涵盖多个学科领域，题目表述常规，整体难度适中，解题关键在于考生抓取定义核心要件、区分易混淆选项的能力。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95.答案：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解析：“用特例”、“为自己的错误开脱”。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项：小王以那天自己身体不舒服为借口，为工作出差错开脱，符合“用特例”、“为自己的错误开脱”，符合定义，当选； 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项：小赵用总有人是最差的来安慰年终考核垫底的自己，不是特例，不符合“用特例”，不符合定义，排除；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项：小孙妈妈用孩子着急来解释小孙考试经常出现计算错误，不符合“为自己的错误开脱”，不符合定义，排除；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项：小李比赛获得二等奖，心里想再多答对一题就能获得一等奖，不符合“用特例”、“为自己的错误开脱”，不符合定义，排除。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A.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领导指出小王工作出了差错，小王说那天自己身体刚好不舒服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✅①已经被指出工作出错（言行被证明错误）；②拿「当天身体不舒服」这个特例；③用来给自己差错开脱。完全符合定义。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B.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小赵年终考核垫底，他自我安慰道，不管怎么考核，总有人是最差的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小赵没有找特例理由，是用客观必然现象自我安慰，不是拿特殊情况为自己的错误开脱。排除。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C.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老师批评小孙考试经常出现计算错误，小孙妈妈说孩子一着急就这样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主体是妈妈，不是犯错者本人为自己开脱，是第三方在解释。定义是自己为自己的错误开脱，主体不符。排除。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D.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小李超常发挥获得比赛二等奖，他心里想，再多答对一题就能得一等奖了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没有犯错，不存在被证明错误、开脱，只是遗憾。排除。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2025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年考点集中在内涵关系，占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道题，外延关系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道、语义关系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道、语法关系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1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道。值得注意的是，该题型还融入了山东方言（如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坷垃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）等地域元素，命题本土化趋势明显。整体考查既涉及基础的词语关系，也需要考生结合常识或地域知识辅助判断。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78.答案：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解析：鸭绒被和卤鸭头的原材料都来自鸭子，二者原材料一致。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项：棉花可以用来做棉被，二者为原材料与成品的对应关系，与题干逻辑关系不一致，排除；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项：铅笔芯的原材料是石墨，钻石的原材料是金刚石，二者原材料不一致，与题干逻辑关系不一致，排除；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项：人参和西洋参是两种不同的药材，二者为并列关系，与题干逻辑关系不一致，排除；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项：牛排和牛角梳的原材料都来自牛，二者原材料一致，与题干逻辑关系一致，当选。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82.答案：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解析：从微观的角度来讲，“消防栓”与“按摩椅”一个是消防设施一个是保健设备，关联不大。但二者都是物品，可以考虑命名方式，消防栓是因其具有消防的功能而命名，按摩椅是因其具有按摩的功能而命名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项：火山口是火山喷发时岩浆及其他碎屑物喷出的裂口，三江源因其是长江、黄河和澜沧江的发源地而得名，二者均不是因其具有的功能而命名，与题干逻辑关系不一致，排除；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项：金钟罩和铁布衫是中国传统武术项目，命名源于其独特的练成效果和形象比喻，二者均不是因其具有的功能而命名，与题干逻辑关系不一致，排除；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项：传染病是因其具有传染的属性而命名，不是因其具有的功能而命名，与题干逻辑关系不一致，排除；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项：助听器是因其具有助听的功能而命名，防晒霜是因其具有防晒的功能而命名，与题干逻辑关系一致，当选。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是该模块的重点难点题型，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2025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年以论证类题目为主，占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6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道题，其余为翻译推理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1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道、真假推理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2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道、归纳推理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 1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sym typeface="+mn-ea"/>
              </a:rPr>
              <a:t>道。论证类题目常结合环保政策效果、乡村教育投入等热点话题命题，重点考查考生对论点、论据的分析以及削弱、加强等逻辑思维能力；翻译推理、真假推理则侧重对逻辑规则的应用，题目难度相对可控。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104.答案：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解析：论点：健身人群长期喝蛋白粉会伤肾。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论据：当人体摄入过多的蛋白质时，肾脏必须更加努力工作以清除额外产生的含氮废物。长此以往可能会导致肾小球滤过率升高，从而增加肾脏的工作负担，加速肾脏损伤。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本题论点和论据都在讨论喝蛋白粉会伤肾，二者话题一致，削弱优先考虑削弱论点。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项：指出熬夜、劳累、高油高盐饮食等是导致肾病的主要原因，没有提及喝蛋白粉和肾病的关系，与论点讨论的健身人群长期喝蛋白粉会伤肾的话题不一致，无关选项，无法削弱，排除；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项：指出运动会使肌肉纤维发生损伤，需要更多蛋白质来修复，说明健身人群本身就需要摄入更多的蛋白质，喝蛋白粉不会给肾脏增加工作负担，也就不会伤肾，削弱论点，可以削弱，当选；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项：指出我国比欧美国家人均每日蛋白质摄入量要低，与论点讨论的健身人群长期喝蛋白粉会伤肾的话题不一致，无关选项，无法削弱，排除；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项：指出喝蛋白粉与其他摄入蛋白质方式无明显区别，只是在对比蛋白质摄入方式，没有提及和肾病的关系，与论点讨论的健身人群长期喝蛋白粉会伤肾的话题不一致，无关选项，无法削弱，排除。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A.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熬夜、劳累、高油高盐饮食等是导致肾病的主要原因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主要原因≠排除其他原因。就算别的是主因，蛋白粉依旧可以伤肾。弱另有他因，不能反驳，排除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A。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B.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运动会使肌肉纤维发生损伤，需要更多蛋白质来修复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👉关键点：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论据危害建立在「蛋白质摄入过多」。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健身人群，因为运动修复肌肉，身体的蛋白质需求本身就提高了。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此时喝蛋白粉补充的蛋白质，对他们而言，并不是 “过多的蛋白质”，而是身体所需的量。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也就不存在论据所说 “额外含氮废物、加重肾脏负担” 的前提，直接击穿论据成立的基础。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很多人会误解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B：“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需要更多，那吃多了依旧过量”。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题干结论是：健身人群喝蛋白粉这件事本身就会伤肾。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B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指出：健身群体有更高生理需求，蛋白粉补充的蛋白不属于 “过量摄入”，题干把普通人的 “过量标准” 直接套用到健身人身上，这就是论证漏洞。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C.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比起欧美国家，我国人均每日蛋白质摄入量要低不少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人均统计，和健身喝蛋白粉的个体无关，无关项，排除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D.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研究表明，喝蛋白粉与其他摄入蛋白质方式无明显区别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这道是高迷惑项。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的含义：蛋白粉和吃肉蛋奶，二者对肾脏的效果一样。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⚠️但原论据逻辑是：只要蛋白质吃多了就伤肾。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如果吃肉蛋奶吃多了也伤肾，那么蛋白粉吃多同样伤肾。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D 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仅仅说明：蛋白粉没有特殊伤害，它和别的蛋白来源一样；并不能否定健身人喝蛋白粉会摄入过量蛋白这件事。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98.答案：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解析：①冰冰获得一等奖琪琪获得二等奖；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②琪琪获得二等奖 或 依依获得二等奖鑫鑫获得三等奖 且 静静获得二等奖；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③鑫鑫获得三等奖冰冰获得二等奖 且 依依获得三等奖；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④6人均获奖，其中一等奖1人，二等奖2人，三等奖3人。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①②③可以递推出⑤：冰冰获得一等奖琪琪获得二等奖鑫鑫获得三等奖 且 静静获得二等奖冰冰获得二等奖 且 依依获得三等奖。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此时，假设“冰冰获得一等奖”成立，则可得出“琪琪获得二等奖 且 静静获得二等奖 且 冰冰获得二等奖”，和条件④“二等奖2人”自相矛盾，所以假设的“冰冰获得一等奖”不成立，即冰冰获得一等奖。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结合条件④“一等奖1人，二等奖2人，三等奖3人”，其中冰冰获得一等奖，所以其他人都未获得一等奖，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项一定为真。</a:t>
            </a:r>
            <a:endParaRPr lang="zh-CN" altLang="en-US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</a:rPr>
              <a:t>故正确答案为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</a:rPr>
              <a:t>C。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4EDBF1-BC4B-4E2F-80A7-5C0BFC3DEFB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 userDrawn="1"/>
        </p:nvSpPr>
        <p:spPr>
          <a:xfrm>
            <a:off x="545123" y="-10287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1" name="矩形 10"/>
          <p:cNvSpPr/>
          <p:nvPr userDrawn="1"/>
        </p:nvSpPr>
        <p:spPr>
          <a:xfrm>
            <a:off x="0" y="6345182"/>
            <a:ext cx="12192000" cy="524107"/>
          </a:xfrm>
          <a:prstGeom prst="rect">
            <a:avLst/>
          </a:prstGeom>
          <a:gradFill flip="none" rotWithShape="1">
            <a:gsLst>
              <a:gs pos="18000">
                <a:srgbClr val="DC5037">
                  <a:alpha val="84000"/>
                </a:srgbClr>
              </a:gs>
              <a:gs pos="51024">
                <a:srgbClr val="DC5037">
                  <a:alpha val="59000"/>
                </a:srgbClr>
              </a:gs>
              <a:gs pos="83000">
                <a:srgbClr val="DC5037">
                  <a:alpha val="10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 userDrawn="1"/>
        </p:nvSpPr>
        <p:spPr>
          <a:xfrm>
            <a:off x="479425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判断推理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5644594" y="6453345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kumimoji="1" lang="zh-CN" altLang="en-US" sz="14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微软雅黑" panose="020B0503020204020204" charset="-122"/>
              </a:rPr>
              <a:t>陆羽老师</a:t>
            </a:r>
            <a:endParaRPr kumimoji="1" lang="zh-CN" altLang="en-US" sz="14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DC5037">
                <a:alpha val="42000"/>
              </a:srgbClr>
            </a:gs>
            <a:gs pos="67000">
              <a:srgbClr val="DC5037">
                <a:alpha val="10000"/>
              </a:srgb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占位符 10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3020204020204" charset="-122"/>
          <a:ea typeface="微软雅黑" panose="020B0503020204020204" charset="-122"/>
          <a:cs typeface="微软雅黑" panose="020B0503020204020204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1" Type="http://schemas.openxmlformats.org/officeDocument/2006/relationships/tags" Target="../tags/tag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843188" y="2364919"/>
            <a:ext cx="6576647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kumimoji="1" lang="en-US" alt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2027</a:t>
            </a:r>
            <a:endParaRPr kumimoji="1" lang="zh-CN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kumimoji="1" lang="zh-CN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浙江考情分析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44561" y="4253018"/>
            <a:ext cx="250287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2000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主讲老师：陆羽老师</a:t>
            </a:r>
            <a:endParaRPr kumimoji="1" lang="zh-CN" altLang="en-US" sz="2000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1703705" y="846455"/>
          <a:ext cx="8714740" cy="3459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685"/>
                <a:gridCol w="2178685"/>
                <a:gridCol w="2178685"/>
                <a:gridCol w="2178685"/>
              </a:tblGrid>
              <a:tr h="5765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题型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卷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卷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卷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5765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类比推理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8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5765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图形推理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5765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逻辑推理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10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5765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定义判断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  <a:tr h="5765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合计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40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35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35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18435" name="文本框 4"/>
          <p:cNvSpPr txBox="1"/>
          <p:nvPr/>
        </p:nvSpPr>
        <p:spPr>
          <a:xfrm>
            <a:off x="3198495" y="4601528"/>
            <a:ext cx="5724525" cy="49149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257175" indent="-257175" defTabSz="309880" eaLnBrk="1" hangingPunct="1">
              <a:lnSpc>
                <a:spcPct val="130000"/>
              </a:lnSpc>
              <a:buFont typeface="Wingdings" panose="05000000000000000000" pitchFamily="2" charset="2"/>
              <a:buChar char="u"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Helvetica Light" charset="0"/>
              </a:rPr>
              <a:t>差异：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Helvetica Light" charset="0"/>
              </a:rPr>
              <a:t>A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Helvetica Light" charset="0"/>
              </a:rPr>
              <a:t>卷与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Helvetica Light" charset="0"/>
              </a:rPr>
              <a:t>B/C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Helvetica Light" charset="0"/>
              </a:rPr>
              <a:t>卷题量略有差异，考点一致</a:t>
            </a:r>
            <a:endParaRPr lang="zh-CN" altLang="en-US" sz="20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Helvetica Light" charset="0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604520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zh-CN" sz="2800" b="1" dirty="0">
                <a:solidFill>
                  <a:srgbClr val="FF653F"/>
                </a:solidFill>
              </a:rPr>
              <a:t>浙江判断考情分析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6300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en-US" altLang="zh-CN" sz="2800" b="1" dirty="0">
                <a:solidFill>
                  <a:srgbClr val="FF653F"/>
                </a:solidFill>
              </a:rPr>
              <a:t>A</a:t>
            </a:r>
            <a:r>
              <a:rPr kumimoji="1" lang="zh-CN" altLang="en-US" sz="2800" b="1" dirty="0">
                <a:solidFill>
                  <a:srgbClr val="FF653F"/>
                </a:solidFill>
              </a:rPr>
              <a:t>卷</a:t>
            </a:r>
            <a:r>
              <a:rPr kumimoji="1" lang="zh-CN" sz="2800" b="1" dirty="0">
                <a:solidFill>
                  <a:srgbClr val="FF653F"/>
                </a:solidFill>
              </a:rPr>
              <a:t>图形推理题型题量分布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876300" y="812800"/>
          <a:ext cx="10029190" cy="330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28"/>
                <a:gridCol w="1189847"/>
                <a:gridCol w="1189847"/>
                <a:gridCol w="1474156"/>
                <a:gridCol w="1473037"/>
                <a:gridCol w="1473038"/>
                <a:gridCol w="1473037"/>
              </a:tblGrid>
              <a:tr h="55118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endParaRPr lang="en-US" altLang="zh-CN" sz="2000" b="1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2026</a:t>
                      </a:r>
                      <a:endParaRPr lang="en-US" altLang="zh-CN" sz="2000" b="1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2025</a:t>
                      </a:r>
                      <a:endParaRPr lang="en-US" altLang="zh-CN" sz="2000" b="1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2024</a:t>
                      </a:r>
                      <a:endParaRPr lang="en-US" altLang="zh-CN" sz="2000" b="1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2023</a:t>
                      </a:r>
                      <a:endParaRPr lang="en-US" altLang="zh-CN" sz="2000" b="1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2022</a:t>
                      </a:r>
                      <a:endParaRPr lang="en-US" altLang="zh-CN" sz="2000" b="1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solidFill>
                            <a:schemeClr val="dk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2021</a:t>
                      </a:r>
                      <a:endParaRPr lang="en-US" altLang="zh-CN" sz="2000" b="1">
                        <a:solidFill>
                          <a:schemeClr val="dk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5118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位置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类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5118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样式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类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5118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数量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类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5118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重构类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5118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总计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965835" y="4467860"/>
            <a:ext cx="10387965" cy="1576070"/>
          </a:xfrm>
          <a:prstGeom prst="rect">
            <a:avLst/>
          </a:prstGeom>
        </p:spPr>
        <p:txBody>
          <a:bodyPr wrap="square">
            <a:noAutofit/>
          </a:bodyPr>
          <a:p>
            <a:pPr indent="0" fontAlgn="auto">
              <a:lnSpc>
                <a:spcPct val="15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zh-CN" sz="2000" b="0" i="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浙江一直都非常中规中矩，跟国考或省联考的考情、难度、知识点分布等非常一致</a:t>
            </a:r>
            <a:endParaRPr lang="en-US" altLang="zh-CN" sz="2000" b="0" i="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694690" y="496570"/>
            <a:ext cx="10803255" cy="563118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1.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把下面的六个图形分为两类，使每一类图形都有各自的共同特征或规律，分类正确的一项是：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endParaRPr lang="en-US" altLang="zh-CN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endParaRPr lang="en-US" altLang="zh-CN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endParaRPr lang="en-US" altLang="zh-CN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endParaRPr lang="en-US" altLang="zh-CN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endParaRPr lang="en-US" altLang="zh-CN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endParaRPr lang="en-US" altLang="zh-CN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A.①②③，④⑤⑥			B.①②⑥，③④⑤</a:t>
            </a:r>
            <a:endParaRPr lang="en-US" altLang="zh-CN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C.①④⑥，②③⑤			D.①⑤⑥，②③④</a:t>
            </a:r>
            <a:endParaRPr lang="en-US" altLang="zh-CN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</p:txBody>
      </p:sp>
      <p:pic>
        <p:nvPicPr>
          <p:cNvPr id="26" name="图片 6" descr="IMG_26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110" y="2090420"/>
            <a:ext cx="10178415" cy="24428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694690" y="496570"/>
            <a:ext cx="10803255" cy="119888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2.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从所给的四个选项中，选择最合适的一个填入问号处，使之呈现一定的规律性：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</p:txBody>
      </p:sp>
      <p:pic>
        <p:nvPicPr>
          <p:cNvPr id="137" name="图片 102" descr="IMG_2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115" y="1570355"/>
            <a:ext cx="8829040" cy="41065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8175" y="26035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en-US" altLang="zh-CN" sz="2800" b="1" dirty="0">
                <a:solidFill>
                  <a:srgbClr val="FF653F"/>
                </a:solidFill>
              </a:rPr>
              <a:t>A</a:t>
            </a:r>
            <a:r>
              <a:rPr kumimoji="1" lang="zh-CN" altLang="en-US" sz="2800" b="1" dirty="0">
                <a:solidFill>
                  <a:srgbClr val="FF653F"/>
                </a:solidFill>
              </a:rPr>
              <a:t>卷</a:t>
            </a:r>
            <a:r>
              <a:rPr kumimoji="1" lang="zh-CN" sz="2800" b="1" dirty="0">
                <a:solidFill>
                  <a:srgbClr val="FF653F"/>
                </a:solidFill>
              </a:rPr>
              <a:t>定义判断题型题量分布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1771650" y="890905"/>
          <a:ext cx="8530590" cy="12147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656"/>
                <a:gridCol w="1218655"/>
                <a:gridCol w="1218656"/>
                <a:gridCol w="1218656"/>
                <a:gridCol w="1218656"/>
                <a:gridCol w="1218655"/>
                <a:gridCol w="1218656"/>
              </a:tblGrid>
              <a:tr h="45275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2021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单定义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多定义</a:t>
                      </a:r>
                      <a:endParaRPr lang="zh-CN" altLang="en-US" b="1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694690" y="496570"/>
            <a:ext cx="10803255" cy="507746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3.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片面谬误是指用特例为自己的错误开脱。人们都不喜欢被证明自己的言行是错误的，所以当他们被证明是错误的时候，总会想办法给自己找理由。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根据上述定义，下列属于片面谬误的是：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A.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领导指出小王工作出了差错，小王说那天自己身体刚好不舒服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B.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小赵年终考核垫底，他自我安慰道，不管怎么考核，总有人是最差的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C.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老师批评小孙考试经常出现计算错误，小孙妈妈说孩子一着急就这样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D.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小李超常发挥获得比赛二等奖，他心里想，再多答对一题就能得一等奖了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7075" y="0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en-US" altLang="zh-CN" sz="2800" b="1" dirty="0">
                <a:solidFill>
                  <a:srgbClr val="FF653F"/>
                </a:solidFill>
              </a:rPr>
              <a:t>A</a:t>
            </a:r>
            <a:r>
              <a:rPr kumimoji="1" lang="zh-CN" altLang="en-US" sz="2800" b="1" dirty="0">
                <a:solidFill>
                  <a:srgbClr val="FF653F"/>
                </a:solidFill>
              </a:rPr>
              <a:t>卷</a:t>
            </a:r>
            <a:r>
              <a:rPr kumimoji="1" lang="zh-CN" sz="2800" b="1" dirty="0">
                <a:solidFill>
                  <a:srgbClr val="FF653F"/>
                </a:solidFill>
              </a:rPr>
              <a:t>类比推理题型题量分布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925830" y="832485"/>
          <a:ext cx="10317480" cy="3871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3926"/>
                <a:gridCol w="1473925"/>
                <a:gridCol w="1473926"/>
                <a:gridCol w="1473926"/>
                <a:gridCol w="1473926"/>
                <a:gridCol w="1473925"/>
                <a:gridCol w="1473926"/>
              </a:tblGrid>
              <a:tr h="553085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53085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包容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53085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并列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0.5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53085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交叉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53085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映射类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53085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语义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语法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2.5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53085"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总计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lnSpc>
                          <a:spcPct val="130000"/>
                        </a:lnSpc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694690" y="496570"/>
            <a:ext cx="10803255" cy="286131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4.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鸭绒被：卤鸭头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A.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棉花：棉被	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B.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铅笔芯：钻石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C.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人参：西洋参	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D.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牛排：牛角梳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694690" y="496570"/>
            <a:ext cx="10803255" cy="286131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5.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消防栓：按摩椅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A.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火山口：三江源	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B.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金钟罩：铁布衫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C.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传染病：急救车	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D.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助听器：防晒霜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8185" y="-24765"/>
            <a:ext cx="10515600" cy="708025"/>
          </a:xfrm>
        </p:spPr>
        <p:txBody>
          <a:bodyPr/>
          <a:lstStyle/>
          <a:p>
            <a:pPr algn="ctr">
              <a:buClrTx/>
              <a:buSzTx/>
              <a:buFontTx/>
            </a:pPr>
            <a:r>
              <a:rPr kumimoji="1" lang="en-US" altLang="zh-CN" sz="2800" b="1" dirty="0">
                <a:solidFill>
                  <a:srgbClr val="FF653F"/>
                </a:solidFill>
              </a:rPr>
              <a:t>A</a:t>
            </a:r>
            <a:r>
              <a:rPr kumimoji="1" lang="zh-CN" altLang="en-US" sz="2800" b="1" dirty="0">
                <a:solidFill>
                  <a:srgbClr val="FF653F"/>
                </a:solidFill>
              </a:rPr>
              <a:t>卷</a:t>
            </a:r>
            <a:r>
              <a:rPr kumimoji="1" lang="zh-CN" sz="2800" b="1" dirty="0">
                <a:solidFill>
                  <a:srgbClr val="FF653F"/>
                </a:solidFill>
              </a:rPr>
              <a:t>逻辑判断题型题量分布</a:t>
            </a:r>
            <a:endParaRPr kumimoji="1" lang="zh-CN" sz="2800" b="1" dirty="0">
              <a:solidFill>
                <a:srgbClr val="FF653F"/>
              </a:solidFill>
            </a:endParaRPr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485775" y="598805"/>
          <a:ext cx="10942320" cy="4291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189"/>
                <a:gridCol w="1563188"/>
                <a:gridCol w="1563189"/>
                <a:gridCol w="1563188"/>
                <a:gridCol w="1563189"/>
                <a:gridCol w="1563188"/>
                <a:gridCol w="1563189"/>
              </a:tblGrid>
              <a:tr h="476885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2021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论证类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4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分析推理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6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7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3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翻译推理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真假推理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原因</a:t>
                      </a: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解释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2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平行结构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归纳推理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4768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总计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15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10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694690" y="496570"/>
            <a:ext cx="10803255" cy="452310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6.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当人体摄入过多的蛋白质时，肾脏必须更加努力工作以清除额外产生的含氮废物。长此以往可能会导致肾小球滤过率升高，从而增加肾脏的工作负担，加速肾脏损伤。因此有人认为，健身人群长期喝蛋白粉会伤肾。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以下哪项如果为真，最能反驳上述观点？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A.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熬夜、劳累、高油高盐饮食等是导致肾病的主要原因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B.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运动会使肌肉纤维发生损伤，需要更多蛋白质来修复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C.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比起欧美国家，我国人均每日蛋白质摄入量要低不少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D.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研究表明，喝蛋白粉与其他摄入蛋白质方式无明显区别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>
            <p:custDataLst>
              <p:tags r:id="rId1"/>
            </p:custDataLst>
          </p:nvPr>
        </p:nvSpPr>
        <p:spPr>
          <a:xfrm>
            <a:off x="694690" y="496570"/>
            <a:ext cx="10803255" cy="507746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7.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某校举办演讲比赛，琪琪、依依、冰冰、鑫鑫、磊磊、静静6人均获了奖，其中一等奖1人，二等奖2人，三等奖3人。已知：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(1)除非琪琪获得二等奖，否则冰冰获得一等奖；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(2)只有鑫鑫获得三等奖且静静获得二等奖，琪琪和依依才能至少有一人获得二等奖；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(3)如果鑫鑫获得三等奖，那么冰冰获得二等奖，且依依不是三等奖。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根据上述信息，以下哪项一定为真？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A.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冰冰未获得一等奖	</a:t>
            </a: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B.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琪琪获得二等奖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  <a:p>
            <a:pPr indent="0" fontAlgn="auto">
              <a:lnSpc>
                <a:spcPct val="150000"/>
              </a:lnSpc>
              <a:defRPr sz="7400" spc="200">
                <a:solidFill>
                  <a:srgbClr val="000000"/>
                </a:solidFill>
              </a:defRPr>
            </a:pP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C.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鑫鑫未获得一等奖	</a:t>
            </a:r>
            <a:r>
              <a:rPr lang="en-US" altLang="zh-CN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D.</a:t>
            </a:r>
            <a:r>
              <a:rPr lang="zh-CN" altLang="en-US" sz="2400" spc="200" dirty="0">
                <a:solidFill>
                  <a:srgbClr val="000000"/>
                </a:solidFill>
                <a:latin typeface="+mn-ea"/>
                <a:cs typeface="楷体" panose="02010609060101010101" charset="-122"/>
                <a:sym typeface="楷体" panose="02010609060101010101" charset="-122"/>
              </a:rPr>
              <a:t>磊磊获得三等奖</a:t>
            </a:r>
            <a:endParaRPr lang="zh-CN" altLang="en-US" sz="2400" spc="200" dirty="0">
              <a:solidFill>
                <a:srgbClr val="000000"/>
              </a:solidFill>
              <a:latin typeface="+mn-ea"/>
              <a:cs typeface="楷体" panose="02010609060101010101" charset="-122"/>
              <a:sym typeface="楷体" panose="02010609060101010101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62485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44561" y="2711751"/>
            <a:ext cx="279595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4400" b="1" dirty="0">
                <a:solidFill>
                  <a:srgbClr val="DC503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感谢收看！</a:t>
            </a:r>
            <a:endParaRPr kumimoji="1" lang="zh-CN" altLang="en-US" sz="4400" b="1" dirty="0">
              <a:solidFill>
                <a:srgbClr val="DC503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7.xml><?xml version="1.0" encoding="utf-8"?>
<p:tagLst xmlns:p="http://schemas.openxmlformats.org/presentationml/2006/main">
  <p:tag name="TABLE_ENDDRAG_ORIGIN_RECT" val="686*272"/>
  <p:tag name="TABLE_ENDDRAG_RECT" val="134*160*686*272"/>
</p:tagLst>
</file>

<file path=ppt/tags/tag18.xml><?xml version="1.0" encoding="utf-8"?>
<p:tagLst xmlns:p="http://schemas.openxmlformats.org/presentationml/2006/main">
  <p:tag name="TABLE_ENDDRAG_ORIGIN_RECT" val="789*303"/>
  <p:tag name="TABLE_ENDDRAG_RECT" val="69*64*789*303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TABLE_ENDDRAG_ORIGIN_RECT" val="812*261"/>
  <p:tag name="TABLE_ENDDRAG_RECT" val="72*65*812*261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TABLE_ENDDRAG_ORIGIN_RECT" val="861*300"/>
  <p:tag name="TABLE_ENDDRAG_RECT" val="38*47*861*300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resource_record_key" val="{&quot;13&quot;:[20481828,4364903,4364924],&quot;65&quot;:[20205081]}"/>
  <p:tag name="COMMONDATA" val="eyJoZGlkIjoiYzg3MDM0ZWQ4YjU1N2M3YWUwMzk3ZjZkYThmOGJjZTM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1341</Words>
  <Application>WPS 演示</Application>
  <PresentationFormat>宽屏</PresentationFormat>
  <Paragraphs>424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微软雅黑 Light</vt:lpstr>
      <vt:lpstr>Wingdings</vt:lpstr>
      <vt:lpstr>Helvetica Light</vt:lpstr>
      <vt:lpstr>Arial</vt:lpstr>
      <vt:lpstr>楷体</vt:lpstr>
      <vt:lpstr>Arial Unicode MS</vt:lpstr>
      <vt:lpstr>Office 主题​​</vt:lpstr>
      <vt:lpstr>WPS</vt:lpstr>
      <vt:lpstr>PowerPoint 演示文稿</vt:lpstr>
      <vt:lpstr>浙江判断考情分析</vt:lpstr>
      <vt:lpstr>A卷图形推理题型题量分布</vt:lpstr>
      <vt:lpstr>PowerPoint 演示文稿</vt:lpstr>
      <vt:lpstr>PowerPoint 演示文稿</vt:lpstr>
      <vt:lpstr>A卷定义判断题型题量分布</vt:lpstr>
      <vt:lpstr>PowerPoint 演示文稿</vt:lpstr>
      <vt:lpstr>A卷类比推理题型题量分布</vt:lpstr>
      <vt:lpstr>PowerPoint 演示文稿</vt:lpstr>
      <vt:lpstr>PowerPoint 演示文稿</vt:lpstr>
      <vt:lpstr>A卷逻辑判断题型题量分布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桑桑</cp:lastModifiedBy>
  <cp:revision>198</cp:revision>
  <dcterms:created xsi:type="dcterms:W3CDTF">2019-06-19T02:08:00Z</dcterms:created>
  <dcterms:modified xsi:type="dcterms:W3CDTF">2026-08-20T10:45:37Z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7E0F0589F6D94CFE8A4BC2AEA01394FF_11</vt:lpwstr>
  </property>
</Properties>
</file>