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27"/>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7" r:id="rId21"/>
    <p:sldId id="1378" r:id="rId22"/>
    <p:sldId id="1379" r:id="rId23"/>
    <p:sldId id="1380" r:id="rId24"/>
    <p:sldId id="1381" r:id="rId25"/>
    <p:sldId id="992" r:id="rId26"/>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3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【解析】元素组成相似，优先考虑样式规律。题干图形轮廓和分割区域相同，黑块数量不同，优先考虑黑白运算。九宫格横向看无规律，考虑纵向看，观察第一列发现，运算规律为：黑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黑，白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白；经验证，第二列符合此规律；第三列应用此规律，只有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【解析】元素组成相同，但无明显位置规律，考虑数量规律。观察发现，题干图形中的两条直线共经过了</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个格子，故？处应选择两条直线共经过</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个格子的图形，只有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48.</a:t>
            </a:r>
            <a:r>
              <a:rPr lang="zh-CN" altLang="en-US" dirty="0">
                <a:effectLst/>
                <a:latin typeface="+mn-lt"/>
                <a:sym typeface="+mn-ea"/>
              </a:rPr>
              <a:t>【答案】</a:t>
            </a:r>
            <a:r>
              <a:rPr lang="en-US" altLang="zh-CN" dirty="0">
                <a:effectLst/>
                <a:latin typeface="+mn-lt"/>
                <a:sym typeface="+mn-ea"/>
              </a:rPr>
              <a:t>A</a:t>
            </a:r>
            <a:endParaRPr lang="en-US" altLang="zh-CN" kern="1200" dirty="0">
              <a:solidFill>
                <a:schemeClr val="tx1"/>
              </a:solidFill>
              <a:effectLst/>
              <a:latin typeface="+mn-lt"/>
              <a:sym typeface="+mn-ea"/>
            </a:endParaRPr>
          </a:p>
          <a:p>
            <a:r>
              <a:rPr lang="zh-CN" altLang="en-US" dirty="0">
                <a:effectLst/>
                <a:latin typeface="+mn-lt"/>
                <a:sym typeface="+mn-ea"/>
              </a:rPr>
              <a:t>【解析】由题干可知，正方形卡片沿对角线折叠两次后依照虚线进行裁剪，裁剪后再展开的图案至少有两条相互垂直的对称轴，即该图案应为既轴对称又中心对称图形，如下图所示，只有</a:t>
            </a:r>
            <a:r>
              <a:rPr lang="en-US" altLang="zh-CN" dirty="0">
                <a:effectLst/>
                <a:latin typeface="+mn-lt"/>
                <a:sym typeface="+mn-ea"/>
              </a:rPr>
              <a:t>A</a:t>
            </a:r>
            <a:r>
              <a:rPr lang="zh-CN" altLang="en-US" dirty="0">
                <a:effectLst/>
                <a:latin typeface="+mn-lt"/>
                <a:sym typeface="+mn-ea"/>
              </a:rPr>
              <a:t>项符合。</a:t>
            </a:r>
            <a:endParaRPr lang="zh-CN" altLang="en-US" kern="1200" dirty="0">
              <a:solidFill>
                <a:schemeClr val="tx1"/>
              </a:solidFill>
              <a:effectLst/>
              <a:latin typeface="+mn-lt"/>
              <a:sym typeface="+mn-ea"/>
            </a:endParaRPr>
          </a:p>
          <a:p>
            <a:endParaRPr lang="en-US" altLang="zh-CN" kern="1200" dirty="0">
              <a:solidFill>
                <a:schemeClr val="tx1"/>
              </a:solidFill>
              <a:effectLst/>
              <a:latin typeface="+mn-lt"/>
              <a:sym typeface="+mn-ea"/>
            </a:endParaRPr>
          </a:p>
          <a:p>
            <a:r>
              <a:rPr lang="zh-CN" altLang="en-US" dirty="0">
                <a:effectLst/>
                <a:latin typeface="+mn-lt"/>
                <a:sym typeface="+mn-ea"/>
              </a:rPr>
              <a:t>故正确答案为</a:t>
            </a:r>
            <a:r>
              <a:rPr lang="en-US" altLang="zh-CN" dirty="0">
                <a:effectLst/>
                <a:latin typeface="+mn-lt"/>
                <a:sym typeface="+mn-ea"/>
              </a:rPr>
              <a:t>A</a:t>
            </a:r>
            <a:r>
              <a:rPr lang="zh-CN" altLang="en-US" dirty="0">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【解析】本题考查三视图。如下图所示，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三项按图中箭头方向观察，均可看到。</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项可按下图中箭头方向观察，但视图应如下图所示，上半部分的右侧应存在曲线，下半部分应为矩形，而非曲线图形，</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项图形错误，不是该立体图形视图，当选。</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【解析】本题考查立体拼合。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项：如下图所示，可以由两个左侧立体图形拼接成，排除；</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项：如下图所示，可以由两个左侧立体图形拼接成，排除；</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项：如下图所示，可以由两个左侧立体图形拼接成，排除；</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项：左侧立体图形为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个小方块，由两个左侧立体图形拼接成的立体图形应为</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个小方块，而该项只有</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个小方块，无法由两个左侧立体图形拼接成，当选。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鱼类资源枯竭；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）鱼类资源枯竭</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渔民的渔业生涯终结；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）渔民的收入得到保障</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鱼类资源良性循环（即：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鱼类资源枯竭）；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）串联可得（</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鱼类资源枯竭</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渔民的渔业生涯终结；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）逆否和（</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）串联可得（</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鱼类资源枯竭</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渔民的收入得到保障。</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渔民的收入得到保障，是对（</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）的否前，否前无必然结论，无法推出，排除；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渔民的渔业生涯终结</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禁止在鱼类繁衍季节捕鱼，是对（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）的否后，否后必否前，可以推出，当选；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渔民的收入得到保障</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鱼类资源良性循环，是对（</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）的肯后，肯后无必然结论，无法推出，排除。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【解析】越来越多的消费者习惯查看商家的好评率再作出消费选择，一直以来，甲餐厅的好评率始终略高于乙餐厅，但是乙餐厅的日营业额却远远超过甲餐厅。</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项：该项指出与乙餐厅相比，甲餐厅有更多的常客，甲餐厅常客多，按理说甲餐厅的日营业额应该更多，不能解释为什么乙餐厅的日营业额却远远超过甲餐厅，不能解释题干矛盾，排除；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项：该项指出乙餐厅的人均消费金额远高于甲餐厅，日营业额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人均消费金额</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日消费人次，即使甲餐厅的好评率高，但乙餐厅的平均交易单价远高于甲餐厅，人均消费金额较高可能导致乙餐厅的日营业额远远超过甲餐厅，可以解释题干矛盾，当选；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甲餐厅无法为消费者提供免费停车服务，但不清楚乙餐厅是否有免费停车服务，不能解释为什么甲餐厅的好评率始终略高于乙餐厅，但是乙餐厅的日营业额却远远超过甲餐厅，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许多消费者在平台上表达了对乙餐厅菜品的喜爱，只能说明有消费者喜欢乙餐厅，不能解释为什么甲餐厅的好评率始终略高于乙餐厅，但是乙餐厅的日营业额却远远超过甲餐厅，不能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矛盾点：甲餐厅好评率更高，但乙餐厅日营业额远超甲。</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营业额 = 客流量 × 人均消费。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甲常客更多，无法解释乙营业额更高，排除。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乙人均消费远高于甲，即便好评率低、客流未必占优，也能拉开营业额差距，完美解释矛盾，当选。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甲无免费停车，仅说明甲有短板，无法量化解释营业额差距，力度弱。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消费者喜爱乙菜品，只能侧面说明口碑，不能直接解释营业额差异，排除。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【解析】论点：直播带货中违法现象将有所减少。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论据：针对直播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乱象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，相关部门拓宽了消费者的投诉渠道。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直播带货中违法现象将有所减少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，论据讨论的是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拓宽了消费者的投诉渠道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，二者话题不一致，加强优先考虑搭桥，即在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拓宽投诉渠道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违法现象减少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项：该项指出拓宽消费者投诉渠道有助于遏制直播带货中的违法现象，即在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拓宽投诉渠道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违法现象减少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之间建立了联系，为搭桥项，可以加强，当选；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项：该项指出投诉能促使平台把关产品质量，而论点讨论的是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直播带货中违法现象将有所减少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项：该项指出从事直播带货经营活动需要承担相应的法律责任，而论点讨论的是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直播带货中违法现象将有所减少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项：该项指出所有消费者都能准确识别侵权行为，而论点讨论的是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直播带货中违法现象将有所减少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，话题不一致，无法加强，排除。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论据：相关部门拓宽了投诉渠道。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结论：直播带货违法现象会减少。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题干存在逻辑断层，需要搭建 “拓宽投诉渠道” 和 “违法现象减少” 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直接指出拓宽投诉渠道能够遏制违法行为，是论证成立的必要前提，当选。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投诉倒逼平台把控质量，属于间接推导，并非题干推理必需的前提。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经营需担法律责任，和 “拓宽投诉渠道→乱象减少” 的逻辑无关，排除。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所有消费者都能识别侵权” 表述绝对，且不是推理成立的必要条件，排除。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【解析】通宵学习室很受欢迎，但</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个月后由于使用人数变少被关闭。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项：只能说明有的学生不认同通宵学习，但并没有说明使用通宵学习室的人数为什么</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个月后大幅减少，不能解释题干矛盾，排除；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项：通宵学习室容纳学生有限是一直存在的现象，但并没有说明通宵学习室为什么开始受欢迎但</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个月后人数大幅减少，不能解释题干矛盾，排除；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项：图书馆要配备专门的管理人员，是针对图书馆管理方面的，但并没有说明使用通宵学习室的人数为什么</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个月后大幅减少，不能解释题干矛盾，排除；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项：通宵学习的学生大多备考</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月的考试，因此</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个月后，大多数的学生不再需要通宵学习，因此也就很好地解释了为什么</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个月后使用人数会大幅减少，可以解释题干矛盾，当选。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矛盾：通宵室起初很受欢迎，4 个月后使用人数锐减，最终被关闭。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认为通宵学习不可持续，无法解释前期受欢迎、后期突然人数大减，排除。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座位少是一直存在的问题，不会出现 “先火爆、后骤减”，排除。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需要配备管理员，只说明运营成本，和使用人数变化无关，排除。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学生大多为备考 12 月研究生考试而来，考试结束后，这批主力人群不再通宵学习，人数自然大幅下降，完美解释现象，当选。</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小张。去掉相同项可知：</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小杨，即小李</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小王。去掉相同项可知：</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小杨，即小张</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a:t>
            </a:r>
            <a:r>
              <a:rPr lang="en-US" altLang="zh-CN" sz="1200" kern="1200" dirty="0">
                <a:solidFill>
                  <a:schemeClr val="tx1"/>
                </a:solidFill>
                <a:effectLst/>
                <a:latin typeface="+mn-lt"/>
                <a:sym typeface="+mn-ea"/>
              </a:rPr>
              <a:t>+</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小张。去掉相同项可知：</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小王</a:t>
            </a:r>
            <a:r>
              <a:rPr lang="en-US" altLang="zh-CN" sz="1200" kern="1200" dirty="0">
                <a:solidFill>
                  <a:schemeClr val="tx1"/>
                </a:solidFill>
                <a:effectLst/>
                <a:latin typeface="+mn-lt"/>
                <a:sym typeface="+mn-ea"/>
              </a:rPr>
              <a:t>&gt;2</a:t>
            </a:r>
            <a:r>
              <a:rPr lang="zh-CN" altLang="en-US" sz="1200" kern="1200" dirty="0">
                <a:solidFill>
                  <a:schemeClr val="tx1"/>
                </a:solidFill>
                <a:effectLst/>
                <a:latin typeface="+mn-lt"/>
                <a:sym typeface="+mn-ea"/>
              </a:rPr>
              <a:t>小杨，即小王</a:t>
            </a:r>
            <a:r>
              <a:rPr lang="en-US" altLang="zh-CN" sz="1200" kern="1200" dirty="0">
                <a:solidFill>
                  <a:schemeClr val="tx1"/>
                </a:solidFill>
                <a:effectLst/>
                <a:latin typeface="+mn-lt"/>
                <a:sym typeface="+mn-ea"/>
              </a:rPr>
              <a:t>&gt;</a:t>
            </a:r>
            <a:r>
              <a:rPr lang="zh-CN" altLang="en-US" sz="1200" kern="1200" dirty="0">
                <a:solidFill>
                  <a:schemeClr val="tx1"/>
                </a:solidFill>
                <a:effectLst/>
                <a:latin typeface="+mn-lt"/>
                <a:sym typeface="+mn-ea"/>
              </a:rPr>
              <a:t>小杨。</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小李、小张、小王的得分均大于小杨，即小杨得分最低。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【解析】论点：年轻人都应该读《红楼梦》。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论据：读《红楼梦》有助于了解中国传统文化。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本题论点讨论的是年轻人都应该读《红楼梦》，论据讨论的是读《红楼梦》有助于了解中国传统文化，二者话题不一致，且提问方式为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，加强优先考虑搭桥，即在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年轻人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了解中国传统文化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之间建立联系。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项：该项指出《红楼梦》是中国古典文学著作，与论点中年轻人应该读《红楼梦》无关，话题不一致，无法加强，排除；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项：该项指出年轻人都应该了解中国传统文化，建立了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年轻人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了解中国传统文化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之间的关系，为搭桥项，可以加强，保留；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项：该项指出大部分学者都读过《红楼梦》，与论点中年轻人应该读《红楼梦》无关，话题不一致，无法加强，排除；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项：该项指出《红楼梦》与中国文化相辅相成，能够支持读《红楼梦》的确有助于了解中国文化，补充论据，可以加强，保留。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项的搭桥加强力度大于</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项的补充论据，</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【解析】题干翻译为：水火</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无情，人不是水火（即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），所以，人不是无情的（即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否前推否后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项：选项翻译为：羊</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白色，羊毛是白色的（即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），所以，羊毛是羊（即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肯后推肯前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，所犯逻辑错误与题干不一致，排除；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项：选项翻译为：蛋糕</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蛋糕里面添加了鸡蛋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无法翻译，与题干结构不同，所犯逻辑错误与题干不一致，排除；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项：选项翻译为：水星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星球，水星</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没人类；地球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星球，所以，地球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没人类，逻辑结构为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错误类比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，所犯逻辑错误与题干不一致，排除；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项：选项翻译为：不遵守规则的司机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被处罚，司机小陈遵守规则（即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），所以，他不会被处罚（即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），逻辑结构为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否前推否后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，所犯逻辑错误与题干一致，当选。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甲不会演奏钢琴；</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丁不会演奏古筝；</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丙不会演奏钢琴和小提琴；</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乙和丙会演奏的乐器中有且仅有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种相同；</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每人都会演奏钢琴、小提琴、二胡和古筝中的</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种，每种乐器都有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人会演奏。</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第二步：根据题干条件进行推理。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en-US" sz="1200" kern="1200" dirty="0">
                <a:solidFill>
                  <a:schemeClr val="tx1"/>
                </a:solidFill>
                <a:effectLst/>
                <a:latin typeface="+mn-lt"/>
                <a:sym typeface="+mn-ea"/>
              </a:rPr>
              <a:t>①③</a:t>
            </a:r>
            <a:r>
              <a:rPr lang="zh-CN" altLang="en-US" sz="1200" kern="1200" dirty="0">
                <a:solidFill>
                  <a:schemeClr val="tx1"/>
                </a:solidFill>
                <a:effectLst/>
                <a:latin typeface="+mn-lt"/>
                <a:sym typeface="+mn-ea"/>
              </a:rPr>
              <a:t>可知，甲、丙不会演奏钢琴，结合条件</a:t>
            </a:r>
            <a:r>
              <a:rPr lang="en-US" altLang="en-US" sz="1200" kern="1200" dirty="0">
                <a:solidFill>
                  <a:schemeClr val="tx1"/>
                </a:solidFill>
                <a:effectLst/>
                <a:latin typeface="+mn-lt"/>
                <a:sym typeface="+mn-ea"/>
              </a:rPr>
              <a:t>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每种乐器都有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人会演奏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可知，乙、丁会演奏钢琴。根据条件</a:t>
            </a:r>
            <a:r>
              <a:rPr lang="en-US" altLang="en-US" sz="1200" kern="1200" dirty="0">
                <a:solidFill>
                  <a:schemeClr val="tx1"/>
                </a:solidFill>
                <a:effectLst/>
                <a:latin typeface="+mn-lt"/>
                <a:sym typeface="+mn-ea"/>
              </a:rPr>
              <a:t>③⑤</a:t>
            </a:r>
            <a:r>
              <a:rPr lang="zh-CN" altLang="en-US" sz="1200" kern="1200" dirty="0">
                <a:solidFill>
                  <a:schemeClr val="tx1"/>
                </a:solidFill>
                <a:effectLst/>
                <a:latin typeface="+mn-lt"/>
                <a:sym typeface="+mn-ea"/>
              </a:rPr>
              <a:t>可知，丙会演奏二胡、古筝，结合条件</a:t>
            </a:r>
            <a:r>
              <a:rPr lang="en-US" altLang="en-US" sz="1200" kern="1200" dirty="0">
                <a:solidFill>
                  <a:schemeClr val="tx1"/>
                </a:solidFill>
                <a:effectLst/>
                <a:latin typeface="+mn-lt"/>
                <a:sym typeface="+mn-ea"/>
              </a:rPr>
              <a:t>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乙和丙会演奏的乐器中有且仅有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种相同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可知，乙会演奏二胡或古筝，又已知乙会演奏钢琴，且每人只会演奏</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种乐器，那么乙一定不会演奏小提琴，结合条件</a:t>
            </a:r>
            <a:r>
              <a:rPr lang="en-US" altLang="en-US" sz="1200" kern="1200" dirty="0">
                <a:solidFill>
                  <a:schemeClr val="tx1"/>
                </a:solidFill>
                <a:effectLst/>
                <a:latin typeface="+mn-lt"/>
                <a:sym typeface="+mn-ea"/>
              </a:rPr>
              <a:t>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丙不会演奏钢琴和小提琴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，那么甲、丁会演奏小提琴。确定可推出的信息如下表所示：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【解析】论点：为了提高个人幸福感，在购物时，应该给别人花更多的钱。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论据：在别人身上花的钱占购物支出的比例越大的人，其幸福感越强；但在自己身上花钱的多少和幸福感的关系则不那么明显。</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本题论点、论据讨论的都是给别人花钱能够获得幸福感，二者话题一致，削弱优先考虑削弱论点。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项：该项说向他人推荐的商品被认可后也会感到幸福，讨论的是向他人推荐商品能否获得幸福感，而论点讨论的是购物时给别人花钱能够获得幸福感，话题不一致，无法削弱，排除；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项：该项说如果为他人购买的商品不被喜欢，容易让人变得沮丧，说明购物时给他人花钱购买商品，不一定会获得幸福感，具有一定的削弱力度，保留；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项：该项说个人所面对的困难和压力不会因为购物而消失，讨论的是购物能否减轻压力，而论点讨论的是购物时给别人花钱能够获得幸福感，话题不一致，无法削弱，排除；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项：该项说与他人关系好的人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往往更加幸福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更愿意在购物时为他人花更多的钱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，即证明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幸福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更愿意在购物时为他人花更多的钱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同时出现，二者是并列关系，所以彼此之间不存在因果关系，削弱论点，保留。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比较</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项只提到了为他人购买商品的其中一种情况，不够全面，不如</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项直接削弱论点，且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项的表述不如</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项更贴近论点，故</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项削弱力度更强。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论据：为别人花钱占比越大，幸福感越强。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结论：为提升幸福感，要多给别人花钱（认为 “为他人花钱” 是原因，“幸福感强” 是结果）。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这是典型的因果倒置削弱题型。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实际是本身和他人关系好、幸福感强的人，才更愿意为别人花钱。把题干的因果关系完全颠倒，直接推翻结论，削弱力度最强。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推荐商品被认可会幸福，和 “为他人花钱能否提升幸福感” 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买的东西不被喜欢会沮丧，只是说明存在负面情况，但不能否定 “多为别人花钱能提升幸福感” 的整体结论，削弱力度弱。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购物快乐短暂、无法消除压力，话题偏离，题干只讨论幸福感高低，排除。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60.【答案】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【解析】建设生态公园（</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可以保护生态环境（</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保护生态环境（</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有利于经济社会的绿色发展（</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所以建设生态公园（</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有利于经济社会的绿色发展（</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题干论证结构为：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b，b</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b、b</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之间的关系，推断</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之间的关系。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项：诚实的人（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被尊敬（</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虚伪的人（-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被疏远（</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所以诚实的人（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不会被疏远（-</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论证结构为：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b，-a</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导致-</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与题干推理结构不一致，排除；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项：运动（</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有利于身体健康（</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跑步（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有利于身体健康（</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所以跑步（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是一种运动（</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论证结构为：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b，c</a:t>
            </a:r>
            <a:r>
              <a:rPr lang="zh-CN" altLang="en-US" sz="1200" kern="1200" dirty="0">
                <a:solidFill>
                  <a:schemeClr val="tx1"/>
                </a:solidFill>
                <a:effectLst/>
                <a:latin typeface="+mn-lt"/>
                <a:sym typeface="+mn-ea"/>
              </a:rPr>
              <a:t>有利于</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与题干推理结构不一致，排除；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项：新能源汽车（</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使用清洁能源（</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使用清洁能源（</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是绿色环保的（</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所以新能源汽车（</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是绿色环保的（</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论证结构为：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使用</a:t>
            </a:r>
            <a:r>
              <a:rPr lang="en-US" altLang="zh-CN" sz="1200" kern="1200" dirty="0">
                <a:solidFill>
                  <a:schemeClr val="tx1"/>
                </a:solidFill>
                <a:effectLst/>
                <a:latin typeface="+mn-lt"/>
                <a:sym typeface="+mn-ea"/>
              </a:rPr>
              <a:t>b，b</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b、b</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之间的关系，推断</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之间的关系，与题干推理结构一致，当选；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项：正直的人（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做的事都是合法的（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不正直的人（-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才会做不合法的事（-</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所以做事是否合法（</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是判断正直（</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与否的标准，论证结构为：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b，-b</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是判断</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的标准，与题干推理结构不一致，排除。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【解析】论点：与金属材质水壶相比，塑料水壶更不利于人体健康。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论据：即使经过多次清洗，塑料水壶瓶身的化学成分还是会释放到水中。而在用清洁剂清洗水壶后，不但没有解决问题，水壶内还增加了多种来自清洁剂的化学成分。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论点说的是塑料水壶不利于人体健康，论据说的是塑料瓶身本就含有化学成分，清洗塑料瓶的清洁剂也会在塑料瓶中残留化学成分，论点论据话题不一致，削弱优先考虑拆桥，即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塑料瓶身及清洁剂残留的化学成分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不等于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不利于人体健康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项：该项说的是金属材质的水壶，并不是论点中的塑料水壶，并且并不明确生锈是否会影响健康，话题不一致，无法削弱，排除；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项：该项说的是人们不会用清洁剂清洗塑料水壶，但没说塑料水壶自身释放到水中的化学成分是否会影响健康，话题不一致，无法削弱，排除；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项：该项说的是释放到水中的化学成分无法对人体产生任何影响，即断开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塑料瓶身及清洁剂残留的化学成分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不利于人体健康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之间的联系，说明即使存在这些化学成分，也不会不利于健康，拆桥项，可以削弱，当选；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项：该项说的是不同塑料水壶瓶身的化学成分有差异，但没有提及这些化学成分是否影响健康，话题不一致，无法削弱，排除。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论点：塑料水壶比金属水壶更不利于人体健康。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论据：塑料水壶会释放化学成分，用清洁剂清洗还会新增化学成分。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金属水壶会生锈，仅指出金属壶的小问题，未对比二者对健康的影响，无法质疑，排除。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多数人不用清洁剂清洗，只能削弱 “清洁剂新增成分” 这一点，但塑料本身仍会释放化学成分，削弱力度有限。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明确说明析出的化学成分剂量低，不会对人体造成任何影响，直接切断 “释放化学成分” 和 “损害健康” 的关联，从根本上否定论点，削弱力度最强。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不同塑料成分有差异，无法证明塑料水壶就不伤身体，无关项，排除。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【解析】论点：中药材产量的增加主要缘于中药材种植业的蓬勃发展。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论据：中药材产量的增加是价格下降的主要原因。由于近年来中药材种植业蓬勃发展，而野生中药材的产量没有显著增加。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本题论点和论据均在讨论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中药材产量的增加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中药材种植业的蓬勃发展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之间的关系，论点论据话题一致，且提问方式为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，优先考虑必要条件。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项：该项说的是多种中药材的产量增加，但没有说明产量增加的原因，而论点讨论的是中药材产量的增加主要缘于中药材种植业的蓬勃发展，话题不一致，无法加强，排除；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项：该项说的是一些消费者买药材时偏好野生中药材，而论点讨论的是中药材产量的增加主要缘于中药材种植业的蓬勃发展，话题不一致，无法加强，排除；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项：该项说的是部分中药材已经实现规模化种植，但具体产量多少并不明确，无法证明中药材产量的增加主要缘于中药材种植业的蓬勃发展，为不明确项，无法加强，排除；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中药材只能通过种植和野外采集两种方式获得，因此当中药材总量增加，而野生中药材产量没有显著增加时，能够说明中药材产量的增加确实与种植中药材的产量有关，如果还有其他途径能够获得中药材，那么中药材产量的增加可能与中药材种植业的蓬勃发展无关，是论点成立的必要条件，可以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已知：中药材总产量↑，野生产量基本不变；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结论：总产量增加主要来自人工种植。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逻辑漏洞：题干默认中药材只有种植、野生两种来源，若存在其他来源，结论就不成立。</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明确中药材仅靠种植和野外采集获取，排除了其他渠道，是推理成立的必要前提，当选。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只说产量大增，无法解释增量来源，排除。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消费者偏好，和产量构成无关，排除。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部分实现规模化种植，不能证明增量主要来自种植，无法搭桥，排除。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中主要涉及到成年人读书、儿童读书与任何人读书这三部分之间的关系。具体来说，题干先指出成年人读书有好处，然后指出儿童读书有好处，这两个并列主体结合组成了任何人，因此得出结论，任何人读书有好处。简化题干的推理结构为：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有好处，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有好处，得出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（由</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组成）有好处。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项：该项涉及一线、二线、三线城市，是三个并列的主体，而题干是两个并列主体，而且也没有提及带来的好处，与题干推理结构不同，排除；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项：该项涉及民众这一个主体，而且是通过民众的状态反映政府工作的结果，也没有提及其带来的好处，与题干推理结构不同，排除；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项：该项在说解决经济工作的对策，而不是其好处，与题干推理结构不同，排除；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项：该项指出劳动者懂法的好处，以及用人单位懂法的好处，这两个并列主体结合组成了劳动关系双方，因此得出结论，懂法对劳动关系双方有好处，推理结构为：根据</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有好处，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有好处，得出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（由</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组成）有好处，与题干推理结构最为相似，当选。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分别阐述两类主体做同一件事的益处 → 总结：这件事对两类主体都有好处。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形式：</a:t>
            </a:r>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做 </a:t>
            </a:r>
            <a:r>
              <a:rPr lang="en-US" altLang="zh-CN" sz="1200" kern="1200" dirty="0">
                <a:solidFill>
                  <a:schemeClr val="tx1"/>
                </a:solidFill>
                <a:effectLst/>
                <a:latin typeface="+mn-lt"/>
                <a:sym typeface="+mn-ea"/>
              </a:rPr>
              <a:t>X </a:t>
            </a:r>
            <a:r>
              <a:rPr lang="zh-CN" altLang="en-US" sz="1200" kern="1200" dirty="0">
                <a:solidFill>
                  <a:schemeClr val="tx1"/>
                </a:solidFill>
                <a:effectLst/>
                <a:latin typeface="+mn-lt"/>
                <a:sym typeface="+mn-ea"/>
              </a:rPr>
              <a:t>有好处；</a:t>
            </a:r>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做 </a:t>
            </a:r>
            <a:r>
              <a:rPr lang="en-US" altLang="zh-CN" sz="1200" kern="1200" dirty="0">
                <a:solidFill>
                  <a:schemeClr val="tx1"/>
                </a:solidFill>
                <a:effectLst/>
                <a:latin typeface="+mn-lt"/>
                <a:sym typeface="+mn-ea"/>
              </a:rPr>
              <a:t>X </a:t>
            </a:r>
            <a:r>
              <a:rPr lang="zh-CN" altLang="en-US" sz="1200" kern="1200" dirty="0">
                <a:solidFill>
                  <a:schemeClr val="tx1"/>
                </a:solidFill>
                <a:effectLst/>
                <a:latin typeface="+mn-lt"/>
                <a:sym typeface="+mn-ea"/>
              </a:rPr>
              <a:t>有好处 → </a:t>
            </a:r>
            <a:r>
              <a:rPr lang="en-US" altLang="zh-CN" sz="1200" kern="1200" dirty="0">
                <a:solidFill>
                  <a:schemeClr val="tx1"/>
                </a:solidFill>
                <a:effectLst/>
                <a:latin typeface="+mn-lt"/>
                <a:sym typeface="+mn-ea"/>
              </a:rPr>
              <a:t>X </a:t>
            </a:r>
            <a:r>
              <a:rPr lang="zh-CN" altLang="en-US" sz="1200" kern="1200" dirty="0">
                <a:solidFill>
                  <a:schemeClr val="tx1"/>
                </a:solidFill>
                <a:effectLst/>
                <a:latin typeface="+mn-lt"/>
                <a:sym typeface="+mn-ea"/>
              </a:rPr>
              <a:t>对 </a:t>
            </a:r>
            <a:r>
              <a:rPr lang="en-US" altLang="zh-CN" sz="1200" kern="1200" dirty="0">
                <a:solidFill>
                  <a:schemeClr val="tx1"/>
                </a:solidFill>
                <a:effectLst/>
                <a:latin typeface="+mn-lt"/>
                <a:sym typeface="+mn-ea"/>
              </a:rPr>
              <a:t>A、B </a:t>
            </a:r>
            <a:r>
              <a:rPr lang="zh-CN" altLang="en-US" sz="1200" kern="1200" dirty="0">
                <a:solidFill>
                  <a:schemeClr val="tx1"/>
                </a:solidFill>
                <a:effectLst/>
                <a:latin typeface="+mn-lt"/>
                <a:sym typeface="+mn-ea"/>
              </a:rPr>
              <a:t>都有益。</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先讲城市与人、商机的关系，最后推出 “人口决定商业”，前后话题、推理结构和题干不同，排除。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先解读温度计含义，再分两种情况论述民众与政府的关系，无 “两类主体分别讲益处 + 总结共性好处” 的结构，排除。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先讲抓主要矛盾的作用，再得出复杂局面要团结协力，推理逻辑不一致，排除。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劳动者懂法有好处；用人单位懂法有好处 → 懂法对双方都有益。和题干逻辑结构完全一致，当选。</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【解析】论点：减少钠的摄入有助于预防中风。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论据：研究对象分为两组，一组食用低钠盐（约</a:t>
            </a:r>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的氯化钠和</a:t>
            </a:r>
            <a:r>
              <a:rPr lang="en-US" altLang="zh-CN" sz="1200" kern="1200" dirty="0">
                <a:solidFill>
                  <a:schemeClr val="tx1"/>
                </a:solidFill>
                <a:effectLst/>
                <a:latin typeface="+mn-lt"/>
                <a:sym typeface="+mn-ea"/>
              </a:rPr>
              <a:t>25%</a:t>
            </a:r>
            <a:r>
              <a:rPr lang="zh-CN" altLang="en-US" sz="1200" kern="1200" dirty="0">
                <a:solidFill>
                  <a:schemeClr val="tx1"/>
                </a:solidFill>
                <a:effectLst/>
                <a:latin typeface="+mn-lt"/>
                <a:sym typeface="+mn-ea"/>
              </a:rPr>
              <a:t>的氯化钾），一组食用普通盐（约</a:t>
            </a:r>
            <a:r>
              <a:rPr lang="en-US" altLang="zh-CN" sz="1200" kern="1200" dirty="0">
                <a:solidFill>
                  <a:schemeClr val="tx1"/>
                </a:solidFill>
                <a:effectLst/>
                <a:latin typeface="+mn-lt"/>
                <a:sym typeface="+mn-ea"/>
              </a:rPr>
              <a:t>97%</a:t>
            </a:r>
            <a:r>
              <a:rPr lang="zh-CN" altLang="en-US" sz="1200" kern="1200" dirty="0">
                <a:solidFill>
                  <a:schemeClr val="tx1"/>
                </a:solidFill>
                <a:effectLst/>
                <a:latin typeface="+mn-lt"/>
                <a:sym typeface="+mn-ea"/>
              </a:rPr>
              <a:t>的氯化钠）。在</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年的跟踪调查中发现，食用低钠盐的群体，其中风发病率显著低于食用普通盐的群体。</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本题论点和论据讨论的都是食用钠盐和预防中风之间的关系，二者话题一致，加强优先考虑补充论据，且本题为选非题，排除能够加强的选项即可。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项：选项说的是得了中风之后的死亡率，而论点讨论的是预防中风，说的是中风之前，话题不一致，无法加强，当选；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项：选项说的是两组研究对象在性别、年龄等方面不存在明显差异，排除了性别、年龄等方面对实验结果的干扰，使得实验结果更可靠，补充论据，可以加强，排除；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项：选项说的是两组研究对象每日摄入的盐含量接近，排除了摄入的盐含量对实验结果的干扰，使得实验结果更可靠，补充论据，可以加强，排除；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项：选项说的是摄入氯化钾不会影响中风发病率，实验中一组食用低钠盐，而低钠盐含有的</a:t>
            </a:r>
            <a:r>
              <a:rPr lang="en-US" altLang="zh-CN" sz="1200" kern="1200" dirty="0">
                <a:solidFill>
                  <a:schemeClr val="tx1"/>
                </a:solidFill>
                <a:effectLst/>
                <a:latin typeface="+mn-lt"/>
                <a:sym typeface="+mn-ea"/>
              </a:rPr>
              <a:t>25%</a:t>
            </a:r>
            <a:r>
              <a:rPr lang="zh-CN" altLang="en-US" sz="1200" kern="1200" dirty="0">
                <a:solidFill>
                  <a:schemeClr val="tx1"/>
                </a:solidFill>
                <a:effectLst/>
                <a:latin typeface="+mn-lt"/>
                <a:sym typeface="+mn-ea"/>
              </a:rPr>
              <a:t>的氯化钾，故排除了氯化钾对实验结果的干扰，使得实验结果更可靠，补充论据，可以加强，排除。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实验：两组人分别吃低钠盐、普通盐，低钠盐组中风发病率更低。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结论：减少钠摄入有助于预防中风。</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提问：选出最不能支持的一项。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讨论的是中风后的死亡率，题干结论是预防中风（降低发病概率），话题完全不同，无法支持，当选。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两组性别、年龄等条件一致，排除无关变量，保证实验科学性，支持结论。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两组每日盐摄入量接近，说明差异只来自盐分种类（钠含量不同），排除 “吃盐多少” 的干扰，支持结论。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排除了氯化钾对中风发病率的影响，证明两组差异就是钠含量导致，支持结论。</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【解析】某景区从原先的窗口售票制改为网上预约制，每个时段限量放票，游客仅可在网上预约的时段进入景区。但实行网上预约制一段时间后，许多时间段里景区依然拥挤，游客的旅游体验并未得到明显改善。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景区各时段放票数量过多，超过了景区承载能力，说明各时段进入景区的游客数量均大于景区能够承载的游客数量，可以解释为什么实行了网上预约制后，景区依然拥挤，游客的旅游体验并未得到明显改善，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项：该景区门票预约系统操作繁琐，游客预约体验不佳，说的是进入景区前预约操作的体验情况，无法解释为什么许多时间段里景区依然拥挤，游客的旅游体验并未得到明显改善，不能解释题干矛盾，当选；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景区未规定游客离开的时间，许多游客在景区内长时间逗留，说明会存在不同时段的游客叠加在一起，导致某时段的游客总量大于该时段的放票数量，可以解释为什么实行了网上预约制后，景区依然拥挤，游客的旅游体验并未得到明显改善，可以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项：游客预约的时段过于集中，一些时段人满为患，说明这些时段内的游客数量确实很多，可以解释为什么实行了网上预约制后，景区依然拥挤，游客的旅游体验并未得到明显改善，可以解释题干矛盾，排除。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矛盾：实行分时段网上预约限流后，景区依旧拥挤、体验未改善。题目要求选最不能解释的选项。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放票总量超出景区承载力，必然造成拥挤，可以解释。</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预约系统操作繁琐、预约体验差，只针对预约环节，和景区现场拥挤、游玩体验差无关，无法解释。</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游客长时间逗留，场内人数只增不减，造成拥挤，可以解释。</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预约时段扎堆，部分时段人满为患，可以解释。</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广东</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年</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sym typeface="+mn-ea"/>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46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下列选项中最符合所给图形规律的是（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2" name="图片 135" descr="IMG_256"/>
          <p:cNvPicPr>
            <a:picLocks noChangeAspect="1"/>
          </p:cNvPicPr>
          <p:nvPr/>
        </p:nvPicPr>
        <p:blipFill>
          <a:blip r:embed="rId1"/>
          <a:stretch>
            <a:fillRect/>
          </a:stretch>
        </p:blipFill>
        <p:spPr>
          <a:xfrm>
            <a:off x="822960" y="1426210"/>
            <a:ext cx="4152265" cy="470344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47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下列选项中最符合所给图形规律的是（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3" name="图片 136" descr="IMG_256"/>
          <p:cNvPicPr>
            <a:picLocks noChangeAspect="1"/>
          </p:cNvPicPr>
          <p:nvPr/>
        </p:nvPicPr>
        <p:blipFill>
          <a:blip r:embed="rId1"/>
          <a:stretch>
            <a:fillRect/>
          </a:stretch>
        </p:blipFill>
        <p:spPr>
          <a:xfrm>
            <a:off x="636905" y="1426210"/>
            <a:ext cx="7545070" cy="430466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48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如图所示，正方形卡片沿对角线折叠两次后得到一个三角形，沿着虚线裁剪后，再展开卡片，则展开的图形最有可能是（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4" name="图片 137" descr="IMG_256"/>
          <p:cNvPicPr>
            <a:picLocks noChangeAspect="1"/>
          </p:cNvPicPr>
          <p:nvPr/>
        </p:nvPicPr>
        <p:blipFill>
          <a:blip r:embed="rId1"/>
          <a:stretch>
            <a:fillRect/>
          </a:stretch>
        </p:blipFill>
        <p:spPr>
          <a:xfrm>
            <a:off x="847725" y="1912620"/>
            <a:ext cx="6823710" cy="389001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49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下图为给定的立体图形，从任一角度看，下列选项最不可能是该立体图形视图的是（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5" name="图片 138" descr="IMG_256"/>
          <p:cNvPicPr>
            <a:picLocks noChangeAspect="1"/>
          </p:cNvPicPr>
          <p:nvPr/>
        </p:nvPicPr>
        <p:blipFill>
          <a:blip r:embed="rId1"/>
          <a:stretch>
            <a:fillRect/>
          </a:stretch>
        </p:blipFill>
        <p:spPr>
          <a:xfrm>
            <a:off x="181610" y="1867535"/>
            <a:ext cx="7716520" cy="3927475"/>
          </a:xfrm>
          <a:prstGeom prst="rect">
            <a:avLst/>
          </a:prstGeom>
          <a:noFill/>
          <a:ln w="9525">
            <a:noFill/>
          </a:ln>
        </p:spPr>
      </p:pic>
      <p:pic>
        <p:nvPicPr>
          <p:cNvPr id="208" name="图片 199" descr="IMG_256"/>
          <p:cNvPicPr>
            <a:picLocks noChangeAspect="1"/>
          </p:cNvPicPr>
          <p:nvPr/>
        </p:nvPicPr>
        <p:blipFill>
          <a:blip r:embed="rId2"/>
          <a:srcRect t="18052"/>
          <a:stretch>
            <a:fillRect/>
          </a:stretch>
        </p:blipFill>
        <p:spPr>
          <a:xfrm>
            <a:off x="7792720" y="2114550"/>
            <a:ext cx="4232275" cy="2187575"/>
          </a:xfrm>
          <a:prstGeom prst="rect">
            <a:avLst/>
          </a:prstGeom>
          <a:noFill/>
          <a:ln w="9525">
            <a:noFill/>
          </a:ln>
        </p:spPr>
      </p:pic>
      <p:pic>
        <p:nvPicPr>
          <p:cNvPr id="207" name="图片 200" descr="IMG_257"/>
          <p:cNvPicPr>
            <a:picLocks noChangeAspect="1"/>
          </p:cNvPicPr>
          <p:nvPr/>
        </p:nvPicPr>
        <p:blipFill>
          <a:blip r:embed="rId3"/>
          <a:stretch>
            <a:fillRect/>
          </a:stretch>
        </p:blipFill>
        <p:spPr>
          <a:xfrm>
            <a:off x="7898130" y="4597400"/>
            <a:ext cx="4260215" cy="175323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50</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下列立体图形，最不可能由两个左侧立体图形拼接成的是（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p:txBody>
      </p:sp>
      <p:pic>
        <p:nvPicPr>
          <p:cNvPr id="146" name="图片 139" descr="IMG_256"/>
          <p:cNvPicPr>
            <a:picLocks noChangeAspect="1"/>
          </p:cNvPicPr>
          <p:nvPr/>
        </p:nvPicPr>
        <p:blipFill>
          <a:blip r:embed="rId1"/>
          <a:stretch>
            <a:fillRect/>
          </a:stretch>
        </p:blipFill>
        <p:spPr>
          <a:xfrm>
            <a:off x="826770" y="2023745"/>
            <a:ext cx="10935970" cy="2916555"/>
          </a:xfrm>
          <a:prstGeom prst="rect">
            <a:avLst/>
          </a:prstGeom>
          <a:noFill/>
          <a:ln w="9525">
            <a:noFill/>
          </a:ln>
        </p:spPr>
      </p:pic>
      <p:pic>
        <p:nvPicPr>
          <p:cNvPr id="205" name="图片 196" descr="IMG_256"/>
          <p:cNvPicPr>
            <a:picLocks noChangeAspect="1"/>
          </p:cNvPicPr>
          <p:nvPr/>
        </p:nvPicPr>
        <p:blipFill>
          <a:blip r:embed="rId2"/>
          <a:stretch>
            <a:fillRect/>
          </a:stretch>
        </p:blipFill>
        <p:spPr>
          <a:xfrm>
            <a:off x="3571875" y="5029200"/>
            <a:ext cx="1257300" cy="1198880"/>
          </a:xfrm>
          <a:prstGeom prst="rect">
            <a:avLst/>
          </a:prstGeom>
          <a:noFill/>
          <a:ln w="9525">
            <a:noFill/>
          </a:ln>
        </p:spPr>
      </p:pic>
      <p:pic>
        <p:nvPicPr>
          <p:cNvPr id="206" name="图片 197" descr="IMG_257"/>
          <p:cNvPicPr>
            <a:picLocks noChangeAspect="1"/>
          </p:cNvPicPr>
          <p:nvPr/>
        </p:nvPicPr>
        <p:blipFill>
          <a:blip r:embed="rId3"/>
          <a:stretch>
            <a:fillRect/>
          </a:stretch>
        </p:blipFill>
        <p:spPr>
          <a:xfrm>
            <a:off x="5727065" y="4890770"/>
            <a:ext cx="1186180" cy="1440180"/>
          </a:xfrm>
          <a:prstGeom prst="rect">
            <a:avLst/>
          </a:prstGeom>
          <a:noFill/>
          <a:ln w="9525">
            <a:noFill/>
          </a:ln>
        </p:spPr>
      </p:pic>
      <p:pic>
        <p:nvPicPr>
          <p:cNvPr id="204" name="图片 198" descr="IMG_258"/>
          <p:cNvPicPr>
            <a:picLocks noChangeAspect="1"/>
          </p:cNvPicPr>
          <p:nvPr/>
        </p:nvPicPr>
        <p:blipFill>
          <a:blip r:embed="rId4"/>
          <a:stretch>
            <a:fillRect/>
          </a:stretch>
        </p:blipFill>
        <p:spPr>
          <a:xfrm>
            <a:off x="7811135" y="5029200"/>
            <a:ext cx="1263015" cy="123063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51</a:t>
            </a:r>
            <a:endParaRPr kumimoji="1" lang="zh-CN" altLang="en-US" sz="2800" b="1" dirty="0">
              <a:solidFill>
                <a:srgbClr val="FF653F"/>
              </a:solidFill>
            </a:endParaRPr>
          </a:p>
        </p:txBody>
      </p:sp>
      <p:sp>
        <p:nvSpPr>
          <p:cNvPr id="3" name="文本框 2"/>
          <p:cNvSpPr txBox="1"/>
          <p:nvPr/>
        </p:nvSpPr>
        <p:spPr>
          <a:xfrm>
            <a:off x="462915" y="701675"/>
            <a:ext cx="1124839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如果某地不禁止在鱼类繁衍季节捕鱼，当地的鱼类资源就会枯竭。如果鱼类资源枯竭了，当地渔民的渔业生涯就会终结。只有鱼类资源良性循环，渔民的收入才能得到保障。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zh-CN" altLang="en-US" sz="2000" dirty="0">
                <a:solidFill>
                  <a:srgbClr val="FF0000"/>
                </a:solidFill>
                <a:effectLst/>
                <a:sym typeface="+mn-ea"/>
              </a:rPr>
              <a:t>（</a:t>
            </a:r>
            <a:r>
              <a:rPr lang="en-US" altLang="zh-CN" sz="2000" dirty="0">
                <a:solidFill>
                  <a:srgbClr val="FF0000"/>
                </a:solidFill>
                <a:effectLst/>
                <a:sym typeface="+mn-ea"/>
              </a:rPr>
              <a:t>1</a:t>
            </a:r>
            <a:r>
              <a:rPr lang="zh-CN" altLang="en-US" sz="2000" dirty="0">
                <a:solidFill>
                  <a:srgbClr val="FF0000"/>
                </a:solidFill>
                <a:effectLst/>
                <a:sym typeface="+mn-ea"/>
              </a:rPr>
              <a:t>）</a:t>
            </a:r>
            <a:r>
              <a:rPr lang="en-US" altLang="zh-CN" sz="2000" dirty="0">
                <a:solidFill>
                  <a:srgbClr val="FF0000"/>
                </a:solidFill>
                <a:effectLst/>
                <a:sym typeface="+mn-ea"/>
              </a:rPr>
              <a:t>-</a:t>
            </a:r>
            <a:r>
              <a:rPr lang="zh-CN" altLang="en-US" sz="2000" dirty="0">
                <a:solidFill>
                  <a:srgbClr val="FF0000"/>
                </a:solidFill>
                <a:effectLst/>
                <a:sym typeface="+mn-ea"/>
              </a:rPr>
              <a:t>禁止在鱼类繁衍季节捕鱼</a:t>
            </a:r>
            <a:r>
              <a:rPr lang="en-US" altLang="en-US" sz="2000" dirty="0">
                <a:solidFill>
                  <a:srgbClr val="FF0000"/>
                </a:solidFill>
                <a:effectLst/>
                <a:sym typeface="+mn-ea"/>
              </a:rPr>
              <a:t>→</a:t>
            </a:r>
            <a:r>
              <a:rPr lang="zh-CN" altLang="en-US" sz="2000" dirty="0">
                <a:solidFill>
                  <a:srgbClr val="FF0000"/>
                </a:solidFill>
                <a:effectLst/>
                <a:sym typeface="+mn-ea"/>
              </a:rPr>
              <a:t>鱼类资源枯竭；</a:t>
            </a:r>
            <a:endParaRPr lang="zh-CN" altLang="en-US" sz="2000" kern="1200" dirty="0">
              <a:solidFill>
                <a:srgbClr val="FF0000"/>
              </a:solidFill>
              <a:effectLst/>
              <a:latin typeface="+mn-lt"/>
              <a:sym typeface="+mn-ea"/>
            </a:endParaRPr>
          </a:p>
          <a:p>
            <a:pPr indent="0" fontAlgn="auto">
              <a:lnSpc>
                <a:spcPct val="150000"/>
              </a:lnSpc>
            </a:pPr>
            <a:r>
              <a:rPr lang="zh-CN" altLang="en-US" sz="2000" dirty="0">
                <a:solidFill>
                  <a:srgbClr val="FF0000"/>
                </a:solidFill>
                <a:effectLst/>
                <a:sym typeface="+mn-ea"/>
              </a:rPr>
              <a:t>（</a:t>
            </a:r>
            <a:r>
              <a:rPr lang="en-US" altLang="zh-CN" sz="2000" dirty="0">
                <a:solidFill>
                  <a:srgbClr val="FF0000"/>
                </a:solidFill>
                <a:effectLst/>
                <a:sym typeface="+mn-ea"/>
              </a:rPr>
              <a:t>2</a:t>
            </a:r>
            <a:r>
              <a:rPr lang="zh-CN" altLang="en-US" sz="2000" dirty="0">
                <a:solidFill>
                  <a:srgbClr val="FF0000"/>
                </a:solidFill>
                <a:effectLst/>
                <a:sym typeface="+mn-ea"/>
              </a:rPr>
              <a:t>）鱼类资源枯竭</a:t>
            </a:r>
            <a:r>
              <a:rPr lang="en-US" altLang="en-US" sz="2000" dirty="0">
                <a:solidFill>
                  <a:srgbClr val="FF0000"/>
                </a:solidFill>
                <a:effectLst/>
                <a:sym typeface="+mn-ea"/>
              </a:rPr>
              <a:t>→</a:t>
            </a:r>
            <a:r>
              <a:rPr lang="zh-CN" altLang="en-US" sz="2000" dirty="0">
                <a:solidFill>
                  <a:srgbClr val="FF0000"/>
                </a:solidFill>
                <a:effectLst/>
                <a:sym typeface="+mn-ea"/>
              </a:rPr>
              <a:t>渔民的渔业生涯终结；</a:t>
            </a:r>
            <a:endParaRPr lang="zh-CN" altLang="en-US" sz="2000" kern="1200" dirty="0">
              <a:solidFill>
                <a:srgbClr val="FF0000"/>
              </a:solidFill>
              <a:effectLst/>
              <a:latin typeface="+mn-lt"/>
              <a:sym typeface="+mn-ea"/>
            </a:endParaRPr>
          </a:p>
          <a:p>
            <a:pPr indent="0" fontAlgn="auto">
              <a:lnSpc>
                <a:spcPct val="150000"/>
              </a:lnSpc>
            </a:pPr>
            <a:r>
              <a:rPr lang="zh-CN" altLang="en-US" sz="2000" dirty="0">
                <a:solidFill>
                  <a:srgbClr val="FF0000"/>
                </a:solidFill>
                <a:effectLst/>
                <a:sym typeface="+mn-ea"/>
              </a:rPr>
              <a:t>（</a:t>
            </a:r>
            <a:r>
              <a:rPr lang="en-US" altLang="zh-CN" sz="2000" dirty="0">
                <a:solidFill>
                  <a:srgbClr val="FF0000"/>
                </a:solidFill>
                <a:effectLst/>
                <a:sym typeface="+mn-ea"/>
              </a:rPr>
              <a:t>3</a:t>
            </a:r>
            <a:r>
              <a:rPr lang="zh-CN" altLang="en-US" sz="2000" dirty="0">
                <a:solidFill>
                  <a:srgbClr val="FF0000"/>
                </a:solidFill>
                <a:effectLst/>
                <a:sym typeface="+mn-ea"/>
              </a:rPr>
              <a:t>）渔民的收入得到保障</a:t>
            </a:r>
            <a:r>
              <a:rPr lang="en-US" altLang="en-US" sz="2000" dirty="0">
                <a:solidFill>
                  <a:srgbClr val="FF0000"/>
                </a:solidFill>
                <a:effectLst/>
                <a:sym typeface="+mn-ea"/>
              </a:rPr>
              <a:t>→</a:t>
            </a:r>
            <a:r>
              <a:rPr lang="zh-CN" altLang="en-US" sz="2000" dirty="0">
                <a:solidFill>
                  <a:srgbClr val="FF0000"/>
                </a:solidFill>
                <a:effectLst/>
                <a:sym typeface="+mn-ea"/>
              </a:rPr>
              <a:t>鱼类资源良性循环（即：</a:t>
            </a:r>
            <a:r>
              <a:rPr lang="en-US" altLang="zh-CN" sz="2000" dirty="0">
                <a:solidFill>
                  <a:srgbClr val="FF0000"/>
                </a:solidFill>
                <a:effectLst/>
                <a:sym typeface="+mn-ea"/>
              </a:rPr>
              <a:t>-</a:t>
            </a:r>
            <a:r>
              <a:rPr lang="zh-CN" altLang="en-US" sz="2000" dirty="0">
                <a:solidFill>
                  <a:srgbClr val="FF0000"/>
                </a:solidFill>
                <a:effectLst/>
                <a:sym typeface="+mn-ea"/>
              </a:rPr>
              <a:t>鱼类资源枯竭）；</a:t>
            </a:r>
            <a:endParaRPr lang="zh-CN" altLang="en-US" sz="2000" kern="1200" dirty="0">
              <a:solidFill>
                <a:srgbClr val="FF0000"/>
              </a:solidFill>
              <a:effectLst/>
              <a:latin typeface="+mn-lt"/>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如果某地的鱼类资源没有枯竭，那么当地渔民的收入就能得到保障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如果某地禁止在鱼类繁衍季节捕鱼，那么当地渔民的收入就能得到保障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如果某地渔民的渔业生涯没有终结，那么当地一定禁止在鱼类繁衍季节捕鱼</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如果某地渔民的收入没有得到保障，那么当地的鱼类资源一定不能良性循环</a:t>
            </a:r>
            <a:endParaRPr lang="zh-CN" altLang="en-US" sz="2000" dirty="0">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52</a:t>
            </a:r>
            <a:endParaRPr kumimoji="1" lang="en-US" altLang="zh-CN" sz="2800" b="1" dirty="0">
              <a:solidFill>
                <a:srgbClr val="FF653F"/>
              </a:solidFill>
            </a:endParaRPr>
          </a:p>
        </p:txBody>
      </p:sp>
      <p:sp>
        <p:nvSpPr>
          <p:cNvPr id="3" name="文本框 2"/>
          <p:cNvSpPr txBox="1"/>
          <p:nvPr/>
        </p:nvSpPr>
        <p:spPr>
          <a:xfrm>
            <a:off x="462915" y="701675"/>
            <a:ext cx="1128522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如今，越来越多的消费者习惯在第三方平台查看商家的好评率与他人对商家的具体评价，再作出消费选择。一直以来，甲餐厅的好评率始终略高于乙餐厅，但是乙餐厅的日营业额却远远超过甲餐厅。</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下列选项如果为真，最能解释这一现象的是（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与乙餐厅相比，甲餐厅有更多的常客</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乙餐厅的人均消费金额远高于甲餐厅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甲餐厅无法为消费者提供免费停车服务</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许多消费者在平台上表达了对乙餐厅菜品的喜爱</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53</a:t>
            </a:r>
            <a:endParaRPr kumimoji="1" lang="en-US" altLang="zh-CN" sz="2800" b="1" dirty="0">
              <a:solidFill>
                <a:srgbClr val="FF653F"/>
              </a:solidFill>
            </a:endParaRPr>
          </a:p>
        </p:txBody>
      </p:sp>
      <p:sp>
        <p:nvSpPr>
          <p:cNvPr id="3" name="文本框 2"/>
          <p:cNvSpPr txBox="1"/>
          <p:nvPr/>
        </p:nvSpPr>
        <p:spPr>
          <a:xfrm>
            <a:off x="462915" y="701675"/>
            <a:ext cx="1125982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过去，直播带货中虚假宣传、销售假冒伪劣产品等违法现象层出不穷。最近，针对直播</a:t>
            </a:r>
            <a:r>
              <a:rPr lang="en-US" altLang="zh-CN" sz="2000" dirty="0">
                <a:cs typeface="微软雅黑" panose="020B0503020204020204" charset="-122"/>
                <a:sym typeface="+mn-ea"/>
              </a:rPr>
              <a:t>“</a:t>
            </a:r>
            <a:r>
              <a:rPr lang="zh-CN" altLang="en-US" sz="2000" dirty="0">
                <a:cs typeface="微软雅黑" panose="020B0503020204020204" charset="-122"/>
                <a:sym typeface="+mn-ea"/>
              </a:rPr>
              <a:t>乱象</a:t>
            </a:r>
            <a:r>
              <a:rPr lang="en-US" altLang="zh-CN" sz="2000" dirty="0">
                <a:cs typeface="微软雅黑" panose="020B0503020204020204" charset="-122"/>
                <a:sym typeface="+mn-ea"/>
              </a:rPr>
              <a:t>”</a:t>
            </a:r>
            <a:r>
              <a:rPr lang="zh-CN" altLang="en-US" sz="2000" dirty="0">
                <a:cs typeface="微软雅黑" panose="020B0503020204020204" charset="-122"/>
                <a:sym typeface="+mn-ea"/>
              </a:rPr>
              <a:t>，相关部门拓宽了消费者的投诉渠道，因此，直播带货中违法现象将有所减少。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要使上述推理成立，需要补充的前提条件是（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拓宽消费者投诉渠道有助于遏制直播带货中的违法现象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投诉能促使直播带货平台严格把关上架产品的质量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从事直播带货经营活动需要承担相应的法律责任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所有消费者都能准确识别侵权行为</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54</a:t>
            </a:r>
            <a:endParaRPr kumimoji="1" lang="en-US" altLang="zh-CN" sz="2800" b="1" dirty="0">
              <a:solidFill>
                <a:srgbClr val="FF653F"/>
              </a:solidFill>
            </a:endParaRPr>
          </a:p>
        </p:txBody>
      </p:sp>
      <p:sp>
        <p:nvSpPr>
          <p:cNvPr id="3" name="文本框 2"/>
          <p:cNvSpPr txBox="1"/>
          <p:nvPr/>
        </p:nvSpPr>
        <p:spPr>
          <a:xfrm>
            <a:off x="462915" y="701675"/>
            <a:ext cx="1119822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去年</a:t>
            </a:r>
            <a:r>
              <a:rPr lang="en-US" altLang="zh-CN" sz="2000" dirty="0">
                <a:cs typeface="微软雅黑" panose="020B0503020204020204" charset="-122"/>
                <a:sym typeface="+mn-ea"/>
              </a:rPr>
              <a:t>9</a:t>
            </a:r>
            <a:r>
              <a:rPr lang="zh-CN" altLang="en-US" sz="2000" dirty="0">
                <a:cs typeface="微软雅黑" panose="020B0503020204020204" charset="-122"/>
                <a:sym typeface="+mn-ea"/>
              </a:rPr>
              <a:t>月起，某高校图书馆开设了通宵学习室。该学习室受到许多学生的欢迎，在</a:t>
            </a:r>
            <a:r>
              <a:rPr lang="en-US" altLang="zh-CN" sz="2000" dirty="0">
                <a:cs typeface="微软雅黑" panose="020B0503020204020204" charset="-122"/>
                <a:sym typeface="+mn-ea"/>
              </a:rPr>
              <a:t>4</a:t>
            </a:r>
            <a:r>
              <a:rPr lang="zh-CN" altLang="en-US" sz="2000" dirty="0">
                <a:cs typeface="微软雅黑" panose="020B0503020204020204" charset="-122"/>
                <a:sym typeface="+mn-ea"/>
              </a:rPr>
              <a:t>个月后，由于使用人数大幅减少，图书馆关闭了通宵学习室。</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以下各项如果为真，最能解释这一现象的是（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许多学生认为，通宵学习不可持续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通宵学习室座位少，能容纳的学生有限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图书馆需要为通宵学习室配备专门的管理人员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通宵学习的学生大多在备考</a:t>
            </a:r>
            <a:r>
              <a:rPr lang="en-US" altLang="zh-CN" sz="2000" dirty="0">
                <a:cs typeface="微软雅黑" panose="020B0503020204020204" charset="-122"/>
                <a:sym typeface="+mn-ea"/>
              </a:rPr>
              <a:t>12</a:t>
            </a:r>
            <a:r>
              <a:rPr lang="zh-CN" altLang="en-US" sz="2000" dirty="0">
                <a:cs typeface="微软雅黑" panose="020B0503020204020204" charset="-122"/>
                <a:sym typeface="+mn-ea"/>
              </a:rPr>
              <a:t>月的研究生入学考试</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55</a:t>
            </a:r>
            <a:endParaRPr kumimoji="1" lang="en-US" altLang="zh-CN" sz="2800" b="1" dirty="0">
              <a:solidFill>
                <a:srgbClr val="FF653F"/>
              </a:solidFill>
            </a:endParaRPr>
          </a:p>
        </p:txBody>
      </p:sp>
      <p:sp>
        <p:nvSpPr>
          <p:cNvPr id="3" name="文本框 2"/>
          <p:cNvSpPr txBox="1"/>
          <p:nvPr/>
        </p:nvSpPr>
        <p:spPr>
          <a:xfrm>
            <a:off x="462915" y="701675"/>
            <a:ext cx="1120965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单位派出小李、小王、小杨、小张四人参加技能比赛。小李和小王的得分之和大于小杨和小张的得分之和，小李和小张的得分之和大于小王和小杨的得分之和，小王和小张的得分之和大于小李和小杨的得分之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由此可以推出，四个人中得分最低的是（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小李</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小王</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小杨</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小张</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1675"/>
            <a:ext cx="1128522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对于要不要读《红楼梦》，许多学者认为：读《红楼梦》有助于了解中国传统文化，因此年轻人都应该读《红楼梦》。</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以下属于这一推论暗含前提的是（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《红楼梦》是中国古典文学著作</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年轻人都应该了解中国传统文化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大部分学者都读过《红楼梦》</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《红楼梦》与中国文化相辅相成</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1121029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水火是无情的，人不是水火，所以人不是无情的。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下列选项所犯的逻辑错误与题干最相似的是（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所有羊都是白色的，羊毛是白色的，所以羊毛是羊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蛋糕都是圆的，蛋糕里面添加了鸡蛋，所以鸡蛋也是圆的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水星是星球，水星上没有人类；地球是星球，所以地球上也没有人类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所有不遵守规则的司机都会被处罚，司机小陈一直遵守规则，所以他不会被处罚</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甲、乙、丙、丁</a:t>
            </a:r>
            <a:r>
              <a:rPr lang="en-US" altLang="zh-CN" sz="2000" dirty="0">
                <a:cs typeface="微软雅黑" panose="020B0503020204020204" charset="-122"/>
                <a:sym typeface="+mn-ea"/>
              </a:rPr>
              <a:t>4</a:t>
            </a:r>
            <a:r>
              <a:rPr lang="zh-CN" altLang="en-US" sz="2000" dirty="0">
                <a:cs typeface="微软雅黑" panose="020B0503020204020204" charset="-122"/>
                <a:sym typeface="+mn-ea"/>
              </a:rPr>
              <a:t>人每人都会演奏钢琴、小提琴、二胡和古筝</a:t>
            </a:r>
            <a:r>
              <a:rPr lang="en-US" altLang="zh-CN" sz="2000" dirty="0">
                <a:cs typeface="微软雅黑" panose="020B0503020204020204" charset="-122"/>
                <a:sym typeface="+mn-ea"/>
              </a:rPr>
              <a:t>4</a:t>
            </a:r>
            <a:r>
              <a:rPr lang="zh-CN" altLang="en-US" sz="2000" dirty="0">
                <a:cs typeface="微软雅黑" panose="020B0503020204020204" charset="-122"/>
                <a:sym typeface="+mn-ea"/>
              </a:rPr>
              <a:t>种乐器中的</a:t>
            </a:r>
            <a:r>
              <a:rPr lang="en-US" altLang="zh-CN" sz="2000" dirty="0">
                <a:cs typeface="微软雅黑" panose="020B0503020204020204" charset="-122"/>
                <a:sym typeface="+mn-ea"/>
              </a:rPr>
              <a:t>2</a:t>
            </a:r>
            <a:r>
              <a:rPr lang="zh-CN" altLang="en-US" sz="2000" dirty="0">
                <a:cs typeface="微软雅黑" panose="020B0503020204020204" charset="-122"/>
                <a:sym typeface="+mn-ea"/>
              </a:rPr>
              <a:t>种，且每种乐器都有</a:t>
            </a:r>
            <a:r>
              <a:rPr lang="en-US" altLang="zh-CN" sz="2000" dirty="0">
                <a:cs typeface="微软雅黑" panose="020B0503020204020204" charset="-122"/>
                <a:sym typeface="+mn-ea"/>
              </a:rPr>
              <a:t>2</a:t>
            </a:r>
            <a:r>
              <a:rPr lang="zh-CN" altLang="en-US" sz="2000" dirty="0">
                <a:cs typeface="微软雅黑" panose="020B0503020204020204" charset="-122"/>
                <a:sym typeface="+mn-ea"/>
              </a:rPr>
              <a:t>人会演奏。已知：</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甲不会演奏钢琴；</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丁不会演奏古筝；</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丙不会演奏钢琴和小提琴；</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乙和丙会演奏的乐器中有且仅有</a:t>
            </a:r>
            <a:r>
              <a:rPr lang="en-US" altLang="zh-CN" sz="2000" dirty="0">
                <a:cs typeface="微软雅黑" panose="020B0503020204020204" charset="-122"/>
                <a:sym typeface="+mn-ea"/>
              </a:rPr>
              <a:t>1</a:t>
            </a:r>
            <a:r>
              <a:rPr lang="zh-CN" altLang="en-US" sz="2000" dirty="0">
                <a:cs typeface="微软雅黑" panose="020B0503020204020204" charset="-122"/>
                <a:sym typeface="+mn-ea"/>
              </a:rPr>
              <a:t>种相同。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甲会演奏小提琴</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甲不会演奏二胡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乙会演奏古筝</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甲和丁会演奏的乐器完全不同</a:t>
            </a:r>
            <a:endParaRPr lang="zh-CN" altLang="en-US" sz="2000" dirty="0">
              <a:cs typeface="微软雅黑" panose="020B0503020204020204" charset="-122"/>
              <a:sym typeface="+mn-ea"/>
            </a:endParaRPr>
          </a:p>
        </p:txBody>
      </p:sp>
      <p:graphicFrame>
        <p:nvGraphicFramePr>
          <p:cNvPr id="4" name="表格 3"/>
          <p:cNvGraphicFramePr/>
          <p:nvPr/>
        </p:nvGraphicFramePr>
        <p:xfrm>
          <a:off x="5864225" y="3531870"/>
          <a:ext cx="5489575" cy="1930400"/>
        </p:xfrm>
        <a:graphic>
          <a:graphicData uri="http://schemas.openxmlformats.org/drawingml/2006/table">
            <a:tbl>
              <a:tblPr firstRow="1" bandRow="1">
                <a:tableStyleId>{5C22544A-7EE6-4342-B048-85BDC9FD1C3A}</a:tableStyleId>
              </a:tblPr>
              <a:tblGrid>
                <a:gridCol w="1097915"/>
                <a:gridCol w="1097915"/>
                <a:gridCol w="1097915"/>
                <a:gridCol w="1097915"/>
                <a:gridCol w="1097915"/>
              </a:tblGrid>
              <a:tr h="386080">
                <a:tc>
                  <a:txBody>
                    <a:bodyPr/>
                    <a:p>
                      <a:pPr algn="ctr">
                        <a:buNone/>
                      </a:pPr>
                      <a:endParaRPr lang="zh-CN" altLang="en-US"/>
                    </a:p>
                  </a:txBody>
                  <a:tcPr/>
                </a:tc>
                <a:tc>
                  <a:txBody>
                    <a:bodyPr/>
                    <a:p>
                      <a:pPr algn="ctr">
                        <a:buNone/>
                      </a:pPr>
                      <a:r>
                        <a:rPr lang="zh-CN" altLang="en-US"/>
                        <a:t>钢琴</a:t>
                      </a:r>
                      <a:endParaRPr lang="zh-CN" altLang="en-US"/>
                    </a:p>
                  </a:txBody>
                  <a:tcPr/>
                </a:tc>
                <a:tc>
                  <a:txBody>
                    <a:bodyPr/>
                    <a:p>
                      <a:pPr algn="ctr">
                        <a:buNone/>
                      </a:pPr>
                      <a:r>
                        <a:rPr lang="zh-CN" altLang="en-US"/>
                        <a:t>小提琴</a:t>
                      </a:r>
                      <a:endParaRPr lang="zh-CN" altLang="en-US"/>
                    </a:p>
                  </a:txBody>
                  <a:tcPr/>
                </a:tc>
                <a:tc>
                  <a:txBody>
                    <a:bodyPr/>
                    <a:p>
                      <a:pPr algn="ctr">
                        <a:buNone/>
                      </a:pPr>
                      <a:r>
                        <a:rPr lang="zh-CN" altLang="en-US"/>
                        <a:t>二胡</a:t>
                      </a:r>
                      <a:endParaRPr lang="zh-CN" altLang="en-US"/>
                    </a:p>
                  </a:txBody>
                  <a:tcPr/>
                </a:tc>
                <a:tc>
                  <a:txBody>
                    <a:bodyPr/>
                    <a:p>
                      <a:pPr algn="ctr">
                        <a:buNone/>
                      </a:pPr>
                      <a:r>
                        <a:rPr lang="zh-CN" altLang="en-US"/>
                        <a:t>古筝</a:t>
                      </a:r>
                      <a:endParaRPr lang="zh-CN" altLang="en-US"/>
                    </a:p>
                  </a:txBody>
                  <a:tcPr/>
                </a:tc>
              </a:tr>
              <a:tr h="386080">
                <a:tc>
                  <a:txBody>
                    <a:bodyPr/>
                    <a:p>
                      <a:pPr algn="ctr">
                        <a:buNone/>
                      </a:pPr>
                      <a:r>
                        <a:rPr lang="zh-CN" altLang="en-US"/>
                        <a:t>甲</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r h="386080">
                <a:tc>
                  <a:txBody>
                    <a:bodyPr/>
                    <a:p>
                      <a:pPr algn="ctr">
                        <a:buNone/>
                      </a:pPr>
                      <a:r>
                        <a:rPr lang="zh-CN" altLang="en-US"/>
                        <a:t>乙</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r h="386080">
                <a:tc>
                  <a:txBody>
                    <a:bodyPr/>
                    <a:p>
                      <a:pPr algn="ctr">
                        <a:buNone/>
                      </a:pPr>
                      <a:r>
                        <a:rPr lang="zh-CN" altLang="en-US"/>
                        <a:t>丙</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r h="386080">
                <a:tc>
                  <a:txBody>
                    <a:bodyPr/>
                    <a:p>
                      <a:pPr algn="ctr">
                        <a:buNone/>
                      </a:pPr>
                      <a:r>
                        <a:rPr lang="zh-CN" altLang="en-US"/>
                        <a:t>丁</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1124775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研究表明，购物行为能够刺激大脑的多个区域，使人们感到幸福。进一步研究发现，在别人身上花的钱占购物支出的比例越大的人，其幸福感越强；但在自己身上花钱的多少和幸福感的关系则不那么明显。有人因此认为，为了提高个人幸福感，在购物时，应该给别人花更多的钱。</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下列选项如果为真，最能反驳这一结论的是（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向他人推荐的商品如果受到了他人的认可，人们也会感到幸福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如果为他人购买的商品没有受到他人的喜爱，容易使人变得沮丧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购物带来的快乐很短暂，个人所面对的困难和压力不会因为购物而消失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与他人关系好的人往往更加幸福，且更愿意在购物时为他人花更多的钱</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a:t>
            </a:r>
            <a:r>
              <a:rPr kumimoji="1" lang="en-US" altLang="zh-CN" sz="2800" b="1" dirty="0">
                <a:solidFill>
                  <a:srgbClr val="FF653F"/>
                </a:solidFill>
              </a:rPr>
              <a:t>0</a:t>
            </a:r>
            <a:endParaRPr kumimoji="1" lang="en-US" altLang="zh-CN" sz="2800" b="1" dirty="0">
              <a:solidFill>
                <a:srgbClr val="FF653F"/>
              </a:solidFill>
            </a:endParaRPr>
          </a:p>
        </p:txBody>
      </p:sp>
      <p:sp>
        <p:nvSpPr>
          <p:cNvPr id="3" name="文本框 2"/>
          <p:cNvSpPr txBox="1"/>
          <p:nvPr/>
        </p:nvSpPr>
        <p:spPr>
          <a:xfrm>
            <a:off x="462915" y="701675"/>
            <a:ext cx="1122299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建设生态公园可以保护生态环境，保护生态环境有利于经济社会的绿色发展，所以建设生态公园有利于经济社会的绿色发展。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以下选项的逻辑结构与题干最为相似的是（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诚实的人被尊敬，虚伪的人被疏远，所以，诚实的人不会被疏远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运动有利于身体健康，跑步有利于身体健康，所以跑步是一种运动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新能源汽车使用清洁能源，使用清洁能源是绿色环保的，所以新能源汽车是绿色环保的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正直的人做的事都是合法的，不正直的人才会做不合法的事，所以，做事是否合法是判断正直与否的标准</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1122299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有研究发现，即使经过多次清洗，塑料水壶瓶身的化学成分还是会释放到水中。而在用清洁剂清洗水壶后，不但没有解决问题，水壶内还增加了多种来自清洁剂的化学成分。有人因此认为，与金属材质水壶相比，塑料水壶更不利于人体健康。</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下列选项如果为真，最能质疑上述观点的是：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如果使用不当，金属材质水壶可能会生锈</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在多数情况下，人们不会用清洁剂清洗塑料水壶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由于剂量低，这些化学成分无法对人体产生任何影响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不同种类的塑料水壶，其瓶身的化学成分具有显著差异</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1130998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最近，市场上中药材的价格有所下降。据调查，中药材产量的增加是价格下降的主要原因。由于近年来中药材种植业蓬勃发展，而野生中药材的产量没有显著增加，因此中药材产量的增加主要缘于中药材种植业的蓬勃发展。</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要使上述推理成立，需要补充的前提条件是：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多种中药材的产量大幅增加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一些消费者偏好野生中药材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部分中药材已经实现规模化种植</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中药材只能通过种植和野外采集获得</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1127252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成年人读书，既可以提升专业技能，又能提升个人修养；儿童读书，不仅可以开阔视野，还能提高阅读写作能力。所以，读书没有年龄的限制，任何人读书都有好处。</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以下选项的逻辑结构与题干最为相似的是（</a:t>
            </a:r>
            <a:r>
              <a:rPr lang="en-US" altLang="zh-CN"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无论是一线还是二、三线城市，有人就有商机。因此，无论在哪一座城市，人口数量都是商业发展的决定性因素</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冬季家中的温度计，量出来的不只是室内温度，更是民生的</a:t>
            </a:r>
            <a:r>
              <a:rPr lang="en-US" altLang="zh-CN" dirty="0">
                <a:cs typeface="微软雅黑" panose="020B0503020204020204" charset="-122"/>
                <a:sym typeface="+mn-ea"/>
              </a:rPr>
              <a:t>“</a:t>
            </a:r>
            <a:r>
              <a:rPr lang="zh-CN" altLang="en-US" dirty="0">
                <a:cs typeface="微软雅黑" panose="020B0503020204020204" charset="-122"/>
                <a:sym typeface="+mn-ea"/>
              </a:rPr>
              <a:t>温度</a:t>
            </a:r>
            <a:r>
              <a:rPr lang="en-US" altLang="zh-CN" dirty="0">
                <a:cs typeface="微软雅黑" panose="020B0503020204020204" charset="-122"/>
                <a:sym typeface="+mn-ea"/>
              </a:rPr>
              <a:t>”</a:t>
            </a:r>
            <a:r>
              <a:rPr lang="zh-CN" altLang="en-US" dirty="0">
                <a:cs typeface="微软雅黑" panose="020B0503020204020204" charset="-122"/>
                <a:sym typeface="+mn-ea"/>
              </a:rPr>
              <a:t>。民众越是费心，越说明政府工作没有用心；民众越是舒心，越体现政府工作的暖心</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经济工作千头万绪，善于抓住并集中力量解决主要矛盾、关键问题，就能在错综复杂的局面中育新机、开新局。所以，局面越是复杂，越需要团结协力</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劳动者懂法，可以在个人利益受到侵犯时，运用法律武器维护自身权益；用人单位懂法，可以减少劳动纠纷，使劳动关系更加和谐。所以，懂法对劳动关系双方都是有益的</a:t>
            </a:r>
            <a:endParaRPr lang="zh-CN" altLang="en-US"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1127188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某团队开展了一项关于预防中风的研究。研究对象分为两组，一组食用低钠盐（约</a:t>
            </a:r>
            <a:r>
              <a:rPr lang="en-US" altLang="zh-CN" sz="2000" dirty="0">
                <a:cs typeface="微软雅黑" panose="020B0503020204020204" charset="-122"/>
                <a:sym typeface="+mn-ea"/>
              </a:rPr>
              <a:t>75%</a:t>
            </a:r>
            <a:r>
              <a:rPr lang="zh-CN" altLang="en-US" sz="2000" dirty="0">
                <a:cs typeface="微软雅黑" panose="020B0503020204020204" charset="-122"/>
                <a:sym typeface="+mn-ea"/>
              </a:rPr>
              <a:t>的氯化钠和</a:t>
            </a:r>
            <a:r>
              <a:rPr lang="en-US" altLang="zh-CN" sz="2000" dirty="0">
                <a:cs typeface="微软雅黑" panose="020B0503020204020204" charset="-122"/>
                <a:sym typeface="+mn-ea"/>
              </a:rPr>
              <a:t>25%</a:t>
            </a:r>
            <a:r>
              <a:rPr lang="zh-CN" altLang="en-US" sz="2000" dirty="0">
                <a:cs typeface="微软雅黑" panose="020B0503020204020204" charset="-122"/>
                <a:sym typeface="+mn-ea"/>
              </a:rPr>
              <a:t>的氯化钾），一组食用普通盐（约</a:t>
            </a:r>
            <a:r>
              <a:rPr lang="en-US" altLang="zh-CN" sz="2000" dirty="0">
                <a:cs typeface="微软雅黑" panose="020B0503020204020204" charset="-122"/>
                <a:sym typeface="+mn-ea"/>
              </a:rPr>
              <a:t>97%</a:t>
            </a:r>
            <a:r>
              <a:rPr lang="zh-CN" altLang="en-US" sz="2000" dirty="0">
                <a:cs typeface="微软雅黑" panose="020B0503020204020204" charset="-122"/>
                <a:sym typeface="+mn-ea"/>
              </a:rPr>
              <a:t>的氯化钠）。在</a:t>
            </a:r>
            <a:r>
              <a:rPr lang="en-US" altLang="zh-CN" sz="2000" dirty="0">
                <a:cs typeface="微软雅黑" panose="020B0503020204020204" charset="-122"/>
                <a:sym typeface="+mn-ea"/>
              </a:rPr>
              <a:t>5</a:t>
            </a:r>
            <a:r>
              <a:rPr lang="zh-CN" altLang="en-US" sz="2000" dirty="0">
                <a:cs typeface="微软雅黑" panose="020B0503020204020204" charset="-122"/>
                <a:sym typeface="+mn-ea"/>
              </a:rPr>
              <a:t>年的跟踪调查中发现，食用低钠盐的群体，其中风发病率显著低于食用普通盐的群体。因此，减少钠的摄入有助于预防中风。</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以下各项如果为真，最不能支持这一结论的是（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食用低钠盐的中风患者的死亡率远低于食用普通盐的中风患者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两组研究对象在性别、年龄等方面不存在明显差异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研究期间，两组研究对象每日摄入的盐含量接近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摄入氯化钾不会影响中风发病率</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1127188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为降低景区人流量负荷，某景区从原先的窗口售票制改为网上预约制，每个时段限量放票，游客仅可在网上预约的时段进入景区。实行网上预约制一段时间后，许多时间段里景区依然拥挤，游客的旅游体验并未得到明显改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以下各项如果为真，最不能解释这一现象的是（</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该景区各时段放票数量过多，超过了景区承载能力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该景区门票预约系统操作繁琐，许多游客反映预约体验不佳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该景区未规定游客离开的时间，许多游客在景区内长时间逗留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游客预约的时段过于集中，一些时段人满为患、一些时段无人预约</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3455</Words>
  <Application>WPS 演示</Application>
  <PresentationFormat>宽屏</PresentationFormat>
  <Paragraphs>185</Paragraphs>
  <Slides>22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题46</vt:lpstr>
      <vt:lpstr>题47</vt:lpstr>
      <vt:lpstr>题48</vt:lpstr>
      <vt:lpstr>题49</vt:lpstr>
      <vt:lpstr>题50</vt:lpstr>
      <vt:lpstr>题51</vt:lpstr>
      <vt:lpstr>题52</vt:lpstr>
      <vt:lpstr>题53</vt:lpstr>
      <vt:lpstr>题54</vt:lpstr>
      <vt:lpstr>题55</vt:lpstr>
      <vt:lpstr>题56</vt:lpstr>
      <vt:lpstr>题57</vt:lpstr>
      <vt:lpstr>题58</vt:lpstr>
      <vt:lpstr>题59</vt:lpstr>
      <vt:lpstr>题60</vt:lpstr>
      <vt:lpstr>题61</vt:lpstr>
      <vt:lpstr>题62</vt:lpstr>
      <vt:lpstr>题63</vt:lpstr>
      <vt:lpstr>题64</vt:lpstr>
      <vt:lpstr>题65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200</cp:revision>
  <dcterms:created xsi:type="dcterms:W3CDTF">2019-06-19T02:08:00Z</dcterms:created>
  <dcterms:modified xsi:type="dcterms:W3CDTF">2026-05-26T02:17:21Z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7E0F0589F6D94CFE8A4BC2AEA01394FF_11</vt:lpwstr>
  </property>
</Properties>
</file>