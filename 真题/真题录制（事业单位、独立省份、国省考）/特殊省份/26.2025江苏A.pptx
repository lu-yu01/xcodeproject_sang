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52"/>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405" r:id="rId24"/>
    <p:sldId id="1379" r:id="rId25"/>
    <p:sldId id="1380" r:id="rId26"/>
    <p:sldId id="1381" r:id="rId27"/>
    <p:sldId id="1382" r:id="rId28"/>
    <p:sldId id="1383" r:id="rId29"/>
    <p:sldId id="1384" r:id="rId30"/>
    <p:sldId id="1385" r:id="rId31"/>
    <p:sldId id="1386" r:id="rId32"/>
    <p:sldId id="1387" r:id="rId33"/>
    <p:sldId id="1388" r:id="rId34"/>
    <p:sldId id="1389" r:id="rId35"/>
    <p:sldId id="1390" r:id="rId36"/>
    <p:sldId id="1391" r:id="rId37"/>
    <p:sldId id="1392" r:id="rId38"/>
    <p:sldId id="1393" r:id="rId39"/>
    <p:sldId id="1406" r:id="rId40"/>
    <p:sldId id="1395" r:id="rId41"/>
    <p:sldId id="1396" r:id="rId42"/>
    <p:sldId id="1397" r:id="rId43"/>
    <p:sldId id="1398" r:id="rId44"/>
    <p:sldId id="1399" r:id="rId45"/>
    <p:sldId id="1400" r:id="rId46"/>
    <p:sldId id="1401" r:id="rId47"/>
    <p:sldId id="1402" r:id="rId48"/>
    <p:sldId id="1403" r:id="rId49"/>
    <p:sldId id="1404" r:id="rId50"/>
    <p:sldId id="992" r:id="rId51"/>
  </p:sldIdLst>
  <p:sldSz cx="12192000" cy="6858000"/>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3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gs" Target="tags/tag32.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71.</a:t>
            </a:r>
            <a:r>
              <a:rPr lang="zh-CN" altLang="en-US" dirty="0">
                <a:effectLst/>
                <a:latin typeface="+mn-lt"/>
                <a:sym typeface="+mn-ea"/>
              </a:rPr>
              <a:t>【答案】</a:t>
            </a:r>
            <a:r>
              <a:rPr lang="en-US" altLang="zh-CN" dirty="0">
                <a:effectLst/>
                <a:latin typeface="+mn-lt"/>
                <a:sym typeface="+mn-ea"/>
              </a:rPr>
              <a:t>D</a:t>
            </a:r>
            <a:endParaRPr lang="en-US" altLang="zh-CN" kern="1200" dirty="0">
              <a:solidFill>
                <a:schemeClr val="tx1"/>
              </a:solidFill>
              <a:effectLst/>
              <a:latin typeface="+mn-lt"/>
              <a:sym typeface="+mn-ea"/>
            </a:endParaRPr>
          </a:p>
          <a:p>
            <a:r>
              <a:rPr lang="zh-CN" altLang="en-US" dirty="0">
                <a:effectLst/>
                <a:latin typeface="+mn-lt"/>
                <a:sym typeface="+mn-ea"/>
              </a:rPr>
              <a:t>【解析】元宇宙是通过虚拟增强的物理现实，是呈现收敛性和物理持久性特征的、基于未来互联网的具有链接感知和共享特征的</a:t>
            </a:r>
            <a:r>
              <a:rPr lang="en-US" altLang="zh-CN" dirty="0">
                <a:effectLst/>
                <a:latin typeface="+mn-lt"/>
                <a:sym typeface="+mn-ea"/>
              </a:rPr>
              <a:t>3D</a:t>
            </a:r>
            <a:r>
              <a:rPr lang="zh-CN" altLang="en-US" dirty="0">
                <a:effectLst/>
                <a:latin typeface="+mn-lt"/>
                <a:sym typeface="+mn-ea"/>
              </a:rPr>
              <a:t>虚拟空间。元宇宙一定具有虚拟性，二者是必然属性的对应关系。</a:t>
            </a:r>
            <a:endParaRPr lang="zh-CN" altLang="en-US" kern="1200" dirty="0">
              <a:solidFill>
                <a:schemeClr val="tx1"/>
              </a:solidFill>
              <a:effectLst/>
              <a:latin typeface="+mn-lt"/>
              <a:sym typeface="+mn-ea"/>
            </a:endParaRPr>
          </a:p>
          <a:p>
            <a:r>
              <a:rPr lang="en-US" altLang="zh-CN" dirty="0">
                <a:effectLst/>
                <a:latin typeface="+mn-lt"/>
                <a:sym typeface="+mn-ea"/>
              </a:rPr>
              <a:t>A</a:t>
            </a:r>
            <a:r>
              <a:rPr lang="zh-CN" altLang="en-US" dirty="0">
                <a:effectLst/>
                <a:latin typeface="+mn-lt"/>
                <a:sym typeface="+mn-ea"/>
              </a:rPr>
              <a:t>项：实验不一定具有前瞻性，二者是或然属性的对应关系，与题干逻辑关系不一致，排除；</a:t>
            </a:r>
            <a:endParaRPr lang="zh-CN" altLang="en-US" kern="1200" dirty="0">
              <a:solidFill>
                <a:schemeClr val="tx1"/>
              </a:solidFill>
              <a:effectLst/>
              <a:latin typeface="+mn-lt"/>
              <a:sym typeface="+mn-ea"/>
            </a:endParaRPr>
          </a:p>
          <a:p>
            <a:r>
              <a:rPr lang="en-US" altLang="zh-CN" dirty="0">
                <a:effectLst/>
                <a:latin typeface="+mn-lt"/>
                <a:sym typeface="+mn-ea"/>
              </a:rPr>
              <a:t>B</a:t>
            </a:r>
            <a:r>
              <a:rPr lang="zh-CN" altLang="en-US" dirty="0">
                <a:effectLst/>
                <a:latin typeface="+mn-lt"/>
                <a:sym typeface="+mn-ea"/>
              </a:rPr>
              <a:t>项：决策不一定具有可行性，二者是或然属性的对应关系，与题干逻辑关系不一致，排除；</a:t>
            </a:r>
            <a:endParaRPr lang="zh-CN" altLang="en-US" kern="1200" dirty="0">
              <a:solidFill>
                <a:schemeClr val="tx1"/>
              </a:solidFill>
              <a:effectLst/>
              <a:latin typeface="+mn-lt"/>
              <a:sym typeface="+mn-ea"/>
            </a:endParaRPr>
          </a:p>
          <a:p>
            <a:r>
              <a:rPr lang="en-US" altLang="zh-CN" dirty="0">
                <a:effectLst/>
                <a:latin typeface="+mn-lt"/>
                <a:sym typeface="+mn-ea"/>
              </a:rPr>
              <a:t>C</a:t>
            </a:r>
            <a:r>
              <a:rPr lang="zh-CN" altLang="en-US" dirty="0">
                <a:effectLst/>
                <a:latin typeface="+mn-lt"/>
                <a:sym typeface="+mn-ea"/>
              </a:rPr>
              <a:t>项：宣传不一定具有普遍性，二者是或然属性的对应关系，与题干逻辑关系不一致，排除；</a:t>
            </a:r>
            <a:endParaRPr lang="zh-CN" altLang="en-US" kern="1200" dirty="0">
              <a:solidFill>
                <a:schemeClr val="tx1"/>
              </a:solidFill>
              <a:effectLst/>
              <a:latin typeface="+mn-lt"/>
              <a:sym typeface="+mn-ea"/>
            </a:endParaRPr>
          </a:p>
          <a:p>
            <a:r>
              <a:rPr lang="en-US" altLang="zh-CN" dirty="0">
                <a:effectLst/>
                <a:latin typeface="+mn-lt"/>
                <a:sym typeface="+mn-ea"/>
              </a:rPr>
              <a:t>D</a:t>
            </a:r>
            <a:r>
              <a:rPr lang="zh-CN" altLang="en-US" dirty="0">
                <a:effectLst/>
                <a:latin typeface="+mn-lt"/>
                <a:sym typeface="+mn-ea"/>
              </a:rPr>
              <a:t>项：总结指总结后概括出来的结论。总结一定具有概括性，二者是必然属性的对应关系，与题干逻辑关系一致，当选。</a:t>
            </a:r>
            <a:endParaRPr lang="zh-CN" altLang="en-US" kern="1200" dirty="0">
              <a:solidFill>
                <a:schemeClr val="tx1"/>
              </a:solidFill>
              <a:effectLst/>
              <a:latin typeface="+mn-lt"/>
              <a:sym typeface="+mn-ea"/>
            </a:endParaRPr>
          </a:p>
          <a:p>
            <a:r>
              <a:rPr lang="zh-CN" altLang="en-US" dirty="0">
                <a:effectLst/>
                <a:latin typeface="+mn-lt"/>
                <a:sym typeface="+mn-ea"/>
              </a:rPr>
              <a:t>因此本题选</a:t>
            </a:r>
            <a:r>
              <a:rPr lang="en-US" altLang="zh-CN" dirty="0">
                <a:effectLst/>
                <a:latin typeface="+mn-lt"/>
                <a:sym typeface="+mn-ea"/>
              </a:rPr>
              <a:t>D</a:t>
            </a:r>
            <a:r>
              <a:rPr lang="zh-CN" altLang="en-US" dirty="0">
                <a:effectLst/>
                <a:latin typeface="+mn-lt"/>
                <a:sym typeface="+mn-ea"/>
              </a:rPr>
              <a:t>。</a:t>
            </a:r>
            <a:endParaRPr lang="zh-CN" altLang="en-US"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舍本逐末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指舍弃事物的根本的、主要的部分，而去追求细枝末节，指轻重倒置。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舍本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逐末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均是反义关系。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买椟还珠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指买了装了珍珠的木匣退还了珍珠。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买椟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还珠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均不是反义关系，与题干逻辑关系不一致，排除；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取长补短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指吸取别人的长处，弥补自己的短处。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，二者是方式目的的对应关系，且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不是反义关系，与题干逻辑关系不一致，排除；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避重就轻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指避开重要的而拣次要的来承担，也指回避主要的问题，只谈无关紧要的方面。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避重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指凑近、靠近，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均是反义关系，与题干逻辑关系一致，当选；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趋炎附势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指奉承、依附有权有势的人。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趋炎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均不是反义关系，与题干逻辑关系不一致，排除。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意思是一个地方热得太厉害，不久便会产生大风；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意思是在穷困艰难的时候，就要想办法改变现状。二者无明显语义关系，考虑拆分。因为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均可指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意思是鼓里面是空的时候声音反而大；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人狂话大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意思是没有真才实学的人往往狂妄自大，好说大话，喜欢吹牛。因为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意思是以绳当锯，也能锯断木头；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水滴石穿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意思是水滴不断地滴，可以滴穿石头。因为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水滴石穿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均无法指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人闲生病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意思是人闲得无聊就容易生病；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石闲生苔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意思是闲置的石头很容易长出青苔。因为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人闲生病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石闲生苔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均可指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得道多助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意思是坚持正义就能得到多方面的支持与帮助；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失道寡助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意思是违背正义必然陷于孤立。因为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寡助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，二者拆分之后均为因果关系，但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得道多助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失道寡助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均无法指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事物在极端持续状态下会发生变化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本题为争议题。若看题干第一个词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热极生风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与物有关，第二个词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穷极思变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与人有关；</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项第一个词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鼓空声高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与物有关，第二个词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人狂话大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与人有关，</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项刚好顺序反了，也有同学会选择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此考法历年真题也确实考过。两种理解方式均有合理之处，考生无需过于纠结不严谨的题，重点学习此类题的解题思路即可，这种同时涉及物和人的成语或诗句可能会考查的两个角度，一是具体意思的类似，二是由物到人或由人到物的类比。</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苍鹰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鸿雁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都是鸟类，二者为并列关系；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鸿雁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是书信的代称，可以比喻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书信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，第二个词与第三个词构成比喻象征义。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注水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都是动作，二者为并列关系；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可用于支持，指勉励他人或自己，可以比喻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，第一个词与第三个词构成比喻象征义，词语顺序与题干不一致，与题干逻辑关系不一致，排除；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下海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都是动作，二者为并列关系；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指舍舟登陆，也指考生被录取，可以比喻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录取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，第二个词与第三个词构成比喻象征义，与题干逻辑关系一致，当选；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须眉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指胡须和眉毛，也可以比喻男子，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巾帼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指古代妇女的头巾和发饰，也可以比喻女子，二者为并列关系；但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巾帼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不能比喻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围脖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疆域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指国家领土，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河山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指国家的疆土，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指国家的领土，第一个词和第三个词意思一致，二者为全同关系，与题干逻辑关系不一致，排除。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货币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的工具，且通常来说没有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货币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就无法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，二者为必要工具的对应关系；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的工具，但没有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，二者为非必要工具的对应关系。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攀登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的对象而非工具，二者不是必要工具的对应关系，与题干逻辑关系不一致，排除；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垂钓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的工具，且都是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垂钓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的必要工具，二者分别与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垂钓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构成必要工具的对应关系，与题干逻辑关系不一致，排除；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是人类用符号记录表达信息以传之久远的方式和工具。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的工具，且没有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就无法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，二者为必要工具的对应关系；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的工具，但没有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，二者为非必要工具的对应关系，与题干逻辑关系一致，当选；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景点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旅游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的对象而非工具，二者不是必要工具的对应关系，与题干逻辑关系不一致，排除。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货币：行为所需媒介 / 工具材料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购物车：行为使用的载体 / 工具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顺序：行为：媒介素材：实用工具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逐项对照</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攀登：山峰：手杖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山峰是地点对象，不是媒介，排除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垂钓：鱼竿：鱼钩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鱼竿、鱼钩都是同类渔具，无媒介区分，并列关系，排除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写作：文字：电脑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写作（行为）→文字（内容媒介素材）→电脑（使用工具）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和题干逻辑完全一致 ✅</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旅游：景点：导游</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景点是目的地，导游是陪同人员，逻辑不符，排除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速记：行为 + 内容素材 + 实操工具</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本意为船舶、飞机等交通工具上为了保持平衡和稳定而放置的重物，后比喻对事物发展起到稳定、支撑作用的关键因素、重要力量或基础保障。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社会稳定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先手棋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本来指围棋、象棋等棋类游戏中，先走的一方所下的第一步棋，具有争取主动的优势，后引申为在竞争、行动等过程中，为了占据主动地位而采取的第一步或关键的起始行动、策略等。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科技创新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先手棋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，三者不构成对应关系，与题干逻辑关系不一致，排除；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指事物最基础、最根本的部分。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耕地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粮食生产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晴雨表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比喻能敏锐地反映某种变化或在事情发生前出现征兆的事物。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管理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人才培养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晴雨表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，三者不构成对应关系，与题干逻辑关系不一致，排除；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指在军事作战中，军队主要据守和作战的地区或位置，现在常用来指在某个领域、行业或工作中，起主导、核心作用，集中力量进行主要活动或发挥主要作用的地方、领域或平台等。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知识传播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，三者为对应关系，与题干逻辑关系一致，保留。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B.D</a:t>
            </a:r>
            <a:r>
              <a:rPr lang="zh-CN" altLang="en-US" sz="1200" kern="1200" dirty="0">
                <a:solidFill>
                  <a:schemeClr val="tx1"/>
                </a:solidFill>
                <a:effectLst/>
                <a:latin typeface="+mn-lt"/>
                <a:sym typeface="+mn-ea"/>
              </a:rPr>
              <a:t>两项，题干的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是维持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社会稳定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的重要基础和关键因素，对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社会稳定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起着支撑作用，</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耕地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粮食生产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的根本和基础，对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粮食生产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起着支撑作用，而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没有体现这种基础和支撑作用。且题干的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压舱石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都是物品，而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主阵地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为地点，故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压舱石（比喻稳固根基的事物）：就业是保障社会稳定的根基，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句式：比喻喻体 + 核心要素 + 最终作用 / 目标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XX </a:t>
            </a:r>
            <a:r>
              <a:rPr lang="zh-CN" altLang="en-US" sz="1200" kern="1200" dirty="0">
                <a:solidFill>
                  <a:schemeClr val="tx1"/>
                </a:solidFill>
                <a:effectLst/>
                <a:latin typeface="+mn-lt"/>
                <a:sym typeface="+mn-ea"/>
              </a:rPr>
              <a:t>是 </a:t>
            </a:r>
            <a:r>
              <a:rPr lang="en-US" altLang="zh-CN" sz="1200" kern="1200" dirty="0">
                <a:solidFill>
                  <a:schemeClr val="tx1"/>
                </a:solidFill>
                <a:effectLst/>
                <a:latin typeface="+mn-lt"/>
                <a:sym typeface="+mn-ea"/>
              </a:rPr>
              <a:t>XX </a:t>
            </a:r>
            <a:r>
              <a:rPr lang="zh-CN" altLang="en-US" sz="1200" kern="1200" dirty="0">
                <a:solidFill>
                  <a:schemeClr val="tx1"/>
                </a:solidFill>
                <a:effectLst/>
                <a:latin typeface="+mn-lt"/>
                <a:sym typeface="+mn-ea"/>
              </a:rPr>
              <a:t>的压舱石，保障达成 </a:t>
            </a:r>
            <a:r>
              <a:rPr lang="en-US" altLang="zh-CN" sz="1200" kern="1200" dirty="0">
                <a:solidFill>
                  <a:schemeClr val="tx1"/>
                </a:solidFill>
                <a:effectLst/>
                <a:latin typeface="+mn-lt"/>
                <a:sym typeface="+mn-ea"/>
              </a:rPr>
              <a:t>XX。</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选项解析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先手棋是抢先布局，专利不是科技创新的根基，不符</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基本盘（比喻根本依托），耕地是粮食生产的根本依托，逻辑完全匹配 ✅</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晴雨表是反映趋势，和根基依托无关，排除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主阵地是主要场所，侧重场地，非根基支撑，排除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温室效应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冰川融化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冰川融化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海面上升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，三者为连续因果对应关系。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博览群书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视野开阔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博览群书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也可以导致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见解深刻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，第二词和第三词都是第一词的结果，与题干逻辑关系不一致，排除；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连日降雪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道路结冰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道路结冰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出行困难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，三者为连续因果对应关系，与题干逻辑关系一致，保留；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电闪雷鸣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狂风大作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沙尘肆虐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是不同的天气现象，三者不是连续因果对应关系，与题干逻辑关系不一致，排除；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刻苦训练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技能提高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技能提高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获得金牌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，三者为连续因果对应关系，与题干逻辑关系一致，保留。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B.D</a:t>
            </a:r>
            <a:r>
              <a:rPr lang="zh-CN" altLang="en-US" sz="1200" kern="1200" dirty="0">
                <a:solidFill>
                  <a:schemeClr val="tx1"/>
                </a:solidFill>
                <a:effectLst/>
                <a:latin typeface="+mn-lt"/>
                <a:sym typeface="+mn-ea"/>
              </a:rPr>
              <a:t>两项，题干和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项的初始原因均为自然原因，带来的均为消极结果，但</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项初始原因为人为原因，带来的为积极结果，</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【解析】本土药材、野生药材、名贵药材是从不同的划分角度去命名的，三者互为交叉关系。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项：沿海高铁、跨省高铁、城际高铁是从不同的划分角度去命名的，三者互为交叉关系，与题干逻辑关系一致，当选；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传统产业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主要指劳动力密集型的、以制造加工为主的行业。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牛奶产业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传统产业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是指车辆的轴载质量、车货总质量或装载总尺寸超过国家规定的限值；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是指车辆载客或载货超过了其额定的承载能力；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是指车辆的单轴或总质量超过了其设计或核定的最大重量，这是对车辆行驶管理的三个规定，三者为并列关系，与题干逻辑关系不一致，排除；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超重：重量超标；超载：装载货物 / 人数超标（必然伴随超重）；超限：尺寸、高度、长度、宽度、重量任一超标</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社区治理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社会治理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的一个重要组成部分，二者为组成关系，与题干逻辑关系不一致，排除。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本土药材、野生药材、名贵药材；三个词：划分标准各不相同，两两交叉；本土→产地；野生→生长属性；名贵→价值档次</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沿海高铁：跨省高铁：城际高铁；沿海：地理位置；跨省：通行范围；城际：服务功能 / 距离；✅ 三个划分维度完全不一样，两两交叉，和题干一模一样</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牛奶产业：传统产业：养殖产业；牛奶产业 = 品类；传统产业 = 时代；养殖产业 = 行业大类；牛奶产业本身就属于养殖产业，存在种属，不是纯交叉，排除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超限、超载、超重 几乎同义，排除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社区治理属于社会治理，种属，排除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项：森林会调节气候，二者为对应关系；法制会约束或调节社会，二者为对应关系，前后逻辑关系一致，当选；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项：森林会释放氧气，二者为产物的对应关系；自然会影响社会，而社会也会改造自然，二者为互相影响的对应关系，前后逻辑关系不一致，排除；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项：森林是一种生态系统，二者为种属关系；国家可以指阶级统治的工具，也可以指一个国家的整个区域，但国家不是一种社会，二者不是种属关系，前后逻辑关系不一致，排除；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项：树木是森林的组成部分，二者为组成关系；家庭是社会的组成部分，二者为组成关系，但前后词语顺序相反，前后逻辑关系不一致，排除。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项：飞禽指会飞的鸟类，也泛指鸟类。有的生肖是飞禽（如，鸡），有的生肖不是飞禽，有的飞禽是生肖，有的飞禽不是生肖，二者为交叉关系；在路口可以禁行，二者为对应关系，前后逻辑关系不一致，排除；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项：走兽泛指兽类。有的生肖是走兽（如，牛），有的生肖不是走兽，有的走兽是生肖，有的走兽不是生肖，二者为交叉关系；禁行是一种信号，二者为种属关系，前后逻辑关系不一致，排除；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项：天干是对甲、乙、丙、丁、戊、己、庚、辛、壬、癸的统称，传统用作表示次序的符号，和生肖无明显逻辑关系；通行和禁行为反义关系，前后逻辑关系不一致，排除；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地支是对子、丑、寅、卯、辰、巳、午、未、申、酉、戌、亥的统称，生肖是代表十二地支而用来记人的出生年的十二种动物，子属鼠、丑属牛、寅属虎、卯属兔、辰属龙、巳属蛇、午属马、未属羊、申属猴、酉属鸡、戌属狗、亥属猪，二者有紧密的对应关系；红灯指红色的交通信号灯，红灯亮时表示禁止通行，二者有紧密的对应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【解析】元素组成不同，优先考虑属性规律。题干图形规整，且出现明显的等腰元素，考虑对称性。观察发现，题干图形均为轴对称图形，且对称轴数量分别是</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，因此？处图形应仅有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条对称轴，只有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【解析】元素组成相同，但无明显位置规律。观察发现，题干图形均出现两个黑块，且两个黑块之间均间隔一个白块，？处应用规律，只有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【解析】题干中每幅图形均由</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个单独小矩形和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个相连的小矩形构成。观察发现，单独小矩形的方向在每幅图中依次呈水平、竖直，交替放置，故？处应选择一个单独小矩形竖直放置的图形，排除</a:t>
            </a:r>
            <a:r>
              <a:rPr lang="en-US" altLang="zh-CN" sz="1200" kern="1200" dirty="0">
                <a:solidFill>
                  <a:schemeClr val="tx1"/>
                </a:solidFill>
                <a:effectLst/>
                <a:latin typeface="+mn-lt"/>
                <a:sym typeface="+mn-ea"/>
              </a:rPr>
              <a:t>A.D</a:t>
            </a:r>
            <a:r>
              <a:rPr lang="zh-CN" altLang="en-US" sz="1200" kern="1200" dirty="0">
                <a:solidFill>
                  <a:schemeClr val="tx1"/>
                </a:solidFill>
                <a:effectLst/>
                <a:latin typeface="+mn-lt"/>
                <a:sym typeface="+mn-ea"/>
              </a:rPr>
              <a:t>两项；继续观察发现，</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个相连的小矩形中，与单独小矩形方向一致的数量依次为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，交替出现，只有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【解析】元素组成不同，且无明显属性规律，考虑数量规律。观察发现，题干出现多个</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字变形图，考虑笔画数。题干图形均为一笔画图形，？处应用规律，排除</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两项；继续观察发现，题干每幅图形均存在两个三角形面，故？处应选一个存在两个三角形面的图形，只有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图形出现明显的等腰元素，考虑对称性。九宫格优先看横行，第一行中，图一为横轴对称图形，图二为竖轴对称图形，图三为既轴对称又中心对称图形，且对称轴只有一条横轴和一条竖轴；第二行经验证符合此规律；第三行应用此规律，排除</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两项。继续观察发现，题干图形封闭面明显，考虑面数量。第一行中，面数量依次为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；第二行经验证符合此规律；第三行应用此规律，故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处图形应有</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【解析】本题考查平面拼合，可采用平行且等长相消的方式解题。左边给定的图形是由右边</a:t>
            </a:r>
            <a:r>
              <a:rPr lang="en-US" altLang="en-US" sz="1200" kern="1200" dirty="0">
                <a:solidFill>
                  <a:schemeClr val="tx1"/>
                </a:solidFill>
                <a:effectLst/>
                <a:latin typeface="+mn-lt"/>
                <a:sym typeface="+mn-ea"/>
              </a:rPr>
              <a:t>①③④⑤</a:t>
            </a:r>
            <a:r>
              <a:rPr lang="zh-CN" altLang="en-US" sz="1200" kern="1200" dirty="0">
                <a:solidFill>
                  <a:schemeClr val="tx1"/>
                </a:solidFill>
                <a:effectLst/>
                <a:latin typeface="+mn-lt"/>
                <a:sym typeface="+mn-ea"/>
              </a:rPr>
              <a:t>拼合而成的。平行且等长相消的方式如下图所示：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【解析】本题考查平面拼合，可以平移、旋转、翻转，且每张纸片一面是黑色，另一面是白色，需要考虑翻转后的颜色变化。将题干图形标上序号，如下图所示，逐一进行分析。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项：中间的三角形是由图</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旋转后平移过去的，颜色应该是黑色，而选项是白色，排除；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项：下方的多边形是由图</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旋转后平移过去的，颜色应该是白色，而选项是黑色，排除；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项：可以由题干图形拼合而成，拼合方式如图所示，当选；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项：右上角的多边形与题干四张纸片的形状均不相同，无法由题干图形拼合而成，排除。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【解析】将题干立体图和选项展开图的面均标上序号，如下图所示，逐一进行分析。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项：题干立体图中</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面中箭头的箭尾对着</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面，而选项中无论是</a:t>
            </a:r>
            <a:r>
              <a:rPr lang="en-US" altLang="zh-CN" sz="1200" kern="1200" dirty="0">
                <a:solidFill>
                  <a:schemeClr val="tx1"/>
                </a:solidFill>
                <a:effectLst/>
                <a:latin typeface="+mn-lt"/>
                <a:sym typeface="+mn-ea"/>
              </a:rPr>
              <a:t>g1</a:t>
            </a:r>
            <a:r>
              <a:rPr lang="zh-CN" altLang="en-US" sz="1200" kern="1200" dirty="0">
                <a:solidFill>
                  <a:schemeClr val="tx1"/>
                </a:solidFill>
                <a:effectLst/>
                <a:latin typeface="+mn-lt"/>
                <a:sym typeface="+mn-ea"/>
              </a:rPr>
              <a:t>面还是</a:t>
            </a:r>
            <a:r>
              <a:rPr lang="en-US" altLang="zh-CN" sz="1200" kern="1200" dirty="0">
                <a:solidFill>
                  <a:schemeClr val="tx1"/>
                </a:solidFill>
                <a:effectLst/>
                <a:latin typeface="+mn-lt"/>
                <a:sym typeface="+mn-ea"/>
              </a:rPr>
              <a:t>g2</a:t>
            </a:r>
            <a:r>
              <a:rPr lang="zh-CN" altLang="en-US" sz="1200" kern="1200" dirty="0">
                <a:solidFill>
                  <a:schemeClr val="tx1"/>
                </a:solidFill>
                <a:effectLst/>
                <a:latin typeface="+mn-lt"/>
                <a:sym typeface="+mn-ea"/>
              </a:rPr>
              <a:t>面，箭头的箭尾均对着</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面，选项展开图与题干立体图不一致，排除；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项：题干立体图中</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面中箭头指向</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面中箭头的尖，而选项中无论是</a:t>
            </a:r>
            <a:r>
              <a:rPr lang="en-US" altLang="zh-CN" sz="1200" kern="1200" dirty="0">
                <a:solidFill>
                  <a:schemeClr val="tx1"/>
                </a:solidFill>
                <a:effectLst/>
                <a:latin typeface="+mn-lt"/>
                <a:sym typeface="+mn-ea"/>
              </a:rPr>
              <a:t>e1</a:t>
            </a:r>
            <a:r>
              <a:rPr lang="zh-CN" altLang="en-US" sz="1200" kern="1200" dirty="0">
                <a:solidFill>
                  <a:schemeClr val="tx1"/>
                </a:solidFill>
                <a:effectLst/>
                <a:latin typeface="+mn-lt"/>
                <a:sym typeface="+mn-ea"/>
              </a:rPr>
              <a:t>面还是</a:t>
            </a:r>
            <a:r>
              <a:rPr lang="en-US" altLang="zh-CN" sz="1200" kern="1200" dirty="0">
                <a:solidFill>
                  <a:schemeClr val="tx1"/>
                </a:solidFill>
                <a:effectLst/>
                <a:latin typeface="+mn-lt"/>
                <a:sym typeface="+mn-ea"/>
              </a:rPr>
              <a:t>e2</a:t>
            </a:r>
            <a:r>
              <a:rPr lang="zh-CN" altLang="en-US" sz="1200" kern="1200" dirty="0">
                <a:solidFill>
                  <a:schemeClr val="tx1"/>
                </a:solidFill>
                <a:effectLst/>
                <a:latin typeface="+mn-lt"/>
                <a:sym typeface="+mn-ea"/>
              </a:rPr>
              <a:t>面，箭头均指向</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面中箭头的箭身，选项展开图与题干立体图不一致，排除；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项：以</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面中单箭头尖指向的边为起始边，在题干立体图和选项展开图中进行顺时针画边（如下图所示），题干立体图中边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面中的箭尾，而选项中无论是</a:t>
            </a:r>
            <a:r>
              <a:rPr lang="en-US" altLang="zh-CN" sz="1200" kern="1200" dirty="0">
                <a:solidFill>
                  <a:schemeClr val="tx1"/>
                </a:solidFill>
                <a:effectLst/>
                <a:latin typeface="+mn-lt"/>
                <a:sym typeface="+mn-ea"/>
              </a:rPr>
              <a:t>e1</a:t>
            </a:r>
            <a:r>
              <a:rPr lang="zh-CN" altLang="en-US" sz="1200" kern="1200" dirty="0">
                <a:solidFill>
                  <a:schemeClr val="tx1"/>
                </a:solidFill>
                <a:effectLst/>
                <a:latin typeface="+mn-lt"/>
                <a:sym typeface="+mn-ea"/>
              </a:rPr>
              <a:t>面还是</a:t>
            </a:r>
            <a:r>
              <a:rPr lang="en-US" altLang="zh-CN" sz="1200" kern="1200" dirty="0">
                <a:solidFill>
                  <a:schemeClr val="tx1"/>
                </a:solidFill>
                <a:effectLst/>
                <a:latin typeface="+mn-lt"/>
                <a:sym typeface="+mn-ea"/>
              </a:rPr>
              <a:t>e2</a:t>
            </a:r>
            <a:r>
              <a:rPr lang="zh-CN" altLang="en-US" sz="1200" kern="1200" dirty="0">
                <a:solidFill>
                  <a:schemeClr val="tx1"/>
                </a:solidFill>
                <a:effectLst/>
                <a:latin typeface="+mn-lt"/>
                <a:sym typeface="+mn-ea"/>
              </a:rPr>
              <a:t>面，边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均不对应</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面中的箭尾，选项展开图与题干立体图不一致，排除；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项：题干由</a:t>
            </a:r>
            <a:r>
              <a:rPr lang="en-US" altLang="zh-CN" sz="1200" kern="1200" dirty="0">
                <a:solidFill>
                  <a:schemeClr val="tx1"/>
                </a:solidFill>
                <a:effectLst/>
                <a:latin typeface="+mn-lt"/>
                <a:sym typeface="+mn-ea"/>
              </a:rPr>
              <a:t>e1</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面组成，选项展开图与题干立体图一致，当选。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【解析】本题为空间重构题。将题干展开图右侧的面进行移动，并为每个面标上序号，如下图所示，逐一分析选项。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构成，选项与题干展开图一致，当选；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的公共边挨着面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中的大长方形，而选项中面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的公共边不挨着面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中的大长方形，选项与题干展开图不一致，排除；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的公共边与面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中的线条垂直，而选项中面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的公共边与面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中的线条平行，选项与题干展开图不一致，排除；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是相对面，两者不能同时出现，选项与题干展开图不一致，排除。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a:t>
            </a:r>
            <a:r>
              <a:rPr lang="en-US" altLang="zh-CN" sz="1200" kern="1200" dirty="0">
                <a:solidFill>
                  <a:schemeClr val="tx1"/>
                </a:solidFill>
                <a:effectLst/>
                <a:latin typeface="+mn-lt"/>
                <a:sym typeface="+mn-ea"/>
              </a:rPr>
              <a:t>A.B.C</a:t>
            </a:r>
            <a:r>
              <a:rPr lang="zh-CN" altLang="en-US" sz="1200" kern="1200" dirty="0">
                <a:solidFill>
                  <a:schemeClr val="tx1"/>
                </a:solidFill>
                <a:effectLst/>
                <a:latin typeface="+mn-lt"/>
                <a:sym typeface="+mn-ea"/>
              </a:rPr>
              <a:t>三项中的立体图形不可能某一视图由纯白小方格组成，排除。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项中，立体图形的正面能看到</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个白色小立方体和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个灰色小立方体，所以其背面应还有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个白色小立方体和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个灰色小立方体。如下图所示，当灰色小立方体在最下层摆放，白色小立方体摆放在该灰色小立方体的上方时，其俯视图由纯白小方格组成。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现代化有意义</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为了人民的现代化；</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现代化有动力</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依靠人民的现代化；</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坚持一切依靠人民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充分调动广大人民的积极性。</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为了人民的现代化</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现代化有意义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的否后，否后必否前，可以推出，当选；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坚持民生为大</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创造快速发展和社会长期稳定两大奇迹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，二者不存在逻辑关系，无法推出，排除；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调动广大人民的积极性</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的否后，否后必否前，即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充分调动广大人民的积极性</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坚持一切依靠人民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坚持一切为了人民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一定为真，无法推出，排除；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充分调动广大人民的积极性</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坚持一切依靠人民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的肯后，但肯后得不到确定性的结论，无法推出，排除。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折叠屏手机销量连续多年保持两位数的增长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折叠屏手机将是手机研发的下一个风口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折叠屏手机经历多年发展仍只占手机整体销量的</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，通过说明折叠屏手机在手机整体销量中的占比仍很低反驳了甲的结论。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企业应用</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技术比例在</a:t>
            </a:r>
            <a:r>
              <a:rPr lang="en-US" altLang="zh-CN" sz="1200" kern="1200" dirty="0">
                <a:solidFill>
                  <a:schemeClr val="tx1"/>
                </a:solidFill>
                <a:effectLst/>
                <a:latin typeface="+mn-lt"/>
                <a:sym typeface="+mn-ea"/>
              </a:rPr>
              <a:t>2023</a:t>
            </a:r>
            <a:r>
              <a:rPr lang="zh-CN" altLang="en-US" sz="1200" kern="1200" dirty="0">
                <a:solidFill>
                  <a:schemeClr val="tx1"/>
                </a:solidFill>
                <a:effectLst/>
                <a:latin typeface="+mn-lt"/>
                <a:sym typeface="+mn-ea"/>
              </a:rPr>
              <a:t>年提高至</a:t>
            </a:r>
            <a:r>
              <a:rPr lang="en-US" altLang="zh-CN" sz="1200" kern="1200" dirty="0">
                <a:solidFill>
                  <a:schemeClr val="tx1"/>
                </a:solidFill>
                <a:effectLst/>
                <a:latin typeface="+mn-lt"/>
                <a:sym typeface="+mn-ea"/>
              </a:rPr>
              <a:t>50%”</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技术将是国家经济发展的重点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传统行业仍是经济中的重要部分，同样需要重视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，并未反驳甲的结论，与题干对话方式不一致，排除；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张明的成绩平均每科提高了</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张明过去一年在学习上认真了许多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全班同学各科平均分都提高了</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分之多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，通过说明张明的成绩提升幅度小于全班同学的平均水平反驳了甲的结论，与题干对话方式不一致，排除；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过去三年某出版社的错别字检出量大大增加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必须增加相应的人手以避免错别字检出数量继续增加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过去三年该出版社出版总量大大增加，但错别字检出率维持在万分之一左右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，通过说明错别字的数量占文本总字数的比例很低反驳了甲的结论，与题干对话方式一致，当选；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一项调查显示，超过</a:t>
            </a:r>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的大学生在不请假的情况下缺过课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的现象，得出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课堂纪律没有得到很好的遵守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的结论，而乙提出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这项调查主要针对大四学生，如果是大一学生，则缺过课的比例不超过</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，通过说明调查的样本不具代表性反驳了甲的结论，与题干对话方式不一致，排除。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甲：看增长量 / 增长速度→得出未来趋势 / 应该大力投入；乙：看占比 / 比率 / 相对比值→得出没必要大力投入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核心：甲看绝对变化量，乙看相对比例，二者论据维度不同，观点对立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题干；甲：销量增速快→是风口值得发力；乙：整体占比极低→不值得多投入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甲乙不是数据维度对立，乙是说两者都要重视，结构不同，排除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甲看个人提分，乙看整体试卷难度，论据角度不一样，不是 “总量 </a:t>
            </a:r>
            <a:r>
              <a:rPr lang="en-US" altLang="zh-CN" sz="1200" kern="1200" dirty="0">
                <a:solidFill>
                  <a:schemeClr val="tx1"/>
                </a:solidFill>
                <a:effectLst/>
                <a:latin typeface="+mn-lt"/>
                <a:sym typeface="+mn-ea"/>
              </a:rPr>
              <a:t>vs </a:t>
            </a:r>
            <a:r>
              <a:rPr lang="zh-CN" altLang="en-US" sz="1200" kern="1200" dirty="0">
                <a:solidFill>
                  <a:schemeClr val="tx1"/>
                </a:solidFill>
                <a:effectLst/>
                <a:latin typeface="+mn-lt"/>
                <a:sym typeface="+mn-ea"/>
              </a:rPr>
              <a:t>比率”，排除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甲：错别字检出数量变多（绝对数量）→要加人手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乙：出版总量大增，检出率平稳达标（相对比率）→不用加人手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完美匹配：甲看绝对数值，乙看相对比例，和题干逻辑完全一致 ✅</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乙是质疑调查样本，不是用比例反驳数量，论证方式不同，排除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【解析】论点：相对于其他季节，秋天人们很容易想起家乡的种种美好，更容易产生思乡情绪。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项：该项指出秋天让人感受到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时间的流逝和生命的脆弱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，但并未说明此种感受是否会引发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思乡情绪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项：该项指出秋天正是收获的时节，那些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从小经历的美好场景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深深刻在每个人的心底，解释了为什么秋天容易让人们想起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家乡的种种美好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，更容易让人们产生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思乡情绪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项：该项指出文人骚客关于秋天思乡的名篇影响着国人，但并未说明人们是否是因秋天本身产生思乡情绪，为不明确项，无法加强，排除；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会触发游子的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思乡情绪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是秋天的一个节日，无法判断是节日还是秋天这个季节容易让人们产生思乡情绪，为不明确项，无法加强，排除。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相比其他季节，秋天更容易想起家乡美好、滋生思乡情绪</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只触发生悲凉感慨，和思乡无关，排除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秋天是收获季，儿时家乡秋日美好场景刻在心底，一到秋天自然勾起家乡回忆，从根源解释秋天独有的记忆联结，直接支撑更容易念及家乡，力度最强 ✅</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文人诗句是后天文化影响，不是秋天本身自带属性，属于外因，支持力度弱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只局限中秋一个节日，范围太窄，不能代表整个秋天普遍更容易思乡，片面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核心区别</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论点是整个秋天更容易思乡</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仅限中秋单点，</a:t>
            </a:r>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是秋日专属生活场景 + 童年记忆，覆盖整个秋季，贴合题意。</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）丙是历史学专业学生，丁是文学专业学生；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）交换书后，甲持有社会学书，乙不持有文学书；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）交换书后，每个人所持有的书不是原来所携带的专业书。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）可以推出，甲不是社会学专业的学生；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）可以推出，甲是经济学专业的学生，乙是社会学专业的学生。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）甲持有社会学书（不持有文学书）、乙不持有文学书，且丁是文学专业的学生，结合条件（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）可以推出，持有文学书的学生是丙；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综上，可以推出乙和丁持有经济学书或历史学书，但无法确定具体书籍，如下表所示，</a:t>
            </a:r>
            <a:r>
              <a:rPr lang="en-US" altLang="zh-CN" sz="1200" kern="1200" dirty="0">
                <a:solidFill>
                  <a:schemeClr val="tx1"/>
                </a:solidFill>
                <a:effectLst/>
                <a:latin typeface="+mn-lt"/>
                <a:sym typeface="+mn-ea"/>
              </a:rPr>
              <a:t>A.B.C</a:t>
            </a:r>
            <a:r>
              <a:rPr lang="zh-CN" altLang="en-US" sz="1200" kern="1200" dirty="0">
                <a:solidFill>
                  <a:schemeClr val="tx1"/>
                </a:solidFill>
                <a:effectLst/>
                <a:latin typeface="+mn-lt"/>
                <a:sym typeface="+mn-ea"/>
              </a:rPr>
              <a:t>三项均可推出。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）甲入职的部门是人事处；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）乙入职的部门不是财务处；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）丙入职的部门不是人事处；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）三个猜测只有一个是对的。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题干条件没有矛盾关系，也没有反对关系，考虑题干假设或选项代入，选项信息充分，优先考虑代入法。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）为真，有两个猜测为真，与条件（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）为假，三个猜测均为假，与条件（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）为假，条件（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）为假，只有一个猜测为真，符合条件（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）为真，条件（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）为真，三个猜测均为真，与条件（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【解析】本题属于数独型推理，优先考虑利用信息量最大法。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每行、每列、每个粗线条框内均不能重复也不能遗漏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可知，信息量最大的空格为</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根据最后一行中的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衡山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以及右下角粗线条框可知，</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均不是衡山，所以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是衡山。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继续观察发现，考虑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每行、每列不能重复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，图形最下方的</a:t>
            </a:r>
            <a:r>
              <a:rPr lang="en-US" altLang="zh-CN" sz="1200" kern="1200" dirty="0">
                <a:solidFill>
                  <a:schemeClr val="tx1"/>
                </a:solidFill>
                <a:effectLst/>
                <a:latin typeface="+mn-lt"/>
                <a:sym typeface="+mn-ea"/>
              </a:rPr>
              <a:t>“Z</a:t>
            </a:r>
            <a:r>
              <a:rPr lang="zh-CN" altLang="en-US" sz="1200" kern="1200" dirty="0">
                <a:solidFill>
                  <a:schemeClr val="tx1"/>
                </a:solidFill>
                <a:effectLst/>
                <a:latin typeface="+mn-lt"/>
                <a:sym typeface="+mn-ea"/>
              </a:rPr>
              <a:t>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粗线条框内的圆形位置均不能是衡山，所以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是衡山。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再根据第三行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泰山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所在的</a:t>
            </a:r>
            <a:r>
              <a:rPr lang="en-US" altLang="zh-CN" sz="1200" kern="1200" dirty="0">
                <a:solidFill>
                  <a:schemeClr val="tx1"/>
                </a:solidFill>
                <a:effectLst/>
                <a:latin typeface="+mn-lt"/>
                <a:sym typeface="+mn-ea"/>
              </a:rPr>
              <a:t>“L</a:t>
            </a:r>
            <a:r>
              <a:rPr lang="zh-CN" altLang="en-US" sz="1200" kern="1200" dirty="0">
                <a:solidFill>
                  <a:schemeClr val="tx1"/>
                </a:solidFill>
                <a:effectLst/>
                <a:latin typeface="+mn-lt"/>
                <a:sym typeface="+mn-ea"/>
              </a:rPr>
              <a:t>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粗线条框，结合第三列中的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嵩山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衡山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只能是恒山，则</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一定是泰山，即</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不能是泰山，</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不能是恒山，排除</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根据右上角粗线条框内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衡山</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泰山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以及第二行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恒山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是嵩山，即</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不能是嵩山，排除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【解析】论点：亟需开展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海底种草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生态修复工作，加强对海草床的保护。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论据：海草床是最高效的碳捕获和碳封存系统之一，贮存碳的效率比森林高</a:t>
            </a:r>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倍，碳封存时间可达上千年。然而海草床是脆弱的生态系统，受自然环境变化和人类活动影响较大，全球范围内海草床正面临严峻退化趋势。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本题论点说的是亟需修复和保护海草床，论据说的是海草床是最高效的碳捕获和碳封存系统之一，但正面临严峻退化趋势，根据论据可以合理推出论点，二者话题一致，加强优先考虑补充论据。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项：该项说的是全球气候变暖日益加剧，而其主要元凶是人类生产生活排放的碳化合物，那么固碳就显得尤为重要，而海草床可以固碳，故应亟需开展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海底种草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生态修复工作，加强对海草床的保护，补充论据，当选；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项：该项说的是海草床固碳和转化为有机碳的过程，与论点讨论的是否应亟需开展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海底种草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生态修复工作无关，话题不一致，无法加强，排除；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项：该项说有些地方海岸线侵蚀严重，加强海草床保护和修复，能有效防止或减缓海滩和海岸遭受侵蚀，但未提及其与碳化合物的关系，话题不一致，无法加强，排除；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项：该项说的是海草床具有水质净化和调控功能，但没有体现这些功能对碳化合物的作用，无法证明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亟需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修复和保护海草床，无法加强，排除。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【解析】论点：有初诊患者担心，医院此举（实施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一次挂号管三天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的做法）会延长他们的等待时间，挤压他们的就诊机会。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该做法实施后医院将根据情况合理安排初诊患者与复诊患者的接诊次序，这样就可以尽量避免出现长时间排队现象，不会延长初诊患者的等待时间，说明了他们的担心是不必要的，削弱论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该做法不会导致科室接诊的患者明显增多，但在患者数量不增加的情况下，初诊患者与复诊患者的排队次序和等待时间不明确，复诊患者的就诊次序可能都排在初诊患者之前，仍然会延长初诊患者的等待时间，不能证明他们的担心是不必要的，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项：该项说的是该做法实施前的情况，无法判断实施后是否会延长初诊患者的等待时间，无法削弱，排除；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项：该项说的是该做法对患者的好处，但与初诊患者等待时间和就诊机会无关，话题不一致，无法削弱，排除。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a:t>
            </a:r>
            <a:r>
              <a:rPr lang="en-US" altLang="zh-CN" sz="1200" kern="1200" dirty="0">
                <a:solidFill>
                  <a:schemeClr val="tx1"/>
                </a:solidFill>
                <a:effectLst/>
                <a:latin typeface="+mn-lt"/>
                <a:sym typeface="+mn-ea"/>
              </a:rPr>
              <a:t>9472</a:t>
            </a:r>
            <a:r>
              <a:rPr lang="zh-CN" altLang="en-US" sz="1200" kern="1200" dirty="0">
                <a:solidFill>
                  <a:schemeClr val="tx1"/>
                </a:solidFill>
                <a:effectLst/>
                <a:latin typeface="+mn-lt"/>
                <a:sym typeface="+mn-ea"/>
              </a:rPr>
              <a:t>、乙</a:t>
            </a:r>
            <a:r>
              <a:rPr lang="en-US" altLang="zh-CN" sz="1200" kern="1200" dirty="0">
                <a:solidFill>
                  <a:schemeClr val="tx1"/>
                </a:solidFill>
                <a:effectLst/>
                <a:latin typeface="+mn-lt"/>
                <a:sym typeface="+mn-ea"/>
              </a:rPr>
              <a:t>9496</a:t>
            </a:r>
            <a:r>
              <a:rPr lang="zh-CN" altLang="en-US" sz="1200" kern="1200" dirty="0">
                <a:solidFill>
                  <a:schemeClr val="tx1"/>
                </a:solidFill>
                <a:effectLst/>
                <a:latin typeface="+mn-lt"/>
                <a:sym typeface="+mn-ea"/>
              </a:rPr>
              <a:t>、丙</a:t>
            </a:r>
            <a:r>
              <a:rPr lang="en-US" altLang="zh-CN" sz="1200" kern="1200" dirty="0">
                <a:solidFill>
                  <a:schemeClr val="tx1"/>
                </a:solidFill>
                <a:effectLst/>
                <a:latin typeface="+mn-lt"/>
                <a:sym typeface="+mn-ea"/>
              </a:rPr>
              <a:t>9480</a:t>
            </a:r>
            <a:r>
              <a:rPr lang="zh-CN" altLang="en-US" sz="1200" kern="1200" dirty="0">
                <a:solidFill>
                  <a:schemeClr val="tx1"/>
                </a:solidFill>
                <a:effectLst/>
                <a:latin typeface="+mn-lt"/>
                <a:sym typeface="+mn-ea"/>
              </a:rPr>
              <a:t>、丁</a:t>
            </a:r>
            <a:r>
              <a:rPr lang="en-US" altLang="zh-CN" sz="1200" kern="1200" dirty="0">
                <a:solidFill>
                  <a:schemeClr val="tx1"/>
                </a:solidFill>
                <a:effectLst/>
                <a:latin typeface="+mn-lt"/>
                <a:sym typeface="+mn-ea"/>
              </a:rPr>
              <a:t>9502</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个人少计了</a:t>
            </a:r>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个人少计了</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个人多计了</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个人仅粗略估计出一个票数。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）可以推出四个人中数量最少的人少计了</a:t>
            </a:r>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张，即甲</a:t>
            </a:r>
            <a:r>
              <a:rPr lang="en-US" altLang="zh-CN" sz="1200" kern="1200" dirty="0">
                <a:solidFill>
                  <a:schemeClr val="tx1"/>
                </a:solidFill>
                <a:effectLst/>
                <a:latin typeface="+mn-lt"/>
                <a:sym typeface="+mn-ea"/>
              </a:rPr>
              <a:t>9472</a:t>
            </a:r>
            <a:r>
              <a:rPr lang="zh-CN" altLang="en-US" sz="1200" kern="1200" dirty="0">
                <a:solidFill>
                  <a:schemeClr val="tx1"/>
                </a:solidFill>
                <a:effectLst/>
                <a:latin typeface="+mn-lt"/>
                <a:sym typeface="+mn-ea"/>
              </a:rPr>
              <a:t>少计了</a:t>
            </a:r>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张，那正确票数应为</a:t>
            </a:r>
            <a:r>
              <a:rPr lang="en-US" altLang="zh-CN" sz="1200" kern="1200" dirty="0">
                <a:solidFill>
                  <a:schemeClr val="tx1"/>
                </a:solidFill>
                <a:effectLst/>
                <a:latin typeface="+mn-lt"/>
                <a:sym typeface="+mn-ea"/>
              </a:rPr>
              <a:t>9472+17=9489</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）可以推出丙</a:t>
            </a:r>
            <a:r>
              <a:rPr lang="en-US" altLang="zh-CN" sz="1200" kern="1200" dirty="0">
                <a:solidFill>
                  <a:schemeClr val="tx1"/>
                </a:solidFill>
                <a:effectLst/>
                <a:latin typeface="+mn-lt"/>
                <a:sym typeface="+mn-ea"/>
              </a:rPr>
              <a:t>9480</a:t>
            </a:r>
            <a:r>
              <a:rPr lang="zh-CN" altLang="en-US" sz="1200" kern="1200" dirty="0">
                <a:solidFill>
                  <a:schemeClr val="tx1"/>
                </a:solidFill>
                <a:effectLst/>
                <a:latin typeface="+mn-lt"/>
                <a:sym typeface="+mn-ea"/>
              </a:rPr>
              <a:t>少计了</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张，排除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）可以推出票数最多的丁</a:t>
            </a:r>
            <a:r>
              <a:rPr lang="en-US" altLang="zh-CN" sz="1200" kern="1200" dirty="0">
                <a:solidFill>
                  <a:schemeClr val="tx1"/>
                </a:solidFill>
                <a:effectLst/>
                <a:latin typeface="+mn-lt"/>
                <a:sym typeface="+mn-ea"/>
              </a:rPr>
              <a:t>9502</a:t>
            </a:r>
            <a:r>
              <a:rPr lang="zh-CN" altLang="en-US" sz="1200" kern="1200" dirty="0">
                <a:solidFill>
                  <a:schemeClr val="tx1"/>
                </a:solidFill>
                <a:effectLst/>
                <a:latin typeface="+mn-lt"/>
                <a:sym typeface="+mn-ea"/>
              </a:rPr>
              <a:t>多计了</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张，排除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综上，乙</a:t>
            </a:r>
            <a:r>
              <a:rPr lang="en-US" altLang="zh-CN" sz="1200" kern="1200" dirty="0">
                <a:solidFill>
                  <a:schemeClr val="tx1"/>
                </a:solidFill>
                <a:effectLst/>
                <a:latin typeface="+mn-lt"/>
                <a:sym typeface="+mn-ea"/>
              </a:rPr>
              <a:t>9496</a:t>
            </a:r>
            <a:r>
              <a:rPr lang="zh-CN" altLang="en-US" sz="1200" kern="1200" dirty="0">
                <a:solidFill>
                  <a:schemeClr val="tx1"/>
                </a:solidFill>
                <a:effectLst/>
                <a:latin typeface="+mn-lt"/>
                <a:sym typeface="+mn-ea"/>
              </a:rPr>
              <a:t>是仅粗略估计出的一个票数，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【解析】论点：这样的评分很有可能影响文化产品的创新发展。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本题只有论点，没有论据，加强优先考虑补充论据，且本题为选非题，排除三个能够加强的选项即可。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项：选项指出试图突破常规、探索新风格或新形式的文化产品往往只得到较低的评分，证明了评分会影响文化产品的创新发展，补充论据，可以加强，排除；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项：选项指出评分的即时性会抑制新文化产品的成长空间，证明了评分会影响文化产品的创新发展，补充论据，可以加强，排除；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项：选项指出粉丝群体打高分会影响公正性和客观性，而论点说的是评分对创新的影响，话题不一致，无法加强，当选；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项：选项指出评分会让很多创作者重复已成功的模式和题材，这样不利于文化产品的创新发展，补充论据，可以加强，排除。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【解析】论点：设立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能改善员工的身心状态，提高整体工作效率。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最有助于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评价公司管理层作出的预测，问题对预测成立越重要越有帮助，可优先考虑必要条件。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项：该项讨论的是员工是否有需求和兴趣参与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，如果员工对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没有需求和兴趣，就不会参与该活动，那设立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就达不到预期效果，即该问题成立是预测成立的必要条件，有助于评价公司管理层的预测，当选；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项：该项讨论的是其他公司，而论点讨论的是该公司，主体不一致，无助于评价公司管理层的预测，排除；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项：该项讨论的是该调查数据是否反映公司员工真实的身心状况，即使该数据不能反映真实情况，也不代表该公司员工身心状况是良好的，因此无法据此判断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是否能实现预期效果，无助于评价公司管理层的预测，排除；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项：该项讨论的是该公司是否有足够预算用于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长期运营，而论点讨论的是该公司设立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能否取得预期效果，话题不一致，无助于评价公司管理层的预测，排除。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论点：建健康角、提供瑜伽 + 心理咨询，能改善员工身心状态、提升工作效率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论证逻辑：员工有身心压力问题→推出健康服务→解决问题提效率</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若员工不愿参与、没兴趣，就算设施服务齐全也没人用，完全达不到效果；若愿意参与，才能起效。直击方案能否落地生效，最能评价预测。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别家公司有无成效属于类比，参考性弱，不能判定本公司一定可行。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调查数据真假只证明有没有问题，不影响 “有服务能不能解决问题”，偏离预测核心。</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预算只关乎能不能长期办，和能不能改善状态、提效率无关。</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【解析】《百家姓》的内容没有文理，仅仅只是姓氏的合集，但却是古代中国儿童启蒙教育中不可或缺的经典作品，与《三字经》《千字文》并称为古代三大启蒙读物，在古代儿童教育中占据了重要地位。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项：选项指出《百家姓》中姓氏的逐步丰富反映了社会的发展和进步，解释了为什么《百家姓》没有文理却在古代儿童教育中占据了重要地位，可以解释题干矛盾，排除；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项：选项指出《百家姓》中姓氏的排序反映了当时的政治和社会结构，解释了为什么《百家姓》没有文理却在古代儿童教育中占据了重要地位，可以解释题干矛盾，排除；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姓氏文化不仅透露出家族的来源、迁徙历史和谱系，还包括了宗祠、名人和家训等方面的信息，承载着丰富的文化内涵，说明了姓氏文化的重要作用，解释了为什么《百家姓》没有文理却在古代儿童教育中占据了重要地位，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项：选项指出在南宋《百家姓》已经成为普及读物，历朝历代都编写了各种版本的《百家姓》，但没有说明为什么会出现这种情况，无法解释题干矛盾，当选。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）小全游泳大陈跳水；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）大刘水球大陈跳水；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）要么小吴游泳，要么小全游泳；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）要么小全赛艇，要么大刘水球。</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提问中给出了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小吴游泳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的结论，需要从结论出发倒推条件。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小吴游泳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小全不游泳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小全不游泳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大陈跳水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大陈跳水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大刘水球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）可知，要想得到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大刘水球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小全赛艇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综上，要想得到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小吴游泳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的结论，需要满足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小全赛艇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这一前提，对应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）江苏选手在选手丙的东南面；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）上海选手在赛道的东部位置，他所骑自行车是蓝色的；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）骑灰色自行车的选手不是排在第四位；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）选手丁排在第三位，选手乙来自浙江；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）安徽选手排在骑黄色自行车的选手之前，排在选手甲之后。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）江苏选手在丙的东南面，可以推出丙是第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）上海选手在赛道东部以及江苏选手是第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名，可以推出上海选手是第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名，且自行车是蓝色的；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）以及第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名自行车是蓝色的，可以推出灰色自行车的选手不是第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名，就是第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）以及江苏选手是第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名，可以推出丁是江苏选手；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）、上海选手是第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名以及江苏选手是第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名，可以推出安徽选手是第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名，甲是第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名，具体如下表所示。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综合上述结论，可以推出第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名是乙，来自浙江，</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）江苏选手在选手丙的东南面；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）上海选手在赛道的东部位置，他所骑自行车是蓝色的；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）骑灰色自行车的选手不是排在第四位；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）选手丁排在第三位，选手乙来自浙江；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）安徽选手排在骑黄色自行车的选手之前，排在选手甲之后；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）丙的自行车是白色的。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根据上一题的结论，第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名为选手甲，来自上海，自行车是蓝色的，排除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）丙的自行车是白色的，结合上一题的结论可以推出第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名为选手丙，来自安徽，自行车是白色的，排除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）骑灰色自行车的选手不是排在第四位，结合上一题的结论可以推出第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名选手丁来自江苏，自行车是灰色的，那么第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名选手乙来自浙江，自行车是黄色的（具体如下表所示），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项：某县水利、环保等部门联合治理河道污染，不涉及社会组织和公民等主体，不符合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项：某街道统筹规划电动自行车停放充电区域，优化地下非机动车库安全设施，不涉及社会组织和公民等主体，不符合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项：某区政府在社区工作中，鼓励业委会、志愿者充分发挥各自作用，符合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项：村民自发组织巡查队，检测上报森林火情，不涉及政府等主体，不符合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政府、社会组织、公民等主体共同参与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多方合作的社会治理模式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多元共治核心定义：政府 + 社会组织 / 公民等多方主体共同参与合作治理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只有水利、环保政府部门，无社会、公民参与，单一行政主体，排除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只有街道（基层政府）单方统筹规划，无其他主体协同，排除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区政府+业委会、志愿者多方一起参与社区治理，完美契合多方共治，当选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只有村民自发行动，无政府参与，主体不全，排除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借助内外部竞争不断克服自身短板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项：某家具厂针对市场动态需求，研发出一系列新产品，本地其他厂家也加大了研发力度，符合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借助内外部竞争不断克服自身短板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，家具行业成了当地的支柱产业，符合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项：某公司员工与国内外同行进行交流，取长补短，提高业务素质，符合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，但不明确该公司是否带动了所在行业的发展，不符合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项：某林区推进一体化生产经营模式，保持与周围环境和谐发展的良好势头，符合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，该林区成为了样板林区，但不明确其是否带动了所在行业的发展，不符合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项：某公司实行末位淘汰制，规模和影响力越来越大，符合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借助内外部竞争不断克服自身短板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，但不明确该公司是否带动了所在行业的发展，不符合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带动行业和谐发展、形成群体优势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企业借内外部竞争补齐自身短板；带动整个行业共同发展；最终形成行业群体优势</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该厂主动适配市场迭代产品，同时带动本地同行一同研发，推动整个家具行业壮大成型，完全契合定义全部要点，当选。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仅企业内部员工交流学习，未涉及行业带动、群体发展，排除。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主体是林区经营模式，并非企业发展模式，主体不符，排除。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只有企业内部员工竞争，无行业联动、带动同行发展，排除。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有意降低社交期望值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在互动过程中保持距离感和独立性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项：吴女士和好友虽多年未见，但在得知她生病的消息后，好友立刻放下工作赶了过来，说明双方互动过程中并未保持距离感和独立性，不符合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在互动过程中保持距离感和独立性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项：李先生经常周末约骑友游玩，当天往返且所有费用</a:t>
            </a:r>
            <a:r>
              <a:rPr lang="en-US" altLang="zh-CN" sz="1200" kern="1200" dirty="0">
                <a:solidFill>
                  <a:schemeClr val="tx1"/>
                </a:solidFill>
                <a:effectLst/>
                <a:latin typeface="+mn-lt"/>
                <a:sym typeface="+mn-ea"/>
              </a:rPr>
              <a:t>AA</a:t>
            </a:r>
            <a:r>
              <a:rPr lang="zh-CN" altLang="en-US" sz="1200" kern="1200" dirty="0">
                <a:solidFill>
                  <a:schemeClr val="tx1"/>
                </a:solidFill>
                <a:effectLst/>
                <a:latin typeface="+mn-lt"/>
                <a:sym typeface="+mn-ea"/>
              </a:rPr>
              <a:t>制，大家只知道彼此的微信昵称，说明李先生与骑友之间进行社交主要是为了游玩，互相保持着距离感和独立性，符合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有意降低社交期望值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在互动过程中保持距离感和独立性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，玩得非常开心，符合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项：小王每天晚上都要和</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对话机器人闲聊，其中</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对话机器人不是人，不涉及人与人之间的社交，不符合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项：小赵因工作繁忙日常生活是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独行侠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，收到母校的校庆邀请，为了不增加招待负担便婉言谢绝了，未体现小赵的心情状态，不符合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使心情更加轻松愉悦的社交方式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零糖社交核心：降低社交期待、保持距离独立、减轻精神负担、相处轻松</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好友闻讯立刻赶来，是深厚亲密情谊，期待高、关系近，不符</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仅知微信昵称、</a:t>
            </a:r>
            <a:r>
              <a:rPr lang="en-US" altLang="zh-CN" sz="1200" kern="1200" dirty="0">
                <a:solidFill>
                  <a:schemeClr val="tx1"/>
                </a:solidFill>
                <a:effectLst/>
                <a:latin typeface="+mn-lt"/>
                <a:sym typeface="+mn-ea"/>
              </a:rPr>
              <a:t>AA </a:t>
            </a:r>
            <a:r>
              <a:rPr lang="zh-CN" altLang="en-US" sz="1200" kern="1200" dirty="0">
                <a:solidFill>
                  <a:schemeClr val="tx1"/>
                </a:solidFill>
                <a:effectLst/>
                <a:latin typeface="+mn-lt"/>
                <a:sym typeface="+mn-ea"/>
              </a:rPr>
              <a:t>出行、相处自在，保持距离无过多人情牵绊，压力小，完全符合定义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和 </a:t>
            </a:r>
            <a:r>
              <a:rPr lang="en-US" altLang="zh-CN" sz="1200" kern="1200" dirty="0">
                <a:solidFill>
                  <a:schemeClr val="tx1"/>
                </a:solidFill>
                <a:effectLst/>
                <a:latin typeface="+mn-lt"/>
                <a:sym typeface="+mn-ea"/>
              </a:rPr>
              <a:t>AI </a:t>
            </a:r>
            <a:r>
              <a:rPr lang="zh-CN" altLang="en-US" sz="1200" kern="1200" dirty="0">
                <a:solidFill>
                  <a:schemeClr val="tx1"/>
                </a:solidFill>
                <a:effectLst/>
                <a:latin typeface="+mn-lt"/>
                <a:sym typeface="+mn-ea"/>
              </a:rPr>
              <a:t>对话，不属于人与人社交，主体不符排除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单纯拒绝社交，并非进行低负担社交，只是回避社交，不符</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与单向教育模式不同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项：刘老师带领小小昆虫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发烧友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在山林、草坪中探索昆虫世界，是在户外由老师带领开展的活动，且探讨了人与自然的和谐关系，说明老师与学生之间存在互动，是为了培养生态环保意识，符合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与单向教育模式不同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项：王先生给儿子买了许多书，儿子通过看书萌生了更强的环保意识，是儿子单向学习书籍知识，不符合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项：家长群的通知要求学生提交用空牛奶盒完成的手工环保作业，刘女士为了帮孩子完成作业网购空盒子，没有体现环保，且只是为了完成作业，也未体现互动性，不符合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互动性课外活动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项：清江社区对废旧电池回收问题进行讲解，居民表示再也不会乱扔电池，说明清江社区的讲解是针对居民，而非青少年，不符合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培养青少年生态环保意识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对象：青少年；目的：培养生态环保意识；形式：非单向说教、互动式课外活动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带领青少年户外探索、探讨人与自然关系，互动课外形式，培养环保理念，全部符合，当选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家长买书自学，无互动课外活动，属于自主学习，排除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只是硬性书面手工作业，被动任务，无互动教育过程，排除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面向全体居民，不是青少年，载体是宣传讲解属于单向科普，排除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项：相比其他卖家，该电商平台利用从卖家经营过程中收集到的海量销售数据，优化了自家产品的推荐策略，并在平台搜索引擎中把它们排列在前面，是借助自身技术和数据优势获得竞争优势，符合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项：相比其他的保险产品，该在线旅游平台默认搭售自己代理的旅游保险产品，却没有在显著位置提醒用户可以取消这项服务，是借助自身技术优势获得竞争优势，符合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项：该应用商店运营商对自家程序软件给了更高的评分星级，对第三方开发者则设置了更为严格的审核评级标准，是借助自身技术优势获得竞争优势，符合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通过特定手段取得优惠待遇以获得竞争优势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项：该供水公司利用在区域供水市场的支配地位，要求用水单位必须邀请己方做事，是借助市场优势，不是借助自身技术或数据优势，不符合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商业平台主体借助自身技术或数据优势地位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平台自我优待核心：商业平台+ 依托技术 / 数据优势+ 给自己谋优待、打压对手，获取竞争优势</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电商平台用平台销售数据倾斜自家产品，属于平台自我优待，排除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在线旅游平台默认搭售自家保险，利用平台规则谋利，属于，排除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应用商店偏袒自家软件、严审第三方，平台优待自身，属于，排除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供水公司属于公共民生行业企业，并非商业互联网平台，也未依靠平台技术、数据优势，主体和形式均不符合，不属于，当选</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现实生活中难以得到心理慰藉的中老年人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在网络世界中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受到情感诱导而盲目消费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项：母亲退休后购买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保健品，该产品的推销员几乎每周都会来陪母亲聊家常，没有体现利用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在网络世界中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项：赵先生每天都能得到不少来自妈妈级粉丝的打赏，但未提到这些妈妈级粉丝的钱财是否严重受损，不符合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项：刘女士每天晚上都会定时打开手机，偶尔为主播们刷一些小礼物，未提到刘女士的钱财是否严重受损，不符合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项：独居的李奶奶每天都泡在</a:t>
            </a:r>
            <a:r>
              <a:rPr lang="en-US" altLang="zh-CN" sz="1200" kern="1200" dirty="0">
                <a:solidFill>
                  <a:schemeClr val="tx1"/>
                </a:solidFill>
                <a:effectLst/>
                <a:latin typeface="+mn-lt"/>
                <a:sym typeface="+mn-ea"/>
              </a:rPr>
              <a:t>“50</a:t>
            </a:r>
            <a:r>
              <a:rPr lang="zh-CN" altLang="en-US" sz="1200" kern="1200" dirty="0">
                <a:solidFill>
                  <a:schemeClr val="tx1"/>
                </a:solidFill>
                <a:effectLst/>
                <a:latin typeface="+mn-lt"/>
                <a:sym typeface="+mn-ea"/>
              </a:rPr>
              <a:t>后时光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现实生活中难以得到心理慰藉的中老年人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在网络世界中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，为主播刷礼物，两个月内花掉了多年的积蓄，符合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受到情感诱导而盲目消费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导致个人钱财严重受损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主体：中老年人，现实缺心理慰藉；场景：网络世界，受情感诱导；行为：盲目消费；结果：钱财严重受损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线下推销员陪伴消费，非网络场景，排除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博主收粉丝打赏，是获利方，并非中老年人破财，排除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仅偶尔刷小礼物，无钱财严重受损，程度不足，排除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独居老人现实缺陪伴，沉迷网络直播间被情感打动，大额刷礼物耗尽积蓄，全部契合定义，当选</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通过积极性的言语或行动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人际交往能力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项：林女士是一位经验丰富的住家月嫂，她照护的孩子健康成长和新手父母们的满意说明林女士具备一定的专业能力，但没有体现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人际交往能力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项：陈先生大学毕业后做过多种工作，父母尊重他的选择而不加干涉，不符合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通过积极性的言语或行动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项：营业员拼命夸秦女士身材好，秦女士对此半信半疑，说明营业员的话没有给秦女士带来良性感受，不符合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项：赵先生在每次与同事的聚会中，都能让大家笑得前仰后合，工作压力一扫而空，体现了赵先生良好的人际交往能力，符合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通过积极性的言语或行动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为他人带来良性感受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人际交往能力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正向情绪价值核心：用积极言行，给他人带来愉悦、舒心等良好感受。</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是自己获得成就感，不是给别人提供情绪价值，排除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父母尊重选择，只是包容，无主动带来愉悦感受，排除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刻意吹捧让人半信半疑，并非舒服良性感受，排除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赵先生言行逗乐众人，帮大家缓解压力，给他人带来轻松愉悦，完全符合定义</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采用弹性手法灵活应对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项：小张面对的是父母吵架的事，且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清官难断家务事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，坐在一块儿和稀泥，符合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采用弹性手法灵活应对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项：多位老师对小婷论文的观点是一致的，说明小婷的论文好坏是可以定性的，不符合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项：小袁排查多种故障可能性，并经过分析很快排除故障，说明故障并非难以定性，不符合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项：当下许多影视剧中的正面人物形象更贴近真实生活，没有体现复杂多变、难以定性的事物或现象，也没有体现灵活应对，不符合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面对复杂多变、难以定性的客观事物或现象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采用弹性手法灵活应对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放弃非黑即白二元思维，面对难定性的复杂事，弹性灵活应对，不绝对判对错。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正确；父母吵架家务事本身说不清谁对谁错（难以定性），小张不站队、不判谁有理，不和稀泥式硬性定对错，用弹性方式调和，彻底抛弃非黑即白，完美符合灰度认知。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错误；影视剧人物塑造是创作设定，不是人面对事物的认知思维，主体是作品形象，不是人的认知方式，偏离定义。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固执己见，偏执思维，排除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排查故障原因，属于客观找问题，无辩证灰度思维，排除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利用自然元素构建出的具有引导性的空间布局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项：将空调出风口设置在走廊顶部，利用空气对流原理，未体现引导人员流动，不符合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项：某图书馆设置了巨大的玻璃穹顶，阳光直接透过穹顶洒在中庭绿植上，符合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利用自然元素构建出的具有引导性的空间布局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，各个方向的读者都能自然而然进入中庭四周的阅读区域，符合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项：茶餐厅前造型别致的霓虹灯招牌，未体现自然元素，不符合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利用自然元素构建出的具有引导性的空间布局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项：郑女士老屋外的院墙上爬满了千姿百态的凌霄，阳光完全晒不进庭院，不符合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促进建筑内外部的能量交换，引导建筑内部的人员流动，提升建筑物的生态效能及使用舒适度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建筑设计巧用自然元素；形成引导性空间布局；作用：促内外能量交换、引导人流、提升生态效能与舒适度</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依靠空调设备送风，非自然元素，排除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玻璃穹顶借自然光（自然元素），空间布局自然引导读者进入阅读区，兼顾采光通风与人流引导，完全符合定义，当选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霓虹灯招牌只是引流宣传，无建筑空间布局与生态效能，排除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只是植物遮阳形成凉爽环境，无引导性空间布局与人流引导作用，排除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将优秀传统文化以沉浸式的艺术形式进行创新表达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凸显视觉效果呈现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项：某电视台文化节目中，大学生们来到文化古迹现场，与考古专家互动，未体现数字技术，不符合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项：利用三维动画技术，体现了数字技术，符合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，复原了石窟壁画中飞天与金刚的舞蹈，使静止的文化符号变成了动感的形象，符合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将优秀传统文化以沉浸式的艺术形式进行创新表达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凸显视觉效果呈现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项：对古代编钟复制件进行高精细度的音源采集，最终实现对这一传统瑰宝的数字化复原，只是对其音源进行复原，不涉及创新表达，不符合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将优秀传统文化以沉浸式的艺术形式进行创新表达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凸显视觉效果呈现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项：某博物馆从古代名画中选取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元素，实景搭建了沉浸式体验展厅，观众犹如身临其境，不明确是否使用了数字技术，不符合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通过数字技术赋能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依托数字技术；传统文化做载体；沉浸式艺术创新表达；侧重视觉效果，展现文化审美意境</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实地探访互动，无数字技术加持，排除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运用三维动画数字技术，活化壁画文化符号，视觉呈现动感艺术效果，完美契合全部定义，当选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仅音源采集、数字化复原，偏向声音与文物数据留存，无视觉艺术创新表达，排除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实景搭建展厅，依靠实体布景，未用到数字技术赋能，排除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50165"/>
            <a:ext cx="12262485" cy="69583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江苏</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元宇宙：虚拟性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实验：前瞻性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决策：可行性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宣传：普遍性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总结：概括性</a:t>
            </a:r>
            <a:endParaRPr lang="zh-CN" altLang="en-US" sz="2000" dirty="0">
              <a:cs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舍本：逐末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买椟：还珠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取长：补短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避重：就轻</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趋炎：附势</a:t>
            </a:r>
            <a:endParaRPr lang="zh-CN" altLang="en-US" sz="2000" dirty="0">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热极生风：穷极思变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鼓空声高：人狂话大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绳锯木断：水滴石穿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人闲生病：石闲生苔</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得道多助：失道寡助</a:t>
            </a:r>
            <a:endParaRPr lang="zh-CN" altLang="en-US" sz="2000" dirty="0">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苍鹰：鸿雁：书信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加油：注水：鼓劲</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下海：上岸：录取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须眉：巾帼：围脖</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疆域：河山：国土</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购物：货币：购物车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攀登：山峰：手杖</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垂钓：鱼竿：鱼钩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写作：文字：电脑</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旅游：景点：导游</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压舱石：就业：社会稳定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先手棋：专利：科技创新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基本盘：耕地：粮食生产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晴雨表：管理：人才培养</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主阵地：学校：知识传播</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温室效应：冰山融化：海面上升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博览群书：视野开阔：见解深刻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连日降雪：道路结冰：出行困难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电闪雷鸣：狂风大作：沙尘肆虐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刻苦训练：技能提高：获得金牌</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本土药材：野生药材：名贵药材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沿海高铁：跨省高铁：城际高铁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牛奶产业：传统产业：养殖产业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超限车辆：超载车辆：超重车辆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社区治理：社会治理：水土治理</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森林</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社会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气候</a:t>
            </a:r>
            <a:r>
              <a:rPr lang="en-US" altLang="zh-CN" sz="2000" dirty="0">
                <a:cs typeface="微软雅黑" panose="020B0503020204020204" charset="-122"/>
                <a:sym typeface="+mn-ea"/>
              </a:rPr>
              <a:t> </a:t>
            </a:r>
            <a:r>
              <a:rPr lang="zh-CN" altLang="en-US" sz="2000" dirty="0">
                <a:cs typeface="微软雅黑" panose="020B0503020204020204" charset="-122"/>
                <a:sym typeface="+mn-ea"/>
              </a:rPr>
              <a:t>法制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氧气</a:t>
            </a:r>
            <a:r>
              <a:rPr lang="en-US" altLang="zh-CN" sz="2000" dirty="0">
                <a:cs typeface="微软雅黑" panose="020B0503020204020204" charset="-122"/>
                <a:sym typeface="+mn-ea"/>
              </a:rPr>
              <a:t> </a:t>
            </a:r>
            <a:r>
              <a:rPr lang="zh-CN" altLang="en-US" sz="2000" dirty="0">
                <a:cs typeface="微软雅黑" panose="020B0503020204020204" charset="-122"/>
                <a:sym typeface="+mn-ea"/>
              </a:rPr>
              <a:t>自然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系统</a:t>
            </a:r>
            <a:r>
              <a:rPr lang="en-US" altLang="zh-CN" sz="2000" dirty="0">
                <a:cs typeface="微软雅黑" panose="020B0503020204020204" charset="-122"/>
                <a:sym typeface="+mn-ea"/>
              </a:rPr>
              <a:t> </a:t>
            </a:r>
            <a:r>
              <a:rPr lang="zh-CN" altLang="en-US" sz="2000" dirty="0">
                <a:cs typeface="微软雅黑" panose="020B0503020204020204" charset="-122"/>
                <a:sym typeface="+mn-ea"/>
              </a:rPr>
              <a:t>国家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树木</a:t>
            </a:r>
            <a:r>
              <a:rPr lang="en-US" altLang="zh-CN" sz="2000" dirty="0">
                <a:cs typeface="微软雅黑" panose="020B0503020204020204" charset="-122"/>
                <a:sym typeface="+mn-ea"/>
              </a:rPr>
              <a:t> </a:t>
            </a:r>
            <a:r>
              <a:rPr lang="zh-CN" altLang="en-US" sz="2000" dirty="0">
                <a:cs typeface="微软雅黑" panose="020B0503020204020204" charset="-122"/>
                <a:sym typeface="+mn-ea"/>
              </a:rPr>
              <a:t>家庭</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生肖</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禁行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飞禽</a:t>
            </a:r>
            <a:r>
              <a:rPr lang="en-US" altLang="zh-CN" sz="2000" dirty="0">
                <a:cs typeface="微软雅黑" panose="020B0503020204020204" charset="-122"/>
                <a:sym typeface="+mn-ea"/>
              </a:rPr>
              <a:t> </a:t>
            </a:r>
            <a:r>
              <a:rPr lang="zh-CN" altLang="en-US" sz="2000" dirty="0">
                <a:cs typeface="微软雅黑" panose="020B0503020204020204" charset="-122"/>
                <a:sym typeface="+mn-ea"/>
              </a:rPr>
              <a:t>路口</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走兽</a:t>
            </a:r>
            <a:r>
              <a:rPr lang="en-US" altLang="zh-CN" sz="2000" dirty="0">
                <a:cs typeface="微软雅黑" panose="020B0503020204020204" charset="-122"/>
                <a:sym typeface="+mn-ea"/>
              </a:rPr>
              <a:t> </a:t>
            </a:r>
            <a:r>
              <a:rPr lang="zh-CN" altLang="en-US" sz="2000" dirty="0">
                <a:cs typeface="微软雅黑" panose="020B0503020204020204" charset="-122"/>
                <a:sym typeface="+mn-ea"/>
              </a:rPr>
              <a:t>信号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天干</a:t>
            </a:r>
            <a:r>
              <a:rPr lang="en-US" altLang="zh-CN" sz="2000" dirty="0">
                <a:cs typeface="微软雅黑" panose="020B0503020204020204" charset="-122"/>
                <a:sym typeface="+mn-ea"/>
              </a:rPr>
              <a:t> </a:t>
            </a:r>
            <a:r>
              <a:rPr lang="zh-CN" altLang="en-US" sz="2000" dirty="0">
                <a:cs typeface="微软雅黑" panose="020B0503020204020204" charset="-122"/>
                <a:sym typeface="+mn-ea"/>
              </a:rPr>
              <a:t>通行</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地支</a:t>
            </a:r>
            <a:r>
              <a:rPr lang="en-US" altLang="zh-CN" sz="2000" dirty="0">
                <a:cs typeface="微软雅黑" panose="020B0503020204020204" charset="-122"/>
                <a:sym typeface="+mn-ea"/>
              </a:rPr>
              <a:t> </a:t>
            </a:r>
            <a:r>
              <a:rPr lang="zh-CN" altLang="en-US" sz="2000" dirty="0">
                <a:cs typeface="微软雅黑" panose="020B0503020204020204" charset="-122"/>
                <a:sym typeface="+mn-ea"/>
              </a:rPr>
              <a:t>红灯</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从所给的四个选项中，选出最合适的一个填入问号处，使图形呈现一定的规律性。</a:t>
            </a:r>
            <a:endParaRPr lang="zh-CN" altLang="en-US" sz="2000" dirty="0">
              <a:cs typeface="微软雅黑" panose="020B0503020204020204" charset="-122"/>
              <a:sym typeface="+mn-ea"/>
            </a:endParaRPr>
          </a:p>
        </p:txBody>
      </p:sp>
      <p:pic>
        <p:nvPicPr>
          <p:cNvPr id="12" name="图片 1" descr="IMG_256"/>
          <p:cNvPicPr>
            <a:picLocks noChangeAspect="1"/>
          </p:cNvPicPr>
          <p:nvPr/>
        </p:nvPicPr>
        <p:blipFill>
          <a:blip r:embed="rId1"/>
          <a:stretch>
            <a:fillRect/>
          </a:stretch>
        </p:blipFill>
        <p:spPr>
          <a:xfrm>
            <a:off x="760730" y="1946910"/>
            <a:ext cx="8630285" cy="39401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4" name="图片 2" descr="IMG_257"/>
          <p:cNvPicPr>
            <a:picLocks noChangeAspect="1"/>
          </p:cNvPicPr>
          <p:nvPr/>
        </p:nvPicPr>
        <p:blipFill>
          <a:blip r:embed="rId1"/>
          <a:stretch>
            <a:fillRect/>
          </a:stretch>
        </p:blipFill>
        <p:spPr>
          <a:xfrm>
            <a:off x="965200" y="1896110"/>
            <a:ext cx="8456930" cy="386207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11" name="图片 3" descr="IMG_258"/>
          <p:cNvPicPr>
            <a:picLocks noChangeAspect="1"/>
          </p:cNvPicPr>
          <p:nvPr/>
        </p:nvPicPr>
        <p:blipFill>
          <a:blip r:embed="rId1"/>
          <a:stretch>
            <a:fillRect/>
          </a:stretch>
        </p:blipFill>
        <p:spPr>
          <a:xfrm>
            <a:off x="1099820" y="1858645"/>
            <a:ext cx="8650605" cy="399415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4" name="图片 4" descr="IMG_259"/>
          <p:cNvPicPr>
            <a:picLocks noChangeAspect="1"/>
          </p:cNvPicPr>
          <p:nvPr/>
        </p:nvPicPr>
        <p:blipFill>
          <a:blip r:embed="rId1"/>
          <a:stretch>
            <a:fillRect/>
          </a:stretch>
        </p:blipFill>
        <p:spPr>
          <a:xfrm>
            <a:off x="860425" y="1878965"/>
            <a:ext cx="8799830" cy="4032885"/>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5" name="图片 5" descr="IMG_260"/>
          <p:cNvPicPr>
            <a:picLocks noChangeAspect="1"/>
          </p:cNvPicPr>
          <p:nvPr/>
        </p:nvPicPr>
        <p:blipFill>
          <a:blip r:embed="rId1"/>
          <a:stretch>
            <a:fillRect/>
          </a:stretch>
        </p:blipFill>
        <p:spPr>
          <a:xfrm>
            <a:off x="2461895" y="1508125"/>
            <a:ext cx="3965575" cy="455041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左边给定的图形是由右边哪些图形拼合（只可平移，不可旋转和翻转）而成的？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①②③④</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①②③⑤</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②③④⑤</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①③④⑤</a:t>
            </a:r>
            <a:endParaRPr lang="en-US" altLang="en-US" sz="2000" dirty="0">
              <a:cs typeface="微软雅黑" panose="020B0503020204020204" charset="-122"/>
              <a:sym typeface="+mn-ea"/>
            </a:endParaRPr>
          </a:p>
        </p:txBody>
      </p:sp>
      <p:pic>
        <p:nvPicPr>
          <p:cNvPr id="4" name="图片 6" descr="IMG_261"/>
          <p:cNvPicPr>
            <a:picLocks noChangeAspect="1"/>
          </p:cNvPicPr>
          <p:nvPr/>
        </p:nvPicPr>
        <p:blipFill>
          <a:blip r:embed="rId1"/>
          <a:stretch>
            <a:fillRect/>
          </a:stretch>
        </p:blipFill>
        <p:spPr>
          <a:xfrm>
            <a:off x="648335" y="1897380"/>
            <a:ext cx="11083290" cy="2439035"/>
          </a:xfrm>
          <a:prstGeom prst="rect">
            <a:avLst/>
          </a:prstGeom>
          <a:noFill/>
          <a:ln w="9525">
            <a:noFill/>
          </a:ln>
        </p:spPr>
      </p:pic>
      <p:pic>
        <p:nvPicPr>
          <p:cNvPr id="30" name="图片 1" descr="IMG_256"/>
          <p:cNvPicPr>
            <a:picLocks noChangeAspect="1"/>
          </p:cNvPicPr>
          <p:nvPr/>
        </p:nvPicPr>
        <p:blipFill>
          <a:blip r:embed="rId2"/>
          <a:stretch>
            <a:fillRect/>
          </a:stretch>
        </p:blipFill>
        <p:spPr>
          <a:xfrm>
            <a:off x="6096000" y="4681855"/>
            <a:ext cx="2039620" cy="135064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上边四张纸片，每张纸片一面是黑色，另一面是白色，下边仅有一项能由它们拼合（可以平移、旋转、翻转）而成，请把它找出来。</a:t>
            </a:r>
            <a:endParaRPr lang="zh-CN" altLang="en-US" sz="2000" dirty="0">
              <a:cs typeface="微软雅黑" panose="020B0503020204020204" charset="-122"/>
              <a:sym typeface="+mn-ea"/>
            </a:endParaRPr>
          </a:p>
        </p:txBody>
      </p:sp>
      <p:pic>
        <p:nvPicPr>
          <p:cNvPr id="7" name="图片 7" descr="IMG_262"/>
          <p:cNvPicPr>
            <a:picLocks noChangeAspect="1"/>
          </p:cNvPicPr>
          <p:nvPr/>
        </p:nvPicPr>
        <p:blipFill>
          <a:blip r:embed="rId1"/>
          <a:stretch>
            <a:fillRect/>
          </a:stretch>
        </p:blipFill>
        <p:spPr>
          <a:xfrm>
            <a:off x="391795" y="2193925"/>
            <a:ext cx="5031105" cy="3190240"/>
          </a:xfrm>
          <a:prstGeom prst="rect">
            <a:avLst/>
          </a:prstGeom>
          <a:noFill/>
          <a:ln w="9525">
            <a:noFill/>
          </a:ln>
        </p:spPr>
      </p:pic>
      <p:pic>
        <p:nvPicPr>
          <p:cNvPr id="28" name="图片 2" descr="IMG_257"/>
          <p:cNvPicPr>
            <a:picLocks noChangeAspect="1"/>
          </p:cNvPicPr>
          <p:nvPr/>
        </p:nvPicPr>
        <p:blipFill>
          <a:blip r:embed="rId2"/>
          <a:stretch>
            <a:fillRect/>
          </a:stretch>
        </p:blipFill>
        <p:spPr>
          <a:xfrm>
            <a:off x="6210300" y="2205355"/>
            <a:ext cx="4996815" cy="319786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左边给定的是一个立方体，右边哪一项可能是它的外表面展开图？</a:t>
            </a:r>
            <a:endParaRPr lang="zh-CN" altLang="en-US" sz="2000" dirty="0">
              <a:cs typeface="微软雅黑" panose="020B0503020204020204" charset="-122"/>
              <a:sym typeface="+mn-ea"/>
            </a:endParaRPr>
          </a:p>
        </p:txBody>
      </p:sp>
      <p:pic>
        <p:nvPicPr>
          <p:cNvPr id="9" name="图片 8" descr="IMG_263"/>
          <p:cNvPicPr>
            <a:picLocks noChangeAspect="1"/>
          </p:cNvPicPr>
          <p:nvPr/>
        </p:nvPicPr>
        <p:blipFill>
          <a:blip r:embed="rId1"/>
          <a:stretch>
            <a:fillRect/>
          </a:stretch>
        </p:blipFill>
        <p:spPr>
          <a:xfrm>
            <a:off x="714375" y="1917700"/>
            <a:ext cx="11163935" cy="286575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左边给定的是六面体的外表面展开图，右边哪一项是由它折叠而成？</a:t>
            </a:r>
            <a:endParaRPr lang="zh-CN" altLang="en-US" sz="2000" dirty="0">
              <a:cs typeface="微软雅黑" panose="020B0503020204020204" charset="-122"/>
              <a:sym typeface="+mn-ea"/>
            </a:endParaRPr>
          </a:p>
        </p:txBody>
      </p:sp>
      <p:pic>
        <p:nvPicPr>
          <p:cNvPr id="8" name="图片 9" descr="IMG_264"/>
          <p:cNvPicPr>
            <a:picLocks noChangeAspect="1"/>
          </p:cNvPicPr>
          <p:nvPr/>
        </p:nvPicPr>
        <p:blipFill>
          <a:blip r:embed="rId1"/>
          <a:stretch>
            <a:fillRect/>
          </a:stretch>
        </p:blipFill>
        <p:spPr>
          <a:xfrm>
            <a:off x="613410" y="2059940"/>
            <a:ext cx="11334115" cy="275717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下面</a:t>
            </a:r>
            <a:r>
              <a:rPr lang="en-US" altLang="zh-CN" sz="2000" dirty="0">
                <a:cs typeface="微软雅黑" panose="020B0503020204020204" charset="-122"/>
                <a:sym typeface="+mn-ea"/>
              </a:rPr>
              <a:t>4</a:t>
            </a:r>
            <a:r>
              <a:rPr lang="zh-CN" altLang="en-US" sz="2000" dirty="0">
                <a:cs typeface="微软雅黑" panose="020B0503020204020204" charset="-122"/>
                <a:sym typeface="+mn-ea"/>
              </a:rPr>
              <a:t>个立体图形均由大小相同的</a:t>
            </a:r>
            <a:r>
              <a:rPr lang="en-US" altLang="zh-CN" sz="2000" dirty="0">
                <a:cs typeface="微软雅黑" panose="020B0503020204020204" charset="-122"/>
                <a:sym typeface="+mn-ea"/>
              </a:rPr>
              <a:t>8</a:t>
            </a:r>
            <a:r>
              <a:rPr lang="zh-CN" altLang="en-US" sz="2000" dirty="0">
                <a:cs typeface="微软雅黑" panose="020B0503020204020204" charset="-122"/>
                <a:sym typeface="+mn-ea"/>
              </a:rPr>
              <a:t>个白色小立方体和</a:t>
            </a:r>
            <a:r>
              <a:rPr lang="en-US" altLang="zh-CN" sz="2000" dirty="0">
                <a:cs typeface="微软雅黑" panose="020B0503020204020204" charset="-122"/>
                <a:sym typeface="+mn-ea"/>
              </a:rPr>
              <a:t>4</a:t>
            </a:r>
            <a:r>
              <a:rPr lang="zh-CN" altLang="en-US" sz="2000" dirty="0">
                <a:cs typeface="微软雅黑" panose="020B0503020204020204" charset="-122"/>
                <a:sym typeface="+mn-ea"/>
              </a:rPr>
              <a:t>个灰色小立方体堆叠而成，其中一个立体图形的某一视图可能是由纯白小方格组成的，请把它找出来。</a:t>
            </a:r>
            <a:endParaRPr lang="zh-CN" altLang="en-US" sz="2000" dirty="0">
              <a:cs typeface="微软雅黑" panose="020B0503020204020204" charset="-122"/>
              <a:sym typeface="+mn-ea"/>
            </a:endParaRPr>
          </a:p>
        </p:txBody>
      </p:sp>
      <p:pic>
        <p:nvPicPr>
          <p:cNvPr id="4" name="图片 10" descr="IMG_265"/>
          <p:cNvPicPr>
            <a:picLocks noChangeAspect="1"/>
          </p:cNvPicPr>
          <p:nvPr/>
        </p:nvPicPr>
        <p:blipFill>
          <a:blip r:embed="rId1"/>
          <a:stretch>
            <a:fillRect/>
          </a:stretch>
        </p:blipFill>
        <p:spPr>
          <a:xfrm>
            <a:off x="659130" y="2423795"/>
            <a:ext cx="9844405" cy="326199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462915" y="701675"/>
            <a:ext cx="1123569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只有为了人民的现代化，才有意义；只有依靠人民的现代化，才有动力。新时代以来，我们坚持民生为大，书写了经济快速发展和社会长期稳定两大奇迹新篇章。只要坚持一切为了人民、一切依靠人民，就能充分调动广大人民的积极性。</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根据以上信息，可以推出以下哪项？</a:t>
            </a:r>
            <a:endParaRPr lang="zh-CN" altLang="en-US" sz="2000" dirty="0">
              <a:cs typeface="微软雅黑" panose="020B0503020204020204" charset="-122"/>
              <a:sym typeface="+mn-ea"/>
            </a:endParaRPr>
          </a:p>
          <a:p>
            <a:pPr indent="0" fontAlgn="auto">
              <a:lnSpc>
                <a:spcPct val="150000"/>
              </a:lnSpc>
            </a:pPr>
            <a:r>
              <a:rPr lang="en-US" altLang="en-US" sz="2000" dirty="0">
                <a:solidFill>
                  <a:srgbClr val="FF0000"/>
                </a:solidFill>
                <a:effectLst/>
                <a:sym typeface="+mn-ea"/>
              </a:rPr>
              <a:t>①</a:t>
            </a:r>
            <a:r>
              <a:rPr lang="zh-CN" altLang="en-US" sz="2000" dirty="0">
                <a:solidFill>
                  <a:srgbClr val="FF0000"/>
                </a:solidFill>
                <a:effectLst/>
                <a:sym typeface="+mn-ea"/>
              </a:rPr>
              <a:t>现代化有意义</a:t>
            </a:r>
            <a:r>
              <a:rPr lang="en-US" altLang="en-US" sz="2000" dirty="0">
                <a:solidFill>
                  <a:srgbClr val="FF0000"/>
                </a:solidFill>
                <a:effectLst/>
                <a:sym typeface="+mn-ea"/>
              </a:rPr>
              <a:t>→</a:t>
            </a:r>
            <a:r>
              <a:rPr lang="zh-CN" altLang="en-US" sz="2000" dirty="0">
                <a:solidFill>
                  <a:srgbClr val="FF0000"/>
                </a:solidFill>
                <a:effectLst/>
                <a:sym typeface="+mn-ea"/>
              </a:rPr>
              <a:t>为了人民的现代化；</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②</a:t>
            </a:r>
            <a:r>
              <a:rPr lang="zh-CN" altLang="en-US" sz="2000" dirty="0">
                <a:solidFill>
                  <a:srgbClr val="FF0000"/>
                </a:solidFill>
                <a:effectLst/>
                <a:sym typeface="+mn-ea"/>
              </a:rPr>
              <a:t>现代化有动力</a:t>
            </a:r>
            <a:r>
              <a:rPr lang="en-US" altLang="en-US" sz="2000" dirty="0">
                <a:solidFill>
                  <a:srgbClr val="FF0000"/>
                </a:solidFill>
                <a:effectLst/>
                <a:sym typeface="+mn-ea"/>
              </a:rPr>
              <a:t>→</a:t>
            </a:r>
            <a:r>
              <a:rPr lang="zh-CN" altLang="en-US" sz="2000" dirty="0">
                <a:solidFill>
                  <a:srgbClr val="FF0000"/>
                </a:solidFill>
                <a:effectLst/>
                <a:sym typeface="+mn-ea"/>
              </a:rPr>
              <a:t>依靠人民的现代化；</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③</a:t>
            </a:r>
            <a:r>
              <a:rPr lang="zh-CN" altLang="en-US" sz="2000" dirty="0">
                <a:solidFill>
                  <a:srgbClr val="FF0000"/>
                </a:solidFill>
                <a:effectLst/>
                <a:sym typeface="+mn-ea"/>
              </a:rPr>
              <a:t>坚持一切为了人民</a:t>
            </a:r>
            <a:r>
              <a:rPr lang="en-US" altLang="zh-CN" sz="2000" dirty="0">
                <a:solidFill>
                  <a:srgbClr val="FF0000"/>
                </a:solidFill>
                <a:effectLst/>
                <a:sym typeface="+mn-ea"/>
              </a:rPr>
              <a:t> </a:t>
            </a:r>
            <a:r>
              <a:rPr lang="zh-CN" altLang="en-US" sz="2000" dirty="0">
                <a:solidFill>
                  <a:srgbClr val="FF0000"/>
                </a:solidFill>
                <a:effectLst/>
                <a:sym typeface="+mn-ea"/>
              </a:rPr>
              <a:t>且</a:t>
            </a:r>
            <a:r>
              <a:rPr lang="en-US" altLang="zh-CN" sz="2000" dirty="0">
                <a:solidFill>
                  <a:srgbClr val="FF0000"/>
                </a:solidFill>
                <a:effectLst/>
                <a:sym typeface="+mn-ea"/>
              </a:rPr>
              <a:t> </a:t>
            </a:r>
            <a:r>
              <a:rPr lang="zh-CN" altLang="en-US" sz="2000" dirty="0">
                <a:solidFill>
                  <a:srgbClr val="FF0000"/>
                </a:solidFill>
                <a:effectLst/>
                <a:sym typeface="+mn-ea"/>
              </a:rPr>
              <a:t>坚持一切依靠人民</a:t>
            </a:r>
            <a:r>
              <a:rPr lang="en-US" altLang="en-US" sz="2000" dirty="0">
                <a:solidFill>
                  <a:srgbClr val="FF0000"/>
                </a:solidFill>
                <a:effectLst/>
                <a:sym typeface="+mn-ea"/>
              </a:rPr>
              <a:t>→</a:t>
            </a:r>
            <a:r>
              <a:rPr lang="zh-CN" altLang="en-US" sz="2000" dirty="0">
                <a:solidFill>
                  <a:srgbClr val="FF0000"/>
                </a:solidFill>
                <a:effectLst/>
                <a:sym typeface="+mn-ea"/>
              </a:rPr>
              <a:t>充分调动广大人民的积极性。</a:t>
            </a:r>
            <a:endParaRPr lang="zh-CN" altLang="en-US" sz="2000" kern="1200" dirty="0">
              <a:solidFill>
                <a:srgbClr val="FF0000"/>
              </a:solidFill>
              <a:effectLst/>
              <a:latin typeface="+mn-lt"/>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不是为了人民的现代化，就是没有意义的现代化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不坚持民生为大，就不能创造快速发展和社会长期稳定两大奇迹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如果没能调动广大人民的积极性，则没有坚持一切为了人民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只有坚持一切依靠人民，才能充分调动广大人民的积极性</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625475"/>
            <a:ext cx="11458575" cy="5526405"/>
          </a:xfrm>
          <a:prstGeom prst="rect">
            <a:avLst/>
          </a:prstGeom>
          <a:noFill/>
        </p:spPr>
        <p:txBody>
          <a:bodyPr wrap="square" rtlCol="0" anchor="t">
            <a:noAutofit/>
          </a:bodyPr>
          <a:p>
            <a:pPr indent="0" fontAlgn="auto">
              <a:lnSpc>
                <a:spcPct val="140000"/>
              </a:lnSpc>
            </a:pPr>
            <a:r>
              <a:rPr lang="zh-CN" altLang="en-US" dirty="0">
                <a:cs typeface="微软雅黑" panose="020B0503020204020204" charset="-122"/>
                <a:sym typeface="+mn-ea"/>
              </a:rPr>
              <a:t>甲：在手机市场增长缓慢的大环境下，折叠屏手机销量连续多年保持两位数的增长，折叠屏手机将是手机研发的下一个风口</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乙：折叠屏手机经历多年发展仍只占手机整体销量的</a:t>
            </a:r>
            <a:r>
              <a:rPr lang="en-US" altLang="zh-CN" dirty="0">
                <a:cs typeface="微软雅黑" panose="020B0503020204020204" charset="-122"/>
                <a:sym typeface="+mn-ea"/>
              </a:rPr>
              <a:t>1.6%</a:t>
            </a:r>
            <a:r>
              <a:rPr lang="zh-CN" altLang="en-US" dirty="0">
                <a:cs typeface="微软雅黑" panose="020B0503020204020204" charset="-122"/>
                <a:sym typeface="+mn-ea"/>
              </a:rPr>
              <a:t>，由此来看，折叠屏手机不值得手机厂商投入太多精力</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以下哪项与上述对话方式最为相似？</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A.</a:t>
            </a:r>
            <a:r>
              <a:rPr lang="zh-CN" altLang="en-US" dirty="0">
                <a:cs typeface="微软雅黑" panose="020B0503020204020204" charset="-122"/>
                <a:sym typeface="+mn-ea"/>
              </a:rPr>
              <a:t>甲：</a:t>
            </a:r>
            <a:r>
              <a:rPr lang="en-US" altLang="zh-CN" dirty="0">
                <a:cs typeface="微软雅黑" panose="020B0503020204020204" charset="-122"/>
                <a:sym typeface="+mn-ea"/>
              </a:rPr>
              <a:t>2017</a:t>
            </a:r>
            <a:r>
              <a:rPr lang="zh-CN" altLang="en-US" dirty="0">
                <a:cs typeface="微软雅黑" panose="020B0503020204020204" charset="-122"/>
                <a:sym typeface="+mn-ea"/>
              </a:rPr>
              <a:t>年企业应用</a:t>
            </a:r>
            <a:r>
              <a:rPr lang="en-US" altLang="zh-CN" dirty="0">
                <a:cs typeface="微软雅黑" panose="020B0503020204020204" charset="-122"/>
                <a:sym typeface="+mn-ea"/>
              </a:rPr>
              <a:t>AI</a:t>
            </a:r>
            <a:r>
              <a:rPr lang="zh-CN" altLang="en-US" dirty="0">
                <a:cs typeface="微软雅黑" panose="020B0503020204020204" charset="-122"/>
                <a:sym typeface="+mn-ea"/>
              </a:rPr>
              <a:t>技术比例约为</a:t>
            </a:r>
            <a:r>
              <a:rPr lang="en-US" altLang="zh-CN" dirty="0">
                <a:cs typeface="微软雅黑" panose="020B0503020204020204" charset="-122"/>
                <a:sym typeface="+mn-ea"/>
              </a:rPr>
              <a:t>20%</a:t>
            </a:r>
            <a:r>
              <a:rPr lang="zh-CN" altLang="en-US" dirty="0">
                <a:cs typeface="微软雅黑" panose="020B0503020204020204" charset="-122"/>
                <a:sym typeface="+mn-ea"/>
              </a:rPr>
              <a:t>，到</a:t>
            </a:r>
            <a:r>
              <a:rPr lang="en-US" altLang="zh-CN" dirty="0">
                <a:cs typeface="微软雅黑" panose="020B0503020204020204" charset="-122"/>
                <a:sym typeface="+mn-ea"/>
              </a:rPr>
              <a:t>2023</a:t>
            </a:r>
            <a:r>
              <a:rPr lang="zh-CN" altLang="en-US" dirty="0">
                <a:cs typeface="微软雅黑" panose="020B0503020204020204" charset="-122"/>
                <a:sym typeface="+mn-ea"/>
              </a:rPr>
              <a:t>年提高至</a:t>
            </a:r>
            <a:r>
              <a:rPr lang="en-US" altLang="zh-CN" dirty="0">
                <a:cs typeface="微软雅黑" panose="020B0503020204020204" charset="-122"/>
                <a:sym typeface="+mn-ea"/>
              </a:rPr>
              <a:t>50%</a:t>
            </a:r>
            <a:r>
              <a:rPr lang="zh-CN" altLang="en-US" dirty="0">
                <a:cs typeface="微软雅黑" panose="020B0503020204020204" charset="-122"/>
                <a:sym typeface="+mn-ea"/>
              </a:rPr>
              <a:t>，</a:t>
            </a:r>
            <a:r>
              <a:rPr lang="en-US" altLang="zh-CN" dirty="0">
                <a:cs typeface="微软雅黑" panose="020B0503020204020204" charset="-122"/>
                <a:sym typeface="+mn-ea"/>
              </a:rPr>
              <a:t>AI</a:t>
            </a:r>
            <a:r>
              <a:rPr lang="zh-CN" altLang="en-US" dirty="0">
                <a:cs typeface="微软雅黑" panose="020B0503020204020204" charset="-122"/>
                <a:sym typeface="+mn-ea"/>
              </a:rPr>
              <a:t>技术将是国家经济发展的重点</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乙：</a:t>
            </a:r>
            <a:r>
              <a:rPr lang="en-US" altLang="zh-CN" dirty="0">
                <a:cs typeface="微软雅黑" panose="020B0503020204020204" charset="-122"/>
                <a:sym typeface="+mn-ea"/>
              </a:rPr>
              <a:t>AI</a:t>
            </a:r>
            <a:r>
              <a:rPr lang="zh-CN" altLang="en-US" dirty="0">
                <a:cs typeface="微软雅黑" panose="020B0503020204020204" charset="-122"/>
                <a:sym typeface="+mn-ea"/>
              </a:rPr>
              <a:t>技术经历多年发展已经在社会方方面面起着重要作用，但传统行业仍是经济中的重要部分，同样需要重视</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B.</a:t>
            </a:r>
            <a:r>
              <a:rPr lang="zh-CN" altLang="en-US" dirty="0">
                <a:cs typeface="微软雅黑" panose="020B0503020204020204" charset="-122"/>
                <a:sym typeface="+mn-ea"/>
              </a:rPr>
              <a:t>甲：这次期末考试，张明的成绩平均每科提高了</a:t>
            </a:r>
            <a:r>
              <a:rPr lang="en-US" altLang="zh-CN" dirty="0">
                <a:cs typeface="微软雅黑" panose="020B0503020204020204" charset="-122"/>
                <a:sym typeface="+mn-ea"/>
              </a:rPr>
              <a:t>5</a:t>
            </a:r>
            <a:r>
              <a:rPr lang="zh-CN" altLang="en-US" dirty="0">
                <a:cs typeface="微软雅黑" panose="020B0503020204020204" charset="-122"/>
                <a:sym typeface="+mn-ea"/>
              </a:rPr>
              <a:t>分，这表明张明过去一年在学习上认真了许多</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乙：这次期末考试比较简单，全班同学各科平均分都提高了</a:t>
            </a:r>
            <a:r>
              <a:rPr lang="en-US" altLang="zh-CN" dirty="0">
                <a:cs typeface="微软雅黑" panose="020B0503020204020204" charset="-122"/>
                <a:sym typeface="+mn-ea"/>
              </a:rPr>
              <a:t>10</a:t>
            </a:r>
            <a:r>
              <a:rPr lang="zh-CN" altLang="en-US" dirty="0">
                <a:cs typeface="微软雅黑" panose="020B0503020204020204" charset="-122"/>
                <a:sym typeface="+mn-ea"/>
              </a:rPr>
              <a:t>分之多，由此看来，张明在过去一年没有认真学习</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C.</a:t>
            </a:r>
            <a:r>
              <a:rPr lang="zh-CN" altLang="en-US" dirty="0">
                <a:cs typeface="微软雅黑" panose="020B0503020204020204" charset="-122"/>
                <a:sym typeface="+mn-ea"/>
              </a:rPr>
              <a:t>甲：过去三年某出版社的错别字检出量大大增加，必须增加相应的人手以避免错别字检出数量继续增加</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乙：过去三年该出版社出版总量大大增加，但错别字检出率维持在万分之一左右，远低于国家标准，无需增加人手</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D.</a:t>
            </a:r>
            <a:r>
              <a:rPr lang="zh-CN" altLang="en-US" dirty="0">
                <a:cs typeface="微软雅黑" panose="020B0503020204020204" charset="-122"/>
                <a:sym typeface="+mn-ea"/>
              </a:rPr>
              <a:t>甲：一项调查显示，超过</a:t>
            </a:r>
            <a:r>
              <a:rPr lang="en-US" altLang="zh-CN" dirty="0">
                <a:cs typeface="微软雅黑" panose="020B0503020204020204" charset="-122"/>
                <a:sym typeface="+mn-ea"/>
              </a:rPr>
              <a:t>90%</a:t>
            </a:r>
            <a:r>
              <a:rPr lang="zh-CN" altLang="en-US" dirty="0">
                <a:cs typeface="微软雅黑" panose="020B0503020204020204" charset="-122"/>
                <a:sym typeface="+mn-ea"/>
              </a:rPr>
              <a:t>的大学生在不请假的情况下缺过课，这一现象说明课堂纪律没有得到很好的遵守</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乙：这项调查主要针对大四学生，如果是大一学生，则缺过课的比例不超过</a:t>
            </a:r>
            <a:r>
              <a:rPr lang="en-US" altLang="zh-CN" dirty="0">
                <a:cs typeface="微软雅黑" panose="020B0503020204020204" charset="-122"/>
                <a:sym typeface="+mn-ea"/>
              </a:rPr>
              <a:t>20%</a:t>
            </a:r>
            <a:r>
              <a:rPr lang="zh-CN" altLang="en-US" dirty="0">
                <a:cs typeface="微软雅黑" panose="020B0503020204020204" charset="-122"/>
                <a:sym typeface="+mn-ea"/>
              </a:rPr>
              <a:t>，可见大学课堂纪律得到了很好的遵守</a:t>
            </a:r>
            <a:endParaRPr lang="zh-CN" altLang="en-US"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462915" y="701675"/>
            <a:ext cx="110826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sym typeface="+mn-ea"/>
              </a:rPr>
              <a:t>“</a:t>
            </a:r>
            <a:r>
              <a:rPr lang="zh-CN" altLang="en-US" sz="2000" dirty="0">
                <a:cs typeface="微软雅黑" panose="020B0503020204020204" charset="-122"/>
                <a:sym typeface="+mn-ea"/>
              </a:rPr>
              <a:t>露从今夜白，月是故乡明。</a:t>
            </a:r>
            <a:r>
              <a:rPr lang="en-US" altLang="zh-CN" sz="2000" dirty="0">
                <a:cs typeface="微软雅黑" panose="020B0503020204020204" charset="-122"/>
                <a:sym typeface="+mn-ea"/>
              </a:rPr>
              <a:t>”</a:t>
            </a:r>
            <a:r>
              <a:rPr lang="zh-CN" altLang="en-US" sz="2000" dirty="0">
                <a:cs typeface="微软雅黑" panose="020B0503020204020204" charset="-122"/>
                <a:sym typeface="+mn-ea"/>
              </a:rPr>
              <a:t>唐代诗人杜甫这一千古名句表达了诗人在秋天对故乡的思念和对亲人的牵挂。在国人心中，秋天总是和思乡联系在一起。对此，有学者称，相对于其他季节，秋天人们很容易想起家乡的种种美好，更容易产生思乡情绪。</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以下哪项如果为真，最能支持上述学者的观点？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秋天大自然由生机勃勃转向秋风萧瑟，让人感受到时间的流逝和生命的脆弱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秋天正是收获的时节，那些从小经历的美好场景深深刻在每个人的心底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中国历史上有无数文人骚客在秋天写下思乡的千古名篇，影响着一代又一代国人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每逢中秋，在外漂泊的游子会意识到已经离家很久，渴望和家人团聚</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110826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文学、经济学、历史学、社会学四个专业的学生甲、乙、丙、丁各自携带本专业的一本书参加读书会。读书会期间，四人交换了所带的书，已知：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）丙是历史学专业学生，丁是文学专业学生；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）交换书后，甲持有社会学书，乙不持有文学书；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）交换书后，每个人所持有的书不是原来所携带的专业书。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根据以上信息，不能推出以下哪项？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甲是经济学专业学生</a:t>
            </a:r>
            <a:r>
              <a:rPr lang="en-US" altLang="zh-CN" sz="2000" dirty="0">
                <a:cs typeface="微软雅黑" panose="020B0503020204020204" charset="-122"/>
                <a:sym typeface="+mn-ea"/>
              </a:rPr>
              <a:t>	B.</a:t>
            </a:r>
            <a:r>
              <a:rPr lang="zh-CN" altLang="en-US" sz="2000" dirty="0">
                <a:cs typeface="微软雅黑" panose="020B0503020204020204" charset="-122"/>
                <a:sym typeface="+mn-ea"/>
              </a:rPr>
              <a:t>丙持有文学书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乙是社会学专业学生</a:t>
            </a:r>
            <a:r>
              <a:rPr lang="en-US" altLang="zh-CN" sz="2000" dirty="0">
                <a:cs typeface="微软雅黑" panose="020B0503020204020204" charset="-122"/>
                <a:sym typeface="+mn-ea"/>
              </a:rPr>
              <a:t>	D.</a:t>
            </a:r>
            <a:r>
              <a:rPr lang="zh-CN" altLang="en-US" sz="2000" dirty="0">
                <a:cs typeface="微软雅黑" panose="020B0503020204020204" charset="-122"/>
                <a:sym typeface="+mn-ea"/>
              </a:rPr>
              <a:t>丁持有历史书</a:t>
            </a:r>
            <a:endParaRPr lang="zh-CN" altLang="en-US" sz="2000" dirty="0">
              <a:cs typeface="微软雅黑" panose="020B0503020204020204" charset="-122"/>
              <a:sym typeface="+mn-ea"/>
            </a:endParaRPr>
          </a:p>
        </p:txBody>
      </p:sp>
      <p:graphicFrame>
        <p:nvGraphicFramePr>
          <p:cNvPr id="4" name="表格 3"/>
          <p:cNvGraphicFramePr/>
          <p:nvPr>
            <p:custDataLst>
              <p:tags r:id="rId1"/>
            </p:custDataLst>
          </p:nvPr>
        </p:nvGraphicFramePr>
        <p:xfrm>
          <a:off x="6478905" y="4696460"/>
          <a:ext cx="4870450" cy="1125855"/>
        </p:xfrm>
        <a:graphic>
          <a:graphicData uri="http://schemas.openxmlformats.org/drawingml/2006/table">
            <a:tbl>
              <a:tblPr firstRow="1" bandRow="1">
                <a:tableStyleId>{5C22544A-7EE6-4342-B048-85BDC9FD1C3A}</a:tableStyleId>
              </a:tblPr>
              <a:tblGrid>
                <a:gridCol w="974090"/>
                <a:gridCol w="974090"/>
                <a:gridCol w="974090"/>
                <a:gridCol w="974090"/>
                <a:gridCol w="974090"/>
              </a:tblGrid>
              <a:tr h="375285">
                <a:tc>
                  <a:txBody>
                    <a:bodyPr/>
                    <a:p>
                      <a:pPr>
                        <a:buNone/>
                      </a:pPr>
                      <a:endParaRPr lang="zh-CN" altLang="en-US"/>
                    </a:p>
                  </a:txBody>
                  <a:tcPr/>
                </a:tc>
                <a:tc>
                  <a:txBody>
                    <a:bodyPr/>
                    <a:p>
                      <a:pPr>
                        <a:buNone/>
                      </a:pPr>
                      <a:r>
                        <a:rPr lang="zh-CN" altLang="en-US"/>
                        <a:t>甲</a:t>
                      </a:r>
                      <a:endParaRPr lang="zh-CN" altLang="en-US"/>
                    </a:p>
                  </a:txBody>
                  <a:tcPr/>
                </a:tc>
                <a:tc>
                  <a:txBody>
                    <a:bodyPr/>
                    <a:p>
                      <a:pPr>
                        <a:buNone/>
                      </a:pPr>
                      <a:r>
                        <a:rPr lang="zh-CN" altLang="en-US"/>
                        <a:t>乙</a:t>
                      </a:r>
                      <a:endParaRPr lang="zh-CN" altLang="en-US"/>
                    </a:p>
                  </a:txBody>
                  <a:tcPr/>
                </a:tc>
                <a:tc>
                  <a:txBody>
                    <a:bodyPr/>
                    <a:p>
                      <a:pPr>
                        <a:buNone/>
                      </a:pPr>
                      <a:r>
                        <a:rPr lang="zh-CN" altLang="en-US"/>
                        <a:t>丙</a:t>
                      </a:r>
                      <a:endParaRPr lang="zh-CN" altLang="en-US"/>
                    </a:p>
                  </a:txBody>
                  <a:tcPr/>
                </a:tc>
                <a:tc>
                  <a:txBody>
                    <a:bodyPr/>
                    <a:p>
                      <a:pPr>
                        <a:buNone/>
                      </a:pPr>
                      <a:r>
                        <a:rPr lang="zh-CN" altLang="en-US"/>
                        <a:t>丁</a:t>
                      </a:r>
                      <a:endParaRPr lang="zh-CN" altLang="en-US"/>
                    </a:p>
                  </a:txBody>
                  <a:tcPr/>
                </a:tc>
              </a:tr>
              <a:tr h="375285">
                <a:tc>
                  <a:txBody>
                    <a:bodyPr/>
                    <a:p>
                      <a:pPr>
                        <a:buNone/>
                      </a:pPr>
                      <a:r>
                        <a:rPr lang="zh-CN" altLang="en-US"/>
                        <a:t>专业</a:t>
                      </a: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375285">
                <a:tc>
                  <a:txBody>
                    <a:bodyPr/>
                    <a:p>
                      <a:pPr>
                        <a:buNone/>
                      </a:pPr>
                      <a:r>
                        <a:rPr lang="zh-CN" altLang="en-US"/>
                        <a:t>交换后</a:t>
                      </a: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1118044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甲、乙、丙三人毕业后同时进入某单位实习，由于表现较好，实习结束后他们将分到人事处、财务处、办公室正式入职。有人对他们各自的工作部门进行了如下猜测：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）甲入职的部门是人事处；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）乙入职的部门不是财务处；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）丙入职的部门不是人事处。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实际上，上述三个猜测只有一个是对的。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根据上述信息，可以推出甲、乙、丙入职的部门依次为：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人事处</a:t>
            </a:r>
            <a:r>
              <a:rPr lang="en-US" altLang="zh-CN" sz="2000" dirty="0">
                <a:cs typeface="微软雅黑" panose="020B0503020204020204" charset="-122"/>
                <a:sym typeface="+mn-ea"/>
              </a:rPr>
              <a:t> </a:t>
            </a:r>
            <a:r>
              <a:rPr lang="zh-CN" altLang="en-US" sz="2000" dirty="0">
                <a:cs typeface="微软雅黑" panose="020B0503020204020204" charset="-122"/>
                <a:sym typeface="+mn-ea"/>
              </a:rPr>
              <a:t>财务处</a:t>
            </a:r>
            <a:r>
              <a:rPr lang="en-US" altLang="zh-CN" sz="2000" dirty="0">
                <a:cs typeface="微软雅黑" panose="020B0503020204020204" charset="-122"/>
                <a:sym typeface="+mn-ea"/>
              </a:rPr>
              <a:t> </a:t>
            </a:r>
            <a:r>
              <a:rPr lang="zh-CN" altLang="en-US" sz="2000" dirty="0">
                <a:cs typeface="微软雅黑" panose="020B0503020204020204" charset="-122"/>
                <a:sym typeface="+mn-ea"/>
              </a:rPr>
              <a:t>办公室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办公室</a:t>
            </a:r>
            <a:r>
              <a:rPr lang="en-US" altLang="zh-CN" sz="2000" dirty="0">
                <a:cs typeface="微软雅黑" panose="020B0503020204020204" charset="-122"/>
                <a:sym typeface="+mn-ea"/>
              </a:rPr>
              <a:t> </a:t>
            </a:r>
            <a:r>
              <a:rPr lang="zh-CN" altLang="en-US" sz="2000" dirty="0">
                <a:cs typeface="微软雅黑" panose="020B0503020204020204" charset="-122"/>
                <a:sym typeface="+mn-ea"/>
              </a:rPr>
              <a:t>财务处</a:t>
            </a:r>
            <a:r>
              <a:rPr lang="en-US" altLang="zh-CN" sz="2000" dirty="0">
                <a:cs typeface="微软雅黑" panose="020B0503020204020204" charset="-122"/>
                <a:sym typeface="+mn-ea"/>
              </a:rPr>
              <a:t> </a:t>
            </a:r>
            <a:r>
              <a:rPr lang="zh-CN" altLang="en-US" sz="2000" dirty="0">
                <a:cs typeface="微软雅黑" panose="020B0503020204020204" charset="-122"/>
                <a:sym typeface="+mn-ea"/>
              </a:rPr>
              <a:t>人事处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财务处</a:t>
            </a:r>
            <a:r>
              <a:rPr lang="en-US" altLang="zh-CN" sz="2000" dirty="0">
                <a:cs typeface="微软雅黑" panose="020B0503020204020204" charset="-122"/>
                <a:sym typeface="+mn-ea"/>
              </a:rPr>
              <a:t> </a:t>
            </a:r>
            <a:r>
              <a:rPr lang="zh-CN" altLang="en-US" sz="2000" dirty="0">
                <a:cs typeface="微软雅黑" panose="020B0503020204020204" charset="-122"/>
                <a:sym typeface="+mn-ea"/>
              </a:rPr>
              <a:t>办公室</a:t>
            </a:r>
            <a:r>
              <a:rPr lang="en-US" altLang="zh-CN" sz="2000" dirty="0">
                <a:cs typeface="微软雅黑" panose="020B0503020204020204" charset="-122"/>
                <a:sym typeface="+mn-ea"/>
              </a:rPr>
              <a:t> </a:t>
            </a:r>
            <a:r>
              <a:rPr lang="zh-CN" altLang="en-US" sz="2000" dirty="0">
                <a:cs typeface="微软雅黑" panose="020B0503020204020204" charset="-122"/>
                <a:sym typeface="+mn-ea"/>
              </a:rPr>
              <a:t>人事处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人事处</a:t>
            </a:r>
            <a:r>
              <a:rPr lang="en-US" altLang="zh-CN" sz="2000" dirty="0">
                <a:cs typeface="微软雅黑" panose="020B0503020204020204" charset="-122"/>
                <a:sym typeface="+mn-ea"/>
              </a:rPr>
              <a:t> </a:t>
            </a:r>
            <a:r>
              <a:rPr lang="zh-CN" altLang="en-US" sz="2000" dirty="0">
                <a:cs typeface="微软雅黑" panose="020B0503020204020204" charset="-122"/>
                <a:sym typeface="+mn-ea"/>
              </a:rPr>
              <a:t>办公室</a:t>
            </a:r>
            <a:r>
              <a:rPr lang="en-US" altLang="zh-CN" sz="2000" dirty="0">
                <a:cs typeface="微软雅黑" panose="020B0503020204020204" charset="-122"/>
                <a:sym typeface="+mn-ea"/>
              </a:rPr>
              <a:t> </a:t>
            </a:r>
            <a:r>
              <a:rPr lang="zh-CN" altLang="en-US" sz="2000" dirty="0">
                <a:cs typeface="微软雅黑" panose="020B0503020204020204" charset="-122"/>
                <a:sym typeface="+mn-ea"/>
              </a:rPr>
              <a:t>财务处</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112223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在下边</a:t>
            </a:r>
            <a:r>
              <a:rPr lang="en-US" altLang="zh-CN" sz="2000" dirty="0">
                <a:cs typeface="微软雅黑" panose="020B0503020204020204" charset="-122"/>
                <a:sym typeface="+mn-ea"/>
              </a:rPr>
              <a:t>5</a:t>
            </a:r>
            <a:r>
              <a:rPr lang="en-US"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的表格中填入泰山、华山、衡山、恒山和嵩山</a:t>
            </a:r>
            <a:r>
              <a:rPr lang="en-US" altLang="zh-CN" sz="2000" dirty="0">
                <a:cs typeface="微软雅黑" panose="020B0503020204020204" charset="-122"/>
                <a:sym typeface="+mn-ea"/>
              </a:rPr>
              <a:t>5</a:t>
            </a:r>
            <a:r>
              <a:rPr lang="zh-CN" altLang="en-US" sz="2000" dirty="0">
                <a:cs typeface="微软雅黑" panose="020B0503020204020204" charset="-122"/>
                <a:sym typeface="+mn-ea"/>
              </a:rPr>
              <a:t>个词，要求每行、每列、每个粗线条框内均不能重复也不能遗漏，则依次填入序号</a:t>
            </a:r>
            <a:r>
              <a:rPr lang="en-US" altLang="en-US" sz="2000" dirty="0">
                <a:cs typeface="微软雅黑" panose="020B0503020204020204" charset="-122"/>
                <a:sym typeface="+mn-ea"/>
              </a:rPr>
              <a:t>①</a:t>
            </a:r>
            <a:r>
              <a:rPr lang="en-US" altLang="zh-CN" sz="2000" dirty="0">
                <a:cs typeface="微软雅黑" panose="020B0503020204020204" charset="-122"/>
                <a:sym typeface="+mn-ea"/>
              </a:rPr>
              <a:t>-</a:t>
            </a:r>
            <a:r>
              <a:rPr lang="en-US" altLang="en-US" sz="2000" dirty="0">
                <a:cs typeface="微软雅黑" panose="020B0503020204020204" charset="-122"/>
                <a:sym typeface="+mn-ea"/>
              </a:rPr>
              <a:t>④</a:t>
            </a:r>
            <a:r>
              <a:rPr lang="zh-CN" altLang="en-US" sz="2000" dirty="0">
                <a:cs typeface="微软雅黑" panose="020B0503020204020204" charset="-122"/>
                <a:sym typeface="+mn-ea"/>
              </a:rPr>
              <a:t>处的是：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泰山</a:t>
            </a:r>
            <a:r>
              <a:rPr lang="en-US" altLang="zh-CN" sz="2000" dirty="0">
                <a:cs typeface="微软雅黑" panose="020B0503020204020204" charset="-122"/>
                <a:sym typeface="+mn-ea"/>
              </a:rPr>
              <a:t> </a:t>
            </a:r>
            <a:r>
              <a:rPr lang="zh-CN" altLang="en-US" sz="2000" dirty="0">
                <a:cs typeface="微软雅黑" panose="020B0503020204020204" charset="-122"/>
                <a:sym typeface="+mn-ea"/>
              </a:rPr>
              <a:t>华山</a:t>
            </a:r>
            <a:r>
              <a:rPr lang="en-US" altLang="zh-CN" sz="2000" dirty="0">
                <a:cs typeface="微软雅黑" panose="020B0503020204020204" charset="-122"/>
                <a:sym typeface="+mn-ea"/>
              </a:rPr>
              <a:t> </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华山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r>
              <a:rPr lang="en-US" altLang="zh-CN" sz="2000" dirty="0">
                <a:cs typeface="微软雅黑" panose="020B0503020204020204" charset="-122"/>
                <a:sym typeface="+mn-ea"/>
              </a:rPr>
              <a:t> </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泰山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华山</a:t>
            </a:r>
            <a:r>
              <a:rPr lang="en-US" altLang="zh-CN" sz="2000" dirty="0">
                <a:cs typeface="微软雅黑" panose="020B0503020204020204" charset="-122"/>
                <a:sym typeface="+mn-ea"/>
              </a:rPr>
              <a:t> </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r>
              <a:rPr lang="en-US" altLang="zh-CN" sz="2000" dirty="0">
                <a:cs typeface="微软雅黑" panose="020B0503020204020204" charset="-122"/>
                <a:sym typeface="+mn-ea"/>
              </a:rPr>
              <a:t> </a:t>
            </a:r>
            <a:r>
              <a:rPr lang="zh-CN" altLang="en-US" sz="2000" dirty="0">
                <a:cs typeface="微软雅黑" panose="020B0503020204020204" charset="-122"/>
                <a:sym typeface="+mn-ea"/>
              </a:rPr>
              <a:t>泰山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嵩山</a:t>
            </a:r>
            <a:r>
              <a:rPr lang="en-US" altLang="zh-CN" sz="2000" dirty="0">
                <a:cs typeface="微软雅黑" panose="020B0503020204020204" charset="-122"/>
                <a:sym typeface="+mn-ea"/>
              </a:rPr>
              <a:t> </a:t>
            </a:r>
            <a:r>
              <a:rPr lang="zh-CN" altLang="en-US" sz="2000" dirty="0">
                <a:cs typeface="微软雅黑" panose="020B0503020204020204" charset="-122"/>
                <a:sym typeface="+mn-ea"/>
              </a:rPr>
              <a:t>恒山</a:t>
            </a:r>
            <a:r>
              <a:rPr lang="en-US" altLang="zh-CN" sz="2000" dirty="0">
                <a:cs typeface="微软雅黑" panose="020B0503020204020204" charset="-122"/>
                <a:sym typeface="+mn-ea"/>
              </a:rPr>
              <a:t> </a:t>
            </a:r>
            <a:r>
              <a:rPr lang="zh-CN" altLang="en-US" sz="2000" dirty="0">
                <a:cs typeface="微软雅黑" panose="020B0503020204020204" charset="-122"/>
                <a:sym typeface="+mn-ea"/>
              </a:rPr>
              <a:t>泰山</a:t>
            </a:r>
            <a:r>
              <a:rPr lang="en-US" altLang="zh-CN" sz="2000" dirty="0">
                <a:cs typeface="微软雅黑" panose="020B0503020204020204" charset="-122"/>
                <a:sym typeface="+mn-ea"/>
              </a:rPr>
              <a:t> </a:t>
            </a:r>
            <a:r>
              <a:rPr lang="zh-CN" altLang="en-US" sz="2000" dirty="0">
                <a:cs typeface="微软雅黑" panose="020B0503020204020204" charset="-122"/>
                <a:sym typeface="+mn-ea"/>
              </a:rPr>
              <a:t>华山</a:t>
            </a:r>
            <a:endParaRPr lang="zh-CN" altLang="en-US" sz="2000" dirty="0">
              <a:cs typeface="微软雅黑" panose="020B0503020204020204" charset="-122"/>
              <a:sym typeface="+mn-ea"/>
            </a:endParaRPr>
          </a:p>
        </p:txBody>
      </p:sp>
      <p:pic>
        <p:nvPicPr>
          <p:cNvPr id="6" name="图片 11" descr="IMG_266"/>
          <p:cNvPicPr>
            <a:picLocks noChangeAspect="1"/>
          </p:cNvPicPr>
          <p:nvPr/>
        </p:nvPicPr>
        <p:blipFill>
          <a:blip r:embed="rId1"/>
          <a:stretch>
            <a:fillRect/>
          </a:stretch>
        </p:blipFill>
        <p:spPr>
          <a:xfrm>
            <a:off x="5022850" y="1847215"/>
            <a:ext cx="4635500" cy="407479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62915" y="701675"/>
            <a:ext cx="1105408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海草是由陆地植物演化到适应海洋环境的高等植物。一种或几种海草连片生长，共同形成广袤柔软的</a:t>
            </a:r>
            <a:r>
              <a:rPr lang="en-US" altLang="zh-CN" sz="2000" dirty="0">
                <a:cs typeface="微软雅黑" panose="020B0503020204020204" charset="-122"/>
                <a:sym typeface="+mn-ea"/>
              </a:rPr>
              <a:t>“</a:t>
            </a:r>
            <a:r>
              <a:rPr lang="zh-CN" altLang="en-US" sz="2000" dirty="0">
                <a:cs typeface="微软雅黑" panose="020B0503020204020204" charset="-122"/>
                <a:sym typeface="+mn-ea"/>
              </a:rPr>
              <a:t>海草床</a:t>
            </a:r>
            <a:r>
              <a:rPr lang="en-US" altLang="zh-CN" sz="2000" dirty="0">
                <a:cs typeface="微软雅黑" panose="020B0503020204020204" charset="-122"/>
                <a:sym typeface="+mn-ea"/>
              </a:rPr>
              <a:t>”</a:t>
            </a:r>
            <a:r>
              <a:rPr lang="zh-CN" altLang="en-US" sz="2000" dirty="0">
                <a:cs typeface="微软雅黑" panose="020B0503020204020204" charset="-122"/>
                <a:sym typeface="+mn-ea"/>
              </a:rPr>
              <a:t>。海草床是最高效的碳捕获和碳封存系统之一，贮存碳的效率比森林高</a:t>
            </a:r>
            <a:r>
              <a:rPr lang="en-US" altLang="zh-CN" sz="2000" dirty="0">
                <a:cs typeface="微软雅黑" panose="020B0503020204020204" charset="-122"/>
                <a:sym typeface="+mn-ea"/>
              </a:rPr>
              <a:t>90</a:t>
            </a:r>
            <a:r>
              <a:rPr lang="zh-CN" altLang="en-US" sz="2000" dirty="0">
                <a:cs typeface="微软雅黑" panose="020B0503020204020204" charset="-122"/>
                <a:sym typeface="+mn-ea"/>
              </a:rPr>
              <a:t>倍，碳封存时间可达上千年。然而海草床是脆弱的生态系统，受自然环境变化和人类活动影响较大，全球范围内海草床正面临严峻退化趋势。基于如上原因，有专家建议，亟需开展</a:t>
            </a:r>
            <a:r>
              <a:rPr lang="en-US" altLang="zh-CN" sz="2000" dirty="0">
                <a:cs typeface="微软雅黑" panose="020B0503020204020204" charset="-122"/>
                <a:sym typeface="+mn-ea"/>
              </a:rPr>
              <a:t>“</a:t>
            </a:r>
            <a:r>
              <a:rPr lang="zh-CN" altLang="en-US" sz="2000" dirty="0">
                <a:cs typeface="微软雅黑" panose="020B0503020204020204" charset="-122"/>
                <a:sym typeface="+mn-ea"/>
              </a:rPr>
              <a:t>海底种草</a:t>
            </a:r>
            <a:r>
              <a:rPr lang="en-US" altLang="zh-CN" sz="2000" dirty="0">
                <a:cs typeface="微软雅黑" panose="020B0503020204020204" charset="-122"/>
                <a:sym typeface="+mn-ea"/>
              </a:rPr>
              <a:t>”</a:t>
            </a:r>
            <a:r>
              <a:rPr lang="zh-CN" altLang="en-US" sz="2000" dirty="0">
                <a:cs typeface="微软雅黑" panose="020B0503020204020204" charset="-122"/>
                <a:sym typeface="+mn-ea"/>
              </a:rPr>
              <a:t>生态修复工作，加强对海草床的保护。</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以下哪项如果为真，最能支持上述专家的建议？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当前全球气候变暖日益加剧，科学家已发现人类生产生活排放的碳化合物是变暖的主要元凶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海草床可以通过光合作用吸收环境中的无机碳，将其高效地固定、转化为有机碳并进行积累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有些地方海岸线侵蚀严重，加强海草床保护和修复，能有效防止或减缓海滩和海岸遭受侵蚀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海草床具有水质净化和调控功能，能吸收水体中的营养盐和重金属，降低海水悬浮物的浓度</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462915" y="665480"/>
            <a:ext cx="11138535" cy="5526405"/>
          </a:xfrm>
          <a:prstGeom prst="rect">
            <a:avLst/>
          </a:prstGeom>
          <a:noFill/>
        </p:spPr>
        <p:txBody>
          <a:bodyPr wrap="square" rtlCol="0" anchor="t">
            <a:noAutofit/>
          </a:bodyPr>
          <a:p>
            <a:pPr indent="0" fontAlgn="auto">
              <a:lnSpc>
                <a:spcPct val="140000"/>
              </a:lnSpc>
            </a:pPr>
            <a:r>
              <a:rPr lang="en-US" altLang="zh-CN" dirty="0">
                <a:cs typeface="微软雅黑" panose="020B0503020204020204" charset="-122"/>
              </a:rPr>
              <a:t> </a:t>
            </a:r>
            <a:r>
              <a:rPr lang="zh-CN" altLang="en-US" sz="2000" dirty="0">
                <a:cs typeface="微软雅黑" panose="020B0503020204020204" charset="-122"/>
                <a:sym typeface="+mn-ea"/>
              </a:rPr>
              <a:t>一直以来，患者在初诊后第二天拿着检查报告找医生复诊时需要再挂号，这大大增加患者的就医负担。针对这一情况，某医院开始实施</a:t>
            </a:r>
            <a:r>
              <a:rPr lang="en-US" altLang="zh-CN" sz="2000" dirty="0">
                <a:cs typeface="微软雅黑" panose="020B0503020204020204" charset="-122"/>
                <a:sym typeface="+mn-ea"/>
              </a:rPr>
              <a:t>“</a:t>
            </a:r>
            <a:r>
              <a:rPr lang="zh-CN" altLang="en-US" sz="2000" dirty="0">
                <a:cs typeface="微软雅黑" panose="020B0503020204020204" charset="-122"/>
                <a:sym typeface="+mn-ea"/>
              </a:rPr>
              <a:t>一次挂号管三天</a:t>
            </a:r>
            <a:r>
              <a:rPr lang="en-US" altLang="zh-CN" sz="2000" dirty="0">
                <a:cs typeface="微软雅黑" panose="020B0503020204020204" charset="-122"/>
                <a:sym typeface="+mn-ea"/>
              </a:rPr>
              <a:t>”</a:t>
            </a:r>
            <a:r>
              <a:rPr lang="zh-CN" altLang="en-US" sz="2000" dirty="0">
                <a:cs typeface="微软雅黑" panose="020B0503020204020204" charset="-122"/>
                <a:sym typeface="+mn-ea"/>
              </a:rPr>
              <a:t>的做法，让当天不能完成检查或不能领取检查报告的患者，在三天内可携带报告到同一科室复诊，无需再次挂号。对此，有初诊患者担心，医院此举会延长他们的等待时间，挤压他们的就诊机会。</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以下哪项如果为真，最能说明上述患者的担心是不必要的？</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该做法实施后，医院将根据医生的接诊情况，合理安排初诊患者与复诊患者的接诊次序，尽量避免出现长时间排队现象</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无论是否需要再次挂号，患者都会去同一科室进行复诊，该做法的实施不会导致科室接诊的患者明显增多</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该做法实施前，医生也会接待手持检查报告的复诊患者，但他们需要重新挂号，与初诊患者一起按挂号次序就诊</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该做法实施后，患者可在挂号三天有效期内从容完成检查、治疗等就医环节，保障诊治的连续性和有效性</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462915" y="701675"/>
            <a:ext cx="1120775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对某项调查的</a:t>
            </a:r>
            <a:r>
              <a:rPr lang="en-US" altLang="zh-CN" sz="2000" dirty="0">
                <a:cs typeface="微软雅黑" panose="020B0503020204020204" charset="-122"/>
                <a:sym typeface="+mn-ea"/>
              </a:rPr>
              <a:t>“</a:t>
            </a:r>
            <a:r>
              <a:rPr lang="zh-CN" altLang="en-US" sz="2000" dirty="0">
                <a:cs typeface="微软雅黑" panose="020B0503020204020204" charset="-122"/>
                <a:sym typeface="+mn-ea"/>
              </a:rPr>
              <a:t>同意</a:t>
            </a:r>
            <a:r>
              <a:rPr lang="en-US" altLang="zh-CN" sz="2000" dirty="0">
                <a:cs typeface="微软雅黑" panose="020B0503020204020204" charset="-122"/>
                <a:sym typeface="+mn-ea"/>
              </a:rPr>
              <a:t>”</a:t>
            </a:r>
            <a:r>
              <a:rPr lang="zh-CN" altLang="en-US" sz="2000" dirty="0">
                <a:cs typeface="微软雅黑" panose="020B0503020204020204" charset="-122"/>
                <a:sym typeface="+mn-ea"/>
              </a:rPr>
              <a:t>票进行计数，甲、乙、丙、丁四人给出的结果分别是：</a:t>
            </a:r>
            <a:r>
              <a:rPr lang="en-US" altLang="zh-CN" sz="2000" dirty="0">
                <a:cs typeface="微软雅黑" panose="020B0503020204020204" charset="-122"/>
                <a:sym typeface="+mn-ea"/>
              </a:rPr>
              <a:t>9472</a:t>
            </a:r>
            <a:r>
              <a:rPr lang="zh-CN" altLang="en-US" sz="2000" dirty="0">
                <a:cs typeface="微软雅黑" panose="020B0503020204020204" charset="-122"/>
                <a:sym typeface="+mn-ea"/>
              </a:rPr>
              <a:t>、</a:t>
            </a:r>
            <a:r>
              <a:rPr lang="en-US" altLang="zh-CN" sz="2000" dirty="0">
                <a:cs typeface="微软雅黑" panose="020B0503020204020204" charset="-122"/>
                <a:sym typeface="+mn-ea"/>
              </a:rPr>
              <a:t>9496</a:t>
            </a:r>
            <a:r>
              <a:rPr lang="zh-CN" altLang="en-US" sz="2000" dirty="0">
                <a:cs typeface="微软雅黑" panose="020B0503020204020204" charset="-122"/>
                <a:sym typeface="+mn-ea"/>
              </a:rPr>
              <a:t>、</a:t>
            </a:r>
            <a:r>
              <a:rPr lang="en-US" altLang="zh-CN" sz="2000" dirty="0">
                <a:cs typeface="微软雅黑" panose="020B0503020204020204" charset="-122"/>
                <a:sym typeface="+mn-ea"/>
              </a:rPr>
              <a:t>9480</a:t>
            </a:r>
            <a:r>
              <a:rPr lang="zh-CN" altLang="en-US" sz="2000" dirty="0">
                <a:cs typeface="微软雅黑" panose="020B0503020204020204" charset="-122"/>
                <a:sym typeface="+mn-ea"/>
              </a:rPr>
              <a:t>、</a:t>
            </a:r>
            <a:r>
              <a:rPr lang="en-US" altLang="zh-CN" sz="2000" dirty="0">
                <a:cs typeface="微软雅黑" panose="020B0503020204020204" charset="-122"/>
                <a:sym typeface="+mn-ea"/>
              </a:rPr>
              <a:t>9502</a:t>
            </a:r>
            <a:r>
              <a:rPr lang="zh-CN" altLang="en-US" sz="2000" dirty="0">
                <a:cs typeface="微软雅黑" panose="020B0503020204020204" charset="-122"/>
                <a:sym typeface="+mn-ea"/>
              </a:rPr>
              <a:t>张。四人计数结果不一致后重新计数，发现有三人分别少计了</a:t>
            </a:r>
            <a:r>
              <a:rPr lang="en-US" altLang="zh-CN" sz="2000" dirty="0">
                <a:cs typeface="微软雅黑" panose="020B0503020204020204" charset="-122"/>
                <a:sym typeface="+mn-ea"/>
              </a:rPr>
              <a:t>17</a:t>
            </a:r>
            <a:r>
              <a:rPr lang="zh-CN" altLang="en-US" sz="2000" dirty="0">
                <a:cs typeface="微软雅黑" panose="020B0503020204020204" charset="-122"/>
                <a:sym typeface="+mn-ea"/>
              </a:rPr>
              <a:t>张、少计了</a:t>
            </a:r>
            <a:r>
              <a:rPr lang="en-US" altLang="zh-CN" sz="2000" dirty="0">
                <a:cs typeface="微软雅黑" panose="020B0503020204020204" charset="-122"/>
                <a:sym typeface="+mn-ea"/>
              </a:rPr>
              <a:t>9</a:t>
            </a:r>
            <a:r>
              <a:rPr lang="zh-CN" altLang="en-US" sz="2000" dirty="0">
                <a:cs typeface="微软雅黑" panose="020B0503020204020204" charset="-122"/>
                <a:sym typeface="+mn-ea"/>
              </a:rPr>
              <a:t>张、多计了</a:t>
            </a:r>
            <a:r>
              <a:rPr lang="en-US" altLang="zh-CN" sz="2000" dirty="0">
                <a:cs typeface="微软雅黑" panose="020B0503020204020204" charset="-122"/>
                <a:sym typeface="+mn-ea"/>
              </a:rPr>
              <a:t>13</a:t>
            </a:r>
            <a:r>
              <a:rPr lang="zh-CN" altLang="en-US" sz="2000" dirty="0">
                <a:cs typeface="微软雅黑" panose="020B0503020204020204" charset="-122"/>
                <a:sym typeface="+mn-ea"/>
              </a:rPr>
              <a:t>张，还有一人仅粗略估计出一个票数。</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根据上述信息，可以推出粗略估计票数的人是：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丁</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11152505" cy="5526405"/>
          </a:xfrm>
          <a:prstGeom prst="rect">
            <a:avLst/>
          </a:prstGeom>
          <a:noFill/>
        </p:spPr>
        <p:txBody>
          <a:bodyPr wrap="square" rtlCol="0" anchor="t">
            <a:noAutofit/>
          </a:bodyPr>
          <a:p>
            <a:pPr indent="0" fontAlgn="auto">
              <a:lnSpc>
                <a:spcPct val="140000"/>
              </a:lnSpc>
            </a:pPr>
            <a:r>
              <a:rPr lang="en-US" altLang="zh-CN" dirty="0">
                <a:cs typeface="微软雅黑" panose="020B0503020204020204" charset="-122"/>
              </a:rPr>
              <a:t> </a:t>
            </a:r>
            <a:r>
              <a:rPr lang="zh-CN" altLang="en-US" sz="2000" dirty="0">
                <a:cs typeface="微软雅黑" panose="020B0503020204020204" charset="-122"/>
                <a:sym typeface="+mn-ea"/>
              </a:rPr>
              <a:t>买电影票前，去电影网站查看待映影片的评分；看电视剧前，要等到有评分后才决定是否观看</a:t>
            </a:r>
            <a:r>
              <a:rPr lang="en-US" altLang="zh-CN" sz="2000" dirty="0">
                <a:cs typeface="微软雅黑" panose="020B0503020204020204" charset="-122"/>
                <a:sym typeface="+mn-ea"/>
              </a:rPr>
              <a:t>······</a:t>
            </a:r>
            <a:r>
              <a:rPr lang="zh-CN" altLang="en-US" sz="2000" dirty="0">
                <a:cs typeface="微软雅黑" panose="020B0503020204020204" charset="-122"/>
                <a:sym typeface="+mn-ea"/>
              </a:rPr>
              <a:t>各种文化产品似乎都有了属于自己的分数。一个高分能为相关文化产品带来较高的关注度和较大的影响力，这反过来又影响文化产品的创作。然而，有专家表示，这样的评分很有可能影响文化产品的创新发展。</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以下除哪项外，均能支持上述专家的观点？</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那些试图突破常规、探索新风格或新形式的文化产品，往往会因为不符合评分者的偏好，而只得到较低的评分</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新的文化产品往往需要一定的时间周期，才能培养出口碑和受众基础，而评分的即时性会抑制这种成长空间</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在评分的过程中，粉丝群体会毫无理由地对自己喜爱的作品给出高分评价，从而影响评分的公正性和客观性</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为获得更高的评分和更多的市场认可，许多文化产品的创作者会迎合评分标准和大众喜好，重复已成功的模式和题材</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462915" y="701675"/>
            <a:ext cx="1124839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一项调查显示，某公司有</a:t>
            </a:r>
            <a:r>
              <a:rPr lang="en-US" altLang="zh-CN" sz="2000" dirty="0">
                <a:cs typeface="微软雅黑" panose="020B0503020204020204" charset="-122"/>
                <a:sym typeface="+mn-ea"/>
              </a:rPr>
              <a:t>70%</a:t>
            </a:r>
            <a:r>
              <a:rPr lang="zh-CN" altLang="en-US" sz="2000" dirty="0">
                <a:cs typeface="微软雅黑" panose="020B0503020204020204" charset="-122"/>
                <a:sym typeface="+mn-ea"/>
              </a:rPr>
              <a:t>的员工存在压力过大、健康隐患等问题。为此，公司计划建立一个</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，提供瑜伽课程和心理咨询服务。公司管理层预测，设立</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能改善员工的身心状态，提高整体工作效率。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回答以下哪个问题，最有助于评价公司管理层作出的上述预测？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员工是否有需求和兴趣参与</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活动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其他实施类似福利计划的公司是否取得了成效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该调查数据是否反映公司员工真实的身心状况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该公司是否有足够预算用于</a:t>
            </a:r>
            <a:r>
              <a:rPr lang="en-US" altLang="zh-CN" sz="2000" dirty="0">
                <a:cs typeface="微软雅黑" panose="020B0503020204020204" charset="-122"/>
                <a:sym typeface="+mn-ea"/>
              </a:rPr>
              <a:t>“</a:t>
            </a:r>
            <a:r>
              <a:rPr lang="zh-CN" altLang="en-US" sz="2000" dirty="0">
                <a:cs typeface="微软雅黑" panose="020B0503020204020204" charset="-122"/>
                <a:sym typeface="+mn-ea"/>
              </a:rPr>
              <a:t>健康角</a:t>
            </a:r>
            <a:r>
              <a:rPr lang="en-US" altLang="zh-CN" sz="2000" dirty="0">
                <a:cs typeface="微软雅黑" panose="020B0503020204020204" charset="-122"/>
                <a:sym typeface="+mn-ea"/>
              </a:rPr>
              <a:t>”</a:t>
            </a:r>
            <a:r>
              <a:rPr lang="zh-CN" altLang="en-US" sz="2000" dirty="0">
                <a:cs typeface="微软雅黑" panose="020B0503020204020204" charset="-122"/>
                <a:sym typeface="+mn-ea"/>
              </a:rPr>
              <a:t>长期运营</a:t>
            </a: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462915" y="701675"/>
            <a:ext cx="11236325"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《百家姓》是一部关于汉字姓氏的作品，成文于北宋初期，原收集姓氏</a:t>
            </a:r>
            <a:r>
              <a:rPr lang="en-US" altLang="zh-CN" dirty="0">
                <a:cs typeface="微软雅黑" panose="020B0503020204020204" charset="-122"/>
                <a:sym typeface="+mn-ea"/>
              </a:rPr>
              <a:t>411</a:t>
            </a:r>
            <a:r>
              <a:rPr lang="zh-CN" altLang="en-US" dirty="0">
                <a:cs typeface="微软雅黑" panose="020B0503020204020204" charset="-122"/>
                <a:sym typeface="+mn-ea"/>
              </a:rPr>
              <a:t>个，后增补到</a:t>
            </a:r>
            <a:r>
              <a:rPr lang="en-US" altLang="zh-CN" dirty="0">
                <a:cs typeface="微软雅黑" panose="020B0503020204020204" charset="-122"/>
                <a:sym typeface="+mn-ea"/>
              </a:rPr>
              <a:t>504</a:t>
            </a:r>
            <a:r>
              <a:rPr lang="zh-CN" altLang="en-US" dirty="0">
                <a:cs typeface="微软雅黑" panose="020B0503020204020204" charset="-122"/>
                <a:sym typeface="+mn-ea"/>
              </a:rPr>
              <a:t>个，其中单姓</a:t>
            </a:r>
            <a:r>
              <a:rPr lang="en-US" altLang="zh-CN" dirty="0">
                <a:cs typeface="微软雅黑" panose="020B0503020204020204" charset="-122"/>
                <a:sym typeface="+mn-ea"/>
              </a:rPr>
              <a:t>444</a:t>
            </a:r>
            <a:r>
              <a:rPr lang="zh-CN" altLang="en-US" dirty="0">
                <a:cs typeface="微软雅黑" panose="020B0503020204020204" charset="-122"/>
                <a:sym typeface="+mn-ea"/>
              </a:rPr>
              <a:t>个，复姓</a:t>
            </a:r>
            <a:r>
              <a:rPr lang="en-US" altLang="zh-CN" dirty="0">
                <a:cs typeface="微软雅黑" panose="020B0503020204020204" charset="-122"/>
                <a:sym typeface="+mn-ea"/>
              </a:rPr>
              <a:t>60</a:t>
            </a:r>
            <a:r>
              <a:rPr lang="zh-CN" altLang="en-US" dirty="0">
                <a:cs typeface="微软雅黑" panose="020B0503020204020204" charset="-122"/>
                <a:sym typeface="+mn-ea"/>
              </a:rPr>
              <a:t>个。《百家姓》的内容没有文理，仅仅只是姓氏的合集，但却是古代中国儿童启蒙教育中不可或缺的经典作品，与《三字经》《千字文》并称为古代三大启蒙读物，在古代儿童教育中占据了重要地位。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以下除哪项外，均能解释《百家姓》在古代儿童教育中的重要地位？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姓氏可以反映出社会各阶层的权力传承和财产继承，《百家姓》中姓氏的逐步丰富反映了社会的发展和进步</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姓氏的作用主要是区分血缘关系和婚姻关系，随着门阀政治的出现，《百家姓》中姓氏的排序反映了当时的政治和社会结构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姓氏文化不仅透露出家族的来源、迁徙历史和谱系，还包括了宗祠、名人和家训等方面的信息，承载着丰富的文化内涵</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在南宋《百家姓》已经成为普及读物，历朝历代都编写了各种版本的《百家姓》，其中不乏名家编撰和御制的版本</a:t>
            </a:r>
            <a:endParaRPr lang="zh-CN" altLang="en-US"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462915" y="701675"/>
            <a:ext cx="1124712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小全、大陈、小吴、大刘四人都是水上项目运动员，他们专攻的运动项目有游泳、跳水、水球、赛艇。已知：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）只有大陈不练跳水，小全才练游泳；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）只有大陈练跳水，大刘才练水球；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）或者小吴练游泳，或者小全练游泳，二者仅有其一；</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）或者小全不练赛艇，或者大刘练水球，二者仅有其一。</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增加以下哪个选项作为前提，可以推出小吴练游泳？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小全练赛艇</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大陈不练跳水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大陈练水球</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大刘不练水球</a:t>
            </a:r>
            <a:endParaRPr lang="zh-CN" altLang="en-US" sz="2000" dirty="0">
              <a:cs typeface="微软雅黑" panose="020B0503020204020204" charset="-122"/>
              <a:sym typeface="+mn-ea"/>
            </a:endParaRPr>
          </a:p>
        </p:txBody>
      </p:sp>
      <p:sp>
        <p:nvSpPr>
          <p:cNvPr id="4" name="文本框 3"/>
          <p:cNvSpPr txBox="1"/>
          <p:nvPr/>
        </p:nvSpPr>
        <p:spPr>
          <a:xfrm>
            <a:off x="7642225" y="1718945"/>
            <a:ext cx="4170680" cy="1753235"/>
          </a:xfrm>
          <a:prstGeom prst="rect">
            <a:avLst/>
          </a:prstGeom>
          <a:noFill/>
        </p:spPr>
        <p:txBody>
          <a:bodyPr wrap="square" rtlCol="0" anchor="t">
            <a:spAutoFit/>
          </a:bodyPr>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1</a:t>
            </a:r>
            <a:r>
              <a:rPr lang="zh-CN" altLang="en-US" dirty="0">
                <a:solidFill>
                  <a:srgbClr val="FF0000"/>
                </a:solidFill>
                <a:effectLst/>
                <a:sym typeface="+mn-ea"/>
              </a:rPr>
              <a:t>）小全游泳</a:t>
            </a:r>
            <a:r>
              <a:rPr lang="en-US" altLang="zh-CN" dirty="0">
                <a:solidFill>
                  <a:srgbClr val="FF0000"/>
                </a:solidFill>
                <a:effectLst/>
                <a:sym typeface="+mn-ea"/>
              </a:rPr>
              <a:t>→-</a:t>
            </a:r>
            <a:r>
              <a:rPr lang="zh-CN" altLang="en-US" dirty="0">
                <a:solidFill>
                  <a:srgbClr val="FF0000"/>
                </a:solidFill>
                <a:effectLst/>
                <a:sym typeface="+mn-ea"/>
              </a:rPr>
              <a:t>大陈跳水；</a:t>
            </a:r>
            <a:endParaRPr lang="zh-CN" altLang="en-US" kern="1200" dirty="0">
              <a:solidFill>
                <a:srgbClr val="FF0000"/>
              </a:solidFill>
              <a:effectLst/>
              <a:latin typeface="+mn-lt"/>
              <a:sym typeface="+mn-ea"/>
            </a:endParaRPr>
          </a:p>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2</a:t>
            </a:r>
            <a:r>
              <a:rPr lang="zh-CN" altLang="en-US" dirty="0">
                <a:solidFill>
                  <a:srgbClr val="FF0000"/>
                </a:solidFill>
                <a:effectLst/>
                <a:sym typeface="+mn-ea"/>
              </a:rPr>
              <a:t>）大刘水球</a:t>
            </a:r>
            <a:r>
              <a:rPr lang="en-US" altLang="zh-CN" dirty="0">
                <a:solidFill>
                  <a:srgbClr val="FF0000"/>
                </a:solidFill>
                <a:effectLst/>
                <a:sym typeface="+mn-ea"/>
              </a:rPr>
              <a:t>→</a:t>
            </a:r>
            <a:r>
              <a:rPr lang="zh-CN" altLang="en-US" dirty="0">
                <a:solidFill>
                  <a:srgbClr val="FF0000"/>
                </a:solidFill>
                <a:effectLst/>
                <a:sym typeface="+mn-ea"/>
              </a:rPr>
              <a:t>大陈跳水；</a:t>
            </a:r>
            <a:endParaRPr lang="zh-CN" altLang="en-US" kern="1200" dirty="0">
              <a:solidFill>
                <a:srgbClr val="FF0000"/>
              </a:solidFill>
              <a:effectLst/>
              <a:latin typeface="+mn-lt"/>
              <a:sym typeface="+mn-ea"/>
            </a:endParaRPr>
          </a:p>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3</a:t>
            </a:r>
            <a:r>
              <a:rPr lang="zh-CN" altLang="en-US" dirty="0">
                <a:solidFill>
                  <a:srgbClr val="FF0000"/>
                </a:solidFill>
                <a:effectLst/>
                <a:sym typeface="+mn-ea"/>
              </a:rPr>
              <a:t>）要么小吴游泳，要么小全游泳；</a:t>
            </a:r>
            <a:endParaRPr lang="zh-CN" altLang="en-US" kern="1200" dirty="0">
              <a:solidFill>
                <a:srgbClr val="FF0000"/>
              </a:solidFill>
              <a:effectLst/>
              <a:latin typeface="+mn-lt"/>
              <a:sym typeface="+mn-ea"/>
            </a:endParaRPr>
          </a:p>
          <a:p>
            <a:pPr indent="0" fontAlgn="auto">
              <a:lnSpc>
                <a:spcPct val="150000"/>
              </a:lnSpc>
            </a:pPr>
            <a:r>
              <a:rPr lang="zh-CN" altLang="en-US" dirty="0">
                <a:solidFill>
                  <a:srgbClr val="FF0000"/>
                </a:solidFill>
                <a:effectLst/>
                <a:sym typeface="+mn-ea"/>
              </a:rPr>
              <a:t>（</a:t>
            </a:r>
            <a:r>
              <a:rPr lang="en-US" altLang="zh-CN" dirty="0">
                <a:solidFill>
                  <a:srgbClr val="FF0000"/>
                </a:solidFill>
                <a:effectLst/>
                <a:sym typeface="+mn-ea"/>
              </a:rPr>
              <a:t>4</a:t>
            </a:r>
            <a:r>
              <a:rPr lang="zh-CN" altLang="en-US" dirty="0">
                <a:solidFill>
                  <a:srgbClr val="FF0000"/>
                </a:solidFill>
                <a:effectLst/>
                <a:sym typeface="+mn-ea"/>
              </a:rPr>
              <a:t>）要么</a:t>
            </a:r>
            <a:r>
              <a:rPr lang="en-US" altLang="zh-CN" dirty="0">
                <a:solidFill>
                  <a:srgbClr val="FF0000"/>
                </a:solidFill>
                <a:effectLst/>
                <a:sym typeface="+mn-ea"/>
              </a:rPr>
              <a:t>-</a:t>
            </a:r>
            <a:r>
              <a:rPr lang="zh-CN" altLang="en-US" dirty="0">
                <a:solidFill>
                  <a:srgbClr val="FF0000"/>
                </a:solidFill>
                <a:effectLst/>
                <a:sym typeface="+mn-ea"/>
              </a:rPr>
              <a:t>小全赛艇，要么大刘水球。</a:t>
            </a:r>
            <a:endParaRPr lang="zh-CN" altLang="en-US" dirty="0">
              <a:solidFill>
                <a:srgbClr val="FF0000"/>
              </a:solidFill>
              <a:effectLst/>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462915" y="701675"/>
            <a:ext cx="1132586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在环太湖自行车比赛中，冲刺阶段排在前四位的是甲、乙、丙、丁四名选手（如图，圆圈表示选手），他们来自江苏、上海、浙江和安徽，所骑自行车颜色是蓝色、灰色、白色和黄色。已知：</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）江苏选手在选手丙的东南面；</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）上海选手在赛道的东部位置，他所骑自行车是蓝色的；</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）骑灰色自行车的选手不是排在第四位；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）选手丁排在第三位，选手乙来自浙江；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）安徽选手排在骑黄色自行车的选手之前，排在选手甲之后。</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104.</a:t>
            </a:r>
            <a:r>
              <a:rPr lang="zh-CN" altLang="en-US" dirty="0">
                <a:cs typeface="微软雅黑" panose="020B0503020204020204" charset="-122"/>
                <a:sym typeface="+mn-ea"/>
              </a:rPr>
              <a:t>根据上述信息，可以推出以下哪项？</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甲来自江苏，排第二位</a:t>
            </a:r>
            <a:r>
              <a:rPr lang="en-US" altLang="zh-CN" dirty="0">
                <a:cs typeface="微软雅黑" panose="020B0503020204020204" charset="-122"/>
                <a:sym typeface="+mn-ea"/>
              </a:rPr>
              <a:t> </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乙来自浙江，排第四位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丙来自安徽，排第一位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丁来自上海，排第三位</a:t>
            </a:r>
            <a:endParaRPr lang="zh-CN" altLang="en-US" dirty="0">
              <a:cs typeface="微软雅黑" panose="020B0503020204020204" charset="-122"/>
              <a:sym typeface="+mn-ea"/>
            </a:endParaRPr>
          </a:p>
        </p:txBody>
      </p:sp>
      <p:pic>
        <p:nvPicPr>
          <p:cNvPr id="10" name="图片 12" descr="IMG_267"/>
          <p:cNvPicPr>
            <a:picLocks noChangeAspect="1"/>
          </p:cNvPicPr>
          <p:nvPr/>
        </p:nvPicPr>
        <p:blipFill>
          <a:blip r:embed="rId1"/>
          <a:stretch>
            <a:fillRect/>
          </a:stretch>
        </p:blipFill>
        <p:spPr>
          <a:xfrm>
            <a:off x="8731885" y="2172970"/>
            <a:ext cx="2985135" cy="3075305"/>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462915" y="701675"/>
            <a:ext cx="1125347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在环太湖自行车比赛中，冲刺阶段排在前四位的是甲、乙、丙、丁四名选手（如图，圆圈表示选手），他们来自江苏、上海、浙江和安徽，所骑自行车颜色是蓝色、灰色、白色和黄色。已知：</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）江苏选手在选手丙的东南面；</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）上海选手在赛道的东部位置，他所骑自行车是蓝色的；</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）骑灰色自行车的选手不是排在第四位；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）选手丁排在第三位，选手乙来自浙江；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）安徽选手排在骑黄色自行车的选手之前，排在选手甲之后。</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105.</a:t>
            </a:r>
            <a:r>
              <a:rPr lang="zh-CN" altLang="en-US" dirty="0">
                <a:cs typeface="微软雅黑" panose="020B0503020204020204" charset="-122"/>
                <a:sym typeface="+mn-ea"/>
              </a:rPr>
              <a:t>如果丙所骑自行车是白色，则可以推出以下哪项？</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选手甲所骑自行车不是蓝色的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选手乙所骑自行车是灰色的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安徽选手所骑自行车是黄色的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江苏选手所骑自行车是灰色的</a:t>
            </a:r>
            <a:endParaRPr lang="zh-CN" altLang="en-US" dirty="0">
              <a:cs typeface="微软雅黑" panose="020B0503020204020204" charset="-122"/>
              <a:sym typeface="+mn-ea"/>
            </a:endParaRPr>
          </a:p>
        </p:txBody>
      </p:sp>
      <p:pic>
        <p:nvPicPr>
          <p:cNvPr id="10" name="图片 12" descr="IMG_267"/>
          <p:cNvPicPr>
            <a:picLocks noChangeAspect="1"/>
          </p:cNvPicPr>
          <p:nvPr/>
        </p:nvPicPr>
        <p:blipFill>
          <a:blip r:embed="rId1"/>
          <a:stretch>
            <a:fillRect/>
          </a:stretch>
        </p:blipFill>
        <p:spPr>
          <a:xfrm>
            <a:off x="8731885" y="2172970"/>
            <a:ext cx="2985135" cy="3075305"/>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462915" y="701675"/>
            <a:ext cx="1126998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多元共治：指针对社会运行中的复杂问题，由政府、社会组织、公民等主体共同参与，多方合作的社会治理模式。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下列属于多元共治的是：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针对辖区内河道持续多年的污染问题，某县水利、环保等部门成立联合工作小组，决心打赢河道污染治理的攻坚战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针对居民停车位、充电桩严重不足的问题，某街道统筹规划电动自行车停放充电区域，优化地下非机动车库安全设施，消除电动自行车</a:t>
            </a:r>
            <a:r>
              <a:rPr lang="en-US" altLang="zh-CN" sz="2000" dirty="0">
                <a:cs typeface="微软雅黑" panose="020B0503020204020204" charset="-122"/>
                <a:sym typeface="+mn-ea"/>
              </a:rPr>
              <a:t>“</a:t>
            </a:r>
            <a:r>
              <a:rPr lang="zh-CN" altLang="en-US" sz="2000" dirty="0">
                <a:cs typeface="微软雅黑" panose="020B0503020204020204" charset="-122"/>
                <a:sym typeface="+mn-ea"/>
              </a:rPr>
              <a:t>上楼入户</a:t>
            </a:r>
            <a:r>
              <a:rPr lang="en-US" altLang="zh-CN" sz="2000" dirty="0">
                <a:cs typeface="微软雅黑" panose="020B0503020204020204" charset="-122"/>
                <a:sym typeface="+mn-ea"/>
              </a:rPr>
              <a:t>”</a:t>
            </a:r>
            <a:r>
              <a:rPr lang="zh-CN" altLang="en-US" sz="2000" dirty="0">
                <a:cs typeface="微软雅黑" panose="020B0503020204020204" charset="-122"/>
                <a:sym typeface="+mn-ea"/>
              </a:rPr>
              <a:t>的隐患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某区政府在老旧小区改造、公共服务等社区工作中，鼓励业委会、志愿者充分发挥各自作用，遇到问题加强沟通，满足居民的合理诉求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某村两面临山，农林交错，靠近交通要道，火灾防治压力巨大。村民自发组织巡查队，检测上报森林火情，有效遏制了火灾多发的势头</a:t>
            </a:r>
            <a:endParaRPr lang="zh-CN" altLang="en-US" sz="2000" dirty="0">
              <a:cs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462915" y="701675"/>
            <a:ext cx="1121981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森林模式：指企业在发展过程中借助内外部竞争不断克服自身短板，带动行业和谐发展，最终形成群体优势的发展模式。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下列属于森林模式的是：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某家具厂针对市场动态需求，研发出一系列新产品，市场占有率不断攀升。本地其他厂家也加大了研发力度，家具行业很快成了当地的支柱产业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某公司定期举办专题研讨会，让员工与国内外同行进行交流，开阔眼界，取长补短，提高业务素质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近年来，某林区大力推进</a:t>
            </a:r>
            <a:r>
              <a:rPr lang="en-US" altLang="zh-CN" sz="2000" dirty="0">
                <a:cs typeface="微软雅黑" panose="020B0503020204020204" charset="-122"/>
                <a:sym typeface="+mn-ea"/>
              </a:rPr>
              <a:t>“</a:t>
            </a:r>
            <a:r>
              <a:rPr lang="zh-CN" altLang="en-US" sz="2000" dirty="0">
                <a:cs typeface="微软雅黑" panose="020B0503020204020204" charset="-122"/>
                <a:sym typeface="+mn-ea"/>
              </a:rPr>
              <a:t>种、苗、造、抚、管</a:t>
            </a:r>
            <a:r>
              <a:rPr lang="en-US" altLang="zh-CN" sz="2000" dirty="0">
                <a:cs typeface="微软雅黑" panose="020B0503020204020204" charset="-122"/>
                <a:sym typeface="+mn-ea"/>
              </a:rPr>
              <a:t>”</a:t>
            </a:r>
            <a:r>
              <a:rPr lang="zh-CN" altLang="en-US" sz="2000" dirty="0">
                <a:cs typeface="微软雅黑" panose="020B0503020204020204" charset="-122"/>
                <a:sym typeface="+mn-ea"/>
              </a:rPr>
              <a:t>一体化生产经营模式，保持与周围环境和谐发展的良好势头，培育出了森林可持续经营的样板林区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某公司实行末位淘汰制，业绩排名靠后的员工将被调换工作岗位。每个人都感受到了巨大的压力，产品销售额直线上升，企业的规模和影响力越来越大</a:t>
            </a:r>
            <a:endParaRPr lang="zh-CN" altLang="en-US" sz="2000"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462915" y="701675"/>
            <a:ext cx="1123632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零糖社交：有意降低社交期望值，在互动过程中保持距离感和独立性，尽量减轻双方的精神负担，使心情更加轻松愉悦的社交方式。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下列属于零糖社交的是：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吴女士和好友多年未见，平时只是逢年过节发条问候短信。前几天，得知她生病的消息后，好友立刻放下工作赶了过来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李先生经常周末约上三五个骑友到附近城市游玩，每次当天往返，所有费用</a:t>
            </a:r>
            <a:r>
              <a:rPr lang="en-US" altLang="zh-CN" sz="2000" dirty="0">
                <a:cs typeface="微软雅黑" panose="020B0503020204020204" charset="-122"/>
                <a:sym typeface="+mn-ea"/>
              </a:rPr>
              <a:t>AA</a:t>
            </a:r>
            <a:r>
              <a:rPr lang="zh-CN" altLang="en-US" sz="2000" dirty="0">
                <a:cs typeface="微软雅黑" panose="020B0503020204020204" charset="-122"/>
                <a:sym typeface="+mn-ea"/>
              </a:rPr>
              <a:t>制，虽然大家只知道彼此的微信昵称，却玩得非常开心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小王每天晚上都要和自家的</a:t>
            </a:r>
            <a:r>
              <a:rPr lang="en-US" altLang="zh-CN" sz="2000" dirty="0">
                <a:cs typeface="微软雅黑" panose="020B0503020204020204" charset="-122"/>
                <a:sym typeface="+mn-ea"/>
              </a:rPr>
              <a:t>AI</a:t>
            </a:r>
            <a:r>
              <a:rPr lang="zh-CN" altLang="en-US" sz="2000" dirty="0">
                <a:cs typeface="微软雅黑" panose="020B0503020204020204" charset="-122"/>
                <a:sym typeface="+mn-ea"/>
              </a:rPr>
              <a:t>对话机器人闲聊半个多小时，就像交往多年亲密无间的好友，他很享受这样的交流，没有一点心理包袱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小赵工作很忙，日常生活中也是个</a:t>
            </a:r>
            <a:r>
              <a:rPr lang="en-US" altLang="zh-CN" sz="2000" dirty="0">
                <a:cs typeface="微软雅黑" panose="020B0503020204020204" charset="-122"/>
                <a:sym typeface="+mn-ea"/>
              </a:rPr>
              <a:t>“</a:t>
            </a:r>
            <a:r>
              <a:rPr lang="zh-CN" altLang="en-US" sz="2000" dirty="0">
                <a:cs typeface="微软雅黑" panose="020B0503020204020204" charset="-122"/>
                <a:sym typeface="+mn-ea"/>
              </a:rPr>
              <a:t>独行侠</a:t>
            </a:r>
            <a:r>
              <a:rPr lang="en-US" altLang="zh-CN" sz="2000" dirty="0">
                <a:cs typeface="微软雅黑" panose="020B0503020204020204" charset="-122"/>
                <a:sym typeface="+mn-ea"/>
              </a:rPr>
              <a:t>”</a:t>
            </a:r>
            <a:r>
              <a:rPr lang="zh-CN" altLang="en-US" sz="2000" dirty="0">
                <a:cs typeface="微软雅黑" panose="020B0503020204020204" charset="-122"/>
                <a:sym typeface="+mn-ea"/>
              </a:rPr>
              <a:t>。收到母校的校庆邀请后，他毫不犹豫就婉言谢绝了。因为他不想跑去给人家增加招待负担</a:t>
            </a:r>
            <a:endParaRPr lang="zh-CN" altLang="en-US" sz="2000"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462915" y="701675"/>
            <a:ext cx="1120203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创意环保教育：指为了培养青少年生态环保意识而开展的与单向教育模式不同的互动性课外活动。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下列属于创意环保教育的是：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每周六晚上，刘老师都会带领一群小小昆虫</a:t>
            </a:r>
            <a:r>
              <a:rPr lang="en-US" altLang="zh-CN" sz="2000" dirty="0">
                <a:cs typeface="微软雅黑" panose="020B0503020204020204" charset="-122"/>
                <a:sym typeface="+mn-ea"/>
              </a:rPr>
              <a:t>“</a:t>
            </a:r>
            <a:r>
              <a:rPr lang="zh-CN" altLang="en-US" sz="2000" dirty="0">
                <a:cs typeface="微软雅黑" panose="020B0503020204020204" charset="-122"/>
                <a:sym typeface="+mn-ea"/>
              </a:rPr>
              <a:t>发烧友</a:t>
            </a:r>
            <a:r>
              <a:rPr lang="en-US" altLang="zh-CN" sz="2000" dirty="0">
                <a:cs typeface="微软雅黑" panose="020B0503020204020204" charset="-122"/>
                <a:sym typeface="+mn-ea"/>
              </a:rPr>
              <a:t>”</a:t>
            </a:r>
            <a:r>
              <a:rPr lang="zh-CN" altLang="en-US" sz="2000" dirty="0">
                <a:cs typeface="微软雅黑" panose="020B0503020204020204" charset="-122"/>
                <a:sym typeface="+mn-ea"/>
              </a:rPr>
              <a:t>，在山林、草坪中探索奇妙的昆虫世界，探讨人与自然的和谐关系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王先生发现儿子对地理、生物知识很感兴趣，就给他买了许多书。儿子在增长知识的同时也萌生了更强的环保意识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刘女士收到家长群的通知，要求学生提交用空牛奶盒完成的手工环保作业，她只好网购一些空盒子，因为家里几乎不喝牛奶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清江社区利用微信公众号、户外海报等载体，对废旧电池回收问题进行通俗易懂的讲解，居民纷纷表示再也不会随意乱扔电池</a:t>
            </a:r>
            <a:endParaRPr lang="zh-CN" altLang="en-US" sz="2000"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462915" y="701675"/>
            <a:ext cx="1122489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平台自我优待：指商业平台主体借助自身技术或数据优势地位，通过特定手段取得优惠待遇以获得竞争优势的行为。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下列不属于平台自我优待的是：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某电商平台利用从卖家经营过程中收集到的海量销售数据，优化了自家产品的推荐策略，并在平台搜索引擎中把它们排列在前面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某在线旅游平台在用户自行预订车票、门票时，默认搭售自己代理的旅游保险产品，却没有在显著位置提醒用户可以取消这项服务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某应用商店运营商对自家程序软件给了更高的评分星级，对第三方开发者则设置了更为严格的审核评级标准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某供水公司利用在区域供水市场的支配地位，要求用水单位必须邀请己方对供水工程进行勘察、施工和安装</a:t>
            </a:r>
            <a:endParaRPr lang="zh-CN" altLang="en-US" sz="2000"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111</a:t>
            </a:r>
            <a:endParaRPr kumimoji="1" lang="en-US" altLang="zh-CN" sz="2800" b="1" dirty="0">
              <a:solidFill>
                <a:srgbClr val="FF653F"/>
              </a:solidFill>
            </a:endParaRPr>
          </a:p>
        </p:txBody>
      </p:sp>
      <p:sp>
        <p:nvSpPr>
          <p:cNvPr id="3" name="文本框 2"/>
          <p:cNvSpPr txBox="1"/>
          <p:nvPr/>
        </p:nvSpPr>
        <p:spPr>
          <a:xfrm>
            <a:off x="462915" y="701675"/>
            <a:ext cx="1124839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情感虹吸：指现实生活中难以得到心理慰藉的中老年人，在网络世界中因为受到情感诱导而盲目消费，导致个人钱财严重受损的现象。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下列属于情感虹吸的是：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在外地工作的朱先生发现母亲退休后将退休金的一大半都用于购买一种</a:t>
            </a:r>
            <a:r>
              <a:rPr lang="en-US" altLang="zh-CN" sz="2000" dirty="0">
                <a:cs typeface="微软雅黑" panose="020B0503020204020204" charset="-122"/>
                <a:sym typeface="+mn-ea"/>
              </a:rPr>
              <a:t>“</a:t>
            </a:r>
            <a:r>
              <a:rPr lang="zh-CN" altLang="en-US" sz="2000" dirty="0">
                <a:cs typeface="微软雅黑" panose="020B0503020204020204" charset="-122"/>
                <a:sym typeface="+mn-ea"/>
              </a:rPr>
              <a:t>三无</a:t>
            </a:r>
            <a:r>
              <a:rPr lang="en-US" altLang="zh-CN" sz="2000" dirty="0">
                <a:cs typeface="微软雅黑" panose="020B0503020204020204" charset="-122"/>
                <a:sym typeface="+mn-ea"/>
              </a:rPr>
              <a:t>”</a:t>
            </a:r>
            <a:r>
              <a:rPr lang="zh-CN" altLang="en-US" sz="2000" dirty="0">
                <a:cs typeface="微软雅黑" panose="020B0503020204020204" charset="-122"/>
                <a:sym typeface="+mn-ea"/>
              </a:rPr>
              <a:t>保健品，原来该产品的推销员几乎每周都会来陪母亲聊家常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酒店大厨赵先生在网络平台上免费教授烹饪知识，因其手艺精湛，说话幽默，嘴巴又甜，受到了无数妈妈级粉丝的喜爱，每天都能得到不少打赏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儿子考上大学后，刘女士每天晚上都会定时打开手机，在主播们的嘘寒问暖中感受一丝安慰，偶尔也为他们刷一些小礼物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独居的李奶奶每天都泡在</a:t>
            </a:r>
            <a:r>
              <a:rPr lang="en-US" altLang="zh-CN" sz="2000" dirty="0">
                <a:cs typeface="微软雅黑" panose="020B0503020204020204" charset="-122"/>
                <a:sym typeface="+mn-ea"/>
              </a:rPr>
              <a:t>“50</a:t>
            </a:r>
            <a:r>
              <a:rPr lang="zh-CN" altLang="en-US" sz="2000" dirty="0">
                <a:cs typeface="微软雅黑" panose="020B0503020204020204" charset="-122"/>
                <a:sym typeface="+mn-ea"/>
              </a:rPr>
              <a:t>后时光</a:t>
            </a:r>
            <a:r>
              <a:rPr lang="en-US" altLang="zh-CN" sz="2000" dirty="0">
                <a:cs typeface="微软雅黑" panose="020B0503020204020204" charset="-122"/>
                <a:sym typeface="+mn-ea"/>
              </a:rPr>
              <a:t>”</a:t>
            </a:r>
            <a:r>
              <a:rPr lang="zh-CN" altLang="en-US" sz="2000" dirty="0">
                <a:cs typeface="微软雅黑" panose="020B0503020204020204" charset="-122"/>
                <a:sym typeface="+mn-ea"/>
              </a:rPr>
              <a:t>直播间，为主播刷</a:t>
            </a:r>
            <a:r>
              <a:rPr lang="en-US" altLang="zh-CN" sz="2000" dirty="0">
                <a:cs typeface="微软雅黑" panose="020B0503020204020204" charset="-122"/>
                <a:sym typeface="+mn-ea"/>
              </a:rPr>
              <a:t>“</a:t>
            </a:r>
            <a:r>
              <a:rPr lang="zh-CN" altLang="en-US" sz="2000" dirty="0">
                <a:cs typeface="微软雅黑" panose="020B0503020204020204" charset="-122"/>
                <a:sym typeface="+mn-ea"/>
              </a:rPr>
              <a:t>火箭</a:t>
            </a:r>
            <a:r>
              <a:rPr lang="en-US" altLang="zh-CN" sz="2000" dirty="0">
                <a:cs typeface="微软雅黑" panose="020B0503020204020204" charset="-122"/>
                <a:sym typeface="+mn-ea"/>
              </a:rPr>
              <a:t>”“</a:t>
            </a:r>
            <a:r>
              <a:rPr lang="zh-CN" altLang="en-US" sz="2000" dirty="0">
                <a:cs typeface="微软雅黑" panose="020B0503020204020204" charset="-122"/>
                <a:sym typeface="+mn-ea"/>
              </a:rPr>
              <a:t>跑车</a:t>
            </a:r>
            <a:r>
              <a:rPr lang="en-US" altLang="zh-CN" sz="2000" dirty="0">
                <a:cs typeface="微软雅黑" panose="020B0503020204020204" charset="-122"/>
                <a:sym typeface="+mn-ea"/>
              </a:rPr>
              <a:t>”</a:t>
            </a:r>
            <a:r>
              <a:rPr lang="zh-CN" altLang="en-US" sz="2000" dirty="0">
                <a:cs typeface="微软雅黑" panose="020B0503020204020204" charset="-122"/>
                <a:sym typeface="+mn-ea"/>
              </a:rPr>
              <a:t>等礼物，成为了</a:t>
            </a:r>
            <a:r>
              <a:rPr lang="en-US" altLang="zh-CN" sz="2000" dirty="0">
                <a:cs typeface="微软雅黑" panose="020B0503020204020204" charset="-122"/>
                <a:sym typeface="+mn-ea"/>
              </a:rPr>
              <a:t>“</a:t>
            </a:r>
            <a:r>
              <a:rPr lang="zh-CN" altLang="en-US" sz="2000" dirty="0">
                <a:cs typeface="微软雅黑" panose="020B0503020204020204" charset="-122"/>
                <a:sym typeface="+mn-ea"/>
              </a:rPr>
              <a:t>榜一大哥</a:t>
            </a:r>
            <a:r>
              <a:rPr lang="en-US" altLang="zh-CN" sz="2000" dirty="0">
                <a:cs typeface="微软雅黑" panose="020B0503020204020204" charset="-122"/>
                <a:sym typeface="+mn-ea"/>
              </a:rPr>
              <a:t>”</a:t>
            </a:r>
            <a:r>
              <a:rPr lang="zh-CN" altLang="en-US" sz="2000" dirty="0">
                <a:cs typeface="微软雅黑" panose="020B0503020204020204" charset="-122"/>
                <a:sym typeface="+mn-ea"/>
              </a:rPr>
              <a:t>，两个月内花掉了多年的积蓄</a:t>
            </a:r>
            <a:endParaRPr lang="zh-CN" altLang="en-US" sz="2000" dirty="0">
              <a:cs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112</a:t>
            </a:r>
            <a:endParaRPr kumimoji="1" lang="en-US" altLang="zh-CN" sz="2800" b="1" dirty="0">
              <a:solidFill>
                <a:srgbClr val="FF653F"/>
              </a:solidFill>
            </a:endParaRPr>
          </a:p>
        </p:txBody>
      </p:sp>
      <p:sp>
        <p:nvSpPr>
          <p:cNvPr id="3" name="文本框 2"/>
          <p:cNvSpPr txBox="1"/>
          <p:nvPr/>
        </p:nvSpPr>
        <p:spPr>
          <a:xfrm>
            <a:off x="462915" y="701675"/>
            <a:ext cx="1120203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正向情绪价值：指通过积极性的言语或行动，为他人带来舒服、愉悦、安全等良性感受的人际交往能力。</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下列属于正向情绪价值的是：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林女士是一位经验丰富的住家月嫂，看到自己照护的孩子健康成长和新手父母们满意的笑容，她体会到了自己的价值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陈先生大学毕业后当过游戏主播、网络写手、保险推销员，不久前又在酒吧驻唱。父母很尊重他的选择，从不横加干涉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秦女士到时装店买衣服，刚一进门，几个营业员就围了上来，拼命夸她身材好，穿什么都好看。她虽然半信半疑，还是忍不住买了几件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赵先生是同事心目中的</a:t>
            </a:r>
            <a:r>
              <a:rPr lang="en-US" altLang="zh-CN" sz="2000" dirty="0">
                <a:cs typeface="微软雅黑" panose="020B0503020204020204" charset="-122"/>
                <a:sym typeface="+mn-ea"/>
              </a:rPr>
              <a:t>“</a:t>
            </a:r>
            <a:r>
              <a:rPr lang="zh-CN" altLang="en-US" sz="2000" dirty="0">
                <a:cs typeface="微软雅黑" panose="020B0503020204020204" charset="-122"/>
                <a:sym typeface="+mn-ea"/>
              </a:rPr>
              <a:t>显眼包</a:t>
            </a:r>
            <a:r>
              <a:rPr lang="en-US" altLang="zh-CN" sz="2000" dirty="0">
                <a:cs typeface="微软雅黑" panose="020B0503020204020204" charset="-122"/>
                <a:sym typeface="+mn-ea"/>
              </a:rPr>
              <a:t>”</a:t>
            </a:r>
            <a:r>
              <a:rPr lang="zh-CN" altLang="en-US" sz="2000" dirty="0">
                <a:cs typeface="微软雅黑" panose="020B0503020204020204" charset="-122"/>
                <a:sym typeface="+mn-ea"/>
              </a:rPr>
              <a:t>，每次聚会的时候，只要他一开口，大家就会笑得前仰后合，工作中的压力一扫而空</a:t>
            </a:r>
            <a:endParaRPr lang="zh-CN" altLang="en-US" sz="2000" dirty="0">
              <a:cs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113</a:t>
            </a:r>
            <a:endParaRPr kumimoji="1" lang="en-US" altLang="zh-CN" sz="2800" b="1" dirty="0">
              <a:solidFill>
                <a:srgbClr val="FF653F"/>
              </a:solidFill>
            </a:endParaRPr>
          </a:p>
        </p:txBody>
      </p:sp>
      <p:sp>
        <p:nvSpPr>
          <p:cNvPr id="3" name="文本框 2"/>
          <p:cNvSpPr txBox="1"/>
          <p:nvPr/>
        </p:nvSpPr>
        <p:spPr>
          <a:xfrm>
            <a:off x="462915" y="701675"/>
            <a:ext cx="1121473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灰度认知：指面对复杂多变、难以定性的客观事物或现象，采用弹性手法进行灵活应对，放弃非黑即白的思维方式。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下列属于灰度认知的是：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父母每次吵完架都会找小张评理，虽然清官难断家务事，他却有自己的绝招：听他们一个个地诉苦，然后坐在一块儿和稀泥，半天后肯定就会重归于好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虽然多位老师认为小婷的论文</a:t>
            </a:r>
            <a:r>
              <a:rPr lang="en-US" altLang="zh-CN" sz="2000" dirty="0">
                <a:cs typeface="微软雅黑" panose="020B0503020204020204" charset="-122"/>
                <a:sym typeface="+mn-ea"/>
              </a:rPr>
              <a:t>“</a:t>
            </a:r>
            <a:r>
              <a:rPr lang="zh-CN" altLang="en-US" sz="2000" dirty="0">
                <a:cs typeface="微软雅黑" panose="020B0503020204020204" charset="-122"/>
                <a:sym typeface="+mn-ea"/>
              </a:rPr>
              <a:t>论点值得推敲、论证不够充分</a:t>
            </a:r>
            <a:r>
              <a:rPr lang="en-US" altLang="zh-CN" sz="2000" dirty="0">
                <a:cs typeface="微软雅黑" panose="020B0503020204020204" charset="-122"/>
                <a:sym typeface="+mn-ea"/>
              </a:rPr>
              <a:t>”</a:t>
            </a:r>
            <a:r>
              <a:rPr lang="zh-CN" altLang="en-US" sz="2000" dirty="0">
                <a:cs typeface="微软雅黑" panose="020B0503020204020204" charset="-122"/>
                <a:sym typeface="+mn-ea"/>
              </a:rPr>
              <a:t>，但她觉得一定会有编辑欣赏，于是她毫不犹豫直接投了稿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公司的设备在运行中突发故障，工程师小袁排查出造成故障的多种可能性，并对每一种可能性进行分析，很快就排除了故障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当下许多影视剧中的正面人物通常不再是</a:t>
            </a:r>
            <a:r>
              <a:rPr lang="en-US" altLang="zh-CN" sz="2000" dirty="0">
                <a:cs typeface="微软雅黑" panose="020B0503020204020204" charset="-122"/>
                <a:sym typeface="+mn-ea"/>
              </a:rPr>
              <a:t>“</a:t>
            </a:r>
            <a:r>
              <a:rPr lang="zh-CN" altLang="en-US" sz="2000" dirty="0">
                <a:cs typeface="微软雅黑" panose="020B0503020204020204" charset="-122"/>
                <a:sym typeface="+mn-ea"/>
              </a:rPr>
              <a:t>高大全</a:t>
            </a:r>
            <a:r>
              <a:rPr lang="en-US" altLang="zh-CN" sz="2000" dirty="0">
                <a:cs typeface="微软雅黑" panose="020B0503020204020204" charset="-122"/>
                <a:sym typeface="+mn-ea"/>
              </a:rPr>
              <a:t>”</a:t>
            </a:r>
            <a:r>
              <a:rPr lang="zh-CN" altLang="en-US" sz="2000" dirty="0">
                <a:cs typeface="微软雅黑" panose="020B0503020204020204" charset="-122"/>
                <a:sym typeface="+mn-ea"/>
              </a:rPr>
              <a:t>的形象，身上往往也存在一些无伤大雅的缺点，更贴近真实生活</a:t>
            </a:r>
            <a:endParaRPr lang="zh-CN" altLang="en-US" sz="2000" dirty="0">
              <a:cs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114</a:t>
            </a:r>
            <a:endParaRPr kumimoji="1" lang="en-US" altLang="zh-CN" sz="2800" b="1" dirty="0">
              <a:solidFill>
                <a:srgbClr val="FF653F"/>
              </a:solidFill>
            </a:endParaRPr>
          </a:p>
        </p:txBody>
      </p:sp>
      <p:sp>
        <p:nvSpPr>
          <p:cNvPr id="3" name="文本框 2"/>
          <p:cNvSpPr txBox="1"/>
          <p:nvPr/>
        </p:nvSpPr>
        <p:spPr>
          <a:xfrm>
            <a:off x="462915" y="701675"/>
            <a:ext cx="1111250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生态建筑诱导空间：指在建筑设计中巧妙利用自然元素构建出的具有引导性的空间布局，以促进建筑内外部的能量交换，引导建筑内部的人员流动，提升建筑物的生态效能及使用舒适度。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下列属于生态建筑诱导空间的是：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某办公大楼将空调出风口设置在走廊顶部，利用空气对流原理，使冷气能够在整层楼内均匀分布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某图书馆设置了巨大的玻璃穹顶，阳光直接透过穹顶洒在中庭绿植上，各个方向的读者都能自然而然进入中庭四周的阅读区域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李先生的茶餐厅前面竖立着两个造型别致的霓虹灯招牌，灯光闪烁，五颜六色，周边街道的游客一眼就能看见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郑女士很喜欢自家的老屋，四周院墙上爬满了千姿百态的凌霄，阳光完全晒不进庭院，堂屋内仿佛自带空调</a:t>
            </a:r>
            <a:endParaRPr lang="zh-CN" altLang="en-US" sz="2000" dirty="0">
              <a:cs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115</a:t>
            </a:r>
            <a:endParaRPr kumimoji="1" lang="en-US" altLang="zh-CN" sz="2800" b="1" dirty="0">
              <a:solidFill>
                <a:srgbClr val="FF653F"/>
              </a:solidFill>
            </a:endParaRPr>
          </a:p>
        </p:txBody>
      </p:sp>
      <p:sp>
        <p:nvSpPr>
          <p:cNvPr id="3" name="文本框 2"/>
          <p:cNvSpPr txBox="1"/>
          <p:nvPr/>
        </p:nvSpPr>
        <p:spPr>
          <a:xfrm>
            <a:off x="462915" y="701675"/>
            <a:ext cx="1115758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数字意境：指通过数字技术赋能将优秀传统文化以沉浸式的艺术形式进行创新表达，凸显视觉效果呈现，以展现其文化韵味和审美意境。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下列属于数字意境的是：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某电视台文化节目中，大学生们来到文化古迹现场，与考古专家互动，在诵读、观察、探究中加深对中华传统文化的理解</a:t>
            </a:r>
            <a:r>
              <a:rPr lang="en-US" altLang="zh-CN" sz="2000" dirty="0">
                <a:cs typeface="微软雅黑" panose="020B0503020204020204" charset="-122"/>
                <a:sym typeface="+mn-ea"/>
              </a:rPr>
              <a:t> </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某景区排练的舞蹈节目中，以当地石窟为真实背景，利用三维动画技术复原了壁画中飞天与金刚的舞蹈，使静止的文化符号变成了动感的形象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某艺术研究院和多家企业合作，对古代编钟复制件进行高精细度的音源采集，最终实现对这一传统瑰宝的数字化复原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某博物馆从古代名画《千里江山图》《百花图卷》中选取</a:t>
            </a:r>
            <a:r>
              <a:rPr lang="en-US" altLang="zh-CN" sz="2000" dirty="0">
                <a:cs typeface="微软雅黑" panose="020B0503020204020204" charset="-122"/>
                <a:sym typeface="+mn-ea"/>
              </a:rPr>
              <a:t>“</a:t>
            </a:r>
            <a:r>
              <a:rPr lang="zh-CN" altLang="en-US" sz="2000" dirty="0">
                <a:cs typeface="微软雅黑" panose="020B0503020204020204" charset="-122"/>
                <a:sym typeface="+mn-ea"/>
              </a:rPr>
              <a:t>意象</a:t>
            </a:r>
            <a:r>
              <a:rPr lang="en-US" altLang="zh-CN" sz="2000" dirty="0">
                <a:cs typeface="微软雅黑" panose="020B0503020204020204" charset="-122"/>
                <a:sym typeface="+mn-ea"/>
              </a:rPr>
              <a:t>”</a:t>
            </a:r>
            <a:r>
              <a:rPr lang="zh-CN" altLang="en-US" sz="2000" dirty="0">
                <a:cs typeface="微软雅黑" panose="020B0503020204020204" charset="-122"/>
                <a:sym typeface="+mn-ea"/>
              </a:rPr>
              <a:t>元素，实景搭建了沉浸式体验展厅，观众犹如身临其境</a:t>
            </a:r>
            <a:endParaRPr lang="zh-CN" altLang="en-US" sz="2000" dirty="0">
              <a:cs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TABLE_ENDDRAG_ORIGIN_RECT" val="383*88"/>
  <p:tag name="TABLE_ENDDRAG_RECT" val="503*270*383*88"/>
</p:tagLst>
</file>

<file path=ppt/tags/tag32.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8457</Words>
  <Application>WPS 演示</Application>
  <PresentationFormat>宽屏</PresentationFormat>
  <Paragraphs>408</Paragraphs>
  <Slides>47</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47</vt:i4>
      </vt:variant>
    </vt:vector>
  </HeadingPairs>
  <TitlesOfParts>
    <vt:vector size="56"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题106</vt:lpstr>
      <vt:lpstr>题107</vt:lpstr>
      <vt:lpstr>题108</vt:lpstr>
      <vt:lpstr>题109</vt:lpstr>
      <vt:lpstr>题110</vt:lpstr>
      <vt:lpstr>题111</vt:lpstr>
      <vt:lpstr>题112</vt:lpstr>
      <vt:lpstr>题113</vt:lpstr>
      <vt:lpstr>题114</vt:lpstr>
      <vt:lpstr>题115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200</cp:revision>
  <dcterms:created xsi:type="dcterms:W3CDTF">2019-06-19T02:08:00Z</dcterms:created>
  <dcterms:modified xsi:type="dcterms:W3CDTF">2026-05-20T06:51:23Z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7E0F0589F6D94CFE8A4BC2AEA01394FF_11</vt:lpwstr>
  </property>
</Properties>
</file>