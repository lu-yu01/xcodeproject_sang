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1"/>
  </p:handoutMasterIdLst>
  <p:sldIdLst>
    <p:sldId id="629" r:id="rId4"/>
    <p:sldId id="1365" r:id="rId6"/>
    <p:sldId id="1366" r:id="rId7"/>
    <p:sldId id="1367" r:id="rId8"/>
    <p:sldId id="1368" r:id="rId9"/>
    <p:sldId id="1377" r:id="rId10"/>
    <p:sldId id="1369" r:id="rId11"/>
    <p:sldId id="1370" r:id="rId12"/>
    <p:sldId id="1371" r:id="rId13"/>
    <p:sldId id="1378" r:id="rId14"/>
    <p:sldId id="1372" r:id="rId15"/>
    <p:sldId id="1373" r:id="rId16"/>
    <p:sldId id="1374" r:id="rId17"/>
    <p:sldId id="1379" r:id="rId18"/>
    <p:sldId id="1380" r:id="rId19"/>
    <p:sldId id="992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8" name="李鹏瑞" initials="Lpr" lastIdx="0" clrIdx="7"/>
  <p:cmAuthor id="9" name="Joyfeather" initials="J" lastIdx="0" clrIdx="8"/>
  <p:cmAuthor id="10" name="微软用户" initials="微" lastIdx="0" clrIdx="9"/>
  <p:cmAuthor id="11" name="Asus" initials="A" lastIdx="0" clrIdx="10"/>
  <p:cmAuthor id="12" name="asus" initials="a" lastIdx="0" clrIdx="11"/>
  <p:cmAuthor id="13" name="未知用户4" initials="未" lastIdx="0" clrIdx="12"/>
  <p:cmAuthor id="14" name="未知用户3" initials="未" lastIdx="0" clrIdx="13"/>
  <p:cmAuthor id="15" name="tuyang" initials="t" lastIdx="0" clrIdx="14"/>
  <p:cmAuthor id="16" name="ss" initials="ss" lastIdx="0" clrIdx="15"/>
  <p:cmAuthor id="17" name="44490" initials="4" lastIdx="0" clrIdx="16"/>
  <p:cmAuthor id="18" name="59861" initials="5" lastIdx="0" clrIdx="17"/>
  <p:cmAuthor id="19" name="t19176" initials="t" lastIdx="0" clrIdx="18"/>
  <p:cmAuthor id="20" name="QH" initials="Q" lastIdx="0" clrIdx="19"/>
  <p:cmAuthor id="21" name="84407" initials="8" lastIdx="0" clrIdx="20"/>
  <p:cmAuthor id="22" name="yangmei" initials="y" lastIdx="0" clrIdx="21"/>
  <p:cmAuthor id="23" name="赵 岩" initials="赵" lastIdx="0" clrIdx="22"/>
  <p:cmAuthor id="24" name="周洁" initials="周" lastIdx="0" clrIdx="23"/>
  <p:cmAuthor id="25" name="999宝藏网" initials="9" lastIdx="0" clrIdx="24"/>
  <p:cmAuthor id="26" name="Windows 用户" initials="W" lastIdx="0" clrIdx="25"/>
  <p:cmAuthor id="27" name="dd" initials="d" lastIdx="0" clrIdx="26"/>
  <p:cmAuthor id="28" name="jiangjinggang" initials="j" lastIdx="0" clrIdx="27"/>
  <p:cmAuthor id="29" name="3157009814@qq.com" initials="3" lastIdx="0" clrIdx="28"/>
  <p:cmAuthor id="30" name="WPS_1679281038" initials="W" lastIdx="0" clrIdx="29"/>
  <p:cmAuthor id="31" name="12895" initials="1" lastIdx="0" clrIdx="30"/>
  <p:cmAuthor id="32" name="1423970900" initials="1" lastIdx="0" clrIdx="31"/>
  <p:cmAuthor id="33" name="Rachel啊" initials="R" lastIdx="0" clrIdx="32"/>
  <p:cmAuthor id="34" name="75493" initials="7" lastIdx="0" clrIdx="33"/>
  <p:cmAuthor id="35" name="周 洁" initials="周" lastIdx="0" clrIdx="34"/>
  <p:cmAuthor id="36" name="刘 童" initials="刘" lastIdx="0" clrIdx="35"/>
  <p:cmAuthor id="37" name="未知用户1" initials="未" lastIdx="0" clrIdx="36"/>
  <p:cmAuthor id="38" name="zy223200 zy223200" initials="zz" lastIdx="0" clrIdx="37"/>
  <p:cmAuthor id="39" name="zhang" initials="z" lastIdx="0" clrIdx="3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83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30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左侧是</a:t>
            </a:r>
            <a:r>
              <a:rPr lang="en-US" altLang="zh-CN"/>
              <a:t>2025</a:t>
            </a:r>
            <a:r>
              <a:rPr lang="zh-CN" altLang="en-US"/>
              <a:t>年的，右侧是</a:t>
            </a:r>
            <a:r>
              <a:rPr lang="en-US" altLang="zh-CN"/>
              <a:t>25</a:t>
            </a:r>
            <a:r>
              <a:rPr lang="zh-CN" altLang="en-US"/>
              <a:t>年之前的</a:t>
            </a:r>
            <a:endParaRPr lang="en-US"/>
          </a:p>
          <a:p>
            <a:r>
              <a:rPr lang="en-US"/>
              <a:t>22-24</a:t>
            </a:r>
            <a:r>
              <a:rPr lang="zh-CN" altLang="en-US"/>
              <a:t>的题量分布如上图，</a:t>
            </a:r>
            <a:r>
              <a:rPr lang="en-US" altLang="zh-CN"/>
              <a:t>20-21</a:t>
            </a:r>
            <a:r>
              <a:rPr lang="zh-CN" altLang="en-US"/>
              <a:t>的题量区别</a:t>
            </a:r>
            <a:r>
              <a:rPr lang="en-US" altLang="zh-CN"/>
              <a:t>AB</a:t>
            </a:r>
            <a:r>
              <a:rPr lang="zh-CN" altLang="en-US"/>
              <a:t>定义</a:t>
            </a:r>
            <a:r>
              <a:rPr lang="en-US" altLang="zh-CN"/>
              <a:t>15/</a:t>
            </a:r>
            <a:r>
              <a:rPr lang="zh-CN" altLang="en-US"/>
              <a:t>逻辑</a:t>
            </a:r>
            <a:r>
              <a:rPr lang="en-US" altLang="zh-CN"/>
              <a:t>10</a:t>
            </a:r>
            <a:endParaRPr lang="en-US"/>
          </a:p>
          <a:p>
            <a:r>
              <a:rPr lang="en-US"/>
              <a:t>2004-2007</a:t>
            </a:r>
            <a:r>
              <a:rPr lang="zh-CN" altLang="en-US"/>
              <a:t>年</a:t>
            </a:r>
            <a:r>
              <a:rPr lang="en-US" altLang="zh-CN"/>
              <a:t>BC</a:t>
            </a:r>
            <a:r>
              <a:rPr lang="zh-CN" altLang="en-US"/>
              <a:t>不考申论，公共基础</a:t>
            </a:r>
            <a:r>
              <a:rPr lang="en-US" altLang="zh-CN"/>
              <a:t>+</a:t>
            </a:r>
            <a:r>
              <a:rPr lang="zh-CN" altLang="en-US"/>
              <a:t>行测，</a:t>
            </a:r>
            <a:r>
              <a:rPr lang="en-US" altLang="zh-CN"/>
              <a:t>A</a:t>
            </a:r>
            <a:r>
              <a:rPr lang="zh-CN" altLang="en-US"/>
              <a:t>公共基础</a:t>
            </a:r>
            <a:r>
              <a:rPr lang="en-US" altLang="zh-CN"/>
              <a:t>+</a:t>
            </a:r>
            <a:r>
              <a:rPr lang="zh-CN" altLang="en-US"/>
              <a:t>行测</a:t>
            </a:r>
            <a:r>
              <a:rPr lang="en-US" altLang="zh-CN"/>
              <a:t>+</a:t>
            </a:r>
            <a:r>
              <a:rPr lang="zh-CN" altLang="en-US"/>
              <a:t>申论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2025</a:t>
            </a:r>
            <a:r>
              <a:rPr lang="zh-CN" altLang="en-US"/>
              <a:t>年三视图</a:t>
            </a:r>
            <a:endParaRPr lang="zh-CN" altLang="en-US"/>
          </a:p>
          <a:p>
            <a:r>
              <a:rPr lang="en-US" altLang="zh-CN"/>
              <a:t>2024</a:t>
            </a:r>
            <a:r>
              <a:rPr lang="zh-CN" altLang="en-US"/>
              <a:t>年三视图</a:t>
            </a:r>
            <a:endParaRPr lang="en-US" altLang="zh-CN"/>
          </a:p>
          <a:p>
            <a:r>
              <a:rPr lang="en-US" altLang="zh-CN"/>
              <a:t>2021</a:t>
            </a:r>
            <a:r>
              <a:rPr lang="zh-CN" altLang="en-US"/>
              <a:t>三视图</a:t>
            </a:r>
            <a:endParaRPr lang="zh-CN" altLang="en-US"/>
          </a:p>
          <a:p>
            <a:r>
              <a:rPr lang="en-US" altLang="zh-CN"/>
              <a:t>2020</a:t>
            </a:r>
            <a:r>
              <a:rPr lang="zh-CN" altLang="en-US"/>
              <a:t>年</a:t>
            </a:r>
            <a:r>
              <a:rPr lang="zh-CN" altLang="en-US"/>
              <a:t>截面图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2024</a:t>
            </a:r>
            <a:r>
              <a:rPr lang="zh-CN" altLang="en-US"/>
              <a:t>年三视图</a:t>
            </a:r>
            <a:endParaRPr lang="en-US" altLang="zh-CN"/>
          </a:p>
          <a:p>
            <a:r>
              <a:rPr lang="en-US" altLang="zh-CN"/>
              <a:t>2021</a:t>
            </a:r>
            <a:r>
              <a:rPr lang="zh-CN" altLang="en-US"/>
              <a:t>截面图</a:t>
            </a:r>
            <a:endParaRPr lang="zh-CN" altLang="en-US"/>
          </a:p>
          <a:p>
            <a:r>
              <a:rPr lang="en-US" altLang="zh-CN"/>
              <a:t>2020</a:t>
            </a:r>
            <a:r>
              <a:rPr lang="zh-CN" altLang="en-US"/>
              <a:t>年</a:t>
            </a:r>
            <a:r>
              <a:rPr lang="zh-CN" altLang="en-US"/>
              <a:t>截面图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2024</a:t>
            </a:r>
            <a:r>
              <a:rPr lang="zh-CN" altLang="en-US"/>
              <a:t>年三视图</a:t>
            </a:r>
            <a:endParaRPr lang="en-US" altLang="zh-CN"/>
          </a:p>
          <a:p>
            <a:r>
              <a:rPr lang="en-US" altLang="zh-CN"/>
              <a:t>2021</a:t>
            </a:r>
            <a:r>
              <a:rPr lang="zh-CN" altLang="en-US"/>
              <a:t>三视图</a:t>
            </a:r>
            <a:endParaRPr lang="zh-CN" altLang="en-US"/>
          </a:p>
          <a:p>
            <a:r>
              <a:rPr lang="en-US" altLang="zh-CN"/>
              <a:t>2020</a:t>
            </a:r>
            <a:r>
              <a:rPr lang="zh-CN" altLang="en-US"/>
              <a:t>年</a:t>
            </a:r>
            <a:r>
              <a:rPr lang="zh-CN" altLang="en-US"/>
              <a:t>截面图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左侧是</a:t>
            </a:r>
            <a:r>
              <a:rPr lang="en-US" altLang="zh-CN"/>
              <a:t>2025</a:t>
            </a:r>
            <a:r>
              <a:rPr lang="zh-CN" altLang="en-US"/>
              <a:t>年的，右侧是</a:t>
            </a:r>
            <a:r>
              <a:rPr lang="en-US" altLang="zh-CN"/>
              <a:t>25</a:t>
            </a:r>
            <a:r>
              <a:rPr lang="zh-CN" altLang="en-US"/>
              <a:t>年之前的</a:t>
            </a:r>
            <a:endParaRPr lang="en-US"/>
          </a:p>
          <a:p>
            <a:r>
              <a:rPr lang="en-US"/>
              <a:t>22-24</a:t>
            </a:r>
            <a:r>
              <a:rPr lang="zh-CN" altLang="en-US"/>
              <a:t>的题量分布如上图，</a:t>
            </a:r>
            <a:r>
              <a:rPr lang="en-US" altLang="zh-CN"/>
              <a:t>20-21</a:t>
            </a:r>
            <a:r>
              <a:rPr lang="zh-CN" altLang="en-US"/>
              <a:t>的题量区别</a:t>
            </a:r>
            <a:r>
              <a:rPr lang="en-US" altLang="zh-CN"/>
              <a:t>AB</a:t>
            </a:r>
            <a:r>
              <a:rPr lang="zh-CN" altLang="en-US"/>
              <a:t>定义</a:t>
            </a:r>
            <a:r>
              <a:rPr lang="en-US" altLang="zh-CN"/>
              <a:t>15/</a:t>
            </a:r>
            <a:r>
              <a:rPr lang="zh-CN" altLang="en-US"/>
              <a:t>逻辑</a:t>
            </a:r>
            <a:r>
              <a:rPr lang="en-US" altLang="zh-CN"/>
              <a:t>10</a:t>
            </a:r>
            <a:endParaRPr lang="en-US"/>
          </a:p>
          <a:p>
            <a:r>
              <a:rPr lang="en-US"/>
              <a:t>2004-2007</a:t>
            </a:r>
            <a:r>
              <a:rPr lang="zh-CN" altLang="en-US"/>
              <a:t>年</a:t>
            </a:r>
            <a:r>
              <a:rPr lang="en-US" altLang="zh-CN"/>
              <a:t>BC</a:t>
            </a:r>
            <a:r>
              <a:rPr lang="zh-CN" altLang="en-US"/>
              <a:t>不考申论，公共基础</a:t>
            </a:r>
            <a:r>
              <a:rPr lang="en-US" altLang="zh-CN"/>
              <a:t>+</a:t>
            </a:r>
            <a:r>
              <a:rPr lang="zh-CN" altLang="en-US"/>
              <a:t>行测，</a:t>
            </a:r>
            <a:r>
              <a:rPr lang="en-US" altLang="zh-CN"/>
              <a:t>A</a:t>
            </a:r>
            <a:r>
              <a:rPr lang="zh-CN" altLang="en-US"/>
              <a:t>公共基础</a:t>
            </a:r>
            <a:r>
              <a:rPr lang="en-US" altLang="zh-CN"/>
              <a:t>+</a:t>
            </a:r>
            <a:r>
              <a:rPr lang="zh-CN" altLang="en-US"/>
              <a:t>行测</a:t>
            </a:r>
            <a:r>
              <a:rPr lang="en-US" altLang="zh-CN"/>
              <a:t>+</a:t>
            </a:r>
            <a:r>
              <a:rPr lang="zh-CN" altLang="en-US"/>
              <a:t>申论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左侧是</a:t>
            </a:r>
            <a:r>
              <a:rPr lang="en-US" altLang="zh-CN"/>
              <a:t>2025</a:t>
            </a:r>
            <a:r>
              <a:rPr lang="zh-CN" altLang="en-US"/>
              <a:t>年的，右侧是</a:t>
            </a:r>
            <a:r>
              <a:rPr lang="en-US" altLang="zh-CN"/>
              <a:t>25</a:t>
            </a:r>
            <a:r>
              <a:rPr lang="zh-CN" altLang="en-US"/>
              <a:t>年之前的</a:t>
            </a:r>
            <a:endParaRPr lang="en-US"/>
          </a:p>
          <a:p>
            <a:r>
              <a:rPr lang="en-US"/>
              <a:t>22-24</a:t>
            </a:r>
            <a:r>
              <a:rPr lang="zh-CN" altLang="en-US"/>
              <a:t>的题量分布如上图，</a:t>
            </a:r>
            <a:r>
              <a:rPr lang="en-US" altLang="zh-CN"/>
              <a:t>20-21</a:t>
            </a:r>
            <a:r>
              <a:rPr lang="zh-CN" altLang="en-US"/>
              <a:t>的题量区别</a:t>
            </a:r>
            <a:r>
              <a:rPr lang="en-US" altLang="zh-CN"/>
              <a:t>AB</a:t>
            </a:r>
            <a:r>
              <a:rPr lang="zh-CN" altLang="en-US"/>
              <a:t>定义</a:t>
            </a:r>
            <a:r>
              <a:rPr lang="en-US" altLang="zh-CN"/>
              <a:t>15/</a:t>
            </a:r>
            <a:r>
              <a:rPr lang="zh-CN" altLang="en-US"/>
              <a:t>逻辑</a:t>
            </a:r>
            <a:r>
              <a:rPr lang="en-US" altLang="zh-CN"/>
              <a:t>10</a:t>
            </a:r>
            <a:endParaRPr lang="en-US"/>
          </a:p>
          <a:p>
            <a:r>
              <a:rPr lang="en-US"/>
              <a:t>2004-2007</a:t>
            </a:r>
            <a:r>
              <a:rPr lang="zh-CN" altLang="en-US"/>
              <a:t>年</a:t>
            </a:r>
            <a:r>
              <a:rPr lang="en-US" altLang="zh-CN"/>
              <a:t>BC</a:t>
            </a:r>
            <a:r>
              <a:rPr lang="zh-CN" altLang="en-US"/>
              <a:t>不考申论，公共基础</a:t>
            </a:r>
            <a:r>
              <a:rPr lang="en-US" altLang="zh-CN"/>
              <a:t>+</a:t>
            </a:r>
            <a:r>
              <a:rPr lang="zh-CN" altLang="en-US"/>
              <a:t>行测，</a:t>
            </a:r>
            <a:r>
              <a:rPr lang="en-US" altLang="zh-CN"/>
              <a:t>A</a:t>
            </a:r>
            <a:r>
              <a:rPr lang="zh-CN" altLang="en-US"/>
              <a:t>公共基础</a:t>
            </a:r>
            <a:r>
              <a:rPr lang="en-US" altLang="zh-CN"/>
              <a:t>+</a:t>
            </a:r>
            <a:r>
              <a:rPr lang="zh-CN" altLang="en-US"/>
              <a:t>行测</a:t>
            </a:r>
            <a:r>
              <a:rPr lang="en-US" altLang="zh-CN"/>
              <a:t>+</a:t>
            </a:r>
            <a:r>
              <a:rPr lang="zh-CN" altLang="en-US"/>
              <a:t>申论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2024</a:t>
            </a:r>
            <a:r>
              <a:rPr lang="zh-CN" altLang="en-US"/>
              <a:t>一个集合</a:t>
            </a:r>
            <a:endParaRPr lang="en-US" altLang="zh-CN"/>
          </a:p>
          <a:p>
            <a:r>
              <a:rPr lang="en-US" altLang="zh-CN"/>
              <a:t>2020</a:t>
            </a:r>
            <a:r>
              <a:rPr lang="zh-CN" altLang="en-US"/>
              <a:t>组合排列材料题一题</a:t>
            </a:r>
            <a:r>
              <a:rPr lang="en-US" altLang="zh-CN"/>
              <a:t>+3</a:t>
            </a:r>
            <a:r>
              <a:rPr lang="zh-CN" altLang="en-US"/>
              <a:t>单题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2021</a:t>
            </a:r>
            <a:r>
              <a:rPr lang="zh-CN" altLang="en-US"/>
              <a:t>组合排列材料题一题</a:t>
            </a:r>
            <a:r>
              <a:rPr lang="en-US" altLang="zh-CN"/>
              <a:t>+1</a:t>
            </a:r>
            <a:r>
              <a:rPr lang="zh-CN" altLang="en-US"/>
              <a:t>单题</a:t>
            </a:r>
            <a:endParaRPr lang="zh-CN" altLang="en-US"/>
          </a:p>
          <a:p>
            <a:r>
              <a:rPr lang="en-US" altLang="zh-CN">
                <a:sym typeface="+mn-ea"/>
              </a:rPr>
              <a:t>2020</a:t>
            </a:r>
            <a:r>
              <a:rPr lang="zh-CN" altLang="en-US">
                <a:sym typeface="+mn-ea"/>
              </a:rPr>
              <a:t>组合排列材料题一题</a:t>
            </a:r>
            <a:r>
              <a:rPr lang="en-US" altLang="zh-CN">
                <a:sym typeface="+mn-ea"/>
              </a:rPr>
              <a:t>+2</a:t>
            </a:r>
            <a:r>
              <a:rPr lang="zh-CN" altLang="en-US">
                <a:sym typeface="+mn-ea"/>
              </a:rPr>
              <a:t>单题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2024</a:t>
            </a:r>
            <a:r>
              <a:rPr lang="zh-CN" altLang="en-US"/>
              <a:t>一个集合</a:t>
            </a:r>
            <a:endParaRPr lang="en-US" altLang="zh-CN"/>
          </a:p>
          <a:p>
            <a:r>
              <a:rPr lang="en-US" altLang="zh-CN"/>
              <a:t>2024</a:t>
            </a:r>
            <a:r>
              <a:rPr lang="zh-CN" altLang="en-US"/>
              <a:t>一篇</a:t>
            </a:r>
            <a:r>
              <a:rPr lang="zh-CN" altLang="en-US"/>
              <a:t>材料</a:t>
            </a:r>
            <a:endParaRPr lang="zh-CN" altLang="en-US"/>
          </a:p>
          <a:p>
            <a:r>
              <a:rPr lang="en-US" altLang="zh-CN"/>
              <a:t>2022</a:t>
            </a:r>
            <a:r>
              <a:rPr lang="zh-CN" altLang="en-US"/>
              <a:t>一篇</a:t>
            </a:r>
            <a:r>
              <a:rPr lang="zh-CN" altLang="en-US"/>
              <a:t>材料</a:t>
            </a:r>
            <a:endParaRPr lang="zh-CN" altLang="en-US"/>
          </a:p>
          <a:p>
            <a:r>
              <a:rPr lang="en-US" altLang="zh-CN"/>
              <a:t>2021</a:t>
            </a:r>
            <a:r>
              <a:rPr lang="zh-CN" altLang="en-US"/>
              <a:t>一篇</a:t>
            </a:r>
            <a:r>
              <a:rPr lang="zh-CN" altLang="en-US"/>
              <a:t>材料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左侧是</a:t>
            </a:r>
            <a:r>
              <a:rPr lang="en-US" altLang="zh-CN"/>
              <a:t>2025</a:t>
            </a:r>
            <a:r>
              <a:rPr lang="zh-CN" altLang="en-US"/>
              <a:t>年的，右侧是</a:t>
            </a:r>
            <a:r>
              <a:rPr lang="en-US" altLang="zh-CN"/>
              <a:t>25</a:t>
            </a:r>
            <a:r>
              <a:rPr lang="zh-CN" altLang="en-US"/>
              <a:t>年之前的</a:t>
            </a:r>
            <a:endParaRPr lang="en-US"/>
          </a:p>
          <a:p>
            <a:r>
              <a:rPr lang="en-US"/>
              <a:t>22-24</a:t>
            </a:r>
            <a:r>
              <a:rPr lang="zh-CN" altLang="en-US"/>
              <a:t>的题量分布如上图，</a:t>
            </a:r>
            <a:r>
              <a:rPr lang="en-US" altLang="zh-CN"/>
              <a:t>20-21</a:t>
            </a:r>
            <a:r>
              <a:rPr lang="zh-CN" altLang="en-US"/>
              <a:t>的题量区别</a:t>
            </a:r>
            <a:r>
              <a:rPr lang="en-US" altLang="zh-CN"/>
              <a:t>AB</a:t>
            </a:r>
            <a:r>
              <a:rPr lang="zh-CN" altLang="en-US"/>
              <a:t>定义</a:t>
            </a:r>
            <a:r>
              <a:rPr lang="en-US" altLang="zh-CN"/>
              <a:t>15/</a:t>
            </a:r>
            <a:r>
              <a:rPr lang="zh-CN" altLang="en-US"/>
              <a:t>逻辑</a:t>
            </a:r>
            <a:r>
              <a:rPr lang="en-US" altLang="zh-CN"/>
              <a:t>10</a:t>
            </a:r>
            <a:endParaRPr lang="en-US"/>
          </a:p>
          <a:p>
            <a:r>
              <a:rPr lang="en-US"/>
              <a:t>2004-2007</a:t>
            </a:r>
            <a:r>
              <a:rPr lang="zh-CN" altLang="en-US"/>
              <a:t>年</a:t>
            </a:r>
            <a:r>
              <a:rPr lang="en-US" altLang="zh-CN"/>
              <a:t>BC</a:t>
            </a:r>
            <a:r>
              <a:rPr lang="zh-CN" altLang="en-US"/>
              <a:t>不考申论，公共基础</a:t>
            </a:r>
            <a:r>
              <a:rPr lang="en-US" altLang="zh-CN"/>
              <a:t>+</a:t>
            </a:r>
            <a:r>
              <a:rPr lang="zh-CN" altLang="en-US"/>
              <a:t>行测，</a:t>
            </a:r>
            <a:r>
              <a:rPr lang="en-US" altLang="zh-CN"/>
              <a:t>A</a:t>
            </a:r>
            <a:r>
              <a:rPr lang="zh-CN" altLang="en-US"/>
              <a:t>公共基础</a:t>
            </a:r>
            <a:r>
              <a:rPr lang="en-US" altLang="zh-CN"/>
              <a:t>+</a:t>
            </a:r>
            <a:r>
              <a:rPr lang="zh-CN" altLang="en-US"/>
              <a:t>行测</a:t>
            </a:r>
            <a:r>
              <a:rPr lang="en-US" altLang="zh-CN"/>
              <a:t>+</a:t>
            </a:r>
            <a:r>
              <a:rPr lang="zh-CN" altLang="en-US"/>
              <a:t>申论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左侧是</a:t>
            </a:r>
            <a:r>
              <a:rPr lang="en-US" altLang="zh-CN"/>
              <a:t>2025</a:t>
            </a:r>
            <a:r>
              <a:rPr lang="zh-CN" altLang="en-US"/>
              <a:t>年的，右侧是</a:t>
            </a:r>
            <a:r>
              <a:rPr lang="en-US" altLang="zh-CN"/>
              <a:t>25</a:t>
            </a:r>
            <a:r>
              <a:rPr lang="zh-CN" altLang="en-US"/>
              <a:t>年之前的</a:t>
            </a:r>
            <a:endParaRPr lang="en-US"/>
          </a:p>
          <a:p>
            <a:r>
              <a:rPr lang="en-US"/>
              <a:t>22-24</a:t>
            </a:r>
            <a:r>
              <a:rPr lang="zh-CN" altLang="en-US"/>
              <a:t>的题量分布如上图，</a:t>
            </a:r>
            <a:r>
              <a:rPr lang="en-US" altLang="zh-CN"/>
              <a:t>20-21</a:t>
            </a:r>
            <a:r>
              <a:rPr lang="zh-CN" altLang="en-US"/>
              <a:t>的题量区别</a:t>
            </a:r>
            <a:r>
              <a:rPr lang="en-US" altLang="zh-CN"/>
              <a:t>AB</a:t>
            </a:r>
            <a:r>
              <a:rPr lang="zh-CN" altLang="en-US"/>
              <a:t>定义</a:t>
            </a:r>
            <a:r>
              <a:rPr lang="en-US" altLang="zh-CN"/>
              <a:t>15/</a:t>
            </a:r>
            <a:r>
              <a:rPr lang="zh-CN" altLang="en-US"/>
              <a:t>逻辑</a:t>
            </a:r>
            <a:r>
              <a:rPr lang="en-US" altLang="zh-CN"/>
              <a:t>10</a:t>
            </a:r>
            <a:endParaRPr lang="en-US"/>
          </a:p>
          <a:p>
            <a:r>
              <a:rPr lang="en-US"/>
              <a:t>2004-2007</a:t>
            </a:r>
            <a:r>
              <a:rPr lang="zh-CN" altLang="en-US"/>
              <a:t>年</a:t>
            </a:r>
            <a:r>
              <a:rPr lang="en-US" altLang="zh-CN"/>
              <a:t>BC</a:t>
            </a:r>
            <a:r>
              <a:rPr lang="zh-CN" altLang="en-US"/>
              <a:t>不考申论，公共基础</a:t>
            </a:r>
            <a:r>
              <a:rPr lang="en-US" altLang="zh-CN"/>
              <a:t>+</a:t>
            </a:r>
            <a:r>
              <a:rPr lang="zh-CN" altLang="en-US"/>
              <a:t>行测，</a:t>
            </a:r>
            <a:r>
              <a:rPr lang="en-US" altLang="zh-CN"/>
              <a:t>A</a:t>
            </a:r>
            <a:r>
              <a:rPr lang="zh-CN" altLang="en-US"/>
              <a:t>公共基础</a:t>
            </a:r>
            <a:r>
              <a:rPr lang="en-US" altLang="zh-CN"/>
              <a:t>+</a:t>
            </a:r>
            <a:r>
              <a:rPr lang="zh-CN" altLang="en-US"/>
              <a:t>行测</a:t>
            </a:r>
            <a:r>
              <a:rPr lang="en-US" altLang="zh-CN"/>
              <a:t>+</a:t>
            </a:r>
            <a:r>
              <a:rPr lang="zh-CN" altLang="en-US"/>
              <a:t>申论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tags" Target="../tags/tag19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2027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江苏考情分析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24020" y="174625"/>
            <a:ext cx="422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江苏判断部分考情</a:t>
            </a:r>
            <a:endParaRPr lang="zh-CN" altLang="en-US" sz="3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487170" y="911225"/>
          <a:ext cx="9491980" cy="4084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725"/>
                <a:gridCol w="1356360"/>
                <a:gridCol w="1355725"/>
                <a:gridCol w="1356360"/>
                <a:gridCol w="1355725"/>
                <a:gridCol w="1356360"/>
                <a:gridCol w="1355725"/>
              </a:tblGrid>
              <a:tr h="58356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题型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</a:t>
                      </a: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2-2024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</a:tr>
              <a:tr h="583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83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类比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83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83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83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83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073910" y="5139055"/>
            <a:ext cx="8199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2022-2024：A/B=50 </a:t>
            </a:r>
            <a:r>
              <a:rPr lang="zh-CN" altLang="en-US"/>
              <a:t>题、</a:t>
            </a:r>
            <a:r>
              <a:rPr lang="en-US" altLang="zh-CN"/>
              <a:t>C=45 </a:t>
            </a:r>
            <a:r>
              <a:rPr lang="zh-CN" altLang="en-US"/>
              <a:t>题；2025 整体缩量，</a:t>
            </a:r>
            <a:r>
              <a:rPr lang="en-US" altLang="zh-CN"/>
              <a:t>A/B </a:t>
            </a:r>
            <a:r>
              <a:rPr lang="zh-CN" altLang="en-US"/>
              <a:t>减 5 题、</a:t>
            </a:r>
            <a:r>
              <a:rPr lang="en-US" altLang="zh-CN"/>
              <a:t>C </a:t>
            </a:r>
            <a:r>
              <a:rPr lang="zh-CN" altLang="en-US"/>
              <a:t>减 5 题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三类差异：仅逻辑判断题量不同（</a:t>
            </a:r>
            <a:r>
              <a:rPr lang="en-US" altLang="zh-CN"/>
              <a:t>A/B=15 </a:t>
            </a:r>
            <a:r>
              <a:rPr lang="zh-CN" altLang="en-US"/>
              <a:t>题，</a:t>
            </a:r>
            <a:r>
              <a:rPr lang="en-US" altLang="zh-CN"/>
              <a:t>C=10 </a:t>
            </a:r>
            <a:r>
              <a:rPr lang="zh-CN" altLang="en-US"/>
              <a:t>题），其余题型题量一致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93010" y="764540"/>
            <a:ext cx="73577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卷近五年图形推理部分考点汇总（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10-15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68120" y="1430020"/>
          <a:ext cx="89211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155"/>
                <a:gridCol w="1493520"/>
                <a:gridCol w="1494155"/>
                <a:gridCol w="1494155"/>
                <a:gridCol w="1494155"/>
                <a:gridCol w="1450975"/>
              </a:tblGrid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样式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平面拼合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立体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5565" y="764540"/>
            <a:ext cx="77171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卷近五年图形推理部分考点汇总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10-15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35405" y="1363980"/>
          <a:ext cx="9521190" cy="435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865"/>
                <a:gridCol w="1586865"/>
                <a:gridCol w="1586865"/>
                <a:gridCol w="1586865"/>
                <a:gridCol w="1586865"/>
                <a:gridCol w="1586865"/>
              </a:tblGrid>
              <a:tr h="5441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1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1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1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1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平面拼合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1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立体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41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27985" y="675640"/>
            <a:ext cx="69919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卷近五年图形推理部分考点汇总（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43660" y="1628775"/>
          <a:ext cx="9394825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804"/>
                <a:gridCol w="1565804"/>
                <a:gridCol w="1565805"/>
                <a:gridCol w="1565804"/>
                <a:gridCol w="1565804"/>
                <a:gridCol w="1565804"/>
              </a:tblGrid>
              <a:tr h="47180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1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1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1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1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平面拼合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1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立体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1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未收集题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565275" y="5530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</a:t>
            </a:r>
            <a:r>
              <a:rPr lang="zh-CN" altLang="en-US"/>
              <a:t>年题不全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64965" y="174625"/>
            <a:ext cx="422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图形推理</a:t>
            </a:r>
            <a:endParaRPr lang="zh-CN" altLang="en-US" sz="3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76780" y="1161415"/>
            <a:ext cx="8199120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A/B/C</a:t>
            </a:r>
            <a:r>
              <a:rPr lang="zh-CN" altLang="en-US"/>
              <a:t>，</a:t>
            </a:r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 </a:t>
            </a:r>
            <a:r>
              <a:rPr lang="zh-CN" altLang="en-US"/>
              <a:t>均 10 题，2021-2024年 为 15 题</a:t>
            </a:r>
            <a:endParaRPr lang="zh-CN" altLang="en-US" b="1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必考五大考点：平面拼合、立体、数量、样式、位置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高频优先级：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平面拼合（2-5 题）：江苏特色，每年必考，技巧性强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立体图形（3-5 题）：六面体 / 四面体折叠、截面、三视图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数量规律（2.5-5 题）：点、线、面、角、笔画数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样式规律（1-4 题）：叠加、遍历、黑白运算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位置规律（0-2 题）：平移、旋转、翻转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ABC </a:t>
            </a:r>
            <a:r>
              <a:rPr lang="zh-CN" altLang="en-US"/>
              <a:t>考点基本一致，</a:t>
            </a:r>
            <a:r>
              <a:rPr lang="en-US" altLang="zh-CN"/>
              <a:t>C </a:t>
            </a:r>
            <a:r>
              <a:rPr lang="zh-CN" altLang="en-US"/>
              <a:t>卷 2025 年题量不全，整体难度略低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26740" y="764540"/>
            <a:ext cx="6775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卷近五年类比推理部分考点汇总（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95095" y="1423035"/>
          <a:ext cx="9401810" cy="4485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645"/>
                <a:gridCol w="1539875"/>
                <a:gridCol w="1538605"/>
                <a:gridCol w="1539875"/>
                <a:gridCol w="1539240"/>
                <a:gridCol w="1639570"/>
              </a:tblGrid>
              <a:tr h="64071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包容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并列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交叉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映射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26740" y="764540"/>
            <a:ext cx="6822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卷近五年类比推理部分考点汇总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43660" y="1628775"/>
          <a:ext cx="9585960" cy="4453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60"/>
                <a:gridCol w="1597660"/>
                <a:gridCol w="1597660"/>
                <a:gridCol w="1597660"/>
                <a:gridCol w="1597660"/>
                <a:gridCol w="1597660"/>
              </a:tblGrid>
              <a:tr h="63627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36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包容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36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并列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36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交叉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36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映射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36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36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26740" y="764540"/>
            <a:ext cx="7548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卷近五年类比推理部分考点汇总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43660" y="1628775"/>
          <a:ext cx="9098280" cy="420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6380"/>
                <a:gridCol w="1516380"/>
                <a:gridCol w="1516380"/>
                <a:gridCol w="1516380"/>
                <a:gridCol w="1516380"/>
                <a:gridCol w="151638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包容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并列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交叉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映射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未收集题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72210" y="5833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</a:t>
            </a:r>
            <a:r>
              <a:rPr lang="zh-CN" altLang="en-US"/>
              <a:t>年题不全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64965" y="174625"/>
            <a:ext cx="422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类比推理</a:t>
            </a:r>
            <a:endParaRPr lang="zh-CN" altLang="en-US" sz="3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76780" y="1161415"/>
            <a:ext cx="819912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A/B/C </a:t>
            </a:r>
            <a:r>
              <a:rPr lang="zh-CN" altLang="en-US"/>
              <a:t>均 10 题，稳定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核心考点：映射关系＞语义语法＞并列＞包容＞交叉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 b="1"/>
              <a:t>重点：</a:t>
            </a:r>
            <a:endParaRPr lang="zh-CN" altLang="en-US" b="1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映射关系（5-7 题）：功能、条件、因果、属性、常识对应，占比最高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语义语法（1-3.5 题）：近反义、褒贬、语法结构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并列 / 包容 / 交叉：少量稳定考查，注意区分矛盾与反对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ABC </a:t>
            </a:r>
            <a:r>
              <a:rPr lang="zh-CN" altLang="en-US"/>
              <a:t>差异：考点高度重合，难度接近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31795" y="764540"/>
            <a:ext cx="7491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卷近五年逻辑推理部分考点汇总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(15/10)</a:t>
            </a:r>
            <a:endParaRPr lang="en-US" altLang="zh-CN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43660" y="1286510"/>
          <a:ext cx="95885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083"/>
                <a:gridCol w="1598084"/>
                <a:gridCol w="1598083"/>
                <a:gridCol w="1598083"/>
                <a:gridCol w="1598084"/>
                <a:gridCol w="1598083"/>
              </a:tblGrid>
              <a:tr h="4826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加强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削弱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真假推理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解释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归纳推理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26740" y="254000"/>
            <a:ext cx="72047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卷近五年逻辑推理部分考点汇总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(15/10)</a:t>
            </a:r>
            <a:endParaRPr lang="en-US" altLang="zh-CN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43660" y="835660"/>
          <a:ext cx="9105900" cy="540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650"/>
                <a:gridCol w="1517650"/>
                <a:gridCol w="1517650"/>
                <a:gridCol w="1517650"/>
                <a:gridCol w="1517650"/>
                <a:gridCol w="1517650"/>
              </a:tblGrid>
              <a:tr h="48387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加强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削弱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真假推理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解释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归纳推理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26740" y="764540"/>
            <a:ext cx="80930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卷近五年逻辑推理部分考点汇总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(10)</a:t>
            </a:r>
            <a:endParaRPr lang="en-US" altLang="zh-CN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43660" y="1288415"/>
          <a:ext cx="9475470" cy="497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245"/>
                <a:gridCol w="1579245"/>
                <a:gridCol w="1579245"/>
                <a:gridCol w="1579245"/>
                <a:gridCol w="1579245"/>
                <a:gridCol w="1579245"/>
              </a:tblGrid>
              <a:tr h="49720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加强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削弱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真假推理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解释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归纳推理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未收集题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84625" y="264795"/>
            <a:ext cx="422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逻辑判断</a:t>
            </a:r>
            <a:endParaRPr lang="zh-CN" altLang="en-US" sz="3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0250" y="1161415"/>
            <a:ext cx="90614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A/B=15 </a:t>
            </a:r>
            <a:r>
              <a:rPr lang="zh-CN" altLang="en-US"/>
              <a:t>题，</a:t>
            </a:r>
            <a:r>
              <a:rPr lang="en-US" altLang="zh-CN"/>
              <a:t>C=10 </a:t>
            </a:r>
            <a:r>
              <a:rPr lang="zh-CN" altLang="en-US"/>
              <a:t>题，差异核心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题型构成：分析推理＞加强论证＞削弱论证＞翻译推理＞论证结构＞真假 / 解释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重点：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分析推理（3-7 题）：江苏逻辑之王，</a:t>
            </a:r>
            <a:r>
              <a:rPr lang="en-US" altLang="zh-CN"/>
              <a:t>A/B </a:t>
            </a:r>
            <a:r>
              <a:rPr lang="zh-CN" altLang="en-US"/>
              <a:t>卷占比极高，一拖</a:t>
            </a:r>
            <a:r>
              <a:rPr lang="en-US" altLang="zh-CN"/>
              <a:t>2</a:t>
            </a:r>
            <a:r>
              <a:rPr lang="zh-CN" altLang="en-US"/>
              <a:t>、排序、匹配必考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加强 + 削弱（4-6 题）：论证核心，必争分点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翻译推理（1-3 题）：基础公式，必拿分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论证结构 / 真假 / 解释：少量稳定出现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ABC </a:t>
            </a:r>
            <a:r>
              <a:rPr lang="zh-CN" altLang="en-US"/>
              <a:t>差异：</a:t>
            </a:r>
            <a:r>
              <a:rPr lang="en-US" altLang="zh-CN"/>
              <a:t>A/B </a:t>
            </a:r>
            <a:r>
              <a:rPr lang="zh-CN" altLang="en-US"/>
              <a:t>题量更大、分析推理更多；</a:t>
            </a:r>
            <a:r>
              <a:rPr lang="en-US" altLang="zh-CN"/>
              <a:t>C </a:t>
            </a:r>
            <a:r>
              <a:rPr lang="zh-CN" altLang="en-US"/>
              <a:t>卷题量少、难度略低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84625" y="264795"/>
            <a:ext cx="422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定义判断</a:t>
            </a:r>
            <a:endParaRPr lang="zh-CN" altLang="en-US" sz="3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0250" y="1161415"/>
            <a:ext cx="906145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A/B/C </a:t>
            </a:r>
            <a:r>
              <a:rPr lang="zh-CN" altLang="en-US"/>
              <a:t>均 10 题，最简单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特点：题干短、阅读压力小、以单定义为主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要点：看清提问（属于 / 不属于），抓关键词快速匹配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ABC </a:t>
            </a:r>
            <a:r>
              <a:rPr lang="zh-CN" altLang="en-US"/>
              <a:t>差异：无明显区别，全是送分模块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0.xml><?xml version="1.0" encoding="utf-8"?>
<p:tagLst xmlns:p="http://schemas.openxmlformats.org/presentationml/2006/main">
  <p:tag name="TABLE_ENDDRAG_ORIGIN_RECT" val="747*321"/>
  <p:tag name="TABLE_ENDDRAG_RECT" val="117*122*747*321"/>
</p:tagLst>
</file>

<file path=ppt/tags/tag21.xml><?xml version="1.0" encoding="utf-8"?>
<p:tagLst xmlns:p="http://schemas.openxmlformats.org/presentationml/2006/main">
  <p:tag name="TABLE_ENDDRAG_ORIGIN_RECT" val="702*266"/>
  <p:tag name="TABLE_ENDDRAG_RECT" val="115*112*702*266"/>
</p:tagLst>
</file>

<file path=ppt/tags/tag22.xml><?xml version="1.0" encoding="utf-8"?>
<p:tagLst xmlns:p="http://schemas.openxmlformats.org/presentationml/2006/main">
  <p:tag name="TABLE_ENDDRAG_ORIGIN_RECT" val="749*299"/>
  <p:tag name="TABLE_ENDDRAG_RECT" val="105*107*749*299"/>
</p:tagLst>
</file>

<file path=ppt/tags/tag23.xml><?xml version="1.0" encoding="utf-8"?>
<p:tagLst xmlns:p="http://schemas.openxmlformats.org/presentationml/2006/main">
  <p:tag name="TABLE_ENDDRAG_ORIGIN_RECT" val="739*296"/>
  <p:tag name="TABLE_ENDDRAG_RECT" val="105*128*739*296"/>
</p:tagLst>
</file>

<file path=ppt/tags/tag24.xml><?xml version="1.0" encoding="utf-8"?>
<p:tagLst xmlns:p="http://schemas.openxmlformats.org/presentationml/2006/main">
  <p:tag name="TABLE_ENDDRAG_ORIGIN_RECT" val="740*302"/>
  <p:tag name="TABLE_ENDDRAG_RECT" val="100*128*740*302"/>
</p:tagLst>
</file>

<file path=ppt/tags/tag25.xml><?xml version="1.0" encoding="utf-8"?>
<p:tagLst xmlns:p="http://schemas.openxmlformats.org/presentationml/2006/main">
  <p:tag name="TABLE_ENDDRAG_ORIGIN_RECT" val="754*300"/>
  <p:tag name="TABLE_ENDDRAG_RECT" val="105*128*754*300"/>
</p:tagLst>
</file>

<file path=ppt/tags/tag26.xml><?xml version="1.0" encoding="utf-8"?>
<p:tagLst xmlns:p="http://schemas.openxmlformats.org/presentationml/2006/main">
  <p:tag name="TABLE_ENDDRAG_ORIGIN_RECT" val="716*283"/>
  <p:tag name="TABLE_ENDDRAG_RECT" val="105*128*716*283"/>
</p:tagLst>
</file>

<file path=ppt/tags/tag27.xml><?xml version="1.0" encoding="utf-8"?>
<p:tagLst xmlns:p="http://schemas.openxmlformats.org/presentationml/2006/main">
  <p:tag name="TABLE_ENDDRAG_ORIGIN_RECT" val="754*303"/>
  <p:tag name="TABLE_ENDDRAG_RECT" val="105*128*754*303"/>
</p:tagLst>
</file>

<file path=ppt/tags/tag28.xml><?xml version="1.0" encoding="utf-8"?>
<p:tagLst xmlns:p="http://schemas.openxmlformats.org/presentationml/2006/main">
  <p:tag name="TABLE_ENDDRAG_ORIGIN_RECT" val="716*309"/>
  <p:tag name="TABLE_ENDDRAG_RECT" val="105*128*716*309"/>
</p:tagLst>
</file>

<file path=ppt/tags/tag29.xml><?xml version="1.0" encoding="utf-8"?>
<p:tagLst xmlns:p="http://schemas.openxmlformats.org/presentationml/2006/main">
  <p:tag name="TABLE_ENDDRAG_ORIGIN_RECT" val="745*312"/>
  <p:tag name="TABLE_ENDDRAG_RECT" val="105*128*745*312"/>
</p:tagLst>
</file>

<file path=ppt/tags/tag30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WPS 演示</Application>
  <PresentationFormat>宽屏</PresentationFormat>
  <Paragraphs>895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203</cp:revision>
  <dcterms:created xsi:type="dcterms:W3CDTF">2019-06-19T02:08:00Z</dcterms:created>
  <dcterms:modified xsi:type="dcterms:W3CDTF">2026-05-27T10:05:57Z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7E0F0589F6D94CFE8A4BC2AEA01394FF_11</vt:lpwstr>
  </property>
</Properties>
</file>