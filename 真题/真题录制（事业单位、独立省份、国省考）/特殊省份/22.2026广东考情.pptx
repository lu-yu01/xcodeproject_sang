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10"/>
  </p:handoutMasterIdLst>
  <p:sldIdLst>
    <p:sldId id="629" r:id="rId4"/>
    <p:sldId id="1362" r:id="rId6"/>
    <p:sldId id="1363" r:id="rId7"/>
    <p:sldId id="1364" r:id="rId8"/>
    <p:sldId id="992" r:id="rId9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8" name="李鹏瑞" initials="Lpr" lastIdx="0" clrIdx="7"/>
  <p:cmAuthor id="9" name="Joyfeather" initials="J" lastIdx="0" clrIdx="8"/>
  <p:cmAuthor id="10" name="微软用户" initials="微" lastIdx="0" clrIdx="9"/>
  <p:cmAuthor id="11" name="Asus" initials="A" lastIdx="0" clrIdx="10"/>
  <p:cmAuthor id="12" name="asus" initials="a" lastIdx="0" clrIdx="11"/>
  <p:cmAuthor id="13" name="未知用户4" initials="未" lastIdx="0" clrIdx="12"/>
  <p:cmAuthor id="14" name="未知用户3" initials="未" lastIdx="0" clrIdx="13"/>
  <p:cmAuthor id="15" name="tuyang" initials="t" lastIdx="0" clrIdx="14"/>
  <p:cmAuthor id="16" name="ss" initials="ss" lastIdx="0" clrIdx="15"/>
  <p:cmAuthor id="17" name="44490" initials="4" lastIdx="0" clrIdx="16"/>
  <p:cmAuthor id="18" name="59861" initials="5" lastIdx="0" clrIdx="17"/>
  <p:cmAuthor id="19" name="t19176" initials="t" lastIdx="0" clrIdx="18"/>
  <p:cmAuthor id="20" name="QH" initials="Q" lastIdx="0" clrIdx="19"/>
  <p:cmAuthor id="21" name="84407" initials="8" lastIdx="0" clrIdx="20"/>
  <p:cmAuthor id="22" name="yangmei" initials="y" lastIdx="0" clrIdx="21"/>
  <p:cmAuthor id="23" name="赵 岩" initials="赵" lastIdx="0" clrIdx="2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2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23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91770" rtl="0" eaLnBrk="0" fontAlgn="base" latinLnBrk="0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defTabSz="191770">
              <a:defRPr/>
            </a:pPr>
            <a:r>
              <a:rPr kumimoji="1" lang="zh-CN" altLang="en-US" sz="925" dirty="0">
                <a:ea typeface="宋体" panose="02010600030101010101" pitchFamily="2" charset="-122"/>
              </a:rPr>
              <a:t>甘肃</a:t>
            </a:r>
            <a:r>
              <a:rPr kumimoji="1" lang="en-US" altLang="zh-CN" sz="925" dirty="0">
                <a:ea typeface="宋体" panose="02010600030101010101" pitchFamily="2" charset="-122"/>
              </a:rPr>
              <a:t>35</a:t>
            </a:r>
            <a:r>
              <a:rPr kumimoji="1" lang="zh-CN" altLang="en-US" sz="925" dirty="0">
                <a:ea typeface="宋体" panose="02010600030101010101" pitchFamily="2" charset="-122"/>
              </a:rPr>
              <a:t>题：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图形、</a:t>
            </a:r>
            <a:r>
              <a:rPr kumimoji="1" lang="en-US" altLang="zh-CN" sz="925" dirty="0">
                <a:ea typeface="宋体" panose="02010600030101010101" pitchFamily="2" charset="-122"/>
              </a:rPr>
              <a:t>9</a:t>
            </a:r>
            <a:r>
              <a:rPr kumimoji="1" lang="zh-CN" altLang="en-US" sz="925" dirty="0">
                <a:ea typeface="宋体" panose="02010600030101010101" pitchFamily="2" charset="-122"/>
              </a:rPr>
              <a:t>个定义、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类比、</a:t>
            </a:r>
            <a:r>
              <a:rPr kumimoji="1" lang="en-US" altLang="zh-CN" sz="925" dirty="0">
                <a:ea typeface="宋体" panose="02010600030101010101" pitchFamily="2" charset="-122"/>
              </a:rPr>
              <a:t>10</a:t>
            </a:r>
            <a:r>
              <a:rPr kumimoji="1" lang="zh-CN" altLang="en-US" sz="925" dirty="0">
                <a:ea typeface="宋体" panose="02010600030101010101" pitchFamily="2" charset="-122"/>
              </a:rPr>
              <a:t>逻辑</a:t>
            </a:r>
            <a:endParaRPr kumimoji="1" lang="zh-CN" altLang="en-US" sz="925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91770" rtl="0" eaLnBrk="0" fontAlgn="base" latinLnBrk="0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defTabSz="191770">
              <a:defRPr/>
            </a:pPr>
            <a:r>
              <a:rPr kumimoji="1" lang="zh-CN" altLang="en-US" sz="925" dirty="0">
                <a:ea typeface="宋体" panose="02010600030101010101" pitchFamily="2" charset="-122"/>
              </a:rPr>
              <a:t>甘肃</a:t>
            </a:r>
            <a:r>
              <a:rPr kumimoji="1" lang="en-US" altLang="zh-CN" sz="925" dirty="0">
                <a:ea typeface="宋体" panose="02010600030101010101" pitchFamily="2" charset="-122"/>
              </a:rPr>
              <a:t>35</a:t>
            </a:r>
            <a:r>
              <a:rPr kumimoji="1" lang="zh-CN" altLang="en-US" sz="925" dirty="0">
                <a:ea typeface="宋体" panose="02010600030101010101" pitchFamily="2" charset="-122"/>
              </a:rPr>
              <a:t>题：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图形、</a:t>
            </a:r>
            <a:r>
              <a:rPr kumimoji="1" lang="en-US" altLang="zh-CN" sz="925" dirty="0">
                <a:ea typeface="宋体" panose="02010600030101010101" pitchFamily="2" charset="-122"/>
              </a:rPr>
              <a:t>9</a:t>
            </a:r>
            <a:r>
              <a:rPr kumimoji="1" lang="zh-CN" altLang="en-US" sz="925" dirty="0">
                <a:ea typeface="宋体" panose="02010600030101010101" pitchFamily="2" charset="-122"/>
              </a:rPr>
              <a:t>个定义、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类比、</a:t>
            </a:r>
            <a:r>
              <a:rPr kumimoji="1" lang="en-US" altLang="zh-CN" sz="925" dirty="0">
                <a:ea typeface="宋体" panose="02010600030101010101" pitchFamily="2" charset="-122"/>
              </a:rPr>
              <a:t>10</a:t>
            </a:r>
            <a:r>
              <a:rPr kumimoji="1" lang="zh-CN" altLang="en-US" sz="925" dirty="0">
                <a:ea typeface="宋体" panose="02010600030101010101" pitchFamily="2" charset="-122"/>
              </a:rPr>
              <a:t>逻辑</a:t>
            </a:r>
            <a:endParaRPr kumimoji="1" lang="zh-CN" altLang="en-US" sz="925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91770" rtl="0" eaLnBrk="0" fontAlgn="base" latinLnBrk="0" hangingPunct="0">
              <a:lnSpc>
                <a:spcPct val="117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defTabSz="191770">
              <a:defRPr/>
            </a:pPr>
            <a:r>
              <a:rPr kumimoji="1" lang="zh-CN" altLang="en-US" sz="925" dirty="0">
                <a:ea typeface="宋体" panose="02010600030101010101" pitchFamily="2" charset="-122"/>
              </a:rPr>
              <a:t>甘肃</a:t>
            </a:r>
            <a:r>
              <a:rPr kumimoji="1" lang="en-US" altLang="zh-CN" sz="925" dirty="0">
                <a:ea typeface="宋体" panose="02010600030101010101" pitchFamily="2" charset="-122"/>
              </a:rPr>
              <a:t>35</a:t>
            </a:r>
            <a:r>
              <a:rPr kumimoji="1" lang="zh-CN" altLang="en-US" sz="925" dirty="0">
                <a:ea typeface="宋体" panose="02010600030101010101" pitchFamily="2" charset="-122"/>
              </a:rPr>
              <a:t>题：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图形、</a:t>
            </a:r>
            <a:r>
              <a:rPr kumimoji="1" lang="en-US" altLang="zh-CN" sz="925" dirty="0">
                <a:ea typeface="宋体" panose="02010600030101010101" pitchFamily="2" charset="-122"/>
              </a:rPr>
              <a:t>9</a:t>
            </a:r>
            <a:r>
              <a:rPr kumimoji="1" lang="zh-CN" altLang="en-US" sz="925" dirty="0">
                <a:ea typeface="宋体" panose="02010600030101010101" pitchFamily="2" charset="-122"/>
              </a:rPr>
              <a:t>个定义、</a:t>
            </a:r>
            <a:r>
              <a:rPr kumimoji="1" lang="en-US" altLang="zh-CN" sz="925" dirty="0">
                <a:ea typeface="宋体" panose="02010600030101010101" pitchFamily="2" charset="-122"/>
              </a:rPr>
              <a:t>8</a:t>
            </a:r>
            <a:r>
              <a:rPr kumimoji="1" lang="zh-CN" altLang="en-US" sz="925" dirty="0">
                <a:ea typeface="宋体" panose="02010600030101010101" pitchFamily="2" charset="-122"/>
              </a:rPr>
              <a:t>类比、</a:t>
            </a:r>
            <a:r>
              <a:rPr kumimoji="1" lang="en-US" altLang="zh-CN" sz="925" dirty="0">
                <a:ea typeface="宋体" panose="02010600030101010101" pitchFamily="2" charset="-122"/>
              </a:rPr>
              <a:t>10</a:t>
            </a:r>
            <a:r>
              <a:rPr kumimoji="1" lang="zh-CN" altLang="en-US" sz="925" dirty="0">
                <a:ea typeface="宋体" panose="02010600030101010101" pitchFamily="2" charset="-122"/>
              </a:rPr>
              <a:t>逻辑</a:t>
            </a:r>
            <a:endParaRPr kumimoji="1" lang="zh-CN" altLang="en-US" sz="925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tags" Target="../tags/tag19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</a:t>
            </a:r>
            <a:r>
              <a:rPr kumimoji="1" 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kumimoji="1" 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广东考情分析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102360" y="1657350"/>
          <a:ext cx="9291320" cy="372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553"/>
                <a:gridCol w="1548554"/>
                <a:gridCol w="1548553"/>
                <a:gridCol w="1548553"/>
                <a:gridCol w="1548554"/>
                <a:gridCol w="1548553"/>
              </a:tblGrid>
              <a:tr h="74422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2023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乡镇</a:t>
                      </a: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县级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2022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乡镇</a:t>
                      </a: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县级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442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图形推理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10/10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442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类比推理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5/5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5/5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442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逻辑判断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5/20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5/20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7442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20/35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20/</a:t>
                      </a: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642995" y="671195"/>
            <a:ext cx="4906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广东考情分析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判断推理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267075" y="1162050"/>
          <a:ext cx="6194425" cy="2747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65"/>
                <a:gridCol w="1548130"/>
                <a:gridCol w="1548765"/>
                <a:gridCol w="1548765"/>
              </a:tblGrid>
              <a:tr h="492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图形推理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数量类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位置类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样式类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重构类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642995" y="567055"/>
            <a:ext cx="4906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图形推理</a:t>
            </a:r>
            <a:endParaRPr 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13840" y="3909060"/>
            <a:ext cx="988631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数量类考查的为箭头数和直线穿过的格子数，广东数量类考的都比较有特色；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位置类主要考查平移；</a:t>
            </a:r>
            <a:endParaRPr lang="zh-CN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样式类最爱考查运算，也考查过对称性和曲直性；</a:t>
            </a:r>
            <a:endParaRPr lang="zh-CN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重构类最爱考查立体拼合，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考查过六面体和</a:t>
            </a:r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三视图；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年考查了一个平面拼合的题目，需要单独学习特殊考点。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781425" y="836930"/>
          <a:ext cx="5519420" cy="4011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230"/>
                <a:gridCol w="1427480"/>
                <a:gridCol w="1379855"/>
                <a:gridCol w="1379855"/>
              </a:tblGrid>
              <a:tr h="481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逻辑判断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2024</a:t>
                      </a: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41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加强削弱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41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前提型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406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平行结构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41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翻译推理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41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分析推理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41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原因解释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406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逻辑错误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4413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642995" y="229235"/>
            <a:ext cx="4906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逻辑判断</a:t>
            </a:r>
            <a:endParaRPr 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050" y="4848225"/>
            <a:ext cx="116649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广东特色必考题型为：原因解释、平行结构和前提型，需要重点掌握搭桥、字母法等解题方式。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加强削弱经常考查搭桥拆桥、否定论点等常见加强削弱方式。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翻译推理和分析推理考的较为常规，相对较简单，常规学习即可。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0.xml><?xml version="1.0" encoding="utf-8"?>
<p:tagLst xmlns:p="http://schemas.openxmlformats.org/presentationml/2006/main">
  <p:tag name="TABLE_ENDDRAG_ORIGIN_RECT" val="731*234"/>
  <p:tag name="TABLE_ENDDRAG_RECT" val="84*95*731*234"/>
</p:tagLst>
</file>

<file path=ppt/tags/tag21.xml><?xml version="1.0" encoding="utf-8"?>
<p:tagLst xmlns:p="http://schemas.openxmlformats.org/presentationml/2006/main">
  <p:tag name="TABLE_ENDDRAG_ORIGIN_RECT" val="487*216"/>
  <p:tag name="TABLE_ENDDRAG_RECT" val="257*91*487*216"/>
</p:tagLst>
</file>

<file path=ppt/tags/tag22.xml><?xml version="1.0" encoding="utf-8"?>
<p:tagLst xmlns:p="http://schemas.openxmlformats.org/presentationml/2006/main">
  <p:tag name="TABLE_ENDDRAG_ORIGIN_RECT" val="434*315"/>
  <p:tag name="TABLE_ENDDRAG_RECT" val="31*91*434*315"/>
</p:tagLst>
</file>

<file path=ppt/tags/tag23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WPS 演示</Application>
  <PresentationFormat>宽屏</PresentationFormat>
  <Paragraphs>197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197</cp:revision>
  <dcterms:created xsi:type="dcterms:W3CDTF">2019-06-19T02:08:00Z</dcterms:created>
  <dcterms:modified xsi:type="dcterms:W3CDTF">2026-05-27T09:39:43Z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7E0F0589F6D94CFE8A4BC2AEA01394FF_11</vt:lpwstr>
  </property>
</Properties>
</file>