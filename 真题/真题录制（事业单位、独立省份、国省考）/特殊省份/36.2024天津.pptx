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42"/>
  </p:handoutMasterIdLst>
  <p:sldIdLst>
    <p:sldId id="629" r:id="rId4"/>
    <p:sldId id="424" r:id="rId6"/>
    <p:sldId id="1401" r:id="rId7"/>
    <p:sldId id="1407" r:id="rId8"/>
    <p:sldId id="1402" r:id="rId9"/>
    <p:sldId id="1403" r:id="rId10"/>
    <p:sldId id="1404" r:id="rId11"/>
    <p:sldId id="1362" r:id="rId12"/>
    <p:sldId id="1363" r:id="rId13"/>
    <p:sldId id="1364" r:id="rId14"/>
    <p:sldId id="1365" r:id="rId15"/>
    <p:sldId id="1366" r:id="rId16"/>
    <p:sldId id="1367" r:id="rId17"/>
    <p:sldId id="1368" r:id="rId18"/>
    <p:sldId id="1369" r:id="rId19"/>
    <p:sldId id="1370" r:id="rId20"/>
    <p:sldId id="1371" r:id="rId21"/>
    <p:sldId id="1372" r:id="rId22"/>
    <p:sldId id="1373" r:id="rId23"/>
    <p:sldId id="1374" r:id="rId24"/>
    <p:sldId id="1375" r:id="rId25"/>
    <p:sldId id="1376" r:id="rId26"/>
    <p:sldId id="1377" r:id="rId27"/>
    <p:sldId id="1378" r:id="rId28"/>
    <p:sldId id="1379" r:id="rId29"/>
    <p:sldId id="1380" r:id="rId30"/>
    <p:sldId id="1381" r:id="rId31"/>
    <p:sldId id="1382" r:id="rId32"/>
    <p:sldId id="1383" r:id="rId33"/>
    <p:sldId id="1384" r:id="rId34"/>
    <p:sldId id="1385" r:id="rId35"/>
    <p:sldId id="1386" r:id="rId36"/>
    <p:sldId id="1387" r:id="rId37"/>
    <p:sldId id="1388" r:id="rId38"/>
    <p:sldId id="1389" r:id="rId39"/>
    <p:sldId id="1390" r:id="rId40"/>
    <p:sldId id="992" r:id="rId41"/>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7" Type="http://schemas.openxmlformats.org/officeDocument/2006/relationships/tags" Target="tags/tag31.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解析：本题为分组分类题目。元素组成不同，且题干出现很多等腰三角形，优先考虑对称性。观察发现，图</a:t>
            </a:r>
            <a:r>
              <a:rPr lang="en-US" altLang="en-US" sz="1200" kern="1200" dirty="0">
                <a:solidFill>
                  <a:schemeClr val="tx1"/>
                </a:solidFill>
                <a:effectLst/>
                <a:latin typeface="+mn-lt"/>
                <a:sym typeface="+mn-ea"/>
              </a:rPr>
              <a:t>②③④</a:t>
            </a:r>
            <a:r>
              <a:rPr lang="zh-CN" altLang="en-US" sz="1200" kern="1200" dirty="0">
                <a:solidFill>
                  <a:schemeClr val="tx1"/>
                </a:solidFill>
                <a:effectLst/>
                <a:latin typeface="+mn-lt"/>
                <a:sym typeface="+mn-ea"/>
              </a:rPr>
              <a:t>均是轴对称图形，图</a:t>
            </a:r>
            <a:r>
              <a:rPr lang="en-US" altLang="en-US" sz="1200" kern="1200" dirty="0">
                <a:solidFill>
                  <a:schemeClr val="tx1"/>
                </a:solidFill>
                <a:effectLst/>
                <a:latin typeface="+mn-lt"/>
                <a:sym typeface="+mn-ea"/>
              </a:rPr>
              <a:t>①⑤⑥</a:t>
            </a:r>
            <a:r>
              <a:rPr lang="zh-CN" altLang="en-US" sz="1200" kern="1200" dirty="0">
                <a:solidFill>
                  <a:schemeClr val="tx1"/>
                </a:solidFill>
                <a:effectLst/>
                <a:latin typeface="+mn-lt"/>
                <a:sym typeface="+mn-ea"/>
              </a:rPr>
              <a:t>均不是轴对称图形，即图</a:t>
            </a:r>
            <a:r>
              <a:rPr lang="en-US" altLang="en-US" sz="1200" kern="1200" dirty="0">
                <a:solidFill>
                  <a:schemeClr val="tx1"/>
                </a:solidFill>
                <a:effectLst/>
                <a:latin typeface="+mn-lt"/>
                <a:sym typeface="+mn-ea"/>
              </a:rPr>
              <a:t>①⑤⑥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②③④</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：可能有部分同学根据对称轴数量是</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还是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将题干分为</a:t>
            </a:r>
            <a:r>
              <a:rPr lang="en-US" altLang="en-US" sz="1200" kern="1200" dirty="0">
                <a:solidFill>
                  <a:schemeClr val="tx1"/>
                </a:solidFill>
                <a:effectLst/>
                <a:latin typeface="+mn-lt"/>
                <a:sym typeface="+mn-ea"/>
              </a:rPr>
              <a:t>①③⑤</a:t>
            </a:r>
            <a:r>
              <a:rPr lang="zh-CN" altLang="en-US" sz="1200" kern="1200" dirty="0">
                <a:solidFill>
                  <a:schemeClr val="tx1"/>
                </a:solidFill>
                <a:effectLst/>
                <a:latin typeface="+mn-lt"/>
                <a:sym typeface="+mn-ea"/>
              </a:rPr>
              <a:t>一组和</a:t>
            </a:r>
            <a:r>
              <a:rPr lang="en-US" altLang="en-US" sz="1200" kern="1200" dirty="0">
                <a:solidFill>
                  <a:schemeClr val="tx1"/>
                </a:solidFill>
                <a:effectLst/>
                <a:latin typeface="+mn-lt"/>
                <a:sym typeface="+mn-ea"/>
              </a:rPr>
              <a:t>②④⑥</a:t>
            </a:r>
            <a:r>
              <a:rPr lang="zh-CN" altLang="en-US" sz="1200" kern="1200" dirty="0">
                <a:solidFill>
                  <a:schemeClr val="tx1"/>
                </a:solidFill>
                <a:effectLst/>
                <a:latin typeface="+mn-lt"/>
                <a:sym typeface="+mn-ea"/>
              </a:rPr>
              <a:t>一组，然而本题图</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、图</a:t>
            </a:r>
            <a:r>
              <a:rPr lang="en-US" altLang="en-US" sz="1200" kern="1200" dirty="0">
                <a:solidFill>
                  <a:schemeClr val="tx1"/>
                </a:solidFill>
                <a:effectLst/>
                <a:latin typeface="+mn-lt"/>
                <a:sym typeface="+mn-ea"/>
              </a:rPr>
              <a:t>⑥</a:t>
            </a:r>
            <a:r>
              <a:rPr lang="zh-CN" altLang="en-US" sz="1200" kern="1200" dirty="0">
                <a:solidFill>
                  <a:schemeClr val="tx1"/>
                </a:solidFill>
                <a:effectLst/>
                <a:latin typeface="+mn-lt"/>
                <a:sym typeface="+mn-ea"/>
              </a:rPr>
              <a:t>均存在由斜线构成的阴影，考虑到斜线也是图形的一部分，而斜线之间并不对称，因此认为图</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和图</a:t>
            </a:r>
            <a:r>
              <a:rPr lang="en-US" altLang="en-US" sz="1200" kern="1200" dirty="0">
                <a:solidFill>
                  <a:schemeClr val="tx1"/>
                </a:solidFill>
                <a:effectLst/>
                <a:latin typeface="+mn-lt"/>
                <a:sym typeface="+mn-ea"/>
              </a:rPr>
              <a:t>⑥</a:t>
            </a:r>
            <a:r>
              <a:rPr lang="zh-CN" altLang="en-US" sz="1200" kern="1200" dirty="0">
                <a:solidFill>
                  <a:schemeClr val="tx1"/>
                </a:solidFill>
                <a:effectLst/>
                <a:latin typeface="+mn-lt"/>
                <a:sym typeface="+mn-ea"/>
              </a:rPr>
              <a:t>均不是轴对称图形。此外，若认为图</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存在从右上到左下的对称轴，则画出该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对称轴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后，可以发现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对称轴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两侧的线条并不完全对应等长，图</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也不是轴对称图形。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：分组分类题目优先考虑两组图形分别具有各自的规律，无法分成具有各自规律的两组时，才考虑将图形分成一组具有该规律，一组不具有该规律。</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解析一：元素组成不同，优先考虑属性规律。观察发现，题干图形有曲有直，可以考虑曲直性是否存在规律。图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中，图形的线条种类均为</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（图形既有直线又有曲线）；图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中，图形的线条种类均为</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（图形为纯曲线或纯直线），即图</a:t>
            </a:r>
            <a:r>
              <a:rPr lang="en-US" altLang="en-US" sz="1200" kern="1200" dirty="0">
                <a:solidFill>
                  <a:schemeClr val="tx1"/>
                </a:solidFill>
                <a:effectLst/>
                <a:latin typeface="+mn-lt"/>
                <a:sym typeface="+mn-ea"/>
              </a:rPr>
              <a:t>①③⑥</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②④⑤</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解析二：元素组成不同，优先考虑属性规律。观察发现，图</a:t>
            </a:r>
            <a:r>
              <a:rPr lang="en-US" altLang="en-US" sz="1200" kern="1200" dirty="0">
                <a:solidFill>
                  <a:schemeClr val="tx1"/>
                </a:solidFill>
                <a:effectLst/>
                <a:latin typeface="+mn-lt"/>
                <a:sym typeface="+mn-ea"/>
              </a:rPr>
              <a:t>①②③⑥</a:t>
            </a:r>
            <a:r>
              <a:rPr lang="zh-CN" altLang="en-US" sz="1200" kern="1200" dirty="0">
                <a:solidFill>
                  <a:schemeClr val="tx1"/>
                </a:solidFill>
                <a:effectLst/>
                <a:latin typeface="+mn-lt"/>
                <a:sym typeface="+mn-ea"/>
              </a:rPr>
              <a:t>均为轴对称图形，图</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为中心对称图形，图</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不是对称图形，没有答案。继续观察发现，题干出现生活化图形且封闭区域明显，考虑数量规律中的面数量。题干图形的面数量依次为</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，图</a:t>
            </a:r>
            <a:r>
              <a:rPr lang="en-US" altLang="en-US" sz="1200" kern="1200" dirty="0">
                <a:solidFill>
                  <a:schemeClr val="tx1"/>
                </a:solidFill>
                <a:effectLst/>
                <a:latin typeface="+mn-lt"/>
                <a:sym typeface="+mn-ea"/>
              </a:rPr>
              <a:t>①②③</a:t>
            </a:r>
            <a:r>
              <a:rPr lang="zh-CN" altLang="en-US" sz="1200" kern="1200" dirty="0">
                <a:solidFill>
                  <a:schemeClr val="tx1"/>
                </a:solidFill>
                <a:effectLst/>
                <a:latin typeface="+mn-lt"/>
                <a:sym typeface="+mn-ea"/>
              </a:rPr>
              <a:t>的面数量均为奇数，图</a:t>
            </a:r>
            <a:r>
              <a:rPr lang="en-US" altLang="en-US" sz="1200" kern="1200" dirty="0">
                <a:solidFill>
                  <a:schemeClr val="tx1"/>
                </a:solidFill>
                <a:effectLst/>
                <a:latin typeface="+mn-lt"/>
                <a:sym typeface="+mn-ea"/>
              </a:rPr>
              <a:t>④⑤⑥</a:t>
            </a:r>
            <a:r>
              <a:rPr lang="zh-CN" altLang="en-US" sz="1200" kern="1200" dirty="0">
                <a:solidFill>
                  <a:schemeClr val="tx1"/>
                </a:solidFill>
                <a:effectLst/>
                <a:latin typeface="+mn-lt"/>
                <a:sym typeface="+mn-ea"/>
              </a:rPr>
              <a:t>的面数量均为偶数，即图</a:t>
            </a:r>
            <a:r>
              <a:rPr lang="en-US" altLang="en-US" sz="1200" kern="1200" dirty="0">
                <a:solidFill>
                  <a:schemeClr val="tx1"/>
                </a:solidFill>
                <a:effectLst/>
                <a:latin typeface="+mn-lt"/>
                <a:sym typeface="+mn-ea"/>
              </a:rPr>
              <a:t>①②③</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④⑤⑥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注：本题两种规律均不是非常严谨，分组分类按曲直线条种类数和数量奇偶分组考查都较少，大家了解基本解题思路即可，无需作为备考重点。</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解析：元素组成相同，优先考虑位置规律。观察发现，题干图形内圈和外圈的黑球数量均相同，优先内外分开看。如下图所示，标记为</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的黑球在内圈每次逆时针移动一格，标记为</a:t>
            </a:r>
            <a:r>
              <a:rPr lang="en-US" altLang="en-US" sz="1200" kern="1200" dirty="0">
                <a:solidFill>
                  <a:schemeClr val="tx1"/>
                </a:solidFill>
                <a:effectLst/>
                <a:latin typeface="+mn-lt"/>
                <a:sym typeface="+mn-ea"/>
              </a:rPr>
              <a:t>②③</a:t>
            </a:r>
            <a:r>
              <a:rPr lang="zh-CN" altLang="en-US" sz="1200" kern="1200" dirty="0">
                <a:solidFill>
                  <a:schemeClr val="tx1"/>
                </a:solidFill>
                <a:effectLst/>
                <a:latin typeface="+mn-lt"/>
                <a:sym typeface="+mn-ea"/>
              </a:rPr>
              <a:t>的黑球在外圈每次顺时针移动三格，只有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项符合规律。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解析：九宫格横行观察无规律，但竖着看发现，相同线条重复出现，优先考虑样式规律中的加减同异。第一列图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求异得到图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；经验证，第二列满足此规律；第三列应用此规律，故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处应选择图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求异得到的图形，只有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解析：本题为空间重构题。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由题干立体图形可知，存在</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个灰色面，因此展开图中也应有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个灰色面，排除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继续观察发现，本题图形存在唯一且明显的大</a:t>
            </a:r>
            <a:r>
              <a:rPr lang="en-US" altLang="zh-CN" sz="1200" kern="1200" dirty="0">
                <a:solidFill>
                  <a:schemeClr val="tx1"/>
                </a:solidFill>
                <a:effectLst/>
                <a:latin typeface="+mn-lt"/>
                <a:sym typeface="+mn-ea"/>
              </a:rPr>
              <a:t>L</a:t>
            </a:r>
            <a:r>
              <a:rPr lang="zh-CN" altLang="en-US" sz="1200" kern="1200" dirty="0">
                <a:solidFill>
                  <a:schemeClr val="tx1"/>
                </a:solidFill>
                <a:effectLst/>
                <a:latin typeface="+mn-lt"/>
                <a:sym typeface="+mn-ea"/>
              </a:rPr>
              <a:t>型面（即底面），将其标记为面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。观察</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三项，可以发现灰色面与面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的相邻关系不同，在立体图形中，从正面观察面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最右侧的边（最凸出的顶端）与白色长方形面相邻，不与灰色面相邻，而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两项中面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最凸出的顶端均与灰色面相邻，因此排除</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正向缺省规则：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当事人无需事无巨细地对合同进行约定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只要适用合同法规定就能实现合同目的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反向缺省规则：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与当事人预期相悖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适用该类缺省规则会产生与合同目的相反的结果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项：标的数量没有约定的，视为合同没有成立，当事人签订合同，应是期望合同可以继续生效，符合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与当事人预期相悖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适用该类缺省规则会产生与合同目的相反的结果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项：质量要求没有约定的，按照强制性国家标准履行，说明合同对这方面即便是没有做出约定，该情况下也可以使用合同法规定继续履行合同，符合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当事人无需事无巨细地对合同进行约定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只要适用合同法规定就能实现合同目的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正向缺省规则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项：价款没有约定的，按照缔约时履行地的市场价格履行，说明合同对这方面即便是没有做出约定，该情况下也可以使用合同法规定继续履行合同，符合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当事人无需事无巨细地对合同进行约定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只要适用合同法规定就能实现合同目的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正向缺省规则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项：履行方式没有约定的，按照有利于实现合同目的的方式履行，说明合同对这方面即便是没有做出约定，该情况下也可以使用合同法规定继续履行合同，符合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当事人无需事无巨细地对合同进行约定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只要适用合同法规定就能实现合同目的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正向缺省规则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反向缺省规则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项：合同的核心目的是成立并履行，若标的数量无约定则视为合同不成立，直接违背了</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订立有效合同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的核心目的，会督促当事人事先明确标的数量，符合反向缺省规则。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项：质量要求无约定时按强制性国家标准履行，国家标准能保障合同基本履行，与合同目的一致，属于正向缺省规则，排除。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项：价款无约定时按缔约时履行地市场价格履行，市场价格是合理的价款参考，能帮助合同顺利履行，符合当事人预期，属于正向缺省规则，排除。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项：履行方式无约定时按有利于实现合同目的的方式履行，直接贴合合同核心诉求，属于正向缺省规则，排除。</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企业供应商的环保意识和环保行为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对企业绿色创新的影响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项：随着绿色意识的增强，消费者更愿意选择资源节约和环境友好的产品，未提及企业，不符合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企业供应商的环保意识和环保行为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对企业绿色创新的影响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项：随着国家生态建设的推进，企业会更加谨慎地选择自己的下游客户，未提及企业的环保意识和绿色创新行为，不符合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企业供应商的环保意识和环保行为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对企业绿色创新的影响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项：供应商为链上企业提供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绿色创新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方面的资源和知识，但不明确是否对这些企业产生了绿色创新的影响，不符合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对企业绿色创新的影响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项：供应商的绿色环保行为，符合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企业供应商的环保意识和环保行为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，倒逼企业进行绿色创新行为，符合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对企业绿色创新的影响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项：消费者的绿色偏好影响企业，主体是消费者而非供应商，不符合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供应商绿色压力</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的主体要求，排除。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项：企业选择下游客户，涉及的是企业与下游的关系，与供应商（上游）无关，主体和方向均不符，排除。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项：供应商提供绿色创新的资源和知识，侧重</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支持协助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，而非</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压力影响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，未体现</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促使企业改进</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的倒逼作用，不符合定义核心，排除。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项：供应商的绿色环保行为直接倒逼企业进行绿色创新，完全契合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供应商环保行为</a:t>
            </a:r>
            <a:r>
              <a:rPr lang="en-US" altLang="zh-CN" sz="1200" kern="1200" dirty="0">
                <a:solidFill>
                  <a:schemeClr val="tx1"/>
                </a:solidFill>
                <a:effectLst/>
                <a:latin typeface="+mn-lt"/>
                <a:sym typeface="+mn-ea"/>
              </a:rPr>
              <a:t> </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影响企业绿色创新</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的核心逻辑，属于供应商绿色压力。</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湖陆之间相互转换的热力环流现象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项：诗句的意思是轮台九月整夜里狂风怒号，到处的碎石块块大如斗，狂风吹得斗大乱石满地走。诗句只涉及陆地上的风，没有涉及湖水，不符合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湖陆之间相互转换的热力环流现象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项：诗句的意思是潮水沉没于太湖，潮水沉没于云梦泽里的田地，早上顺着北风驾船进入湖中打鱼采菱，傍晚乘着南风，可以毫不费力地驾船回家。诗句描写了湖水和陆地之间风的形成情况，符合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湖陆之间相互转换的热力环流现象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项：诗句的意思是庭院里的树上，凶猛的猫头鹰都养出了小雏；曲折的院墙，空荡的房屋，多有旋风翻卷。诗句只涉及陆地上的风，没有涉及湖水，不符合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湖陆之间相互转换的热力环流现象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项：诗句的意思是曙光微明，月挂西山，鹊鸟出林，寒蝉在初秋的野外晨风中嘶声噪鸣。诗句只涉及陆地上的风，没有涉及湖水，不符合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湖陆之间相互转换的热力环流现象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对某个事物感到习惯后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产生安于现状、不愿意再去尝试新事物的惰性心理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项：习惯看西医的病人会不愿意去尝试看中医，符合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对某个事物感到习惯后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产生安于现状、不愿意再去尝试新事物的惰性心理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项：老年人更倾向去菜市场买菜，即老年人习惯了去菜市场而不愿意去别的地方（商超、线上平台等）买菜，符合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对某个事物感到习惯后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产生安于现状、不愿意再去尝试新事物的惰性心理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项：小张只使用某一个平台下单点外卖，说明小张习惯了使用该平台而不愿意使用其他平台，符合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对某个事物感到习惯后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产生安于现状、不愿意再去尝试新事物的惰性心理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项：人们试吃样品满意后会更有可能进店消费，人们进店消费是因为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试吃样品满意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对某个事物感到习惯后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产生安于现状、不愿意再去尝试新事物的惰性心理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磁场把未带磁性的铁磁性物质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如铁、钴、镍及其合金等）磁化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外加磁场去除后，铁磁性物质的磁性也不会马上消除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项：带有铁磁性物质的水在强磁场下流过时，周围的金属物体会产生磁感应现象，但未提及磁场去除后，是否还会有磁感应现象，不符合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外加磁场去除后，铁磁性物质的磁性也不会马上消除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项：由导线将电池、小灯泡、电流表、开关连接成闭合电路，闭合开关时，灯泡亮暗、电流表指针指向会有变化，没有涉及磁化，不符合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磁场把未带磁性的铁磁性物质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如铁、钴、镍及其合金等）磁化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项：电饭锅运行达到设定温度后，感温磁钢会消磁，说明感温磁钢本身具有磁性，不符合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磁场把未带磁性的铁磁性物质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如铁、钴、镍及其合金等）磁化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项：把烧红的铁片放置在子午线方向，铁分子顺着地球磁场方向排列，磁场使铁片磁化，符合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磁场把未带磁性的铁磁性物质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如铁、钴、镍及其合金等）磁化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，挪动铁片后铁分子仍然按照磁场方向排列，说明铁片磁性没有马上消除，符合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外加磁场去除后，铁磁性物质的磁性也不会马上消除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项：该选项仅提及含铁磁性物质的水流经强磁场时，周围金属产生磁感应和电流，既没有体现磁场对铁磁性物质的磁化过程，也未说明外加磁场消失后相关物质是否保留磁性，完全不符合磁滞现象的定义，排除。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项：此选项描述的是闭合电路中开关通断引发的电路变化，核心是电流相关的电路现象，全程未涉及磁场对铁磁性物质的磁化，与磁滞现象的核心逻辑毫无关联，排除。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项：电饭锅中的感温磁钢本身已具备磁性，并非</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未带磁性的铁磁性物质</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被磁场磁化，且其最终结果是达到温度后消磁，和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外加磁场去除后仍保有磁性</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的关键特征相悖，不符合定义，排除。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烧红的铁片原本无磁性，放置在子午线方向时，在地球磁场作用下铁分子定向排列从而被磁化；后续挪动铁片（相当于去除原有的地球磁场作用），铁分子依旧保持该排列方向，意味着铁片仍保有磁性，完美契合磁滞现象的两个核心要点，符合定义。</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运用数据时错误地将整组的汇总结果应用到组内的单位中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甲地居民普遍比乙地居民的收入高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甲地教师比乙地教师的收入高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，即将整组数据的结果用来得到部分个体的结论，符合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运用数据时错误地将整组的汇总结果应用到组内的单位中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服务业占比大的区域更容易吸引高层次人才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服务业占比大的区域高层次人才更多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，前后均为服务业占比大的区域和服务业占比小的区域的对比，不符合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运用数据时错误地将整组的汇总结果应用到组内的单位中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a:t>
            </a:r>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个不喜欢时装栏目的反馈邮件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有读者不喜欢，就一定有读者喜欢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，不涉及数据间的错误运用，不符合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运用数据时错误地将整组的汇总结果应用到组内的单位中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项：根据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小王上一年的工资低于公司的平均水平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，得到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小王今年的工资可能降低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，前后均为小王的工资，是根据过去的数据推导现在的情况，不符合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运用数据时错误地将整组的汇总结果应用到组内的单位中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项：高层次分析单位是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甲地居民</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乙地居民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（群体汇总收入），低层次分析单位是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甲地教师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乙地教师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（群体内的特定个体群体）。将两地居民的整体收入差异，直接推导为两地教师的收入差异，属于把群体汇总结果应用到组内单位，符合生态谬误。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项：分析单位始终是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区域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（高层次），结论也围绕</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区域</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的高层次人才数量，未涉及低层次单位，逻辑一致，排除。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项：论据是</a:t>
            </a:r>
            <a:r>
              <a:rPr lang="en-US" altLang="zh-CN" sz="1200" kern="1200" dirty="0">
                <a:solidFill>
                  <a:schemeClr val="tx1"/>
                </a:solidFill>
                <a:effectLst/>
                <a:latin typeface="+mn-lt"/>
                <a:sym typeface="+mn-ea"/>
              </a:rPr>
              <a:t> “28 </a:t>
            </a:r>
            <a:r>
              <a:rPr lang="zh-CN" altLang="en-US" sz="1200" kern="1200" dirty="0">
                <a:solidFill>
                  <a:schemeClr val="tx1"/>
                </a:solidFill>
                <a:effectLst/>
                <a:latin typeface="+mn-lt"/>
                <a:sym typeface="+mn-ea"/>
              </a:rPr>
              <a:t>个不喜欢时装栏目的反馈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，结论是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有读者喜欢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，属于基于部分否定推出部分肯定，与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高层次</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低层次</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的分析单位错误无关，排除。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项：论据是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前</a:t>
            </a:r>
            <a:r>
              <a:rPr lang="en-US" altLang="zh-CN" sz="1200" kern="1200" dirty="0">
                <a:solidFill>
                  <a:schemeClr val="tx1"/>
                </a:solidFill>
                <a:effectLst/>
                <a:latin typeface="+mn-lt"/>
                <a:sym typeface="+mn-ea"/>
              </a:rPr>
              <a:t> 6% </a:t>
            </a:r>
            <a:r>
              <a:rPr lang="zh-CN" altLang="en-US" sz="1200" kern="1200" dirty="0">
                <a:solidFill>
                  <a:schemeClr val="tx1"/>
                </a:solidFill>
                <a:effectLst/>
                <a:latin typeface="+mn-lt"/>
                <a:sym typeface="+mn-ea"/>
              </a:rPr>
              <a:t>降低工资</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小王工资低于平均水平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，结论是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工资可能降低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，未涉及高层次与低层次分析单位的混淆，仅是基于规则的合理推测，排除。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水会吸收空气的热量而蒸发从而冷却空气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项：用喷水壶装满冰凉刺骨的井水喷淋房屋周边时，水接触到空气会吸收空气中的热量而蒸发，从而冷却空气，符合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水会吸收空气的热量而蒸发从而冷却空气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项：在逆风处设置风井，使空气沿风井流入楼内喷泉处时，喷泉中的水接触到空气会吸收空气中的热量而蒸发，从而冷却空气，符合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水会吸收空气的热量而蒸发从而冷却空气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项：沿海国家在风口建造风车，利用空气流动驱动扇叶时，没有体现水会接触到空气而蒸发，不符合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水会吸收空气的热量而蒸发从而冷却空气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项：将冷水输送到屋顶，冷水从房檐四周流下形成水帘时，水接触到空气会吸收空气中的热量而蒸发，从而冷却空气，符合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水会吸收空气的热量而蒸发从而冷却空气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项：用冰凉的井水喷淋房屋周边，井水蒸发会吸收空气热量，符合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水</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蒸发</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冷却空气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的核心逻辑，体现了蒸发冷却，排除。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项：空气流入楼内喷泉处，喷泉的水会蒸发，吸收空气热量以冷却空气，满足定义要素，体现了蒸发冷却，排除。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项：风车利用空气流动驱动扇叶，全程未涉及</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水</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水的蒸发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，仅依赖空气流动，未体现蒸发冷却的核心机制，符合题意。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项：冷水从房檐流下形成水帘，水帘的水会蒸发，吸收空气热量实现降温，符合定义要素，体现了蒸发冷却，排除。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肿瘤侵犯：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肿块发展后引起相邻部位的反应和变化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肿瘤浸润：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肿瘤细胞发展扩大透过原发部位的浆膜层转移到相邻组织和器官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肿瘤转移：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肿瘤由原发器官通过血液、淋巴等方式到达另一个远处器官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项：癌细胞到达了胸壁组织，但无法确定是否引起了胸壁组织的反应和变化，不符合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引起相邻部位的反应和变化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肿瘤侵犯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项：检查出老赵的肺部有结节，并未涉及其他部位，不符合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肿块发展后引起相邻部位的反应和变化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肿瘤侵犯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项：胰腺肿瘤蔓延到了肝脏，但无法确定是否引起了肝脏的反应和变化，不符合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引起相邻部位的反应和变化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肿瘤侵犯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项：肺部肿块碰触心脏薄膜，符合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肿块发展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，引起心包积液，符合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引起相邻部位的反应和变化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肿瘤侵犯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项：乳腺癌细胞到达胸壁组织，属于肿瘤细胞突破原发部位转移到相邻组织，符合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肿瘤浸润</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项：肺部毛玻璃结节仅需定期复查，未提及肿块引发相邻部位反应或变化，不符合任何定义，排除。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项：胰腺肿瘤蔓延到肝脏，肝脏是远处器官，且通过蔓延实现转移，符合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肿瘤转移</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项：肺部肿块碰触心脏薄膜并引起心包积液，是肿块发展导致相邻的心脏薄膜出现反应和变化，未涉及细胞转移或突破浆膜层，完全契合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肿瘤侵犯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的核心定义</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生物学重复：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不同生物个体或者不同生物群体的样品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采用相同的处理方式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技术重复：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同一样品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多次相同实验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项：仅采集小王的血样一次，不符合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不同生物个体或者不同生物群体的样品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，采用三种不同方式，不符合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采用相同的处理方式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生物学重复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项：采用三种不同方式，不符合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采用相同的处理方式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，分三次采集的都是小王血样，不符合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不同生物个体或者不同生物群体的样品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生物学重复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项：采集小王、小李、小张三人的血样，符合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不同生物个体或者不同生物群体的样品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，用同样方式分别进行一次检测，符合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采用相同的处理方式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生物学重复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项：用三种方式进行三次检测，不符合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采用相同的处理方式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生物学重复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物质微观粒子在不同聚集状态间的转变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相变潜热：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在等温等压条件下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从一相转变为另一相时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吸收或放出的热量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第一类相变：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伴有相变潜热和体积突变的相变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第二类相变：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不伴有相变潜热和体积突变，但有热容跃变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项：热致变色印刷工艺采用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遇热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可产生色变的物质，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遇热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表明温度发生了变化，不符合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在等温等压条件下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相变潜热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定义，故也不符合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伴有相变潜热和体积突变的相变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第一类相变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项：在</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个大气压</a:t>
            </a:r>
            <a:r>
              <a:rPr lang="en-US" altLang="zh-CN" sz="1200" kern="1200" dirty="0">
                <a:solidFill>
                  <a:schemeClr val="tx1"/>
                </a:solidFill>
                <a:effectLst/>
                <a:latin typeface="+mn-lt"/>
                <a:sym typeface="+mn-ea"/>
              </a:rPr>
              <a:t>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的情况下，符合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在等温等压条件下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公斤的冰转变成同温度的水，符合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从一相转变为另一相时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，要吸收</a:t>
            </a:r>
            <a:r>
              <a:rPr lang="en-US" altLang="zh-CN" sz="1200" kern="1200" dirty="0">
                <a:solidFill>
                  <a:schemeClr val="tx1"/>
                </a:solidFill>
                <a:effectLst/>
                <a:latin typeface="+mn-lt"/>
                <a:sym typeface="+mn-ea"/>
              </a:rPr>
              <a:t>79.6</a:t>
            </a:r>
            <a:r>
              <a:rPr lang="zh-CN" altLang="en-US" sz="1200" kern="1200" dirty="0">
                <a:solidFill>
                  <a:schemeClr val="tx1"/>
                </a:solidFill>
                <a:effectLst/>
                <a:latin typeface="+mn-lt"/>
                <a:sym typeface="+mn-ea"/>
              </a:rPr>
              <a:t>千卡的热量，符合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吸收或放出的热量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相变潜热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定义，与此同时体积亦收缩，符合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伴有相变潜热和体积突变的相变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第一类相变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项：当含羞草的叶片振动时，叶褥中的水分流向其它地方，叶片逐渐干瘪蜷缩到一起，不符合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物质微观粒子在不同聚集状态间的转变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定义，故也不符合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第一类相变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项：核磁共振成像是通过使人体本身的磁场和仪器自身的磁性物质相互作用形成检测显影，进而查看到病变的位置，不符合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物质微观粒子在不同聚集状态间的转变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定义，故也不符合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第一类相变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项：热致变色是物质遇热发生颜色变化，未涉及物质聚集状态（如固、液、气）的转变，也无相变潜热和体积突变，不符合定义，排除。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 </a:t>
            </a:r>
            <a:r>
              <a:rPr lang="zh-CN" altLang="en-US" sz="1200" kern="1200" dirty="0">
                <a:solidFill>
                  <a:schemeClr val="tx1"/>
                </a:solidFill>
                <a:effectLst/>
                <a:latin typeface="+mn-lt"/>
                <a:sym typeface="+mn-ea"/>
              </a:rPr>
              <a:t>个大气压（等压）、</a:t>
            </a:r>
            <a:r>
              <a:rPr lang="en-US" altLang="zh-CN" sz="1200" kern="1200" dirty="0">
                <a:solidFill>
                  <a:schemeClr val="tx1"/>
                </a:solidFill>
                <a:effectLst/>
                <a:latin typeface="+mn-lt"/>
                <a:sym typeface="+mn-ea"/>
              </a:rPr>
              <a:t>0</a:t>
            </a:r>
            <a:r>
              <a:rPr lang=""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（等温）下，冰（固态）转变成水（液态），属于聚集状态的转变。过程中吸收热量（相变潜热），体积收缩（体积突变），三个核心特征全部满足，符合第一类相变的定义。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项：含羞草叶片蜷缩是水分流动导致的物理形态变化，未涉及物质聚集状态的转变，也无相变潜热和体积突变，排除。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项：核磁共振成像是磁场相互作用的检测技术，与物质聚集状态转变、相变潜热、体积突变均无关，排除。</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伸延，指的是伸展、延伸；延伸，指的是延长伸展，二者为近义关系。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项：登攀，指攀援登高，也指进取；攀登，指的是抓住东西向上爬，也比喻不畏艰险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积极进取，二者为近义关系，与题干逻辑关系一致，保留；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项：喜欢，指的是对人或事物有好感或感兴趣，也指愉快、高兴；欢喜，指快乐、高兴，也指喜欢、喜爱，二者是近义关系，与题干逻辑关系一致，保留；词性和用法不同，并非纯粹近义词，排除。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项：生产，指的是人们通过工具来创造各种生活和生产资料；产生，指的是由已有的事物中派生出新的事物，二者不是近义关系，与题干逻辑关系不一致，排除；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项：等次，指的是等级高下次序；次等，指的是第二等的，低于或次于最好的，二者不是近义关系，与题干逻辑关系不一致，排除。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两项，题干和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选项的词汇都只是动词，而</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选项的欢喜既可以做动词也可以做形容词，故</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项与题干逻辑关系更一致。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兵符是古代帝王授予兵权和调发军队的信物，兵符是一种信物，二者为种属关系。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项：七律是律诗的一种，绝句和律诗均是格律诗的一种，七律和绝句不是种属关系，与题干逻辑关系不一致，排除；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项：偏旁是组成汉字的一部分，二者为组成关系，与题干逻辑关系不一致，排除；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项：干为防具，戈为武器，二者均为古代兵器，因此后以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干戈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用作兵器的通称，后来引申为指战争，干戈和战争为比喻象征义，与题干逻辑关系不一致，排除；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项：寒露，是二十四节气之第十七个节气，秋季的第五个节气，寒露是一种节气，二者为种属关系，与题干逻辑关系一致，当选。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律诗</a:t>
            </a:r>
            <a:r>
              <a:rPr lang="en-US" altLang="zh-CN" sz="1200" kern="1200" dirty="0">
                <a:solidFill>
                  <a:schemeClr val="tx1"/>
                </a:solidFill>
                <a:effectLst/>
                <a:latin typeface="+mn-lt"/>
                <a:sym typeface="+mn-ea"/>
              </a:rPr>
              <a:t>8</a:t>
            </a:r>
            <a:r>
              <a:rPr lang="zh-CN" altLang="en-US" sz="1200" kern="1200" dirty="0">
                <a:solidFill>
                  <a:schemeClr val="tx1"/>
                </a:solidFill>
                <a:effectLst/>
                <a:latin typeface="+mn-lt"/>
                <a:sym typeface="+mn-ea"/>
              </a:rPr>
              <a:t>句，绝句</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句</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七律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8 </a:t>
            </a:r>
            <a:r>
              <a:rPr lang="zh-CN" altLang="en-US" sz="1200" kern="1200" dirty="0">
                <a:solidFill>
                  <a:schemeClr val="tx1"/>
                </a:solidFill>
                <a:effectLst/>
                <a:latin typeface="+mn-lt"/>
                <a:sym typeface="+mn-ea"/>
              </a:rPr>
              <a:t>句律诗）与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绝句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 </a:t>
            </a:r>
            <a:r>
              <a:rPr lang="zh-CN" altLang="en-US" sz="1200" kern="1200" dirty="0">
                <a:solidFill>
                  <a:schemeClr val="tx1"/>
                </a:solidFill>
                <a:effectLst/>
                <a:latin typeface="+mn-lt"/>
                <a:sym typeface="+mn-ea"/>
              </a:rPr>
              <a:t>句诗）是并列关系，均属于近体诗，并非种属关系，排除。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偏旁</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汉字</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的组成部分，二者是组成关系，而非种属关系，排除。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干戈</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是古代兵器，常用作</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战争</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的象征，二者是象征关系，并非种属关系，排除。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寒露</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是二十四节气之一，属于节气的具体类别，二者为种属关系，与题干逻辑一致。</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牡丹花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牵牛花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是两种不同的花，二者为并列关系。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金枪鱼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是鱼类，而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八爪鱼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是软体动物，二者不是并列关系，与题干逻辑关系不一致，排除；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东北菜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是东北地区的本土菜系，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黄花菜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是一种可以食用的植物，二者不是并列关系，与题干逻辑关系不一致，排除；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布谷鸟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啄木鸟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是两种不同的鸟，二者为并列关系，与题干逻辑关系一致，当选；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变色龙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是一种爬行动物，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霸王龙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是一种恐龙，而变色龙不是恐龙，二者不是并列关系，与题干逻辑关系不一致，排除。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金枪鱼</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是鱼类，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八爪鱼</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是软体动物，二者不是并列关系；</a:t>
            </a:r>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东北菜</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是菜系，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黄花菜</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是植物，二者不是并列关系；</a:t>
            </a:r>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布谷鸟</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啄木鸟</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是两种不同的鸟，为并列关系，与题干逻辑一致；</a:t>
            </a:r>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变色龙</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是爬行动物，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霸王龙</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是已灭绝的恐龙，二者不是并列关系。</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虫害导致植物受损，二者为因果关系。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项：雾霾导致慢性肺炎，二者为因果关系，与题干逻辑关系一致，保留；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项：除名是使退出集体，从名册中除掉姓名，除名导致查无此人，二者为因果关系，与题干逻辑关系一致，保留；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赤潮是由于海洋富营养化，使某些浮游生物暴发性繁殖和高度密集所引起的海水变红的现象，一般是海水先被污染，然后再引发赤潮，海水污染导致赤潮，二者为因果关系，但顺序与题干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项：辗转反侧指躺在床上翻来覆去地不能入睡，失眠和辗转反侧不是因果关系，与题干逻辑关系不一致，排除。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辗转反侧</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失眠</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时的具体表现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虫害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是自然现象，</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雾霾</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也是自然现象，</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不是自然现象，故</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项更为合适。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深思熟虑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（深入思考）与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不假思索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（无需思考）是反义关系，与题干近义逻辑相悖，排除。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星罗棋布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（形容数量多、分布广）与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漫山遍野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（形容数量多、覆盖范围广）语义相近，但</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星罗棋布</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是并列结构，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漫山遍野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是偏正结构（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漫山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遍野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为并列，整体修饰数量），结构不一致，排除。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心领神会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（心里领会、神情明白）与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心照不宣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（心里清楚、不公开说）是近义关系，且均为并列结构（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心领</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神会</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并列，</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心照</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不宣</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并列），与题干逻辑完全一致。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奋起直追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（振作起来追赶）与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迎头赶上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（追上目标）是顺承关系（先奋起再赶上），并非纯粹近义，且结构上前者是偏正</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动宾，后者是动宾</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补语，不一致，排除。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深思熟虑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（褒义，指谨慎思考）与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不假思索</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（中性偏贬，指做事草率），感情色彩一褒一偏贬，与题干一致的褒义倾向不符，排除。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星罗棋布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（中性，仅形容分布广）与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漫山遍野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（中性，仅形容数量多），二者均为中性词，无积极褒义色彩，与题干感情色彩不一致，排除。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心领神会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（褒义，指默契通透）与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心照不宣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（褒义，指默契无需明说），均为褒义词，且语义积极，与题干</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双褒义</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的感情色彩完全契合。</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奋起直追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（中性偏褒，指努力追赶）与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迎头赶上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（中性，指追上目标），前者偏褒、后者中性，未形成</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双褒义</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的一致倾向，与题干不符，排除。</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锁骨、肋骨、坐骨是三种不同的人体骨骼，三者为并列关系。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项：头脑由头发、头皮、肌肉、骨骼和脑体组成，后两词均与第一词构成组成关系，与题干逻辑关系不一致，排除；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项：腹腔、口腔、鼻腔是三种不同的人体部位，三者为并列关系，与题干逻辑关系一致，保留；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项：大肠是消化管的下段，可分为盲肠、阑尾、结肠、直肠和肛管</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部分，第一词与第三词为并列关系，且均与第二词构成组成关系，与题干逻辑关系不一致，排除；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项：颈椎、胸椎、腰椎是三种不同的椎骨，三者为并列关系，与题干逻辑关系一致，保留。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两项，题干中锁骨、肋骨、坐骨所在的位置依次为从上到下，</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项中腹腔、口腔、鼻腔所在的位置依次为从下到上，而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项中颈椎、胸椎、腰椎所在的位置依次为从上到下，因此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唐装和西装是两种不同的服装，后两词为并列关系，且均与第一词构成种属关系。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项：牙刷和牙膏是刷牙时配套使用的工具，后两词为配套使用关系，与题干逻辑关系不一致，排除；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项：豪车、赛车和轿车是从不同的划分角度命名的汽车，三者互为交叉关系，与题干逻辑关系不一致，排除；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项：有的国旗是红旗，有的国旗不是红旗，有的红旗是国旗，有的红旗不是国旗，后两词为交叉关系，与题干逻辑关系不一致，排除；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项：太极拳和咏春拳是两种不同的武术，后两词为并列关系，且均与第一词构成种属关系，与题干逻辑关系一致，当选。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解析：判断题干词语间逻辑关系。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热传递是物理学上的一个物理现象，是指由于温度差引起的热能传递现象，热传递主要存在三种基本形式：热传导、热辐射和热对流。热传导和热辐射为并列关系，分别与热传递构成种属关系。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判断选项词语间逻辑关系。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项：隔离和冷却是两种不同的灭火方式，二者为并列关系，与题干逻辑关系不一致，排除；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混合物是指由两种或两种以上的单质或化合物混合而成的物质，化合物是指由两种或两种以上不同元素组成的纯净物，纯净物是指由一种单质或一种化合物组成的聚合物。混合物与纯净物为并列关系，化合物与纯净物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撒播是指把作物的种子均匀地撒在地里，必要时进行覆土的播种方式，条播是指沿着一条浅犁沟撒布种子的播种方式。撒播和条播是两种不同的播种方式，二者为并列关系，分别与播种构成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项：举例子和作比较是写说明文采用的两种不同的写作手法，二者为并列关系，分别与说明文构成对应关系，与题干逻辑关系不一致，排除。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缘木求鱼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指爬上树去找鱼，比喻行事的方向、方法不对，一定达不到目的，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事与愿违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指事情的发展与主观愿望相反，二者无明显逻辑关系；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抽薪止沸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意思是抽掉锅底下的柴火，使锅里的水不再翻滚，比喻从根本上解决问题，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抱薪救火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比喻因为方法不对，虽然有心消灭祸患，结果反而使祸患扩大，二者是反义关系，前后逻辑关系不一致，排除；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缘木求鱼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指爬上树去找鱼，比喻行事的方向、方法不对，一定达不到目的，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南辕北辙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指心里想往南去，却驾车往北走，比喻行动和目的相反，二者无明显逻辑关系；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通宵达旦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指的是从入夜直到天亮，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抱薪救火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比喻因为方法不对，虽然有心消灭祸患，结果反而使祸患扩大，二者无明显逻辑关系，前后逻辑关系不一致，排除；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缘木求鱼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指爬上树去找鱼，比喻行事的方向、方法不对，一定达不到目的，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刻舟求剑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比喻看问题做事情死板不灵活，不知情随势变，二者是近义关系；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纵风止燎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指的是用鼓风的方法灭火，比喻本欲消弭其事，却反而助长其声势，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抱薪救火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比喻因为方法不对，虽然有心消灭祸患，结果反而使祸患扩大，二者是近义关系，前后逻辑关系一致，当选；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缘木求鱼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指爬上树去找鱼，比喻行事的方向、方法不对，一定达不到目的，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扬汤止沸</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指把锅里烧的沸水舀起来再倒回去，想叫它不沸腾，比喻办法不对头，不能从根本上解决问题，二者是近义关系；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凿壁偷光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原指西汉匡衡凿穿墙壁引邻舍之烛光读书，后用来形容家贫而读书刻苦，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抱薪救火</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比喻因为方法不对，虽然有心消灭祸患，结果反而使祸患扩大，二者无明显逻辑关系，前后逻辑关系不一致，排除。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解析：逐一代入选项。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数字经济是以新一代信息技术为依托的一种新经济形态，数字经济一定需要利用信息工具，二者为必然利用的对应关系；家用电器可能需要利用人工智能，二者为或然利用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项：数字经济一定需要利用信息技术，二者为必然利用的对应关系；无人驾驶一定需要利用人工智能，二者为必然利用的对应关系，前后逻辑关系一致，当选；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项：数字经济一定需要利用数字资源，二者为必然利用的对应关系；现代农业可能需要利用人工智能，二者为或然利用的对应关系，前后逻辑关系不一致，排除；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项：数字经济的发展导致了数字货币的产生，二者为产物的对应关系；远程医疗可能需要利用人工智能，二者为或然利用的对应关系，前后逻辑关系不一致，排除。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论点：水源变化是形成多个古城址的原因。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本题只有论点，没有论据，加强优先考虑补充论据，也可以通过解释原因或举具体例子加强。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项：该项讨论的是河西走廊部分地区每年的刮风情况，而论点讨论的是水源变化是否是形成多个古城址的原因，话题不一致，无法加强，排除；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项：该项讨论的是水量减少会引起耕地沙化，人们就会寻找新的绿洲再建一座城，所以一旦水源变化，那么就要换新城址，解释了为什么水源变化是形成多个古城址的原因，补充论据，可以加强，当选；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项：该项讨论的是在</a:t>
            </a:r>
            <a:r>
              <a:rPr lang="en-US" altLang="zh-CN" sz="1200" kern="1200" dirty="0">
                <a:solidFill>
                  <a:schemeClr val="tx1"/>
                </a:solidFill>
                <a:effectLst/>
                <a:latin typeface="+mn-lt"/>
                <a:sym typeface="+mn-ea"/>
              </a:rPr>
              <a:t>1000</a:t>
            </a:r>
            <a:r>
              <a:rPr lang="zh-CN" altLang="en-US" sz="1200" kern="1200" dirty="0">
                <a:solidFill>
                  <a:schemeClr val="tx1"/>
                </a:solidFill>
                <a:effectLst/>
                <a:latin typeface="+mn-lt"/>
                <a:sym typeface="+mn-ea"/>
              </a:rPr>
              <a:t>多年中，河西走廊骆驼城地下水位的变化，但是不明确其他城址的水源变化，无法判断水源变化是否是形成多个古城址的原因，为不明确项，无法加强，排除；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项：该项讨论的是在河西走廊，古城都是依水而建，说明河西走廊的古城都坐落在水源的附近，但是无法判断水源变化是否是形成多个古城址的原因，为不明确项，无法加强，排除。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论点：荔枝难以保鲜是因为果实的呼吸强度很高，导致果实品质急剧下降。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本题只有论点没有论据，加强优先考虑补充论据，即解释原因或举例子。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项：该项讨论的是荔枝的可食用部位是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假果皮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以及外皮失水时的情况，但外皮失水与论点中果实的呼吸强度无明确关联，话题不一致，无法加强，排除；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项：该项讨论的是荔枝离枝后会继续分解糖分，以及分别在氧气充足时和氧气不足时的糖分转化情况，说明荔枝的果实确实存在呼吸作用，补充论据，可以加强，当选；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项：该项讨论的是荔枝自身不断产生的乙烯会导致其变质，但乙烯的产生与论点中果实的呼吸强度无明确关联，话题不一致，无法加强，排除；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项：该项讨论的是荔枝花能产生花蜜，与论点中果实的呼吸强度完全无关，话题不一致，无法加强，排除。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论点：地中海膳食和得舒膳食模式能保护老年人的认知能力。</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论据：绿叶蔬菜、鱼类和全谷物是这两种膳食模式强调要充分摄入的三类核心食物。此外，还要严格限制油炸、高盐、甜食饮料等，因为它们不利于预防肥胖和三高，而这些则都是加剧认知退化的重要因素。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本题论点和论据都在说地中海膳食和得舒膳食模式与老年人认知之间的关系，二者话题一致，加强优先考虑补充论据。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项：该项说的是蔬果总量高的老年人认知能力保持得较好，但论点中的地中海膳食和得舒膳食模式并没有强调摄入的蔬果总量要高，话题不一致，无法加强，排除；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项：该项说的是地中海膳食、得舒膳食等饮食模式有利于延缓认知退化，但没有详细展开说明这两种饮膳食模式如何延缓认知退化，只是简单对论点进行重复，可以加强，保留；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项：该项说的是预防脑力衰老不能仅靠摄入营养素或改变整体的膳食模式，而论点说的是地中海膳食和得舒膳食模式能否保护老年人的认知能力，话题不一致，无法加强，排除；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项：该项说的是全谷物、绿叶蔬菜、鱼类三种食物分别可以控制血糖、改善血脂、易被消化，说明按照论点中的两种膳食模式摄入的三类核心食物可以帮助控制三高（高血压、高血糖、高血脂），而论据中提到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三高是加剧认知退化的重要因素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，这表明地中海膳食和得舒膳食模式确实能延缓认知退化、保护老年人的认知能力，解释原因，可以加强，保留。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项只是重复论点，而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项解释说明了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膳食模式中的三类核心食物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三高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之间的关系，是对论证逻辑的补充，加强力度强于简单重复论点，故</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项更为合适。</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29.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论点：水在很大程度上引发并助长了火山爆发，岩浆的含水量越多，岩浆上升得越快，喷发就越猛烈。此时，岩浆的浮力不再是岩浆喷发的关键，岩浆中越多的水分含量才意味着越多的气泡和潜在更猛烈的喷发。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项：该项说的是因为岩浆浮力更大，所以岩浆能上升，强调了浮力对岩浆上升的重要性，而论点说的是岩浆的含水量越多则岩浆喷发得越猛烈，浮力并不是岩浆喷发的关键，削弱论点，无法加强，排除；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项：该项说的是除水之外的浮力对岩浆喷发的影响，而论点讨论的是岩浆的含水量对岩浆喷发的影响，为无关项，无法加强，排除；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项：该项说的是水和岩浆的混合物有时会导致岩浆上升缓慢，而论点说的是岩浆的含水量越多则岩浆喷发得越猛烈，削弱论点，无法加强，排除；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项：该项说的是水和岩浆的混合物在上升到地表附近后会因为压力下降形成气泡，气泡迅速膨胀导致岩浆喷射，解释了水越多就意味着气泡越多，进而会造成岩浆的猛烈喷发，补充论据，可以加强，当选。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论点：加快发展长租房市场是我国解决住房难题的一剂良药。</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论据：某省</a:t>
            </a:r>
            <a:r>
              <a:rPr lang="en-US" altLang="zh-CN" sz="1200" kern="1200" dirty="0">
                <a:solidFill>
                  <a:schemeClr val="tx1"/>
                </a:solidFill>
                <a:effectLst/>
                <a:latin typeface="+mn-lt"/>
                <a:sym typeface="+mn-ea"/>
              </a:rPr>
              <a:t>2022</a:t>
            </a:r>
            <a:r>
              <a:rPr lang="zh-CN" altLang="en-US" sz="1200" kern="1200" dirty="0">
                <a:solidFill>
                  <a:schemeClr val="tx1"/>
                </a:solidFill>
                <a:effectLst/>
                <a:latin typeface="+mn-lt"/>
                <a:sym typeface="+mn-ea"/>
              </a:rPr>
              <a:t>年的长租房成交量呈不断上涨的趋势，排在全国前列，成交总量超过</a:t>
            </a:r>
            <a:r>
              <a:rPr lang="en-US" altLang="zh-CN" sz="1200" kern="1200" dirty="0">
                <a:solidFill>
                  <a:schemeClr val="tx1"/>
                </a:solidFill>
                <a:effectLst/>
                <a:latin typeface="+mn-lt"/>
                <a:sym typeface="+mn-ea"/>
              </a:rPr>
              <a:t>3000</a:t>
            </a:r>
            <a:r>
              <a:rPr lang="zh-CN" altLang="en-US" sz="1200" kern="1200" dirty="0">
                <a:solidFill>
                  <a:schemeClr val="tx1"/>
                </a:solidFill>
                <a:effectLst/>
                <a:latin typeface="+mn-lt"/>
                <a:sym typeface="+mn-ea"/>
              </a:rPr>
              <a:t>套，较去年增长超过</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，有效解决了新市民、青年人等群体的住房难题。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本题的论点和论据均在讨论发展长租房能有效解决住房难题，二者话题一致，削弱优先考虑削弱论点。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项：该项说的是长租房市场缺乏有效监管，论点说的是发展长租房能有效解决住房难题，话题不一致，无法削弱，排除；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项：该项说的是我国长租房市场的规模比较大，论点说的是发展长租房能有效解决住房难题，话题不一致，无法削弱，排除；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项：该项说的是长租房在一二线城市难以推广，说明发展长租房无法解决我国一二线城市的住房难题，削弱论点，可以削弱，当选；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项：该项说的是我国租赁人口多、占流动人口的比例大，说明我国租房需求大，需要发展租赁市场，补充论据，无法削弱，排除。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论点：人类的记忆并不是固定的，而是根据之后获取的信息而变化。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论据：让两组被试者看同一张交通事故的照片，并询问有关车速的问题。第二组的问题是让人想到撞击非常猛烈的表达方式。一周后，再询问被试者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汽车的挡风玻璃是否撞碎了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（实际上并没有撞碎）。结果显示，回答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的人，第二组的比例比第一组多两倍以上。</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本题论据是用实验表明回答不同的问题对人的记忆力存在影响，论点是基于此得出的结论，二者话题一致，削弱优先考虑削弱论点，且论据是对比实验，也可指出实验起点不一致或实验不可靠。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项：该项指出两组被试者的人数存在差异，但实验对比的是各组中回答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的比例，与各组被试者的人数无关，为无关项，无法削弱，排除；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项：该项指出第二组被试者的记忆力本来就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偏弱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，说明两组被试者的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记忆力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本身就存在差异，即实验起点不一致，可以削弱，当选；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项：该项指出时隔一周再询问的合理性</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有待斟酌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，不明确时隔一周再询问对被试者的回答是否会产生影响，为不明确项，无法削弱，排除；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项：该项指出两组被试者在认知水平上没有差距，说明实验起点一致，为加强项，无法削弱，排除。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论点：当人们穿上一双鞋尖向上翘起的鞋时，跖趾关节会顺着鞋尖翘起的弧度向上翘起，产生相似的效果（即会抵消脚纵弓承受的一部分压力，从而让双脚在前进中更加稳定）。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论据：当跖趾关节向上弯曲时，连接着脚趾骨和跟骨的足底腱膜会变得更加紧绷，产生一个向上的力，来抵消脚纵弓承受的一部分压力，从而让双脚在前进中更加稳定。</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本题论点和论据均在说当跖趾关节向上弯曲时，可以让双脚在前进中更加稳定，论点论据话题一致，削弱可以考虑削弱论点和削弱论据。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项：指出具有足弓支持、缓冲等作用的鞋出现的时间并不长，但论点讨论的是鞋尖翘度导致的跖趾关节向上弯曲能否让双脚在前进中更加稳定，话题不一致，不能削弱，排除；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项：指出脚发力过程中，鞋尖翘度会限制跖趾关节的活动，但论点讨论的是鞋尖翘度导致的跖趾关节向上弯曲能否让双脚在前进中更加稳定，话题不一致，不能削弱，排除；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项：指出穿上鞋尖有翘度的鞋行走感觉更轻盈是由于脚纵弓承受的压力减少所导致的，说明当跖趾关节向上弯曲时，会抵消脚纵弓承受的一部分压力，为加强项，不能削弱，排除；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项：指出跖趾关节向上弯曲产生的向上力所抵消的脚纵弓承受的压力十分微弱，对人类稳定行走的影响不大，削弱论据，当选。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解析：日常结论题，根据题干信息逐一分析选项。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项：根据第四句话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肌苷转运蛋白能将肌苷转至细胞内降低了细胞外的肌苷浓度，致使肌苷的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促燃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作用大打折扣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肌苷转运蛋白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可以调节产热过程，而不是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肌苷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，偷换概念，无法推出，排除；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项：根据第一句话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棕色脂肪细胞会将能量以热的形式消耗掉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可知，没有提及是否能维持体温，无中生有，无法推出，排除；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项：根据第一句话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棕色脂肪细胞会将能量以热的形式消耗掉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和第三句话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接收到肌苷分子信号后，不仅周围的棕色细胞被激活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可知，刺激棕色细胞后，棕色细胞会将能量燃烧，可以推出，当选；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肌苷转运蛋白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，但该项讨论的是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转运蛋白</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，因此无法推出，排除。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解析：找出论点和论据。</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论点：研究人员可以从患者身上采集淋巴细胞，对其进行基因组编辑，再把编辑后的淋巴细胞送回患者体内，达到治疗效果。</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论据：艾滋病</a:t>
            </a:r>
            <a:r>
              <a:rPr lang="en-US" altLang="zh-CN" sz="1200" kern="1200" dirty="0">
                <a:solidFill>
                  <a:schemeClr val="tx1"/>
                </a:solidFill>
                <a:effectLst/>
                <a:latin typeface="+mn-lt"/>
                <a:sym typeface="+mn-ea"/>
              </a:rPr>
              <a:t>(AIDS</a:t>
            </a:r>
            <a:r>
              <a:rPr lang="zh-CN" altLang="en-US" sz="1200" kern="1200" dirty="0">
                <a:solidFill>
                  <a:schemeClr val="tx1"/>
                </a:solidFill>
                <a:effectLst/>
                <a:latin typeface="+mn-lt"/>
                <a:sym typeface="+mn-ea"/>
              </a:rPr>
              <a:t>）是具有免疫功能的淋巴细胞感染了艾滋病病毒</a:t>
            </a:r>
            <a:r>
              <a:rPr lang="en-US" altLang="zh-CN" sz="1200" kern="1200" dirty="0">
                <a:solidFill>
                  <a:schemeClr val="tx1"/>
                </a:solidFill>
                <a:effectLst/>
                <a:latin typeface="+mn-lt"/>
                <a:sym typeface="+mn-ea"/>
              </a:rPr>
              <a:t>(HIV</a:t>
            </a:r>
            <a:r>
              <a:rPr lang="zh-CN" altLang="en-US" sz="1200" kern="1200" dirty="0">
                <a:solidFill>
                  <a:schemeClr val="tx1"/>
                </a:solidFill>
                <a:effectLst/>
                <a:latin typeface="+mn-lt"/>
                <a:sym typeface="+mn-ea"/>
              </a:rPr>
              <a:t>）造成的，在感染淋巴细胞时，</a:t>
            </a:r>
            <a:r>
              <a:rPr lang="en-US" altLang="zh-CN" sz="1200" kern="1200" dirty="0">
                <a:solidFill>
                  <a:schemeClr val="tx1"/>
                </a:solidFill>
                <a:effectLst/>
                <a:latin typeface="+mn-lt"/>
                <a:sym typeface="+mn-ea"/>
              </a:rPr>
              <a:t>HIV</a:t>
            </a:r>
            <a:r>
              <a:rPr lang="zh-CN" altLang="en-US" sz="1200" kern="1200" dirty="0">
                <a:solidFill>
                  <a:schemeClr val="tx1"/>
                </a:solidFill>
                <a:effectLst/>
                <a:latin typeface="+mn-lt"/>
                <a:sym typeface="+mn-ea"/>
              </a:rPr>
              <a:t>通过识别淋巴细胞表面一种名为</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的蛋白质，以此为记号并进行侵入。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本题提问为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需要补充的前提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，优先考虑搭桥和必要条件。论据讨论的是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淋巴细胞表面的</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，论点讨论的是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对淋巴细胞进行基因组编辑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，二者话题不一致，优先考虑搭桥，即建立</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基因组编辑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之间的关系。</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逐一分析选项。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基因是艾滋病相关的基因，也就说明论据中所提到的艾滋病病毒会通过识别</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来侵入是真的，补充论据，可以加强，保留；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项：患者的淋巴细胞可以由直系亲属的淋巴细胞代替，但是不知道对淋巴细胞进行编辑了之后，是否能够治疗艾滋病，话题不一致，无法加强，排除；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HIV</a:t>
            </a:r>
            <a:r>
              <a:rPr lang="zh-CN" altLang="en-US" sz="1200" kern="1200" dirty="0">
                <a:solidFill>
                  <a:schemeClr val="tx1"/>
                </a:solidFill>
                <a:effectLst/>
                <a:latin typeface="+mn-lt"/>
                <a:sym typeface="+mn-ea"/>
              </a:rPr>
              <a:t>面对丧失功能的</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，会找另一种细胞进行侵入，说的是</a:t>
            </a:r>
            <a:r>
              <a:rPr lang="en-US" altLang="zh-CN" sz="1200" kern="1200" dirty="0">
                <a:solidFill>
                  <a:schemeClr val="tx1"/>
                </a:solidFill>
                <a:effectLst/>
                <a:latin typeface="+mn-lt"/>
                <a:sym typeface="+mn-ea"/>
              </a:rPr>
              <a:t>HIV</a:t>
            </a:r>
            <a:r>
              <a:rPr lang="zh-CN" altLang="en-US" sz="1200" kern="1200" dirty="0">
                <a:solidFill>
                  <a:schemeClr val="tx1"/>
                </a:solidFill>
                <a:effectLst/>
                <a:latin typeface="+mn-lt"/>
                <a:sym typeface="+mn-ea"/>
              </a:rPr>
              <a:t>对人体的攻击，但是论点讨论的是通过基因组编辑是否可以治疗艾滋病，话题不一致，无法加强，排除；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项：基因组编辑技术可以使</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基因丧失功能，题干中提到</a:t>
            </a:r>
            <a:r>
              <a:rPr lang="en-US" altLang="zh-CN" sz="1200" kern="1200" dirty="0">
                <a:solidFill>
                  <a:schemeClr val="tx1"/>
                </a:solidFill>
                <a:effectLst/>
                <a:latin typeface="+mn-lt"/>
                <a:sym typeface="+mn-ea"/>
              </a:rPr>
              <a:t>HIV</a:t>
            </a:r>
            <a:r>
              <a:rPr lang="zh-CN" altLang="en-US" sz="1200" kern="1200" dirty="0">
                <a:solidFill>
                  <a:schemeClr val="tx1"/>
                </a:solidFill>
                <a:effectLst/>
                <a:latin typeface="+mn-lt"/>
                <a:sym typeface="+mn-ea"/>
              </a:rPr>
              <a:t>是通过识别</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来侵入，而现在基因组编辑技术可以使</a:t>
            </a:r>
            <a:r>
              <a:rPr lang="en-US" altLang="zh-CN" sz="1200" kern="1200" dirty="0">
                <a:solidFill>
                  <a:schemeClr val="tx1"/>
                </a:solidFill>
                <a:effectLst/>
                <a:latin typeface="+mn-lt"/>
                <a:sym typeface="+mn-ea"/>
              </a:rPr>
              <a:t>CCR5</a:t>
            </a:r>
            <a:r>
              <a:rPr lang="zh-CN" altLang="en-US" sz="1200" kern="1200" dirty="0">
                <a:solidFill>
                  <a:schemeClr val="tx1"/>
                </a:solidFill>
                <a:effectLst/>
                <a:latin typeface="+mn-lt"/>
                <a:sym typeface="+mn-ea"/>
              </a:rPr>
              <a:t>基因丧失功能，因此</a:t>
            </a:r>
            <a:r>
              <a:rPr lang="en-US" altLang="zh-CN" sz="1200" kern="1200" dirty="0">
                <a:solidFill>
                  <a:schemeClr val="tx1"/>
                </a:solidFill>
                <a:effectLst/>
                <a:latin typeface="+mn-lt"/>
                <a:sym typeface="+mn-ea"/>
              </a:rPr>
              <a:t>HIV</a:t>
            </a:r>
            <a:r>
              <a:rPr lang="zh-CN" altLang="en-US" sz="1200" kern="1200" dirty="0">
                <a:solidFill>
                  <a:schemeClr val="tx1"/>
                </a:solidFill>
                <a:effectLst/>
                <a:latin typeface="+mn-lt"/>
                <a:sym typeface="+mn-ea"/>
              </a:rPr>
              <a:t>无法感染淋巴细胞，达到治疗效果，为搭桥项，可以加强，保留。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项为补充论据，</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项为搭桥，搭桥的力度大于补充论据，</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35.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解析：分析题干条件。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）赵和孙不在一起值班；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）周和孙不在一起值班；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）郑下午值班赵</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李下午值班；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）钱上午值班</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en-US"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郑下午值班；</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）上午</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人值班，下午</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人值班。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根据题干条件进行推理。</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根据条件（</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）可知，赵和孙不在一起值班，周和孙也不在一起值班，那么赵和周在一起值班；结合条件（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），如果郑在下午值班，那么赵和李也在下午值班，此时周也应该在下午值班，下午值班的人数为</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，与条件（</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）矛盾，因此郑一定在上午值班；再结合条件（</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），钱上午值班或郑下午值班，根据或关系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否一推一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可知，钱一定在上午值班，即钱和郑在上午值班。</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天津</a:t>
            </a:r>
            <a:endPar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①⑤⑥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②③④</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①③⑤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②④⑥</a:t>
            </a:r>
            <a:endParaRPr lang="en-US" altLang="en-US" sz="2000" dirty="0">
              <a:cs typeface="微软雅黑" panose="020B0503020204020204" charset="-122"/>
              <a:sym typeface="+mn-ea"/>
            </a:endParaRPr>
          </a:p>
        </p:txBody>
      </p:sp>
      <p:pic>
        <p:nvPicPr>
          <p:cNvPr id="82" name="图片 81" descr="IMG_256"/>
          <p:cNvPicPr>
            <a:picLocks noChangeAspect="1"/>
          </p:cNvPicPr>
          <p:nvPr/>
        </p:nvPicPr>
        <p:blipFill>
          <a:blip r:embed="rId1"/>
          <a:stretch>
            <a:fillRect/>
          </a:stretch>
        </p:blipFill>
        <p:spPr>
          <a:xfrm>
            <a:off x="3341370" y="1557338"/>
            <a:ext cx="4762500" cy="374332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把下面的六个图形分为两类，使每一类图形都有各自的共同特征或规律，分类正确的一项是：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en-US" altLang="en-US" sz="2000" dirty="0">
                <a:cs typeface="微软雅黑" panose="020B0503020204020204" charset="-122"/>
                <a:sym typeface="+mn-ea"/>
              </a:rPr>
              <a:t>①②③</a:t>
            </a:r>
            <a:r>
              <a:rPr lang="zh-CN" altLang="en-US" sz="2000" dirty="0">
                <a:cs typeface="微软雅黑" panose="020B0503020204020204" charset="-122"/>
                <a:sym typeface="+mn-ea"/>
              </a:rPr>
              <a:t>，</a:t>
            </a:r>
            <a:r>
              <a:rPr lang="en-US" altLang="en-US" sz="2000" dirty="0">
                <a:cs typeface="微软雅黑" panose="020B0503020204020204" charset="-122"/>
                <a:sym typeface="+mn-ea"/>
              </a:rPr>
              <a:t>④⑤⑥</a:t>
            </a:r>
            <a:r>
              <a:rPr lang="en-US" altLang="zh-CN" sz="2000" dirty="0">
                <a:cs typeface="微软雅黑" panose="020B0503020204020204" charset="-122"/>
                <a:sym typeface="+mn-ea"/>
              </a:rPr>
              <a:t>	B.</a:t>
            </a:r>
            <a:r>
              <a:rPr lang="en-US" altLang="en-US" sz="2000" dirty="0">
                <a:cs typeface="微软雅黑" panose="020B0503020204020204" charset="-122"/>
                <a:sym typeface="+mn-ea"/>
              </a:rPr>
              <a:t>①②⑤</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en-US" altLang="en-US" sz="2000" dirty="0">
                <a:cs typeface="微软雅黑" panose="020B0503020204020204" charset="-122"/>
                <a:sym typeface="+mn-ea"/>
              </a:rPr>
              <a:t>①③⑥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②④⑤</a:t>
            </a:r>
            <a:r>
              <a:rPr lang="en-US" altLang="zh-CN" sz="2000" dirty="0">
                <a:cs typeface="微软雅黑" panose="020B0503020204020204" charset="-122"/>
                <a:sym typeface="+mn-ea"/>
              </a:rPr>
              <a:t>	D.</a:t>
            </a:r>
            <a:r>
              <a:rPr lang="en-US" altLang="en-US" sz="2000" dirty="0">
                <a:cs typeface="微软雅黑" panose="020B0503020204020204" charset="-122"/>
                <a:sym typeface="+mn-ea"/>
              </a:rPr>
              <a:t>①④⑥</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②③⑤</a:t>
            </a:r>
            <a:endParaRPr lang="en-US" altLang="en-US" sz="2000" dirty="0">
              <a:cs typeface="微软雅黑" panose="020B0503020204020204" charset="-122"/>
              <a:sym typeface="+mn-ea"/>
            </a:endParaRPr>
          </a:p>
        </p:txBody>
      </p:sp>
      <p:pic>
        <p:nvPicPr>
          <p:cNvPr id="85" name="图片 82" descr="IMG_257"/>
          <p:cNvPicPr>
            <a:picLocks noChangeAspect="1"/>
          </p:cNvPicPr>
          <p:nvPr/>
        </p:nvPicPr>
        <p:blipFill>
          <a:blip r:embed="rId1"/>
          <a:stretch>
            <a:fillRect/>
          </a:stretch>
        </p:blipFill>
        <p:spPr>
          <a:xfrm>
            <a:off x="3258185" y="1464628"/>
            <a:ext cx="4762500" cy="376237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84" name="图片 83" descr="IMG_258"/>
          <p:cNvPicPr>
            <a:picLocks noChangeAspect="1"/>
          </p:cNvPicPr>
          <p:nvPr/>
        </p:nvPicPr>
        <p:blipFill>
          <a:blip r:embed="rId1"/>
          <a:stretch>
            <a:fillRect/>
          </a:stretch>
        </p:blipFill>
        <p:spPr>
          <a:xfrm>
            <a:off x="1283335" y="1928495"/>
            <a:ext cx="8216265" cy="384937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从所给四个选项中，选择最合适的一个填入问号处，使之呈现一定的规律性。</a:t>
            </a:r>
            <a:endParaRPr lang="zh-CN" altLang="en-US" sz="2000" dirty="0">
              <a:cs typeface="微软雅黑" panose="020B0503020204020204" charset="-122"/>
              <a:sym typeface="+mn-ea"/>
            </a:endParaRPr>
          </a:p>
        </p:txBody>
      </p:sp>
      <p:pic>
        <p:nvPicPr>
          <p:cNvPr id="86" name="图片 84" descr="IMG_259"/>
          <p:cNvPicPr>
            <a:picLocks noChangeAspect="1"/>
          </p:cNvPicPr>
          <p:nvPr/>
        </p:nvPicPr>
        <p:blipFill>
          <a:blip r:embed="rId1"/>
          <a:stretch>
            <a:fillRect/>
          </a:stretch>
        </p:blipFill>
        <p:spPr>
          <a:xfrm>
            <a:off x="3639185" y="1458913"/>
            <a:ext cx="3810000" cy="4467225"/>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下列两图分别是从正面和后面观察某个多面体所得的立体图形，下列哪项是其正确的外表面展开图？</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en-US" sz="2000" dirty="0">
              <a:cs typeface="微软雅黑" panose="020B0503020204020204" charset="-122"/>
              <a:sym typeface="+mn-ea"/>
            </a:endParaRPr>
          </a:p>
        </p:txBody>
      </p:sp>
      <p:pic>
        <p:nvPicPr>
          <p:cNvPr id="83" name="图片 85" descr="IMG_260"/>
          <p:cNvPicPr>
            <a:picLocks noChangeAspect="1"/>
          </p:cNvPicPr>
          <p:nvPr/>
        </p:nvPicPr>
        <p:blipFill>
          <a:blip r:embed="rId1"/>
          <a:stretch>
            <a:fillRect/>
          </a:stretch>
        </p:blipFill>
        <p:spPr>
          <a:xfrm>
            <a:off x="286385" y="1957070"/>
            <a:ext cx="6447155" cy="3879215"/>
          </a:xfrm>
          <a:prstGeom prst="rect">
            <a:avLst/>
          </a:prstGeom>
          <a:noFill/>
          <a:ln w="9525">
            <a:noFill/>
          </a:ln>
        </p:spPr>
      </p:pic>
      <p:pic>
        <p:nvPicPr>
          <p:cNvPr id="171" name="图片 76" descr="IMG_258"/>
          <p:cNvPicPr>
            <a:picLocks noChangeAspect="1"/>
          </p:cNvPicPr>
          <p:nvPr/>
        </p:nvPicPr>
        <p:blipFill>
          <a:blip r:embed="rId2"/>
          <a:stretch>
            <a:fillRect/>
          </a:stretch>
        </p:blipFill>
        <p:spPr>
          <a:xfrm>
            <a:off x="7213600" y="2644775"/>
            <a:ext cx="4810760" cy="278511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合同法大多属于缺省规则，当事人可以就同一事项做出不同约定，只有在没有约定时，才把合同法规定填补到合同中。缺省规则包括两种类型：一种是符合当事人预期的正向缺省规则，当事人无需事无巨细地对合同进行约定，只要适用合同法规定就能实现合同目的，有利于节约订立合同的成本；另一种是与当事人预期相悖的反向缺省规则，适用该类缺省规则会产生与合同目的相反的结果，以督促当事人事先对相关事项做出约定。</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根据上述定义，下列属于反向缺省规则的是：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标的数量没有约定的，视为合同没有成立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质量要求没有约定的，按照强制性国家标准履行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价款没有约定的，按照缔约时履行地的市场价格履行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履行方式没有约定的，按照有利于实现合同目的的方式履行</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供应商绿色压力是指企业供应商的环保意识和环保行为对企业绿色创新的影响。它会促使企业显著改进产品生产流程，以减少对自然资源的使用，并在产品生命周期内减少有害物质的释放。研究表明，供应商的绿色环保意识越强，绿色环保行为越主动，就越有可能通过供应链来影响链上企业的绿色创新行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根据上述定义，下列属于供应商绿色压力的是</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随着绿色意识的增强，消费者更愿意选择资源节约和环境友好的产品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随着国家生态建设的推进，企业会更加谨慎地选择自己的下游客户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供应商可以为链上企业提供</a:t>
            </a:r>
            <a:r>
              <a:rPr lang="en-US" altLang="zh-CN" sz="2000" dirty="0">
                <a:cs typeface="微软雅黑" panose="020B0503020204020204" charset="-122"/>
                <a:sym typeface="+mn-ea"/>
              </a:rPr>
              <a:t>“</a:t>
            </a:r>
            <a:r>
              <a:rPr lang="zh-CN" altLang="en-US" sz="2000" dirty="0">
                <a:cs typeface="微软雅黑" panose="020B0503020204020204" charset="-122"/>
                <a:sym typeface="+mn-ea"/>
              </a:rPr>
              <a:t>绿色创新</a:t>
            </a:r>
            <a:r>
              <a:rPr lang="en-US" altLang="zh-CN" sz="2000" dirty="0">
                <a:cs typeface="微软雅黑" panose="020B0503020204020204" charset="-122"/>
                <a:sym typeface="+mn-ea"/>
              </a:rPr>
              <a:t>”</a:t>
            </a:r>
            <a:r>
              <a:rPr lang="zh-CN" altLang="en-US" sz="2000" dirty="0">
                <a:cs typeface="微软雅黑" panose="020B0503020204020204" charset="-122"/>
                <a:sym typeface="+mn-ea"/>
              </a:rPr>
              <a:t>方面的资源和知识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供应商的绿色环保行为倒逼企业进行绿色创新行为</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湖陆风是指湖陆之间相互转换的热力环流现象。入夜以后，陆地降温速度比湖水快，近地面空气变冷变重，而湖水降温慢，温度比陆地高，空气暖而轻，形成上升气流，陆上气流流向湖心形成陆风。太阳升起后，陆地吸热和升温速度比湖水快，直至陆上空气升温形成上升气流，湖面空气流向陆地形成湖风。</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根据上述定义，下列诗句最能体现湖陆风现象的是：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轮台九月风夜吼，一川碎石大如斗，随风满地石乱走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潮没具区薮（</a:t>
            </a:r>
            <a:r>
              <a:rPr lang="en-US" altLang="zh-CN" sz="2000" dirty="0">
                <a:cs typeface="微软雅黑" panose="020B0503020204020204" charset="-122"/>
                <a:sym typeface="+mn-ea"/>
              </a:rPr>
              <a:t>s</a:t>
            </a:r>
            <a:r>
              <a:rPr lang="" altLang="en-US" sz="2000" dirty="0">
                <a:cs typeface="微软雅黑" panose="020B0503020204020204" charset="-122"/>
                <a:sym typeface="+mn-ea"/>
              </a:rPr>
              <a:t>ǒ</a:t>
            </a:r>
            <a:r>
              <a:rPr lang="en-US" altLang="zh-CN" sz="2000" dirty="0">
                <a:cs typeface="微软雅黑" panose="020B0503020204020204" charset="-122"/>
                <a:sym typeface="+mn-ea"/>
              </a:rPr>
              <a:t>u</a:t>
            </a:r>
            <a:r>
              <a:rPr lang="zh-CN" altLang="en-US" sz="2000" dirty="0">
                <a:cs typeface="微软雅黑" panose="020B0503020204020204" charset="-122"/>
                <a:sym typeface="+mn-ea"/>
              </a:rPr>
              <a:t>）</a:t>
            </a:r>
            <a:r>
              <a:rPr lang="zh-CN" altLang="en-US" sz="2000" dirty="0">
                <a:cs typeface="微软雅黑" panose="020B0503020204020204" charset="-122"/>
                <a:sym typeface="+mn-ea"/>
              </a:rPr>
              <a:t>，潦深云梦田。朝随北风去，暮逐南风旋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鸱枭（</a:t>
            </a:r>
            <a:r>
              <a:rPr lang="en-US" altLang="zh-CN" sz="2000" dirty="0">
                <a:cs typeface="微软雅黑" panose="020B0503020204020204" charset="-122"/>
                <a:sym typeface="+mn-ea"/>
              </a:rPr>
              <a:t>ch</a:t>
            </a:r>
            <a:r>
              <a:rPr lang="en-US" altLang="en-US" sz="2000" dirty="0">
                <a:cs typeface="微软雅黑" panose="020B0503020204020204" charset="-122"/>
                <a:sym typeface="+mn-ea"/>
              </a:rPr>
              <a:t>ī</a:t>
            </a:r>
            <a:r>
              <a:rPr lang="en-US" altLang="zh-CN" sz="2000" dirty="0">
                <a:cs typeface="微软雅黑" panose="020B0503020204020204" charset="-122"/>
                <a:sym typeface="+mn-ea"/>
              </a:rPr>
              <a:t> xi</a:t>
            </a:r>
            <a:r>
              <a:rPr lang="en-US" altLang="en-US" sz="2000" dirty="0">
                <a:cs typeface="微软雅黑" panose="020B0503020204020204" charset="-122"/>
                <a:sym typeface="+mn-ea"/>
              </a:rPr>
              <a:t>ā</a:t>
            </a:r>
            <a:r>
              <a:rPr lang="en-US" altLang="zh-CN" sz="2000" dirty="0">
                <a:cs typeface="微软雅黑" panose="020B0503020204020204" charset="-122"/>
                <a:sym typeface="+mn-ea"/>
              </a:rPr>
              <a:t>o</a:t>
            </a:r>
            <a:r>
              <a:rPr lang="zh-CN" altLang="en-US" sz="2000" dirty="0">
                <a:cs typeface="微软雅黑" panose="020B0503020204020204" charset="-122"/>
                <a:sym typeface="+mn-ea"/>
              </a:rPr>
              <a:t>）养子庭树上，曲墙空屋多旋风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鹊飞山月曙，蝉噪野风秋</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正常化偏见，就是指大家对某个事物感到习惯后，就会产生安于现状、不愿意再去尝试新事物的惰性心理。</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根据上述定义，下列不属于正常化偏见的是：</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某些喜欢看西医的病人排斥看中医</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上了年纪的老年人更倾向去菜市场买菜</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只要吃外卖，小张就只使用某平台下单</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当人们试吃样品满意后更有可能进店消费</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磁滞现象指的是磁场把未带磁性的铁磁性物质（如铁、钴、镍及其合金等）磁化，使之带有磁性，但外加磁场去除后，铁磁性物质的磁性也不会马上消除，仍保有磁性的现象。</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根据上述定义，下列属于磁滞现象的是：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当水中溶解了某些铁磁性物质，水在强磁场下流过时，周围金属物体中会产生磁感应现象，金属中有电流流过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由导线将电池、小灯泡、电流表、开关连接成闭合电路，闭合开关时，灯泡亮暗、电流表指针的指向等都会有变化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电饭锅中的温控元件都有设置好的温度值，电饭锅运行达到一定温度后，感温磁钢会消磁，依靠弹簧的反作用力断开电源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把烧红的铁片放置在子午线的方向，使铁分子顺着地球磁场方向排列，达到磁化目的，之后挪动铁片，铁分子仍然按照磁场方向排列</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在统计学中，生态谬误是指用一种高层次的分析单位做调查，却用另一种低层次的分析单位做结论，即运用数据时错误地将整组的汇总结果应用到组内的单位中。</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根据以上定义，下列属于生态谬误的是：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一项调研发现甲地居民的收入普遍比乙地居民的收入更高，由此认为甲地教师的收入高于乙地教师的收入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服务业占比大的区域比服务业占比小的区域更容易吸引高层次人才，由此认为服务业占比大的区域高层次人才更多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某杂志开设了读者意见反馈邮箱，几天后收到</a:t>
            </a:r>
            <a:r>
              <a:rPr lang="en-US" altLang="zh-CN" sz="2000" dirty="0">
                <a:cs typeface="微软雅黑" panose="020B0503020204020204" charset="-122"/>
                <a:sym typeface="+mn-ea"/>
              </a:rPr>
              <a:t>28</a:t>
            </a:r>
            <a:r>
              <a:rPr lang="zh-CN" altLang="en-US" sz="2000" dirty="0">
                <a:cs typeface="微软雅黑" panose="020B0503020204020204" charset="-122"/>
                <a:sym typeface="+mn-ea"/>
              </a:rPr>
              <a:t>个不喜欢时装栏目的反馈邮件。某编辑认为有读者不喜欢，就一定有读者喜欢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某公司规定，上一年工资数额在公司前</a:t>
            </a:r>
            <a:r>
              <a:rPr lang="en-US" altLang="zh-CN" sz="2000" dirty="0">
                <a:cs typeface="微软雅黑" panose="020B0503020204020204" charset="-122"/>
                <a:sym typeface="+mn-ea"/>
              </a:rPr>
              <a:t>6%</a:t>
            </a:r>
            <a:r>
              <a:rPr lang="zh-CN" altLang="en-US" sz="2000" dirty="0">
                <a:cs typeface="微软雅黑" panose="020B0503020204020204" charset="-122"/>
                <a:sym typeface="+mn-ea"/>
              </a:rPr>
              <a:t>的要降低工资，小王上一年的工资低于公司的平均水平，可以推出小王今年的工资可能降低</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蒸发冷却是一种通过水的蒸发来冷却空气的过程，即水会吸收空气的热量而蒸发从而冷却空气。空气越干燥，其容纳水分的能力越强，当用水喷淋空气时，则空气温度的降低幅度越大。如果采用温度更低的自来水或井水，其空气的降温效果更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根据上述定义，下列未体现蒸发冷却的是</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用喷水壶装满冰凉刺骨的井水，然后喷淋房屋周边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在逆风处设置风井，使空气沿风井流入楼内喷泉处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沿海国家在风口建造风车，利用空气流动驱动扇叶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将冷水输送到屋顶，冷水从房檐四周流下形成水帘</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肿瘤侵犯，指的是肿块发展后引起相邻部位的反应和变化。肿瘤浸润，是指肿瘤细胞发展扩大透过原发部位的浆膜层转移到相邻组织和器官。肿瘤转移，指肿瘤由原发器官通过血液、淋巴等方式到达另一个远处器官。</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根据上述定义，下列属于肿瘤侵犯的是：</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宋阿姨近期体检发现患有乳腺癌，医生告知癌细胞已到达胸壁组织</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经检查，老赵的肺部有五个毛玻璃结节，医生提醒他要定期复查</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老王的胰腺肿瘤经过三个月的无效治疗已经蔓延到肝脏</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老张肺部的肿块碰触心脏薄膜，引起心包积液</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生物学重复是指对不同生物个体或者不同生物群体的样品采用相同的处理方式进行实验。技术重复则是指对同一样品进行的多次相同实验。</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根据上述定义，下列属于生物学重复的是：</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采集小王的血样一次并采用三种不同方式分别进行一次检测</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采用三种不同方式对分三次采集的小王血样各进行一次检测</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采集小王、小李、小张三人的血样并用同样方式分别进行一次检测</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采集小王、小李、小张三人的血样混合后用三种方式进行三次检测</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45770" y="708025"/>
            <a:ext cx="8601710" cy="5526405"/>
          </a:xfrm>
          <a:prstGeom prst="rect">
            <a:avLst/>
          </a:prstGeom>
          <a:noFill/>
        </p:spPr>
        <p:txBody>
          <a:bodyPr wrap="square" rtlCol="0" anchor="t">
            <a:noAutofit/>
          </a:bodyPr>
          <a:p>
            <a:pPr indent="0" fontAlgn="auto">
              <a:lnSpc>
                <a:spcPct val="130000"/>
              </a:lnSpc>
            </a:pPr>
            <a:r>
              <a:rPr lang="zh-CN" altLang="en-US" sz="2000" dirty="0">
                <a:cs typeface="微软雅黑" panose="020B0503020204020204" charset="-122"/>
                <a:sym typeface="+mn-ea"/>
              </a:rPr>
              <a:t>相变指的是物质微观粒子在不同聚集状态间的转变。在等温等压条件下，从一相转变为另一相时吸收或放出的热量是相变潜热。第一类相变是指伴有相变潜热和体积突变的相变。第二类相变则不伴有相变潜热和体积突变，但有热容跃变。</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根据上述定义，下列属于第一类相变的是：</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热致变色印刷工艺采用遇热可产生色变的物质，如金属碘化物、络合物等，制成油墨在印品上形成色变层</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在</a:t>
            </a:r>
            <a:r>
              <a:rPr lang="en-US" altLang="zh-CN" sz="2000" dirty="0">
                <a:cs typeface="微软雅黑" panose="020B0503020204020204" charset="-122"/>
                <a:sym typeface="+mn-ea"/>
              </a:rPr>
              <a:t>1</a:t>
            </a:r>
            <a:r>
              <a:rPr lang="zh-CN" altLang="en-US" sz="2000" dirty="0">
                <a:cs typeface="微软雅黑" panose="020B0503020204020204" charset="-122"/>
                <a:sym typeface="+mn-ea"/>
              </a:rPr>
              <a:t>个大气压</a:t>
            </a:r>
            <a:r>
              <a:rPr lang="en-US" altLang="zh-CN" sz="2000" dirty="0">
                <a:cs typeface="微软雅黑" panose="020B0503020204020204" charset="-122"/>
                <a:sym typeface="+mn-ea"/>
              </a:rPr>
              <a:t>0</a:t>
            </a:r>
            <a:r>
              <a:rPr lang="en-US" altLang="en-US" sz="2000" dirty="0">
                <a:cs typeface="微软雅黑" panose="020B0503020204020204" charset="-122"/>
                <a:sym typeface="+mn-ea"/>
              </a:rPr>
              <a:t>℃</a:t>
            </a:r>
            <a:r>
              <a:rPr lang="zh-CN" altLang="en-US" sz="2000" dirty="0">
                <a:cs typeface="微软雅黑" panose="020B0503020204020204" charset="-122"/>
                <a:sym typeface="+mn-ea"/>
              </a:rPr>
              <a:t>的情况下，</a:t>
            </a:r>
            <a:r>
              <a:rPr lang="en-US" altLang="zh-CN" sz="2000" dirty="0">
                <a:cs typeface="微软雅黑" panose="020B0503020204020204" charset="-122"/>
                <a:sym typeface="+mn-ea"/>
              </a:rPr>
              <a:t>1</a:t>
            </a:r>
            <a:r>
              <a:rPr lang="zh-CN" altLang="en-US" sz="2000" dirty="0">
                <a:cs typeface="微软雅黑" panose="020B0503020204020204" charset="-122"/>
                <a:sym typeface="+mn-ea"/>
              </a:rPr>
              <a:t>公斤的冰转变成同温度的水，要吸收</a:t>
            </a:r>
            <a:r>
              <a:rPr lang="en-US" altLang="zh-CN" sz="2000" dirty="0">
                <a:cs typeface="微软雅黑" panose="020B0503020204020204" charset="-122"/>
                <a:sym typeface="+mn-ea"/>
              </a:rPr>
              <a:t>79.6</a:t>
            </a:r>
            <a:r>
              <a:rPr lang="zh-CN" altLang="en-US" sz="2000" dirty="0">
                <a:cs typeface="微软雅黑" panose="020B0503020204020204" charset="-122"/>
                <a:sym typeface="+mn-ea"/>
              </a:rPr>
              <a:t>千卡的热量，与此同时体积亦收缩</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含羞草叶茎部的叶褥含有很多水分，当叶片振动时，叶褥中的水分流向其它地方，叶片逐渐干瘪蜷缩到一起</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核磁共振成像是通过使人体本身的磁场和仪器自身的磁性物质相互作用形成检测显影，进而查看到病变的位置</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1318895" y="701675"/>
            <a:ext cx="774573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伸延：延伸</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登攀：攀登</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喜欢：欢喜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生产：产生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等次：次等</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1444625" y="701675"/>
            <a:ext cx="762000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兵符：信物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七律：绝句</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汉字：偏旁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干戈：战争</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寒露：节气</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1482090" y="701675"/>
            <a:ext cx="758253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牡丹花：牵牛花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金枪鱼：八爪鱼</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东北菜：黄花菜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布谷鸟：啄木鸟</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变色龙：霸王龙</a:t>
            </a: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1549400" y="701675"/>
            <a:ext cx="7515225"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虫害：植物受损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雾霾：慢性肺炎</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除名：查无此人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赤潮：海水污染</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失眠：辗转反侧</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政通人和：国泰民安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深思熟虑：不假思索</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星罗棋布：漫山遍野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心领神会：心照不宣</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奋起直追：迎头赶上</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锁骨：肋骨：坐骨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头脑：头皮：头发</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腹腔：口腔：鼻腔</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盲肠：大肠：直肠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颈椎：胸椎：腰椎</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665480"/>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服装：唐装：西装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刷牙：牙刷：牙膏</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豪车：赛车：轿车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旗帜：国旗：红旗</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武术：太极拳：咏春拳</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热传递：热传导：热辐射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隔离：冷却：灭火</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混合物：化合物：纯净物</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播种：撒播：条播</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说明文：举例子：作比较</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缘木求鱼</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抱薪救火</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事与愿违</a:t>
            </a:r>
            <a:r>
              <a:rPr lang="en-US" altLang="zh-CN" sz="2000" dirty="0">
                <a:cs typeface="微软雅黑" panose="020B0503020204020204" charset="-122"/>
                <a:sym typeface="+mn-ea"/>
              </a:rPr>
              <a:t> </a:t>
            </a:r>
            <a:r>
              <a:rPr lang="zh-CN" altLang="en-US" sz="2000" dirty="0">
                <a:cs typeface="微软雅黑" panose="020B0503020204020204" charset="-122"/>
                <a:sym typeface="+mn-ea"/>
              </a:rPr>
              <a:t>抽薪止沸</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南辕北辙</a:t>
            </a:r>
            <a:r>
              <a:rPr lang="en-US" altLang="zh-CN" sz="2000" dirty="0">
                <a:cs typeface="微软雅黑" panose="020B0503020204020204" charset="-122"/>
                <a:sym typeface="+mn-ea"/>
              </a:rPr>
              <a:t> </a:t>
            </a:r>
            <a:r>
              <a:rPr lang="zh-CN" altLang="en-US" sz="2000" dirty="0">
                <a:cs typeface="微软雅黑" panose="020B0503020204020204" charset="-122"/>
                <a:sym typeface="+mn-ea"/>
              </a:rPr>
              <a:t>通宵达旦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刻舟求剑</a:t>
            </a:r>
            <a:r>
              <a:rPr lang="en-US" altLang="zh-CN" sz="2000" dirty="0">
                <a:cs typeface="微软雅黑" panose="020B0503020204020204" charset="-122"/>
                <a:sym typeface="+mn-ea"/>
              </a:rPr>
              <a:t> </a:t>
            </a:r>
            <a:r>
              <a:rPr lang="zh-CN" altLang="en-US" sz="2000" dirty="0">
                <a:cs typeface="微软雅黑" panose="020B0503020204020204" charset="-122"/>
                <a:sym typeface="+mn-ea"/>
              </a:rPr>
              <a:t>纵风止燎</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扬汤止沸</a:t>
            </a:r>
            <a:r>
              <a:rPr lang="en-US" altLang="zh-CN" sz="2000" dirty="0">
                <a:cs typeface="微软雅黑" panose="020B0503020204020204" charset="-122"/>
                <a:sym typeface="+mn-ea"/>
              </a:rPr>
              <a:t> </a:t>
            </a:r>
            <a:r>
              <a:rPr lang="zh-CN" altLang="en-US" sz="2000" dirty="0">
                <a:cs typeface="微软雅黑" panose="020B0503020204020204" charset="-122"/>
                <a:sym typeface="+mn-ea"/>
              </a:rPr>
              <a:t>凿壁偷光</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数字经济</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en-US" sz="2000" dirty="0">
                <a:cs typeface="微软雅黑" panose="020B0503020204020204" charset="-122"/>
                <a:sym typeface="+mn-ea"/>
              </a:rPr>
              <a:t> </a:t>
            </a:r>
            <a:r>
              <a:rPr lang="zh-CN" altLang="en-US" sz="2000" dirty="0">
                <a:cs typeface="微软雅黑" panose="020B0503020204020204" charset="-122"/>
                <a:sym typeface="+mn-ea"/>
              </a:rPr>
              <a:t>人工智能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信息工具</a:t>
            </a:r>
            <a:r>
              <a:rPr lang="en-US" altLang="zh-CN" sz="2000" dirty="0">
                <a:cs typeface="微软雅黑" panose="020B0503020204020204" charset="-122"/>
                <a:sym typeface="+mn-ea"/>
              </a:rPr>
              <a:t> </a:t>
            </a:r>
            <a:r>
              <a:rPr lang="zh-CN" altLang="en-US" sz="2000" dirty="0">
                <a:cs typeface="微软雅黑" panose="020B0503020204020204" charset="-122"/>
                <a:sym typeface="+mn-ea"/>
              </a:rPr>
              <a:t>家用电器</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信息技术</a:t>
            </a:r>
            <a:r>
              <a:rPr lang="en-US" altLang="zh-CN" sz="2000" dirty="0">
                <a:cs typeface="微软雅黑" panose="020B0503020204020204" charset="-122"/>
                <a:sym typeface="+mn-ea"/>
              </a:rPr>
              <a:t> </a:t>
            </a:r>
            <a:r>
              <a:rPr lang="zh-CN" altLang="en-US" sz="2000" dirty="0">
                <a:cs typeface="微软雅黑" panose="020B0503020204020204" charset="-122"/>
                <a:sym typeface="+mn-ea"/>
              </a:rPr>
              <a:t>无人驾驶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数字资源</a:t>
            </a:r>
            <a:r>
              <a:rPr lang="en-US" altLang="zh-CN" sz="2000" dirty="0">
                <a:cs typeface="微软雅黑" panose="020B0503020204020204" charset="-122"/>
                <a:sym typeface="+mn-ea"/>
              </a:rPr>
              <a:t> </a:t>
            </a:r>
            <a:r>
              <a:rPr lang="zh-CN" altLang="en-US" sz="2000" dirty="0">
                <a:cs typeface="微软雅黑" panose="020B0503020204020204" charset="-122"/>
                <a:sym typeface="+mn-ea"/>
              </a:rPr>
              <a:t>现代农业</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数字货币</a:t>
            </a:r>
            <a:r>
              <a:rPr lang="en-US" altLang="zh-CN" sz="2000" dirty="0">
                <a:cs typeface="微软雅黑" panose="020B0503020204020204" charset="-122"/>
                <a:sym typeface="+mn-ea"/>
              </a:rPr>
              <a:t> </a:t>
            </a:r>
            <a:r>
              <a:rPr lang="zh-CN" altLang="en-US" sz="2000" dirty="0">
                <a:cs typeface="微软雅黑" panose="020B0503020204020204" charset="-122"/>
                <a:sym typeface="+mn-ea"/>
              </a:rPr>
              <a:t>远程医疗</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河西走廊西部的荒原地处内陆，气候干燥，大部分地方都是戈壁沙漠，绿洲面积仅占总面积的很小一部分。千百年来，这里留下了一座又一座的古城址，它们有的彼此连缀，仿佛庞大的星座，有的则间断闪耀，形成多层结构。专家认为，水源变化是形成多个古城址的原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以下哪项如果为真，最能支持上述专家的观点？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河西走廊西部的部分地区素有</a:t>
            </a:r>
            <a:r>
              <a:rPr lang="en-US" altLang="zh-CN" sz="2000" dirty="0">
                <a:cs typeface="微软雅黑" panose="020B0503020204020204" charset="-122"/>
                <a:sym typeface="+mn-ea"/>
              </a:rPr>
              <a:t>“</a:t>
            </a:r>
            <a:r>
              <a:rPr lang="zh-CN" altLang="en-US" sz="2000" dirty="0">
                <a:cs typeface="微软雅黑" panose="020B0503020204020204" charset="-122"/>
                <a:sym typeface="+mn-ea"/>
              </a:rPr>
              <a:t>世界风库</a:t>
            </a:r>
            <a:r>
              <a:rPr lang="en-US" altLang="zh-CN" sz="2000" dirty="0">
                <a:cs typeface="微软雅黑" panose="020B0503020204020204" charset="-122"/>
                <a:sym typeface="+mn-ea"/>
              </a:rPr>
              <a:t>”</a:t>
            </a:r>
            <a:r>
              <a:rPr lang="zh-CN" altLang="en-US" sz="2000" dirty="0">
                <a:cs typeface="微软雅黑" panose="020B0503020204020204" charset="-122"/>
                <a:sym typeface="+mn-ea"/>
              </a:rPr>
              <a:t>之称，每年三分之一的时间刮着七级以上大风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一旦水量减少，耕地很快会沙化，古城烟火无以为继，人们就会寻找新的绿洲再建一座城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a:t>
            </a:r>
            <a:r>
              <a:rPr lang="en-US" altLang="zh-CN" sz="2000" dirty="0">
                <a:cs typeface="微软雅黑" panose="020B0503020204020204" charset="-122"/>
                <a:sym typeface="+mn-ea"/>
              </a:rPr>
              <a:t>1000</a:t>
            </a:r>
            <a:r>
              <a:rPr lang="zh-CN" altLang="en-US" sz="2000" dirty="0">
                <a:cs typeface="微软雅黑" panose="020B0503020204020204" charset="-122"/>
                <a:sym typeface="+mn-ea"/>
              </a:rPr>
              <a:t>多年的时间中，河西走廊骆驼城的地下水位下降了几十米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在河西走廊，古城都是依水而建</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白居易在《荔枝图序》中言道：</a:t>
            </a:r>
            <a:r>
              <a:rPr lang="en-US" altLang="zh-CN" sz="2000" dirty="0">
                <a:cs typeface="微软雅黑" panose="020B0503020204020204" charset="-122"/>
                <a:sym typeface="+mn-ea"/>
              </a:rPr>
              <a:t>“</a:t>
            </a:r>
            <a:r>
              <a:rPr lang="zh-CN" altLang="en-US" sz="2000" dirty="0">
                <a:cs typeface="微软雅黑" panose="020B0503020204020204" charset="-122"/>
                <a:sym typeface="+mn-ea"/>
              </a:rPr>
              <a:t>若离本枝，一日而色变，二日而香变，三日而味变，四五日外，色香味尽去矣。</a:t>
            </a:r>
            <a:r>
              <a:rPr lang="en-US" altLang="zh-CN" sz="2000" dirty="0">
                <a:cs typeface="微软雅黑" panose="020B0503020204020204" charset="-122"/>
                <a:sym typeface="+mn-ea"/>
              </a:rPr>
              <a:t>”</a:t>
            </a:r>
            <a:r>
              <a:rPr lang="zh-CN" altLang="en-US" sz="2000" dirty="0">
                <a:cs typeface="微软雅黑" panose="020B0503020204020204" charset="-122"/>
                <a:sym typeface="+mn-ea"/>
              </a:rPr>
              <a:t>研究表明，荔枝难以保鲜是因为果实的呼吸强度很高，导致果实品质急剧下降。</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以下哪项如果为真，最能支持上述研究结论？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荔枝的可食用部位不是像桃子那样的果皮，而是</a:t>
            </a:r>
            <a:r>
              <a:rPr lang="en-US" altLang="zh-CN" sz="2000" dirty="0">
                <a:cs typeface="微软雅黑" panose="020B0503020204020204" charset="-122"/>
                <a:sym typeface="+mn-ea"/>
              </a:rPr>
              <a:t>“</a:t>
            </a:r>
            <a:r>
              <a:rPr lang="zh-CN" altLang="en-US" sz="2000" dirty="0">
                <a:cs typeface="微软雅黑" panose="020B0503020204020204" charset="-122"/>
                <a:sym typeface="+mn-ea"/>
              </a:rPr>
              <a:t>假果皮</a:t>
            </a:r>
            <a:r>
              <a:rPr lang="en-US" altLang="zh-CN" sz="2000" dirty="0">
                <a:cs typeface="微软雅黑" panose="020B0503020204020204" charset="-122"/>
                <a:sym typeface="+mn-ea"/>
              </a:rPr>
              <a:t>”</a:t>
            </a:r>
            <a:r>
              <a:rPr lang="zh-CN" altLang="en-US" sz="2000" dirty="0">
                <a:cs typeface="微软雅黑" panose="020B0503020204020204" charset="-122"/>
                <a:sym typeface="+mn-ea"/>
              </a:rPr>
              <a:t>，它与外皮之间没有直接的维管束相连，外皮失水时不能直接从果肉处获得补充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荔枝离枝后会继续分解糖分：氧气充足时，糖分会分解为二氧化碳；氧气不足时，糖分会转化为一些影响风味的醇、醛类物质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荔枝自身会不断产生乙烯，加速果实成熟甚至腐烂，自然更容易变质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荔枝花能产生花蜜，并且它们的蜜腺很发达，是很好的蜜源植物</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长期只给中老年人提供一些对大脑神经系统有益的营养素，如</a:t>
            </a:r>
            <a:r>
              <a:rPr lang="en-US" altLang="zh-CN" sz="2000" dirty="0">
                <a:cs typeface="微软雅黑" panose="020B0503020204020204" charset="-122"/>
                <a:sym typeface="+mn-ea"/>
              </a:rPr>
              <a:t>DHA.</a:t>
            </a:r>
            <a:r>
              <a:rPr lang="zh-CN" altLang="en-US" sz="2000" dirty="0">
                <a:cs typeface="微软雅黑" panose="020B0503020204020204" charset="-122"/>
                <a:sym typeface="+mn-ea"/>
              </a:rPr>
              <a:t>抗氧化剂等，对预防脑力衰老似乎没有明显的效果，但改变整体的膳食模式则有利于延缓中老年人的认知退化。研究者发现地中海膳食和得舒膳食模式能保护老年人的认知能力。绿叶蔬菜、鱼类和全谷物是这两种膳食模式强调要充分摄入的三类核心食物。此外，还要严格限制油炸、高盐、甜食饮料等，因为它们不利于预防肥胖和三高，而这些则都是加剧认知退化的重要因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以下哪项如果为真，最能支持上述研究发现？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蔬果总量高的老年人认知能力保持得较好</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地中海膳食、得舒膳食等饮食模式有利于延缓认知退化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预防脑力衰老仅靠摄入营养素或改变整体的膳食模式是不够的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全谷物有利于控制血糖，绿叶蔬菜有利于改善血脂，鱼类所含的脂肪酸更易消化</a:t>
            </a: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对世界上最常见的火山类型而言，含水量较高的岩浆往往储存在地壳更深处。水在很大程度上引发并助长了火山爆发，岩浆的含水量越多，岩浆上升得越快，喷发就越猛烈。此时，岩浆的浮力不再是岩浆喷发的关键，岩浆中越多的水分含量才意味着越多的气泡和潜在更猛烈的喷发。</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以下哪项如果为真，最能加强上述研究发现？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岩浆之所以能通过地壳裂缝上升，是因为岩浆比周围岩石的浮力更大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若除水外还有额外的浮力，也会在火山被触发时将更多的岩浆带到地面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水和岩浆的混合物在上升过程中有时会发生脱气现象，使混合物变得更加粘稠，导致上升缓慢甚至停滞</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水和岩浆的混合物储存在火山中，当岩浆上升到地表附近后，压力下降就会形成气泡，气泡迅速膨胀导致岩浆喷射而出</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某智库调查表明，某省</a:t>
            </a:r>
            <a:r>
              <a:rPr lang="en-US" altLang="zh-CN" sz="2000" dirty="0">
                <a:cs typeface="微软雅黑" panose="020B0503020204020204" charset="-122"/>
                <a:sym typeface="+mn-ea"/>
              </a:rPr>
              <a:t>2022</a:t>
            </a:r>
            <a:r>
              <a:rPr lang="zh-CN" altLang="en-US" sz="2000" dirty="0">
                <a:cs typeface="微软雅黑" panose="020B0503020204020204" charset="-122"/>
                <a:sym typeface="+mn-ea"/>
              </a:rPr>
              <a:t>年的长租房成交量呈不断上涨的趋势，排在全国前列，成交总量超过</a:t>
            </a:r>
            <a:r>
              <a:rPr lang="en-US" altLang="zh-CN" sz="2000" dirty="0">
                <a:cs typeface="微软雅黑" panose="020B0503020204020204" charset="-122"/>
                <a:sym typeface="+mn-ea"/>
              </a:rPr>
              <a:t>3000</a:t>
            </a:r>
            <a:r>
              <a:rPr lang="zh-CN" altLang="en-US" sz="2000" dirty="0">
                <a:cs typeface="微软雅黑" panose="020B0503020204020204" charset="-122"/>
                <a:sym typeface="+mn-ea"/>
              </a:rPr>
              <a:t>套，较去年增长超过</a:t>
            </a:r>
            <a:r>
              <a:rPr lang="en-US" altLang="zh-CN" sz="2000" dirty="0">
                <a:cs typeface="微软雅黑" panose="020B0503020204020204" charset="-122"/>
                <a:sym typeface="+mn-ea"/>
              </a:rPr>
              <a:t>40%</a:t>
            </a:r>
            <a:r>
              <a:rPr lang="zh-CN" altLang="en-US" sz="2000" dirty="0">
                <a:cs typeface="微软雅黑" panose="020B0503020204020204" charset="-122"/>
                <a:sym typeface="+mn-ea"/>
              </a:rPr>
              <a:t>，有效解决了新市民、青年人等群体的住房难题。因此有专家认为，加快发展长租房市场是我国解决住房难题的一剂良药。</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长租房市场发展时间短，目前缺乏有效监管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B.2022</a:t>
            </a:r>
            <a:r>
              <a:rPr lang="zh-CN" altLang="en-US" sz="2000" dirty="0">
                <a:cs typeface="微软雅黑" panose="020B0503020204020204" charset="-122"/>
                <a:sym typeface="+mn-ea"/>
              </a:rPr>
              <a:t>年，我国的长租房市场规模已达</a:t>
            </a:r>
            <a:r>
              <a:rPr lang="en-US" altLang="zh-CN" sz="2000" dirty="0">
                <a:cs typeface="微软雅黑" panose="020B0503020204020204" charset="-122"/>
                <a:sym typeface="+mn-ea"/>
              </a:rPr>
              <a:t>1.73</a:t>
            </a:r>
            <a:r>
              <a:rPr lang="zh-CN" altLang="en-US" sz="2000" dirty="0">
                <a:cs typeface="微软雅黑" panose="020B0503020204020204" charset="-122"/>
                <a:sym typeface="+mn-ea"/>
              </a:rPr>
              <a:t>万亿元</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长租房无法享受与购房者同等的公共服务，在一二线城市难以推广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有数据表明，我国租赁人口约有</a:t>
            </a:r>
            <a:r>
              <a:rPr lang="en-US" altLang="zh-CN" sz="2000" dirty="0">
                <a:cs typeface="微软雅黑" panose="020B0503020204020204" charset="-122"/>
                <a:sym typeface="+mn-ea"/>
              </a:rPr>
              <a:t>2.2</a:t>
            </a:r>
            <a:r>
              <a:rPr lang="zh-CN" altLang="en-US" sz="2000" dirty="0">
                <a:cs typeface="微软雅黑" panose="020B0503020204020204" charset="-122"/>
                <a:sym typeface="+mn-ea"/>
              </a:rPr>
              <a:t>亿，占流动人口总数的</a:t>
            </a:r>
            <a:r>
              <a:rPr lang="en-US" altLang="zh-CN" sz="2000" dirty="0">
                <a:cs typeface="微软雅黑" panose="020B0503020204020204" charset="-122"/>
                <a:sym typeface="+mn-ea"/>
              </a:rPr>
              <a:t>90%</a:t>
            </a:r>
            <a:r>
              <a:rPr lang="zh-CN" altLang="en-US" sz="2000" dirty="0">
                <a:cs typeface="微软雅黑" panose="020B0503020204020204" charset="-122"/>
                <a:sym typeface="+mn-ea"/>
              </a:rPr>
              <a:t>左右</a:t>
            </a:r>
            <a:endParaRPr lang="zh-CN" altLang="en-US" sz="2000" dirty="0">
              <a:cs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96</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心理学家曾做过一个实验，将被试者分为两组，给他们看同一张交通事故的照片，并询问有关车速的问题。对第一组问</a:t>
            </a:r>
            <a:r>
              <a:rPr lang="en-US" altLang="zh-CN" sz="2000" dirty="0">
                <a:cs typeface="微软雅黑" panose="020B0503020204020204" charset="-122"/>
                <a:sym typeface="+mn-ea"/>
              </a:rPr>
              <a:t>“</a:t>
            </a:r>
            <a:r>
              <a:rPr lang="zh-CN" altLang="en-US" sz="2000" dirty="0">
                <a:cs typeface="微软雅黑" panose="020B0503020204020204" charset="-122"/>
                <a:sym typeface="+mn-ea"/>
              </a:rPr>
              <a:t>你认为是以多快的速度相撞的</a:t>
            </a:r>
            <a:r>
              <a:rPr lang="en-US" altLang="zh-CN" sz="2000" dirty="0">
                <a:cs typeface="微软雅黑" panose="020B0503020204020204" charset="-122"/>
                <a:sym typeface="+mn-ea"/>
              </a:rPr>
              <a:t>”</a:t>
            </a:r>
            <a:r>
              <a:rPr lang="zh-CN" altLang="en-US" sz="2000" dirty="0">
                <a:cs typeface="微软雅黑" panose="020B0503020204020204" charset="-122"/>
                <a:sym typeface="+mn-ea"/>
              </a:rPr>
              <a:t>，而对第二组则问</a:t>
            </a:r>
            <a:r>
              <a:rPr lang="en-US" altLang="zh-CN" sz="2000" dirty="0">
                <a:cs typeface="微软雅黑" panose="020B0503020204020204" charset="-122"/>
                <a:sym typeface="+mn-ea"/>
              </a:rPr>
              <a:t>“</a:t>
            </a:r>
            <a:r>
              <a:rPr lang="zh-CN" altLang="en-US" sz="2000" dirty="0">
                <a:cs typeface="微软雅黑" panose="020B0503020204020204" charset="-122"/>
                <a:sym typeface="+mn-ea"/>
              </a:rPr>
              <a:t>你认为是以多快的速度猛烈撞击到一起的</a:t>
            </a:r>
            <a:r>
              <a:rPr lang="en-US" altLang="zh-CN" sz="2000" dirty="0">
                <a:cs typeface="微软雅黑" panose="020B0503020204020204" charset="-122"/>
                <a:sym typeface="+mn-ea"/>
              </a:rPr>
              <a:t>”</a:t>
            </a:r>
            <a:r>
              <a:rPr lang="zh-CN" altLang="en-US" sz="2000" dirty="0">
                <a:cs typeface="微软雅黑" panose="020B0503020204020204" charset="-122"/>
                <a:sym typeface="+mn-ea"/>
              </a:rPr>
              <a:t>。后者是让人想到撞击非常猛烈的表达方式。一周后，再询问被试者</a:t>
            </a:r>
            <a:r>
              <a:rPr lang="en-US" altLang="zh-CN" sz="2000" dirty="0">
                <a:cs typeface="微软雅黑" panose="020B0503020204020204" charset="-122"/>
                <a:sym typeface="+mn-ea"/>
              </a:rPr>
              <a:t>“</a:t>
            </a:r>
            <a:r>
              <a:rPr lang="zh-CN" altLang="en-US" sz="2000" dirty="0">
                <a:cs typeface="微软雅黑" panose="020B0503020204020204" charset="-122"/>
                <a:sym typeface="+mn-ea"/>
              </a:rPr>
              <a:t>汽车的挡风玻璃是否撞碎了</a:t>
            </a:r>
            <a:r>
              <a:rPr lang="en-US" altLang="zh-CN" sz="2000" dirty="0">
                <a:cs typeface="微软雅黑" panose="020B0503020204020204" charset="-122"/>
                <a:sym typeface="+mn-ea"/>
              </a:rPr>
              <a:t>”</a:t>
            </a:r>
            <a:r>
              <a:rPr lang="zh-CN" altLang="en-US" sz="2000" dirty="0">
                <a:cs typeface="微软雅黑" panose="020B0503020204020204" charset="-122"/>
                <a:sym typeface="+mn-ea"/>
              </a:rPr>
              <a:t>（实际上并没有撞碎）。结果显示，回答</a:t>
            </a:r>
            <a:r>
              <a:rPr lang="en-US" altLang="zh-CN" sz="2000" dirty="0">
                <a:cs typeface="微软雅黑" panose="020B0503020204020204" charset="-122"/>
                <a:sym typeface="+mn-ea"/>
              </a:rPr>
              <a:t>“</a:t>
            </a:r>
            <a:r>
              <a:rPr lang="zh-CN" altLang="en-US" sz="2000" dirty="0">
                <a:cs typeface="微软雅黑" panose="020B0503020204020204" charset="-122"/>
                <a:sym typeface="+mn-ea"/>
              </a:rPr>
              <a:t>是</a:t>
            </a:r>
            <a:r>
              <a:rPr lang="en-US" altLang="zh-CN" sz="2000" dirty="0">
                <a:cs typeface="微软雅黑" panose="020B0503020204020204" charset="-122"/>
                <a:sym typeface="+mn-ea"/>
              </a:rPr>
              <a:t>”</a:t>
            </a:r>
            <a:r>
              <a:rPr lang="zh-CN" altLang="en-US" sz="2000" dirty="0">
                <a:cs typeface="微软雅黑" panose="020B0503020204020204" charset="-122"/>
                <a:sym typeface="+mn-ea"/>
              </a:rPr>
              <a:t>的人，第二组的比例比第一组多两倍以上。心理学家由此得出结论：人类的记忆并不是固定的，而是根据之后获取的信息而变化。</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以下哪项如果为真，最能削弱心理学家的结论？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第二组被试者的人数比第一组的多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第二组被试者的记忆力本来就偏弱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时隔一周再询问的合理性有待斟酌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两组被试者在认知水平上没有差距</a:t>
            </a:r>
            <a:endParaRPr lang="zh-CN" altLang="en-US" sz="2000" dirty="0">
              <a:cs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97</a:t>
            </a:r>
            <a:endParaRPr kumimoji="1" lang="en-US" altLang="zh-CN" sz="2800" b="1" dirty="0">
              <a:solidFill>
                <a:srgbClr val="FF653F"/>
              </a:solidFill>
            </a:endParaRPr>
          </a:p>
        </p:txBody>
      </p:sp>
      <p:sp>
        <p:nvSpPr>
          <p:cNvPr id="3" name="文本框 2"/>
          <p:cNvSpPr txBox="1"/>
          <p:nvPr/>
        </p:nvSpPr>
        <p:spPr>
          <a:xfrm>
            <a:off x="470535" y="701675"/>
            <a:ext cx="8822690" cy="5526405"/>
          </a:xfrm>
          <a:prstGeom prst="rect">
            <a:avLst/>
          </a:prstGeom>
          <a:noFill/>
        </p:spPr>
        <p:txBody>
          <a:bodyPr wrap="square" rtlCol="0" anchor="t">
            <a:noAutofit/>
          </a:bodyPr>
          <a:p>
            <a:pPr indent="0" fontAlgn="auto">
              <a:lnSpc>
                <a:spcPct val="140000"/>
              </a:lnSpc>
            </a:pPr>
            <a:r>
              <a:rPr lang="zh-CN" altLang="en-US" sz="2000" dirty="0">
                <a:cs typeface="微软雅黑" panose="020B0503020204020204" charset="-122"/>
                <a:sym typeface="+mn-ea"/>
              </a:rPr>
              <a:t>人的跖趾关节将其脚趾与脚的其他部位相连，使得双脚在行走和跑步中更加平稳，动作更加迅速。有研究认为，当跖趾关节向上弯曲时，连接着脚趾骨和跟骨的足底腱膜会变得更加紧绷，产生一个向上的力，来抵消脚纵弓承受的一部分压力，从而让双脚在前进中更加稳定。因此，一些常见的运动鞋或者老年健步鞋会有一个特征</a:t>
            </a:r>
            <a:r>
              <a:rPr lang="en-US" altLang="zh-CN" sz="2000" dirty="0">
                <a:cs typeface="微软雅黑" panose="020B0503020204020204" charset="-122"/>
                <a:sym typeface="+mn-ea"/>
              </a:rPr>
              <a:t>——</a:t>
            </a:r>
            <a:r>
              <a:rPr lang="zh-CN" altLang="en-US" sz="2000" dirty="0">
                <a:cs typeface="微软雅黑" panose="020B0503020204020204" charset="-122"/>
                <a:sym typeface="+mn-ea"/>
              </a:rPr>
              <a:t>具有鞋尖翘度。当人们穿上一双鞋尖向上翘起的鞋时，跖趾关节会顺着鞋尖翘起的弧度向上翘起，产生相似的效果。</a:t>
            </a:r>
            <a:endParaRPr lang="zh-CN" altLang="en-US" sz="2000" dirty="0">
              <a:cs typeface="微软雅黑" panose="020B0503020204020204" charset="-122"/>
              <a:sym typeface="+mn-ea"/>
            </a:endParaRPr>
          </a:p>
          <a:p>
            <a:pPr indent="0" fontAlgn="auto">
              <a:lnSpc>
                <a:spcPct val="140000"/>
              </a:lnSpc>
            </a:pPr>
            <a:r>
              <a:rPr lang="zh-CN" altLang="en-US" sz="2000" dirty="0">
                <a:cs typeface="微软雅黑" panose="020B0503020204020204" charset="-122"/>
                <a:sym typeface="+mn-ea"/>
              </a:rPr>
              <a:t>以下哪项如果为真，最能削弱上述研究者的观点？</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这些具有足弓支持、缓冲等作用的鞋出现的时间并不长</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脚发力过程中，鞋尖翘度会明显影响跖趾关节的弯曲范围，限制其活动</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穿上鞋尖有翘度的鞋行走感觉更轻盈，这是由于脚纵弓承受的压力减少所导致的</a:t>
            </a:r>
            <a:endParaRPr lang="zh-CN" altLang="en-US" sz="2000" dirty="0">
              <a:cs typeface="微软雅黑" panose="020B0503020204020204" charset="-122"/>
              <a:sym typeface="+mn-ea"/>
            </a:endParaRPr>
          </a:p>
          <a:p>
            <a:pPr indent="0" fontAlgn="auto">
              <a:lnSpc>
                <a:spcPct val="14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跖趾关节向上弯曲产生的向上力虽可抵消脚纵弓承受的一部分压力，但十分微弱，对人类稳定行走的影响不大</a:t>
            </a:r>
            <a:endParaRPr lang="zh-CN" altLang="en-US" sz="2000" dirty="0">
              <a:cs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98</a:t>
            </a:r>
            <a:endParaRPr kumimoji="1" lang="en-US" altLang="zh-CN" sz="2800" b="1" dirty="0">
              <a:solidFill>
                <a:srgbClr val="FF653F"/>
              </a:solidFill>
            </a:endParaRPr>
          </a:p>
        </p:txBody>
      </p:sp>
      <p:sp>
        <p:nvSpPr>
          <p:cNvPr id="3" name="文本框 2"/>
          <p:cNvSpPr txBox="1"/>
          <p:nvPr/>
        </p:nvSpPr>
        <p:spPr>
          <a:xfrm>
            <a:off x="5772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与储存能量的白色脂肪细胞不同，棕色脂肪细胞会将能量以热的形式消耗掉。实验发现，正在死亡的棕色脂肪细胞会分泌出大量肌苷。接收到肌苷分子信号后，不仅周围的棕色细胞被激活，就连周围的白色脂肪细胞也被转化成棕色脂肪细胞。但是肌苷转运蛋白能将肌苷转至细胞内降低了细胞外的肌苷浓度，致使肌苷的</a:t>
            </a:r>
            <a:r>
              <a:rPr lang="en-US" altLang="zh-CN" sz="2000" dirty="0">
                <a:cs typeface="微软雅黑" panose="020B0503020204020204" charset="-122"/>
                <a:sym typeface="+mn-ea"/>
              </a:rPr>
              <a:t>“</a:t>
            </a:r>
            <a:r>
              <a:rPr lang="zh-CN" altLang="en-US" sz="2000" dirty="0">
                <a:cs typeface="微软雅黑" panose="020B0503020204020204" charset="-122"/>
                <a:sym typeface="+mn-ea"/>
              </a:rPr>
              <a:t>促燃</a:t>
            </a:r>
            <a:r>
              <a:rPr lang="en-US" altLang="zh-CN" sz="2000" dirty="0">
                <a:cs typeface="微软雅黑" panose="020B0503020204020204" charset="-122"/>
                <a:sym typeface="+mn-ea"/>
              </a:rPr>
              <a:t>”</a:t>
            </a:r>
            <a:r>
              <a:rPr lang="zh-CN" altLang="en-US" sz="2000" dirty="0">
                <a:cs typeface="微软雅黑" panose="020B0503020204020204" charset="-122"/>
                <a:sym typeface="+mn-ea"/>
              </a:rPr>
              <a:t>作用大打折扣。对照实验证实，喂食高能量饮食并同时使用肌苷转运蛋白抑制剂的小鼠仍然较瘦，且免受糖尿病的困扰。</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由此可以推出：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肌苷能调节棕色脂肪细胞在生物体中的产热过程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棕色脂肪细胞有助于身体维持体温，抵御寒冬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刺激棕色脂肪细胞，能够增加身体能量燃烧</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干扰转运蛋白活性的物质可用于肥胖症治疗</a:t>
            </a:r>
            <a:endParaRPr lang="zh-CN" altLang="en-US" sz="2000" dirty="0">
              <a:cs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99</a:t>
            </a:r>
            <a:endParaRPr kumimoji="1" lang="en-US" altLang="zh-CN" sz="2800" b="1" dirty="0">
              <a:solidFill>
                <a:srgbClr val="FF653F"/>
              </a:solidFill>
            </a:endParaRPr>
          </a:p>
        </p:txBody>
      </p:sp>
      <p:sp>
        <p:nvSpPr>
          <p:cNvPr id="3" name="文本框 2"/>
          <p:cNvSpPr txBox="1"/>
          <p:nvPr/>
        </p:nvSpPr>
        <p:spPr>
          <a:xfrm>
            <a:off x="577215" y="701675"/>
            <a:ext cx="1102360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目前，研究人员已可以利用基因组编辑技术，破坏致病基因或插入外源基因，来预防或治疗疾病。艾滋病（</a:t>
            </a:r>
            <a:r>
              <a:rPr lang="en-US" altLang="zh-CN" sz="2000" dirty="0">
                <a:cs typeface="微软雅黑" panose="020B0503020204020204" charset="-122"/>
                <a:sym typeface="+mn-ea"/>
              </a:rPr>
              <a:t>AIDS</a:t>
            </a:r>
            <a:r>
              <a:rPr lang="zh-CN" altLang="en-US" sz="2000" dirty="0">
                <a:cs typeface="微软雅黑" panose="020B0503020204020204" charset="-122"/>
                <a:sym typeface="+mn-ea"/>
              </a:rPr>
              <a:t>）是具有免疫功能的淋巴细胞感染了艾滋病病毒（</a:t>
            </a:r>
            <a:r>
              <a:rPr lang="en-US" altLang="zh-CN" sz="2000" dirty="0">
                <a:cs typeface="微软雅黑" panose="020B0503020204020204" charset="-122"/>
                <a:sym typeface="+mn-ea"/>
              </a:rPr>
              <a:t>HIV</a:t>
            </a:r>
            <a:r>
              <a:rPr lang="zh-CN" altLang="en-US" sz="2000" dirty="0">
                <a:cs typeface="微软雅黑" panose="020B0503020204020204" charset="-122"/>
                <a:sym typeface="+mn-ea"/>
              </a:rPr>
              <a:t>）造成的，在感染淋巴细胞时，</a:t>
            </a:r>
            <a:r>
              <a:rPr lang="en-US" altLang="zh-CN" sz="2000" dirty="0">
                <a:cs typeface="微软雅黑" panose="020B0503020204020204" charset="-122"/>
                <a:sym typeface="+mn-ea"/>
              </a:rPr>
              <a:t>HIV</a:t>
            </a:r>
            <a:r>
              <a:rPr lang="zh-CN" altLang="en-US" sz="2000" dirty="0">
                <a:cs typeface="微软雅黑" panose="020B0503020204020204" charset="-122"/>
                <a:sym typeface="+mn-ea"/>
              </a:rPr>
              <a:t>通过识别淋巴细胞表面一种名为</a:t>
            </a:r>
            <a:r>
              <a:rPr lang="en-US" altLang="zh-CN" sz="2000" dirty="0">
                <a:cs typeface="微软雅黑" panose="020B0503020204020204" charset="-122"/>
                <a:sym typeface="+mn-ea"/>
              </a:rPr>
              <a:t>CCR5</a:t>
            </a:r>
            <a:r>
              <a:rPr lang="zh-CN" altLang="en-US" sz="2000" dirty="0">
                <a:cs typeface="微软雅黑" panose="020B0503020204020204" charset="-122"/>
                <a:sym typeface="+mn-ea"/>
              </a:rPr>
              <a:t>的蛋白质，以此为记号并进行侵入。研究人员可以从患者身上采集淋巴细胞，对其进行基因组编辑，再把编辑后的淋巴细胞送回患者体内，达到治疗效果。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要得到上述结论，需要补充的前提是：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A.CCR5</a:t>
            </a:r>
            <a:r>
              <a:rPr lang="zh-CN" altLang="en-US" sz="2000" dirty="0">
                <a:cs typeface="微软雅黑" panose="020B0503020204020204" charset="-122"/>
                <a:sym typeface="+mn-ea"/>
              </a:rPr>
              <a:t>基因是</a:t>
            </a:r>
            <a:r>
              <a:rPr lang="en-US" altLang="zh-CN" sz="2000" dirty="0">
                <a:cs typeface="微软雅黑" panose="020B0503020204020204" charset="-122"/>
                <a:sym typeface="+mn-ea"/>
              </a:rPr>
              <a:t>AIDS</a:t>
            </a:r>
            <a:r>
              <a:rPr lang="zh-CN" altLang="en-US" sz="2000" dirty="0">
                <a:cs typeface="微软雅黑" panose="020B0503020204020204" charset="-122"/>
                <a:sym typeface="+mn-ea"/>
              </a:rPr>
              <a:t>的相关基因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患者的淋巴细胞可以由直系亲属的淋巴细胞代替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C.HIV</a:t>
            </a:r>
            <a:r>
              <a:rPr lang="zh-CN" altLang="en-US" sz="2000" dirty="0">
                <a:cs typeface="微软雅黑" panose="020B0503020204020204" charset="-122"/>
                <a:sym typeface="+mn-ea"/>
              </a:rPr>
              <a:t>面对丧失功能的</a:t>
            </a:r>
            <a:r>
              <a:rPr lang="en-US" altLang="zh-CN" sz="2000" dirty="0">
                <a:cs typeface="微软雅黑" panose="020B0503020204020204" charset="-122"/>
                <a:sym typeface="+mn-ea"/>
              </a:rPr>
              <a:t>CCR5</a:t>
            </a:r>
            <a:r>
              <a:rPr lang="zh-CN" altLang="en-US" sz="2000" dirty="0">
                <a:cs typeface="微软雅黑" panose="020B0503020204020204" charset="-122"/>
                <a:sym typeface="+mn-ea"/>
              </a:rPr>
              <a:t>，会找到淋巴细胞上的另一种</a:t>
            </a:r>
            <a:r>
              <a:rPr lang="en-US" altLang="zh-CN" sz="2000" dirty="0">
                <a:cs typeface="微软雅黑" panose="020B0503020204020204" charset="-122"/>
                <a:sym typeface="+mn-ea"/>
              </a:rPr>
              <a:t>CXCR4</a:t>
            </a:r>
            <a:r>
              <a:rPr lang="zh-CN" altLang="en-US" sz="2000" dirty="0">
                <a:cs typeface="微软雅黑" panose="020B0503020204020204" charset="-122"/>
                <a:sym typeface="+mn-ea"/>
              </a:rPr>
              <a:t>细胞来侵入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基因组编辑技术可以使</a:t>
            </a:r>
            <a:r>
              <a:rPr lang="en-US" altLang="zh-CN" sz="2000" dirty="0">
                <a:cs typeface="微软雅黑" panose="020B0503020204020204" charset="-122"/>
                <a:sym typeface="+mn-ea"/>
              </a:rPr>
              <a:t>CCR5</a:t>
            </a:r>
            <a:r>
              <a:rPr lang="zh-CN" altLang="en-US" sz="2000" dirty="0">
                <a:cs typeface="微软雅黑" panose="020B0503020204020204" charset="-122"/>
                <a:sym typeface="+mn-ea"/>
              </a:rPr>
              <a:t>基因丧失功能，这样</a:t>
            </a:r>
            <a:r>
              <a:rPr lang="en-US" altLang="zh-CN" sz="2000" dirty="0">
                <a:cs typeface="微软雅黑" panose="020B0503020204020204" charset="-122"/>
                <a:sym typeface="+mn-ea"/>
              </a:rPr>
              <a:t>HIV</a:t>
            </a:r>
            <a:r>
              <a:rPr lang="zh-CN" altLang="en-US" sz="2000" dirty="0">
                <a:cs typeface="微软雅黑" panose="020B0503020204020204" charset="-122"/>
                <a:sym typeface="+mn-ea"/>
              </a:rPr>
              <a:t>就无法感染淋巴细胞了</a:t>
            </a:r>
            <a:endParaRPr lang="zh-CN" altLang="en-US" sz="2000" dirty="0">
              <a:cs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100</a:t>
            </a:r>
            <a:endParaRPr kumimoji="1" lang="en-US" altLang="zh-CN" sz="2800" b="1" dirty="0">
              <a:solidFill>
                <a:srgbClr val="FF653F"/>
              </a:solidFill>
            </a:endParaRPr>
          </a:p>
        </p:txBody>
      </p:sp>
      <p:sp>
        <p:nvSpPr>
          <p:cNvPr id="3" name="文本框 2"/>
          <p:cNvSpPr txBox="1"/>
          <p:nvPr/>
        </p:nvSpPr>
        <p:spPr>
          <a:xfrm>
            <a:off x="5772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某单位由于工作需要，本周六必须安排赵、钱、孙、李、周、吴、郑</a:t>
            </a:r>
            <a:r>
              <a:rPr lang="en-US" altLang="zh-CN" sz="2000" dirty="0">
                <a:cs typeface="微软雅黑" panose="020B0503020204020204" charset="-122"/>
                <a:sym typeface="+mn-ea"/>
              </a:rPr>
              <a:t>7</a:t>
            </a:r>
            <a:r>
              <a:rPr lang="zh-CN" altLang="en-US" sz="2000" dirty="0">
                <a:cs typeface="微软雅黑" panose="020B0503020204020204" charset="-122"/>
                <a:sym typeface="+mn-ea"/>
              </a:rPr>
              <a:t>名工作人员值班，每个人都要值半天班，上午安排</a:t>
            </a:r>
            <a:r>
              <a:rPr lang="en-US" altLang="zh-CN" sz="2000" dirty="0">
                <a:cs typeface="微软雅黑" panose="020B0503020204020204" charset="-122"/>
                <a:sym typeface="+mn-ea"/>
              </a:rPr>
              <a:t>4</a:t>
            </a:r>
            <a:r>
              <a:rPr lang="zh-CN" altLang="en-US" sz="2000" dirty="0">
                <a:cs typeface="微软雅黑" panose="020B0503020204020204" charset="-122"/>
                <a:sym typeface="+mn-ea"/>
              </a:rPr>
              <a:t>人一起值班，下午安排</a:t>
            </a:r>
            <a:r>
              <a:rPr lang="en-US" altLang="zh-CN" sz="2000" dirty="0">
                <a:cs typeface="微软雅黑" panose="020B0503020204020204" charset="-122"/>
                <a:sym typeface="+mn-ea"/>
              </a:rPr>
              <a:t>3</a:t>
            </a:r>
            <a:r>
              <a:rPr lang="zh-CN" altLang="en-US" sz="2000" dirty="0">
                <a:cs typeface="微软雅黑" panose="020B0503020204020204" charset="-122"/>
                <a:sym typeface="+mn-ea"/>
              </a:rPr>
              <a:t>人一起值班。值班人员的分配满足下列条件：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(1</a:t>
            </a:r>
            <a:r>
              <a:rPr lang="zh-CN" altLang="en-US" sz="2000" dirty="0">
                <a:cs typeface="微软雅黑" panose="020B0503020204020204" charset="-122"/>
                <a:sym typeface="+mn-ea"/>
              </a:rPr>
              <a:t>）赵和孙不在一起值班；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(2</a:t>
            </a:r>
            <a:r>
              <a:rPr lang="zh-CN" altLang="en-US" sz="2000" dirty="0">
                <a:cs typeface="微软雅黑" panose="020B0503020204020204" charset="-122"/>
                <a:sym typeface="+mn-ea"/>
              </a:rPr>
              <a:t>）周和孙不在一起值班；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(3</a:t>
            </a:r>
            <a:r>
              <a:rPr lang="zh-CN" altLang="en-US" sz="2000" dirty="0">
                <a:cs typeface="微软雅黑" panose="020B0503020204020204" charset="-122"/>
                <a:sym typeface="+mn-ea"/>
              </a:rPr>
              <a:t>）如果郑在下午值班，那么赵和李也在下午值班；</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(4</a:t>
            </a:r>
            <a:r>
              <a:rPr lang="zh-CN" altLang="en-US" sz="2000" dirty="0">
                <a:cs typeface="微软雅黑" panose="020B0503020204020204" charset="-122"/>
                <a:sym typeface="+mn-ea"/>
              </a:rPr>
              <a:t>）或者钱在上午值班，或者郑在下午值班。</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根据以上信息，必须在上午值班的工作人员是：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钱和郑</a:t>
            </a:r>
            <a:r>
              <a:rPr lang="en-US" altLang="zh-CN" sz="2000" dirty="0">
                <a:cs typeface="微软雅黑" panose="020B0503020204020204" charset="-122"/>
                <a:sym typeface="+mn-ea"/>
              </a:rPr>
              <a:t>	B.</a:t>
            </a:r>
            <a:r>
              <a:rPr lang="zh-CN" altLang="en-US" sz="2000" dirty="0">
                <a:cs typeface="微软雅黑" panose="020B0503020204020204" charset="-122"/>
                <a:sym typeface="+mn-ea"/>
              </a:rPr>
              <a:t>赵和郑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赵和周</a:t>
            </a:r>
            <a:r>
              <a:rPr lang="en-US" altLang="zh-CN" sz="2000" dirty="0">
                <a:cs typeface="微软雅黑" panose="020B0503020204020204" charset="-122"/>
                <a:sym typeface="+mn-ea"/>
              </a:rPr>
              <a:t>	D.</a:t>
            </a:r>
            <a:r>
              <a:rPr lang="zh-CN" altLang="en-US" sz="2000" dirty="0">
                <a:cs typeface="微软雅黑" panose="020B0503020204020204" charset="-122"/>
                <a:sym typeface="+mn-ea"/>
              </a:rPr>
              <a:t>吴和孙</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6419</Words>
  <Application>WPS 演示</Application>
  <PresentationFormat>宽屏</PresentationFormat>
  <Paragraphs>317</Paragraphs>
  <Slides>37</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37</vt:i4>
      </vt:variant>
    </vt:vector>
  </HeadingPairs>
  <TitlesOfParts>
    <vt:vector size="46"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题86</vt:lpstr>
      <vt:lpstr>题87</vt:lpstr>
      <vt:lpstr>题88</vt:lpstr>
      <vt:lpstr>题89</vt:lpstr>
      <vt:lpstr>题90</vt:lpstr>
      <vt:lpstr>题91</vt:lpstr>
      <vt:lpstr>题92</vt:lpstr>
      <vt:lpstr>题93</vt:lpstr>
      <vt:lpstr>题94</vt:lpstr>
      <vt:lpstr>题95</vt:lpstr>
      <vt:lpstr>题96</vt:lpstr>
      <vt:lpstr>题97</vt:lpstr>
      <vt:lpstr>题98</vt:lpstr>
      <vt:lpstr>题99</vt:lpstr>
      <vt:lpstr>题100</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198</cp:revision>
  <dcterms:created xsi:type="dcterms:W3CDTF">2019-06-19T02:08:00Z</dcterms:created>
  <dcterms:modified xsi:type="dcterms:W3CDTF">2025-11-20T06:23:01Z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