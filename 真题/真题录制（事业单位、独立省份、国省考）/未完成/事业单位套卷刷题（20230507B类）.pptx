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2" r:id="rId3"/>
    <p:sldMasterId id="2147483675" r:id="rId4"/>
    <p:sldMasterId id="2147483677" r:id="rId5"/>
  </p:sldMasterIdLst>
  <p:notesMasterIdLst>
    <p:notesMasterId r:id="rId7"/>
  </p:notesMasterIdLst>
  <p:handoutMasterIdLst>
    <p:handoutMasterId r:id="rId44"/>
  </p:handoutMasterIdLst>
  <p:sldIdLst>
    <p:sldId id="629" r:id="rId6"/>
    <p:sldId id="1582" r:id="rId8"/>
    <p:sldId id="1583" r:id="rId9"/>
    <p:sldId id="1584" r:id="rId10"/>
    <p:sldId id="1585" r:id="rId11"/>
    <p:sldId id="1586" r:id="rId12"/>
    <p:sldId id="1588" r:id="rId13"/>
    <p:sldId id="1589" r:id="rId14"/>
    <p:sldId id="1590" r:id="rId15"/>
    <p:sldId id="1591" r:id="rId16"/>
    <p:sldId id="1592" r:id="rId17"/>
    <p:sldId id="1593" r:id="rId18"/>
    <p:sldId id="1594" r:id="rId19"/>
    <p:sldId id="1595" r:id="rId20"/>
    <p:sldId id="1596" r:id="rId21"/>
    <p:sldId id="1597" r:id="rId22"/>
    <p:sldId id="1598" r:id="rId23"/>
    <p:sldId id="1599" r:id="rId24"/>
    <p:sldId id="1600" r:id="rId25"/>
    <p:sldId id="1601" r:id="rId26"/>
    <p:sldId id="1602" r:id="rId27"/>
    <p:sldId id="1603" r:id="rId28"/>
    <p:sldId id="1604" r:id="rId29"/>
    <p:sldId id="1605" r:id="rId30"/>
    <p:sldId id="1606" r:id="rId31"/>
    <p:sldId id="1607" r:id="rId32"/>
    <p:sldId id="1608" r:id="rId33"/>
    <p:sldId id="1609" r:id="rId34"/>
    <p:sldId id="1610" r:id="rId35"/>
    <p:sldId id="1611" r:id="rId36"/>
    <p:sldId id="1612" r:id="rId37"/>
    <p:sldId id="1613" r:id="rId38"/>
    <p:sldId id="1614" r:id="rId39"/>
    <p:sldId id="1619" r:id="rId40"/>
    <p:sldId id="1616" r:id="rId41"/>
    <p:sldId id="1620" r:id="rId42"/>
    <p:sldId id="1581" r:id="rId43"/>
  </p:sldIdLst>
  <p:sldSz cx="12192000" cy="6858000"/>
  <p:notesSz cx="6858000" cy="9144000"/>
  <p:custDataLst>
    <p:tags r:id="rId4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 id="7" name="李鹏飞_6bQfzI3a" initials="李" lastIdx="0" clrIdx="0"/>
  <p:cmAuthor id="8" name="小珞_QjMfU7FR" initials="小" lastIdx="0" clrIdx="0"/>
  <p:cmAuthor id="9" name="骆倩怡_Znauj26B" initials="authorId_382814100" lastIdx="0" clrIdx="0"/>
  <p:cmAuthor id="249246244" name="桑桑" initials="桑" lastIdx="1" clrIdx="0"/>
  <p:cmAuthor id="10" name="caoyue" initials="c" lastIdx="1" clrIdx="9"/>
  <p:cmAuthor id="12" name="18309297108" initials="1" lastIdx="1" clrIdx="11"/>
  <p:cmAuthor id="13" name="xmiles" initials="x" lastIdx="1" clrIdx="12"/>
  <p:cmAuthor id="2001" name="Microsoft Office User" initials="MOU" lastIdx="1" clrIdx="2"/>
  <p:cmAuthor id="11" name="ibm" initials="i" lastIdx="5" clrIdx="10"/>
  <p:cmAuthor id="14" name="kobe" initials="k" lastIdx="1" clrIdx="13"/>
  <p:cmAuthor id="15" name="MIAI" initials="M" lastIdx="1" clrIdx="14"/>
  <p:cmAuthor id="16" name="HP" initials="H" lastIdx="1" clrIdx="15"/>
  <p:cmAuthor id="17" name="yangyaqin" initials="y" lastIdx="1" clrIdx="16"/>
  <p:cmAuthor id="18" name="ASUS" initials="A" lastIdx="1" clrIdx="1"/>
  <p:cmAuthor id="76" name="Yongqiang ZHOU" initials="YZ" lastIdx="1" clrIdx="25"/>
  <p:cmAuthor id="2000" name="Beck_jUrevum2" initials="authorId_724972424" lastIdx="0" clrIdx="0"/>
  <p:cmAuthor id="1483810881" name="WPS_1679281038" initials="W" lastIdx="1"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notesMaster" Target="notesMasters/notesMaster1.xml"/><Relationship Id="rId6" Type="http://schemas.openxmlformats.org/officeDocument/2006/relationships/slide" Target="slides/slide1.xml"/><Relationship Id="rId5" Type="http://schemas.openxmlformats.org/officeDocument/2006/relationships/slideMaster" Target="slideMasters/slideMaster4.xml"/><Relationship Id="rId49" Type="http://schemas.openxmlformats.org/officeDocument/2006/relationships/tags" Target="tags/tag46.xml"/><Relationship Id="rId48" Type="http://schemas.openxmlformats.org/officeDocument/2006/relationships/commentAuthors" Target="commentAuthors.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handoutMaster" Target="handoutMasters/handoutMaster1.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楷体" panose="02010609060101010101" charset="-122"/>
                <a:ea typeface="楷体" panose="02010609060101010101" charset="-122"/>
                <a:cs typeface="楷体" panose="02010609060101010101"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楷体" panose="02010609060101010101" charset="-122"/>
                <a:ea typeface="楷体" panose="02010609060101010101" charset="-122"/>
                <a:cs typeface="楷体" panose="02010609060101010101"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1pPr>
    <a:lvl2pPr marL="4572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2pPr>
    <a:lvl3pPr marL="9144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3pPr>
    <a:lvl4pPr marL="13716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4pPr>
    <a:lvl5pPr marL="18288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解析：本题属于数量类，主要考查数面。</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图</a:t>
            </a:r>
            <a:r>
              <a:rPr lang="en-US" altLang="en-US" sz="1200" kern="1200" dirty="0">
                <a:solidFill>
                  <a:schemeClr val="tx1"/>
                </a:solidFill>
                <a:effectLst/>
                <a:latin typeface="+mn-lt"/>
                <a:sym typeface="楷体" panose="02010609060101010101" charset="-122"/>
              </a:rPr>
              <a:t>①②⑤</a:t>
            </a:r>
            <a:r>
              <a:rPr lang="zh-CN" altLang="en-US" sz="1200" kern="1200" dirty="0">
                <a:solidFill>
                  <a:schemeClr val="tx1"/>
                </a:solidFill>
                <a:effectLst/>
                <a:latin typeface="+mn-lt"/>
                <a:sym typeface="楷体" panose="02010609060101010101" charset="-122"/>
              </a:rPr>
              <a:t>均有</a:t>
            </a:r>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个面，图</a:t>
            </a:r>
            <a:r>
              <a:rPr lang="en-US" altLang="en-US" sz="1200" kern="1200" dirty="0">
                <a:solidFill>
                  <a:schemeClr val="tx1"/>
                </a:solidFill>
                <a:effectLst/>
                <a:latin typeface="+mn-lt"/>
                <a:sym typeface="楷体" panose="02010609060101010101" charset="-122"/>
              </a:rPr>
              <a:t>③④⑥</a:t>
            </a:r>
            <a:r>
              <a:rPr lang="zh-CN" altLang="en-US" sz="1200" kern="1200" dirty="0">
                <a:solidFill>
                  <a:schemeClr val="tx1"/>
                </a:solidFill>
                <a:effectLst/>
                <a:latin typeface="+mn-lt"/>
                <a:sym typeface="楷体" panose="02010609060101010101" charset="-122"/>
              </a:rPr>
              <a:t>均有</a:t>
            </a:r>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个面。即</a:t>
            </a:r>
            <a:r>
              <a:rPr lang="en-US" altLang="en-US" sz="1200" kern="1200" dirty="0">
                <a:solidFill>
                  <a:schemeClr val="tx1"/>
                </a:solidFill>
                <a:effectLst/>
                <a:latin typeface="+mn-lt"/>
                <a:sym typeface="楷体" panose="02010609060101010101" charset="-122"/>
              </a:rPr>
              <a:t>①②⑤</a:t>
            </a:r>
            <a:r>
              <a:rPr lang="zh-CN" altLang="en-US" sz="1200" kern="1200" dirty="0">
                <a:solidFill>
                  <a:schemeClr val="tx1"/>
                </a:solidFill>
                <a:effectLst/>
                <a:latin typeface="+mn-lt"/>
                <a:sym typeface="楷体" panose="02010609060101010101" charset="-122"/>
              </a:rPr>
              <a:t>一组，</a:t>
            </a:r>
            <a:r>
              <a:rPr lang="en-US" altLang="en-US" sz="1200" kern="1200" dirty="0">
                <a:solidFill>
                  <a:schemeClr val="tx1"/>
                </a:solidFill>
                <a:effectLst/>
                <a:latin typeface="+mn-lt"/>
                <a:sym typeface="楷体" panose="02010609060101010101" charset="-122"/>
              </a:rPr>
              <a:t>③④⑥</a:t>
            </a:r>
            <a:r>
              <a:rPr lang="zh-CN" altLang="en-US" sz="1200" kern="1200" dirty="0">
                <a:solidFill>
                  <a:schemeClr val="tx1"/>
                </a:solidFill>
                <a:effectLst/>
                <a:latin typeface="+mn-lt"/>
                <a:sym typeface="楷体" panose="02010609060101010101" charset="-122"/>
              </a:rPr>
              <a:t>一组。</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解析：本题属于位置类，主要考查旋转。</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图</a:t>
            </a:r>
            <a:r>
              <a:rPr lang="en-US" altLang="en-US" sz="1200" kern="1200" dirty="0">
                <a:solidFill>
                  <a:schemeClr val="tx1"/>
                </a:solidFill>
                <a:effectLst/>
                <a:latin typeface="+mn-lt"/>
                <a:sym typeface="楷体" panose="02010609060101010101" charset="-122"/>
              </a:rPr>
              <a:t>①②⑤</a:t>
            </a:r>
            <a:r>
              <a:rPr lang="zh-CN" altLang="en-US" sz="1200" kern="1200" dirty="0">
                <a:solidFill>
                  <a:schemeClr val="tx1"/>
                </a:solidFill>
                <a:effectLst/>
                <a:latin typeface="+mn-lt"/>
                <a:sym typeface="楷体" panose="02010609060101010101" charset="-122"/>
              </a:rPr>
              <a:t>可由同一图形（图</a:t>
            </a:r>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）旋转得到，图</a:t>
            </a:r>
            <a:r>
              <a:rPr lang="en-US" altLang="en-US" sz="1200" kern="1200" dirty="0">
                <a:solidFill>
                  <a:schemeClr val="tx1"/>
                </a:solidFill>
                <a:effectLst/>
                <a:latin typeface="+mn-lt"/>
                <a:sym typeface="楷体" panose="02010609060101010101" charset="-122"/>
              </a:rPr>
              <a:t>③④⑥</a:t>
            </a:r>
            <a:r>
              <a:rPr lang="zh-CN" altLang="en-US" sz="1200" kern="1200" dirty="0">
                <a:solidFill>
                  <a:schemeClr val="tx1"/>
                </a:solidFill>
                <a:effectLst/>
                <a:latin typeface="+mn-lt"/>
                <a:sym typeface="楷体" panose="02010609060101010101" charset="-122"/>
              </a:rPr>
              <a:t>可由另一个图形（图</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）旋转得到。</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解析：本题属于样式类，主要考查对称性。</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题干图形由三个小图形拼合而成。观察发现：第一组图形中，每幅图都只有</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个轴对称小图形，且对称轴依次旋转</a:t>
            </a:r>
            <a:r>
              <a:rPr lang="en-US" altLang="zh-CN" sz="1200" kern="1200" dirty="0">
                <a:solidFill>
                  <a:schemeClr val="tx1"/>
                </a:solidFill>
                <a:effectLst/>
                <a:latin typeface="+mn-lt"/>
                <a:sym typeface="楷体" panose="02010609060101010101" charset="-122"/>
              </a:rPr>
              <a:t>90</a:t>
            </a:r>
            <a:r>
              <a:rPr lang=""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，第二组图形中，每幅图也只有</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个轴对称小图形，且对称轴依次旋转</a:t>
            </a:r>
            <a:r>
              <a:rPr lang="en-US" altLang="zh-CN" sz="1200" kern="1200" dirty="0">
                <a:solidFill>
                  <a:schemeClr val="tx1"/>
                </a:solidFill>
                <a:effectLst/>
                <a:latin typeface="+mn-lt"/>
                <a:sym typeface="楷体" panose="02010609060101010101" charset="-122"/>
              </a:rPr>
              <a:t>90</a:t>
            </a:r>
            <a:r>
              <a:rPr lang=""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。因此，应选择由三个小图形拼合而成，有且仅有</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个轴对称图形，且对称轴为右斜方向。</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解析：本题属于数量类，主要考查笔画数。</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第一组图形均为一笔画图形，第二组前两幅图也为一笔画图形，故应选择一笔画图形。</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解析：本题属于位置类，主要考查形形关系。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图形</a:t>
            </a:r>
            <a:r>
              <a:rPr lang="en-US" altLang="en-US" sz="1200" kern="1200" dirty="0">
                <a:solidFill>
                  <a:schemeClr val="tx1"/>
                </a:solidFill>
                <a:effectLst/>
                <a:latin typeface="+mn-lt"/>
                <a:sym typeface="楷体" panose="02010609060101010101" charset="-122"/>
              </a:rPr>
              <a:t>①③⑤</a:t>
            </a:r>
            <a:r>
              <a:rPr lang="zh-CN" altLang="en-US" sz="1200" kern="1200" dirty="0">
                <a:solidFill>
                  <a:schemeClr val="tx1"/>
                </a:solidFill>
                <a:effectLst/>
                <a:latin typeface="+mn-lt"/>
                <a:sym typeface="楷体" panose="02010609060101010101" charset="-122"/>
              </a:rPr>
              <a:t>有</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个面，且每个面独立存在。图形</a:t>
            </a:r>
            <a:r>
              <a:rPr lang="en-US" altLang="en-US" sz="1200" kern="1200" dirty="0">
                <a:solidFill>
                  <a:schemeClr val="tx1"/>
                </a:solidFill>
                <a:effectLst/>
                <a:latin typeface="+mn-lt"/>
                <a:sym typeface="楷体" panose="02010609060101010101" charset="-122"/>
              </a:rPr>
              <a:t>②④⑥</a:t>
            </a:r>
            <a:r>
              <a:rPr lang="zh-CN" altLang="en-US" sz="1200" kern="1200" dirty="0">
                <a:solidFill>
                  <a:schemeClr val="tx1"/>
                </a:solidFill>
                <a:effectLst/>
                <a:latin typeface="+mn-lt"/>
                <a:sym typeface="楷体" panose="02010609060101010101" charset="-122"/>
              </a:rPr>
              <a:t>有</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个面，但其中两个面是包含关系。据此将图</a:t>
            </a:r>
            <a:r>
              <a:rPr lang="en-US" altLang="en-US" sz="1200" kern="1200" dirty="0">
                <a:solidFill>
                  <a:schemeClr val="tx1"/>
                </a:solidFill>
                <a:effectLst/>
                <a:latin typeface="+mn-lt"/>
                <a:sym typeface="楷体" panose="02010609060101010101" charset="-122"/>
              </a:rPr>
              <a:t>①③⑤</a:t>
            </a:r>
            <a:r>
              <a:rPr lang="zh-CN" altLang="en-US" sz="1200" kern="1200" dirty="0">
                <a:solidFill>
                  <a:schemeClr val="tx1"/>
                </a:solidFill>
                <a:effectLst/>
                <a:latin typeface="+mn-lt"/>
                <a:sym typeface="楷体" panose="02010609060101010101" charset="-122"/>
              </a:rPr>
              <a:t>分为一组，图</a:t>
            </a:r>
            <a:r>
              <a:rPr lang="en-US" altLang="en-US" sz="1200" kern="1200" dirty="0">
                <a:solidFill>
                  <a:schemeClr val="tx1"/>
                </a:solidFill>
                <a:effectLst/>
                <a:latin typeface="+mn-lt"/>
                <a:sym typeface="楷体" panose="02010609060101010101" charset="-122"/>
              </a:rPr>
              <a:t>②④⑥</a:t>
            </a:r>
            <a:r>
              <a:rPr lang="zh-CN" altLang="en-US" sz="1200" kern="1200" dirty="0">
                <a:solidFill>
                  <a:schemeClr val="tx1"/>
                </a:solidFill>
                <a:effectLst/>
                <a:latin typeface="+mn-lt"/>
                <a:sym typeface="楷体" panose="02010609060101010101" charset="-122"/>
              </a:rPr>
              <a:t>分为一组。</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6.</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解析：本题属于单定义，主要考查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原因</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结果</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要件。</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原因：对于别人在社交平台上所展示的</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充实</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状态感到不安。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结果：感到不安、恐慌，硬要找点事情做或虚假做事。</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项：小林觉得回去也不能立刻休息，于是也和同学去了图书馆。并未体现出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对别人在社交平台上所展示的</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充实</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状态感到不安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项：小丽看到朋友发的带娃出游的照片，想到自己很少有时间能够带孩子出游，觉得很抱歉。只是觉得抱歉，并不符合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硬要找点事情做或虚假做事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项：小明跟朋友在一起无所事事闲逛了一天，感觉很焦虑，不符合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对别人在社交平台上所展示的</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充实</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状态感到不安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，也不符合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硬要找点事情做或虚假做事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项：小方看到同事在朋友圈分享了每周计划，而自己却没什么安排，担心被落下，符合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对于别人在社交平台上所展示的</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充实</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状态感到不安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，报了并不需要的培训班，符合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硬要找点事情做或虚假做事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解析：本题属于单定义，主要查考属</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种差。</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属</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种差：追求速成、通俗、短期流行、不注重深厚积累和内在价值的文化思潮和文化现象。</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项：方便面是食品，不是文化现象，不符合定义，排除；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项：抢报各种兴趣培训班，是家长的教育焦虑，不符合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不注重深厚积累和内在价值的文化思潮和文化现象</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五分钟看大片</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在短时间内了解影视剧情，符合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追求速成、通俗、短期流行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不注重深厚积累和内在价值的文化思潮和文化现象</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项：学生利用思维导图的方式学习，这是学习方式，不符合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追求速成、通俗、短期流行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不注重深厚积累和内在价值的文化思潮和文化现象</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8.</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解析：本题属于单定义，定义要点有：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主谓式：例如</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地震</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日食</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动宾式：例如</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下岗</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督学</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并列式：例如</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师生</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褒贬</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偏正式：例如</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飞快</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绿叶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补充式：例如</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提高</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照亮</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文具店</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运用了偏正式，仅运用了一种形式，并未综合运用，当选；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脱粒</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运用了动宾式，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脱粒机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运用了偏正式，所以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脱粒机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综合运用了上述两种形式，排除；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辅导</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即辅助和指导，运用了并列式，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辅导班</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运用了偏正式，所以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辅导班</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综合运用了上述两种形式，排除；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国营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指国家经营的，运用了主谓式，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国营厂</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运用了偏正式，所以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国营厂</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综合运用了上述两种形式，排除。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9.</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解析：本题属于单定义，定义的关键信息有：</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事件</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只是引发情绪和行为的后果</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的间接原因。</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引起</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的直接原因则是个体对事件</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的认知和评价而产生的信念</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项：甲、乙对被骗的态度不同，但这并不是因为他们对被骗的认知和评价不同，而是因为他们的心态不同，不符合定义，排除；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项：甲将迟到的结果归咎于出租车司机技术不熟练，但这并不是因为他对事件</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的认知和评价不同，而是因为他没有意识到自己玩游戏到深夜导致迟到，不符合定义，排除；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项：甲、乙对画作的评价不同，但这并不是因为他们对事件</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的认知和评价不同，而是因为他们的审美观点不同，不符合定义，排除；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项：甲、乙对未被录用的情绪不同，这是因为他们对事件</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的认知和评价不同。甲认为这次应聘只是试一试，增加临场经验，而乙则是多日准备，志在必得。符合定义，当选。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解析：本题属于单定义，主要考查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方式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目的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两个要件。</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方式：通过研究个体由生理功能下降到病理改变的发病过程。</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目的：判断功能变化程度、疾病的发展进程、找出功能下降及疾病产生的原因、做到早期发现疾病及预防未来疾病的发生。</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项：个性化治疗干预，即针对不同个体给予不同的治疗和干预方案，符合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通过研究个体由生理功能下降到病理改变的发病过程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找出功能下降及疾病产生的原因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做到早期发现疾病及预防未来疾病的发生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项：病理诊断与药物都是在疾病发生之后所采取的医学行为，不符合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做到早期发现疾病及预防未来疾病的发生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项：没有临床疾病不等于健康，说明要在病症显现之前就对生理功能进行判断和评估，符合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通过研究个体由生理功能下降到病理改变的发病过程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判断功能变化程度、疾病的发展进程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等描述，符合定义，排除；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项：关注整体功能变化，即对个体的生理功能进行整体性的综合评估与研究，符合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通过研究个体由生理功能下降到病理改变的发病过程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判断功能变化程度、疾病的发展进程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11.</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解析：本题属于单定义，主要考查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方式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结果</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两个要件。</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方式：由生态系统自然生产或人类社会劳动生产，或由两种生产共同作用提供。</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结果：能维系生态安全、保障生态调节功能、提供良好人居环境的，满足人民日益增长的美好生活需要的产品或服务。</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项：再生水是通过人类社会劳动生产得到的，但是它能够对生活污水和工业废水进行再生利用，具有保障生态调节功能的作用，同时也能提供良好人居环境，符合定义，排除；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项：可鲁克湖是自然形成的湖泊，是由生态系统自然生产的，同时它能够提供良好人居环境，符合定义，排除；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项：坎布拉国家森林公园是由人类社会劳动生产和生态系统自然生产共同作用得到的，同时它也能够提供良好人居环境，符合定义，排除；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项：汽车轮胎是由人类社会劳动生产得到的，但是它并没有维系生态安全，保障生态调节功能的作用，也不是为了提供良好人居环境而生产的，不符合定义，当选。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12.</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解析：本题属于多定义，主要考查辨析型。</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火性思维：首先根据一些规范或者要求来对其进行评价，并据此采取相关匡正行为；</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水性思维：首先对其进行理解，并据此采取顺势而为的行为。</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小陈看到孩子践踏草坪就对家长进行提醒，不能随意践踏草坪属于社会规范，小陈遇到事情根据社会规范采取行为，符合火性思维；</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小赵根据领导的要求让商贩到固定摊位售卖，属于根据规范或要求采取行为，符合火性思维；</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小陆的爸爸看到有车突然停在正常行走的小陆面前，觉得对方可能有急事，应该理解，符合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根据自己的理解，并据此采取顺势而为的行为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，符合水性思维。</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所以</a:t>
            </a:r>
            <a:r>
              <a:rPr lang="en-US" altLang="en-US" sz="1200" kern="1200" dirty="0">
                <a:solidFill>
                  <a:schemeClr val="tx1"/>
                </a:solidFill>
                <a:effectLst/>
                <a:latin typeface="+mn-lt"/>
                <a:sym typeface="楷体" panose="02010609060101010101" charset="-122"/>
              </a:rPr>
              <a:t>①②</a:t>
            </a:r>
            <a:r>
              <a:rPr lang="zh-CN" altLang="en-US" sz="1200" kern="1200" dirty="0">
                <a:solidFill>
                  <a:schemeClr val="tx1"/>
                </a:solidFill>
                <a:effectLst/>
                <a:latin typeface="+mn-lt"/>
                <a:sym typeface="楷体" panose="02010609060101010101" charset="-122"/>
              </a:rPr>
              <a:t>是火性思维，</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是水性思维。</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解析：本题属于多定义，主要考查辨析型。</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电子对抗：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敌对双方为削弱、破坏对方电子设备的使用效能，保障己方电子设备发挥效能而采取的各种电子措施和行动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电子对抗侦察：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搜集敌方电子设备信息的侦察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电子防御：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在敌方实施电子对抗的情况下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为保障己方电子设备和电子系统发挥效能而采取的措施和行动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项：侦听雷达，识别位置，获取参数符合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搜集敌方电子设备信息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电子对抗侦察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项：为战机涂抹材料，使敌方雷达无法探测到，是为了规避侦察，不符合任何定义，当选；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项：受到反雷达导弹攻击，符合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在敌方实施电子对抗的情况下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，利用发射信号使导弹无法定位偏离方向，符合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电子防御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项：使用设备收集敌方设备信息，符合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搜集敌方电子设备信息的侦察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电子对抗侦察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14.</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解析：本题属于多定义，主要考查辨析型。</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命令性规范：</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规定人们的积极义务</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人们必须或应当作出某种行为的规范</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禁止性规范：</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规定人们的消极义务（不作为义务）</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禁止人们作出一定行为的规范</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禁止用任何方法对公民进行侮辱、诽谤和诬告陷害，是禁止人们作出一定行为的规范，符合禁止性规范；</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行为人与相对人恶意串通，损害他人合法权益的民事行为无效，是对人们行为有效性的判定，不是规定人们应当作出某种行为，也不是禁止人们作出一定行为的规范，不符合命令性规范和禁止性规范；</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公安机关拘留人的时候，必须出示拘留证，是对人们必须做出某种行为的规范，符合命令性规范；</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对当事人的同一个违法行为，不得给予两次以上罚款的行政处罚，是对人们不能做出某种行为的规范，符合禁止性规范。</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15.</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解析：本题属于单定义，主要考查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方式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目的</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两个要件。</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方式：有关演员或摄影机活动位置的调度。</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目的：起到刻画人物性格、表现人物关系、渲染场面气氛、交代时空间隔等作用。</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项：采用特殊剪辑手法是通过剪辑来实现画面的呈现，不符合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有关演员或摄影机活动位置的调度</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项：跟拍某演员从进门一直走到房子深处的角落，其中涉及到演员位置及摄像机位置的变化，符合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有关演员或摄影机活动位置的调度</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。用透视关系表现空间感，符合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起到刻画人物性格、表现人物关系、渲染场面气氛、交代时空间隔等作用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项：设置充满阳光的布景，播放欢快的音乐，不符合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有关演员或摄影机活动位置的调度</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项：拍摄演员两次见到某人的表情变化，是对演员表情的捕捉，不符合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有关演员或摄影机活动位置的调度</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16.</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解析：本题属于映射类，主要考查方式目的对应关系。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闭门造车即关起门来造车，闭门是为了造车，二者为方式目的对应关系。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项：抛砖引玉意为抛出砖去，引回玉来，抛砖的目的是引玉，二者为方式目的对应关系，与题干逻辑关系一致，当选；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项：震耳欲聋意为耳朵都快震聋了，形容声音很大，震耳不是欲聋的方式，与题干逻辑关系不一致，排除；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项：冷言和冷语都是指带讥讽意味的冷冰冰的话，二者为近义关系，与题干逻辑关系不一致，排除；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项：曲高和寡意为曲调高深，能跟着唱的人就少，因为曲高，所以和寡，二者为因果对应关系，与题干逻辑关系不一致，排除。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17.</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解析：本题属于复合类，主要考查并列关系和命名方式。</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汽锅鸡、竹筒饭是食物，二者为并列关系。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汽锅鸡制作时需要用到汽锅，竹筒饭制作时需要用到竹筒，二者都是根据制作工具进行命名。</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项：螺蛳粉、东坡肉为并列关系。螺蛳粉是根据原材料进行命名，东坡肉是根据人名进行命名，与题干逻辑关系不一致，排除；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项：瓦罐鱼、小笼包为并列关系。瓦罐鱼制作时需要用到瓦罐，小笼包制作时需要用到小笼，二者都是根据制作工具进行命名，与题干逻辑关系一致，当选；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铁板烧、三杯鸡为并列关系。铁板烧制作时需要用到铁板，是根据制作工具进行命名，三杯鸡是台湾传统菜肴，是以鸡肉为主要原料，加入一杯料酒、一杯酱油、一杯香油进行卤制而成的，是根据原材料进行命名，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项：盐水鸭、担担面为并列关系。盐水鸭是根据原材料进行命名，担担面因最初挑着担子沿街叫卖得名，是根据售卖方式进行命名，与题干逻辑关系不一致，排除。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18.</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解析：本题属于映射类，主要考查属性对应关系。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泰山北斗：比喻道德高、名望重或有卓越成就为众人所敬仰的人。</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德高望重是泰山北斗所具备的属性。</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项：天罗地网：比喻防范布置得极为严密而无法逃脱。防范严密是天罗地网所具备的属性，与题干关系一致，当选；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项：钟鸣鼎食：形容富贵豪华，金玉满堂：形容财富极多，二者为近义关系，排除；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项：人才辈出：形容有才能的人不断地大量涌现，卧虎藏龙：是指隐藏着未被发现的人才，也指隐藏不露的人才，二者无明显关系，排除；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项：珠联璧合：比喻杰出的人才或美好的事物结合在一起；关系亲密：指亲近密切，二者无明显关系，排除。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19.</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解析：本题属于语义类，主要考查近义关系。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口若悬河形容能说善辩，话语不断；喋喋不休指说话唠唠叨叨，没完没了，二者为近义关系。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二级辨析：口若悬河是中性词，喋喋不休是贬义词。</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项：好高骛远指不切实际地追求过高过远的目标；高瞻远瞩意思是站得高，看得远，比喻眼光远大。二者不是近义关系，排除；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项：能言善辩形容能说会道、有辩才；巧舌如簧形容能说会道，善于狡辩。二者为近义关系。能言善辩为中性词，巧舌如簧为贬义词，与题干逻辑关系一致，当选；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项：独占鳌头指在竞争中夺得首位；鹤立鸡群比喻一个人的仪表或才能在周围一群人里显得很突出。二者为近义关系，但二者均是褒义词，与题干逻辑关系不一致，排除；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项：百无聊赖形容人思想感情无所寄托，非常无聊；兴趣索然意思是一点儿兴趣都没有。二者为近义关系，但百无聊赖是贬义词，与题干逻辑关系不一致，排除。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解析：本题属于映射类，主要考查因果关系。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近乡情更怯，不敢问来人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意思因为心中的紧张和胆怯而不敢向故乡来的人打听，二者为因果对应关系。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空山不见人，但闻人语响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意思是人在空山中听到了说话的声音，但没有看到人，二者不是因果关系，与题干逻辑关系不一致，排除；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松下问童子，言师采药去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意思是一个人在松树下询问一位童子，得到了师傅采药去的回答，二者不是因果关系，与题干逻辑关系不一致，排除；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君自故乡来，应知故乡事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意思是您是刚从家乡来的，一定了解家乡的人情世态。因为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君自故乡来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应知故乡事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，二者为因果对应关系，与题干逻辑关系一致，当选；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至今思项羽，不肯过江东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意思是人们到现在还思念项羽，只因他不肯偷生回江东。因为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不肯过江东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至今思项羽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，二者为因果对应关系，但词语顺序与题干相反，与题干逻辑关系不一致，排除。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21.</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解析：本题属于映射类，主要考查对应关系。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大脑通过思考产生思想，思想是大脑的产物，三者为对应关系。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项：心脏经过跳动为血液提供动力，血液不是心脏的产出物，排除；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项：肺脏经过呼吸获得空气，空气不是肺脏的产出物，排除；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项：编程可以产生软件，但这个过程不涉及芯片，排除；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项：车床经过切割产生产品，产品是车床的产物，当选。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22.</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解析：本题属于集合类，主要查考并列、种属关系。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信用卡、借记卡是银行卡，信用卡、借记卡是并列关系，二者与银行卡是种属关系。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项：针织物和机织物都是纺织物，针织物和机织物间为并列关系，二者与纺织物均为种属关系，与题干逻辑关系一致，当选；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项：保守派和激进派是两种不同的学派，二者为并列关系。两面派与保守派和激进派构成交叉关系，与题干逻辑关系不一致，排除；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项：丁字路和十字路都是交叉路，丁字路和十字路间为并列关系，二者与交叉路均为种属关系，但词项顺序与题干不一致，排除；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项：轩辕台和越王台属于并列关系，而主席台与前两词无明显逻辑关系，排除。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23.</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解析：本题属于映射类，主要考查对应关系。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股票与走势图为对应关系，交易信息是走势图所显示的对象，二者为对应关系。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项：心脏与心电图为对应关系，但心脏结构不是心电图所显示的对象，与题干关系不一致，排除；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项：的士与计价器为对应关系，但运营范围不是计价器所显示的对象，排除；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项：海拔是指超出海平面的高度，地平线是指地面与天空的分隔线，二者无明显关系，地面起伏和海拔无关，判定地面起伏的依据一般为等高线，排除；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项：企业与利润表为对应关系，经营情况是利润表所反映的对象，二者为对应关系。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24.</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解析：本题属于映射类，主要考查工具对应关系。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代入</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项：铅笔和蜡笔均是并列关系；照片和相片是全同关系，前后逻辑关系不一致，排除；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代入</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项：蜡笔可以用于画图，二者为工具的对应关系；相机可以用来拍照片，二者为工具的对应关系，前后逻辑关系一致，当选；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代入</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项：蜡笔是文具，二者是种属关系；相册可以用来放照片，二者不是种属关系，前后逻辑关系不一致，排除；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代入</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项：毛笔和蜡笔是并列关系；照片是图像，二者为种属关系，前后逻辑关系不一致，排除。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25.</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解析：本题属于语义类，主要考查比喻象征义。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代入</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项：沟沟坎坎比喻做事时所遇到的困难与障碍，二者为比喻象征关系，风风光光原指像风一样跑得快、远，像光一样明亮、耀眼，现指有讲排场、摆阔气，二者为比喻象征关系，当选；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代入</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项：沟沟坎坎与河流无明显关系，红红火火形容旺盛或经济优裕的生活，与排场无明显关系，排除；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代入</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项：山山水水泛指广袤辽阔的大地，与沟沟坎坎无明显关系，阔气与排场为近义关系，前后关系不一致，排除；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项：磕磕绊绊指不太顺利，与沟沟坎坎为近义关系，奢华和排场为偏正关系，前后关系不一致，排除。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26.</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观点：不仅商王陵园区存在明确规划，陵园外围也有较大段范围被划入缓冲区，禁止一般人占用。</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论据：考古人员在河南安阳洹河北岸的殷墟商王陵及周边区域新勘探发现东西两个围沟及</a:t>
            </a:r>
            <a:r>
              <a:rPr lang="en-US" altLang="zh-CN" sz="1200" kern="1200" dirty="0">
                <a:solidFill>
                  <a:schemeClr val="tx1"/>
                </a:solidFill>
                <a:effectLst/>
                <a:latin typeface="+mn-lt"/>
                <a:sym typeface="楷体" panose="02010609060101010101" charset="-122"/>
              </a:rPr>
              <a:t>400</a:t>
            </a:r>
            <a:r>
              <a:rPr lang="zh-CN" altLang="en-US" sz="1200" kern="1200" dirty="0">
                <a:solidFill>
                  <a:schemeClr val="tx1"/>
                </a:solidFill>
                <a:effectLst/>
                <a:latin typeface="+mn-lt"/>
                <a:sym typeface="楷体" panose="02010609060101010101" charset="-122"/>
              </a:rPr>
              <a:t>余座祭祀坑。这两个围沟均围绕在殷商大墓外围，相距</a:t>
            </a:r>
            <a:r>
              <a:rPr lang="en-US" altLang="zh-CN" sz="1200" kern="1200" dirty="0">
                <a:solidFill>
                  <a:schemeClr val="tx1"/>
                </a:solidFill>
                <a:effectLst/>
                <a:latin typeface="+mn-lt"/>
                <a:sym typeface="楷体" panose="02010609060101010101" charset="-122"/>
              </a:rPr>
              <a:t>40</a:t>
            </a:r>
            <a:r>
              <a:rPr lang="zh-CN" altLang="en-US" sz="1200" kern="1200" dirty="0">
                <a:solidFill>
                  <a:schemeClr val="tx1"/>
                </a:solidFill>
                <a:effectLst/>
                <a:latin typeface="+mn-lt"/>
                <a:sym typeface="楷体" panose="02010609060101010101" charset="-122"/>
              </a:rPr>
              <a:t>米，在东围沟东段以东、南段以南，存在大范围空白区域，极少发现商代晚期遗存。</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项：无关项。说的是在商王陵大墓内的情况，但题干讨论的是陵园外围的情况，为无关项，排除；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项：不能加强。在商王陵园外围区域不会发现商代晚期遗存，与题干已经内容重复，无法加强，排除；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项：加强项。说明发现了商代晚期遗存的区域是被一般人占用的，也就意味着极少发现商代晚期遗存说明可能未被一般人占用，建立了论点与论据的关系，为搭桥项，可以加强；</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项：无关项。说的是发现商代晚期遗存的区域位置，但题干讨论的是陵园外围是否有较大段范围被划入缓冲区，禁止一般人占用，话题不一致，排除。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27.</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论点：自己体温始终低于正常标准，这意味着自己的免疫力也低于常人。</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项：不明确选项。该项说明论据中的数据并无权威统计数据支持，但是无法证明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体温是否影响免疫力</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，属于不明确选项，无法质疑，排除；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项：加强项。该项解释说明体温高可以提高免疫力的原因，属于加强项，无法质疑，排除；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项：质疑项。该项说明体温差异不会影响身体免疫力的健康，直接否定了论点，可以质疑，当选；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项：无关项。该项说明身体各个部位的体温有差异，但论点讨论的是体温是否影响免疫力，话题不一致，不能质疑，排除。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28.</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论点：咖啡果肉有助于热带雨林的生态恢复。</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论据：研究人员将其中一块地均匀覆盖上近半米的咖啡果肉，另一块土地则什么也不做，任其自然。两年之后，两块地发生了迥然不同的剧变：被咖啡果肉覆盖的那块，</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栅栏草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已经完全消失，取而代之的是本应属于这里的热带树种的年轻树冠；而另一块地则依然被</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栅栏草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霸占着。</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项：支持项。该项说明覆盖咖啡果肉能够使土地更有韧性，生产恢复能力更佳，做诠释支持了题干观点，排除；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项：无关项。该项说明咖啡果的味道会吸引食草型动物前来觅食，改变周边的环境。改变周围环境对热带雨林的生态恢复有什么影响并不明确。属于无关项，无法支持，当选；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项：支持项。该项说明咖啡果肉中富含植物生长所需要的营养成分，能够为雨林修复按下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加速键</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，做诠释支持了题干观点，排除；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项：支持项。该项说明咖啡果肉能够抑制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栅栏草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的生长，补充新的论据，可以支持咖啡果肉有助于热带雨林的生态恢复，排除。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29.</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解析：本题属于翻译推理，梳理题干信息可得：</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研发部员工</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吃苦耐劳且博士</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有的研发部员工</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发明专利</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有的研发部员工</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国家科技发明大奖</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研发部</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集团发展的核心力量</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项：获得国家科技发明大奖的员工</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吃苦耐劳；结合</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有的研发部员工</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国家科技发明大奖，可得有的研发部员工获得国家科技发明大奖，再根据</a:t>
            </a:r>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可知研发部员工都吃苦耐劳，可知获得国家科技发明大奖的研发部员工均吃苦耐劳，可以推出，当选；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项：获得多项发明专利的员工</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获得国家科技发明大奖，题干未涉及二者的推出关系，排除；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项：获得国家科技发明大奖的员工</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集团发展的核心力量，根据</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有的</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是</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等价于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有的</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是</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，将条件</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换位：有的获得国家科技发明大奖</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研发部员工，研发部员工与研发部门二者概念不同，无法推出，排除；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项：有些员工获得多项发明专利，还有些员工甚至获得了国家科技发明大奖，其中可能存在既获得多项发明专利又获得了国家科技发明大奖的员工，不是要么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要么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的关系，排除。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30.</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解析：本题属于翻译推理，翻译题干可得：</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数据财产</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经济要素</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建立和完善数据要素</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明确数据财产的权属</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调动数据处理者在数据开发利用和流通中的积极性</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建立数据财产制度</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静态的数据资源在动态流转中跃变为具有经济价值的资产</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建立数据财产制度</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⑤</a:t>
            </a:r>
            <a:r>
              <a:rPr lang="zh-CN" altLang="en-US" sz="1200" kern="1200" dirty="0">
                <a:solidFill>
                  <a:schemeClr val="tx1"/>
                </a:solidFill>
                <a:effectLst/>
                <a:latin typeface="+mn-lt"/>
                <a:sym typeface="楷体" panose="02010609060101010101" charset="-122"/>
              </a:rPr>
              <a:t>推动数据产业的发展</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数据资源成为具有经济价值的资产</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⑥</a:t>
            </a:r>
            <a:r>
              <a:rPr lang="zh-CN" altLang="en-US" sz="1200" kern="1200" dirty="0">
                <a:solidFill>
                  <a:schemeClr val="tx1"/>
                </a:solidFill>
                <a:effectLst/>
                <a:latin typeface="+mn-lt"/>
                <a:sym typeface="楷体" panose="02010609060101010101" charset="-122"/>
              </a:rPr>
              <a:t>实现经济的数字化转型</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数据资源真正成为具有经济价值的资产</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项：明确数据财产的权属</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建立和完善数据要素，是对条件</a:t>
            </a:r>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的肯后，肯后无必然结论，排除；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项：跃变为具有经济价值的资产</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静态的数据资源在动态流转中，在题目中不存在推出关系，无法推出，排除；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项：－数据资源真正成为具有经济价值的资产</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－实现经济的数字化转型，是对条件</a:t>
            </a:r>
            <a:r>
              <a:rPr lang="en-US" altLang="en-US" sz="1200" kern="1200" dirty="0">
                <a:solidFill>
                  <a:schemeClr val="tx1"/>
                </a:solidFill>
                <a:effectLst/>
                <a:latin typeface="+mn-lt"/>
                <a:sym typeface="楷体" panose="02010609060101010101" charset="-122"/>
              </a:rPr>
              <a:t>⑥</a:t>
            </a:r>
            <a:r>
              <a:rPr lang="zh-CN" altLang="en-US" sz="1200" kern="1200" dirty="0">
                <a:solidFill>
                  <a:schemeClr val="tx1"/>
                </a:solidFill>
                <a:effectLst/>
                <a:latin typeface="+mn-lt"/>
                <a:sym typeface="楷体" panose="02010609060101010101" charset="-122"/>
              </a:rPr>
              <a:t>的否后，否后必否前，可以推出，当选；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项：建立数据财产制度</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调动数据处理者在数据开发利用和流通中的积极性，是对条件</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的肯后，肯后无必然结论，排除。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31.</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解析：本题属于论证类，主要考查相似结构。</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题干：生吃龙虾导致细菌感染这一现象，得到启示生吃龙虾要慎重谨防细菌感染。</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项：因为我身处在庐山之中，所以辨不清庐山真正的面目。并未涉及启示，与题干形式不一致，排除；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项：接近坏人可以使人变坏，接近好人可以使人变好这一现象，得到启示年轻人交友要慎重，与题干形式一致，当选；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项：春天种下一颗种子，秋天就可以收获一万颗粮食，得到生命都是循环往复的，是由一颗种子拓展到所有生命，概念扩大，与题干论证形式不一致，排除；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项：客观分析施行仁政的君主能够战无不胜的原因，没有涉及到启示，与题干形式不一致，排除。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32.</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观点：遵循</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省钱而不降品味，省钱而不失时尚，省钱而不减体面</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原则的</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开始被越来越多年轻人所推崇和青睐。</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网友</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：说明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推崇不代表践行，体现了</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的缺点，不支持</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网友</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是勤劳节俭美德的体现，体现了</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的优点，支持</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网友</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是一种新的节俭，体现了</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的优点，说明支持</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网友</a:t>
            </a:r>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：节俭的优势，与题干话题不一致，无法支持；</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网友</a:t>
            </a:r>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产生的原因，与题干话题不一致，无法支持；</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网友</a:t>
            </a:r>
            <a:r>
              <a:rPr lang="en-US" altLang="zh-CN" sz="1200" kern="1200" dirty="0">
                <a:solidFill>
                  <a:schemeClr val="tx1"/>
                </a:solidFill>
                <a:effectLst/>
                <a:latin typeface="+mn-lt"/>
                <a:sym typeface="楷体" panose="02010609060101010101" charset="-122"/>
              </a:rPr>
              <a:t>6</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实际上是一种浪费，说明不支持</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33.</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观点：大多数年轻人是推崇</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项：若受访者都是年轻人，说明大多数年轻人是推崇</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的，可以加强网友</a:t>
            </a:r>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的论证；若受访者不都是年轻人，则质疑了调查的代表性，可以削弱网友</a:t>
            </a:r>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的论证，因此该问题的回答对网友</a:t>
            </a:r>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的论证是重要的，排除；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项：若回答</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尚未尝试</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的受访者尝试过其他节省的方式，说明整体推崇</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的人比例更多，可以加强网友</a:t>
            </a:r>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的论证；若回答</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尚未尝试</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的受访者没有尝试过其他节省的方式，则说明只有少数人尝试寻找省钱方式，可以削弱网友</a:t>
            </a:r>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的论证，因此该问题的回答对网友</a:t>
            </a:r>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的论证是重要的，排除；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觉得没有必要尝试</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的受访者尝试过其他节省的方式，说明整体推崇</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的人比例更多，可以加强网友</a:t>
            </a:r>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的论证；若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觉得没有必要尝试</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的受访者没有尝试过其他节省的方式，则说明只有少数人尝试寻找省钱方式，可以削弱网友</a:t>
            </a:r>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的论证，因此该问题的回答对网友</a:t>
            </a:r>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的论证是重要的，排除；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项：受访者</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寻找各种省钱方式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的原因是什么，与大多数年轻人是否推崇</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无关，所以该问题不重要，当选。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34.</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甲认为：个人所得税的起征点应该考虑到各地区收入水平的差距，因此起征点不应该是全国统一的。</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乙认为：个人所得税的起征点按照行政区划区别对待会产生新的问题，因此起征点应该全国统一。</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故两个人是针对：个人所得税的起征点是否应该按照行政区划区别对待这一话题开展争论的。</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35.</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解析：本题属于论证类，梳理丙的观点：</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观点</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：个人所得税起征点各地不同不会是人才流动的壁垒。</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观点</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：高收入地区高起征点，低收入地区低起征点，调节分配的功能就会失效</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个人所得税起征点应该全国统一。</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甲的论据：</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对比东西方的收入差距</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，丙的论证中没有指出东部和西部收入水平是否不完全相同，二者话题不一致，无法肯定甲的论据，所以排除</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项和</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乙的论据为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个人所得税的起征点按照行政区划区别对待会产生新的问题，比如，影响劳动力要素流动的市场调节机制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。但是丙的观点</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认为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个人所得税起征点各地不同不会是人才流动的壁垒</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，故丙直接反驳乙的论据，排除</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丙的观点</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认为：个人所得税起征点应该统一，这点支持了乙的结论。</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9A5F825-9C29-43CC-BB96-80A60E9689F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4.xml"/><Relationship Id="rId7" Type="http://schemas.openxmlformats.org/officeDocument/2006/relationships/image" Target="../media/image2.png"/><Relationship Id="rId6" Type="http://schemas.openxmlformats.org/officeDocument/2006/relationships/tags" Target="../tags/tag3.xml"/><Relationship Id="rId5" Type="http://schemas.openxmlformats.org/officeDocument/2006/relationships/image" Target="NULL" TargetMode="External"/><Relationship Id="rId4" Type="http://schemas.openxmlformats.org/officeDocument/2006/relationships/image" Target="../media/image1.png"/><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5" Type="http://schemas.openxmlformats.org/officeDocument/2006/relationships/image" Target="NULL" TargetMode="External"/><Relationship Id="rId4" Type="http://schemas.openxmlformats.org/officeDocument/2006/relationships/image" Target="../media/image4.png"/><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5" Type="http://schemas.openxmlformats.org/officeDocument/2006/relationships/image" Target="NULL" TargetMode="External"/><Relationship Id="rId4" Type="http://schemas.openxmlformats.org/officeDocument/2006/relationships/image" Target="../media/image4.png"/><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7" Type="http://schemas.openxmlformats.org/officeDocument/2006/relationships/image" Target="../media/image3.png"/><Relationship Id="rId6" Type="http://schemas.openxmlformats.org/officeDocument/2006/relationships/tags" Target="../tags/tag23.xml"/><Relationship Id="rId5" Type="http://schemas.openxmlformats.org/officeDocument/2006/relationships/image" Target="NULL" TargetMode="External"/><Relationship Id="rId4" Type="http://schemas.openxmlformats.org/officeDocument/2006/relationships/image" Target="../media/image6.png"/><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34.xml"/><Relationship Id="rId7" Type="http://schemas.openxmlformats.org/officeDocument/2006/relationships/tags" Target="../tags/tag33.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18" name="矩形 17"/>
          <p:cNvSpPr/>
          <p:nvPr userDrawn="1">
            <p:custDataLst>
              <p:tags r:id="rId2"/>
            </p:custDataLst>
          </p:nvPr>
        </p:nvSpPr>
        <p:spPr>
          <a:xfrm>
            <a:off x="0" y="0"/>
            <a:ext cx="12192000" cy="6858000"/>
          </a:xfrm>
          <a:prstGeom prst="rect">
            <a:avLst/>
          </a:prstGeom>
          <a:gradFill flip="none" rotWithShape="1">
            <a:gsLst>
              <a:gs pos="0">
                <a:schemeClr val="bg1"/>
              </a:gs>
              <a:gs pos="100000">
                <a:schemeClr val="accent5">
                  <a:lumMod val="20000"/>
                  <a:lumOff val="8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楷体" panose="02010609060101010101" charset="-122"/>
            </a:endParaRPr>
          </a:p>
        </p:txBody>
      </p:sp>
      <p:pic>
        <p:nvPicPr>
          <p:cNvPr id="13" name="@png2x_02_章节" descr="7b0a202020202266696c746572223a202230220a7d0a"/>
          <p:cNvPicPr>
            <a:picLocks noChangeAspect="1"/>
          </p:cNvPicPr>
          <p:nvPr userDrawn="1">
            <p:custDataLst>
              <p:tags r:id="rId3"/>
            </p:custDataLst>
          </p:nvPr>
        </p:nvPicPr>
        <p:blipFill>
          <a:blip r:embed="rId4" r:link="rId5">
            <a:alphaModFix amt="20000"/>
          </a:blip>
          <a:stretch>
            <a:fillRect/>
          </a:stretch>
        </p:blipFill>
        <p:spPr>
          <a:xfrm>
            <a:off x="0" y="4953000"/>
            <a:ext cx="2323465" cy="1905000"/>
          </a:xfrm>
          <a:prstGeom prst="rect">
            <a:avLst/>
          </a:prstGeom>
        </p:spPr>
      </p:pic>
      <p:pic>
        <p:nvPicPr>
          <p:cNvPr id="11" name="@png2x_02_正文"/>
          <p:cNvPicPr>
            <a:picLocks noChangeAspect="1"/>
          </p:cNvPicPr>
          <p:nvPr userDrawn="1">
            <p:custDataLst>
              <p:tags r:id="rId6"/>
            </p:custDataLst>
          </p:nvPr>
        </p:nvPicPr>
        <p:blipFill>
          <a:blip r:embed="rId7" r:link="rId5">
            <a:alphaModFix amt="20000"/>
          </a:blip>
          <a:stretch>
            <a:fillRect/>
          </a:stretch>
        </p:blipFill>
        <p:spPr>
          <a:xfrm flipH="1">
            <a:off x="7913052" y="0"/>
            <a:ext cx="4279265" cy="2276475"/>
          </a:xfrm>
          <a:prstGeom prst="rect">
            <a:avLst/>
          </a:prstGeom>
        </p:spPr>
      </p:pic>
      <p:pic>
        <p:nvPicPr>
          <p:cNvPr id="3" name="图片 2" descr="1"/>
          <p:cNvPicPr>
            <a:picLocks noChangeAspect="1"/>
          </p:cNvPicPr>
          <p:nvPr userDrawn="1">
            <p:custDataLst>
              <p:tags r:id="rId8"/>
            </p:custDataLst>
          </p:nvPr>
        </p:nvPicPr>
        <p:blipFill>
          <a:blip r:embed="rId9"/>
          <a:stretch>
            <a:fillRect/>
          </a:stretch>
        </p:blipFill>
        <p:spPr>
          <a:xfrm>
            <a:off x="107950" y="144780"/>
            <a:ext cx="2807335" cy="53784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a:defRPr>
                <a:cs typeface="楷体" panose="02010609060101010101" charset="-122"/>
              </a:defRPr>
            </a:lvl1p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a:defRPr>
                <a:cs typeface="楷体" panose="02010609060101010101" charset="-122"/>
              </a:defRPr>
            </a:lvl1pPr>
            <a:lvl2pPr>
              <a:defRPr>
                <a:cs typeface="楷体" panose="02010609060101010101" charset="-122"/>
              </a:defRPr>
            </a:lvl2pPr>
            <a:lvl3pPr>
              <a:defRPr>
                <a:cs typeface="楷体" panose="02010609060101010101" charset="-122"/>
              </a:defRPr>
            </a:lvl3pPr>
            <a:lvl4pPr>
              <a:defRPr>
                <a:cs typeface="楷体" panose="02010609060101010101" charset="-122"/>
              </a:defRPr>
            </a:lvl4pPr>
            <a:lvl5pPr>
              <a:defRPr>
                <a:cs typeface="楷体" panose="02010609060101010101" charset="-122"/>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cs typeface="楷体" panose="02010609060101010101" charset="-122"/>
              </a:defRPr>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cs typeface="楷体" panose="02010609060101010101"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Tree>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16" name="矩形 15"/>
          <p:cNvSpPr/>
          <p:nvPr userDrawn="1">
            <p:custDataLst>
              <p:tags r:id="rId2"/>
            </p:custDataLst>
          </p:nvPr>
        </p:nvSpPr>
        <p:spPr>
          <a:xfrm>
            <a:off x="0" y="0"/>
            <a:ext cx="12192000" cy="6858000"/>
          </a:xfrm>
          <a:prstGeom prst="rect">
            <a:avLst/>
          </a:prstGeom>
          <a:gradFill flip="none" rotWithShape="1">
            <a:gsLst>
              <a:gs pos="0">
                <a:schemeClr val="bg1"/>
              </a:gs>
              <a:gs pos="100000">
                <a:schemeClr val="accent5">
                  <a:lumMod val="40000"/>
                  <a:lumOff val="6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楷体" panose="02010609060101010101" charset="-122"/>
            </a:endParaRPr>
          </a:p>
        </p:txBody>
      </p:sp>
      <p:pic>
        <p:nvPicPr>
          <p:cNvPr id="17" name="@png2x_01_结束" descr="C:/Users/kingsoft/AppData/Local/Temp/fig2wpp/@png2x_01_结束.png"/>
          <p:cNvPicPr>
            <a:picLocks noChangeAspect="1"/>
          </p:cNvPicPr>
          <p:nvPr userDrawn="1">
            <p:custDataLst>
              <p:tags r:id="rId3"/>
            </p:custDataLst>
          </p:nvPr>
        </p:nvPicPr>
        <p:blipFill>
          <a:blip r:embed="rId4" r:link="rId5">
            <a:alphaModFix amt="20000"/>
          </a:blip>
          <a:stretch>
            <a:fillRect/>
          </a:stretch>
        </p:blipFill>
        <p:spPr>
          <a:xfrm>
            <a:off x="0" y="0"/>
            <a:ext cx="7372350" cy="5682615"/>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16" name="矩形 15"/>
          <p:cNvSpPr/>
          <p:nvPr userDrawn="1">
            <p:custDataLst>
              <p:tags r:id="rId2"/>
            </p:custDataLst>
          </p:nvPr>
        </p:nvSpPr>
        <p:spPr>
          <a:xfrm>
            <a:off x="0" y="0"/>
            <a:ext cx="12192000" cy="6858000"/>
          </a:xfrm>
          <a:prstGeom prst="rect">
            <a:avLst/>
          </a:prstGeom>
          <a:gradFill flip="none" rotWithShape="1">
            <a:gsLst>
              <a:gs pos="0">
                <a:schemeClr val="bg1"/>
              </a:gs>
              <a:gs pos="100000">
                <a:schemeClr val="accent5">
                  <a:lumMod val="40000"/>
                  <a:lumOff val="6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楷体" panose="02010609060101010101" charset="-122"/>
            </a:endParaRPr>
          </a:p>
        </p:txBody>
      </p:sp>
      <p:pic>
        <p:nvPicPr>
          <p:cNvPr id="17" name="@png2x_01_结束" descr="C:/Users/kingsoft/AppData/Local/Temp/fig2wpp/@png2x_01_结束.png"/>
          <p:cNvPicPr>
            <a:picLocks noChangeAspect="1"/>
          </p:cNvPicPr>
          <p:nvPr userDrawn="1">
            <p:custDataLst>
              <p:tags r:id="rId3"/>
            </p:custDataLst>
          </p:nvPr>
        </p:nvPicPr>
        <p:blipFill>
          <a:blip r:embed="rId4" r:link="rId5">
            <a:alphaModFix amt="20000"/>
          </a:blip>
          <a:stretch>
            <a:fillRect/>
          </a:stretch>
        </p:blipFill>
        <p:spPr>
          <a:xfrm>
            <a:off x="0" y="0"/>
            <a:ext cx="7372350" cy="5682615"/>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solidFill>
          <a:schemeClr val="bg1"/>
        </a:solidFill>
        <a:effectLst/>
      </p:bgPr>
    </p:bg>
    <p:spTree>
      <p:nvGrpSpPr>
        <p:cNvPr id="1" name=""/>
        <p:cNvGrpSpPr/>
        <p:nvPr/>
      </p:nvGrpSpPr>
      <p:grpSpPr>
        <a:xfrm>
          <a:off x="0" y="0"/>
          <a:ext cx="0" cy="0"/>
          <a:chOff x="0" y="0"/>
          <a:chExt cx="0" cy="0"/>
        </a:xfrm>
      </p:grpSpPr>
      <p:sp>
        <p:nvSpPr>
          <p:cNvPr id="7" name="矩形 6"/>
          <p:cNvSpPr/>
          <p:nvPr userDrawn="1">
            <p:custDataLst>
              <p:tags r:id="rId2"/>
            </p:custDataLst>
          </p:nvPr>
        </p:nvSpPr>
        <p:spPr>
          <a:xfrm rot="10800000" flipH="1" flipV="1">
            <a:off x="0" y="0"/>
            <a:ext cx="12192000" cy="6858000"/>
          </a:xfrm>
          <a:prstGeom prst="rect">
            <a:avLst/>
          </a:prstGeom>
          <a:gradFill>
            <a:gsLst>
              <a:gs pos="0">
                <a:srgbClr val="67BEFF"/>
              </a:gs>
              <a:gs pos="0">
                <a:srgbClr val="A5D7FE">
                  <a:alpha val="100000"/>
                </a:srgbClr>
              </a:gs>
              <a:gs pos="0">
                <a:schemeClr val="accent5">
                  <a:lumMod val="20000"/>
                  <a:lumOff val="80000"/>
                </a:schemeClr>
              </a:gs>
              <a:gs pos="100000">
                <a:srgbClr val="E3F0FD">
                  <a:alpha val="36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dirty="0">
              <a:cs typeface="楷体" panose="02010609060101010101" charset="-122"/>
            </a:endParaRPr>
          </a:p>
        </p:txBody>
      </p:sp>
      <p:pic>
        <p:nvPicPr>
          <p:cNvPr id="8" name="@png2x_01_封面" descr="7b0a202020202266696c746572223a202230220a7d0a"/>
          <p:cNvPicPr>
            <a:picLocks noChangeAspect="1"/>
          </p:cNvPicPr>
          <p:nvPr userDrawn="1">
            <p:custDataLst>
              <p:tags r:id="rId3"/>
            </p:custDataLst>
          </p:nvPr>
        </p:nvPicPr>
        <p:blipFill>
          <a:blip r:embed="rId4" r:link="rId5">
            <a:alphaModFix amt="20000"/>
          </a:blip>
          <a:stretch>
            <a:fillRect/>
          </a:stretch>
        </p:blipFill>
        <p:spPr>
          <a:xfrm flipH="1">
            <a:off x="0" y="3045460"/>
            <a:ext cx="4892675" cy="3812540"/>
          </a:xfrm>
          <a:prstGeom prst="rect">
            <a:avLst/>
          </a:prstGeom>
          <a:noFill/>
        </p:spPr>
      </p:pic>
      <p:pic>
        <p:nvPicPr>
          <p:cNvPr id="9" name="图片 8" descr="1"/>
          <p:cNvPicPr>
            <a:picLocks noChangeAspect="1"/>
          </p:cNvPicPr>
          <p:nvPr userDrawn="1">
            <p:custDataLst>
              <p:tags r:id="rId6"/>
            </p:custDataLst>
          </p:nvPr>
        </p:nvPicPr>
        <p:blipFill>
          <a:blip r:embed="rId7"/>
          <a:stretch>
            <a:fillRect/>
          </a:stretch>
        </p:blipFill>
        <p:spPr>
          <a:xfrm>
            <a:off x="107950" y="144780"/>
            <a:ext cx="2807335" cy="537845"/>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0"/>
            <a:ext cx="12192000" cy="6858000"/>
          </a:xfrm>
          <a:prstGeom prst="rect">
            <a:avLst/>
          </a:prstGeom>
          <a:gradFill flip="none" rotWithShape="1">
            <a:gsLst>
              <a:gs pos="0">
                <a:schemeClr val="bg1"/>
              </a:gs>
              <a:gs pos="100000">
                <a:schemeClr val="accent5">
                  <a:lumMod val="20000"/>
                  <a:lumOff val="8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楷体" panose="02010609060101010101" charset="-122"/>
            </a:endParaRPr>
          </a:p>
        </p:txBody>
      </p:sp>
      <p:sp>
        <p:nvSpPr>
          <p:cNvPr id="4" name="Rectangle 41800_#color-2111&amp;819"/>
          <p:cNvSpPr/>
          <p:nvPr userDrawn="1">
            <p:custDataLst>
              <p:tags r:id="rId3"/>
            </p:custDataLst>
          </p:nvPr>
        </p:nvSpPr>
        <p:spPr>
          <a:xfrm>
            <a:off x="0" y="0"/>
            <a:ext cx="5614416" cy="6858000"/>
          </a:xfrm>
          <a:prstGeom prst="rect">
            <a:avLst/>
          </a:prstGeom>
          <a:solidFill>
            <a:schemeClr val="tx2">
              <a:alpha val="10000"/>
            </a:schemeClr>
          </a:solidFill>
        </p:spPr>
      </p:sp>
      <p:sp>
        <p:nvSpPr>
          <p:cNvPr id="5" name="Rectangle 29_#color_$accent1_$accent2-2111&amp;1290"/>
          <p:cNvSpPr/>
          <p:nvPr userDrawn="1">
            <p:custDataLst>
              <p:tags r:id="rId4"/>
            </p:custDataLst>
          </p:nvPr>
        </p:nvSpPr>
        <p:spPr>
          <a:xfrm>
            <a:off x="0" y="0"/>
            <a:ext cx="9693910" cy="6858000"/>
          </a:xfrm>
          <a:custGeom>
            <a:avLst/>
            <a:gdLst/>
            <a:ahLst/>
            <a:cxnLst/>
            <a:rect l="l" t="t" r="r" b="b"/>
            <a:pathLst>
              <a:path w="10085832" h="6858000">
                <a:moveTo>
                  <a:pt x="0" y="4581144"/>
                </a:moveTo>
                <a:lnTo>
                  <a:pt x="4581144" y="0"/>
                </a:lnTo>
                <a:lnTo>
                  <a:pt x="6830568" y="0"/>
                </a:lnTo>
                <a:lnTo>
                  <a:pt x="10085832" y="3255264"/>
                </a:lnTo>
                <a:lnTo>
                  <a:pt x="6483096" y="6858000"/>
                </a:lnTo>
                <a:lnTo>
                  <a:pt x="0" y="6858000"/>
                </a:lnTo>
                <a:lnTo>
                  <a:pt x="0" y="4581144"/>
                </a:lnTo>
              </a:path>
            </a:pathLst>
          </a:custGeom>
          <a:gradFill>
            <a:gsLst>
              <a:gs pos="0">
                <a:schemeClr val="accent5">
                  <a:lumMod val="60000"/>
                  <a:lumOff val="40000"/>
                </a:schemeClr>
              </a:gs>
              <a:gs pos="94328">
                <a:schemeClr val="accent1">
                  <a:alpha val="100000"/>
                </a:schemeClr>
              </a:gs>
            </a:gsLst>
            <a:lin ang="10921821"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6" name="Rectangle 27_#color-2111&amp;1293"/>
          <p:cNvSpPr/>
          <p:nvPr userDrawn="1">
            <p:custDataLst>
              <p:tags r:id="rId5"/>
            </p:custDataLst>
          </p:nvPr>
        </p:nvSpPr>
        <p:spPr>
          <a:xfrm>
            <a:off x="2673096" y="0"/>
            <a:ext cx="9518904" cy="6858000"/>
          </a:xfrm>
          <a:custGeom>
            <a:avLst/>
            <a:gdLst/>
            <a:ahLst/>
            <a:cxnLst/>
            <a:rect l="l" t="t" r="r" b="b"/>
            <a:pathLst>
              <a:path w="9518904" h="6858000">
                <a:moveTo>
                  <a:pt x="2569464" y="6858000"/>
                </a:moveTo>
                <a:lnTo>
                  <a:pt x="9518904" y="6858000"/>
                </a:lnTo>
                <a:lnTo>
                  <a:pt x="9518904" y="0"/>
                </a:lnTo>
                <a:lnTo>
                  <a:pt x="3867912" y="0"/>
                </a:lnTo>
                <a:lnTo>
                  <a:pt x="146304" y="3721608"/>
                </a:lnTo>
                <a:cubicBezTo>
                  <a:pt x="-45720" y="3913632"/>
                  <a:pt x="-45720" y="4242816"/>
                  <a:pt x="146304" y="4434840"/>
                </a:cubicBezTo>
                <a:lnTo>
                  <a:pt x="2569464" y="6858000"/>
                </a:lnTo>
              </a:path>
            </a:pathLst>
          </a:custGeom>
          <a:solidFill>
            <a:schemeClr val="bg2"/>
          </a:solidFill>
          <a:effectLst/>
          <a:extLst>
            <a:ext uri="{AF507438-7753-43E0-B8FC-AC1667EBCBE1}">
              <a14:hiddenEffects xmlns:a14="http://schemas.microsoft.com/office/drawing/2010/main">
                <a:effectLst>
                  <a:outerShdw blurRad="251460" dist="101600" dir="5400000" algn="bl" rotWithShape="0">
                    <a:srgbClr val="DDDDDD">
                      <a:alpha val="25000"/>
                    </a:srgbClr>
                  </a:outerShdw>
                </a:effectLst>
              </a14:hiddenEffects>
            </a:ext>
          </a:extLst>
        </p:spPr>
      </p:sp>
      <p:sp>
        <p:nvSpPr>
          <p:cNvPr id="10" name="Rectangle 28_#color_$lt2_$lt2-2111&amp;1296"/>
          <p:cNvSpPr/>
          <p:nvPr userDrawn="1">
            <p:custDataLst>
              <p:tags r:id="rId6"/>
            </p:custDataLst>
          </p:nvPr>
        </p:nvSpPr>
        <p:spPr>
          <a:xfrm>
            <a:off x="0" y="-11430"/>
            <a:ext cx="5198110" cy="3284855"/>
          </a:xfrm>
          <a:custGeom>
            <a:avLst/>
            <a:gdLst/>
            <a:ahLst/>
            <a:cxnLst/>
            <a:rect l="l" t="t" r="r" b="b"/>
            <a:pathLst>
              <a:path w="5879592" h="3538728">
                <a:moveTo>
                  <a:pt x="5879592" y="0"/>
                </a:moveTo>
                <a:lnTo>
                  <a:pt x="0" y="0"/>
                </a:lnTo>
                <a:lnTo>
                  <a:pt x="0" y="1618488"/>
                </a:lnTo>
                <a:lnTo>
                  <a:pt x="1773936" y="3392424"/>
                </a:lnTo>
                <a:cubicBezTo>
                  <a:pt x="1965960" y="3593592"/>
                  <a:pt x="2295144" y="3593592"/>
                  <a:pt x="2487168" y="3392424"/>
                </a:cubicBezTo>
                <a:lnTo>
                  <a:pt x="5879592" y="0"/>
                </a:lnTo>
              </a:path>
            </a:pathLst>
          </a:custGeom>
          <a:gradFill>
            <a:gsLst>
              <a:gs pos="0">
                <a:schemeClr val="bg2">
                  <a:alpha val="100000"/>
                </a:schemeClr>
              </a:gs>
              <a:gs pos="100000">
                <a:schemeClr val="bg2">
                  <a:alpha val="56000"/>
                </a:schemeClr>
              </a:gs>
            </a:gsLst>
            <a:lin ang="912000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2" name="标题 1"/>
          <p:cNvSpPr>
            <a:spLocks noGrp="1"/>
          </p:cNvSpPr>
          <p:nvPr>
            <p:ph type="title" hasCustomPrompt="1"/>
            <p:custDataLst>
              <p:tags r:id="rId7"/>
            </p:custDataLst>
          </p:nvPr>
        </p:nvSpPr>
        <p:spPr>
          <a:xfrm>
            <a:off x="6096000" y="506730"/>
            <a:ext cx="5643880" cy="1081405"/>
          </a:xfrm>
        </p:spPr>
        <p:txBody>
          <a:bodyPr wrap="square" anchor="b">
            <a:normAutofit/>
          </a:bodyPr>
          <a:lstStyle>
            <a:lvl1pPr algn="ctr">
              <a:defRPr sz="5000">
                <a:latin typeface="+mj-ea"/>
                <a:ea typeface="+mj-ea"/>
              </a:defRPr>
            </a:lvl1pPr>
          </a:lstStyle>
          <a:p>
            <a:r>
              <a:rPr lang="zh-CN" altLang="en-US" dirty="0"/>
              <a:t>标题</a:t>
            </a:r>
            <a:endParaRPr lang="zh-CN" altLang="en-US" dirty="0"/>
          </a:p>
        </p:txBody>
      </p:sp>
      <p:pic>
        <p:nvPicPr>
          <p:cNvPr id="12" name="图片 11" descr="1"/>
          <p:cNvPicPr>
            <a:picLocks noChangeAspect="1"/>
          </p:cNvPicPr>
          <p:nvPr userDrawn="1">
            <p:custDataLst>
              <p:tags r:id="rId8"/>
            </p:custDataLst>
          </p:nvPr>
        </p:nvPicPr>
        <p:blipFill>
          <a:blip r:embed="rId9"/>
          <a:stretch>
            <a:fillRect/>
          </a:stretch>
        </p:blipFill>
        <p:spPr>
          <a:xfrm>
            <a:off x="107950" y="144780"/>
            <a:ext cx="2807335" cy="537845"/>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3" Type="http://schemas.openxmlformats.org/officeDocument/2006/relationships/theme" Target="../theme/theme1.xml"/><Relationship Id="rId32" Type="http://schemas.openxmlformats.org/officeDocument/2006/relationships/image" Target="../media/image3.png"/><Relationship Id="rId31" Type="http://schemas.openxmlformats.org/officeDocument/2006/relationships/tags" Target="../tags/tag15.xml"/><Relationship Id="rId30" Type="http://schemas.openxmlformats.org/officeDocument/2006/relationships/tags" Target="../tags/tag14.xml"/><Relationship Id="rId3" Type="http://schemas.openxmlformats.org/officeDocument/2006/relationships/slideLayout" Target="../slideLayouts/slideLayout3.xml"/><Relationship Id="rId29" Type="http://schemas.openxmlformats.org/officeDocument/2006/relationships/image" Target="../media/image5.png"/><Relationship Id="rId28" Type="http://schemas.openxmlformats.org/officeDocument/2006/relationships/tags" Target="../tags/tag13.xml"/><Relationship Id="rId27" Type="http://schemas.openxmlformats.org/officeDocument/2006/relationships/image" Target="NULL" TargetMode="External"/><Relationship Id="rId26" Type="http://schemas.openxmlformats.org/officeDocument/2006/relationships/image" Target="../media/image2.png"/><Relationship Id="rId25" Type="http://schemas.openxmlformats.org/officeDocument/2006/relationships/tags" Target="../tags/tag12.xml"/><Relationship Id="rId24" Type="http://schemas.openxmlformats.org/officeDocument/2006/relationships/tags" Target="../tags/tag11.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7" Type="http://schemas.openxmlformats.org/officeDocument/2006/relationships/tags" Target="../tags/tag20.xml"/><Relationship Id="rId6" Type="http://schemas.openxmlformats.org/officeDocument/2006/relationships/image" Target="NULL" TargetMode="External"/><Relationship Id="rId5" Type="http://schemas.openxmlformats.org/officeDocument/2006/relationships/image" Target="../media/image2.png"/><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slideLayout" Target="../slideLayouts/slideLayout25.xml"/><Relationship Id="rId1"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9" Type="http://schemas.openxmlformats.org/officeDocument/2006/relationships/theme" Target="../theme/theme3.xml"/><Relationship Id="rId8" Type="http://schemas.openxmlformats.org/officeDocument/2006/relationships/tags" Target="../tags/tag27.xml"/><Relationship Id="rId7" Type="http://schemas.openxmlformats.org/officeDocument/2006/relationships/image" Target="../media/image5.png"/><Relationship Id="rId6" Type="http://schemas.openxmlformats.org/officeDocument/2006/relationships/tags" Target="../tags/tag26.xml"/><Relationship Id="rId5" Type="http://schemas.openxmlformats.org/officeDocument/2006/relationships/image" Target="NULL" TargetMode="External"/><Relationship Id="rId4" Type="http://schemas.openxmlformats.org/officeDocument/2006/relationships/image" Target="../media/image2.png"/><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9" Type="http://schemas.openxmlformats.org/officeDocument/2006/relationships/theme" Target="../theme/theme4.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8" name="矩形 17"/>
          <p:cNvSpPr/>
          <p:nvPr userDrawn="1">
            <p:custDataLst>
              <p:tags r:id="rId24"/>
            </p:custDataLst>
          </p:nvPr>
        </p:nvSpPr>
        <p:spPr>
          <a:xfrm>
            <a:off x="0" y="0"/>
            <a:ext cx="12192000" cy="6858000"/>
          </a:xfrm>
          <a:prstGeom prst="rect">
            <a:avLst/>
          </a:prstGeom>
          <a:gradFill flip="none" rotWithShape="1">
            <a:gsLst>
              <a:gs pos="0">
                <a:schemeClr val="bg1"/>
              </a:gs>
              <a:gs pos="100000">
                <a:schemeClr val="accent5">
                  <a:lumMod val="20000"/>
                  <a:lumOff val="8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latin typeface="楷体" panose="02010609060101010101" charset="-122"/>
              <a:ea typeface="楷体" panose="02010609060101010101" charset="-122"/>
              <a:cs typeface="楷体" panose="02010609060101010101" charset="-122"/>
            </a:endParaRPr>
          </a:p>
        </p:txBody>
      </p:sp>
      <p:pic>
        <p:nvPicPr>
          <p:cNvPr id="11" name="@png2x_02_正文"/>
          <p:cNvPicPr>
            <a:picLocks noChangeAspect="1"/>
          </p:cNvPicPr>
          <p:nvPr userDrawn="1">
            <p:custDataLst>
              <p:tags r:id="rId25"/>
            </p:custDataLst>
          </p:nvPr>
        </p:nvPicPr>
        <p:blipFill>
          <a:blip r:embed="rId26" r:link="rId27">
            <a:alphaModFix amt="20000"/>
          </a:blip>
          <a:stretch>
            <a:fillRect/>
          </a:stretch>
        </p:blipFill>
        <p:spPr>
          <a:xfrm flipH="1">
            <a:off x="7913052" y="0"/>
            <a:ext cx="4279265" cy="2276475"/>
          </a:xfrm>
          <a:prstGeom prst="rect">
            <a:avLst/>
          </a:prstGeom>
        </p:spPr>
      </p:pic>
      <p:pic>
        <p:nvPicPr>
          <p:cNvPr id="12" name="@png2x_01_正文"/>
          <p:cNvPicPr>
            <a:picLocks noChangeAspect="1"/>
          </p:cNvPicPr>
          <p:nvPr userDrawn="1">
            <p:custDataLst>
              <p:tags r:id="rId28"/>
            </p:custDataLst>
          </p:nvPr>
        </p:nvPicPr>
        <p:blipFill>
          <a:blip r:embed="rId29" r:link="rId27">
            <a:alphaModFix amt="20000"/>
          </a:blip>
          <a:stretch>
            <a:fillRect/>
          </a:stretch>
        </p:blipFill>
        <p:spPr>
          <a:xfrm rot="5400000">
            <a:off x="186993" y="4824556"/>
            <a:ext cx="1847864" cy="2218863"/>
          </a:xfrm>
          <a:prstGeom prst="rect">
            <a:avLst/>
          </a:prstGeom>
        </p:spPr>
      </p:pic>
      <p:sp>
        <p:nvSpPr>
          <p:cNvPr id="7" name="KSO_TEMPLATE" hidden="1"/>
          <p:cNvSpPr/>
          <p:nvPr userDrawn="1">
            <p:custDataLst>
              <p:tags r:id="rId30"/>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楷体" panose="02010609060101010101" charset="-122"/>
              <a:ea typeface="楷体" panose="02010609060101010101" charset="-122"/>
              <a:cs typeface="楷体" panose="02010609060101010101" charset="-122"/>
            </a:endParaRPr>
          </a:p>
        </p:txBody>
      </p:sp>
      <p:pic>
        <p:nvPicPr>
          <p:cNvPr id="8" name="图片 7" descr="1"/>
          <p:cNvPicPr>
            <a:picLocks noChangeAspect="1"/>
          </p:cNvPicPr>
          <p:nvPr userDrawn="1">
            <p:custDataLst>
              <p:tags r:id="rId31"/>
            </p:custDataLst>
          </p:nvPr>
        </p:nvPicPr>
        <p:blipFill>
          <a:blip r:embed="rId32"/>
          <a:stretch>
            <a:fillRect/>
          </a:stretch>
        </p:blipFill>
        <p:spPr>
          <a:xfrm>
            <a:off x="107950" y="144780"/>
            <a:ext cx="2807335" cy="53784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txStyles>
    <p:titleStyle>
      <a:lvl1pPr algn="ctr" defTabSz="914400" rtl="0" eaLnBrk="1" latinLnBrk="0" hangingPunct="1">
        <a:lnSpc>
          <a:spcPct val="100000"/>
        </a:lnSpc>
        <a:spcBef>
          <a:spcPct val="0"/>
        </a:spcBef>
        <a:buNone/>
        <a:defRPr sz="3200" b="1" kern="1200">
          <a:solidFill>
            <a:schemeClr val="tx1"/>
          </a:solidFill>
          <a:latin typeface="+mj-ea"/>
          <a:ea typeface="+mj-ea"/>
          <a:cs typeface="MiSans Bold" panose="00000800000000000000" charset="-122"/>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1800" kern="1200">
          <a:solidFill>
            <a:schemeClr val="tx1"/>
          </a:solidFill>
          <a:latin typeface="+mn-ea"/>
          <a:ea typeface="+mn-ea"/>
          <a:cs typeface="MiSans Bold" panose="00000800000000000000" charset="-122"/>
        </a:defRPr>
      </a:lvl1pPr>
      <a:lvl2pPr marL="538480" indent="-20637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ea"/>
          <a:ea typeface="+mn-ea"/>
          <a:cs typeface="MiSans Bold" panose="00000800000000000000" charset="-122"/>
        </a:defRPr>
      </a:lvl2pPr>
      <a:lvl3pPr marL="798830" indent="-161925"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ea"/>
          <a:ea typeface="+mn-ea"/>
          <a:cs typeface="MiSans Bold" panose="00000800000000000000" charset="-122"/>
        </a:defRPr>
      </a:lvl3pPr>
      <a:lvl4pPr marL="1030605" indent="-149225" algn="l" defTabSz="914400" rtl="0" eaLnBrk="1" latinLnBrk="0" hangingPunct="1">
        <a:lnSpc>
          <a:spcPct val="130000"/>
        </a:lnSpc>
        <a:spcBef>
          <a:spcPts val="0"/>
        </a:spcBef>
        <a:buFont typeface="Arial" panose="020B0604020202020204" pitchFamily="34" charset="0"/>
        <a:buChar char="•"/>
        <a:defRPr sz="1200" kern="1200">
          <a:solidFill>
            <a:schemeClr val="tx1">
              <a:lumMod val="65000"/>
              <a:lumOff val="35000"/>
            </a:schemeClr>
          </a:solidFill>
          <a:latin typeface="+mn-ea"/>
          <a:ea typeface="+mn-ea"/>
          <a:cs typeface="MiSans Bold" panose="00000800000000000000" charset="-122"/>
        </a:defRPr>
      </a:lvl4pPr>
      <a:lvl5pPr marL="1235075" indent="-127000" algn="l" defTabSz="914400" rtl="0" eaLnBrk="1" latinLnBrk="0" hangingPunct="1">
        <a:lnSpc>
          <a:spcPct val="130000"/>
        </a:lnSpc>
        <a:spcBef>
          <a:spcPts val="0"/>
        </a:spcBef>
        <a:buFont typeface="Arial" panose="020B0604020202020204" pitchFamily="34" charset="0"/>
        <a:buChar char="•"/>
        <a:defRPr sz="1100" kern="1200">
          <a:solidFill>
            <a:schemeClr val="tx1">
              <a:lumMod val="65000"/>
              <a:lumOff val="35000"/>
            </a:schemeClr>
          </a:solidFill>
          <a:latin typeface="+mn-ea"/>
          <a:ea typeface="+mn-ea"/>
          <a:cs typeface="MiSans Bold" panose="000008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矩形 12"/>
          <p:cNvSpPr/>
          <p:nvPr userDrawn="1">
            <p:custDataLst>
              <p:tags r:id="rId3"/>
            </p:custDataLst>
          </p:nvPr>
        </p:nvSpPr>
        <p:spPr>
          <a:xfrm>
            <a:off x="0" y="0"/>
            <a:ext cx="12192000" cy="6858000"/>
          </a:xfrm>
          <a:prstGeom prst="rect">
            <a:avLst/>
          </a:prstGeom>
          <a:gradFill flip="none" rotWithShape="1">
            <a:gsLst>
              <a:gs pos="0">
                <a:srgbClr val="67BEFF">
                  <a:alpha val="100000"/>
                </a:srgbClr>
              </a:gs>
              <a:gs pos="0">
                <a:schemeClr val="accent5">
                  <a:lumMod val="40000"/>
                  <a:lumOff val="60000"/>
                </a:schemeClr>
              </a:gs>
              <a:gs pos="55000">
                <a:srgbClr val="E3F0FD"/>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楷体" panose="02010609060101010101" charset="-122"/>
              <a:ea typeface="楷体" panose="02010609060101010101" charset="-122"/>
              <a:cs typeface="楷体" panose="02010609060101010101" charset="-122"/>
            </a:endParaRPr>
          </a:p>
        </p:txBody>
      </p:sp>
      <p:pic>
        <p:nvPicPr>
          <p:cNvPr id="11" name="@png2x_02_正文"/>
          <p:cNvPicPr>
            <a:picLocks noChangeAspect="1"/>
          </p:cNvPicPr>
          <p:nvPr userDrawn="1">
            <p:custDataLst>
              <p:tags r:id="rId4"/>
            </p:custDataLst>
          </p:nvPr>
        </p:nvPicPr>
        <p:blipFill>
          <a:blip r:embed="rId5" r:link="rId6"/>
          <a:stretch>
            <a:fillRect/>
          </a:stretch>
        </p:blipFill>
        <p:spPr>
          <a:xfrm>
            <a:off x="1587" y="0"/>
            <a:ext cx="4279265" cy="2276475"/>
          </a:xfrm>
          <a:prstGeom prst="rect">
            <a:avLst/>
          </a:prstGeom>
        </p:spPr>
      </p:pic>
      <p:sp>
        <p:nvSpPr>
          <p:cNvPr id="7" name="KSO_TEMPLATE" hidden="1"/>
          <p:cNvSpPr/>
          <p:nvPr userDrawn="1">
            <p:custDataLst>
              <p:tags r:id="rId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Lst>
  <p:txStyles>
    <p:titleStyle>
      <a:lvl1pPr algn="ctr" defTabSz="914400" rtl="0" eaLnBrk="1" latinLnBrk="0" hangingPunct="1">
        <a:lnSpc>
          <a:spcPct val="100000"/>
        </a:lnSpc>
        <a:spcBef>
          <a:spcPct val="0"/>
        </a:spcBef>
        <a:buNone/>
        <a:defRPr sz="3200" b="1" kern="1200">
          <a:solidFill>
            <a:schemeClr val="tx1"/>
          </a:solidFill>
          <a:latin typeface="+mj-ea"/>
          <a:ea typeface="+mj-ea"/>
          <a:cs typeface="MiSans Bold" panose="00000800000000000000" charset="-122"/>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1800" kern="1200">
          <a:solidFill>
            <a:schemeClr val="tx1"/>
          </a:solidFill>
          <a:latin typeface="+mn-ea"/>
          <a:ea typeface="+mn-ea"/>
          <a:cs typeface="MiSans Bold" panose="00000800000000000000" charset="-122"/>
        </a:defRPr>
      </a:lvl1pPr>
      <a:lvl2pPr marL="538480" indent="-20637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ea"/>
          <a:ea typeface="+mn-ea"/>
          <a:cs typeface="MiSans Bold" panose="00000800000000000000" charset="-122"/>
        </a:defRPr>
      </a:lvl2pPr>
      <a:lvl3pPr marL="798830" indent="-161925"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ea"/>
          <a:ea typeface="+mn-ea"/>
          <a:cs typeface="MiSans Bold" panose="00000800000000000000" charset="-122"/>
        </a:defRPr>
      </a:lvl3pPr>
      <a:lvl4pPr marL="1030605" indent="-149225" algn="l" defTabSz="914400" rtl="0" eaLnBrk="1" latinLnBrk="0" hangingPunct="1">
        <a:lnSpc>
          <a:spcPct val="130000"/>
        </a:lnSpc>
        <a:spcBef>
          <a:spcPts val="0"/>
        </a:spcBef>
        <a:buFont typeface="Arial" panose="020B0604020202020204" pitchFamily="34" charset="0"/>
        <a:buChar char="•"/>
        <a:defRPr sz="1200" kern="1200">
          <a:solidFill>
            <a:schemeClr val="tx1">
              <a:lumMod val="65000"/>
              <a:lumOff val="35000"/>
            </a:schemeClr>
          </a:solidFill>
          <a:latin typeface="+mn-ea"/>
          <a:ea typeface="+mn-ea"/>
          <a:cs typeface="MiSans Bold" panose="00000800000000000000" charset="-122"/>
        </a:defRPr>
      </a:lvl4pPr>
      <a:lvl5pPr marL="1235075" indent="-127000" algn="l" defTabSz="914400" rtl="0" eaLnBrk="1" latinLnBrk="0" hangingPunct="1">
        <a:lnSpc>
          <a:spcPct val="130000"/>
        </a:lnSpc>
        <a:spcBef>
          <a:spcPts val="0"/>
        </a:spcBef>
        <a:buFont typeface="Arial" panose="020B0604020202020204" pitchFamily="34" charset="0"/>
        <a:buChar char="•"/>
        <a:defRPr sz="1100" kern="1200">
          <a:solidFill>
            <a:schemeClr val="tx1">
              <a:lumMod val="65000"/>
              <a:lumOff val="35000"/>
            </a:schemeClr>
          </a:solidFill>
          <a:latin typeface="+mn-ea"/>
          <a:ea typeface="+mn-ea"/>
          <a:cs typeface="MiSans Bold" panose="000008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2540" y="0"/>
            <a:ext cx="12192000" cy="6858000"/>
          </a:xfrm>
          <a:prstGeom prst="rect">
            <a:avLst/>
          </a:prstGeom>
          <a:gradFill flip="none" rotWithShape="1">
            <a:gsLst>
              <a:gs pos="0">
                <a:schemeClr val="bg1"/>
              </a:gs>
              <a:gs pos="100000">
                <a:schemeClr val="accent5">
                  <a:lumMod val="20000"/>
                  <a:lumOff val="8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楷体" panose="02010609060101010101" charset="-122"/>
              <a:ea typeface="楷体" panose="02010609060101010101" charset="-122"/>
              <a:cs typeface="楷体" panose="02010609060101010101" charset="-122"/>
            </a:endParaRPr>
          </a:p>
        </p:txBody>
      </p:sp>
      <p:pic>
        <p:nvPicPr>
          <p:cNvPr id="11" name="@png2x_02_正文"/>
          <p:cNvPicPr>
            <a:picLocks noChangeAspect="1"/>
          </p:cNvPicPr>
          <p:nvPr userDrawn="1">
            <p:custDataLst>
              <p:tags r:id="rId3"/>
            </p:custDataLst>
          </p:nvPr>
        </p:nvPicPr>
        <p:blipFill>
          <a:blip r:embed="rId4" r:link="rId5">
            <a:alphaModFix amt="40000"/>
          </a:blip>
          <a:stretch>
            <a:fillRect/>
          </a:stretch>
        </p:blipFill>
        <p:spPr>
          <a:xfrm>
            <a:off x="1587" y="0"/>
            <a:ext cx="4279265" cy="2276475"/>
          </a:xfrm>
          <a:prstGeom prst="rect">
            <a:avLst/>
          </a:prstGeom>
        </p:spPr>
      </p:pic>
      <p:pic>
        <p:nvPicPr>
          <p:cNvPr id="12" name="@png2x_01_正文"/>
          <p:cNvPicPr>
            <a:picLocks noChangeAspect="1"/>
          </p:cNvPicPr>
          <p:nvPr userDrawn="1">
            <p:custDataLst>
              <p:tags r:id="rId6"/>
            </p:custDataLst>
          </p:nvPr>
        </p:nvPicPr>
        <p:blipFill>
          <a:blip r:embed="rId7" r:link="rId5">
            <a:alphaModFix amt="40000"/>
          </a:blip>
          <a:stretch>
            <a:fillRect/>
          </a:stretch>
        </p:blipFill>
        <p:spPr>
          <a:xfrm>
            <a:off x="10341913" y="4638501"/>
            <a:ext cx="1847864" cy="2218863"/>
          </a:xfrm>
          <a:prstGeom prst="rect">
            <a:avLst/>
          </a:prstGeom>
        </p:spPr>
      </p:pic>
      <p:sp>
        <p:nvSpPr>
          <p:cNvPr id="7" name="KSO_TEMPLATE" hidden="1"/>
          <p:cNvSpPr/>
          <p:nvPr userDrawn="1">
            <p:custDataLst>
              <p:tags r:id="rId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sldLayoutIdLst>
    <p:sldLayoutId id="2147483676" r:id="rId1"/>
  </p:sldLayoutIdLst>
  <p:txStyles>
    <p:titleStyle>
      <a:lvl1pPr algn="ctr" defTabSz="914400" rtl="0" eaLnBrk="1" latinLnBrk="0" hangingPunct="1">
        <a:lnSpc>
          <a:spcPct val="100000"/>
        </a:lnSpc>
        <a:spcBef>
          <a:spcPct val="0"/>
        </a:spcBef>
        <a:buNone/>
        <a:defRPr sz="3200" b="1" kern="1200">
          <a:solidFill>
            <a:schemeClr val="tx1"/>
          </a:solidFill>
          <a:latin typeface="+mj-ea"/>
          <a:ea typeface="+mj-ea"/>
          <a:cs typeface="MiSans Bold" panose="00000800000000000000" charset="-122"/>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1800" kern="1200">
          <a:solidFill>
            <a:schemeClr val="tx1"/>
          </a:solidFill>
          <a:latin typeface="+mn-ea"/>
          <a:ea typeface="+mn-ea"/>
          <a:cs typeface="MiSans Bold" panose="00000800000000000000" charset="-122"/>
        </a:defRPr>
      </a:lvl1pPr>
      <a:lvl2pPr marL="538480" indent="-20637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ea"/>
          <a:ea typeface="+mn-ea"/>
          <a:cs typeface="MiSans Bold" panose="00000800000000000000" charset="-122"/>
        </a:defRPr>
      </a:lvl2pPr>
      <a:lvl3pPr marL="798830" indent="-161925"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ea"/>
          <a:ea typeface="+mn-ea"/>
          <a:cs typeface="MiSans Bold" panose="00000800000000000000" charset="-122"/>
        </a:defRPr>
      </a:lvl3pPr>
      <a:lvl4pPr marL="1030605" indent="-149225" algn="l" defTabSz="914400" rtl="0" eaLnBrk="1" latinLnBrk="0" hangingPunct="1">
        <a:lnSpc>
          <a:spcPct val="130000"/>
        </a:lnSpc>
        <a:spcBef>
          <a:spcPts val="0"/>
        </a:spcBef>
        <a:buFont typeface="Arial" panose="020B0604020202020204" pitchFamily="34" charset="0"/>
        <a:buChar char="•"/>
        <a:defRPr sz="1200" kern="1200">
          <a:solidFill>
            <a:schemeClr val="tx1">
              <a:lumMod val="65000"/>
              <a:lumOff val="35000"/>
            </a:schemeClr>
          </a:solidFill>
          <a:latin typeface="+mn-ea"/>
          <a:ea typeface="+mn-ea"/>
          <a:cs typeface="MiSans Bold" panose="00000800000000000000" charset="-122"/>
        </a:defRPr>
      </a:lvl4pPr>
      <a:lvl5pPr marL="1235075" indent="-127000" algn="l" defTabSz="914400" rtl="0" eaLnBrk="1" latinLnBrk="0" hangingPunct="1">
        <a:lnSpc>
          <a:spcPct val="130000"/>
        </a:lnSpc>
        <a:spcBef>
          <a:spcPts val="0"/>
        </a:spcBef>
        <a:buFont typeface="Arial" panose="020B0604020202020204" pitchFamily="34" charset="0"/>
        <a:buChar char="•"/>
        <a:defRPr sz="1100" kern="1200">
          <a:solidFill>
            <a:schemeClr val="tx1">
              <a:lumMod val="65000"/>
              <a:lumOff val="35000"/>
            </a:schemeClr>
          </a:solidFill>
          <a:latin typeface="+mn-ea"/>
          <a:ea typeface="+mn-ea"/>
          <a:cs typeface="MiSans Bold" panose="000008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
            </p:custDataLst>
          </p:nvPr>
        </p:nvSpPr>
        <p:spPr>
          <a:xfrm>
            <a:off x="69600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696000" y="1364400"/>
            <a:ext cx="10800000" cy="4813200"/>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4"/>
            </p:custDataLst>
          </p:nvPr>
        </p:nvSpPr>
        <p:spPr>
          <a:xfrm>
            <a:off x="69600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楷体" panose="02010609060101010101" charset="-122"/>
                <a:ea typeface="楷体" panose="02010609060101010101" charset="-122"/>
                <a:cs typeface="楷体" panose="02010609060101010101" charset="-122"/>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5"/>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latin typeface="楷体" panose="02010609060101010101" charset="-122"/>
                <a:ea typeface="楷体" panose="02010609060101010101" charset="-122"/>
                <a:cs typeface="楷体" panose="02010609060101010101" charset="-122"/>
              </a:defRPr>
            </a:lvl1pPr>
          </a:lstStyle>
          <a:p>
            <a:endParaRPr lang="zh-CN" altLang="en-US" dirty="0"/>
          </a:p>
        </p:txBody>
      </p:sp>
      <p:sp>
        <p:nvSpPr>
          <p:cNvPr id="6" name="灯片编号占位符 5"/>
          <p:cNvSpPr>
            <a:spLocks noGrp="1"/>
          </p:cNvSpPr>
          <p:nvPr>
            <p:ph type="sldNum" sz="quarter" idx="4"/>
            <p:custDataLst>
              <p:tags r:id="rId6"/>
            </p:custDataLst>
          </p:nvPr>
        </p:nvSpPr>
        <p:spPr>
          <a:xfrm>
            <a:off x="8754110"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楷体" panose="02010609060101010101" charset="-122"/>
                <a:ea typeface="楷体" panose="02010609060101010101" charset="-122"/>
                <a:cs typeface="楷体" panose="02010609060101010101" charset="-122"/>
              </a:defRPr>
            </a:lvl1pPr>
          </a:lstStyle>
          <a:p>
            <a:fld id="{BE5F26B5-172A-4DC2-B0B7-181CFC56B87C}" type="slidenum">
              <a:rPr lang="zh-CN" altLang="en-US" smtClean="0"/>
            </a:fld>
            <a:endParaRPr lang="zh-CN" altLang="en-US"/>
          </a:p>
        </p:txBody>
      </p:sp>
      <p:sp>
        <p:nvSpPr>
          <p:cNvPr id="8" name="Rectangle 29_#color_$accent1_$accent2-2111&amp;1305"/>
          <p:cNvSpPr/>
          <p:nvPr userDrawn="1">
            <p:custDataLst>
              <p:tags r:id="rId7"/>
            </p:custDataLst>
          </p:nvPr>
        </p:nvSpPr>
        <p:spPr>
          <a:xfrm rot="5400000">
            <a:off x="127" y="5879592"/>
            <a:ext cx="978408" cy="978408"/>
          </a:xfrm>
          <a:custGeom>
            <a:avLst/>
            <a:gdLst/>
            <a:ahLst/>
            <a:cxnLst/>
            <a:rect l="l" t="t" r="r" b="b"/>
            <a:pathLst>
              <a:path w="978408" h="978408">
                <a:moveTo>
                  <a:pt x="978408" y="0"/>
                </a:moveTo>
                <a:lnTo>
                  <a:pt x="978408" y="978408"/>
                </a:lnTo>
                <a:lnTo>
                  <a:pt x="0" y="978408"/>
                </a:lnTo>
                <a:lnTo>
                  <a:pt x="978408" y="0"/>
                </a:lnTo>
              </a:path>
            </a:pathLst>
          </a:custGeom>
          <a:gradFill>
            <a:gsLst>
              <a:gs pos="0">
                <a:schemeClr val="accent2">
                  <a:alpha val="100000"/>
                </a:schemeClr>
              </a:gs>
              <a:gs pos="94328">
                <a:schemeClr val="accent1">
                  <a:alpha val="100000"/>
                </a:schemeClr>
              </a:gs>
            </a:gsLst>
            <a:lin ang="10921821"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a:lstStyle/>
          <a:p>
            <a:endParaRPr lang="zh-CN" altLang="en-US">
              <a:latin typeface="楷体" panose="02010609060101010101" charset="-122"/>
              <a:ea typeface="楷体" panose="02010609060101010101" charset="-122"/>
              <a:cs typeface="楷体" panose="02010609060101010101" charset="-122"/>
            </a:endParaRPr>
          </a:p>
        </p:txBody>
      </p:sp>
      <p:sp>
        <p:nvSpPr>
          <p:cNvPr id="7" name="KSO_TEMPLATE" hidden="1"/>
          <p:cNvSpPr/>
          <p:nvPr userDrawn="1">
            <p:custDataLst>
              <p:tags r:id="rId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sldLayoutIdLst>
    <p:sldLayoutId id="2147483678" r:id="rId1"/>
  </p:sldLayoutIdLst>
  <p:txStyles>
    <p:titleStyle>
      <a:lvl1pPr algn="l" defTabSz="914400" rtl="0" eaLnBrk="1" latinLnBrk="0" hangingPunct="1">
        <a:lnSpc>
          <a:spcPct val="100000"/>
        </a:lnSpc>
        <a:spcBef>
          <a:spcPct val="0"/>
        </a:spcBef>
        <a:buNone/>
        <a:defRPr sz="3600" b="1" kern="1200">
          <a:solidFill>
            <a:schemeClr val="tx1"/>
          </a:solidFill>
          <a:latin typeface="楷体" panose="02010609060101010101" charset="-122"/>
          <a:ea typeface="楷体" panose="02010609060101010101" charset="-122"/>
          <a:cs typeface="楷体" panose="02010609060101010101" charset="-122"/>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楷体" panose="02010609060101010101" charset="-122"/>
          <a:ea typeface="楷体" panose="02010609060101010101" charset="-122"/>
          <a:cs typeface="楷体" panose="02010609060101010101" charset="-122"/>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楷体" panose="02010609060101010101" charset="-122"/>
          <a:ea typeface="楷体" panose="02010609060101010101" charset="-122"/>
          <a:cs typeface="楷体" panose="02010609060101010101" charset="-122"/>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楷体" panose="02010609060101010101" charset="-122"/>
          <a:ea typeface="楷体" panose="02010609060101010101" charset="-122"/>
          <a:cs typeface="楷体" panose="02010609060101010101" charset="-122"/>
          <a:sym typeface="楷体" panose="02010609060101010101" charset="-122"/>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楷体" panose="02010609060101010101" charset="-122"/>
          <a:ea typeface="楷体" panose="02010609060101010101" charset="-122"/>
          <a:cs typeface="楷体" panose="02010609060101010101" charset="-122"/>
          <a:sym typeface="楷体" panose="02010609060101010101" charset="-122"/>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楷体" panose="02010609060101010101" charset="-122"/>
          <a:ea typeface="楷体" panose="02010609060101010101" charset="-122"/>
          <a:cs typeface="楷体" panose="02010609060101010101" charset="-122"/>
          <a:sym typeface="楷体" panose="02010609060101010101"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6.xml"/><Relationship Id="rId2" Type="http://schemas.openxmlformats.org/officeDocument/2006/relationships/tags" Target="../tags/tag43.xml"/><Relationship Id="rId1" Type="http://schemas.openxmlformats.org/officeDocument/2006/relationships/tags" Target="../tags/tag4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23.xml"/><Relationship Id="rId2" Type="http://schemas.openxmlformats.org/officeDocument/2006/relationships/tags" Target="../tags/tag45.xml"/><Relationship Id="rId1" Type="http://schemas.openxmlformats.org/officeDocument/2006/relationships/tags" Target="../tags/tag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ctrTitle" idx="4294967295"/>
            <p:custDataLst>
              <p:tags r:id="rId1"/>
            </p:custDataLst>
          </p:nvPr>
        </p:nvSpPr>
        <p:spPr>
          <a:xfrm>
            <a:off x="-635" y="1067435"/>
            <a:ext cx="12192635" cy="3158490"/>
          </a:xfrm>
        </p:spPr>
        <p:txBody>
          <a:bodyPr>
            <a:noAutofit/>
          </a:bodyPr>
          <a:p>
            <a:pPr marL="0" indent="0" algn="ctr">
              <a:lnSpc>
                <a:spcPct val="100000"/>
              </a:lnSpc>
              <a:spcBef>
                <a:spcPts val="0"/>
              </a:spcBef>
              <a:spcAft>
                <a:spcPts val="0"/>
              </a:spcAft>
              <a:buSzPct val="100000"/>
            </a:pPr>
            <a:r>
              <a:rPr lang="zh-CN" altLang="en-US" sz="8000" dirty="0">
                <a:solidFill>
                  <a:schemeClr val="tx1"/>
                </a:solidFill>
                <a:latin typeface="楷体" panose="02010609060101010101" charset="-122"/>
                <a:ea typeface="楷体" panose="02010609060101010101" charset="-122"/>
              </a:rPr>
              <a:t>判断推理套题</a:t>
            </a:r>
            <a:r>
              <a:rPr lang="en-US" altLang="zh-CN" sz="8000" dirty="0">
                <a:solidFill>
                  <a:schemeClr val="tx1"/>
                </a:solidFill>
                <a:latin typeface="楷体" panose="02010609060101010101" charset="-122"/>
                <a:ea typeface="楷体" panose="02010609060101010101" charset="-122"/>
              </a:rPr>
              <a:t>5</a:t>
            </a:r>
            <a:br>
              <a:rPr lang="en-US" altLang="zh-CN" sz="8000" dirty="0">
                <a:solidFill>
                  <a:schemeClr val="tx1"/>
                </a:solidFill>
                <a:latin typeface="楷体" panose="02010609060101010101" charset="-122"/>
                <a:ea typeface="楷体" panose="02010609060101010101" charset="-122"/>
              </a:rPr>
            </a:br>
            <a:r>
              <a:rPr lang="en-US" altLang="zh-CN" sz="8000" dirty="0">
                <a:solidFill>
                  <a:schemeClr val="tx1"/>
                </a:solidFill>
                <a:latin typeface="楷体" panose="02010609060101010101" charset="-122"/>
                <a:ea typeface="楷体" panose="02010609060101010101" charset="-122"/>
              </a:rPr>
              <a:t>2023</a:t>
            </a:r>
            <a:r>
              <a:rPr lang="zh-CN" altLang="en-US" sz="8000" dirty="0">
                <a:solidFill>
                  <a:schemeClr val="tx1"/>
                </a:solidFill>
                <a:latin typeface="楷体" panose="02010609060101010101" charset="-122"/>
                <a:ea typeface="楷体" panose="02010609060101010101" charset="-122"/>
              </a:rPr>
              <a:t>年上半年</a:t>
            </a:r>
            <a:r>
              <a:rPr lang="en-US" altLang="zh-CN" sz="8000" dirty="0">
                <a:solidFill>
                  <a:schemeClr val="tx1"/>
                </a:solidFill>
                <a:latin typeface="楷体" panose="02010609060101010101" charset="-122"/>
                <a:ea typeface="楷体" panose="02010609060101010101" charset="-122"/>
              </a:rPr>
              <a:t>B</a:t>
            </a:r>
            <a:r>
              <a:rPr lang="zh-CN" altLang="en-US" sz="8000" dirty="0">
                <a:solidFill>
                  <a:schemeClr val="tx1"/>
                </a:solidFill>
                <a:latin typeface="楷体" panose="02010609060101010101" charset="-122"/>
                <a:ea typeface="楷体" panose="02010609060101010101" charset="-122"/>
              </a:rPr>
              <a:t>类</a:t>
            </a:r>
            <a:endParaRPr lang="zh-CN" altLang="en-US" sz="8000" dirty="0">
              <a:solidFill>
                <a:schemeClr val="tx1"/>
              </a:solidFill>
              <a:latin typeface="楷体" panose="02010609060101010101" charset="-122"/>
              <a:ea typeface="楷体" panose="02010609060101010101" charset="-122"/>
            </a:endParaRPr>
          </a:p>
        </p:txBody>
      </p:sp>
      <p:sp>
        <p:nvSpPr>
          <p:cNvPr id="5" name="Text Placeholder 2"/>
          <p:cNvSpPr>
            <a:spLocks noGrp="1"/>
          </p:cNvSpPr>
          <p:nvPr>
            <p:ph type="body" idx="4294967295"/>
            <p:custDataLst>
              <p:tags r:id="rId2"/>
            </p:custDataLst>
          </p:nvPr>
        </p:nvSpPr>
        <p:spPr>
          <a:xfrm>
            <a:off x="977265" y="4519295"/>
            <a:ext cx="10236200" cy="1076325"/>
          </a:xfrm>
        </p:spPr>
        <p:txBody>
          <a:bodyPr>
            <a:noAutofit/>
          </a:bodyPr>
          <a:p>
            <a:pPr marL="0" algn="ctr">
              <a:lnSpc>
                <a:spcPct val="100000"/>
              </a:lnSpc>
              <a:spcBef>
                <a:spcPts val="1000"/>
              </a:spcBef>
              <a:spcAft>
                <a:spcPts val="0"/>
              </a:spcAft>
              <a:buSzPct val="100000"/>
              <a:buNone/>
            </a:pPr>
            <a:r>
              <a:rPr lang="zh-CN" altLang="en-US" sz="2800" dirty="0">
                <a:solidFill>
                  <a:schemeClr val="tx1"/>
                </a:solidFill>
                <a:latin typeface="楷体" panose="02010609060101010101" charset="-122"/>
                <a:ea typeface="楷体" panose="02010609060101010101" charset="-122"/>
              </a:rPr>
              <a:t>主讲人：桑桑老师</a:t>
            </a:r>
            <a:endParaRPr lang="zh-CN" altLang="en-US" sz="2800" dirty="0">
              <a:solidFill>
                <a:schemeClr val="tx1"/>
              </a:solidFill>
              <a:latin typeface="楷体" panose="02010609060101010101" charset="-122"/>
              <a:ea typeface="楷体" panose="02010609060101010101"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62915" y="701675"/>
            <a:ext cx="1123061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把下面的图形分为两类，使每一类图形都有各自的共同特征或规律，分类正确的一项是：</a:t>
            </a:r>
            <a:endParaRPr lang="zh-CN" altLang="en-US"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r>
              <a:rPr lang="en-US" altLang="zh-CN" sz="2000" dirty="0">
                <a:cs typeface="楷体" panose="02010609060101010101" charset="-122"/>
              </a:rPr>
              <a:t>A.</a:t>
            </a:r>
            <a:r>
              <a:rPr lang="en-US" altLang="en-US" sz="2000" dirty="0">
                <a:cs typeface="楷体" panose="02010609060101010101" charset="-122"/>
              </a:rPr>
              <a:t>①②④</a:t>
            </a:r>
            <a:r>
              <a:rPr lang="en-US" altLang="zh-CN" sz="2000" dirty="0">
                <a:cs typeface="楷体" panose="02010609060101010101" charset="-122"/>
              </a:rPr>
              <a:t>,</a:t>
            </a:r>
            <a:r>
              <a:rPr lang="en-US" altLang="en-US" sz="2000" dirty="0">
                <a:cs typeface="楷体" panose="02010609060101010101" charset="-122"/>
              </a:rPr>
              <a:t>③⑤⑥</a:t>
            </a:r>
            <a:r>
              <a:rPr lang="en-US" altLang="zh-CN" sz="2000" dirty="0">
                <a:cs typeface="楷体" panose="02010609060101010101" charset="-122"/>
              </a:rPr>
              <a:t>	B.</a:t>
            </a:r>
            <a:r>
              <a:rPr lang="en-US" altLang="en-US" sz="2000" dirty="0">
                <a:cs typeface="楷体" panose="02010609060101010101" charset="-122"/>
              </a:rPr>
              <a:t>①②⑤</a:t>
            </a:r>
            <a:r>
              <a:rPr lang="en-US" altLang="zh-CN" sz="2000" dirty="0">
                <a:cs typeface="楷体" panose="02010609060101010101" charset="-122"/>
              </a:rPr>
              <a:t>,</a:t>
            </a:r>
            <a:r>
              <a:rPr lang="en-US" altLang="en-US" sz="2000" dirty="0">
                <a:cs typeface="楷体" panose="02010609060101010101" charset="-122"/>
              </a:rPr>
              <a:t>③④⑥</a:t>
            </a:r>
            <a:endParaRPr lang="en-US" altLang="en-US" sz="2000" dirty="0">
              <a:cs typeface="楷体" panose="02010609060101010101" charset="-122"/>
            </a:endParaRPr>
          </a:p>
          <a:p>
            <a:pPr indent="0" fontAlgn="auto">
              <a:lnSpc>
                <a:spcPct val="150000"/>
              </a:lnSpc>
            </a:pPr>
            <a:r>
              <a:rPr lang="en-US" altLang="zh-CN" sz="2000" dirty="0">
                <a:cs typeface="楷体" panose="02010609060101010101" charset="-122"/>
              </a:rPr>
              <a:t>C.</a:t>
            </a:r>
            <a:r>
              <a:rPr lang="en-US" altLang="en-US" sz="2000" dirty="0">
                <a:cs typeface="楷体" panose="02010609060101010101" charset="-122"/>
              </a:rPr>
              <a:t>①③⑤</a:t>
            </a:r>
            <a:r>
              <a:rPr lang="en-US" altLang="zh-CN" sz="2000" dirty="0">
                <a:cs typeface="楷体" panose="02010609060101010101" charset="-122"/>
              </a:rPr>
              <a:t>,</a:t>
            </a:r>
            <a:r>
              <a:rPr lang="en-US" altLang="en-US" sz="2000" dirty="0">
                <a:cs typeface="楷体" panose="02010609060101010101" charset="-122"/>
              </a:rPr>
              <a:t>②④⑥</a:t>
            </a:r>
            <a:r>
              <a:rPr lang="en-US" altLang="zh-CN" sz="2000" dirty="0">
                <a:cs typeface="楷体" panose="02010609060101010101" charset="-122"/>
              </a:rPr>
              <a:t>	D.</a:t>
            </a:r>
            <a:r>
              <a:rPr lang="en-US" altLang="en-US" sz="2000" dirty="0">
                <a:cs typeface="楷体" panose="02010609060101010101" charset="-122"/>
              </a:rPr>
              <a:t>①③⑥</a:t>
            </a:r>
            <a:r>
              <a:rPr lang="en-US" altLang="zh-CN" sz="2000" dirty="0">
                <a:cs typeface="楷体" panose="02010609060101010101" charset="-122"/>
              </a:rPr>
              <a:t>,</a:t>
            </a:r>
            <a:r>
              <a:rPr lang="en-US" altLang="en-US" sz="2000" dirty="0">
                <a:cs typeface="楷体" panose="02010609060101010101" charset="-122"/>
              </a:rPr>
              <a:t>②④⑤</a:t>
            </a:r>
            <a:endParaRPr lang="en-US" altLang="en-US" sz="2000" dirty="0">
              <a:cs typeface="楷体" panose="02010609060101010101" charset="-122"/>
            </a:endParaRPr>
          </a:p>
        </p:txBody>
      </p:sp>
      <p:sp>
        <p:nvSpPr>
          <p:cNvPr id="6" name="标题 5"/>
          <p:cNvSpPr>
            <a:spLocks noGrp="1"/>
          </p:cNvSpPr>
          <p:nvPr>
            <p:ph type="title"/>
          </p:nvPr>
        </p:nvSpPr>
        <p:spPr>
          <a:xfrm>
            <a:off x="838200" y="0"/>
            <a:ext cx="10515600" cy="708025"/>
          </a:xfrm>
        </p:spPr>
        <p:txBody>
          <a:bodyPr/>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endParaRPr kumimoji="1" lang="en-US" altLang="zh-CN" sz="2800" b="1" dirty="0">
              <a:solidFill>
                <a:srgbClr val="FF653F"/>
              </a:solidFill>
            </a:endParaRPr>
          </a:p>
        </p:txBody>
      </p:sp>
      <p:pic>
        <p:nvPicPr>
          <p:cNvPr id="333" name="图片 87"/>
          <p:cNvPicPr>
            <a:picLocks noChangeAspect="1"/>
          </p:cNvPicPr>
          <p:nvPr/>
        </p:nvPicPr>
        <p:blipFill>
          <a:blip r:embed="rId1"/>
          <a:stretch>
            <a:fillRect/>
          </a:stretch>
        </p:blipFill>
        <p:spPr>
          <a:xfrm>
            <a:off x="956945" y="1466215"/>
            <a:ext cx="10321925" cy="3171825"/>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endParaRPr kumimoji="1" lang="en-US" altLang="zh-CN" sz="2800" b="1" dirty="0">
              <a:solidFill>
                <a:srgbClr val="FF653F"/>
              </a:solidFill>
            </a:endParaRPr>
          </a:p>
        </p:txBody>
      </p:sp>
      <p:sp>
        <p:nvSpPr>
          <p:cNvPr id="3" name="文本框 2"/>
          <p:cNvSpPr txBox="1"/>
          <p:nvPr/>
        </p:nvSpPr>
        <p:spPr>
          <a:xfrm>
            <a:off x="462915" y="701675"/>
            <a:ext cx="1114679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把下面的六个图形分为两类，使每一类图形都有各自的共同特征或规律，分类正确的一项是：</a:t>
            </a:r>
            <a:endParaRPr lang="zh-CN" altLang="en-US"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r>
              <a:rPr lang="en-US" altLang="zh-CN" sz="2000" dirty="0">
                <a:cs typeface="楷体" panose="02010609060101010101" charset="-122"/>
              </a:rPr>
              <a:t>A.</a:t>
            </a:r>
            <a:r>
              <a:rPr lang="en-US" altLang="en-US" sz="2000" dirty="0">
                <a:cs typeface="楷体" panose="02010609060101010101" charset="-122"/>
              </a:rPr>
              <a:t>①②⑤</a:t>
            </a:r>
            <a:r>
              <a:rPr lang="en-US" altLang="zh-CN" sz="2000" dirty="0">
                <a:cs typeface="楷体" panose="02010609060101010101" charset="-122"/>
              </a:rPr>
              <a:t>,</a:t>
            </a:r>
            <a:r>
              <a:rPr lang="en-US" altLang="en-US" sz="2000" dirty="0">
                <a:cs typeface="楷体" panose="02010609060101010101" charset="-122"/>
              </a:rPr>
              <a:t>③④⑥</a:t>
            </a:r>
            <a:r>
              <a:rPr lang="en-US" altLang="zh-CN" sz="2000" dirty="0">
                <a:cs typeface="楷体" panose="02010609060101010101" charset="-122"/>
              </a:rPr>
              <a:t>	B.</a:t>
            </a:r>
            <a:r>
              <a:rPr lang="en-US" altLang="en-US" sz="2000" dirty="0">
                <a:cs typeface="楷体" panose="02010609060101010101" charset="-122"/>
              </a:rPr>
              <a:t>①②⑥</a:t>
            </a:r>
            <a:r>
              <a:rPr lang="en-US" altLang="zh-CN" sz="2000" dirty="0">
                <a:cs typeface="楷体" panose="02010609060101010101" charset="-122"/>
              </a:rPr>
              <a:t>,</a:t>
            </a:r>
            <a:r>
              <a:rPr lang="en-US" altLang="en-US" sz="2000" dirty="0">
                <a:cs typeface="楷体" panose="02010609060101010101" charset="-122"/>
              </a:rPr>
              <a:t>③④⑤</a:t>
            </a:r>
            <a:endParaRPr lang="en-US" altLang="en-US" sz="2000" dirty="0">
              <a:cs typeface="楷体" panose="02010609060101010101" charset="-122"/>
            </a:endParaRPr>
          </a:p>
          <a:p>
            <a:pPr indent="0" fontAlgn="auto">
              <a:lnSpc>
                <a:spcPct val="150000"/>
              </a:lnSpc>
            </a:pPr>
            <a:r>
              <a:rPr lang="en-US" altLang="zh-CN" sz="2000" dirty="0">
                <a:cs typeface="楷体" panose="02010609060101010101" charset="-122"/>
              </a:rPr>
              <a:t>C.</a:t>
            </a:r>
            <a:r>
              <a:rPr lang="en-US" altLang="en-US" sz="2000" dirty="0">
                <a:cs typeface="楷体" panose="02010609060101010101" charset="-122"/>
              </a:rPr>
              <a:t>①③④</a:t>
            </a:r>
            <a:r>
              <a:rPr lang="en-US" altLang="zh-CN" sz="2000" dirty="0">
                <a:cs typeface="楷体" panose="02010609060101010101" charset="-122"/>
              </a:rPr>
              <a:t>,</a:t>
            </a:r>
            <a:r>
              <a:rPr lang="en-US" altLang="en-US" sz="2000" dirty="0">
                <a:cs typeface="楷体" panose="02010609060101010101" charset="-122"/>
              </a:rPr>
              <a:t>②⑤⑥</a:t>
            </a:r>
            <a:r>
              <a:rPr lang="en-US" altLang="zh-CN" sz="2000" dirty="0">
                <a:cs typeface="楷体" panose="02010609060101010101" charset="-122"/>
              </a:rPr>
              <a:t>	D.</a:t>
            </a:r>
            <a:r>
              <a:rPr lang="en-US" altLang="en-US" sz="2000" dirty="0">
                <a:cs typeface="楷体" panose="02010609060101010101" charset="-122"/>
              </a:rPr>
              <a:t>①③⑤</a:t>
            </a:r>
            <a:r>
              <a:rPr lang="en-US" altLang="zh-CN" sz="2000" dirty="0">
                <a:cs typeface="楷体" panose="02010609060101010101" charset="-122"/>
              </a:rPr>
              <a:t>,</a:t>
            </a:r>
            <a:r>
              <a:rPr lang="en-US" altLang="en-US" sz="2000" dirty="0">
                <a:cs typeface="楷体" panose="02010609060101010101" charset="-122"/>
              </a:rPr>
              <a:t>②④⑥</a:t>
            </a:r>
            <a:endParaRPr lang="en-US" altLang="en-US" sz="2000" dirty="0">
              <a:cs typeface="楷体" panose="02010609060101010101" charset="-122"/>
            </a:endParaRPr>
          </a:p>
        </p:txBody>
      </p:sp>
      <p:pic>
        <p:nvPicPr>
          <p:cNvPr id="334" name="图片 88"/>
          <p:cNvPicPr>
            <a:picLocks noChangeAspect="1"/>
          </p:cNvPicPr>
          <p:nvPr/>
        </p:nvPicPr>
        <p:blipFill>
          <a:blip r:embed="rId1"/>
          <a:stretch>
            <a:fillRect/>
          </a:stretch>
        </p:blipFill>
        <p:spPr>
          <a:xfrm>
            <a:off x="579755" y="1537970"/>
            <a:ext cx="10889615" cy="3336925"/>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9692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a:t>
            </a:r>
            <a:endParaRPr kumimoji="1" lang="en-US" altLang="zh-CN" sz="2800" b="1" dirty="0">
              <a:solidFill>
                <a:srgbClr val="FF653F"/>
              </a:solidFill>
            </a:endParaRPr>
          </a:p>
        </p:txBody>
      </p:sp>
      <p:sp>
        <p:nvSpPr>
          <p:cNvPr id="3" name="文本框 2"/>
          <p:cNvSpPr txBox="1"/>
          <p:nvPr/>
        </p:nvSpPr>
        <p:spPr>
          <a:xfrm>
            <a:off x="462915" y="666115"/>
            <a:ext cx="1118362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从所给的四个选项中，选择最合适的一个填入问号处，使之呈现一定的规律性：</a:t>
            </a:r>
            <a:endParaRPr lang="zh-CN" altLang="en-US" sz="2000" dirty="0">
              <a:cs typeface="楷体" panose="02010609060101010101" charset="-122"/>
            </a:endParaRPr>
          </a:p>
        </p:txBody>
      </p:sp>
      <p:pic>
        <p:nvPicPr>
          <p:cNvPr id="335" name="图片 89"/>
          <p:cNvPicPr>
            <a:picLocks noChangeAspect="1"/>
          </p:cNvPicPr>
          <p:nvPr/>
        </p:nvPicPr>
        <p:blipFill>
          <a:blip r:embed="rId1"/>
          <a:stretch>
            <a:fillRect/>
          </a:stretch>
        </p:blipFill>
        <p:spPr>
          <a:xfrm>
            <a:off x="1603375" y="1439545"/>
            <a:ext cx="8985250" cy="4451350"/>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8011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4</a:t>
            </a:r>
            <a:endParaRPr kumimoji="1" lang="en-US" altLang="zh-CN" sz="2800" b="1" dirty="0">
              <a:solidFill>
                <a:srgbClr val="FF653F"/>
              </a:solidFill>
            </a:endParaRPr>
          </a:p>
        </p:txBody>
      </p:sp>
      <p:sp>
        <p:nvSpPr>
          <p:cNvPr id="3" name="文本框 2"/>
          <p:cNvSpPr txBox="1"/>
          <p:nvPr/>
        </p:nvSpPr>
        <p:spPr>
          <a:xfrm>
            <a:off x="462915" y="701675"/>
            <a:ext cx="1134999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从所给的四个选项中，选择最合适的一个填在问号处，使之呈现一定的规律性：</a:t>
            </a:r>
            <a:endParaRPr lang="zh-CN" altLang="en-US" sz="2000" dirty="0">
              <a:cs typeface="楷体" panose="02010609060101010101" charset="-122"/>
            </a:endParaRPr>
          </a:p>
        </p:txBody>
      </p:sp>
      <p:pic>
        <p:nvPicPr>
          <p:cNvPr id="336" name="图片 90"/>
          <p:cNvPicPr>
            <a:picLocks noChangeAspect="1"/>
          </p:cNvPicPr>
          <p:nvPr/>
        </p:nvPicPr>
        <p:blipFill>
          <a:blip r:embed="rId1"/>
          <a:stretch>
            <a:fillRect/>
          </a:stretch>
        </p:blipFill>
        <p:spPr>
          <a:xfrm>
            <a:off x="1702435" y="1550670"/>
            <a:ext cx="8786495" cy="4353560"/>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0095" y="0"/>
            <a:ext cx="10515600" cy="708025"/>
          </a:xfrm>
        </p:spPr>
        <p:txBody>
          <a:bodyPr>
            <a:normAutofit/>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5</a:t>
            </a:r>
            <a:endParaRPr kumimoji="1" lang="en-US" altLang="zh-CN" sz="2800" b="1" dirty="0">
              <a:solidFill>
                <a:srgbClr val="FF653F"/>
              </a:solidFill>
            </a:endParaRPr>
          </a:p>
        </p:txBody>
      </p:sp>
      <p:sp>
        <p:nvSpPr>
          <p:cNvPr id="3" name="文本框 2"/>
          <p:cNvSpPr txBox="1"/>
          <p:nvPr/>
        </p:nvSpPr>
        <p:spPr>
          <a:xfrm>
            <a:off x="462915" y="701675"/>
            <a:ext cx="1110996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把下面的六个图形分为两类，使每一类图形都有各自的共同特征或规律，分类正确的一项是：</a:t>
            </a:r>
            <a:endParaRPr lang="zh-CN" altLang="en-US"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r>
              <a:rPr lang="en-US" altLang="zh-CN" sz="2000" dirty="0">
                <a:cs typeface="楷体" panose="02010609060101010101" charset="-122"/>
              </a:rPr>
              <a:t>A.</a:t>
            </a:r>
            <a:r>
              <a:rPr lang="en-US" altLang="en-US" sz="2000" dirty="0">
                <a:cs typeface="楷体" panose="02010609060101010101" charset="-122"/>
              </a:rPr>
              <a:t>①②③</a:t>
            </a:r>
            <a:r>
              <a:rPr lang="en-US" altLang="zh-CN" sz="2000" dirty="0">
                <a:cs typeface="楷体" panose="02010609060101010101" charset="-122"/>
              </a:rPr>
              <a:t>,</a:t>
            </a:r>
            <a:r>
              <a:rPr lang="en-US" altLang="en-US" sz="2000" dirty="0">
                <a:cs typeface="楷体" panose="02010609060101010101" charset="-122"/>
              </a:rPr>
              <a:t>④⑤⑥</a:t>
            </a:r>
            <a:r>
              <a:rPr lang="en-US" altLang="zh-CN" sz="2000" dirty="0">
                <a:cs typeface="楷体" panose="02010609060101010101" charset="-122"/>
              </a:rPr>
              <a:t>	B.</a:t>
            </a:r>
            <a:r>
              <a:rPr lang="en-US" altLang="en-US" sz="2000" dirty="0">
                <a:cs typeface="楷体" panose="02010609060101010101" charset="-122"/>
              </a:rPr>
              <a:t>①②④</a:t>
            </a:r>
            <a:r>
              <a:rPr lang="en-US" altLang="zh-CN" sz="2000" dirty="0">
                <a:cs typeface="楷体" panose="02010609060101010101" charset="-122"/>
              </a:rPr>
              <a:t>,</a:t>
            </a:r>
            <a:r>
              <a:rPr lang="en-US" altLang="en-US" sz="2000" dirty="0">
                <a:cs typeface="楷体" panose="02010609060101010101" charset="-122"/>
              </a:rPr>
              <a:t>③⑤⑥</a:t>
            </a:r>
            <a:endParaRPr lang="en-US" altLang="en-US" sz="2000" dirty="0">
              <a:cs typeface="楷体" panose="02010609060101010101" charset="-122"/>
            </a:endParaRPr>
          </a:p>
          <a:p>
            <a:pPr indent="0" fontAlgn="auto">
              <a:lnSpc>
                <a:spcPct val="150000"/>
              </a:lnSpc>
            </a:pPr>
            <a:r>
              <a:rPr lang="en-US" altLang="zh-CN" sz="2000" dirty="0">
                <a:cs typeface="楷体" panose="02010609060101010101" charset="-122"/>
              </a:rPr>
              <a:t>C.</a:t>
            </a:r>
            <a:r>
              <a:rPr lang="en-US" altLang="en-US" sz="2000" dirty="0">
                <a:cs typeface="楷体" panose="02010609060101010101" charset="-122"/>
              </a:rPr>
              <a:t>①③⑤</a:t>
            </a:r>
            <a:r>
              <a:rPr lang="en-US" altLang="zh-CN" sz="2000" dirty="0">
                <a:cs typeface="楷体" panose="02010609060101010101" charset="-122"/>
              </a:rPr>
              <a:t>,</a:t>
            </a:r>
            <a:r>
              <a:rPr lang="en-US" altLang="en-US" sz="2000" dirty="0">
                <a:cs typeface="楷体" panose="02010609060101010101" charset="-122"/>
              </a:rPr>
              <a:t>②④⑥</a:t>
            </a:r>
            <a:r>
              <a:rPr lang="en-US" altLang="zh-CN" sz="2000" dirty="0">
                <a:cs typeface="楷体" panose="02010609060101010101" charset="-122"/>
              </a:rPr>
              <a:t>	D.</a:t>
            </a:r>
            <a:r>
              <a:rPr lang="en-US" altLang="en-US" sz="2000" dirty="0">
                <a:cs typeface="楷体" panose="02010609060101010101" charset="-122"/>
              </a:rPr>
              <a:t>①④⑤</a:t>
            </a:r>
            <a:r>
              <a:rPr lang="en-US" altLang="zh-CN" sz="2000" dirty="0">
                <a:cs typeface="楷体" panose="02010609060101010101" charset="-122"/>
              </a:rPr>
              <a:t>,</a:t>
            </a:r>
            <a:r>
              <a:rPr lang="en-US" altLang="en-US" sz="2000" dirty="0">
                <a:cs typeface="楷体" panose="02010609060101010101" charset="-122"/>
              </a:rPr>
              <a:t>②③⑥</a:t>
            </a:r>
            <a:endParaRPr lang="en-US" altLang="en-US" sz="2000" dirty="0">
              <a:cs typeface="楷体" panose="02010609060101010101" charset="-122"/>
            </a:endParaRPr>
          </a:p>
        </p:txBody>
      </p:sp>
      <p:pic>
        <p:nvPicPr>
          <p:cNvPr id="337" name="图片 91"/>
          <p:cNvPicPr>
            <a:picLocks noChangeAspect="1"/>
          </p:cNvPicPr>
          <p:nvPr/>
        </p:nvPicPr>
        <p:blipFill>
          <a:blip r:embed="rId1"/>
          <a:stretch>
            <a:fillRect/>
          </a:stretch>
        </p:blipFill>
        <p:spPr>
          <a:xfrm>
            <a:off x="462915" y="1682750"/>
            <a:ext cx="11156315" cy="2390775"/>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0095"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6</a:t>
            </a:r>
            <a:endParaRPr kumimoji="1" lang="en-US" altLang="zh-CN" sz="2800" b="1" dirty="0">
              <a:solidFill>
                <a:srgbClr val="FF653F"/>
              </a:solidFill>
            </a:endParaRPr>
          </a:p>
        </p:txBody>
      </p:sp>
      <p:sp>
        <p:nvSpPr>
          <p:cNvPr id="3" name="文本框 2"/>
          <p:cNvSpPr txBox="1"/>
          <p:nvPr/>
        </p:nvSpPr>
        <p:spPr>
          <a:xfrm>
            <a:off x="462915" y="701675"/>
            <a:ext cx="11109960" cy="5526405"/>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rPr>
              <a:t>空白恐惧症是指一旦发现自己没有任何事务安排和计划，一片</a:t>
            </a:r>
            <a:r>
              <a:rPr lang="en-US" altLang="zh-CN" sz="2200" dirty="0">
                <a:cs typeface="楷体" panose="02010609060101010101" charset="-122"/>
              </a:rPr>
              <a:t>“</a:t>
            </a:r>
            <a:r>
              <a:rPr lang="zh-CN" altLang="en-US" sz="2200" dirty="0">
                <a:cs typeface="楷体" panose="02010609060101010101" charset="-122"/>
              </a:rPr>
              <a:t>空白</a:t>
            </a:r>
            <a:r>
              <a:rPr lang="en-US" altLang="zh-CN" sz="2200" dirty="0">
                <a:cs typeface="楷体" panose="02010609060101010101" charset="-122"/>
              </a:rPr>
              <a:t>”</a:t>
            </a:r>
            <a:r>
              <a:rPr lang="zh-CN" altLang="en-US" sz="2200" dirty="0">
                <a:cs typeface="楷体" panose="02010609060101010101" charset="-122"/>
              </a:rPr>
              <a:t>，就会感到不安、恐慌，硬要找点事情做或虚假做事的一种焦虑状态，其成因通常是对于别人在社交平台上所展示的</a:t>
            </a:r>
            <a:r>
              <a:rPr lang="en-US" altLang="zh-CN" sz="2200" dirty="0">
                <a:cs typeface="楷体" panose="02010609060101010101" charset="-122"/>
              </a:rPr>
              <a:t>“</a:t>
            </a:r>
            <a:r>
              <a:rPr lang="zh-CN" altLang="en-US" sz="2200" dirty="0">
                <a:cs typeface="楷体" panose="02010609060101010101" charset="-122"/>
              </a:rPr>
              <a:t>充实</a:t>
            </a:r>
            <a:r>
              <a:rPr lang="en-US" altLang="zh-CN" sz="2200" dirty="0">
                <a:cs typeface="楷体" panose="02010609060101010101" charset="-122"/>
              </a:rPr>
              <a:t>”</a:t>
            </a:r>
            <a:r>
              <a:rPr lang="zh-CN" altLang="en-US" sz="2200" dirty="0">
                <a:cs typeface="楷体" panose="02010609060101010101" charset="-122"/>
              </a:rPr>
              <a:t>状态感到不安。</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根据上述定义，下列属于空白恐惧症的是：</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A.</a:t>
            </a:r>
            <a:r>
              <a:rPr lang="zh-CN" altLang="en-US" sz="2200" dirty="0">
                <a:cs typeface="楷体" panose="02010609060101010101" charset="-122"/>
              </a:rPr>
              <a:t>晚自习后，同学要去图书馆继续学习，小林觉得回去也不能立刻休息，于是也和同学去了图书馆</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B.</a:t>
            </a:r>
            <a:r>
              <a:rPr lang="zh-CN" altLang="en-US" sz="2200" dirty="0">
                <a:cs typeface="楷体" panose="02010609060101010101" charset="-122"/>
              </a:rPr>
              <a:t>暑假期间，小丽看到朋友发的带娃出游的照片，想到自己很少有时间能够带孩子出游，觉得很抱歉</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C.</a:t>
            </a:r>
            <a:r>
              <a:rPr lang="zh-CN" altLang="en-US" sz="2200" dirty="0">
                <a:cs typeface="楷体" panose="02010609060101010101" charset="-122"/>
              </a:rPr>
              <a:t>小明跟朋友在一起无所事事闲逛了一天，觉得自己浪费了时间，虚度了大好的光阴，突然感觉很焦虑</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D.</a:t>
            </a:r>
            <a:r>
              <a:rPr lang="zh-CN" altLang="en-US" sz="2200" dirty="0">
                <a:cs typeface="楷体" panose="02010609060101010101" charset="-122"/>
              </a:rPr>
              <a:t>小方看到同事在朋友圈分享了每周计划，而自己却没什么安排，担心被落下，于是报了并不需要的培训班</a:t>
            </a:r>
            <a:endParaRPr lang="zh-CN" altLang="en-US" sz="2200" dirty="0">
              <a:cs typeface="楷体" panose="02010609060101010101"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7</a:t>
            </a:r>
            <a:endParaRPr kumimoji="1" lang="en-US" altLang="zh-CN" sz="2800" b="1" dirty="0">
              <a:solidFill>
                <a:srgbClr val="FF653F"/>
              </a:solidFill>
            </a:endParaRPr>
          </a:p>
        </p:txBody>
      </p:sp>
      <p:sp>
        <p:nvSpPr>
          <p:cNvPr id="3" name="文本框 2"/>
          <p:cNvSpPr txBox="1"/>
          <p:nvPr/>
        </p:nvSpPr>
        <p:spPr>
          <a:xfrm>
            <a:off x="462915" y="701675"/>
            <a:ext cx="1115568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快餐文化是指追求速成、通俗、短期流行，不注重深厚积累和内在价值的文化思潮和文化现象，是人们生活节奏加快的产物。</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根据上述定义，下列属于快餐文化的是：</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方便面以其便宜、好吃、方便、保存时间长，而广受人们的欢迎</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家长为了自己的孩子能够赢在起跑线上，焦虑不已，抢报各种兴趣培训班</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五分钟看大片</a:t>
            </a:r>
            <a:r>
              <a:rPr lang="en-US" altLang="zh-CN" sz="2400" dirty="0">
                <a:cs typeface="楷体" panose="02010609060101010101" charset="-122"/>
              </a:rPr>
              <a:t>”</a:t>
            </a:r>
            <a:r>
              <a:rPr lang="zh-CN" altLang="en-US" sz="2400" dirty="0">
                <a:cs typeface="楷体" panose="02010609060101010101" charset="-122"/>
              </a:rPr>
              <a:t>通过在短时间内让受众了解影视剧情而深受年轻人的欢迎</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学生利用思维导图的方式，可以快速掌握学科知识，提高学习的效率和效果</a:t>
            </a:r>
            <a:endParaRPr lang="zh-CN" altLang="en-US" sz="2400" dirty="0">
              <a:cs typeface="楷体" panose="02010609060101010101"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74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8</a:t>
            </a:r>
            <a:endParaRPr kumimoji="1" lang="en-US" altLang="zh-CN" sz="2800" b="1" dirty="0">
              <a:solidFill>
                <a:srgbClr val="FF653F"/>
              </a:solidFill>
            </a:endParaRPr>
          </a:p>
        </p:txBody>
      </p:sp>
      <p:sp>
        <p:nvSpPr>
          <p:cNvPr id="3" name="文本框 2"/>
          <p:cNvSpPr txBox="1"/>
          <p:nvPr/>
        </p:nvSpPr>
        <p:spPr>
          <a:xfrm>
            <a:off x="462915" y="701675"/>
            <a:ext cx="1116457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句法造词法是指按照造句的规则来创造新词的方法，可分为主谓式（例如</a:t>
            </a:r>
            <a:r>
              <a:rPr lang="en-US" altLang="zh-CN" sz="2400" dirty="0">
                <a:cs typeface="楷体" panose="02010609060101010101" charset="-122"/>
              </a:rPr>
              <a:t>“</a:t>
            </a:r>
            <a:r>
              <a:rPr lang="zh-CN" altLang="en-US" sz="2400" dirty="0">
                <a:cs typeface="楷体" panose="02010609060101010101" charset="-122"/>
              </a:rPr>
              <a:t>地震</a:t>
            </a:r>
            <a:r>
              <a:rPr lang="en-US" altLang="zh-CN" sz="2400" dirty="0">
                <a:cs typeface="楷体" panose="02010609060101010101" charset="-122"/>
              </a:rPr>
              <a:t>”“</a:t>
            </a:r>
            <a:r>
              <a:rPr lang="zh-CN" altLang="en-US" sz="2400" dirty="0">
                <a:cs typeface="楷体" panose="02010609060101010101" charset="-122"/>
              </a:rPr>
              <a:t>日食</a:t>
            </a:r>
            <a:r>
              <a:rPr lang="en-US" altLang="zh-CN" sz="2400" dirty="0">
                <a:cs typeface="楷体" panose="02010609060101010101" charset="-122"/>
              </a:rPr>
              <a:t>”</a:t>
            </a:r>
            <a:r>
              <a:rPr lang="zh-CN" altLang="en-US" sz="2400" dirty="0">
                <a:cs typeface="楷体" panose="02010609060101010101" charset="-122"/>
              </a:rPr>
              <a:t>）、动宾式（例如</a:t>
            </a:r>
            <a:r>
              <a:rPr lang="en-US" altLang="zh-CN" sz="2400" dirty="0">
                <a:cs typeface="楷体" panose="02010609060101010101" charset="-122"/>
              </a:rPr>
              <a:t>“</a:t>
            </a:r>
            <a:r>
              <a:rPr lang="zh-CN" altLang="en-US" sz="2400" dirty="0">
                <a:cs typeface="楷体" panose="02010609060101010101" charset="-122"/>
              </a:rPr>
              <a:t>下岗</a:t>
            </a:r>
            <a:r>
              <a:rPr lang="en-US" altLang="zh-CN" sz="2400" dirty="0">
                <a:cs typeface="楷体" panose="02010609060101010101" charset="-122"/>
              </a:rPr>
              <a:t>”“</a:t>
            </a:r>
            <a:r>
              <a:rPr lang="zh-CN" altLang="en-US" sz="2400" dirty="0">
                <a:cs typeface="楷体" panose="02010609060101010101" charset="-122"/>
              </a:rPr>
              <a:t>督学</a:t>
            </a:r>
            <a:r>
              <a:rPr lang="en-US" altLang="zh-CN" sz="2400" dirty="0">
                <a:cs typeface="楷体" panose="02010609060101010101" charset="-122"/>
              </a:rPr>
              <a:t>”</a:t>
            </a:r>
            <a:r>
              <a:rPr lang="zh-CN" altLang="en-US" sz="2400" dirty="0">
                <a:cs typeface="楷体" panose="02010609060101010101" charset="-122"/>
              </a:rPr>
              <a:t>），并列式（例如</a:t>
            </a:r>
            <a:r>
              <a:rPr lang="en-US" altLang="zh-CN" sz="2400" dirty="0">
                <a:cs typeface="楷体" panose="02010609060101010101" charset="-122"/>
              </a:rPr>
              <a:t>“</a:t>
            </a:r>
            <a:r>
              <a:rPr lang="zh-CN" altLang="en-US" sz="2400" dirty="0">
                <a:cs typeface="楷体" panose="02010609060101010101" charset="-122"/>
              </a:rPr>
              <a:t>师生</a:t>
            </a:r>
            <a:r>
              <a:rPr lang="en-US" altLang="zh-CN" sz="2400" dirty="0">
                <a:cs typeface="楷体" panose="02010609060101010101" charset="-122"/>
              </a:rPr>
              <a:t>”“</a:t>
            </a:r>
            <a:r>
              <a:rPr lang="zh-CN" altLang="en-US" sz="2400" dirty="0">
                <a:cs typeface="楷体" panose="02010609060101010101" charset="-122"/>
              </a:rPr>
              <a:t>褒贬</a:t>
            </a:r>
            <a:r>
              <a:rPr lang="en-US" altLang="zh-CN" sz="2400" dirty="0">
                <a:cs typeface="楷体" panose="02010609060101010101" charset="-122"/>
              </a:rPr>
              <a:t>”</a:t>
            </a:r>
            <a:r>
              <a:rPr lang="zh-CN" altLang="en-US" sz="2400" dirty="0">
                <a:cs typeface="楷体" panose="02010609060101010101" charset="-122"/>
              </a:rPr>
              <a:t>）、偏正式（例如</a:t>
            </a:r>
            <a:r>
              <a:rPr lang="en-US" altLang="zh-CN" sz="2400" dirty="0">
                <a:cs typeface="楷体" panose="02010609060101010101" charset="-122"/>
              </a:rPr>
              <a:t>“</a:t>
            </a:r>
            <a:r>
              <a:rPr lang="zh-CN" altLang="en-US" sz="2400" dirty="0">
                <a:cs typeface="楷体" panose="02010609060101010101" charset="-122"/>
              </a:rPr>
              <a:t>飞快</a:t>
            </a:r>
            <a:r>
              <a:rPr lang="en-US" altLang="zh-CN" sz="2400" dirty="0">
                <a:cs typeface="楷体" panose="02010609060101010101" charset="-122"/>
              </a:rPr>
              <a:t>”“</a:t>
            </a:r>
            <a:r>
              <a:rPr lang="zh-CN" altLang="en-US" sz="2400" dirty="0">
                <a:cs typeface="楷体" panose="02010609060101010101" charset="-122"/>
              </a:rPr>
              <a:t>绿叶</a:t>
            </a:r>
            <a:r>
              <a:rPr lang="en-US" altLang="zh-CN" sz="2400" dirty="0">
                <a:cs typeface="楷体" panose="02010609060101010101" charset="-122"/>
              </a:rPr>
              <a:t>”</a:t>
            </a:r>
            <a:r>
              <a:rPr lang="zh-CN" altLang="en-US" sz="2400" dirty="0">
                <a:cs typeface="楷体" panose="02010609060101010101" charset="-122"/>
              </a:rPr>
              <a:t>）和补充式（例如</a:t>
            </a:r>
            <a:r>
              <a:rPr lang="en-US" altLang="zh-CN" sz="2400" dirty="0">
                <a:cs typeface="楷体" panose="02010609060101010101" charset="-122"/>
              </a:rPr>
              <a:t>“</a:t>
            </a:r>
            <a:r>
              <a:rPr lang="zh-CN" altLang="en-US" sz="2400" dirty="0">
                <a:cs typeface="楷体" panose="02010609060101010101" charset="-122"/>
              </a:rPr>
              <a:t>提高</a:t>
            </a:r>
            <a:r>
              <a:rPr lang="en-US" altLang="zh-CN" sz="2400" dirty="0">
                <a:cs typeface="楷体" panose="02010609060101010101" charset="-122"/>
              </a:rPr>
              <a:t>”“</a:t>
            </a:r>
            <a:r>
              <a:rPr lang="zh-CN" altLang="en-US" sz="2400" dirty="0">
                <a:cs typeface="楷体" panose="02010609060101010101" charset="-122"/>
              </a:rPr>
              <a:t>照亮</a:t>
            </a:r>
            <a:r>
              <a:rPr lang="en-US" altLang="zh-CN" sz="2400" dirty="0">
                <a:cs typeface="楷体" panose="02010609060101010101" charset="-122"/>
              </a:rPr>
              <a:t>”</a:t>
            </a:r>
            <a:r>
              <a:rPr lang="zh-CN" altLang="en-US" sz="2400" dirty="0">
                <a:cs typeface="楷体" panose="02010609060101010101" charset="-122"/>
              </a:rPr>
              <a:t>）形式，有些运用句法造词法构成的词语可综合使用上述两种或两种以上形式。</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根据上述定义，下列词语没有综合运用上述形式的是：</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文具店</a:t>
            </a:r>
            <a:r>
              <a:rPr lang="en-US" altLang="zh-CN" sz="2400" dirty="0">
                <a:cs typeface="楷体" panose="02010609060101010101" charset="-122"/>
              </a:rPr>
              <a:t>	B.</a:t>
            </a:r>
            <a:r>
              <a:rPr lang="zh-CN" altLang="en-US" sz="2400" dirty="0">
                <a:cs typeface="楷体" panose="02010609060101010101" charset="-122"/>
              </a:rPr>
              <a:t>脱粒机</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辅导班</a:t>
            </a:r>
            <a:r>
              <a:rPr lang="en-US" altLang="zh-CN" sz="2400" dirty="0">
                <a:cs typeface="楷体" panose="02010609060101010101" charset="-122"/>
              </a:rPr>
              <a:t>	D.</a:t>
            </a:r>
            <a:r>
              <a:rPr lang="zh-CN" altLang="en-US" sz="2400" dirty="0">
                <a:cs typeface="楷体" panose="02010609060101010101" charset="-122"/>
              </a:rPr>
              <a:t>国营厂</a:t>
            </a:r>
            <a:endParaRPr lang="zh-CN" altLang="en-US" sz="2400" dirty="0">
              <a:cs typeface="楷体" panose="02010609060101010101"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9</a:t>
            </a:r>
            <a:endParaRPr kumimoji="1" lang="en-US" altLang="zh-CN" sz="2800" b="1" dirty="0">
              <a:solidFill>
                <a:srgbClr val="FF653F"/>
              </a:solidFill>
            </a:endParaRPr>
          </a:p>
        </p:txBody>
      </p:sp>
      <p:sp>
        <p:nvSpPr>
          <p:cNvPr id="3" name="文本框 2"/>
          <p:cNvSpPr txBox="1"/>
          <p:nvPr/>
        </p:nvSpPr>
        <p:spPr>
          <a:xfrm>
            <a:off x="462915" y="701675"/>
            <a:ext cx="11210925"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在情绪</a:t>
            </a:r>
            <a:r>
              <a:rPr lang="en-US" altLang="zh-CN" sz="2000" dirty="0">
                <a:cs typeface="楷体" panose="02010609060101010101" charset="-122"/>
              </a:rPr>
              <a:t>ABC</a:t>
            </a:r>
            <a:r>
              <a:rPr lang="zh-CN" altLang="en-US" sz="2000" dirty="0">
                <a:cs typeface="楷体" panose="02010609060101010101" charset="-122"/>
              </a:rPr>
              <a:t>理论中，</a:t>
            </a:r>
            <a:r>
              <a:rPr lang="en-US" altLang="zh-CN" sz="2000" dirty="0">
                <a:cs typeface="楷体" panose="02010609060101010101" charset="-122"/>
              </a:rPr>
              <a:t>A</a:t>
            </a:r>
            <a:r>
              <a:rPr lang="zh-CN" altLang="en-US" sz="2000" dirty="0">
                <a:cs typeface="楷体" panose="02010609060101010101" charset="-122"/>
              </a:rPr>
              <a:t>表示诱发性事件；</a:t>
            </a:r>
            <a:r>
              <a:rPr lang="en-US" altLang="zh-CN" sz="2000" dirty="0">
                <a:cs typeface="楷体" panose="02010609060101010101" charset="-122"/>
              </a:rPr>
              <a:t>B</a:t>
            </a:r>
            <a:r>
              <a:rPr lang="zh-CN" altLang="en-US" sz="2000" dirty="0">
                <a:cs typeface="楷体" panose="02010609060101010101" charset="-122"/>
              </a:rPr>
              <a:t>表示个体针对此诱发性事件产生的一些信念，即对这件事的一些看法、解释；</a:t>
            </a:r>
            <a:r>
              <a:rPr lang="en-US" altLang="zh-CN" sz="2000" dirty="0">
                <a:cs typeface="楷体" panose="02010609060101010101" charset="-122"/>
              </a:rPr>
              <a:t>C</a:t>
            </a:r>
            <a:r>
              <a:rPr lang="zh-CN" altLang="en-US" sz="2000" dirty="0">
                <a:cs typeface="楷体" panose="02010609060101010101" charset="-122"/>
              </a:rPr>
              <a:t>表示个体产生的情绪和行为的结果。该理论认为，事件</a:t>
            </a:r>
            <a:r>
              <a:rPr lang="en-US" altLang="zh-CN" sz="2000" dirty="0">
                <a:cs typeface="楷体" panose="02010609060101010101" charset="-122"/>
              </a:rPr>
              <a:t>A</a:t>
            </a:r>
            <a:r>
              <a:rPr lang="zh-CN" altLang="en-US" sz="2000" dirty="0">
                <a:cs typeface="楷体" panose="02010609060101010101" charset="-122"/>
              </a:rPr>
              <a:t>只是引发情绪和行为的后果</a:t>
            </a:r>
            <a:r>
              <a:rPr lang="en-US" altLang="zh-CN" sz="2000" dirty="0">
                <a:cs typeface="楷体" panose="02010609060101010101" charset="-122"/>
              </a:rPr>
              <a:t>C</a:t>
            </a:r>
            <a:r>
              <a:rPr lang="zh-CN" altLang="en-US" sz="2000" dirty="0">
                <a:cs typeface="楷体" panose="02010609060101010101" charset="-122"/>
              </a:rPr>
              <a:t>的间接原因，而引起</a:t>
            </a:r>
            <a:r>
              <a:rPr lang="en-US" altLang="zh-CN" sz="2000" dirty="0">
                <a:cs typeface="楷体" panose="02010609060101010101" charset="-122"/>
              </a:rPr>
              <a:t>C</a:t>
            </a:r>
            <a:r>
              <a:rPr lang="zh-CN" altLang="en-US" sz="2000" dirty="0">
                <a:cs typeface="楷体" panose="02010609060101010101" charset="-122"/>
              </a:rPr>
              <a:t>的直接原因则是个体对事件</a:t>
            </a:r>
            <a:r>
              <a:rPr lang="en-US" altLang="zh-CN" sz="2000" dirty="0">
                <a:cs typeface="楷体" panose="02010609060101010101" charset="-122"/>
              </a:rPr>
              <a:t>A</a:t>
            </a:r>
            <a:r>
              <a:rPr lang="zh-CN" altLang="en-US" sz="2000" dirty="0">
                <a:cs typeface="楷体" panose="02010609060101010101" charset="-122"/>
              </a:rPr>
              <a:t>的认知和评价而产生的信念</a:t>
            </a:r>
            <a:r>
              <a:rPr lang="en-US" altLang="zh-CN" sz="2000" dirty="0">
                <a:cs typeface="楷体" panose="02010609060101010101" charset="-122"/>
              </a:rPr>
              <a:t>B</a:t>
            </a:r>
            <a:r>
              <a:rPr lang="zh-CN" altLang="en-US" sz="2000" dirty="0">
                <a:cs typeface="楷体" panose="02010609060101010101" charset="-122"/>
              </a:rPr>
              <a:t>。</a:t>
            </a: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根据上述定义，下列最符合情绪</a:t>
            </a:r>
            <a:r>
              <a:rPr lang="en-US" altLang="zh-CN" sz="2000" dirty="0">
                <a:cs typeface="楷体" panose="02010609060101010101" charset="-122"/>
              </a:rPr>
              <a:t>ABC</a:t>
            </a:r>
            <a:r>
              <a:rPr lang="zh-CN" altLang="en-US" sz="2000" dirty="0">
                <a:cs typeface="楷体" panose="02010609060101010101" charset="-122"/>
              </a:rPr>
              <a:t>理论的是：</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A.</a:t>
            </a:r>
            <a:r>
              <a:rPr lang="zh-CN" altLang="en-US" sz="2000" dirty="0">
                <a:cs typeface="楷体" panose="02010609060101010101" charset="-122"/>
              </a:rPr>
              <a:t>甲、乙两人同时被丙所骗，生性乐观的甲认为吃一堑长一智，而乙则为自己的轻信懊恼不已</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B.</a:t>
            </a:r>
            <a:r>
              <a:rPr lang="zh-CN" altLang="en-US" sz="2000" dirty="0">
                <a:cs typeface="楷体" panose="02010609060101010101" charset="-122"/>
              </a:rPr>
              <a:t>甲玩游戏到深夜，第二天起来迟了，急忙打车去上班，结果还是迟到了，他抱怨出租车司机技术不熟练，态度还恶劣</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C.</a:t>
            </a:r>
            <a:r>
              <a:rPr lang="zh-CN" altLang="en-US" sz="2000" dirty="0">
                <a:cs typeface="楷体" panose="02010609060101010101" charset="-122"/>
              </a:rPr>
              <a:t>甲、乙两人去看国际画展，喜欢中国传统绘画的甲认为《向日葵》《星空》等毫无美感，简直就是涂鸦之作，而乙看得流连忘返</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D.</a:t>
            </a:r>
            <a:r>
              <a:rPr lang="zh-CN" altLang="en-US" sz="2000" dirty="0">
                <a:cs typeface="楷体" panose="02010609060101010101" charset="-122"/>
              </a:rPr>
              <a:t>甲、乙两人应聘后均未被录用，甲无所谓，而乙伤心欲绝，因为甲认为，这次应聘只是试一试，增加临场经验；而乙则是多日准备，志在必得</a:t>
            </a:r>
            <a:endParaRPr lang="zh-CN" altLang="en-US" sz="2000" dirty="0">
              <a:cs typeface="楷体" panose="02010609060101010101"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740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10</a:t>
            </a:r>
            <a:endParaRPr kumimoji="1" lang="en-US" altLang="zh-CN" sz="2800" b="1" dirty="0">
              <a:solidFill>
                <a:srgbClr val="FF653F"/>
              </a:solidFill>
            </a:endParaRPr>
          </a:p>
        </p:txBody>
      </p:sp>
      <p:sp>
        <p:nvSpPr>
          <p:cNvPr id="3" name="文本框 2"/>
          <p:cNvSpPr txBox="1"/>
          <p:nvPr/>
        </p:nvSpPr>
        <p:spPr>
          <a:xfrm>
            <a:off x="462915" y="701675"/>
            <a:ext cx="1116457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功能医学从个体的遗传、环境、心理、生活方式和生理的联动关系入手，通过研究个体由生理功能下降到病理改变的发病过程，来判断功能变化程度、疾病的发展进程，找出功能下降及疾病产生的原因，做到早期发现疾病及预防未来疾病的发生。</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根据上述定义，下列不符合功能医学理念的是：</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专注于个性化治疗干预方案</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强调病理诊断，药物是最佳手段</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没有临床疾病不等于处于健康状态</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关注整体功能变化，而非仅针对疾病</a:t>
            </a:r>
            <a:endParaRPr lang="zh-CN" altLang="en-US" sz="2400" dirty="0">
              <a:cs typeface="楷体" panose="02010609060101010101"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9692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1</a:t>
            </a:r>
            <a:endParaRPr kumimoji="1" lang="en-US" altLang="zh-CN" sz="2800" b="1" dirty="0">
              <a:solidFill>
                <a:srgbClr val="FF653F"/>
              </a:solidFill>
            </a:endParaRPr>
          </a:p>
        </p:txBody>
      </p:sp>
      <p:sp>
        <p:nvSpPr>
          <p:cNvPr id="3" name="文本框 2"/>
          <p:cNvSpPr txBox="1"/>
          <p:nvPr/>
        </p:nvSpPr>
        <p:spPr>
          <a:xfrm>
            <a:off x="462915" y="666115"/>
            <a:ext cx="11183620" cy="5526405"/>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rPr>
              <a:t>生态产品是由生态系统自然生产或人类社会劳动生产，或由两种生产共同作用提供的，能维系生态安全，保障生态调节功能。提供良好人居环境的，满足人民日益增长的美好生活需要的产品服务。</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根据上述定义，下列不属于生态产品的是：</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A.</a:t>
            </a:r>
            <a:r>
              <a:rPr lang="zh-CN" altLang="en-US" sz="2200" dirty="0">
                <a:cs typeface="楷体" panose="02010609060101010101" charset="-122"/>
              </a:rPr>
              <a:t>某城市人工湿地中流淌的对生活污水和工业废水再生利用的再生水</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B.</a:t>
            </a:r>
            <a:r>
              <a:rPr lang="zh-CN" altLang="en-US" sz="2200" dirty="0">
                <a:cs typeface="楷体" panose="02010609060101010101" charset="-122"/>
              </a:rPr>
              <a:t>平均水深</a:t>
            </a:r>
            <a:r>
              <a:rPr lang="en-US" altLang="zh-CN" sz="2200" dirty="0">
                <a:cs typeface="楷体" panose="02010609060101010101" charset="-122"/>
              </a:rPr>
              <a:t>7</a:t>
            </a:r>
            <a:r>
              <a:rPr lang="zh-CN" altLang="en-US" sz="2200" dirty="0">
                <a:cs typeface="楷体" panose="02010609060101010101" charset="-122"/>
              </a:rPr>
              <a:t>米多，水草繁盛候鸟成群，水色清澈、景色旖旎的可鲁克湖</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C.</a:t>
            </a:r>
            <a:r>
              <a:rPr lang="zh-CN" altLang="en-US" sz="2200" dirty="0">
                <a:cs typeface="楷体" panose="02010609060101010101" charset="-122"/>
              </a:rPr>
              <a:t>集自然景观和民族风情于一体，面积</a:t>
            </a:r>
            <a:r>
              <a:rPr lang="en-US" altLang="zh-CN" sz="2200" dirty="0">
                <a:cs typeface="楷体" panose="02010609060101010101" charset="-122"/>
              </a:rPr>
              <a:t>152</a:t>
            </a:r>
            <a:r>
              <a:rPr lang="zh-CN" altLang="en-US" sz="2200" dirty="0">
                <a:cs typeface="楷体" panose="02010609060101010101" charset="-122"/>
              </a:rPr>
              <a:t>平方公里的坎布拉国家森林公园</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D.</a:t>
            </a:r>
            <a:r>
              <a:rPr lang="zh-CN" altLang="en-US" sz="2200" dirty="0">
                <a:cs typeface="楷体" panose="02010609060101010101" charset="-122"/>
              </a:rPr>
              <a:t>利用橡胶树上采集的橡胶制成的物美价廉，安全系数高的汽车专用轮胎</a:t>
            </a:r>
            <a:endParaRPr lang="zh-CN" altLang="en-US" sz="2200" dirty="0">
              <a:cs typeface="楷体" panose="02010609060101010101"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740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2</a:t>
            </a:r>
            <a:endParaRPr kumimoji="1" lang="en-US" altLang="zh-CN" sz="2800" b="1" dirty="0">
              <a:solidFill>
                <a:srgbClr val="FF653F"/>
              </a:solidFill>
            </a:endParaRPr>
          </a:p>
        </p:txBody>
      </p:sp>
      <p:sp>
        <p:nvSpPr>
          <p:cNvPr id="3" name="文本框 2"/>
          <p:cNvSpPr txBox="1"/>
          <p:nvPr/>
        </p:nvSpPr>
        <p:spPr>
          <a:xfrm>
            <a:off x="462915" y="701675"/>
            <a:ext cx="11164570" cy="5526405"/>
          </a:xfrm>
          <a:prstGeom prst="rect">
            <a:avLst/>
          </a:prstGeom>
          <a:noFill/>
        </p:spPr>
        <p:txBody>
          <a:bodyPr wrap="square" rtlCol="0" anchor="t">
            <a:noAutofit/>
          </a:bodyPr>
          <a:p>
            <a:pPr indent="0" fontAlgn="auto">
              <a:lnSpc>
                <a:spcPct val="130000"/>
              </a:lnSpc>
            </a:pPr>
            <a:r>
              <a:rPr lang="zh-CN" altLang="en-US" sz="2000" dirty="0">
                <a:cs typeface="楷体" panose="02010609060101010101" charset="-122"/>
              </a:rPr>
              <a:t>火性思维指的是个人对待所遇到的人或者事所采取的基本行动策略是首先根据一些规范或者要求来对其进行评价，并据此采取相关匡正行为；水性思维指的是个人对待所遇到的人或者事所采取的基本行动策略是首先对其进行理解并据此采取顺势而为的行为。</a:t>
            </a:r>
            <a:endParaRPr lang="zh-CN" altLang="en-US" sz="2000" dirty="0">
              <a:cs typeface="楷体" panose="02010609060101010101" charset="-122"/>
            </a:endParaRPr>
          </a:p>
          <a:p>
            <a:pPr indent="0" fontAlgn="auto">
              <a:lnSpc>
                <a:spcPct val="130000"/>
              </a:lnSpc>
            </a:pPr>
            <a:r>
              <a:rPr lang="en-US" altLang="en-US" sz="2000" dirty="0">
                <a:cs typeface="楷体" panose="02010609060101010101" charset="-122"/>
              </a:rPr>
              <a:t>①</a:t>
            </a:r>
            <a:r>
              <a:rPr lang="zh-CN" altLang="en-US" sz="2000" dirty="0">
                <a:cs typeface="楷体" panose="02010609060101010101" charset="-122"/>
              </a:rPr>
              <a:t>小陈在小区看到一些家长纵容孩子在草坪上随意奔跑，他急忙走过去对其家长进行善意地提醒，得到了家长的理解；</a:t>
            </a:r>
            <a:endParaRPr lang="zh-CN" altLang="en-US" sz="2000" dirty="0">
              <a:cs typeface="楷体" panose="02010609060101010101" charset="-122"/>
            </a:endParaRPr>
          </a:p>
          <a:p>
            <a:pPr indent="0" fontAlgn="auto">
              <a:lnSpc>
                <a:spcPct val="130000"/>
              </a:lnSpc>
            </a:pPr>
            <a:r>
              <a:rPr lang="en-US" altLang="en-US" sz="2000" dirty="0">
                <a:cs typeface="楷体" panose="02010609060101010101" charset="-122"/>
              </a:rPr>
              <a:t>②</a:t>
            </a:r>
            <a:r>
              <a:rPr lang="zh-CN" altLang="en-US" sz="2000" dirty="0">
                <a:cs typeface="楷体" panose="02010609060101010101" charset="-122"/>
              </a:rPr>
              <a:t>对于在菜市场门前随意摆摊设点的商贩，菜市场管理人员小赵根据领导的要求让他们到固定摊位售卖；</a:t>
            </a:r>
            <a:endParaRPr lang="zh-CN" altLang="en-US" sz="2000" dirty="0">
              <a:cs typeface="楷体" panose="02010609060101010101" charset="-122"/>
            </a:endParaRPr>
          </a:p>
          <a:p>
            <a:pPr indent="0" fontAlgn="auto">
              <a:lnSpc>
                <a:spcPct val="130000"/>
              </a:lnSpc>
            </a:pPr>
            <a:r>
              <a:rPr lang="en-US" altLang="en-US" sz="2000" dirty="0">
                <a:cs typeface="楷体" panose="02010609060101010101" charset="-122"/>
              </a:rPr>
              <a:t>③</a:t>
            </a:r>
            <a:r>
              <a:rPr lang="zh-CN" altLang="en-US" sz="2000" dirty="0">
                <a:cs typeface="楷体" panose="02010609060101010101" charset="-122"/>
              </a:rPr>
              <a:t>一辆轿车突然停在正常行走的小陆面前，小陆正要上前理论，爸爸急忙提醒他，可能车主是有急事，我们就多理解一下，绕开走吧。</a:t>
            </a:r>
            <a:endParaRPr lang="zh-CN" altLang="en-US" sz="2000" dirty="0">
              <a:cs typeface="楷体" panose="02010609060101010101" charset="-122"/>
            </a:endParaRPr>
          </a:p>
          <a:p>
            <a:pPr indent="0" fontAlgn="auto">
              <a:lnSpc>
                <a:spcPct val="130000"/>
              </a:lnSpc>
            </a:pPr>
            <a:r>
              <a:rPr lang="zh-CN" altLang="en-US" sz="2000" dirty="0">
                <a:cs typeface="楷体" panose="02010609060101010101" charset="-122"/>
              </a:rPr>
              <a:t>根据上述定义，下列判断正确的是：</a:t>
            </a:r>
            <a:endParaRPr lang="zh-CN" altLang="en-US" sz="2000" dirty="0">
              <a:cs typeface="楷体" panose="02010609060101010101" charset="-122"/>
            </a:endParaRPr>
          </a:p>
          <a:p>
            <a:pPr indent="0" fontAlgn="auto">
              <a:lnSpc>
                <a:spcPct val="130000"/>
              </a:lnSpc>
            </a:pPr>
            <a:r>
              <a:rPr lang="en-US" altLang="zh-CN" sz="2000" dirty="0">
                <a:cs typeface="楷体" panose="02010609060101010101" charset="-122"/>
              </a:rPr>
              <a:t>A.</a:t>
            </a:r>
            <a:r>
              <a:rPr lang="en-US" altLang="en-US" sz="2000" dirty="0">
                <a:cs typeface="楷体" panose="02010609060101010101" charset="-122"/>
              </a:rPr>
              <a:t>①</a:t>
            </a:r>
            <a:r>
              <a:rPr lang="zh-CN" altLang="en-US" sz="2000" dirty="0">
                <a:cs typeface="楷体" panose="02010609060101010101" charset="-122"/>
              </a:rPr>
              <a:t>中小陈是火性思维，</a:t>
            </a:r>
            <a:r>
              <a:rPr lang="en-US" altLang="en-US" sz="2000" dirty="0">
                <a:cs typeface="楷体" panose="02010609060101010101" charset="-122"/>
              </a:rPr>
              <a:t>③</a:t>
            </a:r>
            <a:r>
              <a:rPr lang="zh-CN" altLang="en-US" sz="2000" dirty="0">
                <a:cs typeface="楷体" panose="02010609060101010101" charset="-122"/>
              </a:rPr>
              <a:t>中小陆爸爸是水性思维</a:t>
            </a:r>
            <a:endParaRPr lang="zh-CN" altLang="en-US" sz="2000" dirty="0">
              <a:cs typeface="楷体" panose="02010609060101010101" charset="-122"/>
            </a:endParaRPr>
          </a:p>
          <a:p>
            <a:pPr indent="0" fontAlgn="auto">
              <a:lnSpc>
                <a:spcPct val="130000"/>
              </a:lnSpc>
            </a:pPr>
            <a:r>
              <a:rPr lang="en-US" altLang="zh-CN" sz="2000" dirty="0">
                <a:cs typeface="楷体" panose="02010609060101010101" charset="-122"/>
              </a:rPr>
              <a:t>B.</a:t>
            </a:r>
            <a:r>
              <a:rPr lang="en-US" altLang="en-US" sz="2000" dirty="0">
                <a:cs typeface="楷体" panose="02010609060101010101" charset="-122"/>
              </a:rPr>
              <a:t>①</a:t>
            </a:r>
            <a:r>
              <a:rPr lang="zh-CN" altLang="en-US" sz="2000" dirty="0">
                <a:cs typeface="楷体" panose="02010609060101010101" charset="-122"/>
              </a:rPr>
              <a:t>中小陈是水性思维，</a:t>
            </a:r>
            <a:r>
              <a:rPr lang="en-US" altLang="en-US" sz="2000" dirty="0">
                <a:cs typeface="楷体" panose="02010609060101010101" charset="-122"/>
              </a:rPr>
              <a:t>③</a:t>
            </a:r>
            <a:r>
              <a:rPr lang="zh-CN" altLang="en-US" sz="2000" dirty="0">
                <a:cs typeface="楷体" panose="02010609060101010101" charset="-122"/>
              </a:rPr>
              <a:t>中小陆爸爸是火性思维</a:t>
            </a:r>
            <a:endParaRPr lang="zh-CN" altLang="en-US" sz="2000" dirty="0">
              <a:cs typeface="楷体" panose="02010609060101010101" charset="-122"/>
            </a:endParaRPr>
          </a:p>
          <a:p>
            <a:pPr indent="0" fontAlgn="auto">
              <a:lnSpc>
                <a:spcPct val="130000"/>
              </a:lnSpc>
            </a:pPr>
            <a:r>
              <a:rPr lang="en-US" altLang="zh-CN" sz="2000" dirty="0">
                <a:cs typeface="楷体" panose="02010609060101010101" charset="-122"/>
              </a:rPr>
              <a:t>C.</a:t>
            </a:r>
            <a:r>
              <a:rPr lang="en-US" altLang="en-US" sz="2000" dirty="0">
                <a:cs typeface="楷体" panose="02010609060101010101" charset="-122"/>
              </a:rPr>
              <a:t>②</a:t>
            </a:r>
            <a:r>
              <a:rPr lang="zh-CN" altLang="en-US" sz="2000" dirty="0">
                <a:cs typeface="楷体" panose="02010609060101010101" charset="-122"/>
              </a:rPr>
              <a:t>中小赵是火性思维，</a:t>
            </a:r>
            <a:r>
              <a:rPr lang="en-US" altLang="en-US" sz="2000" dirty="0">
                <a:cs typeface="楷体" panose="02010609060101010101" charset="-122"/>
              </a:rPr>
              <a:t>①③</a:t>
            </a:r>
            <a:r>
              <a:rPr lang="zh-CN" altLang="en-US" sz="2000" dirty="0">
                <a:cs typeface="楷体" panose="02010609060101010101" charset="-122"/>
              </a:rPr>
              <a:t>中小陈和小陆爸爸是水性思维</a:t>
            </a:r>
            <a:endParaRPr lang="zh-CN" altLang="en-US" sz="2000" dirty="0">
              <a:cs typeface="楷体" panose="02010609060101010101" charset="-122"/>
            </a:endParaRPr>
          </a:p>
          <a:p>
            <a:pPr indent="0" fontAlgn="auto">
              <a:lnSpc>
                <a:spcPct val="130000"/>
              </a:lnSpc>
            </a:pPr>
            <a:r>
              <a:rPr lang="en-US" altLang="zh-CN" sz="2000" dirty="0">
                <a:cs typeface="楷体" panose="02010609060101010101" charset="-122"/>
              </a:rPr>
              <a:t>D.</a:t>
            </a:r>
            <a:r>
              <a:rPr lang="en-US" altLang="en-US" sz="2000" dirty="0">
                <a:cs typeface="楷体" panose="02010609060101010101" charset="-122"/>
              </a:rPr>
              <a:t>①②</a:t>
            </a:r>
            <a:r>
              <a:rPr lang="zh-CN" altLang="en-US" sz="2000" dirty="0">
                <a:cs typeface="楷体" panose="02010609060101010101" charset="-122"/>
              </a:rPr>
              <a:t>中小陈和小赵是火性思维，</a:t>
            </a:r>
            <a:r>
              <a:rPr lang="en-US" altLang="en-US" sz="2000" dirty="0">
                <a:cs typeface="楷体" panose="02010609060101010101" charset="-122"/>
              </a:rPr>
              <a:t>③</a:t>
            </a:r>
            <a:r>
              <a:rPr lang="zh-CN" altLang="en-US" sz="2000" dirty="0">
                <a:cs typeface="楷体" panose="02010609060101010101" charset="-122"/>
              </a:rPr>
              <a:t>中小陆爸爸是水性思维</a:t>
            </a:r>
            <a:endParaRPr lang="zh-CN" altLang="en-US" sz="2000" dirty="0">
              <a:cs typeface="楷体" panose="02010609060101010101"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3</a:t>
            </a:r>
            <a:endParaRPr kumimoji="1" lang="en-US" altLang="zh-CN" sz="2800" b="1" dirty="0">
              <a:solidFill>
                <a:srgbClr val="FF653F"/>
              </a:solidFill>
            </a:endParaRPr>
          </a:p>
        </p:txBody>
      </p:sp>
      <p:sp>
        <p:nvSpPr>
          <p:cNvPr id="3" name="文本框 2"/>
          <p:cNvSpPr txBox="1"/>
          <p:nvPr/>
        </p:nvSpPr>
        <p:spPr>
          <a:xfrm>
            <a:off x="481965" y="708025"/>
            <a:ext cx="11118850" cy="5526405"/>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rPr>
              <a:t>电子对抗是指敌对双方为削弱、破坏对方电子设备的使用效能，保障己方电子设备发挥效能而采取的各种电子措施和行动，电子对抗的形式包括电子对抗侦察、电子防御等，其中电子对抗侦察是搜集敌方电子设备信息的侦察；电子防御是在敌方实施电子对抗的情况下，为保障己方电子设备和电子系统发挥效能而采取的措施和行动。</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根据上述定义，下列没有体现上述两种电子对抗形式的是：</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A.</a:t>
            </a:r>
            <a:r>
              <a:rPr lang="zh-CN" altLang="en-US" sz="2200" dirty="0">
                <a:cs typeface="楷体" panose="02010609060101010101" charset="-122"/>
              </a:rPr>
              <a:t>通过无线电技术侦听敌方雷达，识别其所在位置，获取该雷达技术参数</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B.</a:t>
            </a:r>
            <a:r>
              <a:rPr lang="zh-CN" altLang="en-US" sz="2200" dirty="0">
                <a:cs typeface="楷体" panose="02010609060101010101" charset="-122"/>
              </a:rPr>
              <a:t>通过为战机涂抹特殊材料，使其平面反射面积缩小，使敌方雷达无法探测到</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C.</a:t>
            </a:r>
            <a:r>
              <a:rPr lang="zh-CN" altLang="en-US" sz="2200" dirty="0">
                <a:cs typeface="楷体" panose="02010609060101010101" charset="-122"/>
              </a:rPr>
              <a:t>受到反雷达导弹攻击时，利用多部雷达组网发射信号，使导弹无法定位而偏离方向</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D.</a:t>
            </a:r>
            <a:r>
              <a:rPr lang="zh-CN" altLang="en-US" sz="2200" dirty="0">
                <a:cs typeface="楷体" panose="02010609060101010101" charset="-122"/>
              </a:rPr>
              <a:t>通过水声设备对敌方声呐，声制导武器的声信号进行截收，确定目标类型和部署数量</a:t>
            </a:r>
            <a:endParaRPr lang="zh-CN" altLang="en-US" sz="2200" dirty="0">
              <a:cs typeface="楷体" panose="02010609060101010101"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4</a:t>
            </a:r>
            <a:endParaRPr kumimoji="1" lang="en-US" altLang="zh-CN" sz="2800" b="1" dirty="0">
              <a:solidFill>
                <a:srgbClr val="FF653F"/>
              </a:solidFill>
            </a:endParaRPr>
          </a:p>
        </p:txBody>
      </p:sp>
      <p:sp>
        <p:nvSpPr>
          <p:cNvPr id="3" name="文本框 2"/>
          <p:cNvSpPr txBox="1"/>
          <p:nvPr/>
        </p:nvSpPr>
        <p:spPr>
          <a:xfrm>
            <a:off x="610235" y="701675"/>
            <a:ext cx="1119251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命令性规范和禁止性规范都是义务性规范。命令性规范，是指规定人们的积极义务，即人们必须或应当作出某种行为的规范；禁止性规范，是指规定人们的消极义务（不作为义务），即禁止人们作出一定行为的规范。</a:t>
            </a:r>
            <a:endParaRPr lang="zh-CN" altLang="en-US" sz="2400" dirty="0">
              <a:cs typeface="楷体" panose="02010609060101010101" charset="-122"/>
            </a:endParaRPr>
          </a:p>
          <a:p>
            <a:pPr indent="0" fontAlgn="auto">
              <a:lnSpc>
                <a:spcPct val="150000"/>
              </a:lnSpc>
            </a:pPr>
            <a:r>
              <a:rPr lang="en-US" altLang="en-US" sz="2400" dirty="0">
                <a:cs typeface="楷体" panose="02010609060101010101" charset="-122"/>
              </a:rPr>
              <a:t>①</a:t>
            </a:r>
            <a:r>
              <a:rPr lang="zh-CN" altLang="en-US" sz="2400" dirty="0">
                <a:cs typeface="楷体" panose="02010609060101010101" charset="-122"/>
              </a:rPr>
              <a:t>禁止用任何方法对公民进行侮辱、诽谤和诬告陷害</a:t>
            </a:r>
            <a:endParaRPr lang="zh-CN" altLang="en-US" sz="2400" dirty="0">
              <a:cs typeface="楷体" panose="02010609060101010101" charset="-122"/>
            </a:endParaRPr>
          </a:p>
          <a:p>
            <a:pPr indent="0" fontAlgn="auto">
              <a:lnSpc>
                <a:spcPct val="150000"/>
              </a:lnSpc>
            </a:pPr>
            <a:r>
              <a:rPr lang="en-US" altLang="en-US" sz="2400" dirty="0">
                <a:cs typeface="楷体" panose="02010609060101010101" charset="-122"/>
              </a:rPr>
              <a:t>②</a:t>
            </a:r>
            <a:r>
              <a:rPr lang="zh-CN" altLang="en-US" sz="2400" dirty="0">
                <a:cs typeface="楷体" panose="02010609060101010101" charset="-122"/>
              </a:rPr>
              <a:t>行为人与相对人恶意串通，损害他人合法权益的民事行为无效</a:t>
            </a:r>
            <a:endParaRPr lang="zh-CN" altLang="en-US" sz="2400" dirty="0">
              <a:cs typeface="楷体" panose="02010609060101010101" charset="-122"/>
            </a:endParaRPr>
          </a:p>
          <a:p>
            <a:pPr indent="0" fontAlgn="auto">
              <a:lnSpc>
                <a:spcPct val="150000"/>
              </a:lnSpc>
            </a:pPr>
            <a:r>
              <a:rPr lang="en-US" altLang="en-US" sz="2400" dirty="0">
                <a:cs typeface="楷体" panose="02010609060101010101" charset="-122"/>
              </a:rPr>
              <a:t>③</a:t>
            </a:r>
            <a:r>
              <a:rPr lang="zh-CN" altLang="en-US" sz="2400" dirty="0">
                <a:cs typeface="楷体" panose="02010609060101010101" charset="-122"/>
              </a:rPr>
              <a:t>公安机关拘留人的时候，必须出示拘留证</a:t>
            </a:r>
            <a:endParaRPr lang="zh-CN" altLang="en-US" sz="2400" dirty="0">
              <a:cs typeface="楷体" panose="02010609060101010101" charset="-122"/>
            </a:endParaRPr>
          </a:p>
          <a:p>
            <a:pPr indent="0" fontAlgn="auto">
              <a:lnSpc>
                <a:spcPct val="150000"/>
              </a:lnSpc>
            </a:pPr>
            <a:r>
              <a:rPr lang="en-US" altLang="en-US" sz="2400" dirty="0">
                <a:cs typeface="楷体" panose="02010609060101010101" charset="-122"/>
              </a:rPr>
              <a:t>④</a:t>
            </a:r>
            <a:r>
              <a:rPr lang="zh-CN" altLang="en-US" sz="2400" dirty="0">
                <a:cs typeface="楷体" panose="02010609060101010101" charset="-122"/>
              </a:rPr>
              <a:t>对当事人的同一个违法行为，不得给予两次以上罚款的行政处罚</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根据上述定义，下列说法正确的是：</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en-US" altLang="en-US" sz="2400" dirty="0">
                <a:cs typeface="楷体" panose="02010609060101010101" charset="-122"/>
              </a:rPr>
              <a:t>①④</a:t>
            </a:r>
            <a:r>
              <a:rPr lang="zh-CN" altLang="en-US" sz="2400" dirty="0">
                <a:cs typeface="楷体" panose="02010609060101010101" charset="-122"/>
              </a:rPr>
              <a:t>属于命令性规范</a:t>
            </a:r>
            <a:r>
              <a:rPr lang="en-US" altLang="zh-CN" sz="2400" dirty="0">
                <a:cs typeface="楷体" panose="02010609060101010101" charset="-122"/>
              </a:rPr>
              <a:t>	B.</a:t>
            </a:r>
            <a:r>
              <a:rPr lang="en-US" altLang="en-US" sz="2400" dirty="0">
                <a:cs typeface="楷体" panose="02010609060101010101" charset="-122"/>
              </a:rPr>
              <a:t>②③</a:t>
            </a:r>
            <a:r>
              <a:rPr lang="zh-CN" altLang="en-US" sz="2400" dirty="0">
                <a:cs typeface="楷体" panose="02010609060101010101" charset="-122"/>
              </a:rPr>
              <a:t>属于禁止性规范</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en-US" altLang="en-US" sz="2400" dirty="0">
                <a:cs typeface="楷体" panose="02010609060101010101" charset="-122"/>
              </a:rPr>
              <a:t>②④</a:t>
            </a:r>
            <a:r>
              <a:rPr lang="zh-CN" altLang="en-US" sz="2400" dirty="0">
                <a:cs typeface="楷体" panose="02010609060101010101" charset="-122"/>
              </a:rPr>
              <a:t>属于禁止性规范</a:t>
            </a:r>
            <a:r>
              <a:rPr lang="en-US" altLang="zh-CN" sz="2400" dirty="0">
                <a:cs typeface="楷体" panose="02010609060101010101" charset="-122"/>
              </a:rPr>
              <a:t>	D.</a:t>
            </a:r>
            <a:r>
              <a:rPr lang="zh-CN" altLang="en-US" sz="2400" dirty="0">
                <a:cs typeface="楷体" panose="02010609060101010101" charset="-122"/>
              </a:rPr>
              <a:t>只有</a:t>
            </a:r>
            <a:r>
              <a:rPr lang="en-US" altLang="en-US" sz="2400" dirty="0">
                <a:cs typeface="楷体" panose="02010609060101010101" charset="-122"/>
              </a:rPr>
              <a:t>③</a:t>
            </a:r>
            <a:r>
              <a:rPr lang="zh-CN" altLang="en-US" sz="2400" dirty="0">
                <a:cs typeface="楷体" panose="02010609060101010101" charset="-122"/>
              </a:rPr>
              <a:t>属于命令性规范</a:t>
            </a:r>
            <a:endParaRPr lang="zh-CN" altLang="en-US" sz="2400" dirty="0">
              <a:cs typeface="楷体" panose="02010609060101010101"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1026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5</a:t>
            </a:r>
            <a:endParaRPr kumimoji="1" lang="en-US" altLang="zh-CN" sz="2800" b="1" dirty="0">
              <a:solidFill>
                <a:srgbClr val="FF653F"/>
              </a:solidFill>
            </a:endParaRPr>
          </a:p>
        </p:txBody>
      </p:sp>
      <p:sp>
        <p:nvSpPr>
          <p:cNvPr id="3" name="文本框 2"/>
          <p:cNvSpPr txBox="1"/>
          <p:nvPr/>
        </p:nvSpPr>
        <p:spPr>
          <a:xfrm>
            <a:off x="462915" y="701675"/>
            <a:ext cx="11210925" cy="5526405"/>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rPr>
              <a:t>电影场面调度是指在剧本提供的人物动作、场景视觉角度等基础上，结合实际拍摄条件，进行的有关演员或摄影机活动位置的调度，通过调度，可以起到刻画人物性格、表现人物关系、渲染场面气氛、交代时空间隔等作用。</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根据上述定义，下列体现了电影场面调度的是：</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A.</a:t>
            </a:r>
            <a:r>
              <a:rPr lang="zh-CN" altLang="en-US" sz="2200" dirty="0">
                <a:cs typeface="楷体" panose="02010609060101010101" charset="-122"/>
              </a:rPr>
              <a:t>采用特殊剪辑手法，让处于不同时空的人物同时呈现在同一个画面上</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B.</a:t>
            </a:r>
            <a:r>
              <a:rPr lang="zh-CN" altLang="en-US" sz="2200" dirty="0">
                <a:cs typeface="楷体" panose="02010609060101010101" charset="-122"/>
              </a:rPr>
              <a:t>跟拍某演员从进门一直走到房子深处的角落，用透视关系表现空间感</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C.</a:t>
            </a:r>
            <a:r>
              <a:rPr lang="zh-CN" altLang="en-US" sz="2200" dirty="0">
                <a:cs typeface="楷体" panose="02010609060101010101" charset="-122"/>
              </a:rPr>
              <a:t>设置充满阳光的布景，播放欢快的音乐，映衬出电影主人公明媚的心情</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D.</a:t>
            </a:r>
            <a:r>
              <a:rPr lang="zh-CN" altLang="en-US" sz="2200" dirty="0">
                <a:cs typeface="楷体" panose="02010609060101010101" charset="-122"/>
              </a:rPr>
              <a:t>通过拍摄演员两次见到某人的表情变化，体现其对该人不断加深的好感</a:t>
            </a:r>
            <a:endParaRPr lang="zh-CN" altLang="en-US" sz="2200" dirty="0">
              <a:cs typeface="楷体" panose="02010609060101010101"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6</a:t>
            </a:r>
            <a:endParaRPr kumimoji="1" lang="en-US" altLang="zh-CN" sz="2800" b="1" dirty="0">
              <a:solidFill>
                <a:srgbClr val="FF653F"/>
              </a:solidFill>
            </a:endParaRPr>
          </a:p>
        </p:txBody>
      </p:sp>
      <p:sp>
        <p:nvSpPr>
          <p:cNvPr id="3" name="文本框 2"/>
          <p:cNvSpPr txBox="1"/>
          <p:nvPr/>
        </p:nvSpPr>
        <p:spPr>
          <a:xfrm>
            <a:off x="462915" y="1210945"/>
            <a:ext cx="8601710" cy="501713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闭门：造车</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抛砖：引玉</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震耳：欲聋</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冷言：冷语</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曲高：和寡</a:t>
            </a:r>
            <a:endParaRPr lang="zh-CN" altLang="en-US" sz="2400" dirty="0">
              <a:cs typeface="楷体" panose="02010609060101010101"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7</a:t>
            </a:r>
            <a:endParaRPr kumimoji="1" lang="en-US" altLang="zh-CN" sz="2800" b="1" dirty="0">
              <a:solidFill>
                <a:srgbClr val="FF653F"/>
              </a:solidFill>
            </a:endParaRPr>
          </a:p>
        </p:txBody>
      </p:sp>
      <p:sp>
        <p:nvSpPr>
          <p:cNvPr id="3" name="文本框 2"/>
          <p:cNvSpPr txBox="1"/>
          <p:nvPr/>
        </p:nvSpPr>
        <p:spPr>
          <a:xfrm>
            <a:off x="462915" y="1127125"/>
            <a:ext cx="8601710" cy="510095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汽锅鸡：竹筒饭</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螺蛳粉：东坡肉</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瓦罐鱼：小笼包</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铁板烧：三杯鸡</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盐水鸭：担担面</a:t>
            </a:r>
            <a:endParaRPr lang="zh-CN" altLang="en-US" sz="2400" dirty="0">
              <a:cs typeface="楷体" panose="02010609060101010101"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8</a:t>
            </a:r>
            <a:endParaRPr kumimoji="1" lang="en-US" altLang="zh-CN" sz="2800" b="1" dirty="0">
              <a:solidFill>
                <a:srgbClr val="FF653F"/>
              </a:solidFill>
            </a:endParaRPr>
          </a:p>
        </p:txBody>
      </p:sp>
      <p:sp>
        <p:nvSpPr>
          <p:cNvPr id="3" name="文本框 2"/>
          <p:cNvSpPr txBox="1"/>
          <p:nvPr/>
        </p:nvSpPr>
        <p:spPr>
          <a:xfrm>
            <a:off x="462915" y="1040765"/>
            <a:ext cx="8601710" cy="519366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泰山北斗：德高望重</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天罗地网：防范严密</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钟鸣鼎食：金玉满堂</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人才辈出：卧虎藏龙</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珠联璧合：关系亲密</a:t>
            </a:r>
            <a:endParaRPr lang="zh-CN" altLang="en-US" sz="2400" dirty="0">
              <a:cs typeface="楷体" panose="02010609060101010101"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9</a:t>
            </a:r>
            <a:endParaRPr kumimoji="1" lang="en-US" altLang="zh-CN" sz="2800" b="1" dirty="0">
              <a:solidFill>
                <a:srgbClr val="FF653F"/>
              </a:solidFill>
            </a:endParaRPr>
          </a:p>
        </p:txBody>
      </p:sp>
      <p:sp>
        <p:nvSpPr>
          <p:cNvPr id="3" name="文本框 2"/>
          <p:cNvSpPr txBox="1"/>
          <p:nvPr/>
        </p:nvSpPr>
        <p:spPr>
          <a:xfrm>
            <a:off x="462915" y="1071245"/>
            <a:ext cx="8601710" cy="515683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口若悬河：喋喋不休</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好高骛远：高瞻远瞩</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能言善辩：巧舌如簧</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独占鳌头：鹤立鸡群</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百无聊赖：兴趣索然</a:t>
            </a:r>
            <a:endParaRPr lang="zh-CN" altLang="en-US" sz="2400" dirty="0">
              <a:cs typeface="楷体" panose="02010609060101010101"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0</a:t>
            </a:r>
            <a:endParaRPr kumimoji="1" lang="en-US" altLang="zh-CN" sz="2800" b="1" dirty="0">
              <a:solidFill>
                <a:srgbClr val="FF653F"/>
              </a:solidFill>
            </a:endParaRPr>
          </a:p>
        </p:txBody>
      </p:sp>
      <p:sp>
        <p:nvSpPr>
          <p:cNvPr id="3" name="文本框 2"/>
          <p:cNvSpPr txBox="1"/>
          <p:nvPr/>
        </p:nvSpPr>
        <p:spPr>
          <a:xfrm>
            <a:off x="462915" y="1080135"/>
            <a:ext cx="8601710" cy="514794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近乡情更怯：不敢问来人</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空山不见人：但闻人语响</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松下问童子：言师采药去</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君自故乡来：应知故乡事</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至今思项羽：不肯过江东</a:t>
            </a:r>
            <a:endParaRPr lang="zh-CN" altLang="en-US" sz="2400" dirty="0">
              <a:cs typeface="楷体" panose="02010609060101010101"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1</a:t>
            </a:r>
            <a:endParaRPr kumimoji="1" lang="en-US" altLang="zh-CN" sz="2800" b="1" dirty="0">
              <a:solidFill>
                <a:srgbClr val="FF653F"/>
              </a:solidFill>
            </a:endParaRPr>
          </a:p>
        </p:txBody>
      </p:sp>
      <p:sp>
        <p:nvSpPr>
          <p:cNvPr id="3" name="文本框 2"/>
          <p:cNvSpPr txBox="1"/>
          <p:nvPr/>
        </p:nvSpPr>
        <p:spPr>
          <a:xfrm>
            <a:off x="462915" y="1188720"/>
            <a:ext cx="8601710" cy="5045710"/>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大脑：思考：思想</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心脏：跳动：血液</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肺脏：呼吸：空气</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芯片：编程：软件</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车床：切割：产品</a:t>
            </a:r>
            <a:endParaRPr lang="zh-CN" altLang="en-US" sz="2400" dirty="0">
              <a:cs typeface="楷体" panose="02010609060101010101"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2</a:t>
            </a:r>
            <a:endParaRPr kumimoji="1" lang="en-US" altLang="zh-CN" sz="2800" b="1" dirty="0">
              <a:solidFill>
                <a:srgbClr val="FF653F"/>
              </a:solidFill>
            </a:endParaRPr>
          </a:p>
        </p:txBody>
      </p:sp>
      <p:sp>
        <p:nvSpPr>
          <p:cNvPr id="3" name="文本框 2"/>
          <p:cNvSpPr txBox="1"/>
          <p:nvPr/>
        </p:nvSpPr>
        <p:spPr>
          <a:xfrm>
            <a:off x="462915" y="1217295"/>
            <a:ext cx="8601710" cy="501713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信用卡：借记卡：银行卡</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针织物：机织物：纺织物</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保守派：激进派：两面派</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交叉路：丁字路：十字路</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轩辕台：越王台：主席台</a:t>
            </a:r>
            <a:endParaRPr lang="zh-CN" altLang="en-US" sz="2400" dirty="0">
              <a:cs typeface="楷体" panose="02010609060101010101"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3</a:t>
            </a:r>
            <a:endParaRPr kumimoji="1" lang="en-US" altLang="zh-CN" sz="2800" b="1" dirty="0">
              <a:solidFill>
                <a:srgbClr val="FF653F"/>
              </a:solidFill>
            </a:endParaRPr>
          </a:p>
        </p:txBody>
      </p:sp>
      <p:sp>
        <p:nvSpPr>
          <p:cNvPr id="3" name="文本框 2"/>
          <p:cNvSpPr txBox="1"/>
          <p:nvPr/>
        </p:nvSpPr>
        <p:spPr>
          <a:xfrm>
            <a:off x="462915" y="1293495"/>
            <a:ext cx="8601710" cy="493458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股票：走势图：交易信息</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心脏：心电图：心脏结构</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的士：计价器：运营范围</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海拔：地平线：地面起伏</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企业：利润表：经营情况</a:t>
            </a:r>
            <a:endParaRPr lang="zh-CN" altLang="en-US" sz="2400" dirty="0">
              <a:cs typeface="楷体" panose="02010609060101010101"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4</a:t>
            </a:r>
            <a:endParaRPr kumimoji="1" lang="en-US" altLang="zh-CN" sz="2800" b="1" dirty="0">
              <a:solidFill>
                <a:srgbClr val="FF653F"/>
              </a:solidFill>
            </a:endParaRPr>
          </a:p>
        </p:txBody>
      </p:sp>
      <p:sp>
        <p:nvSpPr>
          <p:cNvPr id="3" name="文本框 2"/>
          <p:cNvSpPr txBox="1"/>
          <p:nvPr/>
        </p:nvSpPr>
        <p:spPr>
          <a:xfrm>
            <a:off x="462915" y="1192530"/>
            <a:ext cx="8601710" cy="5035550"/>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a:t>
            </a:r>
            <a:r>
              <a:rPr lang="en-US" altLang="zh-CN" sz="2400" dirty="0">
                <a:cs typeface="楷体" panose="02010609060101010101" charset="-122"/>
              </a:rPr>
              <a:t>  </a:t>
            </a:r>
            <a:r>
              <a:rPr lang="zh-CN" altLang="en-US" sz="2400" dirty="0">
                <a:cs typeface="楷体" panose="02010609060101010101" charset="-122"/>
              </a:rPr>
              <a:t>）对于蜡笔相当于照片对于（</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铅笔；相片</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图画；相机</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文具；相册</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毛笔；图像</a:t>
            </a:r>
            <a:endParaRPr lang="zh-CN" altLang="en-US" sz="2400" dirty="0">
              <a:cs typeface="楷体" panose="02010609060101010101"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5</a:t>
            </a:r>
            <a:endParaRPr kumimoji="1" lang="en-US" altLang="zh-CN" sz="2800" b="1" dirty="0">
              <a:solidFill>
                <a:srgbClr val="FF653F"/>
              </a:solidFill>
            </a:endParaRPr>
          </a:p>
        </p:txBody>
      </p:sp>
      <p:sp>
        <p:nvSpPr>
          <p:cNvPr id="3" name="文本框 2"/>
          <p:cNvSpPr txBox="1"/>
          <p:nvPr/>
        </p:nvSpPr>
        <p:spPr>
          <a:xfrm>
            <a:off x="462915" y="1318895"/>
            <a:ext cx="8601710" cy="491553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沟沟坎坎对于（</a:t>
            </a:r>
            <a:r>
              <a:rPr lang="en-US" altLang="zh-CN" sz="2400" dirty="0">
                <a:cs typeface="楷体" panose="02010609060101010101" charset="-122"/>
              </a:rPr>
              <a:t>  </a:t>
            </a:r>
            <a:r>
              <a:rPr lang="zh-CN" altLang="en-US" sz="2400" dirty="0">
                <a:cs typeface="楷体" panose="02010609060101010101" charset="-122"/>
              </a:rPr>
              <a:t>）相当于（</a:t>
            </a:r>
            <a:r>
              <a:rPr lang="en-US" altLang="zh-CN" sz="2400" dirty="0">
                <a:cs typeface="楷体" panose="02010609060101010101" charset="-122"/>
              </a:rPr>
              <a:t>  </a:t>
            </a:r>
            <a:r>
              <a:rPr lang="zh-CN" altLang="en-US" sz="2400" dirty="0">
                <a:cs typeface="楷体" panose="02010609060101010101" charset="-122"/>
              </a:rPr>
              <a:t>）对于排场</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困难；风风光光</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河流；红红火火</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山山水水；阔气</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磕磕绊绊；奢华</a:t>
            </a:r>
            <a:endParaRPr lang="zh-CN" altLang="en-US" sz="2400" dirty="0">
              <a:cs typeface="楷体" panose="02010609060101010101"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6</a:t>
            </a:r>
            <a:endParaRPr kumimoji="1" lang="en-US" altLang="zh-CN" sz="2800" b="1" dirty="0">
              <a:solidFill>
                <a:srgbClr val="FF653F"/>
              </a:solidFill>
            </a:endParaRPr>
          </a:p>
        </p:txBody>
      </p:sp>
      <p:sp>
        <p:nvSpPr>
          <p:cNvPr id="3" name="文本框 2"/>
          <p:cNvSpPr txBox="1"/>
          <p:nvPr/>
        </p:nvSpPr>
        <p:spPr>
          <a:xfrm>
            <a:off x="462915" y="622300"/>
            <a:ext cx="11210925" cy="5712460"/>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考古人员在河南安阳洹河北岸的殷墟商王陵及周边区域新勘探发现东西两个围沟及</a:t>
            </a:r>
            <a:r>
              <a:rPr lang="en-US" altLang="zh-CN" sz="2400" dirty="0">
                <a:cs typeface="楷体" panose="02010609060101010101" charset="-122"/>
              </a:rPr>
              <a:t>400</a:t>
            </a:r>
            <a:r>
              <a:rPr lang="zh-CN" altLang="en-US" sz="2400" dirty="0">
                <a:cs typeface="楷体" panose="02010609060101010101" charset="-122"/>
              </a:rPr>
              <a:t>余座祭祀坑。这两个围沟均围绕在殷商大墓外围，相距</a:t>
            </a:r>
            <a:r>
              <a:rPr lang="en-US" altLang="zh-CN" sz="2400" dirty="0">
                <a:cs typeface="楷体" panose="02010609060101010101" charset="-122"/>
              </a:rPr>
              <a:t>40</a:t>
            </a:r>
            <a:r>
              <a:rPr lang="zh-CN" altLang="en-US" sz="2400" dirty="0">
                <a:cs typeface="楷体" panose="02010609060101010101" charset="-122"/>
              </a:rPr>
              <a:t>米，在东围沟东段以东、南段以南，存在大范围空白区域，极少发现商代晚期遗存，考古人员由此推测，不仅商王陵园区存在明确规划，陵园外围也有较大段范围被划入缓冲区，禁止一般人占用。</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以下哪项如果为真，最能支持上述考古人员推测？</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在商王陵大墓内，没有发现商代晚期遗存</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在商王陵园外围区域，基本不会发现商代晚期遗存</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大量发现商代晚期遗存的区域，当时均被一般人占用</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发现商代晚期遗存的区域，均处于商王陵园的外围区域</a:t>
            </a:r>
            <a:endParaRPr lang="zh-CN" altLang="en-US" sz="2400" dirty="0">
              <a:cs typeface="楷体" panose="02010609060101010101"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978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7</a:t>
            </a:r>
            <a:endParaRPr kumimoji="1" lang="en-US" altLang="zh-CN" sz="2800" b="1" dirty="0">
              <a:solidFill>
                <a:srgbClr val="FF653F"/>
              </a:solidFill>
            </a:endParaRPr>
          </a:p>
        </p:txBody>
      </p:sp>
      <p:sp>
        <p:nvSpPr>
          <p:cNvPr id="3" name="文本框 2"/>
          <p:cNvSpPr txBox="1"/>
          <p:nvPr/>
        </p:nvSpPr>
        <p:spPr>
          <a:xfrm>
            <a:off x="462915" y="701675"/>
            <a:ext cx="11148695"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某论坛有人发帖：</a:t>
            </a:r>
            <a:r>
              <a:rPr lang="en-US" altLang="zh-CN" sz="2000" dirty="0">
                <a:cs typeface="楷体" panose="02010609060101010101" charset="-122"/>
              </a:rPr>
              <a:t>“</a:t>
            </a:r>
            <a:r>
              <a:rPr lang="zh-CN" altLang="en-US" sz="2000" dirty="0">
                <a:cs typeface="楷体" panose="02010609060101010101" charset="-122"/>
              </a:rPr>
              <a:t>人类正常体温</a:t>
            </a:r>
            <a:r>
              <a:rPr lang="en-US" altLang="zh-CN" sz="2000" dirty="0">
                <a:cs typeface="楷体" panose="02010609060101010101" charset="-122"/>
              </a:rPr>
              <a:t>37</a:t>
            </a:r>
            <a:r>
              <a:rPr lang="en-US" altLang="en-US" sz="2000" dirty="0">
                <a:cs typeface="楷体" panose="02010609060101010101" charset="-122"/>
              </a:rPr>
              <a:t>℃</a:t>
            </a:r>
            <a:r>
              <a:rPr lang="zh-CN" altLang="en-US" sz="2000" dirty="0">
                <a:cs typeface="楷体" panose="02010609060101010101" charset="-122"/>
              </a:rPr>
              <a:t>已成历史，自</a:t>
            </a:r>
            <a:r>
              <a:rPr lang="en-US" altLang="zh-CN" sz="2000" dirty="0">
                <a:cs typeface="楷体" panose="02010609060101010101" charset="-122"/>
              </a:rPr>
              <a:t>19</a:t>
            </a:r>
            <a:r>
              <a:rPr lang="zh-CN" altLang="en-US" sz="2000" dirty="0">
                <a:cs typeface="楷体" panose="02010609060101010101" charset="-122"/>
              </a:rPr>
              <a:t>世纪以来，人类体温下降了</a:t>
            </a:r>
            <a:r>
              <a:rPr lang="en-US" altLang="zh-CN" sz="2000" dirty="0">
                <a:cs typeface="楷体" panose="02010609060101010101" charset="-122"/>
              </a:rPr>
              <a:t>0.4</a:t>
            </a:r>
            <a:r>
              <a:rPr lang="en-US" altLang="en-US" sz="2000" dirty="0">
                <a:cs typeface="楷体" panose="02010609060101010101" charset="-122"/>
              </a:rPr>
              <a:t>℃</a:t>
            </a:r>
            <a:r>
              <a:rPr lang="zh-CN" altLang="en-US" sz="2000" dirty="0">
                <a:cs typeface="楷体" panose="02010609060101010101" charset="-122"/>
              </a:rPr>
              <a:t>，而体温每下降</a:t>
            </a:r>
            <a:r>
              <a:rPr lang="en-US" altLang="zh-CN" sz="2000" dirty="0">
                <a:cs typeface="楷体" panose="02010609060101010101" charset="-122"/>
              </a:rPr>
              <a:t>1</a:t>
            </a:r>
            <a:r>
              <a:rPr lang="en-US" altLang="en-US" sz="2000" dirty="0">
                <a:cs typeface="楷体" panose="02010609060101010101" charset="-122"/>
              </a:rPr>
              <a:t>℃</a:t>
            </a:r>
            <a:r>
              <a:rPr lang="zh-CN" altLang="en-US" sz="2000" dirty="0">
                <a:cs typeface="楷体" panose="02010609060101010101" charset="-122"/>
              </a:rPr>
              <a:t>，免疫力就会下降</a:t>
            </a:r>
            <a:r>
              <a:rPr lang="en-US" altLang="zh-CN" sz="2000" dirty="0">
                <a:cs typeface="楷体" panose="02010609060101010101" charset="-122"/>
              </a:rPr>
              <a:t>30%</a:t>
            </a:r>
            <a:r>
              <a:rPr lang="zh-CN" altLang="en-US" sz="2000" dirty="0">
                <a:cs typeface="楷体" panose="02010609060101010101" charset="-122"/>
              </a:rPr>
              <a:t>；而体温每上升</a:t>
            </a:r>
            <a:r>
              <a:rPr lang="en-US" altLang="zh-CN" sz="2000" dirty="0">
                <a:cs typeface="楷体" panose="02010609060101010101" charset="-122"/>
              </a:rPr>
              <a:t>1</a:t>
            </a:r>
            <a:r>
              <a:rPr lang="en-US" altLang="en-US" sz="2000" dirty="0">
                <a:cs typeface="楷体" panose="02010609060101010101" charset="-122"/>
              </a:rPr>
              <a:t>℃</a:t>
            </a:r>
            <a:r>
              <a:rPr lang="zh-CN" altLang="en-US" sz="2000" dirty="0">
                <a:cs typeface="楷体" panose="02010609060101010101" charset="-122"/>
              </a:rPr>
              <a:t>，免疫力就会提高</a:t>
            </a:r>
            <a:r>
              <a:rPr lang="en-US" altLang="zh-CN" sz="2000" dirty="0">
                <a:cs typeface="楷体" panose="02010609060101010101" charset="-122"/>
              </a:rPr>
              <a:t>5-6</a:t>
            </a:r>
            <a:r>
              <a:rPr lang="zh-CN" altLang="en-US" sz="2000" dirty="0">
                <a:cs typeface="楷体" panose="02010609060101010101" charset="-122"/>
              </a:rPr>
              <a:t>倍。</a:t>
            </a:r>
            <a:r>
              <a:rPr lang="en-US" altLang="zh-CN" sz="2000" dirty="0">
                <a:cs typeface="楷体" panose="02010609060101010101" charset="-122"/>
              </a:rPr>
              <a:t>”</a:t>
            </a:r>
            <a:r>
              <a:rPr lang="zh-CN" altLang="en-US" sz="2000" dirty="0">
                <a:cs typeface="楷体" panose="02010609060101010101" charset="-122"/>
              </a:rPr>
              <a:t>因此有网友担心，自己体温始终低于正常标准，这意味着自己的免疫力也低于常人。</a:t>
            </a: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以下哪项如果为真，最能质疑该网友的担心？</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A.</a:t>
            </a:r>
            <a:r>
              <a:rPr lang="zh-CN" altLang="en-US" sz="2000" dirty="0">
                <a:cs typeface="楷体" panose="02010609060101010101" charset="-122"/>
              </a:rPr>
              <a:t>人类体温是否自</a:t>
            </a:r>
            <a:r>
              <a:rPr lang="en-US" altLang="zh-CN" sz="2000" dirty="0">
                <a:cs typeface="楷体" panose="02010609060101010101" charset="-122"/>
              </a:rPr>
              <a:t>19</a:t>
            </a:r>
            <a:r>
              <a:rPr lang="zh-CN" altLang="en-US" sz="2000" dirty="0">
                <a:cs typeface="楷体" panose="02010609060101010101" charset="-122"/>
              </a:rPr>
              <a:t>世纪以来下降了</a:t>
            </a:r>
            <a:r>
              <a:rPr lang="en-US" altLang="zh-CN" sz="2000" dirty="0">
                <a:cs typeface="楷体" panose="02010609060101010101" charset="-122"/>
              </a:rPr>
              <a:t>0.4</a:t>
            </a:r>
            <a:r>
              <a:rPr lang="en-US" altLang="en-US" sz="2000" dirty="0">
                <a:cs typeface="楷体" panose="02010609060101010101" charset="-122"/>
              </a:rPr>
              <a:t>℃</a:t>
            </a:r>
            <a:r>
              <a:rPr lang="zh-CN" altLang="en-US" sz="2000" dirty="0">
                <a:cs typeface="楷体" panose="02010609060101010101" charset="-122"/>
              </a:rPr>
              <a:t>，目前并无权威统计数据支持</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B.</a:t>
            </a:r>
            <a:r>
              <a:rPr lang="zh-CN" altLang="en-US" sz="2000" dirty="0">
                <a:cs typeface="楷体" panose="02010609060101010101" charset="-122"/>
              </a:rPr>
              <a:t>体温越高，就会激活人体内更多的免疫细胞，从而更好地歼灭入侵的病原微生物</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C.</a:t>
            </a:r>
            <a:r>
              <a:rPr lang="zh-CN" altLang="en-US" sz="2000" dirty="0">
                <a:cs typeface="楷体" panose="02010609060101010101" charset="-122"/>
              </a:rPr>
              <a:t>正常体温标准是根据多数人的测量结果而来，每个人的体温存在差异属于正常现象，对健康并无影响</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D.</a:t>
            </a:r>
            <a:r>
              <a:rPr lang="zh-CN" altLang="en-US" sz="2000" dirty="0">
                <a:cs typeface="楷体" panose="02010609060101010101" charset="-122"/>
              </a:rPr>
              <a:t>一般正常体温为腋下温度</a:t>
            </a:r>
            <a:r>
              <a:rPr lang="en-US" altLang="zh-CN" sz="2000" dirty="0">
                <a:cs typeface="楷体" panose="02010609060101010101" charset="-122"/>
              </a:rPr>
              <a:t>36-37</a:t>
            </a:r>
            <a:r>
              <a:rPr lang="en-US" altLang="en-US" sz="2000" dirty="0">
                <a:cs typeface="楷体" panose="02010609060101010101" charset="-122"/>
              </a:rPr>
              <a:t>℃</a:t>
            </a:r>
            <a:r>
              <a:rPr lang="zh-CN" altLang="en-US" sz="2000" dirty="0">
                <a:cs typeface="楷体" panose="02010609060101010101" charset="-122"/>
              </a:rPr>
              <a:t>，舌下温度为</a:t>
            </a:r>
            <a:r>
              <a:rPr lang="en-US" altLang="zh-CN" sz="2000" dirty="0">
                <a:cs typeface="楷体" panose="02010609060101010101" charset="-122"/>
              </a:rPr>
              <a:t>36.3-37.2</a:t>
            </a:r>
            <a:r>
              <a:rPr lang="en-US" altLang="en-US" sz="2000" dirty="0">
                <a:cs typeface="楷体" panose="02010609060101010101" charset="-122"/>
              </a:rPr>
              <a:t>℃</a:t>
            </a:r>
            <a:r>
              <a:rPr lang="zh-CN" altLang="en-US" sz="2000" dirty="0">
                <a:cs typeface="楷体" panose="02010609060101010101" charset="-122"/>
              </a:rPr>
              <a:t>，直肠温度为，体位不同，有所差异</a:t>
            </a:r>
            <a:endParaRPr lang="zh-CN" altLang="en-US" sz="2000" dirty="0">
              <a:cs typeface="楷体" panose="02010609060101010101" charset="-122"/>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295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8</a:t>
            </a:r>
            <a:endParaRPr kumimoji="1" lang="en-US" altLang="zh-CN" sz="2800" b="1" dirty="0">
              <a:solidFill>
                <a:srgbClr val="FF653F"/>
              </a:solidFill>
            </a:endParaRPr>
          </a:p>
        </p:txBody>
      </p:sp>
      <p:sp>
        <p:nvSpPr>
          <p:cNvPr id="3" name="文本框 2"/>
          <p:cNvSpPr txBox="1"/>
          <p:nvPr/>
        </p:nvSpPr>
        <p:spPr>
          <a:xfrm>
            <a:off x="462915" y="708025"/>
            <a:ext cx="1115568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科学家选择了两块</a:t>
            </a:r>
            <a:r>
              <a:rPr lang="en-US" altLang="zh-CN" sz="2000" dirty="0">
                <a:cs typeface="楷体" panose="02010609060101010101" charset="-122"/>
              </a:rPr>
              <a:t>“</a:t>
            </a:r>
            <a:r>
              <a:rPr lang="zh-CN" altLang="en-US" sz="2000" dirty="0">
                <a:cs typeface="楷体" panose="02010609060101010101" charset="-122"/>
              </a:rPr>
              <a:t>受伤的雨林</a:t>
            </a:r>
            <a:r>
              <a:rPr lang="en-US" altLang="zh-CN" sz="2000" dirty="0">
                <a:cs typeface="楷体" panose="02010609060101010101" charset="-122"/>
              </a:rPr>
              <a:t>”——</a:t>
            </a:r>
            <a:r>
              <a:rPr lang="zh-CN" altLang="en-US" sz="2000" dirty="0">
                <a:cs typeface="楷体" panose="02010609060101010101" charset="-122"/>
              </a:rPr>
              <a:t>原生雨林被砍光，在失去土壤韧性后又被用来放牧，最终长满了一种被称为</a:t>
            </a:r>
            <a:r>
              <a:rPr lang="en-US" altLang="zh-CN" sz="2000" dirty="0">
                <a:cs typeface="楷体" panose="02010609060101010101" charset="-122"/>
              </a:rPr>
              <a:t>“</a:t>
            </a:r>
            <a:r>
              <a:rPr lang="zh-CN" altLang="en-US" sz="2000" dirty="0">
                <a:cs typeface="楷体" panose="02010609060101010101" charset="-122"/>
              </a:rPr>
              <a:t>栅栏草</a:t>
            </a:r>
            <a:r>
              <a:rPr lang="en-US" altLang="zh-CN" sz="2000" dirty="0">
                <a:cs typeface="楷体" panose="02010609060101010101" charset="-122"/>
              </a:rPr>
              <a:t>”</a:t>
            </a:r>
            <a:r>
              <a:rPr lang="zh-CN" altLang="en-US" sz="2000" dirty="0">
                <a:cs typeface="楷体" panose="02010609060101010101" charset="-122"/>
              </a:rPr>
              <a:t>的入侵植物，原生雨林没有机会喘息与再生。研究人员将其中一块地均匀覆盖上近半米的咖啡果肉，另一块土地则什么也不做，任其自然。两年之后，两块地发生了迥然不同的剧变：被咖啡果肉覆盖的那块，</a:t>
            </a:r>
            <a:r>
              <a:rPr lang="en-US" altLang="zh-CN" sz="2000" dirty="0">
                <a:cs typeface="楷体" panose="02010609060101010101" charset="-122"/>
              </a:rPr>
              <a:t>“</a:t>
            </a:r>
            <a:r>
              <a:rPr lang="zh-CN" altLang="en-US" sz="2000" dirty="0">
                <a:cs typeface="楷体" panose="02010609060101010101" charset="-122"/>
              </a:rPr>
              <a:t>栅栏草</a:t>
            </a:r>
            <a:r>
              <a:rPr lang="en-US" altLang="zh-CN" sz="2000" dirty="0">
                <a:cs typeface="楷体" panose="02010609060101010101" charset="-122"/>
              </a:rPr>
              <a:t>”</a:t>
            </a:r>
            <a:r>
              <a:rPr lang="zh-CN" altLang="en-US" sz="2000" dirty="0">
                <a:cs typeface="楷体" panose="02010609060101010101" charset="-122"/>
              </a:rPr>
              <a:t>已经完全消失，取而代之的是本应属于这里的热带树种的年轻树冠；而另一块地则依然被</a:t>
            </a:r>
            <a:r>
              <a:rPr lang="en-US" altLang="zh-CN" sz="2000" dirty="0">
                <a:cs typeface="楷体" panose="02010609060101010101" charset="-122"/>
              </a:rPr>
              <a:t>“</a:t>
            </a:r>
            <a:r>
              <a:rPr lang="zh-CN" altLang="en-US" sz="2000" dirty="0">
                <a:cs typeface="楷体" panose="02010609060101010101" charset="-122"/>
              </a:rPr>
              <a:t>栅栏草</a:t>
            </a:r>
            <a:r>
              <a:rPr lang="en-US" altLang="zh-CN" sz="2000" dirty="0">
                <a:cs typeface="楷体" panose="02010609060101010101" charset="-122"/>
              </a:rPr>
              <a:t>”</a:t>
            </a:r>
            <a:r>
              <a:rPr lang="zh-CN" altLang="en-US" sz="2000" dirty="0">
                <a:cs typeface="楷体" panose="02010609060101010101" charset="-122"/>
              </a:rPr>
              <a:t>霸占着。由此可见，咖啡果肉有助于热带雨林的生态恢复。</a:t>
            </a: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以下各项如果为真，除哪项外均能支持以上结论？</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A.</a:t>
            </a:r>
            <a:r>
              <a:rPr lang="zh-CN" altLang="en-US" sz="2000" dirty="0">
                <a:cs typeface="楷体" panose="02010609060101010101" charset="-122"/>
              </a:rPr>
              <a:t>覆盖咖啡果肉是一次</a:t>
            </a:r>
            <a:r>
              <a:rPr lang="en-US" altLang="zh-CN" sz="2000" dirty="0">
                <a:cs typeface="楷体" panose="02010609060101010101" charset="-122"/>
              </a:rPr>
              <a:t>“</a:t>
            </a:r>
            <a:r>
              <a:rPr lang="zh-CN" altLang="en-US" sz="2000" dirty="0">
                <a:cs typeface="楷体" panose="02010609060101010101" charset="-122"/>
              </a:rPr>
              <a:t>集中施肥</a:t>
            </a:r>
            <a:r>
              <a:rPr lang="en-US" altLang="zh-CN" sz="2000" dirty="0">
                <a:cs typeface="楷体" panose="02010609060101010101" charset="-122"/>
              </a:rPr>
              <a:t>”</a:t>
            </a:r>
            <a:r>
              <a:rPr lang="zh-CN" altLang="en-US" sz="2000" dirty="0">
                <a:cs typeface="楷体" panose="02010609060101010101" charset="-122"/>
              </a:rPr>
              <a:t>的过程，能够使土地更有韧性，生产恢复能力更佳</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B.</a:t>
            </a:r>
            <a:r>
              <a:rPr lang="zh-CN" altLang="en-US" sz="2000" dirty="0">
                <a:cs typeface="楷体" panose="02010609060101010101" charset="-122"/>
              </a:rPr>
              <a:t>咖啡果肉是制作咖啡豆后的废料，其味道会吸引食草型动物前来觅食，改变周边的环境</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C.</a:t>
            </a:r>
            <a:r>
              <a:rPr lang="zh-CN" altLang="en-US" sz="2000" dirty="0">
                <a:cs typeface="楷体" panose="02010609060101010101" charset="-122"/>
              </a:rPr>
              <a:t>咖啡果肉中富含碳、氮、磷等植物生长所需要的营养成分，能够为雨林修复按下</a:t>
            </a:r>
            <a:r>
              <a:rPr lang="en-US" altLang="zh-CN" sz="2000" dirty="0">
                <a:cs typeface="楷体" panose="02010609060101010101" charset="-122"/>
              </a:rPr>
              <a:t>“</a:t>
            </a:r>
            <a:r>
              <a:rPr lang="zh-CN" altLang="en-US" sz="2000" dirty="0">
                <a:cs typeface="楷体" panose="02010609060101010101" charset="-122"/>
              </a:rPr>
              <a:t>加速键</a:t>
            </a:r>
            <a:r>
              <a:rPr lang="en-US" altLang="zh-CN" sz="2000" dirty="0">
                <a:cs typeface="楷体" panose="02010609060101010101" charset="-122"/>
              </a:rPr>
              <a:t>”</a:t>
            </a:r>
            <a:endParaRPr lang="en-US" altLang="zh-CN" sz="2000" dirty="0">
              <a:cs typeface="楷体" panose="02010609060101010101" charset="-122"/>
            </a:endParaRPr>
          </a:p>
          <a:p>
            <a:pPr indent="0" fontAlgn="auto">
              <a:lnSpc>
                <a:spcPct val="150000"/>
              </a:lnSpc>
            </a:pPr>
            <a:r>
              <a:rPr lang="en-US" altLang="zh-CN" sz="2000" dirty="0">
                <a:cs typeface="楷体" panose="02010609060101010101" charset="-122"/>
              </a:rPr>
              <a:t>D.</a:t>
            </a:r>
            <a:r>
              <a:rPr lang="zh-CN" altLang="en-US" sz="2000" dirty="0">
                <a:cs typeface="楷体" panose="02010609060101010101" charset="-122"/>
              </a:rPr>
              <a:t>半米高的咖啡果肉会形成密不透风的</a:t>
            </a:r>
            <a:r>
              <a:rPr lang="en-US" altLang="zh-CN" sz="2000" dirty="0">
                <a:cs typeface="楷体" panose="02010609060101010101" charset="-122"/>
              </a:rPr>
              <a:t>“</a:t>
            </a:r>
            <a:r>
              <a:rPr lang="zh-CN" altLang="en-US" sz="2000" dirty="0">
                <a:cs typeface="楷体" panose="02010609060101010101" charset="-122"/>
              </a:rPr>
              <a:t>隔绝</a:t>
            </a:r>
            <a:r>
              <a:rPr lang="en-US" altLang="zh-CN" sz="2000" dirty="0">
                <a:cs typeface="楷体" panose="02010609060101010101" charset="-122"/>
              </a:rPr>
              <a:t>”</a:t>
            </a:r>
            <a:r>
              <a:rPr lang="zh-CN" altLang="en-US" sz="2000" dirty="0">
                <a:cs typeface="楷体" panose="02010609060101010101" charset="-122"/>
              </a:rPr>
              <a:t>层，在重压之下</a:t>
            </a:r>
            <a:r>
              <a:rPr lang="en-US" altLang="zh-CN" sz="2000" dirty="0">
                <a:cs typeface="楷体" panose="02010609060101010101" charset="-122"/>
              </a:rPr>
              <a:t>“</a:t>
            </a:r>
            <a:r>
              <a:rPr lang="zh-CN" altLang="en-US" sz="2000" dirty="0">
                <a:cs typeface="楷体" panose="02010609060101010101" charset="-122"/>
              </a:rPr>
              <a:t>栅栏草</a:t>
            </a:r>
            <a:r>
              <a:rPr lang="en-US" altLang="zh-CN" sz="2000" dirty="0">
                <a:cs typeface="楷体" panose="02010609060101010101" charset="-122"/>
              </a:rPr>
              <a:t>”</a:t>
            </a:r>
            <a:r>
              <a:rPr lang="zh-CN" altLang="en-US" sz="2000" dirty="0">
                <a:cs typeface="楷体" panose="02010609060101010101" charset="-122"/>
              </a:rPr>
              <a:t>被抑制生长，窒息死亡</a:t>
            </a:r>
            <a:endParaRPr lang="zh-CN" altLang="en-US" sz="2000" dirty="0">
              <a:cs typeface="楷体" panose="02010609060101010101"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406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9</a:t>
            </a:r>
            <a:endParaRPr kumimoji="1" lang="en-US" altLang="zh-CN" sz="2800" b="1" dirty="0">
              <a:solidFill>
                <a:srgbClr val="FF653F"/>
              </a:solidFill>
            </a:endParaRPr>
          </a:p>
        </p:txBody>
      </p:sp>
      <p:sp>
        <p:nvSpPr>
          <p:cNvPr id="3" name="文本框 2"/>
          <p:cNvSpPr txBox="1"/>
          <p:nvPr/>
        </p:nvSpPr>
        <p:spPr>
          <a:xfrm>
            <a:off x="462915" y="701675"/>
            <a:ext cx="11137265"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集团研发部的</a:t>
            </a:r>
            <a:r>
              <a:rPr lang="en-US" altLang="zh-CN" sz="2000" dirty="0">
                <a:cs typeface="楷体" panose="02010609060101010101" charset="-122"/>
              </a:rPr>
              <a:t>40</a:t>
            </a:r>
            <a:r>
              <a:rPr lang="zh-CN" altLang="en-US" sz="2000" dirty="0">
                <a:cs typeface="楷体" panose="02010609060101010101" charset="-122"/>
              </a:rPr>
              <a:t>人都吃苦耐劳，他们均具有博士学位；有些员工已经获得多项发明专利，还有些员工甚至获得了国家科技发明大奖。研发部已经成为集团发展的核心力量。</a:t>
            </a: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根据上述信息，关于该集团研发部，可以得出以下哪项？</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A.</a:t>
            </a:r>
            <a:r>
              <a:rPr lang="zh-CN" altLang="en-US" sz="2000" dirty="0">
                <a:cs typeface="楷体" panose="02010609060101010101" charset="-122"/>
              </a:rPr>
              <a:t>获得国家科技发明大奖的员工均吃苦耐劳</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B.</a:t>
            </a:r>
            <a:r>
              <a:rPr lang="zh-CN" altLang="en-US" sz="2000" dirty="0">
                <a:cs typeface="楷体" panose="02010609060101010101" charset="-122"/>
              </a:rPr>
              <a:t>获得多项发明专利的员工也获得了国家科技发明大奖</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C.</a:t>
            </a:r>
            <a:r>
              <a:rPr lang="zh-CN" altLang="en-US" sz="2000" dirty="0">
                <a:cs typeface="楷体" panose="02010609060101010101" charset="-122"/>
              </a:rPr>
              <a:t>获得国家科技发明大奖的员工是集团发展的核心力量</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D.</a:t>
            </a:r>
            <a:r>
              <a:rPr lang="zh-CN" altLang="en-US" sz="2000" dirty="0">
                <a:cs typeface="楷体" panose="02010609060101010101" charset="-122"/>
              </a:rPr>
              <a:t>这些博士要么获得多项发明专利，要么获得了国家科技发明大奖</a:t>
            </a:r>
            <a:endParaRPr lang="zh-CN" altLang="en-US" sz="2000" dirty="0">
              <a:cs typeface="楷体" panose="02010609060101010101" charset="-122"/>
            </a:endParaRPr>
          </a:p>
          <a:p>
            <a:pPr indent="0" fontAlgn="auto">
              <a:lnSpc>
                <a:spcPct val="150000"/>
              </a:lnSpc>
            </a:pPr>
            <a:endParaRPr lang="zh-CN" altLang="en-US" sz="2000" dirty="0">
              <a:cs typeface="楷体" panose="02010609060101010101" charset="-122"/>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057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a:t>
            </a:r>
            <a:r>
              <a:rPr kumimoji="1" lang="en-US" altLang="zh-CN" sz="2800" b="1" dirty="0">
                <a:solidFill>
                  <a:srgbClr val="FF653F"/>
                </a:solidFill>
                <a:sym typeface="+mn-ea"/>
              </a:rPr>
              <a:t>0</a:t>
            </a:r>
            <a:endParaRPr kumimoji="1" lang="en-US" altLang="zh-CN" sz="2800" b="1" dirty="0">
              <a:solidFill>
                <a:srgbClr val="FF653F"/>
              </a:solidFill>
            </a:endParaRPr>
          </a:p>
        </p:txBody>
      </p:sp>
      <p:sp>
        <p:nvSpPr>
          <p:cNvPr id="3" name="文本框 2"/>
          <p:cNvSpPr txBox="1"/>
          <p:nvPr/>
        </p:nvSpPr>
        <p:spPr>
          <a:xfrm>
            <a:off x="462915" y="701675"/>
            <a:ext cx="11091545"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sym typeface="+mn-ea"/>
              </a:rPr>
              <a:t>与劳动、资本、技术等要素一样，所有数据财产都属于信息时代的经济要素。只有明确数据财产的权属，才能建立和完善数据要素市场。只有建立数据财产制度，才能充分调动数据处理者在数据开发利用和流通中的积极性，并且才能使静态的数据资源在动态流转中跃变为具有经济价值的资产。只有数据资源真正成为具有经济价值的资产，才能推动数据产业的发展，并且才能实现经济的数字化转型。</a:t>
            </a:r>
            <a:endParaRPr lang="zh-CN" altLang="en-US" sz="2000" dirty="0">
              <a:cs typeface="楷体" panose="02010609060101010101" charset="-122"/>
              <a:sym typeface="+mn-ea"/>
            </a:endParaRPr>
          </a:p>
          <a:p>
            <a:pPr indent="0" fontAlgn="auto">
              <a:lnSpc>
                <a:spcPct val="150000"/>
              </a:lnSpc>
            </a:pPr>
            <a:r>
              <a:rPr lang="zh-CN" altLang="en-US" sz="2000" dirty="0">
                <a:cs typeface="楷体" panose="02010609060101010101" charset="-122"/>
                <a:sym typeface="+mn-ea"/>
              </a:rPr>
              <a:t>由此可以推出：</a:t>
            </a:r>
            <a:endParaRPr lang="zh-CN" altLang="en-US" sz="2000" dirty="0">
              <a:cs typeface="楷体" panose="02010609060101010101" charset="-122"/>
              <a:sym typeface="+mn-ea"/>
            </a:endParaRPr>
          </a:p>
          <a:p>
            <a:pPr indent="0" fontAlgn="auto">
              <a:lnSpc>
                <a:spcPct val="150000"/>
              </a:lnSpc>
            </a:pPr>
            <a:r>
              <a:rPr lang="en-US" altLang="zh-CN" sz="2000" dirty="0">
                <a:cs typeface="楷体" panose="02010609060101010101" charset="-122"/>
                <a:sym typeface="+mn-ea"/>
              </a:rPr>
              <a:t>A.</a:t>
            </a:r>
            <a:r>
              <a:rPr lang="zh-CN" altLang="en-US" sz="2000" dirty="0">
                <a:cs typeface="楷体" panose="02010609060101010101" charset="-122"/>
                <a:sym typeface="+mn-ea"/>
              </a:rPr>
              <a:t>一旦明确了数据财产的权属，就能建立和完善数据要素市场</a:t>
            </a:r>
            <a:endParaRPr lang="zh-CN" altLang="en-US" sz="2000" dirty="0">
              <a:cs typeface="楷体" panose="02010609060101010101" charset="-122"/>
              <a:sym typeface="+mn-ea"/>
            </a:endParaRPr>
          </a:p>
          <a:p>
            <a:pPr indent="0" fontAlgn="auto">
              <a:lnSpc>
                <a:spcPct val="150000"/>
              </a:lnSpc>
            </a:pPr>
            <a:r>
              <a:rPr lang="en-US" altLang="zh-CN" sz="2000" dirty="0">
                <a:cs typeface="楷体" panose="02010609060101010101" charset="-122"/>
                <a:sym typeface="+mn-ea"/>
              </a:rPr>
              <a:t>B.</a:t>
            </a:r>
            <a:r>
              <a:rPr lang="zh-CN" altLang="en-US" sz="2000" dirty="0">
                <a:cs typeface="楷体" panose="02010609060101010101" charset="-122"/>
                <a:sym typeface="+mn-ea"/>
              </a:rPr>
              <a:t>静态的数据资源只有在动态流转中才能跃变为具有经济价值的资产</a:t>
            </a:r>
            <a:endParaRPr lang="zh-CN" altLang="en-US" sz="2000" dirty="0">
              <a:cs typeface="楷体" panose="02010609060101010101" charset="-122"/>
              <a:sym typeface="+mn-ea"/>
            </a:endParaRPr>
          </a:p>
          <a:p>
            <a:pPr indent="0" fontAlgn="auto">
              <a:lnSpc>
                <a:spcPct val="150000"/>
              </a:lnSpc>
            </a:pPr>
            <a:r>
              <a:rPr lang="en-US" altLang="zh-CN" sz="2000" dirty="0">
                <a:cs typeface="楷体" panose="02010609060101010101" charset="-122"/>
                <a:sym typeface="+mn-ea"/>
              </a:rPr>
              <a:t>C.</a:t>
            </a:r>
            <a:r>
              <a:rPr lang="zh-CN" altLang="en-US" sz="2000" dirty="0">
                <a:cs typeface="楷体" panose="02010609060101010101" charset="-122"/>
                <a:sym typeface="+mn-ea"/>
              </a:rPr>
              <a:t>若数据资源未能真正成为具有经济价值的资产就不能实现经济的数字化转型</a:t>
            </a:r>
            <a:endParaRPr lang="zh-CN" altLang="en-US" sz="2000" dirty="0">
              <a:cs typeface="楷体" panose="02010609060101010101" charset="-122"/>
              <a:sym typeface="+mn-ea"/>
            </a:endParaRPr>
          </a:p>
          <a:p>
            <a:pPr indent="0" fontAlgn="auto">
              <a:lnSpc>
                <a:spcPct val="150000"/>
              </a:lnSpc>
            </a:pPr>
            <a:r>
              <a:rPr lang="en-US" altLang="zh-CN" sz="2000" dirty="0">
                <a:cs typeface="楷体" panose="02010609060101010101" charset="-122"/>
                <a:sym typeface="+mn-ea"/>
              </a:rPr>
              <a:t>D.</a:t>
            </a:r>
            <a:r>
              <a:rPr lang="zh-CN" altLang="en-US" sz="2000" dirty="0">
                <a:cs typeface="楷体" panose="02010609060101010101" charset="-122"/>
                <a:sym typeface="+mn-ea"/>
              </a:rPr>
              <a:t>数据财产制度建立起来了，数据处理者在数据开发利用和流通中的积极性就能充分调动起来</a:t>
            </a:r>
            <a:endParaRPr lang="zh-CN" altLang="en-US" sz="2000" dirty="0">
              <a:cs typeface="楷体" panose="02010609060101010101" charset="-122"/>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406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a:t>
            </a:r>
            <a:r>
              <a:rPr kumimoji="1" lang="en-US" altLang="zh-CN" sz="2800" b="1" dirty="0">
                <a:solidFill>
                  <a:srgbClr val="FF653F"/>
                </a:solidFill>
                <a:sym typeface="+mn-ea"/>
              </a:rPr>
              <a:t>1</a:t>
            </a:r>
            <a:endParaRPr kumimoji="1" lang="en-US" altLang="zh-CN" sz="2800" b="1" dirty="0">
              <a:solidFill>
                <a:srgbClr val="FF653F"/>
              </a:solidFill>
            </a:endParaRPr>
          </a:p>
        </p:txBody>
      </p:sp>
      <p:sp>
        <p:nvSpPr>
          <p:cNvPr id="3" name="文本框 2"/>
          <p:cNvSpPr txBox="1"/>
          <p:nvPr/>
        </p:nvSpPr>
        <p:spPr>
          <a:xfrm>
            <a:off x="462915" y="707390"/>
            <a:ext cx="11137265" cy="5360670"/>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近期，某人生吃龙虾，结果导致细菌感染，幸亏抢救及时，暂时脱离了生命危险。所以，生吃龙虾一定要慎重，谨防细菌感染。</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以下哪项与上述论证形式最为类似？</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不识庐山真面目，只缘身在此山中</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近墨者黑，近朱者赤，年轻人交友一定要慎重</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春种一粒粟，秋收万颗子，生命皆是如此，循环往复</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以天下之所顺，攻亲戚之所畔，故君子有不战，战必胜矣</a:t>
            </a:r>
            <a:endParaRPr lang="zh-CN" altLang="en-US" sz="2400" dirty="0">
              <a:cs typeface="楷体" panose="02010609060101010101"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390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a:t>
            </a:r>
            <a:r>
              <a:rPr kumimoji="1" lang="en-US" altLang="zh-CN" sz="2800" b="1" dirty="0">
                <a:solidFill>
                  <a:srgbClr val="FF653F"/>
                </a:solidFill>
                <a:sym typeface="+mn-ea"/>
              </a:rPr>
              <a:t>2</a:t>
            </a:r>
            <a:endParaRPr kumimoji="1" lang="en-US" altLang="zh-CN" sz="2800" b="1" dirty="0">
              <a:solidFill>
                <a:srgbClr val="FF653F"/>
              </a:solidFill>
            </a:endParaRPr>
          </a:p>
        </p:txBody>
      </p:sp>
      <p:sp>
        <p:nvSpPr>
          <p:cNvPr id="3" name="文本框 2"/>
          <p:cNvSpPr txBox="1"/>
          <p:nvPr/>
        </p:nvSpPr>
        <p:spPr>
          <a:xfrm>
            <a:off x="443865" y="588010"/>
            <a:ext cx="11433175" cy="5526405"/>
          </a:xfrm>
          <a:prstGeom prst="rect">
            <a:avLst/>
          </a:prstGeom>
          <a:noFill/>
        </p:spPr>
        <p:txBody>
          <a:bodyPr wrap="square" rtlCol="0" anchor="t">
            <a:noAutofit/>
          </a:bodyPr>
          <a:p>
            <a:pPr indent="0" fontAlgn="auto">
              <a:lnSpc>
                <a:spcPct val="120000"/>
              </a:lnSpc>
            </a:pPr>
            <a:r>
              <a:rPr lang="zh-CN" altLang="en-US" dirty="0">
                <a:cs typeface="楷体" panose="02010609060101010101" charset="-122"/>
              </a:rPr>
              <a:t>根据以下材料，回答</a:t>
            </a:r>
            <a:r>
              <a:rPr lang="en-US" altLang="zh-CN" dirty="0">
                <a:cs typeface="楷体" panose="02010609060101010101" charset="-122"/>
              </a:rPr>
              <a:t>3</a:t>
            </a:r>
            <a:r>
              <a:rPr lang="en-US" altLang="zh-CN" dirty="0">
                <a:cs typeface="楷体" panose="02010609060101010101" charset="-122"/>
              </a:rPr>
              <a:t>2</a:t>
            </a:r>
            <a:r>
              <a:rPr lang="zh-CN" altLang="en-US" dirty="0">
                <a:cs typeface="楷体" panose="02010609060101010101" charset="-122"/>
              </a:rPr>
              <a:t>～</a:t>
            </a:r>
            <a:r>
              <a:rPr lang="en-US" altLang="zh-CN" dirty="0">
                <a:cs typeface="楷体" panose="02010609060101010101" charset="-122"/>
              </a:rPr>
              <a:t>3</a:t>
            </a:r>
            <a:r>
              <a:rPr lang="en-US" altLang="zh-CN" dirty="0">
                <a:cs typeface="楷体" panose="02010609060101010101" charset="-122"/>
              </a:rPr>
              <a:t>3</a:t>
            </a:r>
            <a:r>
              <a:rPr lang="zh-CN" altLang="en-US" dirty="0">
                <a:cs typeface="楷体" panose="02010609060101010101" charset="-122"/>
              </a:rPr>
              <a:t>题。</a:t>
            </a:r>
            <a:endParaRPr lang="zh-CN" altLang="en-US" dirty="0">
              <a:cs typeface="楷体" panose="02010609060101010101" charset="-122"/>
            </a:endParaRPr>
          </a:p>
          <a:p>
            <a:pPr indent="0" fontAlgn="auto">
              <a:lnSpc>
                <a:spcPct val="120000"/>
              </a:lnSpc>
            </a:pPr>
            <a:r>
              <a:rPr lang="zh-CN" altLang="en-US" dirty="0">
                <a:cs typeface="楷体" panose="02010609060101010101" charset="-122"/>
              </a:rPr>
              <a:t>节俭一直是中华民族的传统美德。随着经济社会的发展，人们对物质的要求越来越高，</a:t>
            </a:r>
            <a:r>
              <a:rPr lang="en-US" altLang="zh-CN" dirty="0">
                <a:cs typeface="楷体" panose="02010609060101010101" charset="-122"/>
              </a:rPr>
              <a:t>“</a:t>
            </a:r>
            <a:r>
              <a:rPr lang="zh-CN" altLang="en-US" dirty="0">
                <a:cs typeface="楷体" panose="02010609060101010101" charset="-122"/>
              </a:rPr>
              <a:t>月光族</a:t>
            </a:r>
            <a:r>
              <a:rPr lang="en-US" altLang="zh-CN" dirty="0">
                <a:cs typeface="楷体" panose="02010609060101010101" charset="-122"/>
              </a:rPr>
              <a:t>”“</a:t>
            </a:r>
            <a:r>
              <a:rPr lang="zh-CN" altLang="en-US" dirty="0">
                <a:cs typeface="楷体" panose="02010609060101010101" charset="-122"/>
              </a:rPr>
              <a:t>啃老族</a:t>
            </a:r>
            <a:r>
              <a:rPr lang="en-US" altLang="zh-CN" dirty="0">
                <a:cs typeface="楷体" panose="02010609060101010101" charset="-122"/>
              </a:rPr>
              <a:t>”</a:t>
            </a:r>
            <a:r>
              <a:rPr lang="zh-CN" altLang="en-US" dirty="0">
                <a:cs typeface="楷体" panose="02010609060101010101" charset="-122"/>
              </a:rPr>
              <a:t>早已屡见不鲜。然而，近年来，情况也正在发生着悄然变化。遵循</a:t>
            </a:r>
            <a:r>
              <a:rPr lang="en-US" altLang="zh-CN" dirty="0">
                <a:cs typeface="楷体" panose="02010609060101010101" charset="-122"/>
              </a:rPr>
              <a:t>“</a:t>
            </a:r>
            <a:r>
              <a:rPr lang="zh-CN" altLang="en-US" dirty="0">
                <a:cs typeface="楷体" panose="02010609060101010101" charset="-122"/>
              </a:rPr>
              <a:t>省钱而不降品位，省钱而不失时尚，省钱而不减体面</a:t>
            </a:r>
            <a:r>
              <a:rPr lang="en-US" altLang="zh-CN" dirty="0">
                <a:cs typeface="楷体" panose="02010609060101010101" charset="-122"/>
              </a:rPr>
              <a:t>”</a:t>
            </a:r>
            <a:r>
              <a:rPr lang="zh-CN" altLang="en-US" dirty="0">
                <a:cs typeface="楷体" panose="02010609060101010101" charset="-122"/>
              </a:rPr>
              <a:t>原则的</a:t>
            </a:r>
            <a:r>
              <a:rPr lang="en-US" altLang="zh-CN" dirty="0">
                <a:cs typeface="楷体" panose="02010609060101010101" charset="-122"/>
              </a:rPr>
              <a:t>“</a:t>
            </a:r>
            <a:r>
              <a:rPr lang="zh-CN" altLang="en-US" dirty="0">
                <a:cs typeface="楷体" panose="02010609060101010101" charset="-122"/>
              </a:rPr>
              <a:t>新节俭主义</a:t>
            </a:r>
            <a:r>
              <a:rPr lang="en-US" altLang="zh-CN" dirty="0">
                <a:cs typeface="楷体" panose="02010609060101010101" charset="-122"/>
              </a:rPr>
              <a:t>”</a:t>
            </a:r>
            <a:r>
              <a:rPr lang="zh-CN" altLang="en-US" dirty="0">
                <a:cs typeface="楷体" panose="02010609060101010101" charset="-122"/>
              </a:rPr>
              <a:t>开始被越来越多年轻人所推崇和青睐。对此，网络上出现了各种不同的声音。</a:t>
            </a:r>
            <a:endParaRPr lang="zh-CN" altLang="en-US" dirty="0">
              <a:cs typeface="楷体" panose="02010609060101010101" charset="-122"/>
            </a:endParaRPr>
          </a:p>
          <a:p>
            <a:pPr indent="0" fontAlgn="auto">
              <a:lnSpc>
                <a:spcPct val="120000"/>
              </a:lnSpc>
            </a:pPr>
            <a:r>
              <a:rPr lang="zh-CN" altLang="en-US" dirty="0">
                <a:cs typeface="楷体" panose="02010609060101010101" charset="-122"/>
              </a:rPr>
              <a:t>网友</a:t>
            </a:r>
            <a:r>
              <a:rPr lang="en-US" altLang="zh-CN" dirty="0">
                <a:cs typeface="楷体" panose="02010609060101010101" charset="-122"/>
              </a:rPr>
              <a:t>1</a:t>
            </a:r>
            <a:r>
              <a:rPr lang="zh-CN" altLang="en-US" dirty="0">
                <a:cs typeface="楷体" panose="02010609060101010101" charset="-122"/>
              </a:rPr>
              <a:t>：</a:t>
            </a:r>
            <a:r>
              <a:rPr lang="en-US" altLang="zh-CN" dirty="0">
                <a:cs typeface="楷体" panose="02010609060101010101" charset="-122"/>
              </a:rPr>
              <a:t>“</a:t>
            </a:r>
            <a:r>
              <a:rPr lang="zh-CN" altLang="en-US" dirty="0">
                <a:cs typeface="楷体" panose="02010609060101010101" charset="-122"/>
              </a:rPr>
              <a:t>新节俭主义</a:t>
            </a:r>
            <a:r>
              <a:rPr lang="en-US" altLang="zh-CN" dirty="0">
                <a:cs typeface="楷体" panose="02010609060101010101" charset="-122"/>
              </a:rPr>
              <a:t>”</a:t>
            </a:r>
            <a:r>
              <a:rPr lang="zh-CN" altLang="en-US" dirty="0">
                <a:cs typeface="楷体" panose="02010609060101010101" charset="-122"/>
              </a:rPr>
              <a:t>首先需要你会省钱，能省钱，这也并不是件容易的事情，所以推崇不代表践行。</a:t>
            </a:r>
            <a:endParaRPr lang="zh-CN" altLang="en-US" dirty="0">
              <a:cs typeface="楷体" panose="02010609060101010101" charset="-122"/>
            </a:endParaRPr>
          </a:p>
          <a:p>
            <a:pPr indent="0" fontAlgn="auto">
              <a:lnSpc>
                <a:spcPct val="120000"/>
              </a:lnSpc>
            </a:pPr>
            <a:r>
              <a:rPr lang="zh-CN" altLang="en-US" dirty="0">
                <a:cs typeface="楷体" panose="02010609060101010101" charset="-122"/>
              </a:rPr>
              <a:t>网友</a:t>
            </a:r>
            <a:r>
              <a:rPr lang="en-US" altLang="zh-CN" dirty="0">
                <a:cs typeface="楷体" panose="02010609060101010101" charset="-122"/>
              </a:rPr>
              <a:t>2</a:t>
            </a:r>
            <a:r>
              <a:rPr lang="zh-CN" altLang="en-US" dirty="0">
                <a:cs typeface="楷体" panose="02010609060101010101" charset="-122"/>
              </a:rPr>
              <a:t>：我们家不允许剩饭，这是传承的家风，无论传统节俭还是</a:t>
            </a:r>
            <a:r>
              <a:rPr lang="en-US" altLang="zh-CN" dirty="0">
                <a:cs typeface="楷体" panose="02010609060101010101" charset="-122"/>
              </a:rPr>
              <a:t>“</a:t>
            </a:r>
            <a:r>
              <a:rPr lang="zh-CN" altLang="en-US" dirty="0">
                <a:cs typeface="楷体" panose="02010609060101010101" charset="-122"/>
              </a:rPr>
              <a:t>新节俭主义</a:t>
            </a:r>
            <a:r>
              <a:rPr lang="en-US" altLang="zh-CN" dirty="0">
                <a:cs typeface="楷体" panose="02010609060101010101" charset="-122"/>
              </a:rPr>
              <a:t>”</a:t>
            </a:r>
            <a:r>
              <a:rPr lang="zh-CN" altLang="en-US" dirty="0">
                <a:cs typeface="楷体" panose="02010609060101010101" charset="-122"/>
              </a:rPr>
              <a:t>，都是勤劳节俭美德的体现。</a:t>
            </a:r>
            <a:endParaRPr lang="zh-CN" altLang="en-US" dirty="0">
              <a:cs typeface="楷体" panose="02010609060101010101" charset="-122"/>
            </a:endParaRPr>
          </a:p>
          <a:p>
            <a:pPr indent="0" fontAlgn="auto">
              <a:lnSpc>
                <a:spcPct val="120000"/>
              </a:lnSpc>
            </a:pPr>
            <a:r>
              <a:rPr lang="zh-CN" altLang="en-US" dirty="0">
                <a:cs typeface="楷体" panose="02010609060101010101" charset="-122"/>
              </a:rPr>
              <a:t>网友</a:t>
            </a:r>
            <a:r>
              <a:rPr lang="en-US" altLang="zh-CN" dirty="0">
                <a:cs typeface="楷体" panose="02010609060101010101" charset="-122"/>
              </a:rPr>
              <a:t>3</a:t>
            </a:r>
            <a:r>
              <a:rPr lang="zh-CN" altLang="en-US" dirty="0">
                <a:cs typeface="楷体" panose="02010609060101010101" charset="-122"/>
              </a:rPr>
              <a:t>：</a:t>
            </a:r>
            <a:r>
              <a:rPr lang="en-US" altLang="zh-CN" dirty="0">
                <a:cs typeface="楷体" panose="02010609060101010101" charset="-122"/>
              </a:rPr>
              <a:t>“</a:t>
            </a:r>
            <a:r>
              <a:rPr lang="zh-CN" altLang="en-US" dirty="0">
                <a:cs typeface="楷体" panose="02010609060101010101" charset="-122"/>
              </a:rPr>
              <a:t>新节俭主义</a:t>
            </a:r>
            <a:r>
              <a:rPr lang="en-US" altLang="zh-CN" dirty="0">
                <a:cs typeface="楷体" panose="02010609060101010101" charset="-122"/>
              </a:rPr>
              <a:t>”</a:t>
            </a:r>
            <a:r>
              <a:rPr lang="zh-CN" altLang="en-US" dirty="0">
                <a:cs typeface="楷体" panose="02010609060101010101" charset="-122"/>
              </a:rPr>
              <a:t>强调量入为出、</a:t>
            </a:r>
            <a:r>
              <a:rPr lang="en-US" altLang="zh-CN" dirty="0">
                <a:cs typeface="楷体" panose="02010609060101010101" charset="-122"/>
              </a:rPr>
              <a:t>“</a:t>
            </a:r>
            <a:r>
              <a:rPr lang="zh-CN" altLang="en-US" dirty="0">
                <a:cs typeface="楷体" panose="02010609060101010101" charset="-122"/>
              </a:rPr>
              <a:t>把钱用在刀刃上</a:t>
            </a:r>
            <a:r>
              <a:rPr lang="en-US" altLang="zh-CN" dirty="0">
                <a:cs typeface="楷体" panose="02010609060101010101" charset="-122"/>
              </a:rPr>
              <a:t>”</a:t>
            </a:r>
            <a:r>
              <a:rPr lang="zh-CN" altLang="en-US" dirty="0">
                <a:cs typeface="楷体" panose="02010609060101010101" charset="-122"/>
              </a:rPr>
              <a:t>，是一种返璞归真、更成熟、更健康的消费理念。</a:t>
            </a:r>
            <a:endParaRPr lang="zh-CN" altLang="en-US" dirty="0">
              <a:cs typeface="楷体" panose="02010609060101010101" charset="-122"/>
            </a:endParaRPr>
          </a:p>
          <a:p>
            <a:pPr indent="0" fontAlgn="auto">
              <a:lnSpc>
                <a:spcPct val="120000"/>
              </a:lnSpc>
            </a:pPr>
            <a:r>
              <a:rPr lang="zh-CN" altLang="en-US" dirty="0">
                <a:cs typeface="楷体" panose="02010609060101010101" charset="-122"/>
              </a:rPr>
              <a:t>网友</a:t>
            </a:r>
            <a:r>
              <a:rPr lang="en-US" altLang="zh-CN" dirty="0">
                <a:cs typeface="楷体" panose="02010609060101010101" charset="-122"/>
              </a:rPr>
              <a:t>4</a:t>
            </a:r>
            <a:r>
              <a:rPr lang="zh-CN" altLang="en-US" dirty="0">
                <a:cs typeface="楷体" panose="02010609060101010101" charset="-122"/>
              </a:rPr>
              <a:t>：节俭并非只为了省钱，更是用环保的理念去生活，就像你买下一本二手书的同时，也为地球减轻一份重量，这也是</a:t>
            </a:r>
            <a:r>
              <a:rPr lang="en-US" altLang="zh-CN" dirty="0">
                <a:cs typeface="楷体" panose="02010609060101010101" charset="-122"/>
              </a:rPr>
              <a:t>“</a:t>
            </a:r>
            <a:r>
              <a:rPr lang="zh-CN" altLang="en-US" dirty="0">
                <a:cs typeface="楷体" panose="02010609060101010101" charset="-122"/>
              </a:rPr>
              <a:t>新</a:t>
            </a:r>
            <a:r>
              <a:rPr lang="en-US" altLang="zh-CN" dirty="0">
                <a:cs typeface="楷体" panose="02010609060101010101" charset="-122"/>
              </a:rPr>
              <a:t>”</a:t>
            </a:r>
            <a:r>
              <a:rPr lang="zh-CN" altLang="en-US" dirty="0">
                <a:cs typeface="楷体" panose="02010609060101010101" charset="-122"/>
              </a:rPr>
              <a:t>的一个体现。</a:t>
            </a:r>
            <a:endParaRPr lang="zh-CN" altLang="en-US" dirty="0">
              <a:cs typeface="楷体" panose="02010609060101010101" charset="-122"/>
            </a:endParaRPr>
          </a:p>
          <a:p>
            <a:pPr indent="0" fontAlgn="auto">
              <a:lnSpc>
                <a:spcPct val="120000"/>
              </a:lnSpc>
            </a:pPr>
            <a:r>
              <a:rPr lang="zh-CN" altLang="en-US" dirty="0">
                <a:cs typeface="楷体" panose="02010609060101010101" charset="-122"/>
              </a:rPr>
              <a:t>网友</a:t>
            </a:r>
            <a:r>
              <a:rPr lang="en-US" altLang="zh-CN" dirty="0">
                <a:cs typeface="楷体" panose="02010609060101010101" charset="-122"/>
              </a:rPr>
              <a:t>5</a:t>
            </a:r>
            <a:r>
              <a:rPr lang="zh-CN" altLang="en-US" dirty="0">
                <a:cs typeface="楷体" panose="02010609060101010101" charset="-122"/>
              </a:rPr>
              <a:t>：</a:t>
            </a:r>
            <a:r>
              <a:rPr lang="en-US" altLang="zh-CN" dirty="0">
                <a:cs typeface="楷体" panose="02010609060101010101" charset="-122"/>
              </a:rPr>
              <a:t>“</a:t>
            </a:r>
            <a:r>
              <a:rPr lang="zh-CN" altLang="en-US" dirty="0">
                <a:cs typeface="楷体" panose="02010609060101010101" charset="-122"/>
              </a:rPr>
              <a:t>新节俭主义</a:t>
            </a:r>
            <a:r>
              <a:rPr lang="en-US" altLang="zh-CN" dirty="0">
                <a:cs typeface="楷体" panose="02010609060101010101" charset="-122"/>
              </a:rPr>
              <a:t>”</a:t>
            </a:r>
            <a:r>
              <a:rPr lang="zh-CN" altLang="en-US" dirty="0">
                <a:cs typeface="楷体" panose="02010609060101010101" charset="-122"/>
              </a:rPr>
              <a:t>源于社会生活压力，年轻人深感生活的不易，因此奉行</a:t>
            </a:r>
            <a:r>
              <a:rPr lang="en-US" altLang="zh-CN" dirty="0">
                <a:cs typeface="楷体" panose="02010609060101010101" charset="-122"/>
              </a:rPr>
              <a:t>“</a:t>
            </a:r>
            <a:r>
              <a:rPr lang="zh-CN" altLang="en-US" dirty="0">
                <a:cs typeface="楷体" panose="02010609060101010101" charset="-122"/>
              </a:rPr>
              <a:t>新节俭主义</a:t>
            </a:r>
            <a:r>
              <a:rPr lang="en-US" altLang="zh-CN" dirty="0">
                <a:cs typeface="楷体" panose="02010609060101010101" charset="-122"/>
              </a:rPr>
              <a:t>”</a:t>
            </a:r>
            <a:r>
              <a:rPr lang="zh-CN" altLang="en-US" dirty="0">
                <a:cs typeface="楷体" panose="02010609060101010101" charset="-122"/>
              </a:rPr>
              <a:t>。</a:t>
            </a:r>
            <a:endParaRPr lang="zh-CN" altLang="en-US" dirty="0">
              <a:cs typeface="楷体" panose="02010609060101010101" charset="-122"/>
            </a:endParaRPr>
          </a:p>
          <a:p>
            <a:pPr indent="0" fontAlgn="auto">
              <a:lnSpc>
                <a:spcPct val="120000"/>
              </a:lnSpc>
            </a:pPr>
            <a:r>
              <a:rPr lang="zh-CN" altLang="en-US" dirty="0">
                <a:cs typeface="楷体" panose="02010609060101010101" charset="-122"/>
              </a:rPr>
              <a:t>网友</a:t>
            </a:r>
            <a:r>
              <a:rPr lang="en-US" altLang="zh-CN" dirty="0">
                <a:cs typeface="楷体" panose="02010609060101010101" charset="-122"/>
              </a:rPr>
              <a:t>6</a:t>
            </a:r>
            <a:r>
              <a:rPr lang="zh-CN" altLang="en-US" dirty="0">
                <a:cs typeface="楷体" panose="02010609060101010101" charset="-122"/>
              </a:rPr>
              <a:t>：就应该像传统节俭一样什么都省，</a:t>
            </a:r>
            <a:r>
              <a:rPr lang="en-US" altLang="zh-CN" dirty="0">
                <a:cs typeface="楷体" panose="02010609060101010101" charset="-122"/>
              </a:rPr>
              <a:t>“</a:t>
            </a:r>
            <a:r>
              <a:rPr lang="zh-CN" altLang="en-US" dirty="0">
                <a:cs typeface="楷体" panose="02010609060101010101" charset="-122"/>
              </a:rPr>
              <a:t>新节俭主义</a:t>
            </a:r>
            <a:r>
              <a:rPr lang="en-US" altLang="zh-CN" dirty="0">
                <a:cs typeface="楷体" panose="02010609060101010101" charset="-122"/>
              </a:rPr>
              <a:t>”</a:t>
            </a:r>
            <a:r>
              <a:rPr lang="zh-CN" altLang="en-US" dirty="0">
                <a:cs typeface="楷体" panose="02010609060101010101" charset="-122"/>
              </a:rPr>
              <a:t>说什么</a:t>
            </a:r>
            <a:r>
              <a:rPr lang="en-US" altLang="zh-CN" dirty="0">
                <a:cs typeface="楷体" panose="02010609060101010101" charset="-122"/>
              </a:rPr>
              <a:t>“</a:t>
            </a:r>
            <a:r>
              <a:rPr lang="zh-CN" altLang="en-US" dirty="0">
                <a:cs typeface="楷体" panose="02010609060101010101" charset="-122"/>
              </a:rPr>
              <a:t>该花的就花</a:t>
            </a:r>
            <a:r>
              <a:rPr lang="en-US" altLang="zh-CN" dirty="0">
                <a:cs typeface="楷体" panose="02010609060101010101" charset="-122"/>
              </a:rPr>
              <a:t>”</a:t>
            </a:r>
            <a:r>
              <a:rPr lang="zh-CN" altLang="en-US" dirty="0">
                <a:cs typeface="楷体" panose="02010609060101010101" charset="-122"/>
              </a:rPr>
              <a:t>，这实际上是浪费的一种托词。</a:t>
            </a:r>
            <a:endParaRPr lang="zh-CN" altLang="en-US" dirty="0">
              <a:cs typeface="楷体" panose="02010609060101010101" charset="-122"/>
            </a:endParaRPr>
          </a:p>
          <a:p>
            <a:pPr indent="0" fontAlgn="auto">
              <a:lnSpc>
                <a:spcPct val="120000"/>
              </a:lnSpc>
            </a:pPr>
            <a:r>
              <a:rPr lang="zh-CN" altLang="en-US" dirty="0">
                <a:cs typeface="楷体" panose="02010609060101010101" charset="-122"/>
              </a:rPr>
              <a:t>网友</a:t>
            </a:r>
            <a:r>
              <a:rPr lang="en-US" altLang="zh-CN" dirty="0">
                <a:cs typeface="楷体" panose="02010609060101010101" charset="-122"/>
              </a:rPr>
              <a:t>7</a:t>
            </a:r>
            <a:r>
              <a:rPr lang="zh-CN" altLang="en-US" dirty="0">
                <a:cs typeface="楷体" panose="02010609060101010101" charset="-122"/>
              </a:rPr>
              <a:t>：调查显示，</a:t>
            </a:r>
            <a:r>
              <a:rPr lang="en-US" altLang="zh-CN" dirty="0">
                <a:cs typeface="楷体" panose="02010609060101010101" charset="-122"/>
              </a:rPr>
              <a:t>43.55%</a:t>
            </a:r>
            <a:r>
              <a:rPr lang="zh-CN" altLang="en-US" dirty="0">
                <a:cs typeface="楷体" panose="02010609060101010101" charset="-122"/>
              </a:rPr>
              <a:t>的受访者曾在互联网平台上寻找各种省钱方式，</a:t>
            </a:r>
            <a:r>
              <a:rPr lang="en-US" altLang="zh-CN" dirty="0">
                <a:cs typeface="楷体" panose="02010609060101010101" charset="-122"/>
              </a:rPr>
              <a:t>35.18%</a:t>
            </a:r>
            <a:r>
              <a:rPr lang="zh-CN" altLang="en-US" dirty="0">
                <a:cs typeface="楷体" panose="02010609060101010101" charset="-122"/>
              </a:rPr>
              <a:t>的受访者尚未尝试在互联网平台上寻找省钱方式，其余受访者觉得没必要尝试，所以大多数年轻人是推崇</a:t>
            </a:r>
            <a:r>
              <a:rPr lang="en-US" altLang="zh-CN" dirty="0">
                <a:cs typeface="楷体" panose="02010609060101010101" charset="-122"/>
              </a:rPr>
              <a:t>“</a:t>
            </a:r>
            <a:r>
              <a:rPr lang="zh-CN" altLang="en-US" dirty="0">
                <a:cs typeface="楷体" panose="02010609060101010101" charset="-122"/>
              </a:rPr>
              <a:t>新节俭主义</a:t>
            </a:r>
            <a:r>
              <a:rPr lang="en-US" altLang="zh-CN" dirty="0">
                <a:cs typeface="楷体" panose="02010609060101010101" charset="-122"/>
              </a:rPr>
              <a:t>”</a:t>
            </a:r>
            <a:r>
              <a:rPr lang="zh-CN" altLang="en-US" dirty="0">
                <a:cs typeface="楷体" panose="02010609060101010101" charset="-122"/>
              </a:rPr>
              <a:t>的。</a:t>
            </a:r>
            <a:endParaRPr lang="zh-CN" altLang="en-US" dirty="0">
              <a:cs typeface="楷体" panose="02010609060101010101" charset="-122"/>
            </a:endParaRPr>
          </a:p>
          <a:p>
            <a:pPr indent="0" fontAlgn="auto">
              <a:lnSpc>
                <a:spcPct val="120000"/>
              </a:lnSpc>
            </a:pPr>
            <a:r>
              <a:rPr lang="en-US" altLang="zh-CN" dirty="0">
                <a:cs typeface="楷体" panose="02010609060101010101" charset="-122"/>
              </a:rPr>
              <a:t>32.</a:t>
            </a:r>
            <a:r>
              <a:rPr lang="zh-CN" altLang="en-US" dirty="0">
                <a:cs typeface="楷体" panose="02010609060101010101" charset="-122"/>
              </a:rPr>
              <a:t>下列选项中，均能够支持</a:t>
            </a:r>
            <a:r>
              <a:rPr lang="en-US" altLang="zh-CN" dirty="0">
                <a:cs typeface="楷体" panose="02010609060101010101" charset="-122"/>
              </a:rPr>
              <a:t>“</a:t>
            </a:r>
            <a:r>
              <a:rPr lang="zh-CN" altLang="en-US" dirty="0">
                <a:cs typeface="楷体" panose="02010609060101010101" charset="-122"/>
              </a:rPr>
              <a:t>新节俭主义</a:t>
            </a:r>
            <a:r>
              <a:rPr lang="en-US" altLang="zh-CN" dirty="0">
                <a:cs typeface="楷体" panose="02010609060101010101" charset="-122"/>
              </a:rPr>
              <a:t>”</a:t>
            </a:r>
            <a:r>
              <a:rPr lang="zh-CN" altLang="en-US" dirty="0">
                <a:cs typeface="楷体" panose="02010609060101010101" charset="-122"/>
              </a:rPr>
              <a:t>观点的是：</a:t>
            </a:r>
            <a:endParaRPr lang="zh-CN" altLang="en-US" dirty="0">
              <a:cs typeface="楷体" panose="02010609060101010101" charset="-122"/>
            </a:endParaRPr>
          </a:p>
          <a:p>
            <a:pPr indent="0" fontAlgn="auto">
              <a:lnSpc>
                <a:spcPct val="120000"/>
              </a:lnSpc>
            </a:pPr>
            <a:r>
              <a:rPr lang="en-US" altLang="zh-CN" dirty="0">
                <a:cs typeface="楷体" panose="02010609060101010101" charset="-122"/>
              </a:rPr>
              <a:t>A.</a:t>
            </a:r>
            <a:r>
              <a:rPr lang="zh-CN" altLang="en-US" dirty="0">
                <a:cs typeface="楷体" panose="02010609060101010101" charset="-122"/>
              </a:rPr>
              <a:t>网友</a:t>
            </a:r>
            <a:r>
              <a:rPr lang="en-US" altLang="zh-CN" dirty="0">
                <a:cs typeface="楷体" panose="02010609060101010101" charset="-122"/>
              </a:rPr>
              <a:t>1</a:t>
            </a:r>
            <a:r>
              <a:rPr lang="zh-CN" altLang="en-US" dirty="0">
                <a:cs typeface="楷体" panose="02010609060101010101" charset="-122"/>
              </a:rPr>
              <a:t>和网友</a:t>
            </a:r>
            <a:r>
              <a:rPr lang="en-US" altLang="zh-CN" dirty="0">
                <a:cs typeface="楷体" panose="02010609060101010101" charset="-122"/>
              </a:rPr>
              <a:t>2	B.</a:t>
            </a:r>
            <a:r>
              <a:rPr lang="zh-CN" altLang="en-US" dirty="0">
                <a:cs typeface="楷体" panose="02010609060101010101" charset="-122"/>
              </a:rPr>
              <a:t>网友</a:t>
            </a:r>
            <a:r>
              <a:rPr lang="en-US" altLang="zh-CN" dirty="0">
                <a:cs typeface="楷体" panose="02010609060101010101" charset="-122"/>
              </a:rPr>
              <a:t>2</a:t>
            </a:r>
            <a:r>
              <a:rPr lang="zh-CN" altLang="en-US" dirty="0">
                <a:cs typeface="楷体" panose="02010609060101010101" charset="-122"/>
              </a:rPr>
              <a:t>和网友</a:t>
            </a:r>
            <a:r>
              <a:rPr lang="en-US" altLang="zh-CN" dirty="0">
                <a:cs typeface="楷体" panose="02010609060101010101" charset="-122"/>
              </a:rPr>
              <a:t>3</a:t>
            </a:r>
            <a:endParaRPr lang="en-US" altLang="zh-CN" dirty="0">
              <a:cs typeface="楷体" panose="02010609060101010101" charset="-122"/>
            </a:endParaRPr>
          </a:p>
          <a:p>
            <a:pPr indent="0" fontAlgn="auto">
              <a:lnSpc>
                <a:spcPct val="120000"/>
              </a:lnSpc>
            </a:pPr>
            <a:r>
              <a:rPr lang="en-US" altLang="zh-CN" dirty="0">
                <a:cs typeface="楷体" panose="02010609060101010101" charset="-122"/>
              </a:rPr>
              <a:t>C.</a:t>
            </a:r>
            <a:r>
              <a:rPr lang="zh-CN" altLang="en-US" dirty="0">
                <a:cs typeface="楷体" panose="02010609060101010101" charset="-122"/>
              </a:rPr>
              <a:t>网友</a:t>
            </a:r>
            <a:r>
              <a:rPr lang="en-US" altLang="zh-CN" dirty="0">
                <a:cs typeface="楷体" panose="02010609060101010101" charset="-122"/>
              </a:rPr>
              <a:t>4</a:t>
            </a:r>
            <a:r>
              <a:rPr lang="zh-CN" altLang="en-US" dirty="0">
                <a:cs typeface="楷体" panose="02010609060101010101" charset="-122"/>
              </a:rPr>
              <a:t>和网友</a:t>
            </a:r>
            <a:r>
              <a:rPr lang="en-US" altLang="zh-CN" dirty="0">
                <a:cs typeface="楷体" panose="02010609060101010101" charset="-122"/>
              </a:rPr>
              <a:t>5	D.</a:t>
            </a:r>
            <a:r>
              <a:rPr lang="zh-CN" altLang="en-US" dirty="0">
                <a:cs typeface="楷体" panose="02010609060101010101" charset="-122"/>
              </a:rPr>
              <a:t>网友</a:t>
            </a:r>
            <a:r>
              <a:rPr lang="en-US" altLang="zh-CN" dirty="0">
                <a:cs typeface="楷体" panose="02010609060101010101" charset="-122"/>
              </a:rPr>
              <a:t>5</a:t>
            </a:r>
            <a:r>
              <a:rPr lang="zh-CN" altLang="en-US" dirty="0">
                <a:cs typeface="楷体" panose="02010609060101010101" charset="-122"/>
              </a:rPr>
              <a:t>和网友</a:t>
            </a:r>
            <a:r>
              <a:rPr lang="en-US" altLang="zh-CN" dirty="0">
                <a:cs typeface="楷体" panose="02010609060101010101" charset="-122"/>
              </a:rPr>
              <a:t>6</a:t>
            </a:r>
            <a:endParaRPr lang="en-US" altLang="zh-CN" dirty="0">
              <a:cs typeface="楷体" panose="02010609060101010101" charset="-122"/>
            </a:endParaRPr>
          </a:p>
          <a:p>
            <a:pPr indent="0" fontAlgn="auto">
              <a:lnSpc>
                <a:spcPct val="120000"/>
              </a:lnSpc>
            </a:pPr>
            <a:endParaRPr lang="zh-CN" altLang="en-US" dirty="0">
              <a:cs typeface="楷体" panose="02010609060101010101"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390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33</a:t>
            </a:r>
            <a:endParaRPr kumimoji="1" lang="en-US" altLang="zh-CN" sz="2800" b="1" dirty="0">
              <a:solidFill>
                <a:srgbClr val="FF653F"/>
              </a:solidFill>
            </a:endParaRPr>
          </a:p>
        </p:txBody>
      </p:sp>
      <p:sp>
        <p:nvSpPr>
          <p:cNvPr id="3" name="文本框 2"/>
          <p:cNvSpPr txBox="1"/>
          <p:nvPr/>
        </p:nvSpPr>
        <p:spPr>
          <a:xfrm>
            <a:off x="443865" y="588010"/>
            <a:ext cx="11393805" cy="5526405"/>
          </a:xfrm>
          <a:prstGeom prst="rect">
            <a:avLst/>
          </a:prstGeom>
          <a:noFill/>
        </p:spPr>
        <p:txBody>
          <a:bodyPr wrap="square" rtlCol="0" anchor="t">
            <a:noAutofit/>
          </a:bodyPr>
          <a:p>
            <a:pPr indent="0" fontAlgn="auto">
              <a:lnSpc>
                <a:spcPct val="120000"/>
              </a:lnSpc>
            </a:pPr>
            <a:r>
              <a:rPr lang="zh-CN" altLang="en-US" dirty="0">
                <a:cs typeface="楷体" panose="02010609060101010101" charset="-122"/>
              </a:rPr>
              <a:t>根据以下材料，回答</a:t>
            </a:r>
            <a:r>
              <a:rPr lang="en-US" altLang="zh-CN" dirty="0">
                <a:cs typeface="楷体" panose="02010609060101010101" charset="-122"/>
              </a:rPr>
              <a:t>3</a:t>
            </a:r>
            <a:r>
              <a:rPr lang="en-US" altLang="zh-CN" dirty="0">
                <a:cs typeface="楷体" panose="02010609060101010101" charset="-122"/>
              </a:rPr>
              <a:t>2</a:t>
            </a:r>
            <a:r>
              <a:rPr lang="zh-CN" altLang="en-US" dirty="0">
                <a:cs typeface="楷体" panose="02010609060101010101" charset="-122"/>
              </a:rPr>
              <a:t>～</a:t>
            </a:r>
            <a:r>
              <a:rPr lang="en-US" altLang="zh-CN" dirty="0">
                <a:cs typeface="楷体" panose="02010609060101010101" charset="-122"/>
              </a:rPr>
              <a:t>3</a:t>
            </a:r>
            <a:r>
              <a:rPr lang="en-US" altLang="zh-CN" dirty="0">
                <a:cs typeface="楷体" panose="02010609060101010101" charset="-122"/>
              </a:rPr>
              <a:t>3</a:t>
            </a:r>
            <a:r>
              <a:rPr lang="zh-CN" altLang="en-US" dirty="0">
                <a:cs typeface="楷体" panose="02010609060101010101" charset="-122"/>
              </a:rPr>
              <a:t>题。</a:t>
            </a:r>
            <a:endParaRPr lang="zh-CN" altLang="en-US" dirty="0">
              <a:cs typeface="楷体" panose="02010609060101010101" charset="-122"/>
            </a:endParaRPr>
          </a:p>
          <a:p>
            <a:pPr indent="0" fontAlgn="auto">
              <a:lnSpc>
                <a:spcPct val="120000"/>
              </a:lnSpc>
            </a:pPr>
            <a:r>
              <a:rPr lang="zh-CN" altLang="en-US" dirty="0">
                <a:cs typeface="楷体" panose="02010609060101010101" charset="-122"/>
              </a:rPr>
              <a:t>节俭一直是中华民族的传统美德。随着经济社会的发展，人们对物质的要求越来越高，</a:t>
            </a:r>
            <a:r>
              <a:rPr lang="en-US" altLang="zh-CN" dirty="0">
                <a:cs typeface="楷体" panose="02010609060101010101" charset="-122"/>
              </a:rPr>
              <a:t>“</a:t>
            </a:r>
            <a:r>
              <a:rPr lang="zh-CN" altLang="en-US" dirty="0">
                <a:cs typeface="楷体" panose="02010609060101010101" charset="-122"/>
              </a:rPr>
              <a:t>月光族</a:t>
            </a:r>
            <a:r>
              <a:rPr lang="en-US" altLang="zh-CN" dirty="0">
                <a:cs typeface="楷体" panose="02010609060101010101" charset="-122"/>
              </a:rPr>
              <a:t>”“</a:t>
            </a:r>
            <a:r>
              <a:rPr lang="zh-CN" altLang="en-US" dirty="0">
                <a:cs typeface="楷体" panose="02010609060101010101" charset="-122"/>
              </a:rPr>
              <a:t>啃老族</a:t>
            </a:r>
            <a:r>
              <a:rPr lang="en-US" altLang="zh-CN" dirty="0">
                <a:cs typeface="楷体" panose="02010609060101010101" charset="-122"/>
              </a:rPr>
              <a:t>”</a:t>
            </a:r>
            <a:r>
              <a:rPr lang="zh-CN" altLang="en-US" dirty="0">
                <a:cs typeface="楷体" panose="02010609060101010101" charset="-122"/>
              </a:rPr>
              <a:t>早已屡见不鲜。然而，近年来，情况也正在发生着悄然变化。遵循</a:t>
            </a:r>
            <a:r>
              <a:rPr lang="en-US" altLang="zh-CN" dirty="0">
                <a:cs typeface="楷体" panose="02010609060101010101" charset="-122"/>
              </a:rPr>
              <a:t>“</a:t>
            </a:r>
            <a:r>
              <a:rPr lang="zh-CN" altLang="en-US" dirty="0">
                <a:cs typeface="楷体" panose="02010609060101010101" charset="-122"/>
              </a:rPr>
              <a:t>省钱而不降品位，省钱而不失时尚，省钱而不减体面</a:t>
            </a:r>
            <a:r>
              <a:rPr lang="en-US" altLang="zh-CN" dirty="0">
                <a:cs typeface="楷体" panose="02010609060101010101" charset="-122"/>
              </a:rPr>
              <a:t>”</a:t>
            </a:r>
            <a:r>
              <a:rPr lang="zh-CN" altLang="en-US" dirty="0">
                <a:cs typeface="楷体" panose="02010609060101010101" charset="-122"/>
              </a:rPr>
              <a:t>原则的</a:t>
            </a:r>
            <a:r>
              <a:rPr lang="en-US" altLang="zh-CN" dirty="0">
                <a:cs typeface="楷体" panose="02010609060101010101" charset="-122"/>
              </a:rPr>
              <a:t>“</a:t>
            </a:r>
            <a:r>
              <a:rPr lang="zh-CN" altLang="en-US" dirty="0">
                <a:cs typeface="楷体" panose="02010609060101010101" charset="-122"/>
              </a:rPr>
              <a:t>新节俭主义</a:t>
            </a:r>
            <a:r>
              <a:rPr lang="en-US" altLang="zh-CN" dirty="0">
                <a:cs typeface="楷体" panose="02010609060101010101" charset="-122"/>
              </a:rPr>
              <a:t>”</a:t>
            </a:r>
            <a:r>
              <a:rPr lang="zh-CN" altLang="en-US" dirty="0">
                <a:cs typeface="楷体" panose="02010609060101010101" charset="-122"/>
              </a:rPr>
              <a:t>开始被越来越多年轻人所推崇和青睐。对此，网络上出现了各种不同的声音。</a:t>
            </a:r>
            <a:endParaRPr lang="zh-CN" altLang="en-US" dirty="0">
              <a:cs typeface="楷体" panose="02010609060101010101" charset="-122"/>
            </a:endParaRPr>
          </a:p>
          <a:p>
            <a:pPr indent="0" fontAlgn="auto">
              <a:lnSpc>
                <a:spcPct val="120000"/>
              </a:lnSpc>
            </a:pPr>
            <a:r>
              <a:rPr lang="zh-CN" altLang="en-US" dirty="0">
                <a:cs typeface="楷体" panose="02010609060101010101" charset="-122"/>
              </a:rPr>
              <a:t>网友</a:t>
            </a:r>
            <a:r>
              <a:rPr lang="en-US" altLang="zh-CN" dirty="0">
                <a:cs typeface="楷体" panose="02010609060101010101" charset="-122"/>
              </a:rPr>
              <a:t>1</a:t>
            </a:r>
            <a:r>
              <a:rPr lang="zh-CN" altLang="en-US" dirty="0">
                <a:cs typeface="楷体" panose="02010609060101010101" charset="-122"/>
              </a:rPr>
              <a:t>：</a:t>
            </a:r>
            <a:r>
              <a:rPr lang="en-US" altLang="zh-CN" dirty="0">
                <a:cs typeface="楷体" panose="02010609060101010101" charset="-122"/>
              </a:rPr>
              <a:t>“</a:t>
            </a:r>
            <a:r>
              <a:rPr lang="zh-CN" altLang="en-US" dirty="0">
                <a:cs typeface="楷体" panose="02010609060101010101" charset="-122"/>
              </a:rPr>
              <a:t>新节俭主义</a:t>
            </a:r>
            <a:r>
              <a:rPr lang="en-US" altLang="zh-CN" dirty="0">
                <a:cs typeface="楷体" panose="02010609060101010101" charset="-122"/>
              </a:rPr>
              <a:t>”</a:t>
            </a:r>
            <a:r>
              <a:rPr lang="zh-CN" altLang="en-US" dirty="0">
                <a:cs typeface="楷体" panose="02010609060101010101" charset="-122"/>
              </a:rPr>
              <a:t>首先需要你会省钱，能省钱，这也并不是件容易的事情，所以推崇不代表践行。</a:t>
            </a:r>
            <a:endParaRPr lang="zh-CN" altLang="en-US" dirty="0">
              <a:cs typeface="楷体" panose="02010609060101010101" charset="-122"/>
            </a:endParaRPr>
          </a:p>
          <a:p>
            <a:pPr indent="0" fontAlgn="auto">
              <a:lnSpc>
                <a:spcPct val="120000"/>
              </a:lnSpc>
            </a:pPr>
            <a:r>
              <a:rPr lang="zh-CN" altLang="en-US" dirty="0">
                <a:cs typeface="楷体" panose="02010609060101010101" charset="-122"/>
              </a:rPr>
              <a:t>网友</a:t>
            </a:r>
            <a:r>
              <a:rPr lang="en-US" altLang="zh-CN" dirty="0">
                <a:cs typeface="楷体" panose="02010609060101010101" charset="-122"/>
              </a:rPr>
              <a:t>2</a:t>
            </a:r>
            <a:r>
              <a:rPr lang="zh-CN" altLang="en-US" dirty="0">
                <a:cs typeface="楷体" panose="02010609060101010101" charset="-122"/>
              </a:rPr>
              <a:t>：我们家不允许剩饭，这是传承的家风，无论传统节俭还是</a:t>
            </a:r>
            <a:r>
              <a:rPr lang="en-US" altLang="zh-CN" dirty="0">
                <a:cs typeface="楷体" panose="02010609060101010101" charset="-122"/>
              </a:rPr>
              <a:t>“</a:t>
            </a:r>
            <a:r>
              <a:rPr lang="zh-CN" altLang="en-US" dirty="0">
                <a:cs typeface="楷体" panose="02010609060101010101" charset="-122"/>
              </a:rPr>
              <a:t>新节俭主义</a:t>
            </a:r>
            <a:r>
              <a:rPr lang="en-US" altLang="zh-CN" dirty="0">
                <a:cs typeface="楷体" panose="02010609060101010101" charset="-122"/>
              </a:rPr>
              <a:t>”</a:t>
            </a:r>
            <a:r>
              <a:rPr lang="zh-CN" altLang="en-US" dirty="0">
                <a:cs typeface="楷体" panose="02010609060101010101" charset="-122"/>
              </a:rPr>
              <a:t>，都是勤劳节俭美德的体现。</a:t>
            </a:r>
            <a:endParaRPr lang="zh-CN" altLang="en-US" dirty="0">
              <a:cs typeface="楷体" panose="02010609060101010101" charset="-122"/>
            </a:endParaRPr>
          </a:p>
          <a:p>
            <a:pPr indent="0" fontAlgn="auto">
              <a:lnSpc>
                <a:spcPct val="120000"/>
              </a:lnSpc>
            </a:pPr>
            <a:r>
              <a:rPr lang="zh-CN" altLang="en-US" dirty="0">
                <a:cs typeface="楷体" panose="02010609060101010101" charset="-122"/>
              </a:rPr>
              <a:t>网友</a:t>
            </a:r>
            <a:r>
              <a:rPr lang="en-US" altLang="zh-CN" dirty="0">
                <a:cs typeface="楷体" panose="02010609060101010101" charset="-122"/>
              </a:rPr>
              <a:t>3</a:t>
            </a:r>
            <a:r>
              <a:rPr lang="zh-CN" altLang="en-US" dirty="0">
                <a:cs typeface="楷体" panose="02010609060101010101" charset="-122"/>
              </a:rPr>
              <a:t>：</a:t>
            </a:r>
            <a:r>
              <a:rPr lang="en-US" altLang="zh-CN" dirty="0">
                <a:cs typeface="楷体" panose="02010609060101010101" charset="-122"/>
              </a:rPr>
              <a:t>“</a:t>
            </a:r>
            <a:r>
              <a:rPr lang="zh-CN" altLang="en-US" dirty="0">
                <a:cs typeface="楷体" panose="02010609060101010101" charset="-122"/>
              </a:rPr>
              <a:t>新节俭主义</a:t>
            </a:r>
            <a:r>
              <a:rPr lang="en-US" altLang="zh-CN" dirty="0">
                <a:cs typeface="楷体" panose="02010609060101010101" charset="-122"/>
              </a:rPr>
              <a:t>”</a:t>
            </a:r>
            <a:r>
              <a:rPr lang="zh-CN" altLang="en-US" dirty="0">
                <a:cs typeface="楷体" panose="02010609060101010101" charset="-122"/>
              </a:rPr>
              <a:t>强调量入为出、</a:t>
            </a:r>
            <a:r>
              <a:rPr lang="en-US" altLang="zh-CN" dirty="0">
                <a:cs typeface="楷体" panose="02010609060101010101" charset="-122"/>
              </a:rPr>
              <a:t>“</a:t>
            </a:r>
            <a:r>
              <a:rPr lang="zh-CN" altLang="en-US" dirty="0">
                <a:cs typeface="楷体" panose="02010609060101010101" charset="-122"/>
              </a:rPr>
              <a:t>把钱用在刀刃上</a:t>
            </a:r>
            <a:r>
              <a:rPr lang="en-US" altLang="zh-CN" dirty="0">
                <a:cs typeface="楷体" panose="02010609060101010101" charset="-122"/>
              </a:rPr>
              <a:t>”</a:t>
            </a:r>
            <a:r>
              <a:rPr lang="zh-CN" altLang="en-US" dirty="0">
                <a:cs typeface="楷体" panose="02010609060101010101" charset="-122"/>
              </a:rPr>
              <a:t>，是一种返璞归真、更成熟、更健康的消费理念。</a:t>
            </a:r>
            <a:endParaRPr lang="zh-CN" altLang="en-US" dirty="0">
              <a:cs typeface="楷体" panose="02010609060101010101" charset="-122"/>
            </a:endParaRPr>
          </a:p>
          <a:p>
            <a:pPr indent="0" fontAlgn="auto">
              <a:lnSpc>
                <a:spcPct val="120000"/>
              </a:lnSpc>
            </a:pPr>
            <a:r>
              <a:rPr lang="zh-CN" altLang="en-US" dirty="0">
                <a:cs typeface="楷体" panose="02010609060101010101" charset="-122"/>
              </a:rPr>
              <a:t>网友</a:t>
            </a:r>
            <a:r>
              <a:rPr lang="en-US" altLang="zh-CN" dirty="0">
                <a:cs typeface="楷体" panose="02010609060101010101" charset="-122"/>
              </a:rPr>
              <a:t>4</a:t>
            </a:r>
            <a:r>
              <a:rPr lang="zh-CN" altLang="en-US" dirty="0">
                <a:cs typeface="楷体" panose="02010609060101010101" charset="-122"/>
              </a:rPr>
              <a:t>：节俭并非只为了省钱，更是用环保的理念去生活，就像你买下一本二手书的同时，也为地球减轻一份重量，这也是</a:t>
            </a:r>
            <a:r>
              <a:rPr lang="en-US" altLang="zh-CN" dirty="0">
                <a:cs typeface="楷体" panose="02010609060101010101" charset="-122"/>
              </a:rPr>
              <a:t>“</a:t>
            </a:r>
            <a:r>
              <a:rPr lang="zh-CN" altLang="en-US" dirty="0">
                <a:cs typeface="楷体" panose="02010609060101010101" charset="-122"/>
              </a:rPr>
              <a:t>新</a:t>
            </a:r>
            <a:r>
              <a:rPr lang="en-US" altLang="zh-CN" dirty="0">
                <a:cs typeface="楷体" panose="02010609060101010101" charset="-122"/>
              </a:rPr>
              <a:t>”</a:t>
            </a:r>
            <a:r>
              <a:rPr lang="zh-CN" altLang="en-US" dirty="0">
                <a:cs typeface="楷体" panose="02010609060101010101" charset="-122"/>
              </a:rPr>
              <a:t>的一个体现。</a:t>
            </a:r>
            <a:endParaRPr lang="zh-CN" altLang="en-US" dirty="0">
              <a:cs typeface="楷体" panose="02010609060101010101" charset="-122"/>
            </a:endParaRPr>
          </a:p>
          <a:p>
            <a:pPr indent="0" fontAlgn="auto">
              <a:lnSpc>
                <a:spcPct val="120000"/>
              </a:lnSpc>
            </a:pPr>
            <a:r>
              <a:rPr lang="zh-CN" altLang="en-US" dirty="0">
                <a:cs typeface="楷体" panose="02010609060101010101" charset="-122"/>
              </a:rPr>
              <a:t>网友</a:t>
            </a:r>
            <a:r>
              <a:rPr lang="en-US" altLang="zh-CN" dirty="0">
                <a:cs typeface="楷体" panose="02010609060101010101" charset="-122"/>
              </a:rPr>
              <a:t>5</a:t>
            </a:r>
            <a:r>
              <a:rPr lang="zh-CN" altLang="en-US" dirty="0">
                <a:cs typeface="楷体" panose="02010609060101010101" charset="-122"/>
              </a:rPr>
              <a:t>：</a:t>
            </a:r>
            <a:r>
              <a:rPr lang="en-US" altLang="zh-CN" dirty="0">
                <a:cs typeface="楷体" panose="02010609060101010101" charset="-122"/>
              </a:rPr>
              <a:t>“</a:t>
            </a:r>
            <a:r>
              <a:rPr lang="zh-CN" altLang="en-US" dirty="0">
                <a:cs typeface="楷体" panose="02010609060101010101" charset="-122"/>
              </a:rPr>
              <a:t>新节俭主义</a:t>
            </a:r>
            <a:r>
              <a:rPr lang="en-US" altLang="zh-CN" dirty="0">
                <a:cs typeface="楷体" panose="02010609060101010101" charset="-122"/>
              </a:rPr>
              <a:t>”</a:t>
            </a:r>
            <a:r>
              <a:rPr lang="zh-CN" altLang="en-US" dirty="0">
                <a:cs typeface="楷体" panose="02010609060101010101" charset="-122"/>
              </a:rPr>
              <a:t>源于社会生活压力，年轻人深感生活的不易，因此奉行</a:t>
            </a:r>
            <a:r>
              <a:rPr lang="en-US" altLang="zh-CN" dirty="0">
                <a:cs typeface="楷体" panose="02010609060101010101" charset="-122"/>
              </a:rPr>
              <a:t>“</a:t>
            </a:r>
            <a:r>
              <a:rPr lang="zh-CN" altLang="en-US" dirty="0">
                <a:cs typeface="楷体" panose="02010609060101010101" charset="-122"/>
              </a:rPr>
              <a:t>新节俭主义</a:t>
            </a:r>
            <a:r>
              <a:rPr lang="en-US" altLang="zh-CN" dirty="0">
                <a:cs typeface="楷体" panose="02010609060101010101" charset="-122"/>
              </a:rPr>
              <a:t>”</a:t>
            </a:r>
            <a:r>
              <a:rPr lang="zh-CN" altLang="en-US" dirty="0">
                <a:cs typeface="楷体" panose="02010609060101010101" charset="-122"/>
              </a:rPr>
              <a:t>。</a:t>
            </a:r>
            <a:endParaRPr lang="zh-CN" altLang="en-US" dirty="0">
              <a:cs typeface="楷体" panose="02010609060101010101" charset="-122"/>
            </a:endParaRPr>
          </a:p>
          <a:p>
            <a:pPr indent="0" fontAlgn="auto">
              <a:lnSpc>
                <a:spcPct val="120000"/>
              </a:lnSpc>
            </a:pPr>
            <a:r>
              <a:rPr lang="zh-CN" altLang="en-US" dirty="0">
                <a:cs typeface="楷体" panose="02010609060101010101" charset="-122"/>
              </a:rPr>
              <a:t>网友</a:t>
            </a:r>
            <a:r>
              <a:rPr lang="en-US" altLang="zh-CN" dirty="0">
                <a:cs typeface="楷体" panose="02010609060101010101" charset="-122"/>
              </a:rPr>
              <a:t>6</a:t>
            </a:r>
            <a:r>
              <a:rPr lang="zh-CN" altLang="en-US" dirty="0">
                <a:cs typeface="楷体" panose="02010609060101010101" charset="-122"/>
              </a:rPr>
              <a:t>：就应该像传统节俭一样什么都省，</a:t>
            </a:r>
            <a:r>
              <a:rPr lang="en-US" altLang="zh-CN" dirty="0">
                <a:cs typeface="楷体" panose="02010609060101010101" charset="-122"/>
              </a:rPr>
              <a:t>“</a:t>
            </a:r>
            <a:r>
              <a:rPr lang="zh-CN" altLang="en-US" dirty="0">
                <a:cs typeface="楷体" panose="02010609060101010101" charset="-122"/>
              </a:rPr>
              <a:t>新节俭主义</a:t>
            </a:r>
            <a:r>
              <a:rPr lang="en-US" altLang="zh-CN" dirty="0">
                <a:cs typeface="楷体" panose="02010609060101010101" charset="-122"/>
              </a:rPr>
              <a:t>”</a:t>
            </a:r>
            <a:r>
              <a:rPr lang="zh-CN" altLang="en-US" dirty="0">
                <a:cs typeface="楷体" panose="02010609060101010101" charset="-122"/>
              </a:rPr>
              <a:t>说什么</a:t>
            </a:r>
            <a:r>
              <a:rPr lang="en-US" altLang="zh-CN" dirty="0">
                <a:cs typeface="楷体" panose="02010609060101010101" charset="-122"/>
              </a:rPr>
              <a:t>“</a:t>
            </a:r>
            <a:r>
              <a:rPr lang="zh-CN" altLang="en-US" dirty="0">
                <a:cs typeface="楷体" panose="02010609060101010101" charset="-122"/>
              </a:rPr>
              <a:t>该花的就花</a:t>
            </a:r>
            <a:r>
              <a:rPr lang="en-US" altLang="zh-CN" dirty="0">
                <a:cs typeface="楷体" panose="02010609060101010101" charset="-122"/>
              </a:rPr>
              <a:t>”</a:t>
            </a:r>
            <a:r>
              <a:rPr lang="zh-CN" altLang="en-US" dirty="0">
                <a:cs typeface="楷体" panose="02010609060101010101" charset="-122"/>
              </a:rPr>
              <a:t>，这实际上是浪费的一种托词。</a:t>
            </a:r>
            <a:endParaRPr lang="zh-CN" altLang="en-US" dirty="0">
              <a:cs typeface="楷体" panose="02010609060101010101" charset="-122"/>
            </a:endParaRPr>
          </a:p>
          <a:p>
            <a:pPr indent="0" fontAlgn="auto">
              <a:lnSpc>
                <a:spcPct val="120000"/>
              </a:lnSpc>
            </a:pPr>
            <a:r>
              <a:rPr lang="zh-CN" altLang="en-US" dirty="0">
                <a:cs typeface="楷体" panose="02010609060101010101" charset="-122"/>
              </a:rPr>
              <a:t>网友</a:t>
            </a:r>
            <a:r>
              <a:rPr lang="en-US" altLang="zh-CN" dirty="0">
                <a:cs typeface="楷体" panose="02010609060101010101" charset="-122"/>
              </a:rPr>
              <a:t>7</a:t>
            </a:r>
            <a:r>
              <a:rPr lang="zh-CN" altLang="en-US" dirty="0">
                <a:cs typeface="楷体" panose="02010609060101010101" charset="-122"/>
              </a:rPr>
              <a:t>：调查显示，</a:t>
            </a:r>
            <a:r>
              <a:rPr lang="en-US" altLang="zh-CN" dirty="0">
                <a:cs typeface="楷体" panose="02010609060101010101" charset="-122"/>
              </a:rPr>
              <a:t>43.55%</a:t>
            </a:r>
            <a:r>
              <a:rPr lang="zh-CN" altLang="en-US" dirty="0">
                <a:cs typeface="楷体" panose="02010609060101010101" charset="-122"/>
              </a:rPr>
              <a:t>的受访者曾在互联网平台上寻找各种省钱方式，</a:t>
            </a:r>
            <a:r>
              <a:rPr lang="en-US" altLang="zh-CN" dirty="0">
                <a:cs typeface="楷体" panose="02010609060101010101" charset="-122"/>
              </a:rPr>
              <a:t>35.18%</a:t>
            </a:r>
            <a:r>
              <a:rPr lang="zh-CN" altLang="en-US" dirty="0">
                <a:cs typeface="楷体" panose="02010609060101010101" charset="-122"/>
              </a:rPr>
              <a:t>的受访者尚未尝试在互联网平台上寻找省钱方式，其余受访者觉得没必要尝试，所以大多数年轻人是推崇</a:t>
            </a:r>
            <a:r>
              <a:rPr lang="en-US" altLang="zh-CN" dirty="0">
                <a:cs typeface="楷体" panose="02010609060101010101" charset="-122"/>
              </a:rPr>
              <a:t>“</a:t>
            </a:r>
            <a:r>
              <a:rPr lang="zh-CN" altLang="en-US" dirty="0">
                <a:cs typeface="楷体" panose="02010609060101010101" charset="-122"/>
              </a:rPr>
              <a:t>新节俭主义</a:t>
            </a:r>
            <a:r>
              <a:rPr lang="en-US" altLang="zh-CN" dirty="0">
                <a:cs typeface="楷体" panose="02010609060101010101" charset="-122"/>
              </a:rPr>
              <a:t>”</a:t>
            </a:r>
            <a:r>
              <a:rPr lang="zh-CN" altLang="en-US" dirty="0">
                <a:cs typeface="楷体" panose="02010609060101010101" charset="-122"/>
              </a:rPr>
              <a:t>的。</a:t>
            </a:r>
            <a:endParaRPr lang="en-US" altLang="zh-CN" dirty="0">
              <a:cs typeface="楷体" panose="02010609060101010101" charset="-122"/>
            </a:endParaRPr>
          </a:p>
          <a:p>
            <a:pPr indent="0" fontAlgn="auto">
              <a:lnSpc>
                <a:spcPct val="120000"/>
              </a:lnSpc>
            </a:pPr>
            <a:r>
              <a:rPr lang="en-US" altLang="zh-CN" dirty="0">
                <a:cs typeface="楷体" panose="02010609060101010101" charset="-122"/>
              </a:rPr>
              <a:t>33.</a:t>
            </a:r>
            <a:r>
              <a:rPr lang="zh-CN" altLang="en-US" dirty="0">
                <a:cs typeface="楷体" panose="02010609060101010101" charset="-122"/>
              </a:rPr>
              <a:t>对下列问题的回答，除哪项外对网友</a:t>
            </a:r>
            <a:r>
              <a:rPr lang="en-US" altLang="zh-CN" dirty="0">
                <a:cs typeface="楷体" panose="02010609060101010101" charset="-122"/>
              </a:rPr>
              <a:t>7</a:t>
            </a:r>
            <a:r>
              <a:rPr lang="zh-CN" altLang="en-US" dirty="0">
                <a:cs typeface="楷体" panose="02010609060101010101" charset="-122"/>
              </a:rPr>
              <a:t>的论证都是重要的？</a:t>
            </a:r>
            <a:endParaRPr lang="zh-CN" altLang="en-US" dirty="0">
              <a:cs typeface="楷体" panose="02010609060101010101" charset="-122"/>
            </a:endParaRPr>
          </a:p>
          <a:p>
            <a:pPr indent="0" fontAlgn="auto">
              <a:lnSpc>
                <a:spcPct val="120000"/>
              </a:lnSpc>
            </a:pPr>
            <a:r>
              <a:rPr lang="en-US" altLang="zh-CN" dirty="0">
                <a:cs typeface="楷体" panose="02010609060101010101" charset="-122"/>
              </a:rPr>
              <a:t>A.</a:t>
            </a:r>
            <a:r>
              <a:rPr lang="zh-CN" altLang="en-US" dirty="0">
                <a:cs typeface="楷体" panose="02010609060101010101" charset="-122"/>
              </a:rPr>
              <a:t>受访者是否都是年轻人？</a:t>
            </a:r>
            <a:endParaRPr lang="zh-CN" altLang="en-US" dirty="0">
              <a:cs typeface="楷体" panose="02010609060101010101" charset="-122"/>
            </a:endParaRPr>
          </a:p>
          <a:p>
            <a:pPr indent="0" fontAlgn="auto">
              <a:lnSpc>
                <a:spcPct val="120000"/>
              </a:lnSpc>
            </a:pPr>
            <a:r>
              <a:rPr lang="en-US" altLang="zh-CN" dirty="0">
                <a:cs typeface="楷体" panose="02010609060101010101" charset="-122"/>
              </a:rPr>
              <a:t>B.</a:t>
            </a:r>
            <a:r>
              <a:rPr lang="zh-CN" altLang="en-US" dirty="0">
                <a:cs typeface="楷体" panose="02010609060101010101" charset="-122"/>
              </a:rPr>
              <a:t>回答</a:t>
            </a:r>
            <a:r>
              <a:rPr lang="en-US" altLang="zh-CN" dirty="0">
                <a:cs typeface="楷体" panose="02010609060101010101" charset="-122"/>
              </a:rPr>
              <a:t>“</a:t>
            </a:r>
            <a:r>
              <a:rPr lang="zh-CN" altLang="en-US" dirty="0">
                <a:cs typeface="楷体" panose="02010609060101010101" charset="-122"/>
              </a:rPr>
              <a:t>尚未尝试</a:t>
            </a:r>
            <a:r>
              <a:rPr lang="en-US" altLang="zh-CN" dirty="0">
                <a:cs typeface="楷体" panose="02010609060101010101" charset="-122"/>
              </a:rPr>
              <a:t>”</a:t>
            </a:r>
            <a:r>
              <a:rPr lang="zh-CN" altLang="en-US" dirty="0">
                <a:cs typeface="楷体" panose="02010609060101010101" charset="-122"/>
              </a:rPr>
              <a:t>的受访者是否尝试过其他节省的方式？</a:t>
            </a:r>
            <a:endParaRPr lang="zh-CN" altLang="en-US" dirty="0">
              <a:cs typeface="楷体" panose="02010609060101010101" charset="-122"/>
            </a:endParaRPr>
          </a:p>
          <a:p>
            <a:pPr indent="0" fontAlgn="auto">
              <a:lnSpc>
                <a:spcPct val="120000"/>
              </a:lnSpc>
            </a:pPr>
            <a:r>
              <a:rPr lang="en-US" altLang="zh-CN" dirty="0">
                <a:cs typeface="楷体" panose="02010609060101010101" charset="-122"/>
              </a:rPr>
              <a:t>C.“</a:t>
            </a:r>
            <a:r>
              <a:rPr lang="zh-CN" altLang="en-US" dirty="0">
                <a:cs typeface="楷体" panose="02010609060101010101" charset="-122"/>
              </a:rPr>
              <a:t>觉得没有必要尝试</a:t>
            </a:r>
            <a:r>
              <a:rPr lang="en-US" altLang="zh-CN" dirty="0">
                <a:cs typeface="楷体" panose="02010609060101010101" charset="-122"/>
              </a:rPr>
              <a:t>”</a:t>
            </a:r>
            <a:r>
              <a:rPr lang="zh-CN" altLang="en-US" dirty="0">
                <a:cs typeface="楷体" panose="02010609060101010101" charset="-122"/>
              </a:rPr>
              <a:t>的受访者是否尝试过其他节省的方式？</a:t>
            </a:r>
            <a:endParaRPr lang="zh-CN" altLang="en-US" dirty="0">
              <a:cs typeface="楷体" panose="02010609060101010101" charset="-122"/>
            </a:endParaRPr>
          </a:p>
          <a:p>
            <a:pPr indent="0" fontAlgn="auto">
              <a:lnSpc>
                <a:spcPct val="120000"/>
              </a:lnSpc>
            </a:pPr>
            <a:r>
              <a:rPr lang="en-US" altLang="zh-CN" dirty="0">
                <a:cs typeface="楷体" panose="02010609060101010101" charset="-122"/>
              </a:rPr>
              <a:t>D.</a:t>
            </a:r>
            <a:r>
              <a:rPr lang="zh-CN" altLang="en-US" dirty="0">
                <a:cs typeface="楷体" panose="02010609060101010101" charset="-122"/>
              </a:rPr>
              <a:t>受访者</a:t>
            </a:r>
            <a:r>
              <a:rPr lang="en-US" altLang="zh-CN" dirty="0">
                <a:cs typeface="楷体" panose="02010609060101010101" charset="-122"/>
              </a:rPr>
              <a:t>“</a:t>
            </a:r>
            <a:r>
              <a:rPr lang="zh-CN" altLang="en-US" dirty="0">
                <a:cs typeface="楷体" panose="02010609060101010101" charset="-122"/>
              </a:rPr>
              <a:t>曾在互联网平台上寻找各种省钱方式</a:t>
            </a:r>
            <a:r>
              <a:rPr lang="en-US" altLang="zh-CN" dirty="0">
                <a:cs typeface="楷体" panose="02010609060101010101" charset="-122"/>
              </a:rPr>
              <a:t>”</a:t>
            </a:r>
            <a:r>
              <a:rPr lang="zh-CN" altLang="en-US" dirty="0">
                <a:cs typeface="楷体" panose="02010609060101010101" charset="-122"/>
              </a:rPr>
              <a:t>的原因是什么？</a:t>
            </a:r>
            <a:endParaRPr lang="zh-CN" altLang="en-US" dirty="0">
              <a:cs typeface="楷体" panose="02010609060101010101"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a:t>
            </a:r>
            <a:r>
              <a:rPr kumimoji="1" lang="en-US" altLang="zh-CN" sz="2800" b="1" dirty="0">
                <a:solidFill>
                  <a:srgbClr val="FF653F"/>
                </a:solidFill>
                <a:sym typeface="+mn-ea"/>
              </a:rPr>
              <a:t>4</a:t>
            </a:r>
            <a:endParaRPr kumimoji="1" lang="en-US" altLang="zh-CN" sz="2800" b="1" dirty="0">
              <a:solidFill>
                <a:srgbClr val="FF653F"/>
              </a:solidFill>
            </a:endParaRPr>
          </a:p>
        </p:txBody>
      </p:sp>
      <p:sp>
        <p:nvSpPr>
          <p:cNvPr id="3" name="文本框 2"/>
          <p:cNvSpPr txBox="1"/>
          <p:nvPr/>
        </p:nvSpPr>
        <p:spPr>
          <a:xfrm>
            <a:off x="462915" y="857885"/>
            <a:ext cx="11460480" cy="5526405"/>
          </a:xfrm>
          <a:prstGeom prst="rect">
            <a:avLst/>
          </a:prstGeom>
          <a:noFill/>
        </p:spPr>
        <p:txBody>
          <a:bodyPr wrap="square" rtlCol="0" anchor="t">
            <a:noAutofit/>
          </a:bodyPr>
          <a:p>
            <a:pPr indent="0" fontAlgn="auto">
              <a:lnSpc>
                <a:spcPct val="120000"/>
              </a:lnSpc>
            </a:pPr>
            <a:r>
              <a:rPr lang="zh-CN" altLang="en-US" sz="2000" dirty="0">
                <a:cs typeface="楷体" panose="02010609060101010101" charset="-122"/>
              </a:rPr>
              <a:t>根据以下材料，回答</a:t>
            </a:r>
            <a:r>
              <a:rPr lang="en-US" altLang="zh-CN" sz="2000" dirty="0">
                <a:cs typeface="楷体" panose="02010609060101010101" charset="-122"/>
              </a:rPr>
              <a:t>34</a:t>
            </a:r>
            <a:r>
              <a:rPr lang="zh-CN" altLang="en-US" sz="2000" dirty="0">
                <a:cs typeface="楷体" panose="02010609060101010101" charset="-122"/>
              </a:rPr>
              <a:t>～</a:t>
            </a:r>
            <a:r>
              <a:rPr lang="en-US" altLang="zh-CN" sz="2000" dirty="0">
                <a:cs typeface="楷体" panose="02010609060101010101" charset="-122"/>
              </a:rPr>
              <a:t>35</a:t>
            </a:r>
            <a:r>
              <a:rPr lang="zh-CN" altLang="en-US" sz="2000" dirty="0">
                <a:cs typeface="楷体" panose="02010609060101010101" charset="-122"/>
              </a:rPr>
              <a:t>题。</a:t>
            </a:r>
            <a:endParaRPr lang="zh-CN" altLang="en-US" sz="2000" dirty="0">
              <a:cs typeface="楷体" panose="02010609060101010101" charset="-122"/>
            </a:endParaRPr>
          </a:p>
          <a:p>
            <a:pPr indent="0" fontAlgn="auto">
              <a:lnSpc>
                <a:spcPct val="120000"/>
              </a:lnSpc>
            </a:pPr>
            <a:r>
              <a:rPr lang="zh-CN" altLang="en-US" sz="2000" dirty="0">
                <a:cs typeface="楷体" panose="02010609060101010101" charset="-122"/>
              </a:rPr>
              <a:t>个人所得税起征点各地是否应该相同？对于这一论题，大家众说纷纭。</a:t>
            </a:r>
            <a:endParaRPr lang="zh-CN" altLang="en-US" sz="2000" dirty="0">
              <a:cs typeface="楷体" panose="02010609060101010101" charset="-122"/>
            </a:endParaRPr>
          </a:p>
          <a:p>
            <a:pPr indent="0" fontAlgn="auto">
              <a:lnSpc>
                <a:spcPct val="120000"/>
              </a:lnSpc>
            </a:pPr>
            <a:r>
              <a:rPr lang="zh-CN" altLang="en-US" sz="2000" dirty="0">
                <a:cs typeface="楷体" panose="02010609060101010101" charset="-122"/>
              </a:rPr>
              <a:t>评论员甲：全国统一的个人所得税起征点是否公平？对于东部和西部地区，收入水平不完全相同，我认为为了公平起见，个人所得税的起征点应该考虑到各地区收入水平的差距，而不应该是全国统一的。</a:t>
            </a:r>
            <a:endParaRPr lang="zh-CN" altLang="en-US" sz="2000" dirty="0">
              <a:cs typeface="楷体" panose="02010609060101010101" charset="-122"/>
            </a:endParaRPr>
          </a:p>
          <a:p>
            <a:pPr indent="0" fontAlgn="auto">
              <a:lnSpc>
                <a:spcPct val="120000"/>
              </a:lnSpc>
            </a:pPr>
            <a:r>
              <a:rPr lang="zh-CN" altLang="en-US" sz="2000" dirty="0">
                <a:cs typeface="楷体" panose="02010609060101010101" charset="-122"/>
              </a:rPr>
              <a:t>研究员乙：各个地区的平均收入水平不一样，如果按照行政区划区别对待，会产生一个问题。比如，如果东部地区抬高了个人所得税起征点，大家都会涌入这些地区，从而影响了劳动力要素流动的市场调节机制，因此。我认为起征点应该全国统一。</a:t>
            </a:r>
            <a:endParaRPr lang="zh-CN" altLang="en-US" sz="2000" dirty="0">
              <a:cs typeface="楷体" panose="02010609060101010101" charset="-122"/>
            </a:endParaRPr>
          </a:p>
          <a:p>
            <a:pPr indent="0" fontAlgn="auto">
              <a:lnSpc>
                <a:spcPct val="120000"/>
              </a:lnSpc>
            </a:pPr>
            <a:r>
              <a:rPr lang="zh-CN" altLang="en-US" sz="2000" dirty="0">
                <a:cs typeface="楷体" panose="02010609060101010101" charset="-122"/>
              </a:rPr>
              <a:t>网友丙：一个人去不去东部地区发展，肯定不光考虑个人所得税的起征点，还有其他一些条件，因此个人所得税起征点各地不同不会是人才流动的壁垒。征收个人所得税的一个非常重要的目的，就是调节收入分配。如果高收入地区高起征点，低收入地区低起征点，那么，调节分配的功能就会失效，甚至产生逆向调节的效果。</a:t>
            </a:r>
            <a:endParaRPr lang="zh-CN" altLang="en-US" sz="2000" dirty="0">
              <a:cs typeface="楷体" panose="02010609060101010101" charset="-122"/>
            </a:endParaRPr>
          </a:p>
          <a:p>
            <a:pPr indent="0" fontAlgn="auto">
              <a:lnSpc>
                <a:spcPct val="120000"/>
              </a:lnSpc>
            </a:pPr>
            <a:r>
              <a:rPr lang="en-US" altLang="zh-CN" sz="2000" dirty="0">
                <a:cs typeface="楷体" panose="02010609060101010101" charset="-122"/>
              </a:rPr>
              <a:t>34. </a:t>
            </a:r>
            <a:r>
              <a:rPr lang="zh-CN" altLang="en-US" sz="2000" dirty="0">
                <a:cs typeface="楷体" panose="02010609060101010101" charset="-122"/>
              </a:rPr>
              <a:t>以下哪项最为恰当地概括了甲和乙争论的焦点？</a:t>
            </a:r>
            <a:endParaRPr lang="zh-CN" altLang="en-US" sz="2000" dirty="0">
              <a:cs typeface="楷体" panose="02010609060101010101" charset="-122"/>
            </a:endParaRPr>
          </a:p>
          <a:p>
            <a:pPr indent="0" fontAlgn="auto">
              <a:lnSpc>
                <a:spcPct val="120000"/>
              </a:lnSpc>
            </a:pPr>
            <a:r>
              <a:rPr lang="en-US" altLang="zh-CN" sz="2000" dirty="0">
                <a:cs typeface="楷体" panose="02010609060101010101" charset="-122"/>
              </a:rPr>
              <a:t>A. </a:t>
            </a:r>
            <a:r>
              <a:rPr lang="zh-CN" altLang="en-US" sz="2000" dirty="0">
                <a:cs typeface="楷体" panose="02010609060101010101" charset="-122"/>
              </a:rPr>
              <a:t>个人所得税起征点调整是否弊大于利？</a:t>
            </a:r>
            <a:endParaRPr lang="zh-CN" altLang="en-US" sz="2000" dirty="0">
              <a:cs typeface="楷体" panose="02010609060101010101" charset="-122"/>
            </a:endParaRPr>
          </a:p>
          <a:p>
            <a:pPr indent="0" fontAlgn="auto">
              <a:lnSpc>
                <a:spcPct val="120000"/>
              </a:lnSpc>
            </a:pPr>
            <a:r>
              <a:rPr lang="en-US" altLang="zh-CN" sz="2000" dirty="0">
                <a:cs typeface="楷体" panose="02010609060101010101" charset="-122"/>
              </a:rPr>
              <a:t>B. </a:t>
            </a:r>
            <a:r>
              <a:rPr lang="zh-CN" altLang="en-US" sz="2000" dirty="0">
                <a:cs typeface="楷体" panose="02010609060101010101" charset="-122"/>
              </a:rPr>
              <a:t>确定个人所得税起征点的标准是单一的还是复合的？</a:t>
            </a:r>
            <a:endParaRPr lang="zh-CN" altLang="en-US" sz="2000" dirty="0">
              <a:cs typeface="楷体" panose="02010609060101010101" charset="-122"/>
            </a:endParaRPr>
          </a:p>
          <a:p>
            <a:pPr indent="0" fontAlgn="auto">
              <a:lnSpc>
                <a:spcPct val="120000"/>
              </a:lnSpc>
            </a:pPr>
            <a:r>
              <a:rPr lang="en-US" altLang="zh-CN" sz="2000" dirty="0">
                <a:cs typeface="楷体" panose="02010609060101010101" charset="-122"/>
              </a:rPr>
              <a:t>C. </a:t>
            </a:r>
            <a:r>
              <a:rPr lang="zh-CN" altLang="en-US" sz="2000" dirty="0">
                <a:cs typeface="楷体" panose="02010609060101010101" charset="-122"/>
              </a:rPr>
              <a:t>确定个人所得税起征点应该是公平优先还是效果优先？</a:t>
            </a:r>
            <a:endParaRPr lang="zh-CN" altLang="en-US" sz="2000" dirty="0">
              <a:cs typeface="楷体" panose="02010609060101010101" charset="-122"/>
            </a:endParaRPr>
          </a:p>
          <a:p>
            <a:pPr indent="0" fontAlgn="auto">
              <a:lnSpc>
                <a:spcPct val="120000"/>
              </a:lnSpc>
            </a:pPr>
            <a:r>
              <a:rPr lang="en-US" altLang="zh-CN" sz="2000" dirty="0">
                <a:cs typeface="楷体" panose="02010609060101010101" charset="-122"/>
              </a:rPr>
              <a:t>D. </a:t>
            </a:r>
            <a:r>
              <a:rPr lang="zh-CN" altLang="en-US" sz="2000" dirty="0">
                <a:cs typeface="楷体" panose="02010609060101010101" charset="-122"/>
              </a:rPr>
              <a:t>确定个人所得税起征点是否应该按照行政区划区别对待？</a:t>
            </a:r>
            <a:endParaRPr lang="zh-CN" altLang="en-US" sz="2000" dirty="0">
              <a:cs typeface="楷体" panose="02010609060101010101" charset="-122"/>
            </a:endParaRPr>
          </a:p>
          <a:p>
            <a:pPr indent="0" fontAlgn="auto">
              <a:lnSpc>
                <a:spcPct val="120000"/>
              </a:lnSpc>
            </a:pPr>
            <a:endParaRPr lang="zh-CN" altLang="en-US" sz="2000" dirty="0">
              <a:cs typeface="楷体" panose="02010609060101010101" charset="-122"/>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35</a:t>
            </a:r>
            <a:endParaRPr kumimoji="1" lang="en-US" altLang="zh-CN" sz="2800" b="1" dirty="0">
              <a:solidFill>
                <a:srgbClr val="FF653F"/>
              </a:solidFill>
            </a:endParaRPr>
          </a:p>
        </p:txBody>
      </p:sp>
      <p:sp>
        <p:nvSpPr>
          <p:cNvPr id="3" name="文本框 2"/>
          <p:cNvSpPr txBox="1"/>
          <p:nvPr/>
        </p:nvSpPr>
        <p:spPr>
          <a:xfrm>
            <a:off x="462915" y="857885"/>
            <a:ext cx="11460480" cy="5526405"/>
          </a:xfrm>
          <a:prstGeom prst="rect">
            <a:avLst/>
          </a:prstGeom>
          <a:noFill/>
        </p:spPr>
        <p:txBody>
          <a:bodyPr wrap="square" rtlCol="0" anchor="t">
            <a:noAutofit/>
          </a:bodyPr>
          <a:p>
            <a:pPr indent="0" fontAlgn="auto">
              <a:lnSpc>
                <a:spcPct val="120000"/>
              </a:lnSpc>
            </a:pPr>
            <a:r>
              <a:rPr lang="zh-CN" altLang="en-US" sz="2000" dirty="0">
                <a:cs typeface="楷体" panose="02010609060101010101" charset="-122"/>
              </a:rPr>
              <a:t>根据以下材料，回答</a:t>
            </a:r>
            <a:r>
              <a:rPr lang="en-US" altLang="zh-CN" sz="2000" dirty="0">
                <a:cs typeface="楷体" panose="02010609060101010101" charset="-122"/>
              </a:rPr>
              <a:t>34</a:t>
            </a:r>
            <a:r>
              <a:rPr lang="zh-CN" altLang="en-US" sz="2000" dirty="0">
                <a:cs typeface="楷体" panose="02010609060101010101" charset="-122"/>
              </a:rPr>
              <a:t>～</a:t>
            </a:r>
            <a:r>
              <a:rPr lang="en-US" altLang="zh-CN" sz="2000" dirty="0">
                <a:cs typeface="楷体" panose="02010609060101010101" charset="-122"/>
              </a:rPr>
              <a:t>35</a:t>
            </a:r>
            <a:r>
              <a:rPr lang="zh-CN" altLang="en-US" sz="2000" dirty="0">
                <a:cs typeface="楷体" panose="02010609060101010101" charset="-122"/>
              </a:rPr>
              <a:t>题。</a:t>
            </a:r>
            <a:endParaRPr lang="zh-CN" altLang="en-US" sz="2000" dirty="0">
              <a:cs typeface="楷体" panose="02010609060101010101" charset="-122"/>
            </a:endParaRPr>
          </a:p>
          <a:p>
            <a:pPr indent="0" fontAlgn="auto">
              <a:lnSpc>
                <a:spcPct val="120000"/>
              </a:lnSpc>
            </a:pPr>
            <a:r>
              <a:rPr lang="zh-CN" altLang="en-US" sz="2000" dirty="0">
                <a:cs typeface="楷体" panose="02010609060101010101" charset="-122"/>
              </a:rPr>
              <a:t>个人所得税起征点各地是否应该相同？对于这一论题，大家众说纷纭。</a:t>
            </a:r>
            <a:endParaRPr lang="zh-CN" altLang="en-US" sz="2000" dirty="0">
              <a:cs typeface="楷体" panose="02010609060101010101" charset="-122"/>
            </a:endParaRPr>
          </a:p>
          <a:p>
            <a:pPr indent="0" fontAlgn="auto">
              <a:lnSpc>
                <a:spcPct val="120000"/>
              </a:lnSpc>
            </a:pPr>
            <a:r>
              <a:rPr lang="zh-CN" altLang="en-US" sz="2000" dirty="0">
                <a:cs typeface="楷体" panose="02010609060101010101" charset="-122"/>
              </a:rPr>
              <a:t>评论员甲：全国统一的个人所得税起征点是否公平？对于东部和西部地区，收入水平不完全相同，我认为为了公平起见，个人所得税的起征点应该考虑到各地区收入水平的差距，而不应该是全国统一的。</a:t>
            </a:r>
            <a:endParaRPr lang="zh-CN" altLang="en-US" sz="2000" dirty="0">
              <a:cs typeface="楷体" panose="02010609060101010101" charset="-122"/>
            </a:endParaRPr>
          </a:p>
          <a:p>
            <a:pPr indent="0" fontAlgn="auto">
              <a:lnSpc>
                <a:spcPct val="120000"/>
              </a:lnSpc>
            </a:pPr>
            <a:r>
              <a:rPr lang="zh-CN" altLang="en-US" sz="2000" dirty="0">
                <a:cs typeface="楷体" panose="02010609060101010101" charset="-122"/>
              </a:rPr>
              <a:t>研究员乙：各个地区的平均收入水平不一样，如果按照行政区划区别对待，会产生一个问题。比如，如果东部地区抬高了个人所得税起征点，大家都会涌入这些地区，从而影响了劳动力要素流动的市场调节机制，因此。我认为起征点应该全国统一。</a:t>
            </a:r>
            <a:endParaRPr lang="zh-CN" altLang="en-US" sz="2000" dirty="0">
              <a:cs typeface="楷体" panose="02010609060101010101" charset="-122"/>
            </a:endParaRPr>
          </a:p>
          <a:p>
            <a:pPr indent="0" fontAlgn="auto">
              <a:lnSpc>
                <a:spcPct val="120000"/>
              </a:lnSpc>
            </a:pPr>
            <a:r>
              <a:rPr lang="zh-CN" altLang="en-US" sz="2000" dirty="0">
                <a:cs typeface="楷体" panose="02010609060101010101" charset="-122"/>
              </a:rPr>
              <a:t>网友丙：一个人去不去东部地区发展，肯定不光考虑个人所得税的起征点，还有其他一些条件，因此个人所得税起征点各地不同不会是人才流动的壁垒。征收个人所得税的一个非常重要的目的，就是调节收入分配。如果高收入地区高起征点，低收入地区低起征点，那么，调节分配的功能就会失效，甚至产生逆向调节的效果。</a:t>
            </a:r>
            <a:endParaRPr lang="zh-CN" altLang="en-US" sz="2000" dirty="0">
              <a:cs typeface="楷体" panose="02010609060101010101" charset="-122"/>
            </a:endParaRPr>
          </a:p>
          <a:p>
            <a:pPr indent="0" fontAlgn="auto">
              <a:lnSpc>
                <a:spcPct val="120000"/>
              </a:lnSpc>
            </a:pPr>
            <a:r>
              <a:rPr lang="en-US" altLang="zh-CN" sz="2000" dirty="0">
                <a:cs typeface="楷体" panose="02010609060101010101" charset="-122"/>
              </a:rPr>
              <a:t>35. </a:t>
            </a:r>
            <a:r>
              <a:rPr lang="zh-CN" altLang="en-US" sz="2000" dirty="0">
                <a:cs typeface="楷体" panose="02010609060101010101" charset="-122"/>
              </a:rPr>
              <a:t>对于丙的论证，下列评价最恰当的是：</a:t>
            </a:r>
            <a:endParaRPr lang="zh-CN" altLang="en-US" sz="2000" dirty="0">
              <a:cs typeface="楷体" panose="02010609060101010101" charset="-122"/>
            </a:endParaRPr>
          </a:p>
          <a:p>
            <a:pPr indent="0" fontAlgn="auto">
              <a:lnSpc>
                <a:spcPct val="120000"/>
              </a:lnSpc>
            </a:pPr>
            <a:r>
              <a:rPr lang="en-US" altLang="zh-CN" sz="2000" dirty="0">
                <a:cs typeface="楷体" panose="02010609060101010101" charset="-122"/>
              </a:rPr>
              <a:t>A. </a:t>
            </a:r>
            <a:r>
              <a:rPr lang="zh-CN" altLang="en-US" sz="2000" dirty="0">
                <a:cs typeface="楷体" panose="02010609060101010101" charset="-122"/>
              </a:rPr>
              <a:t>肯定了甲的论据，且支持了甲的结论</a:t>
            </a:r>
            <a:endParaRPr lang="zh-CN" altLang="en-US" sz="2000" dirty="0">
              <a:cs typeface="楷体" panose="02010609060101010101" charset="-122"/>
            </a:endParaRPr>
          </a:p>
          <a:p>
            <a:pPr indent="0" fontAlgn="auto">
              <a:lnSpc>
                <a:spcPct val="120000"/>
              </a:lnSpc>
            </a:pPr>
            <a:r>
              <a:rPr lang="en-US" altLang="zh-CN" sz="2000" dirty="0">
                <a:cs typeface="楷体" panose="02010609060101010101" charset="-122"/>
              </a:rPr>
              <a:t>B. </a:t>
            </a:r>
            <a:r>
              <a:rPr lang="zh-CN" altLang="en-US" sz="2000" dirty="0">
                <a:cs typeface="楷体" panose="02010609060101010101" charset="-122"/>
              </a:rPr>
              <a:t>肯定了甲的论据，但从一个新的角度，质疑了甲的结论</a:t>
            </a:r>
            <a:endParaRPr lang="zh-CN" altLang="en-US" sz="2000" dirty="0">
              <a:cs typeface="楷体" panose="02010609060101010101" charset="-122"/>
            </a:endParaRPr>
          </a:p>
          <a:p>
            <a:pPr indent="0" fontAlgn="auto">
              <a:lnSpc>
                <a:spcPct val="120000"/>
              </a:lnSpc>
            </a:pPr>
            <a:r>
              <a:rPr lang="en-US" altLang="zh-CN" sz="2000" dirty="0">
                <a:cs typeface="楷体" panose="02010609060101010101" charset="-122"/>
              </a:rPr>
              <a:t>C. </a:t>
            </a:r>
            <a:r>
              <a:rPr lang="zh-CN" altLang="en-US" sz="2000" dirty="0">
                <a:cs typeface="楷体" panose="02010609060101010101" charset="-122"/>
              </a:rPr>
              <a:t>肯定了乙的论据，且支持了乙的结论</a:t>
            </a:r>
            <a:endParaRPr lang="zh-CN" altLang="en-US" sz="2000" dirty="0">
              <a:cs typeface="楷体" panose="02010609060101010101" charset="-122"/>
            </a:endParaRPr>
          </a:p>
          <a:p>
            <a:pPr indent="0" fontAlgn="auto">
              <a:lnSpc>
                <a:spcPct val="120000"/>
              </a:lnSpc>
            </a:pPr>
            <a:r>
              <a:rPr lang="en-US" altLang="zh-CN" sz="2000" dirty="0">
                <a:cs typeface="楷体" panose="02010609060101010101" charset="-122"/>
              </a:rPr>
              <a:t>D. </a:t>
            </a:r>
            <a:r>
              <a:rPr lang="zh-CN" altLang="en-US" sz="2000" dirty="0">
                <a:cs typeface="楷体" panose="02010609060101010101" charset="-122"/>
              </a:rPr>
              <a:t>否定了乙的论据，但提出了一个新的理由，支持了乙的结论</a:t>
            </a:r>
            <a:endParaRPr lang="zh-CN" altLang="en-US" sz="2000" dirty="0">
              <a:cs typeface="楷体" panose="02010609060101010101"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ctrTitle" idx="4294967295"/>
            <p:custDataLst>
              <p:tags r:id="rId1"/>
            </p:custDataLst>
          </p:nvPr>
        </p:nvSpPr>
        <p:spPr>
          <a:xfrm>
            <a:off x="6130925" y="1378585"/>
            <a:ext cx="5257800" cy="2005965"/>
          </a:xfrm>
        </p:spPr>
        <p:txBody>
          <a:bodyPr wrap="square">
            <a:normAutofit/>
          </a:bodyPr>
          <a:lstStyle/>
          <a:p>
            <a:pPr algn="ctr"/>
            <a:r>
              <a:rPr lang="en-US" altLang="zh-CN" sz="6600">
                <a:latin typeface="楷体" panose="02010609060101010101" charset="-122"/>
                <a:ea typeface="楷体" panose="02010609060101010101" charset="-122"/>
                <a:cs typeface="楷体" panose="02010609060101010101" charset="-122"/>
              </a:rPr>
              <a:t> </a:t>
            </a:r>
            <a:r>
              <a:rPr lang="zh-CN" altLang="en-US" sz="6600">
                <a:latin typeface="楷体" panose="02010609060101010101" charset="-122"/>
                <a:ea typeface="楷体" panose="02010609060101010101" charset="-122"/>
                <a:cs typeface="楷体" panose="02010609060101010101" charset="-122"/>
              </a:rPr>
              <a:t>感</a:t>
            </a:r>
            <a:r>
              <a:rPr lang="en-US" altLang="zh-CN" sz="6600">
                <a:latin typeface="楷体" panose="02010609060101010101" charset="-122"/>
                <a:ea typeface="楷体" panose="02010609060101010101" charset="-122"/>
                <a:cs typeface="楷体" panose="02010609060101010101" charset="-122"/>
              </a:rPr>
              <a:t> </a:t>
            </a:r>
            <a:r>
              <a:rPr lang="zh-CN" altLang="en-US" sz="6600">
                <a:latin typeface="楷体" panose="02010609060101010101" charset="-122"/>
                <a:ea typeface="楷体" panose="02010609060101010101" charset="-122"/>
                <a:cs typeface="楷体" panose="02010609060101010101" charset="-122"/>
              </a:rPr>
              <a:t>谢</a:t>
            </a:r>
            <a:r>
              <a:rPr lang="en-US" altLang="zh-CN" sz="6600">
                <a:latin typeface="楷体" panose="02010609060101010101" charset="-122"/>
                <a:ea typeface="楷体" panose="02010609060101010101" charset="-122"/>
                <a:cs typeface="楷体" panose="02010609060101010101" charset="-122"/>
              </a:rPr>
              <a:t> </a:t>
            </a:r>
            <a:r>
              <a:rPr lang="zh-CN" altLang="en-US" sz="6600">
                <a:latin typeface="楷体" panose="02010609060101010101" charset="-122"/>
                <a:ea typeface="楷体" panose="02010609060101010101" charset="-122"/>
                <a:cs typeface="楷体" panose="02010609060101010101" charset="-122"/>
              </a:rPr>
              <a:t>观</a:t>
            </a:r>
            <a:r>
              <a:rPr lang="en-US" altLang="zh-CN" sz="6600">
                <a:latin typeface="楷体" panose="02010609060101010101" charset="-122"/>
                <a:ea typeface="楷体" panose="02010609060101010101" charset="-122"/>
                <a:cs typeface="楷体" panose="02010609060101010101" charset="-122"/>
              </a:rPr>
              <a:t> </a:t>
            </a:r>
            <a:r>
              <a:rPr lang="zh-CN" altLang="en-US" sz="6600">
                <a:latin typeface="楷体" panose="02010609060101010101" charset="-122"/>
                <a:ea typeface="楷体" panose="02010609060101010101" charset="-122"/>
                <a:cs typeface="楷体" panose="02010609060101010101" charset="-122"/>
              </a:rPr>
              <a:t>看！</a:t>
            </a:r>
            <a:endParaRPr lang="zh-CN" altLang="en-US" sz="6600">
              <a:latin typeface="楷体" panose="02010609060101010101" charset="-122"/>
              <a:ea typeface="楷体" panose="02010609060101010101" charset="-122"/>
              <a:cs typeface="楷体" panose="02010609060101010101" charset="-122"/>
            </a:endParaRPr>
          </a:p>
        </p:txBody>
      </p:sp>
      <p:sp>
        <p:nvSpPr>
          <p:cNvPr id="9" name="文本占位符 5"/>
          <p:cNvSpPr/>
          <p:nvPr/>
        </p:nvSpPr>
        <p:spPr>
          <a:xfrm>
            <a:off x="6504830" y="3632915"/>
            <a:ext cx="4510800" cy="626400"/>
          </a:xfrm>
          <a:prstGeom prst="roundRect">
            <a:avLst>
              <a:gd name="adj" fmla="val 50000"/>
            </a:avLst>
          </a:prstGeom>
          <a:solidFill>
            <a:schemeClr val="accent5">
              <a:lumMod val="60000"/>
              <a:lumOff val="40000"/>
            </a:schemeClr>
          </a:solidFill>
        </p:spPr>
        <p:txBody>
          <a:bodyPr vert="horz" wrap="square" lIns="90000" tIns="46800" rIns="90000" bIns="46800" rtlCol="0" anchor="ctr">
            <a:noAutofit/>
          </a:bodyPr>
          <a:lstStyle>
            <a:lvl1pPr marL="0" indent="0" algn="ctr" defTabSz="914400" rtl="0" eaLnBrk="1" latinLnBrk="0" hangingPunct="1">
              <a:lnSpc>
                <a:spcPct val="100000"/>
              </a:lnSpc>
              <a:spcBef>
                <a:spcPts val="1000"/>
              </a:spcBef>
              <a:buFont typeface="Arial" panose="020B0604020202020204" pitchFamily="34" charset="0"/>
              <a:buNone/>
              <a:defRPr sz="1800" b="1" kern="1200">
                <a:solidFill>
                  <a:srgbClr val="FFFFFF"/>
                </a:solidFill>
                <a:latin typeface="+mn-ea"/>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75000"/>
                    <a:lumOff val="2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800">
                <a:latin typeface="楷体" panose="02010609060101010101" charset="-122"/>
                <a:ea typeface="楷体" panose="02010609060101010101" charset="-122"/>
                <a:cs typeface="楷体" panose="02010609060101010101" charset="-122"/>
              </a:rPr>
              <a:t>来前图</a:t>
            </a:r>
            <a:r>
              <a:rPr lang="zh-CN" altLang="en-US" sz="2800">
                <a:latin typeface="楷体" panose="02010609060101010101" charset="-122"/>
                <a:ea typeface="楷体" panose="02010609060101010101" charset="-122"/>
                <a:cs typeface="楷体" panose="02010609060101010101" charset="-122"/>
              </a:rPr>
              <a:t>有前途</a:t>
            </a:r>
            <a:endParaRPr lang="zh-CN" altLang="en-US" sz="2800">
              <a:latin typeface="楷体" panose="02010609060101010101" charset="-122"/>
              <a:ea typeface="楷体" panose="02010609060101010101" charset="-122"/>
              <a:cs typeface="楷体" panose="02010609060101010101" charset="-122"/>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BEAUTIFY_FLAG" val="#wm#"/>
  <p:tag name="KSO_WM_UNIT_TYPE" val="i"/>
  <p:tag name="KSO_WM_UNIT_INDEX" val="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
  <p:tag name="KSO_WM_UNIT_LAYERLEVEL" val="1"/>
  <p:tag name="KSO_WM_TAG_VERSION" val="3.0"/>
  <p:tag name="KSO_WM_BEAUTIFY_FLAG" val="#wm#"/>
  <p:tag name="KSO_WM_UNIT_TYPE" val="i"/>
  <p:tag name="KSO_WM_UNIT_INDEX" val="2"/>
  <p:tag name="picid" val="{c96c12b9-b486-4b86-8c10-63518c701593}"/>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2"/>
  <p:tag name="KSO_WM_UNIT_LAYERLEVEL" val="1"/>
  <p:tag name="KSO_WM_TAG_VERSION" val="3.0"/>
  <p:tag name="KSO_WM_BEAUTIFY_FLAG" val="#wm#"/>
  <p:tag name="KSO_WM_UNIT_TYPE" val="i"/>
  <p:tag name="KSO_WM_UNIT_INDEX" val="2"/>
  <p:tag name="picid" val="{7e393ffb-6772-49ca-aca6-f8feb68494c3}"/>
</p:tagLst>
</file>

<file path=ppt/tags/tag4.xml><?xml version="1.0" encoding="utf-8"?>
<p:tagLst xmlns:p="http://schemas.openxmlformats.org/presentationml/2006/main">
  <p:tag name="picid" val="{25afab71-fec0-411c-8ded-60cac90c40a9}"/>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BEAUTIFY_FLAG" val="#wm#"/>
  <p:tag name="KSO_WM_UNIT_TYPE" val="i"/>
  <p:tag name="KSO_WM_UNIT_INDEX" val="1"/>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BEAUTIFY_FLAG" val="#wm#"/>
  <p:tag name="KSO_WM_UNIT_TYPE" val="i"/>
  <p:tag name="KSO_WM_UNIT_INDEX" val="2"/>
  <p:tag name="picid" val="{a8624358-6c04-465f-adb1-ea6dc7b20afa}"/>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BEAUTIFY_FLAG" val="#wm#"/>
  <p:tag name="KSO_WM_UNIT_TYPE" val="i"/>
  <p:tag name="KSO_WM_UNIT_INDEX" val="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2"/>
  <p:tag name="KSO_WM_UNIT_LAYERLEVEL" val="1"/>
  <p:tag name="KSO_WM_TAG_VERSION" val="3.0"/>
  <p:tag name="KSO_WM_BEAUTIFY_FLAG" val="#wm#"/>
  <p:tag name="KSO_WM_UNIT_TYPE" val="i"/>
  <p:tag name="KSO_WM_UNIT_INDEX" val="2"/>
  <p:tag name="picid" val="{7e393ffb-6772-49ca-aca6-f8feb68494c3}"/>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3"/>
  <p:tag name="KSO_WM_UNIT_LAYERLEVEL" val="1"/>
  <p:tag name="KSO_WM_TAG_VERSION" val="3.0"/>
  <p:tag name="KSO_WM_BEAUTIFY_FLAG" val="#wm#"/>
  <p:tag name="KSO_WM_UNIT_TYPE" val="i"/>
  <p:tag name="KSO_WM_UNIT_INDEX" val="3"/>
  <p:tag name="picid" val="{3da80b80-4c56-422b-a71c-8645a7268ddf}"/>
</p:tagLst>
</file>

<file path=ppt/tags/tag14.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1288"/>
  <p:tag name="KSO_WM_TEMPLATE_THUMBS_INDEX" val="1、9"/>
</p:tagLst>
</file>

<file path=ppt/tags/tag15.xml><?xml version="1.0" encoding="utf-8"?>
<p:tagLst xmlns:p="http://schemas.openxmlformats.org/presentationml/2006/main">
  <p:tag name="picid" val="{25afab71-fec0-411c-8ded-60cac90c40a9}"/>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BEAUTIFY_FLAG" val="#wm#"/>
  <p:tag name="KSO_WM_UNIT_TYPE" val="i"/>
  <p:tag name="KSO_WM_UNIT_INDEX" val="1"/>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BEAUTIFY_FLAG" val="#wm#"/>
  <p:tag name="KSO_WM_UNIT_TYPE" val="i"/>
  <p:tag name="KSO_WM_UNIT_INDEX" val="2"/>
  <p:tag name="picid" val="{a8624358-6c04-465f-adb1-ea6dc7b20afa}"/>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BEAUTIFY_FLAG" val="#wm#"/>
  <p:tag name="KSO_WM_UNIT_TYPE" val="i"/>
  <p:tag name="KSO_WM_UNIT_INDEX" val="1"/>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2"/>
  <p:tag name="KSO_WM_UNIT_LAYERLEVEL" val="1"/>
  <p:tag name="KSO_WM_TAG_VERSION" val="3.0"/>
  <p:tag name="KSO_WM_BEAUTIFY_FLAG" val="#wm#"/>
  <p:tag name="KSO_WM_UNIT_TYPE" val="i"/>
  <p:tag name="KSO_WM_UNIT_INDEX" val="2"/>
</p:tagLst>
</file>

<file path=ppt/tags/tag20.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1288"/>
  <p:tag name="KSO_WM_TEMPLATE_THUMBS_INDEX" val="1、9"/>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
  <p:tag name="KSO_WM_UNIT_LAYERLEVEL" val="1"/>
  <p:tag name="KSO_WM_TAG_VERSION" val="3.0"/>
  <p:tag name="KSO_WM_BEAUTIFY_FLAG" val="#wm#"/>
  <p:tag name="KSO_WM_UNIT_TYPE" val="i"/>
  <p:tag name="KSO_WM_UNIT_INDEX" val="1"/>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
  <p:tag name="KSO_WM_UNIT_LAYERLEVEL" val="1"/>
  <p:tag name="KSO_WM_TAG_VERSION" val="3.0"/>
  <p:tag name="KSO_WM_BEAUTIFY_FLAG" val="#wm#"/>
  <p:tag name="KSO_WM_UNIT_TYPE" val="i"/>
  <p:tag name="KSO_WM_UNIT_INDEX" val="2"/>
  <p:tag name="picid" val="{5ab9f478-1d52-4636-9915-324494dc6b72}"/>
</p:tagLst>
</file>

<file path=ppt/tags/tag23.xml><?xml version="1.0" encoding="utf-8"?>
<p:tagLst xmlns:p="http://schemas.openxmlformats.org/presentationml/2006/main">
  <p:tag name="picid" val="{25afab71-fec0-411c-8ded-60cac90c40a9}"/>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BEAUTIFY_FLAG" val="#wm#"/>
  <p:tag name="KSO_WM_UNIT_TYPE" val="i"/>
  <p:tag name="KSO_WM_UNIT_INDEX" val="1"/>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2"/>
  <p:tag name="KSO_WM_UNIT_LAYERLEVEL" val="1"/>
  <p:tag name="KSO_WM_TAG_VERSION" val="3.0"/>
  <p:tag name="KSO_WM_BEAUTIFY_FLAG" val="#wm#"/>
  <p:tag name="KSO_WM_UNIT_TYPE" val="i"/>
  <p:tag name="KSO_WM_UNIT_INDEX" val="2"/>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3"/>
  <p:tag name="KSO_WM_UNIT_LAYERLEVEL" val="1"/>
  <p:tag name="KSO_WM_TAG_VERSION" val="3.0"/>
  <p:tag name="KSO_WM_BEAUTIFY_FLAG" val="#wm#"/>
  <p:tag name="KSO_WM_UNIT_TYPE" val="i"/>
  <p:tag name="KSO_WM_UNIT_INDEX" val="3"/>
  <p:tag name="picid" val="{4ff12c0f-5a32-4df5-91dc-35ac7ad6bcc3}"/>
</p:tagLst>
</file>

<file path=ppt/tags/tag27.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1288"/>
  <p:tag name="KSO_WM_TEMPLATE_THUMBS_INDEX" val="1、9"/>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BEAUTIFY_FLAG" val="#wm#"/>
  <p:tag name="KSO_WM_UNIT_TYPE" val="i"/>
  <p:tag name="KSO_WM_UNIT_INDEX" val="1"/>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
  <p:tag name="KSO_WM_UNIT_LAYERLEVEL" val="1"/>
  <p:tag name="KSO_WM_TAG_VERSION" val="3.0"/>
  <p:tag name="KSO_WM_BEAUTIFY_FLAG" val="#wm#"/>
  <p:tag name="KSO_WM_UNIT_TYPE" val="i"/>
  <p:tag name="KSO_WM_UNIT_INDEX" val="1"/>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2"/>
  <p:tag name="KSO_WM_UNIT_LAYERLEVEL" val="1"/>
  <p:tag name="KSO_WM_TAG_VERSION" val="3.0"/>
  <p:tag name="KSO_WM_BEAUTIFY_FLAG" val="#wm#"/>
  <p:tag name="KSO_WM_UNIT_TYPE" val="i"/>
  <p:tag name="KSO_WM_UNIT_INDEX" val="2"/>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3"/>
  <p:tag name="KSO_WM_UNIT_LAYERLEVEL" val="1"/>
  <p:tag name="KSO_WM_TAG_VERSION" val="3.0"/>
  <p:tag name="KSO_WM_BEAUTIFY_FLAG" val="#wm#"/>
  <p:tag name="KSO_WM_UNIT_TYPE" val="i"/>
  <p:tag name="KSO_WM_UNIT_INDEX" val="3"/>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4"/>
  <p:tag name="KSO_WM_UNIT_LAYERLEVEL" val="1"/>
  <p:tag name="KSO_WM_TAG_VERSION" val="3.0"/>
  <p:tag name="KSO_WM_BEAUTIFY_FLAG" val="#wm#"/>
  <p:tag name="KSO_WM_UNIT_TYPE" val="i"/>
  <p:tag name="KSO_WM_UNIT_INDEX" val="4"/>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a*1"/>
  <p:tag name="KSO_WM_UNIT_LAYERLEVEL" val="1"/>
  <p:tag name="KSO_WM_TAG_VERSION" val="3.0"/>
  <p:tag name="KSO_WM_BEAUTIFY_FLAG" val="#wm#"/>
  <p:tag name="KSO_WM_UNIT_ISCONTENTSTITLE" val="1"/>
  <p:tag name="KSO_WM_UNIT_ISNUMDGMTITLE" val="0"/>
  <p:tag name="KSO_WM_UNIT_PRESET_TEXT" val="标题"/>
  <p:tag name="KSO_WM_UNIT_NOCLEAR" val="0"/>
  <p:tag name="KSO_WM_UNIT_VALUE" val="3"/>
  <p:tag name="KSO_WM_UNIT_TYPE" val="a"/>
  <p:tag name="KSO_WM_UNIT_INDEX" val="1"/>
</p:tagLst>
</file>

<file path=ppt/tags/tag34.xml><?xml version="1.0" encoding="utf-8"?>
<p:tagLst xmlns:p="http://schemas.openxmlformats.org/presentationml/2006/main">
  <p:tag name="picid" val="{25afab71-fec0-411c-8ded-60cac90c40a9}"/>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3297"/>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第二级&#10;第三级&#10;第四级&#10;第五级"/>
  <p:tag name="KSO_WM_UNIT_NOCLEAR" val="0"/>
  <p:tag name="KSO_WM_UNIT_TYPE" val="f"/>
  <p:tag name="KSO_WM_UNIT_INDEX" val="1"/>
  <p:tag name="KSO_WM_TEMPLATE_CATEGORY" val="custom"/>
  <p:tag name="KSO_WM_TEMPLATE_INDEX" val="20233297"/>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BEAUTIFY_FLAG" val="#wm#"/>
  <p:tag name="KSO_WM_UNIT_TYPE" val="i"/>
  <p:tag name="KSO_WM_UNIT_INDEX" val="1"/>
</p:tagLst>
</file>

<file path=ppt/tags/tag41.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3297"/>
  <p:tag name="KSO_WM_TEMPLATE_THUMBS_INDEX" val="1、9"/>
</p:tagLst>
</file>

<file path=ppt/tags/tag42.xml><?xml version="1.0" encoding="utf-8"?>
<p:tagLst xmlns:p="http://schemas.openxmlformats.org/presentationml/2006/main">
  <p:tag name="KSO_WM_UNIT_INDEX" val="1"/>
  <p:tag name="KSO_WM_UNIT_SUBTYPE" val=""/>
  <p:tag name="KSO_WM_UNIT_PRESET_TEXT" val="单击添加文档标题"/>
  <p:tag name="KSO_WM_UNIT_ID" val="custom_1*a*1"/>
  <p:tag name="KSO_WM_BEAUTIFY_FLAG" val="#wm#"/>
  <p:tag name="KSO_WM_TAG_VERSION" val="3.0"/>
  <p:tag name="KSO_WM_UNIT_LAYERLEVEL" val="1"/>
  <p:tag name="KSO_WM_TEMPLATE_CATEGORY" val="custom"/>
  <p:tag name="KSO_WM_TEMPLATE_USER_THEME" val="1"/>
  <p:tag name="KSO_WM_UNIT_TYPE_DROP" val="a"/>
</p:tagLst>
</file>

<file path=ppt/tags/tag43.xml><?xml version="1.0" encoding="utf-8"?>
<p:tagLst xmlns:p="http://schemas.openxmlformats.org/presentationml/2006/main">
  <p:tag name="KSO_WM_UNIT_INDEX" val="1"/>
  <p:tag name="KSO_WM_UNIT_SUBTYPE" val=""/>
  <p:tag name="KSO_WM_UNIT_PRESET_TEXT" val="单击此处添加副标题内容"/>
  <p:tag name="KSO_WM_UNIT_ID" val="custom_1*b*1"/>
  <p:tag name="KSO_WM_BEAUTIFY_FLAG" val="#wm#"/>
  <p:tag name="KSO_WM_TAG_VERSION" val="3.0"/>
  <p:tag name="KSO_WM_UNIT_LAYERLEVEL" val="1"/>
  <p:tag name="KSO_WM_TEMPLATE_CATEGORY" val="custom"/>
  <p:tag name="KSO_WM_TEMPLATE_USER_THEME" val="1"/>
  <p:tag name="KSO_WM_UNIT_TYPE_DROP" val="b"/>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1288_9*a*1"/>
  <p:tag name="KSO_WM_TEMPLATE_CATEGORY" val="custom"/>
  <p:tag name="KSO_WM_TEMPLATE_INDEX" val="20231288"/>
  <p:tag name="KSO_WM_UNIT_LAYERLEVEL" val="1"/>
  <p:tag name="KSO_WM_TAG_VERSION" val="3.0"/>
  <p:tag name="KSO_WM_BEAUTIFY_FLAG" val="#wm#"/>
  <p:tag name="KSO_WM_UNIT_ISCONTENTSTITLE" val="0"/>
  <p:tag name="KSO_WM_UNIT_ISNUMDGMTITLE" val="0"/>
  <p:tag name="KSO_WM_UNIT_NOCLEAR" val="1"/>
  <p:tag name="KSO_WM_UNIT_TYPE" val="a"/>
  <p:tag name="KSO_WM_UNIT_INDEX" val="1"/>
</p:tagLst>
</file>

<file path=ppt/tags/tag45.xml><?xml version="1.0" encoding="utf-8"?>
<p:tagLst xmlns:p="http://schemas.openxmlformats.org/presentationml/2006/main">
  <p:tag name="KSO_WM_SLIDE_ID" val="custom20231288_9"/>
  <p:tag name="KSO_WM_TEMPLATE_SUBCATEGORY" val="29"/>
  <p:tag name="KSO_WM_TEMPLATE_MASTER_TYPE" val="0"/>
  <p:tag name="KSO_WM_TEMPLATE_COLOR_TYPE" val="0"/>
  <p:tag name="KSO_WM_SLIDE_ITEM_CNT" val="0"/>
  <p:tag name="KSO_WM_SLIDE_INDEX" val="9"/>
  <p:tag name="KSO_WM_TAG_VERSION" val="3.0"/>
  <p:tag name="KSO_WM_BEAUTIFY_FLAG" val="#wm#"/>
  <p:tag name="KSO_WM_TEMPLATE_CATEGORY" val="custom"/>
  <p:tag name="KSO_WM_TEMPLATE_INDEX" val="20231288"/>
  <p:tag name="KSO_WM_SLIDE_TYPE" val="endPage"/>
  <p:tag name="KSO_WM_SLIDE_SUBTYPE" val="pureTxt"/>
  <p:tag name="KSO_WM_SLIDE_LAYOUT" val="a_f"/>
  <p:tag name="KSO_WM_SLIDE_LAYOUT_CNT" val="1_1"/>
  <p:tag name="resource_record_key" val="{&quot;13&quot;:[4705195,19965465,19971662],&quot;65&quot;:[20231288]}"/>
</p:tagLst>
</file>

<file path=ppt/tags/tag46.xml><?xml version="1.0" encoding="utf-8"?>
<p:tagLst xmlns:p="http://schemas.openxmlformats.org/presentationml/2006/main">
  <p:tag name="resource_record_key" val="{&quot;13&quot;:[20481828,4364903,4364924],&quot;65&quot;:[20205081]}"/>
</p:tagLst>
</file>

<file path=ppt/theme/theme1.xml><?xml version="1.0" encoding="utf-8"?>
<a:theme xmlns:a="http://schemas.openxmlformats.org/drawingml/2006/main" name="5_Office 主题​​">
  <a:themeElements>
    <a:clrScheme name="自定义 185">
      <a:dk1>
        <a:srgbClr val="000000"/>
      </a:dk1>
      <a:lt1>
        <a:srgbClr val="FFFFFF"/>
      </a:lt1>
      <a:dk2>
        <a:srgbClr val="4E0054"/>
      </a:dk2>
      <a:lt2>
        <a:srgbClr val="FCEBFF"/>
      </a:lt2>
      <a:accent1>
        <a:srgbClr val="6E58F6"/>
      </a:accent1>
      <a:accent2>
        <a:srgbClr val="4530E1"/>
      </a:accent2>
      <a:accent3>
        <a:srgbClr val="A749E1"/>
      </a:accent3>
      <a:accent4>
        <a:srgbClr val="3B67FF"/>
      </a:accent4>
      <a:accent5>
        <a:srgbClr val="1EA2ED"/>
      </a:accent5>
      <a:accent6>
        <a:srgbClr val="63CC7A"/>
      </a:accent6>
      <a:hlink>
        <a:srgbClr val="304FFE"/>
      </a:hlink>
      <a:folHlink>
        <a:srgbClr val="492067"/>
      </a:folHlink>
    </a:clrScheme>
    <a:fontScheme name="自定义 23">
      <a:majorFont>
        <a:latin typeface="楷体"/>
        <a:ea typeface="楷体"/>
        <a:cs typeface=""/>
      </a:majorFont>
      <a:minorFont>
        <a:latin typeface="楷体"/>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6_Office 主题​​">
  <a:themeElements>
    <a:clrScheme name="自定义 185">
      <a:dk1>
        <a:srgbClr val="000000"/>
      </a:dk1>
      <a:lt1>
        <a:srgbClr val="FFFFFF"/>
      </a:lt1>
      <a:dk2>
        <a:srgbClr val="4E0054"/>
      </a:dk2>
      <a:lt2>
        <a:srgbClr val="FCEBFF"/>
      </a:lt2>
      <a:accent1>
        <a:srgbClr val="6E58F6"/>
      </a:accent1>
      <a:accent2>
        <a:srgbClr val="4530E1"/>
      </a:accent2>
      <a:accent3>
        <a:srgbClr val="A749E1"/>
      </a:accent3>
      <a:accent4>
        <a:srgbClr val="3B67FF"/>
      </a:accent4>
      <a:accent5>
        <a:srgbClr val="1EA2ED"/>
      </a:accent5>
      <a:accent6>
        <a:srgbClr val="63CC7A"/>
      </a:accent6>
      <a:hlink>
        <a:srgbClr val="304FFE"/>
      </a:hlink>
      <a:folHlink>
        <a:srgbClr val="492067"/>
      </a:folHlink>
    </a:clrScheme>
    <a:fontScheme name="自定义 23">
      <a:majorFont>
        <a:latin typeface="楷体"/>
        <a:ea typeface="楷体"/>
        <a:cs typeface=""/>
      </a:majorFont>
      <a:minorFont>
        <a:latin typeface="楷体"/>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9_Office 主题​​">
  <a:themeElements>
    <a:clrScheme name="自定义 185">
      <a:dk1>
        <a:srgbClr val="000000"/>
      </a:dk1>
      <a:lt1>
        <a:srgbClr val="FFFFFF"/>
      </a:lt1>
      <a:dk2>
        <a:srgbClr val="4E0054"/>
      </a:dk2>
      <a:lt2>
        <a:srgbClr val="FCEBFF"/>
      </a:lt2>
      <a:accent1>
        <a:srgbClr val="6E58F6"/>
      </a:accent1>
      <a:accent2>
        <a:srgbClr val="4530E1"/>
      </a:accent2>
      <a:accent3>
        <a:srgbClr val="A749E1"/>
      </a:accent3>
      <a:accent4>
        <a:srgbClr val="3B67FF"/>
      </a:accent4>
      <a:accent5>
        <a:srgbClr val="1EA2ED"/>
      </a:accent5>
      <a:accent6>
        <a:srgbClr val="63CC7A"/>
      </a:accent6>
      <a:hlink>
        <a:srgbClr val="304FFE"/>
      </a:hlink>
      <a:folHlink>
        <a:srgbClr val="492067"/>
      </a:folHlink>
    </a:clrScheme>
    <a:fontScheme name="自定义 23">
      <a:majorFont>
        <a:latin typeface="楷体"/>
        <a:ea typeface="楷体"/>
        <a:cs typeface=""/>
      </a:majorFont>
      <a:minorFont>
        <a:latin typeface="楷体"/>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图形职场办公简约风">
  <a:themeElements>
    <a:clrScheme name="蓝">
      <a:dk1>
        <a:srgbClr val="000000"/>
      </a:dk1>
      <a:lt1>
        <a:srgbClr val="FFFFFF"/>
      </a:lt1>
      <a:dk2>
        <a:srgbClr val="001548"/>
      </a:dk2>
      <a:lt2>
        <a:srgbClr val="F8FAFE"/>
      </a:lt2>
      <a:accent1>
        <a:srgbClr val="88ACF1"/>
      </a:accent1>
      <a:accent2>
        <a:srgbClr val="6F6CE6"/>
      </a:accent2>
      <a:accent3>
        <a:srgbClr val="6CC6E6"/>
      </a:accent3>
      <a:accent4>
        <a:srgbClr val="6CE6D0"/>
      </a:accent4>
      <a:accent5>
        <a:srgbClr val="187CB1"/>
      </a:accent5>
      <a:accent6>
        <a:srgbClr val="3B56F1"/>
      </a:accent6>
      <a:hlink>
        <a:srgbClr val="658BD5"/>
      </a:hlink>
      <a:folHlink>
        <a:srgbClr val="A16AA5"/>
      </a:folHlink>
    </a:clrScheme>
    <a:fontScheme name="Office Classic 2">
      <a:majorFont>
        <a:latin typeface="楷体"/>
        <a:ea typeface=""/>
        <a:cs typeface=""/>
        <a:font script="Jpan" typeface="ＭＳ Ｐゴシック"/>
        <a:font script="Hang" typeface="굴림"/>
        <a:font script="Hans" typeface="楷体"/>
        <a:font script="Hant" typeface="微軟正黑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굴림"/>
        <a:font script="Hans" typeface="楷体"/>
        <a:font script="Hant" typeface="微軟正黑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7678</Words>
  <Application>WPS 演示</Application>
  <PresentationFormat>宽屏</PresentationFormat>
  <Paragraphs>349</Paragraphs>
  <Slides>37</Slides>
  <Notes>4</Notes>
  <HiddenSlides>0</HiddenSlides>
  <MMClips>0</MMClips>
  <ScaleCrop>false</ScaleCrop>
  <HeadingPairs>
    <vt:vector size="6" baseType="variant">
      <vt:variant>
        <vt:lpstr>已用的字体</vt:lpstr>
      </vt:variant>
      <vt:variant>
        <vt:i4>7</vt:i4>
      </vt:variant>
      <vt:variant>
        <vt:lpstr>主题</vt:lpstr>
      </vt:variant>
      <vt:variant>
        <vt:i4>4</vt:i4>
      </vt:variant>
      <vt:variant>
        <vt:lpstr>幻灯片标题</vt:lpstr>
      </vt:variant>
      <vt:variant>
        <vt:i4>37</vt:i4>
      </vt:variant>
    </vt:vector>
  </HeadingPairs>
  <TitlesOfParts>
    <vt:vector size="48" baseType="lpstr">
      <vt:lpstr>Arial</vt:lpstr>
      <vt:lpstr>宋体</vt:lpstr>
      <vt:lpstr>Wingdings</vt:lpstr>
      <vt:lpstr>楷体</vt:lpstr>
      <vt:lpstr>MiSans Bold</vt:lpstr>
      <vt:lpstr>微软雅黑</vt:lpstr>
      <vt:lpstr>Arial Unicode MS</vt:lpstr>
      <vt:lpstr>5_Office 主题​​</vt:lpstr>
      <vt:lpstr>6_Office 主题​​</vt:lpstr>
      <vt:lpstr>9_Office 主题​​</vt:lpstr>
      <vt:lpstr>图形职场办公简约风</vt:lpstr>
      <vt:lpstr>判断推理套题1 2023年上半年B类</vt:lpstr>
      <vt:lpstr>题1</vt:lpstr>
      <vt:lpstr>题2</vt:lpstr>
      <vt:lpstr>题3</vt:lpstr>
      <vt:lpstr>题4</vt:lpstr>
      <vt:lpstr>题5</vt:lpstr>
      <vt:lpstr>题6</vt:lpstr>
      <vt:lpstr>题7</vt:lpstr>
      <vt:lpstr>题8</vt:lpstr>
      <vt:lpstr>题9</vt:lpstr>
      <vt:lpstr>题10</vt:lpstr>
      <vt:lpstr>题11</vt:lpstr>
      <vt:lpstr>题12</vt:lpstr>
      <vt:lpstr>题13</vt:lpstr>
      <vt:lpstr>题14</vt:lpstr>
      <vt:lpstr>题15</vt:lpstr>
      <vt:lpstr>题16</vt:lpstr>
      <vt:lpstr>题17</vt:lpstr>
      <vt:lpstr>题18</vt:lpstr>
      <vt:lpstr>题19</vt:lpstr>
      <vt:lpstr>题20</vt:lpstr>
      <vt:lpstr>题21</vt:lpstr>
      <vt:lpstr>题22</vt:lpstr>
      <vt:lpstr>题23</vt:lpstr>
      <vt:lpstr>题24</vt:lpstr>
      <vt:lpstr>题25</vt:lpstr>
      <vt:lpstr>题26</vt:lpstr>
      <vt:lpstr>题27</vt:lpstr>
      <vt:lpstr>题28</vt:lpstr>
      <vt:lpstr>题29</vt:lpstr>
      <vt:lpstr>题30</vt:lpstr>
      <vt:lpstr>题31</vt:lpstr>
      <vt:lpstr>题32</vt:lpstr>
      <vt:lpstr>题33</vt:lpstr>
      <vt:lpstr>题34</vt:lpstr>
      <vt:lpstr>题34</vt:lpstr>
      <vt:lpstr> 感 谢 观 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222</cp:revision>
  <dcterms:created xsi:type="dcterms:W3CDTF">2019-06-19T02:08:00Z</dcterms:created>
  <dcterms:modified xsi:type="dcterms:W3CDTF">2025-11-27T04:14:02Z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7E0F0589F6D94CFE8A4BC2AEA01394FF_11</vt:lpwstr>
  </property>
</Properties>
</file>