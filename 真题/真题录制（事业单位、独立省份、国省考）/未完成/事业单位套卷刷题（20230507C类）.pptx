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8" r:id="rId5"/>
  </p:sldMasterIdLst>
  <p:notesMasterIdLst>
    <p:notesMasterId r:id="rId7"/>
  </p:notesMasterIdLst>
  <p:handoutMasterIdLst>
    <p:handoutMasterId r:id="rId39"/>
  </p:handoutMasterIdLst>
  <p:sldIdLst>
    <p:sldId id="629" r:id="rId6"/>
    <p:sldId id="1619" r:id="rId8"/>
    <p:sldId id="1620" r:id="rId9"/>
    <p:sldId id="1621" r:id="rId10"/>
    <p:sldId id="1622" r:id="rId11"/>
    <p:sldId id="1623" r:id="rId12"/>
    <p:sldId id="1624" r:id="rId13"/>
    <p:sldId id="1625" r:id="rId14"/>
    <p:sldId id="1626" r:id="rId15"/>
    <p:sldId id="1627" r:id="rId16"/>
    <p:sldId id="1628" r:id="rId17"/>
    <p:sldId id="1629" r:id="rId18"/>
    <p:sldId id="1630" r:id="rId19"/>
    <p:sldId id="1631" r:id="rId20"/>
    <p:sldId id="1632" r:id="rId21"/>
    <p:sldId id="1633" r:id="rId22"/>
    <p:sldId id="1634" r:id="rId23"/>
    <p:sldId id="1635" r:id="rId24"/>
    <p:sldId id="1636" r:id="rId25"/>
    <p:sldId id="1637" r:id="rId26"/>
    <p:sldId id="1638" r:id="rId27"/>
    <p:sldId id="1639" r:id="rId28"/>
    <p:sldId id="1640" r:id="rId29"/>
    <p:sldId id="1641" r:id="rId30"/>
    <p:sldId id="1642" r:id="rId31"/>
    <p:sldId id="1643" r:id="rId32"/>
    <p:sldId id="1644" r:id="rId33"/>
    <p:sldId id="1645" r:id="rId34"/>
    <p:sldId id="1646" r:id="rId35"/>
    <p:sldId id="1647" r:id="rId36"/>
    <p:sldId id="1649" r:id="rId37"/>
    <p:sldId id="1581" r:id="rId38"/>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6"/>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4" Type="http://schemas.openxmlformats.org/officeDocument/2006/relationships/tags" Target="tags/tag48.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handoutMaster" Target="handoutMasters/handoutMaster1.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解析：本题属于样式类，主要考查对称性。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第一组图形中，每幅图均只有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个轴对称小图形，并且对称轴依次旋转</a:t>
            </a:r>
            <a:r>
              <a:rPr lang="en-US" altLang="zh-CN" sz="1200" kern="1200" dirty="0">
                <a:solidFill>
                  <a:schemeClr val="tx1"/>
                </a:solidFill>
                <a:effectLst/>
                <a:latin typeface="+mn-lt"/>
                <a:sym typeface="楷体" panose="02010609060101010101" charset="-122"/>
              </a:rPr>
              <a:t>90</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第二组前两幅图中，每幅图均只有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个轴对称小图形，并且对称轴依次旋转</a:t>
            </a:r>
            <a:r>
              <a:rPr lang="en-US" altLang="zh-CN" sz="1200" kern="1200" dirty="0">
                <a:solidFill>
                  <a:schemeClr val="tx1"/>
                </a:solidFill>
                <a:effectLst/>
                <a:latin typeface="+mn-lt"/>
                <a:sym typeface="楷体" panose="02010609060101010101" charset="-122"/>
              </a:rPr>
              <a:t>90</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，故？处应选择由三个小图形拼合而成，且其中只有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个包含右斜方向对称轴的小图形，只有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解析：本题属于数量类，主要考查面数量。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个面，图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个面。即</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一组，</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通过左侧大正方体仅能观察到</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个灰色正方体的位置，将其可见部分移开后，被遮挡了</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个方块，最后一个灰色正方体位于被遮挡部分。</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假如最后一个灰色正方体位于下图中所标注的位置，即最后一层中间一条最左侧，此时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项，均可观察到，只有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项不是该正方体的其他视图：</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项问题在缺少</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个灰块未呈现，正确视图如下：</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解析：本题属于重构类，主要考查截面图。</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所示，沿图中方向竖直切开，可以得到该截面，排除；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项：从任何方向切开，都得不到该截面，当选；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所示，沿图中竖直方向切开，即可得到该项中截面，排除；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所示，沿图中方向水平切开，可以得到该截面，排除。</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根据题干信息，立体图形可能如下图所示。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（从左视图方向观察）</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（从主视图方向观察）</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逆向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域：存在一条将该曲线的起点和终点隔开（不在直线的同一侧）、并与其至多有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同向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域：存在一条将该曲线的起点和终点不隔开（在直线的同一侧）、并与其至多有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有直有曲，不是</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条曲线，不符合定义，排除；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中存在一条直线将曲线的起点和终点隔开，但直曲的交点最多为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，为同向</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域的，排除；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中存在一条直线将曲线的起点和终点隔开，且直曲交点最多为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，为逆向</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域的，表述正确，当选；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中存在一条直线将曲线的起点和终点不隔开，直曲交点最多为</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，应为同向</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域的，表述错误，排除。</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方式：研究生物体与外环境、生物个体与个体之间以及生物体内各部分间的信息传递、接收、存储、加工与利用，以及将其工作原理应用于技术系统之中的方法。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结果：制成具有类似生物体功能的识别、探测、跟踪与计算系统。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项：研究萤火虫、电鲶等发光、发电原理，未涉及信息的传递等活动，不符合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研究生物体与外环境、生物个体与个体之间以及生物体内各部分间的信息传递、接收、存储、加工与利用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项：模仿动物将气味刺激转变成电脉冲送往大脑的过程，涉及生物体内各部分信息的传递等活动，符合方式要点。制成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电子鼻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用于分析飞船座舱中的气体成分，符合结果要点，当选；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项：通过动物飞行动力学的研究，模仿海鸟翼尖形状制成了一种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锥形弯曲机翼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，是对生物体外形的模仿，未涉及信息的传递等活动，不符合定义，排除；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项：通过体脏器结构、功能的研究以及疾病发病分子机理的研究，未涉及信息的传递等活动，不符合定义，排除。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解析：本题属于多定义，定义要点有：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鲁棒性：控制系统在一定参数（结构、大小等）变动下，能维持其某些性能的特性。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项：未涉及参数变动，不符合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控制系统在一定参数（结构、大小等）变动下，能维持其某些性能的特性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项：未涉及参数变动，不符合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控制系统在一定参数（结构、大小等）变动下，能维持其某些性能的特性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项：当出现输入错误、磁盘故障、网络过载或恶意攻击的情况，某计算机仍能不死机、系统不崩溃，维持某些性能，符合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控制系统在一定参数（结构、大小等）变动下，能维持其某些性能的特性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项：陈述量子通信安全可靠的原因，未涉及参数变动，不符合定义，排除。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在总叶柄的叶轴上并不着生小叶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伸展出若干次级叶轴，在次级叶轴上着生小叶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项：在总叶柄的叶轴上伸展出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个次级叶轴，在次级叶轴上着生许多小叶，属于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项：小叶在叶轴两侧如羽毛状排列着生，叶轴顶端无小叶，属于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偶数羽状复叶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项：总叶柄短叶轴上有小叶，不符合定义，排除；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项：各小叶在叶轴两侧如羽毛状排列着生，叶轴顶端有小叶着生，属于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奇数羽状复叶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趣味性定价：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诱惑性定价：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对几种产品给出不同定价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年伦敦奥运会开幕式的门票最低价格是</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英镑，最高价格是</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英镑，这两个价格都与奥运会的年份</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相关，具有特殊含义，符合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趣味性定价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某品牌洗发水有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种产品，小瓶</a:t>
            </a:r>
            <a:r>
              <a:rPr lang="en-US" altLang="zh-CN" sz="1200" kern="1200" dirty="0">
                <a:solidFill>
                  <a:schemeClr val="tx1"/>
                </a:solidFill>
                <a:effectLst/>
                <a:latin typeface="+mn-lt"/>
                <a:sym typeface="+mn-ea"/>
              </a:rPr>
              <a:t>125</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元，中瓶</a:t>
            </a:r>
            <a:r>
              <a:rPr lang="en-US" altLang="zh-CN" sz="1200" kern="1200" dirty="0">
                <a:solidFill>
                  <a:schemeClr val="tx1"/>
                </a:solidFill>
                <a:effectLst/>
                <a:latin typeface="+mn-lt"/>
                <a:sym typeface="+mn-ea"/>
              </a:rPr>
              <a:t>250</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元，大瓶</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元，仅体现了洗发水量装不同对应的价格也不同，可以满足不同消费者的需求，消费者可以根据自身实际需求购买小包装或追求性价比购买大包装，不符合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，不符合任一定义；</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某期刊仅订阅网络版每年</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元，而仅订阅纸质版和同时订阅网络版和纸质版每年价格一样，均为</a:t>
            </a:r>
            <a:r>
              <a:rPr lang="en-US" altLang="zh-CN" sz="1200" kern="1200" dirty="0">
                <a:solidFill>
                  <a:schemeClr val="tx1"/>
                </a:solidFill>
                <a:effectLst/>
                <a:latin typeface="+mn-lt"/>
                <a:sym typeface="+mn-ea"/>
              </a:rPr>
              <a:t>120</a:t>
            </a:r>
            <a:r>
              <a:rPr lang="zh-CN" altLang="en-US" sz="1200" kern="1200" dirty="0">
                <a:solidFill>
                  <a:schemeClr val="tx1"/>
                </a:solidFill>
                <a:effectLst/>
                <a:latin typeface="+mn-lt"/>
                <a:sym typeface="+mn-ea"/>
              </a:rPr>
              <a:t>元。此时，对于仅订阅纸质版期刊的定价就主要是为了让消费者选择同时订阅网络版和纸质版期刊，符合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对几种产品给出不同定价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诱惑性定价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解析：本题属于映射类，主要考查方式目的对应关系。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闭门造车意为关起门来造车，闭门是为了造车，二者为方式目的对应关系。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项：抛砖引玉意为抛出砖去，引回玉来，抛砖是为了引玉，二者为方式目的对应关系，与题干逻辑关系一致，当选；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项：震耳欲聋意为耳朵都快震聋了，形容声音很大，震耳不是欲聋的方式，与题干逻辑关系不一致，排除；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项：冷言和冷语都是指带讥讽意味的冷冰冰的话，二者为近义关系，与题干逻辑关系不一致，排除；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项：曲高和寡意为曲调高深，能跟着唱的人就少，因为曲高，所以和寡，二者为因果对应关系，与题干逻辑关系不一致，排除。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解析：本题属于复合类，主要考查并列关系和命名方式。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汽锅鸡、竹筒饭是食物，二者为并列关系。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汽锅鸡制作时需要用到汽锅，竹筒饭制作时需要用到竹筒，二者都是根据制作工具进行命名。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项：螺蛳粉、东坡肉为并列关系。螺蛳粉是根据原材料进行命名，东坡肉是根据人名进行命名，与题干逻辑关系不一致，排除；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项：瓦罐鱼、小笼包为并列关系。瓦罐鱼制作时需要用到瓦罐，小笼包制作时需要用到小笼，二者都是根据制作工具进行命名，与题干逻辑关系一致，当选；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铁板烧、三杯鸡为并列关系。铁板烧制作时需要用到铁板，是根据制作工具进行命名，三杯鸡是台湾传统菜肴，是以鸡肉为主要原料，加入一杯料酒、一杯酱油、一杯香油进行卤制而成的，是根据原材料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项：盐水鸭、担担面为并列关系。盐水鸭是根据原材料进行命名，担担面因最初挑着担子沿街叫卖得名，是根据售卖方式进行命名，与题干逻辑关系不一致，排除。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解析：本题属于映射类，主要考查命名方式。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蝴蝶结与荷花灯都根据形状特征进行命名，命名方式相同。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项：百花潭是根据历史典故进行命名，护城河是根据功能进行命名，命名方式不同，排除；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项：啄木鸟是根据行为进行命名，胖头鱼是根据形状特征进行命名，命名方式不同，排除；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项：珊瑚礁是根据构成成分进行命名，琉璃瓦因外形特点命名，命名方式不同，排除；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项：彩虹桥和猫眼石均根据形状特征进行命名，命名方式相同，当选。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解析：本题属于映射类，主要考查因果关系。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近乡情更怯，不敢问来人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意思因为心中的紧张和胆怯而不敢向故乡来的人打听，二者为因果对应关系。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空山不见人，但闻人语响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意思是人在空山中听到了说话的声音，但没有看到人，二者不是因果关系，与题干逻辑关系不一致，排除；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松下问童子，言师采药去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意思是一个人在松树下询问一位童子，得到了师傅采药去的回答，二者不是因果关系，与题干逻辑关系不一致，排除；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意思是您是刚从家乡来的，一定了解家乡的人情世态。因为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意思是人们到现在还思念项羽，只因他不肯偷生回江东。因为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，二者为因果对应关系，但词语顺序与题干相反，与题干逻辑关系不一致，排除。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解析：本题属于映射类，主要考查顺承关系。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先设计再制作最后售卖，三者为顺承关系。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项：先起草再提交最后审核，三者为顺承关系，当选；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项：先报名，但笔试与面试之间无必然时间先后顺序，排除；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项：先申请再录取最后入职，不是顺承关系，排除；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项：生人、熟人、朋友之间无必然顺承关系，排除。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大脑通过思考产生思想，思想是大脑的产物，三者为对应关系。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项：心脏经过跳动为血液提供动力，血液不是心脏的产出物，排除；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项：肺脏经过呼吸获得空气，空气不是肺脏的产出物，排除；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项：编程可以产生软件，但这个过程不涉及芯片，排除；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项：车床经过切割产生产品，产品是车床的产物，当选。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解析：本题属于集合类，主要考查组成关系。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刻度盘和挂钩均是弹簧秤的组成部分，</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是组成关系。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项：口哨是乐器，二者为种属关系，排除；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项：灭火器内可能有干粉，二者为对应关系；泡沫不是灭火器的组成部分，排除；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项：纯电车不具有油箱，二者不是组成关系，排除；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项：电动机和风叶是吹风机的组成部分，</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是组成关系，当选。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体脂率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脂肪重量</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人体重量，三者为对应关系。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项：使用面积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建筑面积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公摊面积，与题干逻辑关系不一致，排除；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项：物体进行匀速运动时平均速度就是瞬时速度，相对速度与两者无明显逻辑关系，与题干逻辑关系不一致，排除；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项：余弦函数与正弦函数为并列关系，与三角函数为种属关系，与题干逻辑关系不一致，排除；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项：物质密度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物质质量</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物质体积，三者为对应关系，当选。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项：钠不具有腐蚀性，二者无明显逻辑关系；衣服可以用来装饰，二者是功能对应关系，前后逻辑关系不一致，排除；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项：钠是固体的，二者之间是属性对应关系；有的商品是衣服，有的商品不是衣服，有的衣服是商品，有的衣服不是商品，二者是交叉关系，前后逻辑关系不一致，排除；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项：钠是一种元素，二者是种属关系；羽绒服是一种衣服，二者是种属关系，前后逻辑关系一致，当选；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项：电解质是溶于水溶液中或在熔融状态下自身能够导电的化合物，钠是单质，不是电解质，二者无明显逻辑关系；鞋帽和衣服是并列关系，前后逻辑关系不一致，排除。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解析：本题属于映射类，主要考查条件关系。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项：营业执照规定经营范围，燃烧伴随着放热，前后逻辑关系不一致，排除；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项：营业执照是开办公司的必要条件，氧化剂是燃烧反应的必要条件，前后逻辑关系一致，当选；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项：营业执照是市场准入条件之一，燃烧反应不是还原反应，排除；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项：办理营业执照要经过工商审批，燃烧反应会发生化学变化，前后逻辑关系不一致，排除。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解析：根据（</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）所代表的意思中均包含</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且符号均含有罗马数字</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与罗马数字</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相对应，结合（</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）推出罗马数字</a:t>
            </a:r>
            <a:r>
              <a:rPr lang="en-US" altLang="en-US" sz="1200" kern="1200" dirty="0">
                <a:solidFill>
                  <a:schemeClr val="tx1"/>
                </a:solidFill>
                <a:effectLst/>
                <a:latin typeface="+mn-lt"/>
                <a:sym typeface="楷体" panose="02010609060101010101" charset="-122"/>
              </a:rPr>
              <a:t>Ⅴ</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；根据（</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）中均包含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且符号均含</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，可知</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。此时（</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）只剩，即代表老虎，（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）只剩♌，即代表野牛，由此可以推出（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）中代表羚羊，</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代表跑了，并且符号顺序为动物、大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小、数量、来了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跑了，只有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解析：本题属于翻译推理，翻译题干可得：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数据财产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经济要素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建立和完善数据要素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明确数据财产的权属</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调动数据处理者在数据开发利用和流通中的积极性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静态的数据资源在动态流转中跃变为具有经济价值的资产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推动数据产业的发展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数据资源成为具有经济价值的资产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实现经济的数字化转型</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数据资源真正成为具有经济价值的资产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项：明确数据财产的权属</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建立和完善数据要素，是对条件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静态的数据资源在动态流转中，在题目中不存在推出关系，无法推出，排除；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项：－数据资源真正成为具有经济价值的资产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－实现经济的数字化转型，是对条件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的否后，否后必否前，可以推出，当选；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项：建立数据财产制度</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调动数据处理者在数据开发利用和流通中的积极性，是对条件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观点：不仅商王陵园区存在明确规划，陵园外围也有较大段范围被划入缓冲区，禁止一般人占用。</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论据：考古人员在河南安阳洹河北岸的殷墟商王陵及周边区域新勘探发现东西两个围沟及</a:t>
            </a:r>
            <a:r>
              <a:rPr lang="en-US" altLang="zh-CN" sz="1200" kern="1200" dirty="0">
                <a:solidFill>
                  <a:schemeClr val="tx1"/>
                </a:solidFill>
                <a:effectLst/>
                <a:latin typeface="+mn-lt"/>
                <a:sym typeface="楷体" panose="02010609060101010101" charset="-122"/>
              </a:rPr>
              <a:t>400</a:t>
            </a:r>
            <a:r>
              <a:rPr lang="zh-CN" altLang="en-US" sz="1200" kern="1200" dirty="0">
                <a:solidFill>
                  <a:schemeClr val="tx1"/>
                </a:solidFill>
                <a:effectLst/>
                <a:latin typeface="+mn-lt"/>
                <a:sym typeface="楷体" panose="02010609060101010101" charset="-122"/>
              </a:rPr>
              <a:t>余座祭祀坑。这两个围沟均围绕在殷商大墓外围，相距</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米，在东围沟东段以东、南段以南，存在大范围空白区域，极少发现商代晚期遗存。</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项：无关项。说的是在商王陵大墓内的情况，但题干讨论的是陵园外围的情况，为无关项，排除；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项：不能加强。在商王陵园外围区域不会发现商代晚期遗存，与题干已经内容重复，无法加强，排除；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项：加强项。说明发现了商代晚期遗存的区域是被一般人占用的，也就意味着极少发现商代晚期遗存说明可能未被一般人占用，建立了论点与论据的关系，为搭桥项，可以加强；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项：无关项。说的是发现商代晚期遗存的区域位置，但题干讨论的是陵园外围是否有较大段范围被划入缓冲区，禁止一般人占用，话题不一致，排除。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论点：咖啡果肉有助于热带雨林的生态恢复。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论据：研究人员将其中一块地均匀覆盖上近半米的咖啡果肉，另一块土地则什么也不做，任其自然。两年之后，两块地发生了迥然不同的剧变：被咖啡果肉覆盖的那块，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已经完全消失，取而代之的是本应属于这里的热带树种的年轻树冠；而另一块地则依然被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霸占着。</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项：支持项。该项说明覆盖咖啡果肉能够使土地更有韧性，生产恢复能力更佳，做诠释支持了题干观点，排除；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项：无关项。该项说明咖啡果的味道会吸引食草型动物前来觅食，改变周边的环境。改变周围环境对热带雨林的生态恢复有什么影响并不明确。属于无关项，无法支持，当选；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项：支持项。该项说明咖啡果肉中富含植物生长所需要的营养成分，能够为雨林修复按下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加速键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项：支持项。该项说明咖啡果肉能够抑制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的生长，补充新的论据，可以支持咖啡果肉有助于热带雨林的生态恢复，排除。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观点：加强锻炼能有效提升免疫力。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论据：肌肉影响免疫力。</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项：该项说明加强锻炼能增加人体肌肉含量，在论点与论据间建立了联系，为搭桥项，当选。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观点：隐形眼镜的使用者并不在意眼镜的保湿效果。</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论据：某眼镜公司研制了一种水梯度专利材质，这种材质可以使隐形眼镜的核心至表面含水量由</a:t>
            </a:r>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递增到</a:t>
            </a:r>
            <a:r>
              <a:rPr lang="en-US" altLang="zh-CN" sz="1200" kern="1200" dirty="0">
                <a:solidFill>
                  <a:schemeClr val="tx1"/>
                </a:solidFill>
                <a:effectLst/>
                <a:latin typeface="+mn-lt"/>
                <a:sym typeface="楷体" panose="02010609060101010101" charset="-122"/>
              </a:rPr>
              <a:t>80%</a:t>
            </a:r>
            <a:r>
              <a:rPr lang="zh-CN" altLang="en-US" sz="1200" kern="1200" dirty="0">
                <a:solidFill>
                  <a:schemeClr val="tx1"/>
                </a:solidFill>
                <a:effectLst/>
                <a:latin typeface="+mn-lt"/>
                <a:sym typeface="楷体" panose="02010609060101010101" charset="-122"/>
              </a:rPr>
              <a:t>以上，但销量依然惨淡。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项：该项说明新产品造成眼部不适，说明不买隐形眼镜是因为眼部不适，而不是不在意保湿效果，他因削弱，可以削弱，排除；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项：说明使用者是很在意眼镜的保湿效果的，否定了观点，可以削弱，排除；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项：在说传统隐形眼镜的特点，与题干隐形眼镜的使用者是否意眼镜的保湿效果无关，无法削弱，当选；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项：在说很多消费者由于不太了解材料的安全性能，所以没有购买，说明不买隐形眼镜是因为不了解，他因削弱，可以削弱，排除。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综合</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本题没有相对确定的信息，可以采用假设法解题。</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假设甲入选，根据</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可得，丙、丁都入选，丁入选，利用或关系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，则根据</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可得乙不入选，此种假设成立。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假设甲不入选，利用或关系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可得乙入选，利用或关系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可得丁不入选，再结合</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，否后必否前，可得丙不入选，此种假设成立。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结合两种假设情况，只有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解析：第一步：找出论点与论据。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论点：自己体温始终低于正常标准，这意味着自己的免疫力也低于常人。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论据：人类正常体温</a:t>
            </a:r>
            <a:r>
              <a:rPr lang="en-US" altLang="zh-CN" sz="1200" kern="1200" dirty="0">
                <a:solidFill>
                  <a:schemeClr val="tx1"/>
                </a:solidFill>
                <a:effectLst/>
                <a:latin typeface="+mn-lt"/>
                <a:sym typeface="楷体" panose="02010609060101010101" charset="-122"/>
              </a:rPr>
              <a:t>37</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已成历史，自</a:t>
            </a:r>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世纪以来，人类体温下降了</a:t>
            </a:r>
            <a:r>
              <a:rPr lang="en-US" altLang="zh-CN" sz="1200" kern="1200" dirty="0">
                <a:solidFill>
                  <a:schemeClr val="tx1"/>
                </a:solidFill>
                <a:effectLst/>
                <a:latin typeface="+mn-lt"/>
                <a:sym typeface="楷体" panose="02010609060101010101" charset="-122"/>
              </a:rPr>
              <a:t>0.4</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，而体温每下</a:t>
            </a:r>
            <a:r>
              <a:rPr lang="en-US" altLang="zh-CN" sz="1200" kern="1200" dirty="0">
                <a:solidFill>
                  <a:schemeClr val="tx1"/>
                </a:solidFill>
                <a:effectLst/>
                <a:latin typeface="+mn-lt"/>
                <a:sym typeface="楷体" panose="02010609060101010101" charset="-122"/>
              </a:rPr>
              <a:t>1</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，免疫力就会下降</a:t>
            </a:r>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；而体温每上升</a:t>
            </a:r>
            <a:r>
              <a:rPr lang="en-US" altLang="zh-CN" sz="1200" kern="1200" dirty="0">
                <a:solidFill>
                  <a:schemeClr val="tx1"/>
                </a:solidFill>
                <a:effectLst/>
                <a:latin typeface="+mn-lt"/>
                <a:sym typeface="楷体" panose="02010609060101010101" charset="-122"/>
              </a:rPr>
              <a:t>1</a:t>
            </a:r>
            <a:r>
              <a:rPr lang=""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，免疫力就会提高</a:t>
            </a:r>
            <a:r>
              <a:rPr lang="en-US" altLang="zh-CN" sz="1200" kern="1200" dirty="0">
                <a:solidFill>
                  <a:schemeClr val="tx1"/>
                </a:solidFill>
                <a:effectLst/>
                <a:latin typeface="+mn-lt"/>
                <a:sym typeface="楷体" panose="02010609060101010101" charset="-122"/>
              </a:rPr>
              <a:t>5-6</a:t>
            </a:r>
            <a:r>
              <a:rPr lang="zh-CN" altLang="en-US" sz="1200" kern="1200" dirty="0">
                <a:solidFill>
                  <a:schemeClr val="tx1"/>
                </a:solidFill>
                <a:effectLst/>
                <a:latin typeface="+mn-lt"/>
                <a:sym typeface="楷体" panose="02010609060101010101" charset="-122"/>
              </a:rPr>
              <a:t>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论点论据话题一致，优先考虑否论点。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项：该项说明论据中的数据并无权威统计数据支持，但是无法证明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人类体温是否自</a:t>
            </a:r>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世纪以来下降了</a:t>
            </a:r>
            <a:r>
              <a:rPr lang="en-US" altLang="zh-CN" sz="1200" kern="1200" dirty="0">
                <a:solidFill>
                  <a:schemeClr val="tx1"/>
                </a:solidFill>
                <a:effectLst/>
                <a:latin typeface="+mn-lt"/>
                <a:sym typeface="楷体" panose="02010609060101010101" charset="-122"/>
              </a:rPr>
              <a:t>0.4</a:t>
            </a:r>
            <a:r>
              <a:rPr lang=""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一定错误，属于不明确选项，无法削弱，排除；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项：该项解释说明体温高可以提高免疫力的原因，是对论据的补充说明，可以加强，无法削弱，排除；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项：该项说明因个人体质不同体温有差异是正常现象，并不会影响身体免疫力的健康，否定了体温始终低于正常标准，免疫力也低于常人，否定了论点，当选；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项：该项说明身体各个部位的体温，论点讨论的是体温低于正常标准是否意味着免疫力也低于常人，话题不一致，无法削弱，排除。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解析：第一步：分析题干。</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只有一盏灯亮。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项；由</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甲丁戊。若甲灯亮，根据</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可知丁和戊灯亮，与</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解析：第一步：分析题干。</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戊。假设戊不亮，结合条件</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可得：甲和丁均不亮，此时与条件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矛盾，假设错误，则戊一定亮。结合条件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，否一推一可得：乙和丙均不亮，再结合条件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，可得甲、丁、戊亮灯，只有</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image" Target="../media/image5.png"/><Relationship Id="rId7" Type="http://schemas.openxmlformats.org/officeDocument/2006/relationships/tags" Target="../tags/tag28.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slideLayout" Target="../slideLayouts/slideLayout27.xml"/><Relationship Id="rId10" Type="http://schemas.openxmlformats.org/officeDocument/2006/relationships/theme" Target="../theme/theme3.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7"/>
            </p:custDataLst>
          </p:nvPr>
        </p:nvPicPr>
        <p:blipFill>
          <a:blip r:embed="rId8" r:link="rId6">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5.xml"/><Relationship Id="rId1" Type="http://schemas.openxmlformats.org/officeDocument/2006/relationships/tags" Target="../tags/tag4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7.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7.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27.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3.xml"/><Relationship Id="rId2" Type="http://schemas.openxmlformats.org/officeDocument/2006/relationships/tags" Target="../tags/tag47.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5</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a:t>
            </a:r>
            <a:r>
              <a:rPr lang="zh-CN" altLang="en-US" sz="8000" dirty="0">
                <a:solidFill>
                  <a:schemeClr val="tx1"/>
                </a:solidFill>
                <a:latin typeface="楷体" panose="02010609060101010101" charset="-122"/>
                <a:ea typeface="楷体" panose="02010609060101010101" charset="-122"/>
              </a:rPr>
              <a:t>上半年</a:t>
            </a:r>
            <a:r>
              <a:rPr lang="en-US" altLang="zh-CN" sz="8000" dirty="0">
                <a:solidFill>
                  <a:schemeClr val="tx1"/>
                </a:solidFill>
                <a:latin typeface="楷体" panose="02010609060101010101" charset="-122"/>
                <a:ea typeface="楷体" panose="02010609060101010101" charset="-122"/>
              </a:rPr>
              <a:t>C</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546" name="图片 175"/>
          <p:cNvPicPr>
            <a:picLocks noChangeAspect="1"/>
          </p:cNvPicPr>
          <p:nvPr/>
        </p:nvPicPr>
        <p:blipFill>
          <a:blip r:embed="rId1"/>
          <a:stretch>
            <a:fillRect/>
          </a:stretch>
        </p:blipFill>
        <p:spPr>
          <a:xfrm>
            <a:off x="1529080" y="1466215"/>
            <a:ext cx="9138920" cy="383857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r>
              <a:rPr lang="en-US" altLang="zh-CN" sz="2000" dirty="0">
                <a:cs typeface="楷体" panose="02010609060101010101" charset="-122"/>
              </a:rPr>
              <a:t>	B.</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endParaRPr lang="en-US" altLang="en-US" sz="2000" dirty="0">
              <a:cs typeface="楷体" panose="02010609060101010101" charset="-122"/>
            </a:endParaRPr>
          </a:p>
        </p:txBody>
      </p:sp>
      <p:pic>
        <p:nvPicPr>
          <p:cNvPr id="547" name="图片 176"/>
          <p:cNvPicPr>
            <a:picLocks noChangeAspect="1"/>
          </p:cNvPicPr>
          <p:nvPr/>
        </p:nvPicPr>
        <p:blipFill>
          <a:blip r:embed="rId1"/>
          <a:stretch>
            <a:fillRect/>
          </a:stretch>
        </p:blipFill>
        <p:spPr>
          <a:xfrm>
            <a:off x="669925" y="1588135"/>
            <a:ext cx="10733405" cy="265303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左图为由</a:t>
            </a:r>
            <a:r>
              <a:rPr lang="en-US" altLang="zh-CN" sz="2000" dirty="0">
                <a:cs typeface="楷体" panose="02010609060101010101" charset="-122"/>
              </a:rPr>
              <a:t>6</a:t>
            </a:r>
            <a:r>
              <a:rPr lang="zh-CN" altLang="en-US" sz="2000" dirty="0">
                <a:cs typeface="楷体" panose="02010609060101010101" charset="-122"/>
              </a:rPr>
              <a:t>个灰色、</a:t>
            </a:r>
            <a:r>
              <a:rPr lang="en-US" altLang="zh-CN" sz="2000" dirty="0">
                <a:cs typeface="楷体" panose="02010609060101010101" charset="-122"/>
              </a:rPr>
              <a:t>21</a:t>
            </a:r>
            <a:r>
              <a:rPr lang="zh-CN" altLang="en-US" sz="2000" dirty="0">
                <a:cs typeface="楷体" panose="02010609060101010101" charset="-122"/>
              </a:rPr>
              <a:t>个白色正方体粘接成的大正方体的某个视图，且右边</a:t>
            </a:r>
            <a:r>
              <a:rPr lang="en-US" altLang="zh-CN" sz="2000" dirty="0">
                <a:cs typeface="楷体" panose="02010609060101010101" charset="-122"/>
              </a:rPr>
              <a:t>4</a:t>
            </a:r>
            <a:r>
              <a:rPr lang="zh-CN" altLang="en-US" sz="2000" dirty="0">
                <a:cs typeface="楷体" panose="02010609060101010101" charset="-122"/>
              </a:rPr>
              <a:t>个图形中仅有</a:t>
            </a:r>
            <a:r>
              <a:rPr lang="en-US" altLang="zh-CN" sz="2000" dirty="0">
                <a:cs typeface="楷体" panose="02010609060101010101" charset="-122"/>
              </a:rPr>
              <a:t>1</a:t>
            </a:r>
            <a:r>
              <a:rPr lang="zh-CN" altLang="en-US" sz="2000" dirty="0">
                <a:cs typeface="楷体" panose="02010609060101010101" charset="-122"/>
              </a:rPr>
              <a:t>个不是该正方体的其他视图。问该图形是（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48" name="图片 177"/>
          <p:cNvPicPr>
            <a:picLocks noChangeAspect="1"/>
          </p:cNvPicPr>
          <p:nvPr/>
        </p:nvPicPr>
        <p:blipFill>
          <a:blip r:embed="rId1"/>
          <a:stretch>
            <a:fillRect/>
          </a:stretch>
        </p:blipFill>
        <p:spPr>
          <a:xfrm>
            <a:off x="1129030" y="2176145"/>
            <a:ext cx="9934575" cy="218630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下面给出的立体图形，以下哪个选项不可能是该立体图形的截面？（</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49" name="图片 178"/>
          <p:cNvPicPr>
            <a:picLocks noChangeAspect="1"/>
          </p:cNvPicPr>
          <p:nvPr/>
        </p:nvPicPr>
        <p:blipFill>
          <a:blip r:embed="rId1"/>
          <a:stretch>
            <a:fillRect/>
          </a:stretch>
        </p:blipFill>
        <p:spPr>
          <a:xfrm>
            <a:off x="1581785" y="1647825"/>
            <a:ext cx="9112885" cy="2486660"/>
          </a:xfrm>
          <a:prstGeom prst="rect">
            <a:avLst/>
          </a:prstGeom>
          <a:noFill/>
          <a:ln w="9525">
            <a:noFill/>
          </a:ln>
        </p:spPr>
      </p:pic>
      <p:pic>
        <p:nvPicPr>
          <p:cNvPr id="684" name="图片 133"/>
          <p:cNvPicPr>
            <a:picLocks noChangeAspect="1"/>
          </p:cNvPicPr>
          <p:nvPr/>
        </p:nvPicPr>
        <p:blipFill>
          <a:blip r:embed="rId2"/>
          <a:stretch>
            <a:fillRect/>
          </a:stretch>
        </p:blipFill>
        <p:spPr>
          <a:xfrm>
            <a:off x="3181350" y="4522470"/>
            <a:ext cx="5828665" cy="164909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用</a:t>
            </a:r>
            <a:r>
              <a:rPr lang="en-US" altLang="zh-CN" sz="2000" dirty="0">
                <a:cs typeface="楷体" panose="02010609060101010101" charset="-122"/>
              </a:rPr>
              <a:t>12</a:t>
            </a:r>
            <a:r>
              <a:rPr lang="zh-CN" altLang="en-US" sz="2000" dirty="0">
                <a:cs typeface="楷体" panose="02010609060101010101" charset="-122"/>
              </a:rPr>
              <a:t>个相同的白色正方体和</a:t>
            </a:r>
            <a:r>
              <a:rPr lang="en-US" altLang="zh-CN" sz="2000" dirty="0">
                <a:cs typeface="楷体" panose="02010609060101010101" charset="-122"/>
              </a:rPr>
              <a:t>3</a:t>
            </a:r>
            <a:r>
              <a:rPr lang="zh-CN" altLang="en-US" sz="2000" dirty="0">
                <a:cs typeface="楷体" panose="02010609060101010101" charset="-122"/>
              </a:rPr>
              <a:t>个相同的黑色正方体搭建成一个多面体，其左视图和主视图如下图所示。问哪一个可能是其正确的俯视图？</a:t>
            </a:r>
            <a:endParaRPr lang="zh-CN" altLang="en-US" sz="2000" dirty="0">
              <a:cs typeface="楷体" panose="02010609060101010101" charset="-122"/>
            </a:endParaRPr>
          </a:p>
        </p:txBody>
      </p:sp>
      <p:pic>
        <p:nvPicPr>
          <p:cNvPr id="550" name="图片 179"/>
          <p:cNvPicPr>
            <a:picLocks noChangeAspect="1"/>
          </p:cNvPicPr>
          <p:nvPr/>
        </p:nvPicPr>
        <p:blipFill>
          <a:blip r:embed="rId1"/>
          <a:stretch>
            <a:fillRect/>
          </a:stretch>
        </p:blipFill>
        <p:spPr>
          <a:xfrm>
            <a:off x="2705735" y="1766570"/>
            <a:ext cx="7097395" cy="41275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对于一条曲线，如果存在一条直线至多与其存在</a:t>
            </a:r>
            <a:r>
              <a:rPr lang="en-US" altLang="zh-CN" sz="2400" dirty="0">
                <a:cs typeface="楷体" panose="02010609060101010101" charset="-122"/>
              </a:rPr>
              <a:t>n</a:t>
            </a:r>
            <a:r>
              <a:rPr lang="zh-CN" altLang="en-US" sz="2400" dirty="0">
                <a:cs typeface="楷体" panose="02010609060101010101" charset="-122"/>
              </a:rPr>
              <a:t>个交点，则称该曲线为</a:t>
            </a:r>
            <a:r>
              <a:rPr lang="en-US" altLang="zh-CN" sz="2400" dirty="0">
                <a:cs typeface="楷体" panose="02010609060101010101" charset="-122"/>
              </a:rPr>
              <a:t>n-1</a:t>
            </a:r>
            <a:r>
              <a:rPr lang="zh-CN" altLang="en-US" sz="2400" dirty="0">
                <a:cs typeface="楷体" panose="02010609060101010101" charset="-122"/>
              </a:rPr>
              <a:t>域的；如果存在一条将该曲线的起点和终点隔开（不在直线的同一侧）、并与其至多有</a:t>
            </a:r>
            <a:r>
              <a:rPr lang="en-US" altLang="zh-CN" sz="2400" dirty="0">
                <a:cs typeface="楷体" panose="02010609060101010101" charset="-122"/>
              </a:rPr>
              <a:t>n</a:t>
            </a:r>
            <a:r>
              <a:rPr lang="zh-CN" altLang="en-US" sz="2400" dirty="0">
                <a:cs typeface="楷体" panose="02010609060101010101" charset="-122"/>
              </a:rPr>
              <a:t>个交点的直线，则称该曲线为逆向</a:t>
            </a:r>
            <a:r>
              <a:rPr lang="en-US" altLang="zh-CN" sz="2400" dirty="0">
                <a:cs typeface="楷体" panose="02010609060101010101" charset="-122"/>
              </a:rPr>
              <a:t>n-1</a:t>
            </a:r>
            <a:r>
              <a:rPr lang="zh-CN" altLang="en-US" sz="2400" dirty="0">
                <a:cs typeface="楷体" panose="02010609060101010101" charset="-122"/>
              </a:rPr>
              <a:t>域的；否则称该曲线为同向</a:t>
            </a:r>
            <a:r>
              <a:rPr lang="en-US" altLang="zh-CN" sz="2400" dirty="0">
                <a:cs typeface="楷体" panose="02010609060101010101" charset="-122"/>
              </a:rPr>
              <a:t>n-1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根据上述定义，对下列曲线的表述正确的是（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en-US" altLang="en-US" sz="2400" dirty="0">
                <a:cs typeface="楷体" panose="02010609060101010101" charset="-122"/>
              </a:rPr>
              <a:t>①</a:t>
            </a:r>
            <a:r>
              <a:rPr lang="zh-CN" altLang="en-US" sz="2400" dirty="0">
                <a:cs typeface="楷体" panose="02010609060101010101" charset="-122"/>
              </a:rPr>
              <a:t>为同向</a:t>
            </a:r>
            <a:r>
              <a:rPr lang="en-US" altLang="zh-CN" sz="2400" dirty="0">
                <a:cs typeface="楷体" panose="02010609060101010101" charset="-122"/>
              </a:rPr>
              <a:t>1</a:t>
            </a:r>
            <a:r>
              <a:rPr lang="zh-CN" altLang="en-US" sz="2400" dirty="0">
                <a:cs typeface="楷体" panose="02010609060101010101" charset="-122"/>
              </a:rPr>
              <a:t>域的</a:t>
            </a:r>
            <a:r>
              <a:rPr lang="en-US" altLang="zh-CN" sz="2400" dirty="0">
                <a:cs typeface="楷体" panose="02010609060101010101" charset="-122"/>
              </a:rPr>
              <a:t>	B.</a:t>
            </a:r>
            <a:r>
              <a:rPr lang="en-US" altLang="en-US" sz="2400" dirty="0">
                <a:cs typeface="楷体" panose="02010609060101010101" charset="-122"/>
              </a:rPr>
              <a:t>②</a:t>
            </a:r>
            <a:r>
              <a:rPr lang="zh-CN" altLang="en-US" sz="2400" dirty="0">
                <a:cs typeface="楷体" panose="02010609060101010101" charset="-122"/>
              </a:rPr>
              <a:t>为逆向</a:t>
            </a:r>
            <a:r>
              <a:rPr lang="en-US" altLang="zh-CN" sz="2400" dirty="0">
                <a:cs typeface="楷体" panose="02010609060101010101" charset="-122"/>
              </a:rPr>
              <a:t>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en-US" altLang="en-US" sz="2400" dirty="0">
                <a:cs typeface="楷体" panose="02010609060101010101" charset="-122"/>
              </a:rPr>
              <a:t>③</a:t>
            </a:r>
            <a:r>
              <a:rPr lang="zh-CN" altLang="en-US" sz="2400" dirty="0">
                <a:cs typeface="楷体" panose="02010609060101010101" charset="-122"/>
              </a:rPr>
              <a:t>为逆向</a:t>
            </a:r>
            <a:r>
              <a:rPr lang="en-US" altLang="zh-CN" sz="2400" dirty="0">
                <a:cs typeface="楷体" panose="02010609060101010101" charset="-122"/>
              </a:rPr>
              <a:t>2</a:t>
            </a:r>
            <a:r>
              <a:rPr lang="zh-CN" altLang="en-US" sz="2400" dirty="0">
                <a:cs typeface="楷体" panose="02010609060101010101" charset="-122"/>
              </a:rPr>
              <a:t>域的</a:t>
            </a:r>
            <a:r>
              <a:rPr lang="en-US" altLang="zh-CN" sz="2400" dirty="0">
                <a:cs typeface="楷体" panose="02010609060101010101" charset="-122"/>
              </a:rPr>
              <a:t>	D.</a:t>
            </a:r>
            <a:r>
              <a:rPr lang="en-US" altLang="en-US" sz="2400" dirty="0">
                <a:cs typeface="楷体" panose="02010609060101010101" charset="-122"/>
              </a:rPr>
              <a:t>④</a:t>
            </a:r>
            <a:r>
              <a:rPr lang="zh-CN" altLang="en-US" sz="2400" dirty="0">
                <a:cs typeface="楷体" panose="02010609060101010101" charset="-122"/>
              </a:rPr>
              <a:t>为同向</a:t>
            </a:r>
            <a:r>
              <a:rPr lang="en-US" altLang="zh-CN" sz="2400" dirty="0">
                <a:cs typeface="楷体" panose="02010609060101010101" charset="-122"/>
              </a:rPr>
              <a:t>2</a:t>
            </a:r>
            <a:r>
              <a:rPr lang="zh-CN" altLang="en-US" sz="2400" dirty="0">
                <a:cs typeface="楷体" panose="02010609060101010101" charset="-122"/>
              </a:rPr>
              <a:t>域的</a:t>
            </a:r>
            <a:endParaRPr lang="zh-CN" altLang="en-US" sz="2400" dirty="0">
              <a:cs typeface="楷体" panose="02010609060101010101" charset="-122"/>
            </a:endParaRPr>
          </a:p>
        </p:txBody>
      </p:sp>
      <p:pic>
        <p:nvPicPr>
          <p:cNvPr id="554" name="图片 183"/>
          <p:cNvPicPr>
            <a:picLocks noChangeAspect="1"/>
          </p:cNvPicPr>
          <p:nvPr/>
        </p:nvPicPr>
        <p:blipFill>
          <a:blip r:embed="rId1"/>
          <a:stretch>
            <a:fillRect/>
          </a:stretch>
        </p:blipFill>
        <p:spPr>
          <a:xfrm>
            <a:off x="1430655" y="3101340"/>
            <a:ext cx="6253480" cy="168846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信息仿生学是仿生学的重要分支学科，它研究生物体与外环境、生物个体与个体之间以及生物体内各部分间的信息传递、接收、存储、加工与利用，以及将其工作原理应用于技术系统之中的方法，并最终制成具有类似生物体功能的识别、探测、跟踪与计算系统。</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根据上述定义，下列属于信息仿生学研究范畴的是：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研究萤火虫、电鲶等发光、发电原理，用于制造新型高效人工冷光源和高效化学电池</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模仿动物将气味刺激转变成电脉冲送往大脑的过程制成</a:t>
            </a:r>
            <a:r>
              <a:rPr lang="en-US" altLang="zh-CN" sz="2200" dirty="0">
                <a:cs typeface="楷体" panose="02010609060101010101" charset="-122"/>
              </a:rPr>
              <a:t>“</a:t>
            </a:r>
            <a:r>
              <a:rPr lang="zh-CN" altLang="en-US" sz="2200" dirty="0">
                <a:cs typeface="楷体" panose="02010609060101010101" charset="-122"/>
              </a:rPr>
              <a:t>电子鼻</a:t>
            </a:r>
            <a:r>
              <a:rPr lang="en-US" altLang="zh-CN" sz="2200" dirty="0">
                <a:cs typeface="楷体" panose="02010609060101010101" charset="-122"/>
              </a:rPr>
              <a:t>”</a:t>
            </a:r>
            <a:r>
              <a:rPr lang="zh-CN" altLang="en-US" sz="2200" dirty="0">
                <a:cs typeface="楷体" panose="02010609060101010101" charset="-122"/>
              </a:rPr>
              <a:t>，用于分析飞船座舱中的气体成分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通过动物飞行动力学的研究，模仿海鸟翼尖形状制成了一种</a:t>
            </a:r>
            <a:r>
              <a:rPr lang="en-US" altLang="zh-CN" sz="2200" dirty="0">
                <a:cs typeface="楷体" panose="02010609060101010101" charset="-122"/>
              </a:rPr>
              <a:t>“</a:t>
            </a:r>
            <a:r>
              <a:rPr lang="zh-CN" altLang="en-US" sz="2200" dirty="0">
                <a:cs typeface="楷体" panose="02010609060101010101" charset="-122"/>
              </a:rPr>
              <a:t>锥形弯曲机翼</a:t>
            </a:r>
            <a:r>
              <a:rPr lang="en-US" altLang="zh-CN" sz="2200" dirty="0">
                <a:cs typeface="楷体" panose="02010609060101010101" charset="-122"/>
              </a:rPr>
              <a:t>”</a:t>
            </a:r>
            <a:r>
              <a:rPr lang="zh-CN" altLang="en-US" sz="2200" dirty="0">
                <a:cs typeface="楷体" panose="02010609060101010101" charset="-122"/>
              </a:rPr>
              <a:t>，提高了飞行的稳定性</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通过对人体脏器结构、功能的研究以及疾病发病分子机理的研究，设计与制造</a:t>
            </a:r>
            <a:r>
              <a:rPr lang="en-US" altLang="zh-CN" sz="2200" dirty="0">
                <a:cs typeface="楷体" panose="02010609060101010101" charset="-122"/>
              </a:rPr>
              <a:t>“</a:t>
            </a:r>
            <a:r>
              <a:rPr lang="zh-CN" altLang="en-US" sz="2200" dirty="0">
                <a:cs typeface="楷体" panose="02010609060101010101" charset="-122"/>
              </a:rPr>
              <a:t>人工脏器</a:t>
            </a:r>
            <a:r>
              <a:rPr lang="en-US" altLang="zh-CN" sz="2200" dirty="0">
                <a:cs typeface="楷体" panose="02010609060101010101" charset="-122"/>
              </a:rPr>
              <a:t>”</a:t>
            </a:r>
            <a:r>
              <a:rPr lang="zh-CN" altLang="en-US" sz="2200" dirty="0">
                <a:cs typeface="楷体" panose="02010609060101010101" charset="-122"/>
              </a:rPr>
              <a:t>，以治疗疾病</a:t>
            </a:r>
            <a:endParaRPr lang="zh-CN" altLang="en-US" sz="22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鲁棒是</a:t>
            </a:r>
            <a:r>
              <a:rPr lang="en-US" altLang="zh-CN" sz="2200" dirty="0">
                <a:cs typeface="楷体" panose="02010609060101010101" charset="-122"/>
              </a:rPr>
              <a:t>Robust</a:t>
            </a:r>
            <a:r>
              <a:rPr lang="zh-CN" altLang="en-US" sz="2200" dirty="0">
                <a:cs typeface="楷体" panose="02010609060101010101" charset="-122"/>
              </a:rPr>
              <a:t>的音译，是健壮和强壮的意思，它也指系统在异常和危险情况下生存的能力。鲁棒性，指的是控制系统在一定参数（结构、大小等）变动下，能维持其某些性能的特性。</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根据上述定义，下列涉及鲁棒性的是：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某网络传输工具可以确保发送方的数据以一种有序的方式到达客户端，同时保证数据包完整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数据黑匣子可以多重备份，为数据加密，其中的数据是不可见的，只能通过专用工具才能看到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某计算机系统在输入错误、磁盘故障、网络过载或恶意攻击的情况下，仍然能够保证不死机、系统不崩溃</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量子通信之所以安全可靠，一是它采用了</a:t>
            </a:r>
            <a:r>
              <a:rPr lang="en-US" altLang="zh-CN" sz="2200" dirty="0">
                <a:cs typeface="楷体" panose="02010609060101010101" charset="-122"/>
              </a:rPr>
              <a:t>“</a:t>
            </a:r>
            <a:r>
              <a:rPr lang="zh-CN" altLang="en-US" sz="2200" dirty="0">
                <a:cs typeface="楷体" panose="02010609060101010101" charset="-122"/>
              </a:rPr>
              <a:t>一次一密</a:t>
            </a:r>
            <a:r>
              <a:rPr lang="en-US" altLang="zh-CN" sz="2200" dirty="0">
                <a:cs typeface="楷体" panose="02010609060101010101" charset="-122"/>
              </a:rPr>
              <a:t>”</a:t>
            </a:r>
            <a:r>
              <a:rPr lang="zh-CN" altLang="en-US" sz="2200" dirty="0">
                <a:cs typeface="楷体" panose="02010609060101010101" charset="-122"/>
              </a:rPr>
              <a:t>技术，使破译者无从下手；二是它有独特的防侦听技术，一旦有窃听者存在，就会被发现</a:t>
            </a:r>
            <a:endParaRPr lang="zh-CN" altLang="en-US" sz="22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复叶是在一个叶柄上着生两个以上叶片的叶。整个复叶的叶柄称作总叶柄，复叶的叶片叫作小叶，小叶的叶柄叫作小叶柄，总叶柄着生小叶的部分称作叶轴。羽状复叶的叶轴很长，各小叶在叶轴两侧如羽毛状排列着生，若叶轴顶端无小叶，则称偶数羽状复叶；若叶轴顶端有小叶着生，则称奇数羽状复叶。有些植物在总叶柄的叶轴上并不着生小叶，而是伸展出若干次级叶轴，在次级叶轴上着生小叶，这种复叶叫作二回羽状复叶。</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根据上述定义，下列属于二回羽状复叶的是：</a:t>
            </a:r>
            <a:endParaRPr lang="zh-CN" altLang="en-US" sz="2400" dirty="0">
              <a:cs typeface="楷体" panose="02010609060101010101" charset="-122"/>
            </a:endParaRPr>
          </a:p>
        </p:txBody>
      </p:sp>
      <p:pic>
        <p:nvPicPr>
          <p:cNvPr id="5" name="图片 4"/>
          <p:cNvPicPr>
            <a:picLocks noChangeAspect="1"/>
          </p:cNvPicPr>
          <p:nvPr/>
        </p:nvPicPr>
        <p:blipFill>
          <a:blip r:embed="rId1"/>
          <a:stretch>
            <a:fillRect/>
          </a:stretch>
        </p:blipFill>
        <p:spPr>
          <a:xfrm>
            <a:off x="838200" y="4733290"/>
            <a:ext cx="8049895" cy="15290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趣味性定价指的是以数字的特殊含义、巧妙的定价结构、符合消费者个性特征等引发消费者关注的定价策略；诱惑性定价指的是对几种产品给出不同的定价，其中一种产品的定价主要是为了对消费者选择另外一种产品发挥某种诱导作用的定价策略。</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en-US" altLang="zh-CN" sz="2200" dirty="0">
                <a:cs typeface="楷体" panose="02010609060101010101" charset="-122"/>
              </a:rPr>
              <a:t>2012</a:t>
            </a:r>
            <a:r>
              <a:rPr lang="zh-CN" altLang="en-US" sz="2200" dirty="0">
                <a:cs typeface="楷体" panose="02010609060101010101" charset="-122"/>
              </a:rPr>
              <a:t>年伦敦奥运会开幕式门票给出了多种价格，最低价格是</a:t>
            </a:r>
            <a:r>
              <a:rPr lang="en-US" altLang="zh-CN" sz="2200" dirty="0">
                <a:cs typeface="楷体" panose="02010609060101010101" charset="-122"/>
              </a:rPr>
              <a:t>20.12</a:t>
            </a:r>
            <a:r>
              <a:rPr lang="zh-CN" altLang="en-US" sz="2200" dirty="0">
                <a:cs typeface="楷体" panose="02010609060101010101" charset="-122"/>
              </a:rPr>
              <a:t>英镑，最高价格是</a:t>
            </a:r>
            <a:r>
              <a:rPr lang="en-US" altLang="zh-CN" sz="2200" dirty="0">
                <a:cs typeface="楷体" panose="02010609060101010101" charset="-122"/>
              </a:rPr>
              <a:t>2012</a:t>
            </a:r>
            <a:r>
              <a:rPr lang="zh-CN" altLang="en-US" sz="2200" dirty="0">
                <a:cs typeface="楷体" panose="02010609060101010101" charset="-122"/>
              </a:rPr>
              <a:t>英镑</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某品牌洗发水有</a:t>
            </a:r>
            <a:r>
              <a:rPr lang="en-US" altLang="zh-CN" sz="2200" dirty="0">
                <a:cs typeface="楷体" panose="02010609060101010101" charset="-122"/>
              </a:rPr>
              <a:t>3</a:t>
            </a:r>
            <a:r>
              <a:rPr lang="zh-CN" altLang="en-US" sz="2200" dirty="0">
                <a:cs typeface="楷体" panose="02010609060101010101" charset="-122"/>
              </a:rPr>
              <a:t>种产品，小瓶</a:t>
            </a:r>
            <a:r>
              <a:rPr lang="en-US" altLang="zh-CN" sz="2200" dirty="0">
                <a:cs typeface="楷体" panose="02010609060101010101" charset="-122"/>
              </a:rPr>
              <a:t>125</a:t>
            </a:r>
            <a:r>
              <a:rPr lang="zh-CN" altLang="en-US" sz="2200" dirty="0">
                <a:cs typeface="楷体" panose="02010609060101010101" charset="-122"/>
              </a:rPr>
              <a:t>克</a:t>
            </a:r>
            <a:r>
              <a:rPr lang="en-US" altLang="zh-CN" sz="2200" dirty="0">
                <a:cs typeface="楷体" panose="02010609060101010101" charset="-122"/>
              </a:rPr>
              <a:t>21</a:t>
            </a:r>
            <a:r>
              <a:rPr lang="zh-CN" altLang="en-US" sz="2200" dirty="0">
                <a:cs typeface="楷体" panose="02010609060101010101" charset="-122"/>
              </a:rPr>
              <a:t>元，中瓶</a:t>
            </a:r>
            <a:r>
              <a:rPr lang="en-US" altLang="zh-CN" sz="2200" dirty="0">
                <a:cs typeface="楷体" panose="02010609060101010101" charset="-122"/>
              </a:rPr>
              <a:t>250</a:t>
            </a:r>
            <a:r>
              <a:rPr lang="zh-CN" altLang="en-US" sz="2200" dirty="0">
                <a:cs typeface="楷体" panose="02010609060101010101" charset="-122"/>
              </a:rPr>
              <a:t>克</a:t>
            </a:r>
            <a:r>
              <a:rPr lang="en-US" altLang="zh-CN" sz="2200" dirty="0">
                <a:cs typeface="楷体" panose="02010609060101010101" charset="-122"/>
              </a:rPr>
              <a:t>36</a:t>
            </a:r>
            <a:r>
              <a:rPr lang="zh-CN" altLang="en-US" sz="2200" dirty="0">
                <a:cs typeface="楷体" panose="02010609060101010101" charset="-122"/>
              </a:rPr>
              <a:t>元，大瓶</a:t>
            </a:r>
            <a:r>
              <a:rPr lang="en-US" altLang="zh-CN" sz="2200" dirty="0">
                <a:cs typeface="楷体" panose="02010609060101010101" charset="-122"/>
              </a:rPr>
              <a:t>500</a:t>
            </a:r>
            <a:r>
              <a:rPr lang="zh-CN" altLang="en-US" sz="2200" dirty="0">
                <a:cs typeface="楷体" panose="02010609060101010101" charset="-122"/>
              </a:rPr>
              <a:t>克</a:t>
            </a:r>
            <a:r>
              <a:rPr lang="en-US" altLang="zh-CN" sz="2200" dirty="0">
                <a:cs typeface="楷体" panose="02010609060101010101" charset="-122"/>
              </a:rPr>
              <a:t>61</a:t>
            </a:r>
            <a:r>
              <a:rPr lang="zh-CN" altLang="en-US" sz="2200" dirty="0">
                <a:cs typeface="楷体" panose="02010609060101010101" charset="-122"/>
              </a:rPr>
              <a:t>元</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某期刊仅订阅网络版每年</a:t>
            </a:r>
            <a:r>
              <a:rPr lang="en-US" altLang="zh-CN" sz="2200" dirty="0">
                <a:cs typeface="楷体" panose="02010609060101010101" charset="-122"/>
              </a:rPr>
              <a:t>70</a:t>
            </a:r>
            <a:r>
              <a:rPr lang="zh-CN" altLang="en-US" sz="2200" dirty="0">
                <a:cs typeface="楷体" panose="02010609060101010101" charset="-122"/>
              </a:rPr>
              <a:t>元，仅订阅纸质版每年</a:t>
            </a:r>
            <a:r>
              <a:rPr lang="en-US" altLang="zh-CN" sz="2200" dirty="0">
                <a:cs typeface="楷体" panose="02010609060101010101" charset="-122"/>
              </a:rPr>
              <a:t>120</a:t>
            </a:r>
            <a:r>
              <a:rPr lang="zh-CN" altLang="en-US" sz="2200" dirty="0">
                <a:cs typeface="楷体" panose="02010609060101010101" charset="-122"/>
              </a:rPr>
              <a:t>元，同时订阅网络版和纸质版每年也是</a:t>
            </a:r>
            <a:r>
              <a:rPr lang="en-US" altLang="zh-CN" sz="2200" dirty="0">
                <a:cs typeface="楷体" panose="02010609060101010101" charset="-122"/>
              </a:rPr>
              <a:t>120</a:t>
            </a:r>
            <a:r>
              <a:rPr lang="zh-CN" altLang="en-US" sz="2200" dirty="0">
                <a:cs typeface="楷体" panose="02010609060101010101" charset="-122"/>
              </a:rPr>
              <a:t>元</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根据上述定义，下列判断正确的是（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en-US" altLang="en-US" sz="2200" dirty="0">
                <a:cs typeface="楷体" panose="02010609060101010101" charset="-122"/>
              </a:rPr>
              <a:t>①③</a:t>
            </a:r>
            <a:r>
              <a:rPr lang="zh-CN" altLang="en-US" sz="2200" dirty="0">
                <a:cs typeface="楷体" panose="02010609060101010101" charset="-122"/>
              </a:rPr>
              <a:t>是诱惑性定价，</a:t>
            </a:r>
            <a:r>
              <a:rPr lang="en-US" altLang="en-US" sz="2200" dirty="0">
                <a:cs typeface="楷体" panose="02010609060101010101" charset="-122"/>
              </a:rPr>
              <a:t>②</a:t>
            </a:r>
            <a:r>
              <a:rPr lang="zh-CN" altLang="en-US" sz="2200" dirty="0">
                <a:cs typeface="楷体" panose="02010609060101010101" charset="-122"/>
              </a:rPr>
              <a:t>是趣味性定价</a:t>
            </a:r>
            <a:r>
              <a:rPr lang="en-US" altLang="zh-CN" sz="2200" dirty="0">
                <a:cs typeface="楷体" panose="02010609060101010101" charset="-122"/>
              </a:rPr>
              <a:t>		B.</a:t>
            </a:r>
            <a:r>
              <a:rPr lang="en-US" altLang="en-US" sz="2200" dirty="0">
                <a:cs typeface="楷体" panose="02010609060101010101" charset="-122"/>
              </a:rPr>
              <a:t>②③</a:t>
            </a:r>
            <a:r>
              <a:rPr lang="zh-CN" altLang="en-US" sz="2200" dirty="0">
                <a:cs typeface="楷体" panose="02010609060101010101" charset="-122"/>
              </a:rPr>
              <a:t>是诱惑性定价</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en-US" altLang="en-US" sz="2200" dirty="0">
                <a:cs typeface="楷体" panose="02010609060101010101" charset="-122"/>
              </a:rPr>
              <a:t>①</a:t>
            </a:r>
            <a:r>
              <a:rPr lang="zh-CN" altLang="en-US" sz="2200" dirty="0">
                <a:cs typeface="楷体" panose="02010609060101010101" charset="-122"/>
              </a:rPr>
              <a:t>是趣味性定价，</a:t>
            </a:r>
            <a:r>
              <a:rPr lang="en-US" altLang="en-US" sz="2200" dirty="0">
                <a:cs typeface="楷体" panose="02010609060101010101" charset="-122"/>
              </a:rPr>
              <a:t>③</a:t>
            </a:r>
            <a:r>
              <a:rPr lang="zh-CN" altLang="en-US" sz="2200" dirty="0">
                <a:cs typeface="楷体" panose="02010609060101010101" charset="-122"/>
              </a:rPr>
              <a:t>是诱惑性定价</a:t>
            </a:r>
            <a:r>
              <a:rPr lang="en-US" altLang="zh-CN" sz="2200" dirty="0">
                <a:cs typeface="楷体" panose="02010609060101010101" charset="-122"/>
              </a:rPr>
              <a:t>			D.</a:t>
            </a:r>
            <a:r>
              <a:rPr lang="en-US" altLang="en-US" sz="2200" dirty="0">
                <a:cs typeface="楷体" panose="02010609060101010101" charset="-122"/>
              </a:rPr>
              <a:t>①②③</a:t>
            </a:r>
            <a:r>
              <a:rPr lang="zh-CN" altLang="en-US" sz="2200" dirty="0">
                <a:cs typeface="楷体" panose="02010609060101010101" charset="-122"/>
              </a:rPr>
              <a:t>均是诱惑性定价</a:t>
            </a:r>
            <a:endParaRPr lang="zh-CN" altLang="en-US" sz="22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闭门：造车</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抛砖：引玉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震耳：欲聋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冷言：冷语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曲高：和寡</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汽锅鸡：竹筒饭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螺蛳粉：东坡肉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瓦罐鱼：小笼包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铁板烧：三杯鸡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盐水鸭：担担面</a:t>
            </a:r>
            <a:endParaRPr lang="zh-CN" altLang="en-US" sz="24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蝴蝶结：荷花灯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百花潭：护城河</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啄木鸟：胖头鱼</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珊瑚礁：琉璃瓦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彩虹桥：猫眼石</a:t>
            </a:r>
            <a:endParaRPr lang="zh-CN" altLang="en-US" sz="24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近乡情更怯：不敢问来人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空山不见人：但闻人语响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松下问童子：言师采药去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君自故乡来：应知故乡事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至今思项羽：不肯过江东</a:t>
            </a:r>
            <a:endParaRPr lang="zh-CN" altLang="en-US"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设计：制作：售卖</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起草：提交：审核</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报名：笔试：面试</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申请：入职：录取</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生人：熟人：朋友</a:t>
            </a:r>
            <a:endParaRPr lang="zh-CN" altLang="en-US" sz="2200" dirty="0">
              <a:cs typeface="楷体" panose="02010609060101010101" charset="-122"/>
            </a:endParaRPr>
          </a:p>
          <a:p>
            <a:pPr indent="0" fontAlgn="auto">
              <a:lnSpc>
                <a:spcPct val="150000"/>
              </a:lnSpc>
            </a:pPr>
            <a:endParaRPr lang="zh-CN" altLang="en-US" sz="22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大脑：思考：思想</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心脏：跳动：血液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肺脏：呼吸：空气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芯片：编程：软件</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车床：切割：产品</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弹簧秤：刻度盘：挂钩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乐器：口哨：歌曲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灭火器：干粉：泡沫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纯电车：油箱：排气管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吹风机：电动机：风叶</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体脂率：脂肪重量：人体重量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使用面积：建筑面积：公摊面积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瞬时速度：相对速度：匀速运动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三角函数：余弦函数：正弦函数</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物质密度：物质质量：物质体积</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1068832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钠对于（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）对于衣服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腐蚀；装饰</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固体；商品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元素；羽绒服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电解质；鞋帽</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营业执照对于（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）对于燃烧反应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经营范围；放热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开办公司；氧化剂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市场准入；还原反应</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工商审批；化学变化</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761365"/>
            <a:ext cx="1120013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探险家在一处远古岩壁上发现了一组符号，其中有：</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1</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2</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3</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经过语言学家的分析，破译出这一组符号分别代表的意思是：（</a:t>
            </a:r>
            <a:r>
              <a:rPr lang="en-US" altLang="zh-CN" sz="2400" dirty="0">
                <a:cs typeface="楷体" panose="02010609060101010101" charset="-122"/>
              </a:rPr>
              <a:t>1</a:t>
            </a:r>
            <a:r>
              <a:rPr lang="zh-CN" altLang="en-US" sz="2400" dirty="0">
                <a:cs typeface="楷体" panose="02010609060101010101" charset="-122"/>
              </a:rPr>
              <a:t>）来了</a:t>
            </a:r>
            <a:r>
              <a:rPr lang="en-US" altLang="zh-CN" sz="2400" dirty="0">
                <a:cs typeface="楷体" panose="02010609060101010101" charset="-122"/>
              </a:rPr>
              <a:t>5</a:t>
            </a:r>
            <a:r>
              <a:rPr lang="zh-CN" altLang="en-US" sz="2400" dirty="0">
                <a:cs typeface="楷体" panose="02010609060101010101" charset="-122"/>
              </a:rPr>
              <a:t>只大老虎；（</a:t>
            </a:r>
            <a:r>
              <a:rPr lang="en-US" altLang="zh-CN" sz="2400" dirty="0">
                <a:cs typeface="楷体" panose="02010609060101010101" charset="-122"/>
              </a:rPr>
              <a:t>2</a:t>
            </a:r>
            <a:r>
              <a:rPr lang="zh-CN" altLang="en-US" sz="2400" dirty="0">
                <a:cs typeface="楷体" panose="02010609060101010101" charset="-122"/>
              </a:rPr>
              <a:t>）</a:t>
            </a:r>
            <a:r>
              <a:rPr lang="en-US" altLang="zh-CN" sz="2400" dirty="0">
                <a:cs typeface="楷体" panose="02010609060101010101" charset="-122"/>
              </a:rPr>
              <a:t>6</a:t>
            </a:r>
            <a:r>
              <a:rPr lang="zh-CN" altLang="en-US" sz="2400" dirty="0">
                <a:cs typeface="楷体" panose="02010609060101010101" charset="-122"/>
              </a:rPr>
              <a:t>只小羚羊跑了；（</a:t>
            </a:r>
            <a:r>
              <a:rPr lang="en-US" altLang="zh-CN" sz="2400" dirty="0">
                <a:cs typeface="楷体" panose="02010609060101010101" charset="-122"/>
              </a:rPr>
              <a:t>3</a:t>
            </a:r>
            <a:r>
              <a:rPr lang="zh-CN" altLang="en-US" sz="2400" dirty="0">
                <a:cs typeface="楷体" panose="02010609060101010101" charset="-122"/>
              </a:rPr>
              <a:t>）来了</a:t>
            </a:r>
            <a:r>
              <a:rPr lang="en-US" altLang="zh-CN" sz="2400" dirty="0">
                <a:cs typeface="楷体" panose="02010609060101010101" charset="-122"/>
              </a:rPr>
              <a:t>6</a:t>
            </a:r>
            <a:r>
              <a:rPr lang="zh-CN" altLang="en-US" sz="2400" dirty="0">
                <a:cs typeface="楷体" panose="02010609060101010101" charset="-122"/>
              </a:rPr>
              <a:t>只大野牛。</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根据上述信息，可以推测以下哪项中的符号代表</a:t>
            </a:r>
            <a:r>
              <a:rPr lang="en-US" altLang="zh-CN" sz="2400" dirty="0">
                <a:cs typeface="楷体" panose="02010609060101010101" charset="-122"/>
              </a:rPr>
              <a:t>“5</a:t>
            </a:r>
            <a:r>
              <a:rPr lang="zh-CN" altLang="en-US" sz="2400" dirty="0">
                <a:cs typeface="楷体" panose="02010609060101010101" charset="-122"/>
              </a:rPr>
              <a:t>头小野牛跑了</a:t>
            </a:r>
            <a:r>
              <a:rPr lang="en-US" altLang="zh-CN" sz="2400" dirty="0">
                <a:cs typeface="楷体" panose="02010609060101010101" charset="-122"/>
              </a:rPr>
              <a:t>”</a:t>
            </a:r>
            <a:r>
              <a:rPr lang="zh-CN" altLang="en-US" sz="2400" dirty="0">
                <a:cs typeface="楷体" panose="02010609060101010101" charset="-122"/>
              </a:rPr>
              <a:t>？（</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				B.</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C.				D.</a:t>
            </a:r>
            <a:endParaRPr lang="en-US" altLang="zh-CN" sz="2400" dirty="0">
              <a:cs typeface="楷体" panose="02010609060101010101" charset="-122"/>
            </a:endParaRPr>
          </a:p>
        </p:txBody>
      </p:sp>
      <p:pic>
        <p:nvPicPr>
          <p:cNvPr id="301" name="图片 188"/>
          <p:cNvPicPr>
            <a:picLocks noChangeAspect="1"/>
          </p:cNvPicPr>
          <p:nvPr/>
        </p:nvPicPr>
        <p:blipFill>
          <a:blip r:embed="rId1"/>
          <a:stretch>
            <a:fillRect/>
          </a:stretch>
        </p:blipFill>
        <p:spPr>
          <a:xfrm>
            <a:off x="1395730" y="1416050"/>
            <a:ext cx="1247140" cy="478155"/>
          </a:xfrm>
          <a:prstGeom prst="rect">
            <a:avLst/>
          </a:prstGeom>
          <a:noFill/>
          <a:ln w="9525">
            <a:noFill/>
          </a:ln>
        </p:spPr>
      </p:pic>
      <p:pic>
        <p:nvPicPr>
          <p:cNvPr id="558" name="图片 189"/>
          <p:cNvPicPr>
            <a:picLocks noChangeAspect="1"/>
          </p:cNvPicPr>
          <p:nvPr/>
        </p:nvPicPr>
        <p:blipFill>
          <a:blip r:embed="rId2"/>
          <a:stretch>
            <a:fillRect/>
          </a:stretch>
        </p:blipFill>
        <p:spPr>
          <a:xfrm>
            <a:off x="1395730" y="1948180"/>
            <a:ext cx="1246505" cy="502285"/>
          </a:xfrm>
          <a:prstGeom prst="rect">
            <a:avLst/>
          </a:prstGeom>
          <a:noFill/>
          <a:ln w="9525">
            <a:noFill/>
          </a:ln>
        </p:spPr>
      </p:pic>
      <p:pic>
        <p:nvPicPr>
          <p:cNvPr id="559" name="图片 190"/>
          <p:cNvPicPr>
            <a:picLocks noChangeAspect="1"/>
          </p:cNvPicPr>
          <p:nvPr/>
        </p:nvPicPr>
        <p:blipFill>
          <a:blip r:embed="rId3"/>
          <a:stretch>
            <a:fillRect/>
          </a:stretch>
        </p:blipFill>
        <p:spPr>
          <a:xfrm>
            <a:off x="1395730" y="2522855"/>
            <a:ext cx="1223645" cy="440690"/>
          </a:xfrm>
          <a:prstGeom prst="rect">
            <a:avLst/>
          </a:prstGeom>
          <a:noFill/>
          <a:ln w="9525">
            <a:noFill/>
          </a:ln>
        </p:spPr>
      </p:pic>
      <p:pic>
        <p:nvPicPr>
          <p:cNvPr id="289" name="图片 191"/>
          <p:cNvPicPr>
            <a:picLocks noChangeAspect="1"/>
          </p:cNvPicPr>
          <p:nvPr/>
        </p:nvPicPr>
        <p:blipFill>
          <a:blip r:embed="rId4"/>
          <a:stretch>
            <a:fillRect/>
          </a:stretch>
        </p:blipFill>
        <p:spPr>
          <a:xfrm>
            <a:off x="1129665" y="4736465"/>
            <a:ext cx="1295400" cy="444500"/>
          </a:xfrm>
          <a:prstGeom prst="rect">
            <a:avLst/>
          </a:prstGeom>
          <a:noFill/>
          <a:ln w="9525">
            <a:noFill/>
          </a:ln>
        </p:spPr>
      </p:pic>
      <p:pic>
        <p:nvPicPr>
          <p:cNvPr id="560" name="图片 192"/>
          <p:cNvPicPr>
            <a:picLocks noChangeAspect="1"/>
          </p:cNvPicPr>
          <p:nvPr/>
        </p:nvPicPr>
        <p:blipFill>
          <a:blip r:embed="rId5"/>
          <a:stretch>
            <a:fillRect/>
          </a:stretch>
        </p:blipFill>
        <p:spPr>
          <a:xfrm>
            <a:off x="4600575" y="4584065"/>
            <a:ext cx="1270000" cy="596900"/>
          </a:xfrm>
          <a:prstGeom prst="rect">
            <a:avLst/>
          </a:prstGeom>
          <a:noFill/>
          <a:ln w="9525">
            <a:noFill/>
          </a:ln>
        </p:spPr>
      </p:pic>
      <p:pic>
        <p:nvPicPr>
          <p:cNvPr id="288" name="图片 193"/>
          <p:cNvPicPr>
            <a:picLocks noChangeAspect="1"/>
          </p:cNvPicPr>
          <p:nvPr/>
        </p:nvPicPr>
        <p:blipFill>
          <a:blip r:embed="rId6"/>
          <a:stretch>
            <a:fillRect/>
          </a:stretch>
        </p:blipFill>
        <p:spPr>
          <a:xfrm>
            <a:off x="1129665" y="5286375"/>
            <a:ext cx="1333500" cy="520700"/>
          </a:xfrm>
          <a:prstGeom prst="rect">
            <a:avLst/>
          </a:prstGeom>
          <a:noFill/>
          <a:ln w="9525">
            <a:noFill/>
          </a:ln>
        </p:spPr>
      </p:pic>
      <p:pic>
        <p:nvPicPr>
          <p:cNvPr id="298" name="图片 194"/>
          <p:cNvPicPr>
            <a:picLocks noChangeAspect="1"/>
          </p:cNvPicPr>
          <p:nvPr/>
        </p:nvPicPr>
        <p:blipFill>
          <a:blip r:embed="rId7"/>
          <a:stretch>
            <a:fillRect/>
          </a:stretch>
        </p:blipFill>
        <p:spPr>
          <a:xfrm>
            <a:off x="4600575" y="5286375"/>
            <a:ext cx="1473200" cy="5207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65810"/>
            <a:ext cx="1120648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与劳动、资本、技术等要素一样，所有数据财产都属于信息时代的经济要素。只有明确数据财产的权属，才能建立和完善数据要素市场。只有建立数据财产制度，才能充分调动数据处理者在数据开发利用和流通中的积极性，并且才能使静态的数据资源在动态流转中跃变为具有经济价值的资产。只有数据资源真正成为具有经济价值的资产，才能推动数据产业的发展，并且才能实现经济的数字化转型。</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由此可以推出：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一旦明确了数据财产的权属，就能建立和完善数据要素市场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静态的数据资源只有在动态流转中才能跃变为具有经济价值的资产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若数据资源未能真正成为具有经济价值的资产就不能实现经济的数字化转型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数据财产制度建立起来了，数据处理者在数据开发利用和流通中的积极性就能充分调动起来</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42645"/>
            <a:ext cx="11152505"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考古人员在河南安阳洹河北岸的殷墟商王陵及周边区域新勘探发现东西两个围沟及</a:t>
            </a:r>
            <a:r>
              <a:rPr lang="en-US" altLang="zh-CN" sz="2400" dirty="0">
                <a:cs typeface="楷体" panose="02010609060101010101" charset="-122"/>
              </a:rPr>
              <a:t>400</a:t>
            </a:r>
            <a:r>
              <a:rPr lang="zh-CN" altLang="en-US" sz="2400" dirty="0">
                <a:cs typeface="楷体" panose="02010609060101010101" charset="-122"/>
              </a:rPr>
              <a:t>余座祭祀坑。这两个围沟均围绕在殷商大墓外围，相距</a:t>
            </a:r>
            <a:r>
              <a:rPr lang="en-US" altLang="zh-CN" sz="2400" dirty="0">
                <a:cs typeface="楷体" panose="02010609060101010101" charset="-122"/>
              </a:rPr>
              <a:t>40</a:t>
            </a:r>
            <a:r>
              <a:rPr lang="zh-CN" altLang="en-US" sz="2400" dirty="0">
                <a:cs typeface="楷体" panose="02010609060101010101" charset="-122"/>
              </a:rPr>
              <a:t>米，在东围沟东段以东、南段以南，存在大范围空白区域，极少发现商代晚期遗存，考古人员由此推测，不仅商王陵园区存在明确规划，陵园外围也有较大段范围被划入缓冲区，禁止一般人占用。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以下哪项如果为真，最能支持上述考古人员推测？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在商王陵大墓内，没有发现商代晚期遗存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在商王陵园外围区域，基本不会发现商代晚期遗存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大量发现商代晚期遗存的区域，当时均被一般人占用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发现商代晚期遗存的区域，均处于商王陵园的外围区域</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77240"/>
            <a:ext cx="11152505" cy="5035550"/>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科学家选择了两块</a:t>
            </a:r>
            <a:r>
              <a:rPr lang="en-US" altLang="zh-CN" sz="2000" dirty="0">
                <a:cs typeface="楷体" panose="02010609060101010101" charset="-122"/>
              </a:rPr>
              <a:t>“</a:t>
            </a:r>
            <a:r>
              <a:rPr lang="zh-CN" altLang="en-US" sz="2000" dirty="0">
                <a:cs typeface="楷体" panose="02010609060101010101" charset="-122"/>
              </a:rPr>
              <a:t>受伤的雨林</a:t>
            </a:r>
            <a:r>
              <a:rPr lang="en-US" altLang="zh-CN" sz="2000" dirty="0">
                <a:cs typeface="楷体" panose="02010609060101010101" charset="-122"/>
              </a:rPr>
              <a:t>”——</a:t>
            </a:r>
            <a:r>
              <a:rPr lang="zh-CN" altLang="en-US" sz="2000" dirty="0">
                <a:cs typeface="楷体" panose="02010609060101010101" charset="-122"/>
              </a:rPr>
              <a:t>原生雨林被砍光，在失去土壤韧性后又被用来放牧，最终长满了一种被称为</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的入侵植物，原生雨林没有机会喘息与再生。研究人员将其中一块地均匀覆盖上近半米的咖啡果肉，另一块土地则什么也不做，任其自然。两年之后，两块地发生了迥然不同的剧变：被咖啡果肉覆盖的那块，</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已经完全消失，取而代之的是本应属于这里的热带树种的年轻树冠；而另一块地则依然被</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霸占着。由此可见，咖啡果肉有助于热带雨林的生态恢复。</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以下各项如果为真，除哪项外均能支持以上结论？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覆盖咖啡果肉是一次</a:t>
            </a:r>
            <a:r>
              <a:rPr lang="en-US" altLang="zh-CN" sz="2000" dirty="0">
                <a:cs typeface="楷体" panose="02010609060101010101" charset="-122"/>
              </a:rPr>
              <a:t>“</a:t>
            </a:r>
            <a:r>
              <a:rPr lang="zh-CN" altLang="en-US" sz="2000" dirty="0">
                <a:cs typeface="楷体" panose="02010609060101010101" charset="-122"/>
              </a:rPr>
              <a:t>集中施肥</a:t>
            </a:r>
            <a:r>
              <a:rPr lang="en-US" altLang="zh-CN" sz="2000" dirty="0">
                <a:cs typeface="楷体" panose="02010609060101010101" charset="-122"/>
              </a:rPr>
              <a:t>”</a:t>
            </a:r>
            <a:r>
              <a:rPr lang="zh-CN" altLang="en-US" sz="2000" dirty="0">
                <a:cs typeface="楷体" panose="02010609060101010101" charset="-122"/>
              </a:rPr>
              <a:t>的过程，能够使土地更有韧性，生产恢复能力更佳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咖啡果肉是制作咖啡豆后的废料，其味道会吸引食草型动物前来觅食，改变周边的环境</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咖啡果肉中富含碳、氮、磷等植物生长所需要的营养成分，能够为雨林修复按下</a:t>
            </a:r>
            <a:r>
              <a:rPr lang="en-US" altLang="zh-CN" sz="2000" dirty="0">
                <a:cs typeface="楷体" panose="02010609060101010101" charset="-122"/>
              </a:rPr>
              <a:t>“</a:t>
            </a:r>
            <a:r>
              <a:rPr lang="zh-CN" altLang="en-US" sz="2000" dirty="0">
                <a:cs typeface="楷体" panose="02010609060101010101" charset="-122"/>
              </a:rPr>
              <a:t>加速键</a:t>
            </a:r>
            <a:r>
              <a:rPr lang="en-US" altLang="zh-CN" sz="2000" dirty="0">
                <a:cs typeface="楷体" panose="02010609060101010101" charset="-122"/>
              </a:rPr>
              <a:t>”</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半米高的咖啡果肉会形成密不透风的</a:t>
            </a:r>
            <a:r>
              <a:rPr lang="en-US" altLang="zh-CN" sz="2000" dirty="0">
                <a:cs typeface="楷体" panose="02010609060101010101" charset="-122"/>
              </a:rPr>
              <a:t>“</a:t>
            </a:r>
            <a:r>
              <a:rPr lang="zh-CN" altLang="en-US" sz="2000" dirty="0">
                <a:cs typeface="楷体" panose="02010609060101010101" charset="-122"/>
              </a:rPr>
              <a:t>隔绝</a:t>
            </a:r>
            <a:r>
              <a:rPr lang="en-US" altLang="zh-CN" sz="2000" dirty="0">
                <a:cs typeface="楷体" panose="02010609060101010101" charset="-122"/>
              </a:rPr>
              <a:t>”</a:t>
            </a:r>
            <a:r>
              <a:rPr lang="zh-CN" altLang="en-US" sz="2000" dirty="0">
                <a:cs typeface="楷体" panose="02010609060101010101" charset="-122"/>
              </a:rPr>
              <a:t>层，在重压之下</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被抑制生长，窒息死亡</a:t>
            </a:r>
            <a:endParaRPr lang="zh-CN" altLang="en-US" sz="20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4" name="文本框 3"/>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肌肉是人体最大的发热器官，肌肉含量高意味着体温高，血液的任务则是向人体</a:t>
            </a:r>
            <a:r>
              <a:rPr lang="en-US" altLang="zh-CN" sz="2200" dirty="0">
                <a:cs typeface="楷体" panose="02010609060101010101" charset="-122"/>
              </a:rPr>
              <a:t>60</a:t>
            </a:r>
            <a:r>
              <a:rPr lang="zh-CN" altLang="en-US" sz="2200" dirty="0">
                <a:cs typeface="楷体" panose="02010609060101010101" charset="-122"/>
              </a:rPr>
              <a:t>万亿个细胞输送营养和氧气，并带走二氧化碳等废物，血液中的白细胞可以识别体内的异物，并做出相应的免疫反应，体温高时，血液流速快，白细胞就能更加迅速地发现体内异常，把病原体扼杀在摇篮里。反之，体温下降，血液流速放缓，白细胞发现异物和消灭异物的效率大大降低，这就导致机体免疫力下降，容易感染病毒和细菌，引发疾病，因此加强锻炼能有效提升免疫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以下哪项最适合作为上述论证的前提？</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白细胞的工作效率决定免疫力强弱</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免疫反应主要为了消灭病毒和细菌</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人体在消除病毒和细菌时体温最高</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加强锻炼能够增加人体的肌肉含量</a:t>
            </a:r>
            <a:endParaRPr lang="zh-CN" altLang="en-US" sz="22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5" name="文本框 4"/>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日前，某眼镜公司研制了一种水梯度专利材质，这种材质可以使隐形眼镜的核心至表面含水量由</a:t>
            </a:r>
            <a:r>
              <a:rPr lang="en-US" altLang="zh-CN" sz="2200" dirty="0">
                <a:cs typeface="楷体" panose="02010609060101010101" charset="-122"/>
              </a:rPr>
              <a:t>33%</a:t>
            </a:r>
            <a:r>
              <a:rPr lang="zh-CN" altLang="en-US" sz="2200" dirty="0">
                <a:cs typeface="楷体" panose="02010609060101010101" charset="-122"/>
              </a:rPr>
              <a:t>递增到</a:t>
            </a:r>
            <a:r>
              <a:rPr lang="en-US" altLang="zh-CN" sz="2200" dirty="0">
                <a:cs typeface="楷体" panose="02010609060101010101" charset="-122"/>
              </a:rPr>
              <a:t>80%</a:t>
            </a:r>
            <a:r>
              <a:rPr lang="zh-CN" altLang="en-US" sz="2200" dirty="0">
                <a:cs typeface="楷体" panose="02010609060101010101" charset="-122"/>
              </a:rPr>
              <a:t>以上，可实现对眼睛更为长久的保湿效果。然而，新材料隐形眼镜上市后，尽管做了大力宣传，销量依然惨淡。公司负责人由此认为：隐形眼镜的使用者并不在意眼镜的保湿效果。</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以下哪项如果为真，没有削弱上述论证？</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很多消费者试戴后认为这种新产品的眼镜厚度增加，造成眼部不适</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为了保证眼睛湿润，许多隐形眼镜使用者一般只会在必要的时候佩戴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传统的隐形眼镜经常和眼睛争夺水分，长期佩戴会引发干眼症和眼部过敏</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很多消费者虽看到了广告，但由于不太了解材料的安全性能，所以没有购买</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某组织评选国际名城，关于甲、乙、丙、丁</a:t>
            </a:r>
            <a:r>
              <a:rPr lang="en-US" altLang="zh-CN" sz="2200" dirty="0">
                <a:cs typeface="楷体" panose="02010609060101010101" charset="-122"/>
              </a:rPr>
              <a:t>4</a:t>
            </a:r>
            <a:r>
              <a:rPr lang="zh-CN" altLang="en-US" sz="2200" dirty="0">
                <a:cs typeface="楷体" panose="02010609060101010101" charset="-122"/>
              </a:rPr>
              <a:t>个城市能否入选，人们预测：</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zh-CN" altLang="en-US" sz="2200" dirty="0">
                <a:cs typeface="楷体" panose="02010609060101010101" charset="-122"/>
              </a:rPr>
              <a:t>甲、乙两城市至少有</a:t>
            </a:r>
            <a:r>
              <a:rPr lang="en-US" altLang="zh-CN" sz="2200" dirty="0">
                <a:cs typeface="楷体" panose="02010609060101010101" charset="-122"/>
              </a:rPr>
              <a:t>1</a:t>
            </a:r>
            <a:r>
              <a:rPr lang="zh-CN" altLang="en-US" sz="2200" dirty="0">
                <a:cs typeface="楷体" panose="02010609060101010101" charset="-122"/>
              </a:rPr>
              <a:t>个城市入选；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若甲城市入选，则丙城市入选；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若丁城市不入选，则丙城市亦不入选；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④</a:t>
            </a:r>
            <a:r>
              <a:rPr lang="zh-CN" altLang="en-US" sz="2200" dirty="0">
                <a:cs typeface="楷体" panose="02010609060101010101" charset="-122"/>
              </a:rPr>
              <a:t>乙、丁两城市至少有</a:t>
            </a:r>
            <a:r>
              <a:rPr lang="en-US" altLang="zh-CN" sz="2200" dirty="0">
                <a:cs typeface="楷体" panose="02010609060101010101" charset="-122"/>
              </a:rPr>
              <a:t>1</a:t>
            </a:r>
            <a:r>
              <a:rPr lang="zh-CN" altLang="en-US" sz="2200" dirty="0">
                <a:cs typeface="楷体" panose="02010609060101010101" charset="-122"/>
              </a:rPr>
              <a:t>个城市不入选。</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结果，上述预测均得到证实。</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根据上述信息，可以得出以下哪项？</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仅有</a:t>
            </a:r>
            <a:r>
              <a:rPr lang="en-US" altLang="zh-CN" sz="2200" dirty="0">
                <a:cs typeface="楷体" panose="02010609060101010101" charset="-122"/>
              </a:rPr>
              <a:t>1</a:t>
            </a:r>
            <a:r>
              <a:rPr lang="zh-CN" altLang="en-US" sz="2200" dirty="0">
                <a:cs typeface="楷体" panose="02010609060101010101" charset="-122"/>
              </a:rPr>
              <a:t>个城市入选，或者仅有</a:t>
            </a:r>
            <a:r>
              <a:rPr lang="en-US" altLang="zh-CN" sz="2200" dirty="0">
                <a:cs typeface="楷体" panose="02010609060101010101" charset="-122"/>
              </a:rPr>
              <a:t>1</a:t>
            </a:r>
            <a:r>
              <a:rPr lang="zh-CN" altLang="en-US" sz="2200" dirty="0">
                <a:cs typeface="楷体" panose="02010609060101010101" charset="-122"/>
              </a:rPr>
              <a:t>个城市不入选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乙、丙</a:t>
            </a:r>
            <a:r>
              <a:rPr lang="en-US" altLang="zh-CN" sz="2200" dirty="0">
                <a:cs typeface="楷体" panose="02010609060101010101" charset="-122"/>
              </a:rPr>
              <a:t>2</a:t>
            </a:r>
            <a:r>
              <a:rPr lang="zh-CN" altLang="en-US" sz="2200" dirty="0">
                <a:cs typeface="楷体" panose="02010609060101010101" charset="-122"/>
              </a:rPr>
              <a:t>个城市均入选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至少有</a:t>
            </a:r>
            <a:r>
              <a:rPr lang="en-US" altLang="zh-CN" sz="2200" dirty="0">
                <a:cs typeface="楷体" panose="02010609060101010101" charset="-122"/>
              </a:rPr>
              <a:t>2</a:t>
            </a:r>
            <a:r>
              <a:rPr lang="zh-CN" altLang="en-US" sz="2200" dirty="0">
                <a:cs typeface="楷体" panose="02010609060101010101" charset="-122"/>
              </a:rPr>
              <a:t>个城市入选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至多有</a:t>
            </a:r>
            <a:r>
              <a:rPr lang="en-US" altLang="zh-CN" sz="2200" dirty="0">
                <a:cs typeface="楷体" panose="02010609060101010101" charset="-122"/>
              </a:rPr>
              <a:t>2</a:t>
            </a:r>
            <a:r>
              <a:rPr lang="zh-CN" altLang="en-US" sz="2200" dirty="0">
                <a:cs typeface="楷体" panose="02010609060101010101" charset="-122"/>
              </a:rPr>
              <a:t>个城市入选</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某论坛有人发帖：</a:t>
            </a:r>
            <a:r>
              <a:rPr lang="en-US" altLang="zh-CN" sz="2400" dirty="0">
                <a:cs typeface="楷体" panose="02010609060101010101" charset="-122"/>
              </a:rPr>
              <a:t>“</a:t>
            </a:r>
            <a:r>
              <a:rPr lang="zh-CN" altLang="en-US" sz="2400" dirty="0">
                <a:cs typeface="楷体" panose="02010609060101010101" charset="-122"/>
              </a:rPr>
              <a:t>人类正常体温</a:t>
            </a:r>
            <a:r>
              <a:rPr lang="en-US" altLang="zh-CN" sz="2400" dirty="0">
                <a:cs typeface="楷体" panose="02010609060101010101" charset="-122"/>
              </a:rPr>
              <a:t>37</a:t>
            </a:r>
            <a:r>
              <a:rPr lang="" altLang="en-US" sz="2400" dirty="0">
                <a:cs typeface="楷体" panose="02010609060101010101" charset="-122"/>
              </a:rPr>
              <a:t>℃</a:t>
            </a:r>
            <a:r>
              <a:rPr lang="zh-CN" altLang="en-US" sz="2400" dirty="0">
                <a:cs typeface="楷体" panose="02010609060101010101" charset="-122"/>
              </a:rPr>
              <a:t>已成历史，自</a:t>
            </a:r>
            <a:r>
              <a:rPr lang="en-US" altLang="zh-CN" sz="2400" dirty="0">
                <a:cs typeface="楷体" panose="02010609060101010101" charset="-122"/>
              </a:rPr>
              <a:t>19</a:t>
            </a:r>
            <a:r>
              <a:rPr lang="zh-CN" altLang="en-US" sz="2400" dirty="0">
                <a:cs typeface="楷体" panose="02010609060101010101" charset="-122"/>
              </a:rPr>
              <a:t>世纪以来，人类体温下降了</a:t>
            </a:r>
            <a:r>
              <a:rPr lang="en-US" altLang="zh-CN" sz="2400" dirty="0">
                <a:cs typeface="楷体" panose="02010609060101010101" charset="-122"/>
              </a:rPr>
              <a:t>0.4</a:t>
            </a:r>
            <a:r>
              <a:rPr lang="" altLang="en-US" sz="2400" dirty="0">
                <a:cs typeface="楷体" panose="02010609060101010101" charset="-122"/>
              </a:rPr>
              <a:t>℃</a:t>
            </a:r>
            <a:r>
              <a:rPr lang="zh-CN" altLang="en-US" sz="2400" dirty="0">
                <a:cs typeface="楷体" panose="02010609060101010101" charset="-122"/>
              </a:rPr>
              <a:t>，而体温每下降</a:t>
            </a:r>
            <a:r>
              <a:rPr lang="en-US" altLang="zh-CN" sz="2400" dirty="0">
                <a:cs typeface="楷体" panose="02010609060101010101" charset="-122"/>
              </a:rPr>
              <a:t>1</a:t>
            </a:r>
            <a:r>
              <a:rPr lang="" altLang="en-US" sz="2400" dirty="0">
                <a:cs typeface="楷体" panose="02010609060101010101" charset="-122"/>
              </a:rPr>
              <a:t>℃</a:t>
            </a:r>
            <a:r>
              <a:rPr lang="zh-CN" altLang="en-US" sz="2400" dirty="0">
                <a:cs typeface="楷体" panose="02010609060101010101" charset="-122"/>
              </a:rPr>
              <a:t>，免疫力就会下降</a:t>
            </a:r>
            <a:r>
              <a:rPr lang="en-US" altLang="zh-CN" sz="2400" dirty="0">
                <a:cs typeface="楷体" panose="02010609060101010101" charset="-122"/>
              </a:rPr>
              <a:t>30%</a:t>
            </a:r>
            <a:r>
              <a:rPr lang="zh-CN" altLang="en-US" sz="2400" dirty="0">
                <a:cs typeface="楷体" panose="02010609060101010101" charset="-122"/>
              </a:rPr>
              <a:t>；而体温每上升</a:t>
            </a:r>
            <a:r>
              <a:rPr lang="en-US" altLang="zh-CN" sz="2400" dirty="0">
                <a:cs typeface="楷体" panose="02010609060101010101" charset="-122"/>
              </a:rPr>
              <a:t>1</a:t>
            </a:r>
            <a:r>
              <a:rPr lang="" altLang="en-US" sz="2400" dirty="0">
                <a:cs typeface="楷体" panose="02010609060101010101" charset="-122"/>
              </a:rPr>
              <a:t>℃</a:t>
            </a:r>
            <a:r>
              <a:rPr lang="zh-CN" altLang="en-US" sz="2400" dirty="0">
                <a:cs typeface="楷体" panose="02010609060101010101" charset="-122"/>
              </a:rPr>
              <a:t>，免疫力就会提高</a:t>
            </a:r>
            <a:r>
              <a:rPr lang="en-US" altLang="zh-CN" sz="2400" dirty="0">
                <a:cs typeface="楷体" panose="02010609060101010101" charset="-122"/>
              </a:rPr>
              <a:t>5-6</a:t>
            </a:r>
            <a:r>
              <a:rPr lang="zh-CN" altLang="en-US" sz="2400" dirty="0">
                <a:cs typeface="楷体" panose="02010609060101010101" charset="-122"/>
              </a:rPr>
              <a:t>倍。</a:t>
            </a:r>
            <a:r>
              <a:rPr lang="en-US" altLang="zh-CN" sz="2400" dirty="0">
                <a:cs typeface="楷体" panose="02010609060101010101" charset="-122"/>
              </a:rPr>
              <a:t>”</a:t>
            </a:r>
            <a:r>
              <a:rPr lang="zh-CN" altLang="en-US" sz="2400" dirty="0">
                <a:cs typeface="楷体" panose="02010609060101010101" charset="-122"/>
              </a:rPr>
              <a:t>因此有网友担心，自己体温始终低于正常标准，这意味着自己的免疫力也低于常人。</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以下哪项如果为真，最能质疑该网友的担心？（</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人类体温是否自</a:t>
            </a:r>
            <a:r>
              <a:rPr lang="en-US" altLang="zh-CN" sz="2400" dirty="0">
                <a:cs typeface="楷体" panose="02010609060101010101" charset="-122"/>
              </a:rPr>
              <a:t>19</a:t>
            </a:r>
            <a:r>
              <a:rPr lang="zh-CN" altLang="en-US" sz="2400" dirty="0">
                <a:cs typeface="楷体" panose="02010609060101010101" charset="-122"/>
              </a:rPr>
              <a:t>世纪以来下降了</a:t>
            </a:r>
            <a:r>
              <a:rPr lang="en-US" altLang="zh-CN" sz="2400" dirty="0">
                <a:cs typeface="楷体" panose="02010609060101010101" charset="-122"/>
              </a:rPr>
              <a:t>0.4</a:t>
            </a:r>
            <a:r>
              <a:rPr lang="" altLang="en-US" sz="2400" dirty="0">
                <a:cs typeface="楷体" panose="02010609060101010101" charset="-122"/>
              </a:rPr>
              <a:t>℃</a:t>
            </a:r>
            <a:r>
              <a:rPr lang="zh-CN" altLang="en-US" sz="2400" dirty="0">
                <a:cs typeface="楷体" panose="02010609060101010101" charset="-122"/>
              </a:rPr>
              <a:t>，目前并无权威统计数据支持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体温越高，就会激活人体内更多的免疫细胞，从而更好地歼灭入侵的病原微生物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正常体温标准是根据多数人的测量结果而来，每个人的体温存在差异属于正常现象，对健康并无影响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一般正常体温为腋下温度</a:t>
            </a:r>
            <a:r>
              <a:rPr lang="en-US" altLang="zh-CN" sz="2400" dirty="0">
                <a:cs typeface="楷体" panose="02010609060101010101" charset="-122"/>
              </a:rPr>
              <a:t>36-37</a:t>
            </a:r>
            <a:r>
              <a:rPr lang="" altLang="en-US" sz="2400" dirty="0">
                <a:cs typeface="楷体" panose="02010609060101010101" charset="-122"/>
              </a:rPr>
              <a:t>℃</a:t>
            </a:r>
            <a:r>
              <a:rPr lang="zh-CN" altLang="en-US" sz="2400" dirty="0">
                <a:cs typeface="楷体" panose="02010609060101010101" charset="-122"/>
              </a:rPr>
              <a:t>，舌下温度为</a:t>
            </a:r>
            <a:r>
              <a:rPr lang="en-US" altLang="zh-CN" sz="2400" dirty="0">
                <a:cs typeface="楷体" panose="02010609060101010101" charset="-122"/>
              </a:rPr>
              <a:t>36.3-37.2</a:t>
            </a:r>
            <a:r>
              <a:rPr lang="" altLang="en-US" sz="2400" dirty="0">
                <a:cs typeface="楷体" panose="02010609060101010101" charset="-122"/>
              </a:rPr>
              <a:t>℃</a:t>
            </a:r>
            <a:r>
              <a:rPr lang="zh-CN" altLang="en-US" sz="2400" dirty="0">
                <a:cs typeface="楷体" panose="02010609060101010101" charset="-122"/>
              </a:rPr>
              <a:t>，直肠温度为，体位不同，有所差异</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29</a:t>
            </a:r>
            <a:endParaRPr kumimoji="1" lang="en-US" altLang="zh-CN" sz="2800" b="1" dirty="0">
              <a:solidFill>
                <a:srgbClr val="FF653F"/>
              </a:solidFill>
            </a:endParaRPr>
          </a:p>
        </p:txBody>
      </p:sp>
      <p:sp>
        <p:nvSpPr>
          <p:cNvPr id="3" name="文本框 2"/>
          <p:cNvSpPr txBox="1"/>
          <p:nvPr/>
        </p:nvSpPr>
        <p:spPr>
          <a:xfrm>
            <a:off x="462915" y="665480"/>
            <a:ext cx="114604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根据以下材料，回答</a:t>
            </a:r>
            <a:r>
              <a:rPr lang="en-US" altLang="zh-CN" sz="2400" dirty="0">
                <a:cs typeface="楷体" panose="02010609060101010101" charset="-122"/>
                <a:sym typeface="+mn-ea"/>
              </a:rPr>
              <a:t>29</a:t>
            </a:r>
            <a:r>
              <a:rPr lang="zh-CN" altLang="en-US" sz="2400" dirty="0">
                <a:cs typeface="楷体" panose="02010609060101010101" charset="-122"/>
                <a:sym typeface="+mn-ea"/>
              </a:rPr>
              <a:t>～</a:t>
            </a:r>
            <a:r>
              <a:rPr lang="en-US" altLang="zh-CN" sz="2400" dirty="0">
                <a:cs typeface="楷体" panose="02010609060101010101" charset="-122"/>
                <a:sym typeface="+mn-ea"/>
              </a:rPr>
              <a:t>30</a:t>
            </a:r>
            <a:r>
              <a:rPr lang="zh-CN" altLang="en-US" sz="2400" dirty="0">
                <a:cs typeface="楷体" panose="02010609060101010101" charset="-122"/>
                <a:sym typeface="+mn-ea"/>
              </a:rPr>
              <a:t>题。</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rPr>
              <a:t>某小区一路段安装有甲、乙、丙、丁、戊</a:t>
            </a:r>
            <a:r>
              <a:rPr lang="en-US" altLang="zh-CN" sz="2400" dirty="0">
                <a:cs typeface="楷体" panose="02010609060101010101" charset="-122"/>
              </a:rPr>
              <a:t>5</a:t>
            </a:r>
            <a:r>
              <a:rPr lang="zh-CN" altLang="en-US" sz="2400" dirty="0">
                <a:cs typeface="楷体" panose="02010609060101010101" charset="-122"/>
              </a:rPr>
              <a:t>盏路灯。在夜里某一时间段其亮灯规则为：</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①</a:t>
            </a:r>
            <a:r>
              <a:rPr lang="zh-CN" altLang="en-US" sz="2400" dirty="0">
                <a:cs typeface="楷体" panose="02010609060101010101" charset="-122"/>
              </a:rPr>
              <a:t>甲、乙、丙</a:t>
            </a:r>
            <a:r>
              <a:rPr lang="en-US" altLang="zh-CN" sz="2400" dirty="0">
                <a:cs typeface="楷体" panose="02010609060101010101" charset="-122"/>
              </a:rPr>
              <a:t>3</a:t>
            </a:r>
            <a:r>
              <a:rPr lang="zh-CN" altLang="en-US" sz="2400" dirty="0">
                <a:cs typeface="楷体" panose="02010609060101010101" charset="-122"/>
              </a:rPr>
              <a:t>灯至少有一盏亮；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②</a:t>
            </a:r>
            <a:r>
              <a:rPr lang="zh-CN" altLang="en-US" sz="2400" dirty="0">
                <a:cs typeface="楷体" panose="02010609060101010101" charset="-122"/>
              </a:rPr>
              <a:t>如果甲灯亮，则丁灯亮；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③</a:t>
            </a:r>
            <a:r>
              <a:rPr lang="zh-CN" altLang="en-US" sz="2400" dirty="0">
                <a:cs typeface="楷体" panose="02010609060101010101" charset="-122"/>
              </a:rPr>
              <a:t>如果丁灯亮，则戊灯亮；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④</a:t>
            </a:r>
            <a:r>
              <a:rPr lang="zh-CN" altLang="en-US" sz="2400" dirty="0">
                <a:cs typeface="楷体" panose="02010609060101010101" charset="-122"/>
              </a:rPr>
              <a:t>乙灯、戊灯至少有一盏不亮；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⑤</a:t>
            </a:r>
            <a:r>
              <a:rPr lang="zh-CN" altLang="en-US" sz="2400" dirty="0">
                <a:cs typeface="楷体" panose="02010609060101010101" charset="-122"/>
              </a:rPr>
              <a:t>丙灯、戊灯至少有一盏不亮。</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29.</a:t>
            </a:r>
            <a:r>
              <a:rPr lang="zh-CN" altLang="en-US" sz="2400" dirty="0">
                <a:cs typeface="楷体" panose="02010609060101010101" charset="-122"/>
              </a:rPr>
              <a:t>若只有一盏灯亮，则以下哪项是可能的？（</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甲灯亮</a:t>
            </a:r>
            <a:r>
              <a:rPr lang="en-US" altLang="zh-CN" sz="2400" dirty="0">
                <a:cs typeface="楷体" panose="02010609060101010101" charset="-122"/>
              </a:rPr>
              <a:t>	B.</a:t>
            </a:r>
            <a:r>
              <a:rPr lang="zh-CN" altLang="en-US" sz="2400" dirty="0">
                <a:cs typeface="楷体" panose="02010609060101010101" charset="-122"/>
              </a:rPr>
              <a:t>乙灯亮</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丁灯亮</a:t>
            </a:r>
            <a:r>
              <a:rPr lang="en-US" altLang="zh-CN" sz="2400" dirty="0">
                <a:cs typeface="楷体" panose="02010609060101010101" charset="-122"/>
              </a:rPr>
              <a:t>	D.</a:t>
            </a:r>
            <a:r>
              <a:rPr lang="zh-CN" altLang="en-US" sz="2400" dirty="0">
                <a:cs typeface="楷体" panose="02010609060101010101" charset="-122"/>
              </a:rPr>
              <a:t>戊灯亮</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30</a:t>
            </a:r>
            <a:endParaRPr kumimoji="1" lang="en-US" altLang="zh-CN" sz="2800" b="1" dirty="0">
              <a:solidFill>
                <a:srgbClr val="FF653F"/>
              </a:solidFill>
            </a:endParaRPr>
          </a:p>
        </p:txBody>
      </p:sp>
      <p:sp>
        <p:nvSpPr>
          <p:cNvPr id="3" name="文本框 2"/>
          <p:cNvSpPr txBox="1"/>
          <p:nvPr/>
        </p:nvSpPr>
        <p:spPr>
          <a:xfrm>
            <a:off x="462915" y="665480"/>
            <a:ext cx="114604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根据以下材料，回答</a:t>
            </a:r>
            <a:r>
              <a:rPr lang="en-US" altLang="zh-CN" sz="2400" dirty="0">
                <a:cs typeface="楷体" panose="02010609060101010101" charset="-122"/>
                <a:sym typeface="+mn-ea"/>
              </a:rPr>
              <a:t>29</a:t>
            </a:r>
            <a:r>
              <a:rPr lang="zh-CN" altLang="en-US" sz="2400" dirty="0">
                <a:cs typeface="楷体" panose="02010609060101010101" charset="-122"/>
                <a:sym typeface="+mn-ea"/>
              </a:rPr>
              <a:t>～</a:t>
            </a:r>
            <a:r>
              <a:rPr lang="en-US" altLang="zh-CN" sz="2400" dirty="0">
                <a:cs typeface="楷体" panose="02010609060101010101" charset="-122"/>
                <a:sym typeface="+mn-ea"/>
              </a:rPr>
              <a:t>30</a:t>
            </a:r>
            <a:r>
              <a:rPr lang="zh-CN" altLang="en-US" sz="2400" dirty="0">
                <a:cs typeface="楷体" panose="02010609060101010101" charset="-122"/>
                <a:sym typeface="+mn-ea"/>
              </a:rPr>
              <a:t>题。</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rPr>
              <a:t>某小区一路段安装有甲、乙、丙、丁、戊</a:t>
            </a:r>
            <a:r>
              <a:rPr lang="en-US" altLang="zh-CN" sz="2400" dirty="0">
                <a:cs typeface="楷体" panose="02010609060101010101" charset="-122"/>
              </a:rPr>
              <a:t>5</a:t>
            </a:r>
            <a:r>
              <a:rPr lang="zh-CN" altLang="en-US" sz="2400" dirty="0">
                <a:cs typeface="楷体" panose="02010609060101010101" charset="-122"/>
              </a:rPr>
              <a:t>盏路灯。在夜里某一时间段其亮灯规则为：</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①</a:t>
            </a:r>
            <a:r>
              <a:rPr lang="zh-CN" altLang="en-US" sz="2400" dirty="0">
                <a:cs typeface="楷体" panose="02010609060101010101" charset="-122"/>
              </a:rPr>
              <a:t>甲、乙、丙</a:t>
            </a:r>
            <a:r>
              <a:rPr lang="en-US" altLang="zh-CN" sz="2400" dirty="0">
                <a:cs typeface="楷体" panose="02010609060101010101" charset="-122"/>
              </a:rPr>
              <a:t>3</a:t>
            </a:r>
            <a:r>
              <a:rPr lang="zh-CN" altLang="en-US" sz="2400" dirty="0">
                <a:cs typeface="楷体" panose="02010609060101010101" charset="-122"/>
              </a:rPr>
              <a:t>灯至少有一盏亮；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②</a:t>
            </a:r>
            <a:r>
              <a:rPr lang="zh-CN" altLang="en-US" sz="2400" dirty="0">
                <a:cs typeface="楷体" panose="02010609060101010101" charset="-122"/>
              </a:rPr>
              <a:t>如果甲灯亮，则丁灯亮；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③</a:t>
            </a:r>
            <a:r>
              <a:rPr lang="zh-CN" altLang="en-US" sz="2400" dirty="0">
                <a:cs typeface="楷体" panose="02010609060101010101" charset="-122"/>
              </a:rPr>
              <a:t>如果丁灯亮，则戊灯亮；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④</a:t>
            </a:r>
            <a:r>
              <a:rPr lang="zh-CN" altLang="en-US" sz="2400" dirty="0">
                <a:cs typeface="楷体" panose="02010609060101010101" charset="-122"/>
              </a:rPr>
              <a:t>乙灯、戊灯至少有一盏不亮；</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⑤</a:t>
            </a:r>
            <a:r>
              <a:rPr lang="zh-CN" altLang="en-US" sz="2400" dirty="0">
                <a:cs typeface="楷体" panose="02010609060101010101" charset="-122"/>
              </a:rPr>
              <a:t>丙灯、戊灯至少有一盏不亮。</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30.</a:t>
            </a:r>
            <a:r>
              <a:rPr lang="zh-CN" altLang="en-US" sz="2400" dirty="0">
                <a:cs typeface="楷体" panose="02010609060101010101" charset="-122"/>
              </a:rPr>
              <a:t>若只有</a:t>
            </a:r>
            <a:r>
              <a:rPr lang="en-US" altLang="zh-CN" sz="2400" dirty="0">
                <a:cs typeface="楷体" panose="02010609060101010101" charset="-122"/>
              </a:rPr>
              <a:t>3</a:t>
            </a:r>
            <a:r>
              <a:rPr lang="zh-CN" altLang="en-US" sz="2400" dirty="0">
                <a:cs typeface="楷体" panose="02010609060101010101" charset="-122"/>
              </a:rPr>
              <a:t>盏灯亮，则下列哪项中的两盏灯一定亮？（</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甲、乙</a:t>
            </a:r>
            <a:r>
              <a:rPr lang="en-US" altLang="zh-CN" sz="2400" dirty="0">
                <a:cs typeface="楷体" panose="02010609060101010101" charset="-122"/>
              </a:rPr>
              <a:t>	B.</a:t>
            </a:r>
            <a:r>
              <a:rPr lang="zh-CN" altLang="en-US" sz="2400" dirty="0">
                <a:cs typeface="楷体" panose="02010609060101010101" charset="-122"/>
              </a:rPr>
              <a:t>乙、丙</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丙、丁</a:t>
            </a:r>
            <a:r>
              <a:rPr lang="en-US" altLang="zh-CN" sz="2400" dirty="0">
                <a:cs typeface="楷体" panose="02010609060101010101" charset="-122"/>
              </a:rPr>
              <a:t>	D.</a:t>
            </a:r>
            <a:r>
              <a:rPr lang="zh-CN" altLang="en-US" sz="2400" dirty="0">
                <a:cs typeface="楷体" panose="02010609060101010101" charset="-122"/>
              </a:rPr>
              <a:t>丁、戊</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9.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6.xml><?xml version="1.0" encoding="utf-8"?>
<p:tagLst xmlns:p="http://schemas.openxmlformats.org/presentationml/2006/main">
  <p:tag name="picid" val="{25afab71-fec0-411c-8ded-60cac90c40a9}"/>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3.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4.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5.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7.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8.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4817</Words>
  <Application>WPS 演示</Application>
  <PresentationFormat>宽屏</PresentationFormat>
  <Paragraphs>269</Paragraphs>
  <Slides>32</Slides>
  <Notes>4</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32</vt:i4>
      </vt:variant>
    </vt:vector>
  </HeadingPairs>
  <TitlesOfParts>
    <vt:vector size="45" baseType="lpstr">
      <vt:lpstr>Arial</vt:lpstr>
      <vt:lpstr>宋体</vt:lpstr>
      <vt:lpstr>Wingdings</vt:lpstr>
      <vt:lpstr>楷体</vt:lpstr>
      <vt:lpstr>MiSans Bold</vt:lpstr>
      <vt:lpstr>微软雅黑</vt:lpstr>
      <vt:lpstr>Arial Unicode MS</vt:lpstr>
      <vt:lpstr>MiSans Bold</vt:lpstr>
      <vt:lpstr>Segoe Print</vt:lpstr>
      <vt:lpstr>5_Office 主题​​</vt:lpstr>
      <vt:lpstr>6_Office 主题​​</vt:lpstr>
      <vt:lpstr>9_Office 主题​​</vt:lpstr>
      <vt:lpstr>图形职场办公简约风</vt:lpstr>
      <vt:lpstr>判断推理套题1 2025年上半年A类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题29</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220</cp:revision>
  <dcterms:created xsi:type="dcterms:W3CDTF">2019-06-19T02:08:00Z</dcterms:created>
  <dcterms:modified xsi:type="dcterms:W3CDTF">2025-11-27T05:35:50Z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