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7" r:id="rId5"/>
  </p:sldMasterIdLst>
  <p:notesMasterIdLst>
    <p:notesMasterId r:id="rId7"/>
  </p:notesMasterIdLst>
  <p:handoutMasterIdLst>
    <p:handoutMasterId r:id="rId39"/>
  </p:handoutMasterIdLst>
  <p:sldIdLst>
    <p:sldId id="629" r:id="rId6"/>
    <p:sldId id="1582" r:id="rId8"/>
    <p:sldId id="1583" r:id="rId9"/>
    <p:sldId id="1584" r:id="rId10"/>
    <p:sldId id="1585" r:id="rId11"/>
    <p:sldId id="1586" r:id="rId12"/>
    <p:sldId id="1588" r:id="rId13"/>
    <p:sldId id="1589" r:id="rId14"/>
    <p:sldId id="1590" r:id="rId15"/>
    <p:sldId id="1591" r:id="rId16"/>
    <p:sldId id="1592" r:id="rId17"/>
    <p:sldId id="1593" r:id="rId18"/>
    <p:sldId id="1594" r:id="rId19"/>
    <p:sldId id="1595" r:id="rId20"/>
    <p:sldId id="1596" r:id="rId21"/>
    <p:sldId id="1597" r:id="rId22"/>
    <p:sldId id="1598" r:id="rId23"/>
    <p:sldId id="1599" r:id="rId24"/>
    <p:sldId id="1600" r:id="rId25"/>
    <p:sldId id="1601" r:id="rId26"/>
    <p:sldId id="1602" r:id="rId27"/>
    <p:sldId id="1603" r:id="rId28"/>
    <p:sldId id="1604" r:id="rId29"/>
    <p:sldId id="1605" r:id="rId30"/>
    <p:sldId id="1606" r:id="rId31"/>
    <p:sldId id="1607" r:id="rId32"/>
    <p:sldId id="1608" r:id="rId33"/>
    <p:sldId id="1609" r:id="rId34"/>
    <p:sldId id="1610" r:id="rId35"/>
    <p:sldId id="1619" r:id="rId36"/>
    <p:sldId id="1616" r:id="rId37"/>
    <p:sldId id="1581" r:id="rId38"/>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4" Type="http://schemas.openxmlformats.org/officeDocument/2006/relationships/tags" Target="tags/tag46.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handoutMaster" Target="handoutMasters/handoutMaster1.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解析：本题属于数量类，主要考查线数量。</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题干图形中黑色图形的边数依次为</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条，依次递增，故？处应选择黑色图形边数为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条的图形，只有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解析：本题属于位置类，主要考查线形关系。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且图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中封闭图形与其余的直线相交于封闭图形的一个顶点，图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中封闭图形与其余的直线相交于封闭图形的一条边，如下图所示，故图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为一组，图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为一组。</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解析：本题属于重构类，主要考查截面图。</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项：如下图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所示，经过上方四棱锥的顶点斜切于下底面，切到正方体，即可得到</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项：如下图</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所示，在立体图一侧，从四棱锥侧面选择与底面平行的直线，垂直于下底面切到正方体，即可得到</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项：如下图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所示，水平方向切上方四棱锥即可得到</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项：从任何方向切开，都得不到该截面，当选。</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主视图是立体图从前向后观察，根据原图有线就有线，原图没线就没线的原则，主视图应只有四个小方块，且小方块内部无直线，排除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两项。左视图是立体图从左向右观察，如下图所示，立体图中箭头指向的位置无实竖线，则左视图中该位置也应无实线，排除</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通过左侧大正方体仅能观察到</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个灰色正方体的位置，将其可见部分移开后，被遮挡了</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个方块，结合选项，剩余</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个灰色正方体均在棱上，可能情况如下：</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项：该图为大正方体由下而上观察到的视图，剩余</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个灰色正方体的排布为第</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种情况，可能为真，排除；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项：该图为大正方体上下翻转后的右视图，剩余</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个灰色正方体的排布为第</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种情况，可能为真，排除；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项：该图为大正方体的左视图，剩余</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个灰色正方体的排布为第</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种情况，但其余灰色正方体的排布应该如下图所示，不可能为真，当选；</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项：该图为大正方体向后翻转一个面后的左视图，剩余</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个灰色正方体的排布为第</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种情况，可能为真，排除；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年某高校讲师数量与该校教师总人数之比，符合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项：某地区</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年男性新生儿与女性新生儿数量之比，其中女性新生儿数量并非</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年新生儿总量，不符合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项：某地</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年末职工人数与</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年末职工人数之比，其中</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年末职工人数并非某地</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年甲地人均粮食产量与乙地人均粮食产量之比，其中</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年甲地人均粮食产量并非乙地人均粮食产量的一部分，不符合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进行决策时要统筹考虑各环节，不可有所偏失，尤其要注重薄弱环节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项：小李在制定旅游计划时，对交通、饮食、住宿、景点、应急等方面一一做好了攻略，符合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进行决策时要统筹考虑各环节，不可有所偏失，尤其要注重薄弱环节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项：教练在布置</a:t>
            </a:r>
            <a:r>
              <a:rPr lang="en-US" altLang="zh-CN" sz="1200" kern="1200" dirty="0">
                <a:solidFill>
                  <a:schemeClr val="tx1"/>
                </a:solidFill>
                <a:effectLst/>
                <a:latin typeface="+mn-lt"/>
                <a:sym typeface="楷体" panose="02010609060101010101" charset="-122"/>
              </a:rPr>
              <a:t>4</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米接力比赛策略时，考虑把相对实力最弱的队员放在第二棒的位置，符合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进行决策时要统筹考虑各环节，不可有所偏失，尤其要注重薄弱环节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项：某电竞选手利用自身对电竞领域的了解，退役后组建队伍继续从事相关工作，属于利用自身优势开展工作，并未涉及统筹考虑各个环节，也未体现注重薄弱环节，不符合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进行决策时要统筹考虑各环节，不可有所偏失，尤其要注重薄弱环节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项：某通讯企业组建了覆盖全球的卫星通讯网络，但没有考虑到电话设备及通话费用过高，用户难以承担，最终导致企业破产，从反面证明了进行决策时一定要综合考量，考虑到每一个环节，符合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进行决策时要统筹考虑各环节，不可有所偏失，尤其要注重薄弱环节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y</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xRy</a:t>
            </a:r>
            <a:r>
              <a:rPr lang="zh-CN" altLang="en-US" sz="1200" kern="1200" dirty="0">
                <a:solidFill>
                  <a:schemeClr val="tx1"/>
                </a:solidFill>
                <a:effectLst/>
                <a:latin typeface="+mn-lt"/>
                <a:sym typeface="楷体" panose="02010609060101010101" charset="-122"/>
              </a:rPr>
              <a:t>并且</a:t>
            </a:r>
            <a:r>
              <a:rPr lang="en-US" altLang="zh-CN" sz="1200" kern="1200" dirty="0">
                <a:solidFill>
                  <a:schemeClr val="tx1"/>
                </a:solidFill>
                <a:effectLst/>
                <a:latin typeface="+mn-lt"/>
                <a:sym typeface="楷体" panose="02010609060101010101" charset="-122"/>
              </a:rPr>
              <a:t>yRx</a:t>
            </a:r>
            <a:r>
              <a:rPr lang="zh-CN" altLang="en-US" sz="1200" kern="1200" dirty="0">
                <a:solidFill>
                  <a:schemeClr val="tx1"/>
                </a:solidFill>
                <a:effectLst/>
                <a:latin typeface="+mn-lt"/>
                <a:sym typeface="楷体" panose="02010609060101010101" charset="-122"/>
              </a:rPr>
              <a:t>都成立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m</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mRn</a:t>
            </a:r>
            <a:r>
              <a:rPr lang="zh-CN" altLang="en-US" sz="1200" kern="1200" dirty="0">
                <a:solidFill>
                  <a:schemeClr val="tx1"/>
                </a:solidFill>
                <a:effectLst/>
                <a:latin typeface="+mn-lt"/>
                <a:sym typeface="楷体" panose="02010609060101010101" charset="-122"/>
              </a:rPr>
              <a:t>成立但是</a:t>
            </a:r>
            <a:r>
              <a:rPr lang="en-US" altLang="zh-CN" sz="1200" kern="1200" dirty="0">
                <a:solidFill>
                  <a:schemeClr val="tx1"/>
                </a:solidFill>
                <a:effectLst/>
                <a:latin typeface="+mn-lt"/>
                <a:sym typeface="楷体" panose="02010609060101010101" charset="-122"/>
              </a:rPr>
              <a:t>nRm</a:t>
            </a:r>
            <a:r>
              <a:rPr lang="zh-CN" altLang="en-US" sz="1200" kern="1200" dirty="0">
                <a:solidFill>
                  <a:schemeClr val="tx1"/>
                </a:solidFill>
                <a:effectLst/>
                <a:latin typeface="+mn-lt"/>
                <a:sym typeface="楷体" panose="02010609060101010101" charset="-122"/>
              </a:rPr>
              <a:t>不成立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项：如果</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是亲戚，那么</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一定是亲戚，不符合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m</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mRn</a:t>
            </a:r>
            <a:r>
              <a:rPr lang="zh-CN" altLang="en-US" sz="1200" kern="1200" dirty="0">
                <a:solidFill>
                  <a:schemeClr val="tx1"/>
                </a:solidFill>
                <a:effectLst/>
                <a:latin typeface="+mn-lt"/>
                <a:sym typeface="楷体" panose="02010609060101010101" charset="-122"/>
              </a:rPr>
              <a:t>成立但是</a:t>
            </a:r>
            <a:r>
              <a:rPr lang="en-US" altLang="zh-CN" sz="1200" kern="1200" dirty="0">
                <a:solidFill>
                  <a:schemeClr val="tx1"/>
                </a:solidFill>
                <a:effectLst/>
                <a:latin typeface="+mn-lt"/>
                <a:sym typeface="楷体" panose="02010609060101010101" charset="-122"/>
              </a:rPr>
              <a:t>nRm</a:t>
            </a:r>
            <a:r>
              <a:rPr lang="zh-CN" altLang="en-US" sz="1200" kern="1200" dirty="0">
                <a:solidFill>
                  <a:schemeClr val="tx1"/>
                </a:solidFill>
                <a:effectLst/>
                <a:latin typeface="+mn-lt"/>
                <a:sym typeface="楷体" panose="02010609060101010101" charset="-122"/>
              </a:rPr>
              <a:t>不成立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项：如果</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抚养</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，那么</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一定不抚养</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y</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xRy</a:t>
            </a:r>
            <a:r>
              <a:rPr lang="zh-CN" altLang="en-US" sz="1200" kern="1200" dirty="0">
                <a:solidFill>
                  <a:schemeClr val="tx1"/>
                </a:solidFill>
                <a:effectLst/>
                <a:latin typeface="+mn-lt"/>
                <a:sym typeface="楷体" panose="02010609060101010101" charset="-122"/>
              </a:rPr>
              <a:t>并且</a:t>
            </a:r>
            <a:r>
              <a:rPr lang="en-US" altLang="zh-CN" sz="1200" kern="1200" dirty="0">
                <a:solidFill>
                  <a:schemeClr val="tx1"/>
                </a:solidFill>
                <a:effectLst/>
                <a:latin typeface="+mn-lt"/>
                <a:sym typeface="楷体" panose="02010609060101010101" charset="-122"/>
              </a:rPr>
              <a:t>yRx</a:t>
            </a:r>
            <a:r>
              <a:rPr lang="zh-CN" altLang="en-US" sz="1200" kern="1200" dirty="0">
                <a:solidFill>
                  <a:schemeClr val="tx1"/>
                </a:solidFill>
                <a:effectLst/>
                <a:latin typeface="+mn-lt"/>
                <a:sym typeface="楷体" panose="02010609060101010101" charset="-122"/>
              </a:rPr>
              <a:t>都成立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项：如果</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是</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的祖父，那么</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一定是</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的孙子，不符合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y</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xRy</a:t>
            </a:r>
            <a:r>
              <a:rPr lang="zh-CN" altLang="en-US" sz="1200" kern="1200" dirty="0">
                <a:solidFill>
                  <a:schemeClr val="tx1"/>
                </a:solidFill>
                <a:effectLst/>
                <a:latin typeface="+mn-lt"/>
                <a:sym typeface="楷体" panose="02010609060101010101" charset="-122"/>
              </a:rPr>
              <a:t>并且</a:t>
            </a:r>
            <a:r>
              <a:rPr lang="en-US" altLang="zh-CN" sz="1200" kern="1200" dirty="0">
                <a:solidFill>
                  <a:schemeClr val="tx1"/>
                </a:solidFill>
                <a:effectLst/>
                <a:latin typeface="+mn-lt"/>
                <a:sym typeface="楷体" panose="02010609060101010101" charset="-122"/>
              </a:rPr>
              <a:t>yRx</a:t>
            </a:r>
            <a:r>
              <a:rPr lang="zh-CN" altLang="en-US" sz="1200" kern="1200" dirty="0">
                <a:solidFill>
                  <a:schemeClr val="tx1"/>
                </a:solidFill>
                <a:effectLst/>
                <a:latin typeface="+mn-lt"/>
                <a:sym typeface="楷体" panose="02010609060101010101" charset="-122"/>
              </a:rPr>
              <a:t>都成立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项：如果</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尊重</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可能尊重</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也可能不尊重</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x</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y</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xRy</a:t>
            </a:r>
            <a:r>
              <a:rPr lang="zh-CN" altLang="en-US" sz="1200" kern="1200" dirty="0">
                <a:solidFill>
                  <a:schemeClr val="tx1"/>
                </a:solidFill>
                <a:effectLst/>
                <a:latin typeface="+mn-lt"/>
                <a:sym typeface="楷体" panose="02010609060101010101" charset="-122"/>
              </a:rPr>
              <a:t>并且</a:t>
            </a:r>
            <a:r>
              <a:rPr lang="en-US" altLang="zh-CN" sz="1200" kern="1200" dirty="0">
                <a:solidFill>
                  <a:schemeClr val="tx1"/>
                </a:solidFill>
                <a:effectLst/>
                <a:latin typeface="+mn-lt"/>
                <a:sym typeface="楷体" panose="02010609060101010101" charset="-122"/>
              </a:rPr>
              <a:t>yRx</a:t>
            </a:r>
            <a:r>
              <a:rPr lang="zh-CN" altLang="en-US" sz="1200" kern="1200" dirty="0">
                <a:solidFill>
                  <a:schemeClr val="tx1"/>
                </a:solidFill>
                <a:effectLst/>
                <a:latin typeface="+mn-lt"/>
                <a:sym typeface="楷体" panose="02010609060101010101" charset="-122"/>
              </a:rPr>
              <a:t>都成立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存在论域中的元素（或对象）</a:t>
            </a:r>
            <a:r>
              <a:rPr lang="en-US" altLang="zh-CN" sz="1200" kern="1200" dirty="0">
                <a:solidFill>
                  <a:schemeClr val="tx1"/>
                </a:solidFill>
                <a:effectLst/>
                <a:latin typeface="+mn-lt"/>
                <a:sym typeface="楷体" panose="02010609060101010101" charset="-122"/>
              </a:rPr>
              <a:t>m</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n</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mRn</a:t>
            </a:r>
            <a:r>
              <a:rPr lang="zh-CN" altLang="en-US" sz="1200" kern="1200" dirty="0">
                <a:solidFill>
                  <a:schemeClr val="tx1"/>
                </a:solidFill>
                <a:effectLst/>
                <a:latin typeface="+mn-lt"/>
                <a:sym typeface="楷体" panose="02010609060101010101" charset="-122"/>
              </a:rPr>
              <a:t>成立但是</a:t>
            </a:r>
            <a:r>
              <a:rPr lang="en-US" altLang="zh-CN" sz="1200" kern="1200" dirty="0">
                <a:solidFill>
                  <a:schemeClr val="tx1"/>
                </a:solidFill>
                <a:effectLst/>
                <a:latin typeface="+mn-lt"/>
                <a:sym typeface="楷体" panose="02010609060101010101" charset="-122"/>
              </a:rPr>
              <a:t>nRm</a:t>
            </a:r>
            <a:r>
              <a:rPr lang="zh-CN" altLang="en-US" sz="1200" kern="1200" dirty="0">
                <a:solidFill>
                  <a:schemeClr val="tx1"/>
                </a:solidFill>
                <a:effectLst/>
                <a:latin typeface="+mn-lt"/>
                <a:sym typeface="楷体" panose="02010609060101010101" charset="-122"/>
              </a:rPr>
              <a:t>不成立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项：该选项的目的是了解产品满意度并优化产品，不符合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项：投放即将上映的电影预告片是通过宣传片的方式为电影做宣传，符合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项：网站弹出广告或展示移动的横幅广告是为了推广商品，符合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项：其他品牌商在电商平台上借机宣传自身品牌，符合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使用数字传播渠道</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推广产品和服务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社会性扮演：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幼儿与伙伴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在假想的情景中表现和反映现实生活体验的游戏活动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表演游戏：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幼儿按照故事（自编或依据现有故事）中的角色、情节和语言开展的角色扮演游戏活动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项：小方和伙伴们去科技馆的太空探索展区参观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嫦娥五号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探测器模型，不涉及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假想的情景和反映现实生活体验的游戏活动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按照故事中的角色扮演游戏活动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，不符合任何一个定义，排除；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项：小刚和朋友把家里的水果和蔬菜贴上标签，说明是在假想的情景中，扮演超市收银员是表现和反映现实生活体验的游戏活动，符合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幼儿与伙伴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在假想的情景中表现和反映现实生活体验的游戏活动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项：小林和几个同学分别扮演森林中的动物，一起创编新版丑小鸭的故事，不涉及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现实生活体验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，属于根据现有故事开展角色扮演游戏活动，符合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表演游戏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社会性扮演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项：小明将自己的玩具汽车摆成长长的队伍，独自逐一为这些汽车加油，不涉及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幼儿与伙伴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按照故事中的角色扮演游戏活动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，不符合任何一个定义，排除。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耳塞是指小型受话器或单指可以塞在耳中的塞子，笔套是指笔帽或用线、丝织成或用笔做成的套笔的东西，耳塞是用于耳朵的塞子，笔套是用于笔的套，二者均是根据物品与其作用的对象进行命名的，同时将每个词语两个字调换位置即为该事物的功能。</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手铐是指国家专政机关使用的一种戒具，灯罩是指设在灯焰外围或灯泡上用以聚光或防风雨的罩儿，手铐作用于手，灯罩作用于灯泡，二者均是根据物品与其作用的对象进行命名的，同时将每个词语两个字调换位置即为该事物的功能，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盖头指旧式婚礼新娘蒙在头上遮住脸的红绸布，盖头作用于头部，是根据物品与其作用的对象进行命名的，但花托指花梗顶端的膨大部分，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项：窗栏是指窗户上的栏杆，窗栏用于窗户，是根据物品与其作用的对象进行命名的，门禁是指门的禁止权限，是对门的戒备防范，不是根据物品与其作用的对象进行命名的，与题干逻辑关系不一致，排除；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脚镯是佩戴于脚踝处的装饰品，脚镯作用于脚腕，烟匣是指装香烟或烟丝的盒子，烟匣作用于烟，二者均是根据物品与其作用的对象进行命名的，但将每个词语两个字调换位置并不是该事物的功能，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解析：本题属于语义类，主要考查反义关系。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杂乱形容东西多而繁杂，凌乱不堪。井井有条形容整齐不乱，条理分明。二者为反义关系。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项：熟练指对技术精通而有经验，熟知并做来顺手。手到擒来原指作战一下子就能把敌人捉拿过来，后比喻做事有把握，不费力就做好了。二者为近义关系，与题干逻辑关系不一致，排除；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项：专一指一个人对事物和感情的一心一意。见异思迁意思是看到别的事物就想改变原来的主意；指主意不坚定，喜爱不专一。二者为反义关系，与题干逻辑关系一致，当选；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项：傲慢意思是看不起人，对人怠慢没有礼貌。颐指气使形容有权势的人指挥别人的傲慢态度。二者为近义关系，与题干逻辑关系不一致，排除；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项：犹豫指迟疑，不果断，缺少主见，对事难以做决定。一针见血比喻说话、做文章直截、简短而切中要害。二者无明显逻辑关系，与题干逻辑关系不一致，排除。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解析：本题属于集合类，主要考查并列关系。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崇仁爱和守诚信是两种不同的传统美德，二者为并列关系。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项：尚和合和求大同是两种不同的传统美德，二者为并列关系，与题干逻辑关系一致，保留；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项：带头拼和加油干是两种不同的奋斗精神，二者为并列关系，与题干逻辑关系一致，保留；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项：动真情和办实事是两种不同的工作态度，二者为并列关系，与题干逻辑关系一致，保留；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项：兴产业是为了强经济，二者为方式目的的对应关系，与题干逻辑关系不一致，排除。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对比题干和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项，崇仁爱、守诚信、尚和合、求大同均为动宾关系，且均是儒家文化中的核心价值观，而带头拼和加油干为偏正关系，且带头拼、加油干、动真情、办实事是对于广大党员干部服务群众的要求，</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项与题干更一致。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浇筑和榫卯均是建造房屋的技术，后两词为并列关系，与第一词为应用对象与技术的对应关系。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项：零件是机器的组成部分，二者为组成关系；组装机器，二者为动宾关系，与题干逻辑关系不一致，排除；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项：有线和蓝牙均是键盘连接设备的方式，后两词为并列关系，与第一词为应用对象与技术的对应关系，与题干逻辑关系一致，当选；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项：焊接是一种管道的连接方式，螺栓是一种机械零件，二者不是并列关系，与题干逻辑关系不一致，排除；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项：家具和窗帘均是软装，后两词为并列关系，与第一词为种属关系，与题干逻辑关系不一致，排除。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浇筑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是将流动性材料（如混凝土、砂浆、金属熔液等）注入预先设置的模具（模板）中，经凝固硬化后形成特定形状结构或制品的工艺过程，核心应用于建筑、工程、制造等领域</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榫卯（</a:t>
            </a:r>
            <a:r>
              <a:rPr lang="en-US" altLang="zh-CN" sz="1200" kern="1200" dirty="0">
                <a:solidFill>
                  <a:schemeClr val="tx1"/>
                </a:solidFill>
                <a:effectLst/>
                <a:latin typeface="+mn-lt"/>
                <a:sym typeface="楷体" panose="02010609060101010101" charset="-122"/>
              </a:rPr>
              <a:t>s</a:t>
            </a:r>
            <a:r>
              <a:rPr lang="" altLang="en-US" sz="1200" kern="1200" dirty="0">
                <a:solidFill>
                  <a:schemeClr val="tx1"/>
                </a:solidFill>
                <a:effectLst/>
                <a:latin typeface="+mn-lt"/>
                <a:sym typeface="楷体" panose="02010609060101010101" charset="-122"/>
              </a:rPr>
              <a:t>ǔ</a:t>
            </a:r>
            <a:r>
              <a:rPr lang="en-US" altLang="zh-CN" sz="1200" kern="1200" dirty="0">
                <a:solidFill>
                  <a:schemeClr val="tx1"/>
                </a:solidFill>
                <a:effectLst/>
                <a:latin typeface="+mn-lt"/>
                <a:sym typeface="楷体" panose="02010609060101010101" charset="-122"/>
              </a:rPr>
              <a:t>n m</a:t>
            </a:r>
            <a:r>
              <a:rPr lang="" altLang="en-US" sz="1200" kern="1200" dirty="0">
                <a:solidFill>
                  <a:schemeClr val="tx1"/>
                </a:solidFill>
                <a:effectLst/>
                <a:latin typeface="+mn-lt"/>
                <a:sym typeface="楷体" panose="02010609060101010101" charset="-122"/>
              </a:rPr>
              <a:t>ǎ</a:t>
            </a:r>
            <a:r>
              <a:rPr lang="en-US" altLang="zh-CN" sz="1200" kern="1200" dirty="0">
                <a:solidFill>
                  <a:schemeClr val="tx1"/>
                </a:solidFill>
                <a:effectLst/>
                <a:latin typeface="+mn-lt"/>
                <a:sym typeface="楷体" panose="02010609060101010101" charset="-122"/>
              </a:rPr>
              <a:t>o</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是中国传统木作中无需钉子、螺丝等金属紧固件，通过木材构件的凹凸结构相互咬合、固定连接的工艺技术，是中式建筑、家具的核心构造方式</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提纲、初稿、终稿都是写作的流程，三者为并列关系，且写作时先完成提纲，再完成初稿，最后完成终稿，三者存在时间先后顺序。</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项：勘探、设计、开采都是开矿的流程，三者为并列关系，且开矿时先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勘探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需要对矿有着大致的了解，再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设计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开采方案，最后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，三者存在时间先后顺序，与题干逻辑关系一致，当选；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项：工作、娱乐、休憩都是活动，三者为并列关系，但不存在时间先后顺序，与题干逻辑关系不一致，排除；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项：金星、木星、火星都是行星，三者为并列关系，但不存在时间先后顺序，与题干逻辑关系不一致，排除；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项：教授是老师的职称，二者为对应关系，与题干逻辑关系不一致，排除。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解析：本题属于集合类，主要考查并列关系。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佛龛是指供奉佛像、神位等的小阁子；佛窟是山壁开凿而成，窟内雕有佛像及宣扬佛教教义和佛教故事的壁画等的建筑；二者为并列关系，与佛像均为存放地点的对应关系。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项：蜂箱是养蜂过程中供蜜蜂繁衍生息的处所，蜂蜡是由蜜蜂（工蜂）腹部四对蜡腺分泌出来的蜡，二者不是并列关系，与题干逻辑关系不一致，排除；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项：油桶是指盛油用的桶，油箱是指飞机上的或汽车上的装燃料的容器，二者为并列关系。油田指原油生产的特定区域，与油桶、油箱之间无明显逻辑关系，与题干逻辑关系不一致，排除；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项：内存是计算机中用于存放数据的重要部件，硬盘是计算机系统的数据存储器，二者为并列关系，与数据均为存放地点的对应关系，与题干逻辑关系一致，当选；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项：钱币和黄金都是资产，二者为并列关系，与题干逻辑关系不一致，排除。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解决社会中沉疴顽疾的方法是变革，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沉疴顽疾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项：克服是面对生活中艰难困苦的态度，而不是解决方法，与题干逻辑关系不一致，排除；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项：良政善治是管理中的优点，而不是问题，与题干逻辑关系不一致，排除；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项：解决研究中停滞不前的方法应该是钻研，而不是投资，与题干逻辑关系不一致，排除；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项：解决规制中繁文缛节的方法是精简，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繁文缛节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解析：本题属于集合类，主要考查交叉关系。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直筒裤是按照裤子款式划分，九分裤是按照裤子长度划分，牛仔裤是按照裤子材质划分，三者两两互为交叉关系。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项：收音机、电视机、录音机都是家电的一种，三者为并列关系，与题干逻辑关系不一致，排除；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项：电动车是按照汽车动力系统划分，国产车是按照汽车生产地划分，小轿车是按照汽车容量划分（小轿车指的是载</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人及</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人以下的小车），三者两两互为交叉关系，与题干逻辑关系一致，当选；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项：剃须刀、理发器、吹风机都是美容器具的一种，三者为并列关系，与题干逻辑关系不一致，排除；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项：圣女果指小西红柿，是西红柿的一种，二者为种属关系；圣女果又称小番茄，二者为全同关系，与题干逻辑关系不一致，排除。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解析：本题属于集合类，主要考查交叉关系。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三个集合之间互为交叉关系。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项：古树、名木都是树木的一种，二者与树木均为种属关系，与题干逻辑关系不一致，排除；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项：果树是按照树木果实划分，阔叶树是按照树木叶子形态划分，二者为交叉关系；梨树是果树，二者为种属关系，与题干逻辑关系不一致，排除；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项：正方形和矩形都是特殊的平行四边形，二者与平行四边形均为种属关系，与题干逻辑关系不一致，排除；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项：有的正整数是能被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整除的数，有的正整数不是能被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整除的数，有的能被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整除的数是正整数，有的能被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整除的数不是正整数，二者为交叉关系；有的能被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整除的数是偶数，有的能被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整除的数不是偶数，有的偶数是能被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整除的数，有的偶数不是能被</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整除的数，二者为交叉关系；有的正整数是偶数，有的正整数不是偶数，有的偶数是正整数，有的偶数不是正整数，二者为交叉关系；与题干逻辑关系一致，当选。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解析：本题属于集合类，主要考查组成关系。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项：枝干和树叶都是组成树木的一部分，二者为并列关系，建材为建筑物的原材料，二者为原材料的对应关系，前后逻辑关系不一致，排除；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项：枝干是大树的一部分，二者为组成关系，梁柱是建筑物的一部分，二者为组成关系，前后逻辑关系一致，当选；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项：有的鸟巢建筑在枝干上，二者为地点的对应关系，依据图纸修建建筑物，二者为依据的对应关系，前后逻辑关系不一致，排除；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项：枝干和树根都是组成树木的一部分，二者为并列关系，塔楼是一种建筑物，二者为种属关系，前后逻辑关系不一致，排除。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解析：本题属于归纳推理，主要考查可以推出。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项：题干指出留恋校园生活以及想在学术上继续深造的考生占比分别超过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，这二者可以完全重叠，故无法得到有些留恋校园生活的考生不想在学术上继续深造，无法推出，排除；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项：题干指出留恋校园生活的考生占比超过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，想增强就业的考生占比超过</a:t>
            </a:r>
            <a:r>
              <a:rPr lang="en-US" altLang="zh-CN" sz="1200" kern="1200" dirty="0">
                <a:solidFill>
                  <a:schemeClr val="tx1"/>
                </a:solidFill>
                <a:effectLst/>
                <a:latin typeface="+mn-lt"/>
                <a:sym typeface="楷体" panose="02010609060101010101" charset="-122"/>
              </a:rPr>
              <a:t>60%</a:t>
            </a:r>
            <a:r>
              <a:rPr lang="zh-CN" altLang="en-US" sz="1200" kern="1200" dirty="0">
                <a:solidFill>
                  <a:schemeClr val="tx1"/>
                </a:solidFill>
                <a:effectLst/>
                <a:latin typeface="+mn-lt"/>
                <a:sym typeface="楷体" panose="02010609060101010101" charset="-122"/>
              </a:rPr>
              <a:t>，留恋校园生活的考生可以完全被包含在想增强就业的考生中，故无法得到有些留恋校园生活的考生没有考虑到增强就业竞争力，无法推出，排除；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即不是为了完善自身知识结构和提高文化素养的考生占比超过五成，且为了增强就业竞争力的考生占比超过六成，则不是为了提高文化素养的考生占比及为了增强就业竞争力的考生占比之和超过</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，可得二者存在重合，必然有些考生不是为了提高文化素养的同时为了增强就业竞争力，可以推出，当选；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项：题干指出为了完善自身知识结构或提高文化素养的考生占比接近五成，想在学术上继续深造的考生占比超过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，这二者相加不到</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，所以可以完全不重合，故无法得出有些考生不仅为了完善自身知识结构，而且想在学术上继续深造，无法推出，排除。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解析：本题属于原因解释。</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某市价格监测数据显示：</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月</a:t>
            </a:r>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日，该市粮油米面、肉蛋、水果价格基本稳定，但当日部分蔬菜价格上涨明显，黄瓜、茄子、西红柿、青辣椒、芸豆</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种蔬菜较一周前价格上涨</a:t>
            </a:r>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元不等。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项：选项说明本周有新的蔬菜上市，其品质明显提高，但是新上市的蔬菜是否为上述几种蔬菜不明确，无法解释题干现象，排除；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项：选项说明上周受冷空气影响，绿叶类蔬菜价格看涨，但是题干中价格上涨的蔬菜均不是绿叶类蔬菜，无法解释题干现象，排除；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项：选项说明本周节日效应减退，居民蔬菜需求量减少，但是不能解释为什么只有上述几种蔬菜价格上涨，无法解释题干现象，排除；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项：选项说明天气原因影响了物流，上述蔬菜的供应受到影响，供应量减少可以解释上述几种蔬菜价格上涨明显这一现象，可以解释题干现象，当选。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论点：这是一种能有效降解塑料垃圾的菌群。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论据：菌群在含有塑料垃圾的培养基中能维持旺盛的生长能力。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论点论据话题不一致，优先考虑搭桥，即建立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维持旺盛的生长能力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能有效降解塑料</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之间的联系。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项：选项说明该菌群可以降解部分聚乙烯对苯二甲酸酯塑料，补充论据，可以加强，保留；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项：选项说明该菌群喜好聚乙烯塑料，能够将其分解为碎片，补充论据，可以加强，保留；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项：选项说明该菌群是通过高效降解塑料以获得能量维持生命的，建立论据论点联系，为搭桥项，可以加强，保留；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项：选项说明该菌群为发展降解塑料垃圾生物制品产业提供了可能，说明该菌群对降解塑料垃圾有帮助，补充论据，可以加强，保留。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项，搭桥项力度比补充论据力度强，优选。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注：</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项中的将塑料分解成碎片也是塑料降解的典型表现之一。</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论点：容貌焦虑的来源在于对美颜的过度依赖，而这种依赖正是来自社交平台的反馈。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论据：约</a:t>
            </a:r>
            <a:r>
              <a:rPr lang="en-US" altLang="zh-CN" sz="1200" kern="1200" dirty="0">
                <a:solidFill>
                  <a:schemeClr val="tx1"/>
                </a:solidFill>
                <a:effectLst/>
                <a:latin typeface="+mn-lt"/>
                <a:sym typeface="楷体" panose="02010609060101010101" charset="-122"/>
              </a:rPr>
              <a:t>55%</a:t>
            </a:r>
            <a:r>
              <a:rPr lang="zh-CN" altLang="en-US" sz="1200" kern="1200" dirty="0">
                <a:solidFill>
                  <a:schemeClr val="tx1"/>
                </a:solidFill>
                <a:effectLst/>
                <a:latin typeface="+mn-lt"/>
                <a:sym typeface="楷体" panose="02010609060101010101" charset="-122"/>
              </a:rPr>
              <a:t>的人去做整容手术是为了让自己看起来和美颜照片一样漂亮，因容貌焦虑导致的整容上瘾已经成为一种新的就医现象。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项：该项说明社交平台会使人们根据反馈不断地进行自我观察，说明容貌焦虑确实来自于社交平台的反馈，补充论据，可以加强，排除；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项：该项说明经常使用美颜功能和浏览社交平台的照片，会加重对自身容貌和外形瑕疵的不满意，说明容貌焦虑确实来自于对美颜的过度依赖及社交平台的反馈，补充论据，可以加强，排除；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项：该项说明社交平台呈现的美化后的照片易给浏览者带来焦虑，说明容貌焦虑确实来自于社交平台的反馈，补充论据，可以加强，排除；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项：该项说明部分因容貌焦虑去整容的人会出现病态的重复性整容行为，该项说明的是有了容貌焦虑之后的行为，与论点讨论的容貌焦虑的原因无关，为无关项，当选。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论点：短视频电商已成为图书零售的最重要渠道。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年我国图书零售市场全部图书定价总额规模为</a:t>
            </a:r>
            <a:r>
              <a:rPr lang="en-US" altLang="zh-CN" sz="1200" kern="1200" dirty="0">
                <a:solidFill>
                  <a:schemeClr val="tx1"/>
                </a:solidFill>
                <a:effectLst/>
                <a:latin typeface="+mn-lt"/>
                <a:sym typeface="楷体" panose="02010609060101010101" charset="-122"/>
              </a:rPr>
              <a:t>871</a:t>
            </a:r>
            <a:r>
              <a:rPr lang="zh-CN" altLang="en-US" sz="1200" kern="1200" dirty="0">
                <a:solidFill>
                  <a:schemeClr val="tx1"/>
                </a:solidFill>
                <a:effectLst/>
                <a:latin typeface="+mn-lt"/>
                <a:sym typeface="楷体" panose="02010609060101010101" charset="-122"/>
              </a:rPr>
              <a:t>亿元。从不同渠道零售图书市场看，实体店渠道零售图书市场定价总额同比下降</a:t>
            </a:r>
            <a:r>
              <a:rPr lang="en-US" altLang="zh-CN" sz="1200" kern="1200" dirty="0">
                <a:solidFill>
                  <a:schemeClr val="tx1"/>
                </a:solidFill>
                <a:effectLst/>
                <a:latin typeface="+mn-lt"/>
                <a:sym typeface="楷体" panose="02010609060101010101" charset="-122"/>
              </a:rPr>
              <a:t>37.22%</a:t>
            </a:r>
            <a:r>
              <a:rPr lang="zh-CN" altLang="en-US" sz="1200" kern="1200" dirty="0">
                <a:solidFill>
                  <a:schemeClr val="tx1"/>
                </a:solidFill>
                <a:effectLst/>
                <a:latin typeface="+mn-lt"/>
                <a:sym typeface="楷体" panose="02010609060101010101" charset="-122"/>
              </a:rPr>
              <a:t>；平台电商同比下降</a:t>
            </a:r>
            <a:r>
              <a:rPr lang="en-US" altLang="zh-CN" sz="1200" kern="1200" dirty="0">
                <a:solidFill>
                  <a:schemeClr val="tx1"/>
                </a:solidFill>
                <a:effectLst/>
                <a:latin typeface="+mn-lt"/>
                <a:sym typeface="楷体" panose="02010609060101010101" charset="-122"/>
              </a:rPr>
              <a:t>16.06%</a:t>
            </a:r>
            <a:r>
              <a:rPr lang="zh-CN" altLang="en-US" sz="1200" kern="1200" dirty="0">
                <a:solidFill>
                  <a:schemeClr val="tx1"/>
                </a:solidFill>
                <a:effectLst/>
                <a:latin typeface="+mn-lt"/>
                <a:sym typeface="楷体" panose="02010609060101010101" charset="-122"/>
              </a:rPr>
              <a:t>；短视频电商实现正增长，同比上升</a:t>
            </a:r>
            <a:r>
              <a:rPr lang="en-US" altLang="zh-CN" sz="1200" kern="1200" dirty="0">
                <a:solidFill>
                  <a:schemeClr val="tx1"/>
                </a:solidFill>
                <a:effectLst/>
                <a:latin typeface="+mn-lt"/>
                <a:sym typeface="楷体" panose="02010609060101010101" charset="-122"/>
              </a:rPr>
              <a:t>42.86%</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论点讨论的是短视频电商是图书销售中最重要的渠道，论据讨论的是短视频电商图书定价额度的上升比例是最高的，论点论据话题不一致，优先考虑拆桥。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项：该项说明全部图书的定价总额比例在下降，论点讨论的是短视频电商是否是图书销售中最重要的渠道，话题不一致，无关项，排除；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年在零售图书定价总额占比中，平台电商占比超过</a:t>
            </a:r>
            <a:r>
              <a:rPr lang="en-US" altLang="zh-CN" sz="1200" kern="1200" dirty="0">
                <a:solidFill>
                  <a:schemeClr val="tx1"/>
                </a:solidFill>
                <a:effectLst/>
                <a:latin typeface="+mn-lt"/>
                <a:sym typeface="楷体" panose="02010609060101010101" charset="-122"/>
              </a:rPr>
              <a:t>50%</a:t>
            </a:r>
            <a:r>
              <a:rPr lang="zh-CN" altLang="en-US" sz="1200" kern="1200" dirty="0">
                <a:solidFill>
                  <a:schemeClr val="tx1"/>
                </a:solidFill>
                <a:effectLst/>
                <a:latin typeface="+mn-lt"/>
                <a:sym typeface="楷体" panose="02010609060101010101" charset="-122"/>
              </a:rPr>
              <a:t>，短视频电商占比最低，即虽然</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年短视频电商图书定价额度的上升比例是最高的，但因其基础定价总额较低，所以短视频电商未必会成为图书零售的最重要渠道，为拆桥项，可以削弱，当选；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年，在我国图书零售市场中，平台电商和实体店渠道各自的资产总额均比短视频电商高，但是资产总额只能说明平台电商和实体店渠道的市场价值，无法说明其是否是最重要的图书零售渠道，无关项，排除；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年，平台电商和实体店渠道品种规模均比短视频电商品种规模大，但品种规模只能说明平台电商和实体店渠道覆盖的领域广，无法说明其是否是最重要的图书零售渠道，无关项，排除。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论点：有人认为柑橘更甜不是自然条件下的变甜，而是因为果农给果实注射了食品甜味剂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甜蜜素，才会增加甜度。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本题只有论点，没有论据，要想削弱考虑否论点。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项：该项说明甜蜜素是安全食品添加剂，许多国家和地区都允许添加，但题干论点讨论的是柑橘变甜的原因，话题不一致，为无关项，不能削弱，当选；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项：该项说明注射的针眼会成为微生物入侵的通道，易导致水果腐烂，说明了注射甜蜜素会带来的劣势，故果农不会冒着水果腐烂的风险来注射甜蜜素增加甜度，可以削弱，排除；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项：该项说明注射无法保证甜蜜素在水果内均匀分布，还可能影响口感，说明了注射甜蜜素会带来的劣势，故果农不会采取注射甜蜜素的手段来增加甜度，可以削弱，排除；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项：该项说明果林里柑橘数量巨大，逐个为果实注入甜蜜素几乎不可能，故果农不会采取注射甜蜜素的手段来增加甜度，可以削弱，排除。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解析：本题属于真假推理。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乙且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甲且乙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要么甲且乙，要么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由提问可知，本题为真假推理。先找矛盾关系和反对关系，但题干无矛盾关系和反对关系，所以考虑假设法。</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假设一：甲、乙均进决赛，则条件</a:t>
            </a:r>
            <a:r>
              <a:rPr lang="en-US" altLang="en-US" sz="1200" kern="1200" dirty="0">
                <a:solidFill>
                  <a:schemeClr val="tx1"/>
                </a:solidFill>
                <a:effectLst/>
                <a:latin typeface="+mn-lt"/>
                <a:sym typeface="楷体" panose="02010609060101010101" charset="-122"/>
              </a:rPr>
              <a:t>①③④</a:t>
            </a:r>
            <a:r>
              <a:rPr lang="zh-CN" altLang="en-US" sz="1200" kern="1200" dirty="0">
                <a:solidFill>
                  <a:schemeClr val="tx1"/>
                </a:solidFill>
                <a:effectLst/>
                <a:latin typeface="+mn-lt"/>
                <a:sym typeface="楷体" panose="02010609060101010101" charset="-122"/>
              </a:rPr>
              <a:t>均为真，与题干两真两假条件不符；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假设二：甲、乙均不进决赛，仅条件</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假设三：甲进、乙不进，仅条件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为真，与题干两真两假条件不符；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假设四：乙进、甲不进，则条件</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为真，</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为假，符合题干两真两假的要求。</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所以宋、王预测正确，甲不进决赛，乙进决赛，只有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－乙或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题干条件均为不确定信息，无法直接推理，可进行假设。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假设一：若投资甲，结合条件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可得，投资丙；再结合条件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或关系否一推一可得，不投资乙，故该假设下的投资情况为投资甲、投资丙、不投资乙。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假设二：若不投资甲，结合条件</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否一推一可得，投资乙；再结合条件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否一推一可得，不投资丙，故该假设下的投资情况为不投资甲和丙、投资乙。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结合全部假设可知：无论投资甲还是不投资甲，甲、乙都只能选择其中一种投资，只有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论据讨论的是动物不能行使权利，论点讨论的是动物不能拥有权利，论点论据话题不一致，加强优先考虑搭桥。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项：该项指出动物只能拥有自身能够行使的权利，即如果不能行使权利，就不能拥有权利，在论据与论点之间建立了联系，为搭桥项，可以加强，当选；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项：该项可以翻译为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动物能够行使权利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动物应拥有权利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动物不应拥有权利</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动物不能行使权利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，在论点与论据间建立了联系，但是搭桥方向是从论点搭向论据，搭桥方向反了，无法加强，排除；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项：该项指出不能履行相关义务，自然就不可能享有相应的权利，但并不清楚动物是否可以履行相关义务，为不明确项，无法加强，排除；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项：该项指出动物只有拥有被保护的权利，人类才能履行保护动物的义务，为条件关系，与动物能否拥有权利无关，无关项，排除。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论点：动物不能拥有权利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论据：动物自身无法行使这些权利。猪不能亲自作为原告，猿也无法在法庭上表达意愿。</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项：该项指出人类的法律惩罚体系有些并不适用于猿猴等动物，但惩罚体系是否适用于动物与动物能否拥有权利无关，为无关项，无法削弱，当选；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项：该项指出黑猩猩等动物可以通过手语向人类表达自己的意愿，削弱论据，可以削弱，排除；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项：该项指出植物人具有可行使的权利，尽管其自身无法行使这些权利，通过植物人的例子说明即使无法行使权利也可以拥有权利，切断了论据与论点之间的联系，为拆桥项，可以削弱，排除；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项：该项提出应当赋予动物相应的权利，削弱论点，可以削弱，排除。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tags" Target="../tags/tag27.xml"/><Relationship Id="rId7" Type="http://schemas.openxmlformats.org/officeDocument/2006/relationships/image" Target="../media/image5.png"/><Relationship Id="rId6" Type="http://schemas.openxmlformats.org/officeDocument/2006/relationships/tags" Target="../tags/tag26.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3"/>
            </p:custDataLst>
          </p:nvPr>
        </p:nvPicPr>
        <p:blipFill>
          <a:blip r:embed="rId4" r:link="rId5">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6"/>
            </p:custDataLst>
          </p:nvPr>
        </p:nvPicPr>
        <p:blipFill>
          <a:blip r:embed="rId7" r:link="rId5">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3.xml"/><Relationship Id="rId1" Type="http://schemas.openxmlformats.org/officeDocument/2006/relationships/tags" Target="../tags/tag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3.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4</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年下半年</a:t>
            </a:r>
            <a:r>
              <a:rPr lang="en-US" altLang="zh-CN" sz="8000" dirty="0">
                <a:solidFill>
                  <a:schemeClr val="tx1"/>
                </a:solidFill>
                <a:latin typeface="楷体" panose="02010609060101010101" charset="-122"/>
                <a:ea typeface="楷体" panose="02010609060101010101" charset="-122"/>
              </a:rPr>
              <a:t>C</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534" name="图片 203"/>
          <p:cNvPicPr>
            <a:picLocks noChangeAspect="1"/>
          </p:cNvPicPr>
          <p:nvPr/>
        </p:nvPicPr>
        <p:blipFill>
          <a:blip r:embed="rId1"/>
          <a:stretch>
            <a:fillRect/>
          </a:stretch>
        </p:blipFill>
        <p:spPr>
          <a:xfrm>
            <a:off x="1587500" y="1580515"/>
            <a:ext cx="8907780" cy="390652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r>
              <a:rPr lang="en-US" altLang="zh-CN" sz="2000" dirty="0">
                <a:cs typeface="楷体" panose="02010609060101010101" charset="-122"/>
              </a:rPr>
              <a:t>	B.</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r>
              <a:rPr lang="en-US" altLang="zh-CN" sz="2000" dirty="0">
                <a:cs typeface="楷体" panose="02010609060101010101" charset="-122"/>
              </a:rPr>
              <a:t>	D.</a:t>
            </a:r>
            <a:r>
              <a:rPr lang="en-US" altLang="en-US" sz="2000" dirty="0">
                <a:cs typeface="楷体" panose="02010609060101010101" charset="-122"/>
              </a:rPr>
              <a:t>①④⑥</a:t>
            </a:r>
            <a:r>
              <a:rPr lang="en-US" altLang="zh-CN" sz="2000" dirty="0">
                <a:cs typeface="楷体" panose="02010609060101010101" charset="-122"/>
              </a:rPr>
              <a:t>,</a:t>
            </a:r>
            <a:r>
              <a:rPr lang="en-US" altLang="en-US" sz="2000" dirty="0">
                <a:cs typeface="楷体" panose="02010609060101010101" charset="-122"/>
              </a:rPr>
              <a:t>②③⑤</a:t>
            </a:r>
            <a:endParaRPr lang="en-US" altLang="en-US" sz="2000" dirty="0">
              <a:cs typeface="楷体" panose="02010609060101010101" charset="-122"/>
            </a:endParaRPr>
          </a:p>
        </p:txBody>
      </p:sp>
      <p:pic>
        <p:nvPicPr>
          <p:cNvPr id="535" name="图片 204"/>
          <p:cNvPicPr>
            <a:picLocks noChangeAspect="1"/>
          </p:cNvPicPr>
          <p:nvPr/>
        </p:nvPicPr>
        <p:blipFill>
          <a:blip r:embed="rId1"/>
          <a:stretch>
            <a:fillRect/>
          </a:stretch>
        </p:blipFill>
        <p:spPr>
          <a:xfrm>
            <a:off x="691515" y="1689100"/>
            <a:ext cx="10902315" cy="218059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下面给定的立体模型，以下哪个选项不可能是该立体模型的截面？（</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36" name="图片 205"/>
          <p:cNvPicPr>
            <a:picLocks noChangeAspect="1"/>
          </p:cNvPicPr>
          <p:nvPr/>
        </p:nvPicPr>
        <p:blipFill>
          <a:blip r:embed="rId1"/>
          <a:stretch>
            <a:fillRect/>
          </a:stretch>
        </p:blipFill>
        <p:spPr>
          <a:xfrm>
            <a:off x="1313815" y="1467485"/>
            <a:ext cx="9481185" cy="3224530"/>
          </a:xfrm>
          <a:prstGeom prst="rect">
            <a:avLst/>
          </a:prstGeom>
          <a:noFill/>
          <a:ln w="9525">
            <a:noFill/>
          </a:ln>
        </p:spPr>
      </p:pic>
      <p:pic>
        <p:nvPicPr>
          <p:cNvPr id="668" name="图片 216"/>
          <p:cNvPicPr>
            <a:picLocks noChangeAspect="1"/>
          </p:cNvPicPr>
          <p:nvPr/>
        </p:nvPicPr>
        <p:blipFill>
          <a:blip r:embed="rId2"/>
          <a:stretch>
            <a:fillRect/>
          </a:stretch>
        </p:blipFill>
        <p:spPr>
          <a:xfrm>
            <a:off x="3101975" y="4826000"/>
            <a:ext cx="8019415" cy="1901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下面给定的立体模型，其主视图和左视图均正确的是（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37" name="图片 206"/>
          <p:cNvPicPr>
            <a:picLocks noChangeAspect="1"/>
          </p:cNvPicPr>
          <p:nvPr/>
        </p:nvPicPr>
        <p:blipFill>
          <a:blip r:embed="rId1"/>
          <a:stretch>
            <a:fillRect/>
          </a:stretch>
        </p:blipFill>
        <p:spPr>
          <a:xfrm>
            <a:off x="1934845" y="1622425"/>
            <a:ext cx="8406130" cy="41910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下方左图为由</a:t>
            </a:r>
            <a:r>
              <a:rPr lang="en-US" altLang="zh-CN" sz="2000" dirty="0">
                <a:cs typeface="楷体" panose="02010609060101010101" charset="-122"/>
              </a:rPr>
              <a:t>6</a:t>
            </a:r>
            <a:r>
              <a:rPr lang="zh-CN" altLang="en-US" sz="2000" dirty="0">
                <a:cs typeface="楷体" panose="02010609060101010101" charset="-122"/>
              </a:rPr>
              <a:t>个灰色、</a:t>
            </a:r>
            <a:r>
              <a:rPr lang="en-US" altLang="zh-CN" sz="2000" dirty="0">
                <a:cs typeface="楷体" panose="02010609060101010101" charset="-122"/>
              </a:rPr>
              <a:t>21</a:t>
            </a:r>
            <a:r>
              <a:rPr lang="zh-CN" altLang="en-US" sz="2000" dirty="0">
                <a:cs typeface="楷体" panose="02010609060101010101" charset="-122"/>
              </a:rPr>
              <a:t>个白色正方体粘接成的大正方体的某个视图，且右边</a:t>
            </a:r>
            <a:r>
              <a:rPr lang="en-US" altLang="zh-CN" sz="2000" dirty="0">
                <a:cs typeface="楷体" panose="02010609060101010101" charset="-122"/>
              </a:rPr>
              <a:t>4</a:t>
            </a:r>
            <a:r>
              <a:rPr lang="zh-CN" altLang="en-US" sz="2000" dirty="0">
                <a:cs typeface="楷体" panose="02010609060101010101" charset="-122"/>
              </a:rPr>
              <a:t>个图形中仅有</a:t>
            </a:r>
            <a:r>
              <a:rPr lang="en-US" altLang="zh-CN" sz="2000" dirty="0">
                <a:cs typeface="楷体" panose="02010609060101010101" charset="-122"/>
              </a:rPr>
              <a:t>1</a:t>
            </a:r>
            <a:r>
              <a:rPr lang="zh-CN" altLang="en-US" sz="2000" dirty="0">
                <a:cs typeface="楷体" panose="02010609060101010101" charset="-122"/>
              </a:rPr>
              <a:t>个不可能是该正方体的其他视图，该图形是（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38" name="图片 207"/>
          <p:cNvPicPr>
            <a:picLocks noChangeAspect="1"/>
          </p:cNvPicPr>
          <p:nvPr/>
        </p:nvPicPr>
        <p:blipFill>
          <a:blip r:embed="rId1"/>
          <a:stretch>
            <a:fillRect/>
          </a:stretch>
        </p:blipFill>
        <p:spPr>
          <a:xfrm>
            <a:off x="1234440" y="1879600"/>
            <a:ext cx="9566910" cy="221488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结构相对指标是指以总体总量为对比的基础，计算某一部分数量所占比重的相对指标。</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根据上述定义，下列公式属于结构相对指标的是（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A.2021</a:t>
            </a:r>
            <a:r>
              <a:rPr lang="zh-CN" altLang="en-US" sz="2400" dirty="0">
                <a:cs typeface="楷体" panose="02010609060101010101" charset="-122"/>
              </a:rPr>
              <a:t>年某高校讲师数量与该校教师总人数之比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某地区</a:t>
            </a:r>
            <a:r>
              <a:rPr lang="en-US" altLang="zh-CN" sz="2400" dirty="0">
                <a:cs typeface="楷体" panose="02010609060101010101" charset="-122"/>
              </a:rPr>
              <a:t>2022</a:t>
            </a:r>
            <a:r>
              <a:rPr lang="zh-CN" altLang="en-US" sz="2400" dirty="0">
                <a:cs typeface="楷体" panose="02010609060101010101" charset="-122"/>
              </a:rPr>
              <a:t>年男性新生儿与女性新生儿数量之比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某地</a:t>
            </a:r>
            <a:r>
              <a:rPr lang="en-US" altLang="zh-CN" sz="2400" dirty="0">
                <a:cs typeface="楷体" panose="02010609060101010101" charset="-122"/>
              </a:rPr>
              <a:t>2022</a:t>
            </a:r>
            <a:r>
              <a:rPr lang="zh-CN" altLang="en-US" sz="2400" dirty="0">
                <a:cs typeface="楷体" panose="02010609060101010101" charset="-122"/>
              </a:rPr>
              <a:t>年末职工人数与</a:t>
            </a:r>
            <a:r>
              <a:rPr lang="en-US" altLang="zh-CN" sz="2400" dirty="0">
                <a:cs typeface="楷体" panose="02010609060101010101" charset="-122"/>
              </a:rPr>
              <a:t>2021</a:t>
            </a:r>
            <a:r>
              <a:rPr lang="zh-CN" altLang="en-US" sz="2400" dirty="0">
                <a:cs typeface="楷体" panose="02010609060101010101" charset="-122"/>
              </a:rPr>
              <a:t>年末职工人数之比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D.2023</a:t>
            </a:r>
            <a:r>
              <a:rPr lang="zh-CN" altLang="en-US" sz="2400" dirty="0">
                <a:cs typeface="楷体" panose="02010609060101010101" charset="-122"/>
              </a:rPr>
              <a:t>年甲地人均粮食产量与乙地人均粮食产量之比</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氨基酸组合效应原为生物学领域内的概念，是说组成人体蛋白的八种氨基酸，只要有一种含量不足，其他七种就无法合成蛋白质。当这一理念运用到管理学中，意思是说在进行决策时要统筹考虑各环节，不可有所偏失，尤其要注重薄弱环节。</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根据上述定义，下列没有体现氨基酸组合效应的是（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小李在制定旅游计划时，对交通、饮食、住宿、景点、应急等方面一一做好了攻略</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教练在布置</a:t>
            </a:r>
            <a:r>
              <a:rPr lang="en-US" altLang="zh-CN" sz="2200" dirty="0">
                <a:cs typeface="楷体" panose="02010609060101010101" charset="-122"/>
              </a:rPr>
              <a:t>4</a:t>
            </a:r>
            <a:r>
              <a:rPr lang="en-US" altLang="en-US" sz="2200" dirty="0">
                <a:cs typeface="楷体" panose="02010609060101010101" charset="-122"/>
              </a:rPr>
              <a:t>×</a:t>
            </a:r>
            <a:r>
              <a:rPr lang="en-US" altLang="zh-CN" sz="2200" dirty="0">
                <a:cs typeface="楷体" panose="02010609060101010101" charset="-122"/>
              </a:rPr>
              <a:t>100</a:t>
            </a:r>
            <a:r>
              <a:rPr lang="zh-CN" altLang="en-US" sz="2200" dirty="0">
                <a:cs typeface="楷体" panose="02010609060101010101" charset="-122"/>
              </a:rPr>
              <a:t>米接力比赛策略时，考虑把相对实力最弱的队员放在第二棒的位置</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某电竞选手退役后组建了自己的电竞队伍，打算利用自身对电竞领域的了解，继续从事电竞行业相关工作</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某通讯企业组建了覆盖全球的卫星通讯网络，但因电话设备及通话费用过高，用户难以承担，最终企业破产</a:t>
            </a:r>
            <a:endParaRPr lang="zh-CN" altLang="en-US" sz="22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en-US" altLang="zh-CN" sz="2400" dirty="0">
                <a:cs typeface="楷体" panose="02010609060101010101" charset="-122"/>
              </a:rPr>
              <a:t>R</a:t>
            </a:r>
            <a:r>
              <a:rPr lang="zh-CN" altLang="en-US" sz="2400" dirty="0">
                <a:cs typeface="楷体" panose="02010609060101010101" charset="-122"/>
              </a:rPr>
              <a:t>关系的非对称性指的是存在论域中的元素（或对象）</a:t>
            </a:r>
            <a:r>
              <a:rPr lang="en-US" altLang="zh-CN" sz="2400" dirty="0">
                <a:cs typeface="楷体" panose="02010609060101010101" charset="-122"/>
              </a:rPr>
              <a:t>x</a:t>
            </a:r>
            <a:r>
              <a:rPr lang="zh-CN" altLang="en-US" sz="2400" dirty="0">
                <a:cs typeface="楷体" panose="02010609060101010101" charset="-122"/>
              </a:rPr>
              <a:t>、</a:t>
            </a:r>
            <a:r>
              <a:rPr lang="en-US" altLang="zh-CN" sz="2400" dirty="0">
                <a:cs typeface="楷体" panose="02010609060101010101" charset="-122"/>
              </a:rPr>
              <a:t>y</a:t>
            </a:r>
            <a:r>
              <a:rPr lang="zh-CN" altLang="en-US" sz="2400" dirty="0">
                <a:cs typeface="楷体" panose="02010609060101010101" charset="-122"/>
              </a:rPr>
              <a:t>，</a:t>
            </a:r>
            <a:r>
              <a:rPr lang="en-US" altLang="zh-CN" sz="2400" dirty="0">
                <a:cs typeface="楷体" panose="02010609060101010101" charset="-122"/>
              </a:rPr>
              <a:t>xRy</a:t>
            </a:r>
            <a:r>
              <a:rPr lang="zh-CN" altLang="en-US" sz="2400" dirty="0">
                <a:cs typeface="楷体" panose="02010609060101010101" charset="-122"/>
              </a:rPr>
              <a:t>并且</a:t>
            </a:r>
            <a:r>
              <a:rPr lang="en-US" altLang="zh-CN" sz="2400" dirty="0">
                <a:cs typeface="楷体" panose="02010609060101010101" charset="-122"/>
              </a:rPr>
              <a:t>yRx</a:t>
            </a:r>
            <a:r>
              <a:rPr lang="zh-CN" altLang="en-US" sz="2400" dirty="0">
                <a:cs typeface="楷体" panose="02010609060101010101" charset="-122"/>
              </a:rPr>
              <a:t>都成立；也存在论域中的元素（或对象）</a:t>
            </a:r>
            <a:r>
              <a:rPr lang="en-US" altLang="zh-CN" sz="2400" dirty="0">
                <a:cs typeface="楷体" panose="02010609060101010101" charset="-122"/>
              </a:rPr>
              <a:t>m</a:t>
            </a:r>
            <a:r>
              <a:rPr lang="zh-CN" altLang="en-US" sz="2400" dirty="0">
                <a:cs typeface="楷体" panose="02010609060101010101" charset="-122"/>
              </a:rPr>
              <a:t>、</a:t>
            </a:r>
            <a:r>
              <a:rPr lang="en-US" altLang="zh-CN" sz="2400" dirty="0">
                <a:cs typeface="楷体" panose="02010609060101010101" charset="-122"/>
              </a:rPr>
              <a:t>n</a:t>
            </a:r>
            <a:r>
              <a:rPr lang="zh-CN" altLang="en-US" sz="2400" dirty="0">
                <a:cs typeface="楷体" panose="02010609060101010101" charset="-122"/>
              </a:rPr>
              <a:t>，</a:t>
            </a:r>
            <a:r>
              <a:rPr lang="en-US" altLang="zh-CN" sz="2400" dirty="0">
                <a:cs typeface="楷体" panose="02010609060101010101" charset="-122"/>
              </a:rPr>
              <a:t>mRn</a:t>
            </a:r>
            <a:r>
              <a:rPr lang="zh-CN" altLang="en-US" sz="2400" dirty="0">
                <a:cs typeface="楷体" panose="02010609060101010101" charset="-122"/>
              </a:rPr>
              <a:t>成立但是</a:t>
            </a:r>
            <a:r>
              <a:rPr lang="en-US" altLang="zh-CN" sz="2400" dirty="0">
                <a:cs typeface="楷体" panose="02010609060101010101" charset="-122"/>
              </a:rPr>
              <a:t>nRm</a:t>
            </a:r>
            <a:r>
              <a:rPr lang="zh-CN" altLang="en-US" sz="2400" dirty="0">
                <a:cs typeface="楷体" panose="02010609060101010101" charset="-122"/>
              </a:rPr>
              <a:t>不成立。</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根据上述定义，以下哪项中的关系具有非对称性？（</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以所有人作为论域的亲戚关系</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以所有人作为论域的抚养关系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以所有人作为论域的祖孙关系</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以所有人作为论域的尊重关系</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数字营销是使用数字传播渠道来推广产品和服务的营销方式，数字营销的方式可以是互联网，也可以是非互联网，主要目的在于以一种及时、相关、定制化和节省成本的方式谋求新市场的开拓和消费者的挖掘。</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根据上述定义，下列不符合数字营销的是（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为了解产品满意度，通过互联网搜集意见，并基于数据结果优化产品设计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某电影公司在多家</a:t>
            </a:r>
            <a:r>
              <a:rPr lang="en-US" altLang="zh-CN" sz="2400" dirty="0">
                <a:cs typeface="楷体" panose="02010609060101010101" charset="-122"/>
              </a:rPr>
              <a:t>3D</a:t>
            </a:r>
            <a:r>
              <a:rPr lang="zh-CN" altLang="en-US" sz="2400" dirty="0">
                <a:cs typeface="楷体" panose="02010609060101010101" charset="-122"/>
              </a:rPr>
              <a:t>影院放映电影之前，投放本公司即将上映的其他类型电影预告片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点击某网站后，网站会弹出广告或展示移动的横幅广告，以吸引用户关注商品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某知名公司发布新品后，其他品牌商也在电商平台上快速抢占</a:t>
            </a:r>
            <a:r>
              <a:rPr lang="en-US" altLang="zh-CN" sz="2400" dirty="0">
                <a:cs typeface="楷体" panose="02010609060101010101" charset="-122"/>
              </a:rPr>
              <a:t>“</a:t>
            </a:r>
            <a:r>
              <a:rPr lang="zh-CN" altLang="en-US" sz="2400" dirty="0">
                <a:cs typeface="楷体" panose="02010609060101010101" charset="-122"/>
              </a:rPr>
              <a:t>热搜词条</a:t>
            </a:r>
            <a:r>
              <a:rPr lang="en-US" altLang="zh-CN" sz="2400" dirty="0">
                <a:cs typeface="楷体" panose="02010609060101010101" charset="-122"/>
              </a:rPr>
              <a:t>”</a:t>
            </a:r>
            <a:r>
              <a:rPr lang="zh-CN" altLang="en-US" sz="2400" dirty="0">
                <a:cs typeface="楷体" panose="02010609060101010101" charset="-122"/>
              </a:rPr>
              <a:t>，借机宣传自身品牌</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社会性扮演游戏是指幼儿与伙伴在假想的情景中表现和反映现实生活体验的游戏活动。表演游戏是指幼儿按照故事（自编或依据现有故事）中的角色、情节和语言开展的角色扮演游戏活动。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根据上述定义，下列属于社会性扮演游戏的是（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小方和伙伴们去科技馆的太空探索展区参观</a:t>
            </a:r>
            <a:r>
              <a:rPr lang="en-US" altLang="zh-CN" sz="2400" dirty="0">
                <a:cs typeface="楷体" panose="02010609060101010101" charset="-122"/>
              </a:rPr>
              <a:t>“</a:t>
            </a:r>
            <a:r>
              <a:rPr lang="zh-CN" altLang="en-US" sz="2400" dirty="0">
                <a:cs typeface="楷体" panose="02010609060101010101" charset="-122"/>
              </a:rPr>
              <a:t>嫦娥五号</a:t>
            </a:r>
            <a:r>
              <a:rPr lang="en-US" altLang="zh-CN" sz="2400" dirty="0">
                <a:cs typeface="楷体" panose="02010609060101010101" charset="-122"/>
              </a:rPr>
              <a:t>”</a:t>
            </a:r>
            <a:r>
              <a:rPr lang="zh-CN" altLang="en-US" sz="2400" dirty="0">
                <a:cs typeface="楷体" panose="02010609060101010101" charset="-122"/>
              </a:rPr>
              <a:t>探测器模型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小刚把家里的水果和蔬菜贴上标签，和其他朋友轮流扮演超市收银员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小林和几个同学分别扮演森林中的动物，一起创编新版丑小鸭的故事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小明将自己的玩具汽车摆成长长的队伍，独自逐一为这些汽车</a:t>
            </a:r>
            <a:r>
              <a:rPr lang="en-US" altLang="zh-CN" sz="2400" dirty="0">
                <a:cs typeface="楷体" panose="02010609060101010101" charset="-122"/>
              </a:rPr>
              <a:t>“</a:t>
            </a:r>
            <a:r>
              <a:rPr lang="zh-CN" altLang="en-US" sz="2400" dirty="0">
                <a:cs typeface="楷体" panose="02010609060101010101" charset="-122"/>
              </a:rPr>
              <a:t>加油</a:t>
            </a:r>
            <a:r>
              <a:rPr lang="en-US" altLang="zh-CN" sz="2400" dirty="0">
                <a:cs typeface="楷体" panose="02010609060101010101" charset="-122"/>
              </a:rPr>
              <a:t>”</a:t>
            </a:r>
            <a:endParaRPr lang="en-US" altLang="zh-CN"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耳塞：笔套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手铐：灯罩</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盖头：花托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窗栏：门禁</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脚镯：烟匣</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杂乱：井井有条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熟练：手到擒来</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专一：见异思迁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傲慢：颐指气使</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犹豫：一针见血</a:t>
            </a:r>
            <a:endParaRPr lang="zh-CN" altLang="en-US" sz="24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崇仁爱：守诚信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尚和合：求大同</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带头拼：加油干</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动真情：办实事</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兴产业：强经济</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房屋：浇筑：榫卯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零件：机器：组装</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键盘：有线：蓝牙</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管道：焊接：螺栓</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软装：家具：窗帘</a:t>
            </a:r>
            <a:endParaRPr lang="zh-CN" altLang="en-US"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提纲：初稿：终稿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勘探：设计：开采</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工作：娱乐：休憩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金星：木星：火星</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老师：教授：校长</a:t>
            </a:r>
            <a:endParaRPr lang="zh-CN" altLang="en-US" sz="24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佛像：佛龛：佛窟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蜜蜂：蜂箱：蜂蜡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油田：油桶：油箱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数据：内存：硬盘</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钱币：黄金：银行</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社会：沉疴顽疾：变革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生活：艰难困苦：克服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管理：良政善治：发扬</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研究：停滞不前：投资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规制：繁文缛节：精简</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直筒裤：九分裤：牛仔裤</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收音机：电视机：录音机</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电动车：国产车：小轿车</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剃须刀：理发器：吹风机</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圣女果：西红柿：小番茄</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1068832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如果用一个圆来表示一个词语所指称的对象的集合，那么以下哪项中三个词语之间的关系符合下图？（</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树木，古树，名木</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果树，阔叶树，梨树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正方形，矩形，平行四边形</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正整数，能被</a:t>
            </a:r>
            <a:r>
              <a:rPr lang="en-US" altLang="zh-CN" sz="2400" dirty="0">
                <a:cs typeface="楷体" panose="02010609060101010101" charset="-122"/>
              </a:rPr>
              <a:t>3</a:t>
            </a:r>
            <a:r>
              <a:rPr lang="zh-CN" altLang="en-US" sz="2400" dirty="0">
                <a:cs typeface="楷体" panose="02010609060101010101" charset="-122"/>
              </a:rPr>
              <a:t>整除的数，偶数</a:t>
            </a:r>
            <a:endParaRPr lang="zh-CN" altLang="en-US" sz="2400" dirty="0">
              <a:cs typeface="楷体" panose="02010609060101010101" charset="-122"/>
            </a:endParaRPr>
          </a:p>
        </p:txBody>
      </p:sp>
      <p:pic>
        <p:nvPicPr>
          <p:cNvPr id="539" name="图片 208"/>
          <p:cNvPicPr>
            <a:picLocks noChangeAspect="1"/>
          </p:cNvPicPr>
          <p:nvPr/>
        </p:nvPicPr>
        <p:blipFill>
          <a:blip r:embed="rId1"/>
          <a:stretch>
            <a:fillRect/>
          </a:stretch>
        </p:blipFill>
        <p:spPr>
          <a:xfrm>
            <a:off x="3710940" y="2469515"/>
            <a:ext cx="2430780" cy="191897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枝干对于（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）对于建筑物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树叶；建材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大树；梁柱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鸟巢；图纸</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树根；塔楼</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761365"/>
            <a:ext cx="1120013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随着我国高等教育的普及和发展，越来越多的本科高校发展为升学导向，其本科教学则更加趋于通识教育，毕业生将会更大比例地选择继续升学深造。根据相关调查数据显示：超六成的研究生考生想增强就业竞争力而选择考研；接近五成考生是为了完善自身知识结构或提高文化素养；留恋校园生活以及想在学术上继续深造的考生占比分别超过</a:t>
            </a:r>
            <a:r>
              <a:rPr lang="en-US" altLang="zh-CN" sz="2400" dirty="0">
                <a:cs typeface="楷体" panose="02010609060101010101" charset="-122"/>
              </a:rPr>
              <a:t>40%</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根据上述信息，关于研究生考生，一定可以得出以下哪项？（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有些考生留恋校园生活，但不想在学术上继续深造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有些留恋校园生活的考生没有考虑到要增强就业竞争力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有些考生不是为了提高文化素养，而是为了增强就业竞争力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有些考生不仅为了完善自身知识结构，而且想在学术上继续深造</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65810"/>
            <a:ext cx="1120648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某市价格监测数据显示：</a:t>
            </a:r>
            <a:r>
              <a:rPr lang="en-US" altLang="zh-CN" sz="2400" dirty="0">
                <a:cs typeface="楷体" panose="02010609060101010101" charset="-122"/>
              </a:rPr>
              <a:t>2023</a:t>
            </a:r>
            <a:r>
              <a:rPr lang="zh-CN" altLang="en-US" sz="2400" dirty="0">
                <a:cs typeface="楷体" panose="02010609060101010101" charset="-122"/>
              </a:rPr>
              <a:t>年</a:t>
            </a:r>
            <a:r>
              <a:rPr lang="en-US" altLang="zh-CN" sz="2400" dirty="0">
                <a:cs typeface="楷体" panose="02010609060101010101" charset="-122"/>
              </a:rPr>
              <a:t>2</a:t>
            </a:r>
            <a:r>
              <a:rPr lang="zh-CN" altLang="en-US" sz="2400" dirty="0">
                <a:cs typeface="楷体" panose="02010609060101010101" charset="-122"/>
              </a:rPr>
              <a:t>月</a:t>
            </a:r>
            <a:r>
              <a:rPr lang="en-US" altLang="zh-CN" sz="2400" dirty="0">
                <a:cs typeface="楷体" panose="02010609060101010101" charset="-122"/>
              </a:rPr>
              <a:t>17</a:t>
            </a:r>
            <a:r>
              <a:rPr lang="zh-CN" altLang="en-US" sz="2400" dirty="0">
                <a:cs typeface="楷体" panose="02010609060101010101" charset="-122"/>
              </a:rPr>
              <a:t>日，该市粮油米面、肉蛋、水果价格基本稳定；当日部分蔬菜价格上涨明显，黄瓜、茄子、西红柿、青辣椒、芸豆</a:t>
            </a:r>
            <a:r>
              <a:rPr lang="en-US" altLang="zh-CN" sz="2400" dirty="0">
                <a:cs typeface="楷体" panose="02010609060101010101" charset="-122"/>
              </a:rPr>
              <a:t>5</a:t>
            </a:r>
            <a:r>
              <a:rPr lang="zh-CN" altLang="en-US" sz="2400" dirty="0">
                <a:cs typeface="楷体" panose="02010609060101010101" charset="-122"/>
              </a:rPr>
              <a:t>种蔬菜价格分别是</a:t>
            </a:r>
            <a:r>
              <a:rPr lang="en-US" altLang="zh-CN" sz="2400" dirty="0">
                <a:cs typeface="楷体" panose="02010609060101010101" charset="-122"/>
              </a:rPr>
              <a:t>4.98</a:t>
            </a:r>
            <a:r>
              <a:rPr lang="zh-CN" altLang="en-US" sz="2400" dirty="0">
                <a:cs typeface="楷体" panose="02010609060101010101" charset="-122"/>
              </a:rPr>
              <a:t>元</a:t>
            </a:r>
            <a:r>
              <a:rPr lang="en-US" altLang="zh-CN" sz="2400" dirty="0">
                <a:cs typeface="楷体" panose="02010609060101010101" charset="-122"/>
              </a:rPr>
              <a:t>/</a:t>
            </a:r>
            <a:r>
              <a:rPr lang="zh-CN" altLang="en-US" sz="2400" dirty="0">
                <a:cs typeface="楷体" panose="02010609060101010101" charset="-122"/>
              </a:rPr>
              <a:t>斤、</a:t>
            </a:r>
            <a:r>
              <a:rPr lang="en-US" altLang="zh-CN" sz="2400" dirty="0">
                <a:cs typeface="楷体" panose="02010609060101010101" charset="-122"/>
              </a:rPr>
              <a:t>5.98</a:t>
            </a:r>
            <a:r>
              <a:rPr lang="zh-CN" altLang="en-US" sz="2400" dirty="0">
                <a:cs typeface="楷体" panose="02010609060101010101" charset="-122"/>
              </a:rPr>
              <a:t>元</a:t>
            </a:r>
            <a:r>
              <a:rPr lang="en-US" altLang="zh-CN" sz="2400" dirty="0">
                <a:cs typeface="楷体" panose="02010609060101010101" charset="-122"/>
              </a:rPr>
              <a:t>/</a:t>
            </a:r>
            <a:r>
              <a:rPr lang="zh-CN" altLang="en-US" sz="2400" dirty="0">
                <a:cs typeface="楷体" panose="02010609060101010101" charset="-122"/>
              </a:rPr>
              <a:t>斤、</a:t>
            </a:r>
            <a:r>
              <a:rPr lang="en-US" altLang="zh-CN" sz="2400" dirty="0">
                <a:cs typeface="楷体" panose="02010609060101010101" charset="-122"/>
              </a:rPr>
              <a:t>4.98</a:t>
            </a:r>
            <a:r>
              <a:rPr lang="zh-CN" altLang="en-US" sz="2400" dirty="0">
                <a:cs typeface="楷体" panose="02010609060101010101" charset="-122"/>
              </a:rPr>
              <a:t>元</a:t>
            </a:r>
            <a:r>
              <a:rPr lang="en-US" altLang="zh-CN" sz="2400" dirty="0">
                <a:cs typeface="楷体" panose="02010609060101010101" charset="-122"/>
              </a:rPr>
              <a:t>/</a:t>
            </a:r>
            <a:r>
              <a:rPr lang="zh-CN" altLang="en-US" sz="2400" dirty="0">
                <a:cs typeface="楷体" panose="02010609060101010101" charset="-122"/>
              </a:rPr>
              <a:t>斤、</a:t>
            </a:r>
            <a:r>
              <a:rPr lang="en-US" altLang="zh-CN" sz="2400" dirty="0">
                <a:cs typeface="楷体" panose="02010609060101010101" charset="-122"/>
              </a:rPr>
              <a:t>5.98</a:t>
            </a:r>
            <a:r>
              <a:rPr lang="zh-CN" altLang="en-US" sz="2400" dirty="0">
                <a:cs typeface="楷体" panose="02010609060101010101" charset="-122"/>
              </a:rPr>
              <a:t>元</a:t>
            </a:r>
            <a:r>
              <a:rPr lang="en-US" altLang="zh-CN" sz="2400" dirty="0">
                <a:cs typeface="楷体" panose="02010609060101010101" charset="-122"/>
              </a:rPr>
              <a:t>/</a:t>
            </a:r>
            <a:r>
              <a:rPr lang="zh-CN" altLang="en-US" sz="2400" dirty="0">
                <a:cs typeface="楷体" panose="02010609060101010101" charset="-122"/>
              </a:rPr>
              <a:t>斤、</a:t>
            </a:r>
            <a:r>
              <a:rPr lang="en-US" altLang="zh-CN" sz="2400" dirty="0">
                <a:cs typeface="楷体" panose="02010609060101010101" charset="-122"/>
              </a:rPr>
              <a:t>9.98</a:t>
            </a:r>
            <a:r>
              <a:rPr lang="zh-CN" altLang="en-US" sz="2400" dirty="0">
                <a:cs typeface="楷体" panose="02010609060101010101" charset="-122"/>
              </a:rPr>
              <a:t>元</a:t>
            </a:r>
            <a:r>
              <a:rPr lang="en-US" altLang="zh-CN" sz="2400" dirty="0">
                <a:cs typeface="楷体" panose="02010609060101010101" charset="-122"/>
              </a:rPr>
              <a:t>/</a:t>
            </a:r>
            <a:r>
              <a:rPr lang="zh-CN" altLang="en-US" sz="2400" dirty="0">
                <a:cs typeface="楷体" panose="02010609060101010101" charset="-122"/>
              </a:rPr>
              <a:t>斤，较一周前价格上涨</a:t>
            </a:r>
            <a:r>
              <a:rPr lang="en-US" altLang="zh-CN" sz="2400" dirty="0">
                <a:cs typeface="楷体" panose="02010609060101010101" charset="-122"/>
              </a:rPr>
              <a:t>1-2</a:t>
            </a:r>
            <a:r>
              <a:rPr lang="zh-CN" altLang="en-US" sz="2400" dirty="0">
                <a:cs typeface="楷体" panose="02010609060101010101" charset="-122"/>
              </a:rPr>
              <a:t>元不等。</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以下哪项如果为真，最能解释上述蔬菜价格上涨这一现象？（</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本周有新的蔬菜上市，其品质明显提高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上周受冷空气影响，绿叶类蔬菜价格看涨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本周节日效应减退，居民蔬菜需求量减少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天气原因影响了物流，上述蔬菜的供应受到影响</a:t>
            </a: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42645"/>
            <a:ext cx="11152505"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国内某研究团队自</a:t>
            </a:r>
            <a:r>
              <a:rPr lang="en-US" altLang="zh-CN" sz="2400" dirty="0">
                <a:cs typeface="楷体" panose="02010609060101010101" charset="-122"/>
              </a:rPr>
              <a:t>2016</a:t>
            </a:r>
            <a:r>
              <a:rPr lang="zh-CN" altLang="en-US" sz="2400" dirty="0">
                <a:cs typeface="楷体" panose="02010609060101010101" charset="-122"/>
              </a:rPr>
              <a:t>年开始，在近海采集了上千份塑料垃圾，经筛选发现部分塑料垃圾上附着了一种菌群。在随后的实验中，该菌群在含有塑料垃圾的培养基中能维持旺盛的生长能力。研究人员推断，这是一种能有效降解塑料垃圾的菌群。</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以下哪项如果为真，最能支持上述推断？（</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该菌群可以降解部分聚乙烯对苯二甲酸酯塑料</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该菌群喜好聚乙烯塑料，能够将其分解为碎片</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该菌群是通过高效降解塑料以获得能量维持生命的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该菌群为发展降解塑料垃圾生物制品产业提供了可能</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77240"/>
            <a:ext cx="1115250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整容医院的最新数据显示，约</a:t>
            </a:r>
            <a:r>
              <a:rPr lang="en-US" altLang="zh-CN" sz="2200" dirty="0">
                <a:cs typeface="楷体" panose="02010609060101010101" charset="-122"/>
              </a:rPr>
              <a:t>55%</a:t>
            </a:r>
            <a:r>
              <a:rPr lang="zh-CN" altLang="en-US" sz="2200" dirty="0">
                <a:cs typeface="楷体" panose="02010609060101010101" charset="-122"/>
              </a:rPr>
              <a:t>的人去做整容手术是为了让自己看起来和美颜照片一样漂亮，因容貌焦虑导致的整容上瘾已经成为一种新的就医现象。可见，容貌焦虑的来源在于对美颜的过度依赖，而这种依赖正是来自社交平台的反馈。</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以下哪项如果为真，不能支持上述结论？（</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社交平台的交互性让人对好评和点赞充满期待，人们根据反馈不断地进行自我观察</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经常使用美颜功能和浏览社交平台的照片，会加重对自身容貌和外形瑕疵的不满意</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区别于现实生活的同步性，社交平台给了呈现者美化照片的时间，上传后易给浏览者带来焦虑</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部分因容貌焦虑去整容的人，不仅无法满足对完美的渴求，反而会出现病态的重复性整容行为</a:t>
            </a:r>
            <a:endParaRPr lang="zh-CN" altLang="en-US" sz="22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4" name="文本框 3"/>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据调查，</a:t>
            </a:r>
            <a:r>
              <a:rPr lang="en-US" altLang="zh-CN" sz="2200" dirty="0">
                <a:cs typeface="楷体" panose="02010609060101010101" charset="-122"/>
              </a:rPr>
              <a:t>2022</a:t>
            </a:r>
            <a:r>
              <a:rPr lang="zh-CN" altLang="en-US" sz="2200" dirty="0">
                <a:cs typeface="楷体" panose="02010609060101010101" charset="-122"/>
              </a:rPr>
              <a:t>年我国图书零售市场全部图书定价总额规模为</a:t>
            </a:r>
            <a:r>
              <a:rPr lang="en-US" altLang="zh-CN" sz="2200" dirty="0">
                <a:cs typeface="楷体" panose="02010609060101010101" charset="-122"/>
              </a:rPr>
              <a:t>871</a:t>
            </a:r>
            <a:r>
              <a:rPr lang="zh-CN" altLang="en-US" sz="2200" dirty="0">
                <a:cs typeface="楷体" panose="02010609060101010101" charset="-122"/>
              </a:rPr>
              <a:t>亿元。从不同渠道零售图书市场看，实体店渠道零售图书市场定价总额同比下降</a:t>
            </a:r>
            <a:r>
              <a:rPr lang="en-US" altLang="zh-CN" sz="2200" dirty="0">
                <a:cs typeface="楷体" panose="02010609060101010101" charset="-122"/>
              </a:rPr>
              <a:t>37.22%</a:t>
            </a:r>
            <a:r>
              <a:rPr lang="zh-CN" altLang="en-US" sz="2200" dirty="0">
                <a:cs typeface="楷体" panose="02010609060101010101" charset="-122"/>
              </a:rPr>
              <a:t>；平台电商同比下降</a:t>
            </a:r>
            <a:r>
              <a:rPr lang="en-US" altLang="zh-CN" sz="2200" dirty="0">
                <a:cs typeface="楷体" panose="02010609060101010101" charset="-122"/>
              </a:rPr>
              <a:t>16.06%</a:t>
            </a:r>
            <a:r>
              <a:rPr lang="zh-CN" altLang="en-US" sz="2200" dirty="0">
                <a:cs typeface="楷体" panose="02010609060101010101" charset="-122"/>
              </a:rPr>
              <a:t>；短视频电商实现正增长，同比上升</a:t>
            </a:r>
            <a:r>
              <a:rPr lang="en-US" altLang="zh-CN" sz="2200" dirty="0">
                <a:cs typeface="楷体" panose="02010609060101010101" charset="-122"/>
              </a:rPr>
              <a:t>42.86%</a:t>
            </a:r>
            <a:r>
              <a:rPr lang="zh-CN" altLang="en-US" sz="2200" dirty="0">
                <a:cs typeface="楷体" panose="02010609060101010101" charset="-122"/>
              </a:rPr>
              <a:t>。由此可见，短视频电商已成为图书零售的最重要渠道。</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以下哪项如果为真，最能质疑上述论证？（</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与</a:t>
            </a:r>
            <a:r>
              <a:rPr lang="en-US" altLang="zh-CN" sz="2200" dirty="0">
                <a:cs typeface="楷体" panose="02010609060101010101" charset="-122"/>
              </a:rPr>
              <a:t>2021</a:t>
            </a:r>
            <a:r>
              <a:rPr lang="zh-CN" altLang="en-US" sz="2200" dirty="0">
                <a:cs typeface="楷体" panose="02010609060101010101" charset="-122"/>
              </a:rPr>
              <a:t>年相比，</a:t>
            </a:r>
            <a:r>
              <a:rPr lang="en-US" altLang="zh-CN" sz="2200" dirty="0">
                <a:cs typeface="楷体" panose="02010609060101010101" charset="-122"/>
              </a:rPr>
              <a:t>2022</a:t>
            </a:r>
            <a:r>
              <a:rPr lang="zh-CN" altLang="en-US" sz="2200" dirty="0">
                <a:cs typeface="楷体" panose="02010609060101010101" charset="-122"/>
              </a:rPr>
              <a:t>年我国图书零售市场全部图书定价总额同比下降</a:t>
            </a:r>
            <a:r>
              <a:rPr lang="en-US" altLang="zh-CN" sz="2200" dirty="0">
                <a:cs typeface="楷体" panose="02010609060101010101" charset="-122"/>
              </a:rPr>
              <a:t>11.77%</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B.2021</a:t>
            </a:r>
            <a:r>
              <a:rPr lang="zh-CN" altLang="en-US" sz="2200" dirty="0">
                <a:cs typeface="楷体" panose="02010609060101010101" charset="-122"/>
              </a:rPr>
              <a:t>年，从零售图书定价总额规模占比看，平台电商占比超过</a:t>
            </a:r>
            <a:r>
              <a:rPr lang="en-US" altLang="zh-CN" sz="2200" dirty="0">
                <a:cs typeface="楷体" panose="02010609060101010101" charset="-122"/>
              </a:rPr>
              <a:t>50%</a:t>
            </a:r>
            <a:r>
              <a:rPr lang="zh-CN" altLang="en-US" sz="2200" dirty="0">
                <a:cs typeface="楷体" panose="02010609060101010101" charset="-122"/>
              </a:rPr>
              <a:t>，短视频电商占比最低</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C.2022</a:t>
            </a:r>
            <a:r>
              <a:rPr lang="zh-CN" altLang="en-US" sz="2200" dirty="0">
                <a:cs typeface="楷体" panose="02010609060101010101" charset="-122"/>
              </a:rPr>
              <a:t>年，在我国图书零售市场中，平台电商和实体店渠道各自的资产总额，均超过短视频电商</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D.2022</a:t>
            </a:r>
            <a:r>
              <a:rPr lang="zh-CN" altLang="en-US" sz="2200" dirty="0">
                <a:cs typeface="楷体" panose="02010609060101010101" charset="-122"/>
              </a:rPr>
              <a:t>年，从图书零售市场渠道结构来看，平台电商和实体店渠道品种规模均在</a:t>
            </a:r>
            <a:r>
              <a:rPr lang="en-US" altLang="zh-CN" sz="2200" dirty="0">
                <a:cs typeface="楷体" panose="02010609060101010101" charset="-122"/>
              </a:rPr>
              <a:t>100</a:t>
            </a:r>
            <a:r>
              <a:rPr lang="zh-CN" altLang="en-US" sz="2200" dirty="0">
                <a:cs typeface="楷体" panose="02010609060101010101" charset="-122"/>
              </a:rPr>
              <a:t>万以上，短视频电商品种规模相对较少</a:t>
            </a:r>
            <a:endParaRPr lang="zh-CN" altLang="en-US" sz="22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5" name="文本框 4"/>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现在，很多盛产柑橘的地区虽然种植条件没有变化，但出产的柑橘吃起来却比过去甜多了。有人认为柑橘更甜不是自然条件下的变甜，而是因为果农给果实注射了食品甜味剂</a:t>
            </a:r>
            <a:r>
              <a:rPr lang="en-US" altLang="zh-CN" sz="2400" dirty="0">
                <a:cs typeface="楷体" panose="02010609060101010101" charset="-122"/>
              </a:rPr>
              <a:t>——</a:t>
            </a:r>
            <a:r>
              <a:rPr lang="zh-CN" altLang="en-US" sz="2400" dirty="0">
                <a:cs typeface="楷体" panose="02010609060101010101" charset="-122"/>
              </a:rPr>
              <a:t>甜蜜素，才会增加甜度。</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以下各项如果为真，除哪项外均能质疑上述说法？（</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甜蜜素是安全食品添加剂，许多国家和地区都允许添加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注射的针眼会成为微生物入侵的通道，易导致水果腐烂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注射无法保证甜蜜素在水果内均匀分布，还可能影响口感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果林里柑橘数量巨大，逐个为果实注入甜蜜素几乎不可能</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在某次足球比赛中，对于甲、乙两支球队哪个队能进入决赛，宋、王、李、孔</a:t>
            </a:r>
            <a:r>
              <a:rPr lang="en-US" altLang="zh-CN" sz="2200" dirty="0">
                <a:cs typeface="楷体" panose="02010609060101010101" charset="-122"/>
              </a:rPr>
              <a:t>4</a:t>
            </a:r>
            <a:r>
              <a:rPr lang="zh-CN" altLang="en-US" sz="2200" dirty="0">
                <a:cs typeface="楷体" panose="02010609060101010101" charset="-122"/>
              </a:rPr>
              <a:t>位球迷进行了预测：</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宋：甲、乙两队至少有一队进入决赛；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王：乙队进入决赛，而甲队未进入决赛；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李：甲、乙两队都进入决赛；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孔：甲、乙两队要么同时进入决赛，要么都未进入决赛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比赛结束后，恰好有</a:t>
            </a:r>
            <a:r>
              <a:rPr lang="en-US" altLang="zh-CN" sz="2200" dirty="0">
                <a:cs typeface="楷体" panose="02010609060101010101" charset="-122"/>
              </a:rPr>
              <a:t>2</a:t>
            </a:r>
            <a:r>
              <a:rPr lang="zh-CN" altLang="en-US" sz="2200" dirty="0">
                <a:cs typeface="楷体" panose="02010609060101010101" charset="-122"/>
              </a:rPr>
              <a:t>人预测正确、</a:t>
            </a:r>
            <a:r>
              <a:rPr lang="en-US" altLang="zh-CN" sz="2200" dirty="0">
                <a:cs typeface="楷体" panose="02010609060101010101" charset="-122"/>
              </a:rPr>
              <a:t>2</a:t>
            </a:r>
            <a:r>
              <a:rPr lang="zh-CN" altLang="en-US" sz="2200" dirty="0">
                <a:cs typeface="楷体" panose="02010609060101010101" charset="-122"/>
              </a:rPr>
              <a:t>人预测错误。</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根据上述信息，可以得出以下哪项？（</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宋预测正确，乙进入了决赛</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王预测错误，甲进入了决赛</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李预测正确，乙进入了决赛</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孔预测错误，甲进入了决赛</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对于甲、乙、丙三个项目的投资情况，经过调研，三部门分别给出了如下建议：</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1</a:t>
            </a:r>
            <a:r>
              <a:rPr lang="zh-CN" altLang="en-US" sz="2400" dirty="0">
                <a:cs typeface="楷体" panose="02010609060101010101" charset="-122"/>
              </a:rPr>
              <a:t>）甲、乙两项目至少投资一个；</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2</a:t>
            </a:r>
            <a:r>
              <a:rPr lang="zh-CN" altLang="en-US" sz="2400" dirty="0">
                <a:cs typeface="楷体" panose="02010609060101010101" charset="-122"/>
              </a:rPr>
              <a:t>）若投资甲项目，则亦投资丙项目；</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3</a:t>
            </a:r>
            <a:r>
              <a:rPr lang="zh-CN" altLang="en-US" sz="2400" dirty="0">
                <a:cs typeface="楷体" panose="02010609060101010101" charset="-122"/>
              </a:rPr>
              <a:t>）乙、丙两项目至少有一个不投资。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最终，根据三部门的建议，进行了投资。</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根据以上信息，关于投资情况，一定能得出以下哪项？（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甲、乙均投资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甲、乙投资其一</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甲、丙均投资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甲、丙均不投资</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29</a:t>
            </a:r>
            <a:endParaRPr kumimoji="1" lang="en-US" altLang="zh-CN" sz="2800" b="1" dirty="0">
              <a:solidFill>
                <a:srgbClr val="FF653F"/>
              </a:solidFill>
            </a:endParaRPr>
          </a:p>
        </p:txBody>
      </p:sp>
      <p:sp>
        <p:nvSpPr>
          <p:cNvPr id="3" name="文本框 2"/>
          <p:cNvSpPr txBox="1"/>
          <p:nvPr/>
        </p:nvSpPr>
        <p:spPr>
          <a:xfrm>
            <a:off x="462915" y="665480"/>
            <a:ext cx="114604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根据以下材料，回答</a:t>
            </a:r>
            <a:r>
              <a:rPr lang="en-US" altLang="zh-CN" sz="2400" dirty="0">
                <a:cs typeface="楷体" panose="02010609060101010101" charset="-122"/>
                <a:sym typeface="+mn-ea"/>
              </a:rPr>
              <a:t>29</a:t>
            </a:r>
            <a:r>
              <a:rPr lang="zh-CN" altLang="en-US" sz="2400" dirty="0">
                <a:cs typeface="楷体" panose="02010609060101010101" charset="-122"/>
                <a:sym typeface="+mn-ea"/>
              </a:rPr>
              <a:t>～</a:t>
            </a:r>
            <a:r>
              <a:rPr lang="en-US" altLang="zh-CN" sz="2400" dirty="0">
                <a:cs typeface="楷体" panose="02010609060101010101" charset="-122"/>
                <a:sym typeface="+mn-ea"/>
              </a:rPr>
              <a:t>30</a:t>
            </a:r>
            <a:r>
              <a:rPr lang="zh-CN" altLang="en-US" sz="2400" dirty="0">
                <a:cs typeface="楷体" panose="02010609060101010101" charset="-122"/>
                <a:sym typeface="+mn-ea"/>
              </a:rPr>
              <a:t>题。</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29.</a:t>
            </a:r>
            <a:r>
              <a:rPr lang="zh-CN" altLang="en-US" sz="2400" dirty="0">
                <a:cs typeface="楷体" panose="02010609060101010101" charset="-122"/>
              </a:rPr>
              <a:t>以下哪项如果为真，最能支持反对者的观点？（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动物只能拥有自身能够行使的权利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凡是动物能够行使的权利动物均应拥有</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不能履行相关义务，自然就不可能享有相应的权利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动物只有拥有被保护的权利，人类才能履行保护动物的义务</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30</a:t>
            </a:r>
            <a:endParaRPr kumimoji="1" lang="en-US" altLang="zh-CN" sz="2800" b="1" dirty="0">
              <a:solidFill>
                <a:srgbClr val="FF653F"/>
              </a:solidFill>
            </a:endParaRPr>
          </a:p>
        </p:txBody>
      </p:sp>
      <p:sp>
        <p:nvSpPr>
          <p:cNvPr id="3" name="文本框 2"/>
          <p:cNvSpPr txBox="1"/>
          <p:nvPr/>
        </p:nvSpPr>
        <p:spPr>
          <a:xfrm>
            <a:off x="462915" y="665480"/>
            <a:ext cx="114604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根据以下材料，回答</a:t>
            </a:r>
            <a:r>
              <a:rPr lang="en-US" altLang="zh-CN" sz="2400" dirty="0">
                <a:cs typeface="楷体" panose="02010609060101010101" charset="-122"/>
                <a:sym typeface="+mn-ea"/>
              </a:rPr>
              <a:t>29</a:t>
            </a:r>
            <a:r>
              <a:rPr lang="zh-CN" altLang="en-US" sz="2400" dirty="0">
                <a:cs typeface="楷体" panose="02010609060101010101" charset="-122"/>
                <a:sym typeface="+mn-ea"/>
              </a:rPr>
              <a:t>～</a:t>
            </a:r>
            <a:r>
              <a:rPr lang="en-US" altLang="zh-CN" sz="2400" dirty="0">
                <a:cs typeface="楷体" panose="02010609060101010101" charset="-122"/>
                <a:sym typeface="+mn-ea"/>
              </a:rPr>
              <a:t>30</a:t>
            </a:r>
            <a:r>
              <a:rPr lang="zh-CN" altLang="en-US" sz="2400" dirty="0">
                <a:cs typeface="楷体" panose="02010609060101010101" charset="-122"/>
                <a:sym typeface="+mn-ea"/>
              </a:rPr>
              <a:t>题。</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rPr>
              <a:t>如何利用法律才能达到保护动物的最好效果？目前，在有些国家，对这个问题的回答是要求人类履行保护动物的义务。然而，另一方面，法律是否要赋予动物权利呢？对于该问题，反对者认为，动物不能拥有权利，因为它们自身无法行使这些权利。猪不能亲自作为原告，猿也无法在法庭上表达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30.</a:t>
            </a:r>
            <a:r>
              <a:rPr lang="zh-CN" altLang="en-US" sz="2400" dirty="0">
                <a:cs typeface="楷体" panose="02010609060101010101" charset="-122"/>
              </a:rPr>
              <a:t>以下各项如果为真，除哪项外均能质疑上述反对者的观点？（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人类的法律惩罚体系有些并不适用于猿猴等动物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黑猩猩等动物可以通过手语向人类表达自己的意愿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植物人具有可行使的权利，尽管其自身无法行使这些权利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既然要求动物有造福人类的义务，也应当赋予它们相应的权利</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4.xml><?xml version="1.0" encoding="utf-8"?>
<p:tagLst xmlns:p="http://schemas.openxmlformats.org/presentationml/2006/main">
  <p:tag name="picid" val="{25afab71-fec0-411c-8ded-60cac90c40a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2.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3.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6.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4612</Words>
  <Application>WPS 演示</Application>
  <PresentationFormat>宽屏</PresentationFormat>
  <Paragraphs>271</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32</vt:i4>
      </vt:variant>
    </vt:vector>
  </HeadingPairs>
  <TitlesOfParts>
    <vt:vector size="43" baseType="lpstr">
      <vt:lpstr>Arial</vt:lpstr>
      <vt:lpstr>宋体</vt:lpstr>
      <vt:lpstr>Wingdings</vt:lpstr>
      <vt:lpstr>楷体</vt:lpstr>
      <vt:lpstr>MiSans Bold</vt:lpstr>
      <vt:lpstr>微软雅黑</vt:lpstr>
      <vt:lpstr>Arial Unicode MS</vt:lpstr>
      <vt:lpstr>5_Office 主题​​</vt:lpstr>
      <vt:lpstr>6_Office 主题​​</vt:lpstr>
      <vt:lpstr>9_Office 主题​​</vt:lpstr>
      <vt:lpstr>图形职场办公简约风</vt:lpstr>
      <vt:lpstr>判断推理套题4 2023年下半年C类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222</cp:revision>
  <dcterms:created xsi:type="dcterms:W3CDTF">2019-06-19T02:08:00Z</dcterms:created>
  <dcterms:modified xsi:type="dcterms:W3CDTF">2025-11-28T08:06:42Z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