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3"/>
    <p:sldMasterId id="2147483675" r:id="rId4"/>
    <p:sldMasterId id="2147483677" r:id="rId5"/>
  </p:sldMasterIdLst>
  <p:notesMasterIdLst>
    <p:notesMasterId r:id="rId7"/>
  </p:notesMasterIdLst>
  <p:handoutMasterIdLst>
    <p:handoutMasterId r:id="rId44"/>
  </p:handoutMasterIdLst>
  <p:sldIdLst>
    <p:sldId id="629" r:id="rId6"/>
    <p:sldId id="1582" r:id="rId8"/>
    <p:sldId id="1583" r:id="rId9"/>
    <p:sldId id="1584" r:id="rId10"/>
    <p:sldId id="1585" r:id="rId11"/>
    <p:sldId id="1586" r:id="rId12"/>
    <p:sldId id="1588" r:id="rId13"/>
    <p:sldId id="1589" r:id="rId14"/>
    <p:sldId id="1590" r:id="rId15"/>
    <p:sldId id="1591" r:id="rId16"/>
    <p:sldId id="1592" r:id="rId17"/>
    <p:sldId id="1593" r:id="rId18"/>
    <p:sldId id="1594" r:id="rId19"/>
    <p:sldId id="1595" r:id="rId20"/>
    <p:sldId id="1596" r:id="rId21"/>
    <p:sldId id="1597" r:id="rId22"/>
    <p:sldId id="1598" r:id="rId23"/>
    <p:sldId id="1599" r:id="rId24"/>
    <p:sldId id="1600" r:id="rId25"/>
    <p:sldId id="1601" r:id="rId26"/>
    <p:sldId id="1602" r:id="rId27"/>
    <p:sldId id="1603" r:id="rId28"/>
    <p:sldId id="1604" r:id="rId29"/>
    <p:sldId id="1605" r:id="rId30"/>
    <p:sldId id="1606" r:id="rId31"/>
    <p:sldId id="1607" r:id="rId32"/>
    <p:sldId id="1608" r:id="rId33"/>
    <p:sldId id="1609" r:id="rId34"/>
    <p:sldId id="1610" r:id="rId35"/>
    <p:sldId id="1611" r:id="rId36"/>
    <p:sldId id="1612" r:id="rId37"/>
    <p:sldId id="1613" r:id="rId38"/>
    <p:sldId id="1614" r:id="rId39"/>
    <p:sldId id="1615" r:id="rId40"/>
    <p:sldId id="1616" r:id="rId41"/>
    <p:sldId id="1619" r:id="rId42"/>
    <p:sldId id="1581" r:id="rId43"/>
  </p:sldIdLst>
  <p:sldSz cx="12192000" cy="6858000"/>
  <p:notesSz cx="6858000" cy="9144000"/>
  <p:custDataLst>
    <p:tags r:id="rId4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0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05"/>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9" Type="http://schemas.openxmlformats.org/officeDocument/2006/relationships/tags" Target="tags/tag46.xml"/><Relationship Id="rId48" Type="http://schemas.openxmlformats.org/officeDocument/2006/relationships/commentAuthors" Target="commentAuthors.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handoutMaster" Target="handoutMasters/handoutMaster1.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解析：本题属于数量类，主要考查黑球数。</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第一行图形中黑球分别为：</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，即图</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黑球数</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图</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黑球数</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图</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黑球数；</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第二行满足此规律；第三行应用此规律，故？处应选择黑球为</a:t>
            </a:r>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的图形，只有</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解析：本题属于样式类，主要考查对称性。</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图形中黑球均为轴对称图形，且均只有</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条对称轴，对称轴依次顺时针旋转</a:t>
            </a:r>
            <a:r>
              <a:rPr lang="en-US" altLang="zh-CN" sz="1200" kern="1200" dirty="0">
                <a:solidFill>
                  <a:schemeClr val="tx1"/>
                </a:solidFill>
                <a:effectLst/>
                <a:latin typeface="+mn-lt"/>
                <a:sym typeface="楷体" panose="02010609060101010101" charset="-122"/>
              </a:rPr>
              <a:t>30</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，故？处应选择黑球轴对称，且对称轴方向由图</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对称轴顺时针旋转</a:t>
            </a:r>
            <a:r>
              <a:rPr lang="en-US" altLang="zh-CN" sz="1200" kern="1200" dirty="0">
                <a:solidFill>
                  <a:schemeClr val="tx1"/>
                </a:solidFill>
                <a:effectLst/>
                <a:latin typeface="+mn-lt"/>
                <a:sym typeface="楷体" panose="02010609060101010101" charset="-122"/>
              </a:rPr>
              <a:t>30</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之后所得的图形，只有</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解析：本题属于数量类，主要考查笔画数。</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题干图形均为一笔画图形，故？处应选择一个一笔画的图形，只有</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解析：本题属于位置类，主要考查线形关系。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题干中每幅图均有一个封闭图形，且图</a:t>
            </a:r>
            <a:r>
              <a:rPr lang="en-US" altLang="en-US" sz="1200" kern="1200" dirty="0">
                <a:solidFill>
                  <a:schemeClr val="tx1"/>
                </a:solidFill>
                <a:effectLst/>
                <a:latin typeface="+mn-lt"/>
                <a:sym typeface="楷体" panose="02010609060101010101" charset="-122"/>
              </a:rPr>
              <a:t>①③⑥</a:t>
            </a:r>
            <a:r>
              <a:rPr lang="zh-CN" altLang="en-US" sz="1200" kern="1200" dirty="0">
                <a:solidFill>
                  <a:schemeClr val="tx1"/>
                </a:solidFill>
                <a:effectLst/>
                <a:latin typeface="+mn-lt"/>
                <a:sym typeface="楷体" panose="02010609060101010101" charset="-122"/>
              </a:rPr>
              <a:t>中封闭图形与其余的直线相交于封闭图形的一个顶点，图</a:t>
            </a:r>
            <a:r>
              <a:rPr lang="en-US" altLang="en-US" sz="1200" kern="1200" dirty="0">
                <a:solidFill>
                  <a:schemeClr val="tx1"/>
                </a:solidFill>
                <a:effectLst/>
                <a:latin typeface="+mn-lt"/>
                <a:sym typeface="楷体" panose="02010609060101010101" charset="-122"/>
              </a:rPr>
              <a:t>②④⑤</a:t>
            </a:r>
            <a:r>
              <a:rPr lang="zh-CN" altLang="en-US" sz="1200" kern="1200" dirty="0">
                <a:solidFill>
                  <a:schemeClr val="tx1"/>
                </a:solidFill>
                <a:effectLst/>
                <a:latin typeface="+mn-lt"/>
                <a:sym typeface="楷体" panose="02010609060101010101" charset="-122"/>
              </a:rPr>
              <a:t>中封闭图形与其余的直线相交于封闭图形的一条边，如下图所示，故图</a:t>
            </a:r>
            <a:r>
              <a:rPr lang="en-US" altLang="en-US" sz="1200" kern="1200" dirty="0">
                <a:solidFill>
                  <a:schemeClr val="tx1"/>
                </a:solidFill>
                <a:effectLst/>
                <a:latin typeface="+mn-lt"/>
                <a:sym typeface="楷体" panose="02010609060101010101" charset="-122"/>
              </a:rPr>
              <a:t>①③⑥</a:t>
            </a:r>
            <a:r>
              <a:rPr lang="zh-CN" altLang="en-US" sz="1200" kern="1200" dirty="0">
                <a:solidFill>
                  <a:schemeClr val="tx1"/>
                </a:solidFill>
                <a:effectLst/>
                <a:latin typeface="+mn-lt"/>
                <a:sym typeface="楷体" panose="02010609060101010101" charset="-122"/>
              </a:rPr>
              <a:t>为一组，图</a:t>
            </a:r>
            <a:r>
              <a:rPr lang="en-US" altLang="en-US" sz="1200" kern="1200" dirty="0">
                <a:solidFill>
                  <a:schemeClr val="tx1"/>
                </a:solidFill>
                <a:effectLst/>
                <a:latin typeface="+mn-lt"/>
                <a:sym typeface="楷体" panose="02010609060101010101" charset="-122"/>
              </a:rPr>
              <a:t>②④⑤</a:t>
            </a:r>
            <a:r>
              <a:rPr lang="zh-CN" altLang="en-US" sz="1200" kern="1200" dirty="0">
                <a:solidFill>
                  <a:schemeClr val="tx1"/>
                </a:solidFill>
                <a:effectLst/>
                <a:latin typeface="+mn-lt"/>
                <a:sym typeface="楷体" panose="02010609060101010101" charset="-122"/>
              </a:rPr>
              <a:t>为一组。</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解析：方法一：本题属于样式类，主要考查样式运算。</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第一列运算规律为，白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空，黑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空，白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白，黑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黑，第二列验证符合此规律，第三列应用此规律，只有</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方法二：本题属于样式类，主要考查样式运算。</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第一列图一和图二去掉不同颜色小球，保留相同颜色的小球，得到图三。经验证，第二列满足此规律。第三列应用此规律，故？处应选择第三列图一和图二去异求同得到的图形，只有</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赠与人对其赠与附加一定的条件，使受赠人承担一定义务的赠与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项：莉莉父亲赠与莉莉笔记本电脑附加了考上大学的条件，但并未体现莉莉需要承担某些义务，不符合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赠与人对其赠与附加一定的条件，使受赠人承担一定义务的赠与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项：小林的叔叔赠与小林部分股权附加了满</a:t>
            </a:r>
            <a:r>
              <a:rPr lang="en-US" altLang="zh-CN" sz="1200" kern="1200" dirty="0">
                <a:solidFill>
                  <a:schemeClr val="tx1"/>
                </a:solidFill>
                <a:effectLst/>
                <a:latin typeface="+mn-lt"/>
                <a:sym typeface="楷体" panose="02010609060101010101" charset="-122"/>
              </a:rPr>
              <a:t>25</a:t>
            </a:r>
            <a:r>
              <a:rPr lang="zh-CN" altLang="en-US" sz="1200" kern="1200" dirty="0">
                <a:solidFill>
                  <a:schemeClr val="tx1"/>
                </a:solidFill>
                <a:effectLst/>
                <a:latin typeface="+mn-lt"/>
                <a:sym typeface="楷体" panose="02010609060101010101" charset="-122"/>
              </a:rPr>
              <a:t>岁的条件，但并未体现小林需要承担某些义务，不符合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赠与人对其赠与附加一定的条件，使受赠人承担一定义务的赠与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项：老张将字画赠送博物馆附加了不得转赠的条件，博物馆需要承担不转赠的义务，符合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赠与人对其赠与附加一定的条件，使受赠人承担一定义务的赠与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项：小郑赠送女友钻石项链并允诺与她携手一生，并没有体现出对女友附加一定条件，不符合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赠与人对其赠与附加一定的条件，使受赠人承担一定义务的赠与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在理解和完全接纳自己情绪的前提下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能够用理性去思考和控制自己的行动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项：为了平息社会对公司这次重大事故的愤怒情绪，公司总经理宣布引咎辞职，并未涉及到总经理的情绪问题，不符合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在理解和完全接纳自己情绪的前提下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能够用理性去思考和控制自己的行动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项：为了推卸战争失败的责任，某国政府宣布逮捕军队数名将军，其并未涉及到具体的人的情绪，不符合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在理解和完全接纳自己情绪的前提下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能够用理性去思考和控制自己的行动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项：该项意为：项羽引兵全部渡过黄河，把船沉入河中，砸破做饭的锅，烧了住处，只带三天的干粮，用以表示一定战死，不准备再回来的决心，不符合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在理解和完全接纳自己情绪的前提下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能够用理性去思考和控制自己的行动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项：该项意为：谢安和客人下围棋，一会儿谢玄从淝水战场上派来的信使到了，谢安看完信，默不作声，又慢慢地下起棋来。客人问他战场上的胜败情况，谢安回答说：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孩子们大破贼兵。</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说话间，神色、举动和平时没有两样，符合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在理解和完全接纳自己情绪的前提下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能够用理性去思考和控制自己的行动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由常用词构成，不直接涉及商品种类、成分，功能等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以隐喻，暗示的手法提示商品的属性或某一特点，创造出一种能与该商品发生联系的想象空间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项：野豹（汽车），暗示该品牌汽车的灵活机动，奔跑速度快，符合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由常用词构成，不直接涉及商品种类、成分，功能等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以隐喻，暗示的手法提示商品的属性或某一特点，创造出一种能与该商品发生联系的想象空间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项：美木（家具），其中</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是家具的常用原材料，不符合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由常用词构成，不直接涉及商品种类、成分，功能等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项：白兔（洗衣粉），暗示该品牌洗衣服的去渍效果很好，符合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由常用词构成，不直接涉及商品种类、成分，功能等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以隐喻，暗示的手法提示商品的属性或某一特点，创造出一种能与该商品发生联系的想象空间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项：万年新（电器），暗示该品牌电器经久耐用，符合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由常用词构成，不直接涉及商品种类、成分，功能等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以隐喻，暗示的手法提示商品的属性或某一特点，创造出一种能与该商品发生联系的想象空间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把地理因素视为影响甚至决定国家政治行为的一个基本因素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项：一带一路是</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丝绸之路经济带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“21</a:t>
            </a:r>
            <a:r>
              <a:rPr lang="zh-CN" altLang="en-US" sz="1200" kern="1200" dirty="0">
                <a:solidFill>
                  <a:schemeClr val="tx1"/>
                </a:solidFill>
                <a:effectLst/>
                <a:latin typeface="+mn-lt"/>
                <a:sym typeface="楷体" panose="02010609060101010101" charset="-122"/>
              </a:rPr>
              <a:t>世纪海上丝绸之路</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的简称，旨在积极发展与沿线国家的经济合作伙伴关系，符合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把地理因素视为影响甚至决定国家政治行为的一个基本因素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项：远交近攻是战国时期秦国采取的一种外交策略，意思是联络距离远的国家，进攻邻近的国家，符合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把地理因素视为影响甚至决定国家政治行为的一个基本因素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项：合纵连横是战国时期纵横家所宣扬并推行的外交和军事政策。由苏秦游说六国推动六国最终完成联合抗秦，秦在西方，六国在东方，因此六国土地南北相连，故称</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合纵</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。后秦国自西向东与各诸侯结交，自西向东为横向，故称</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连横</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把地理因素视为影响甚至决定国家政治行为的一个基本因素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项：弱肉强食是指弱者被强者吞食，多指强国吞并弱国，并未涉及地理因素，不符合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把地理因素视为影响甚至决定国家政治行为的一个基本因素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解析：本题属于定义判断。</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一个词与其否定表达是同一个意思，只是语感上稍有差别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好不容易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的否定表达是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好容易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，二者的意思都是很难、很不容易，意思相同，符合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一个词与其否定表达是同一个意思，只是语感上稍有差别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的否定表达是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，二者的意思都是战胜、使失败，即中国队胜利，越南队失败，意思相同，符合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一个词与其否定表达是同一个意思，只是语感上稍有差别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聪明得过了头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通常指聪明反被聪明误、假聪明，即愚蠢，其否定表达应是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聪明得没过头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，二者的意思不相同，不符合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一个词与其否定表达是同一个意思，只是语感上稍有差别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真了不得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的否定表达是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真了得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，二者的意思都是很了不起、很厉害，意思相同，符合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一个词与其否定表达是同一个意思，只是语感上稍有差别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隐藏记者身份与采访目的的采访方式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减少采访障碍和干扰，获取有价值的新闻事实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项：记者以旅客身份体验首班赣深高铁，但通过官媒网络直播的方式说明记者并未隐藏自己的身份，不符合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隐藏记者身份与采访目的的采访方式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减少采访障碍和干扰，获取有价值的新闻事实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项：记者以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文物贩子</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的身份与盗墓者接触，符合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隐藏记者身份与采访目的的采访方式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，记者拍下了文物交易的全过程，符合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减少采访障碍和干扰，获取有价值的新闻事实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项：记者以消费者身份在某制假售假的药店购买了药品，符合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隐藏记者身份与采访目的的采访方式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，记者将假药送往专业机构检验，符合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减少采访障碍和干扰，获取有价值的新闻事实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项：记者以游客身份报名参加了一个旅游团，符合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隐藏记者身份与采访目的的采访方式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，记者揭露了该旅游团强制消费的内幕，符合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减少采访障碍和干扰，获取有价值的新闻事实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良性妒忌：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觉得被妒忌者的优越品质，成就或财产是应得的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希望通过提升自己而与被妒忌者相似</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恶意妒忌：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贬低优越的对比对象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希望他人在某件事上失败或失去妒忌的目标，甚至受到伤害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项：甲在舞会上看到乙佩戴了昂贵的首饰，觉得乙的首饰丢了才解气，符合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希望他人在某件事上失败或失去妒忌的目标，甚至受到伤害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恶意妒忌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良性妒忌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项：甲觉得乙能取得今天的成就全靠家里人帮忙，乙本身没什么了不起，符合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贬低优越的对比对象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恶意妒忌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良性妒忌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项：甲看到乙升职，承认了乙的能力强，符合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觉得被妒忌者的优越品质，成就或财产是应得的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，甲觉得自己经过努力也能达到乙的能力水平，符合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希望通过提升自己而与被妒忌者相似</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良性妒忌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项：甲很羡慕乙的社交能力，觉得</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社恐</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的自己永远达不到乙的境界，并未涉及妒忌的心理，也没有产生想要与对方一样的想法，不符合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觉得被妒忌者的优越品质，成就或财产是应得的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希望通过提升自己而与被妒忌者相似</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良性妒忌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解析：本题属于定义判断。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伦理绝对主义：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人们的善恶观念和道德规范是永恒不变的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否认它们的历史性、社会性和民族性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伦理相对主义：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道德观念和道德概念具有相对性和条件性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否认在道德发展中存在着具有普遍性的和规律性的客观因素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项：荀子坚持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性恶论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，认为人的本性具有恶的道德价值，孟子坚持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性善论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，认为人性本善，他们都坚持自己的理论，说明认为善恶观念和道德规范是永恒不变的，符合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人们的善恶观念和道德规范是永恒不变的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否认它们的历史性、社会性和民族性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项：尊老爱幼是世界上很多民族共同认可的道德规范，尊老爱幼是一种随着时间推移观念上的转变，某些时间或者某些地区、某些民族没有尊老爱幼的道德规范，符合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道德观念和道德概念具有相对性和条件性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否认在道德发展中存在着具有普遍性的和规律性的客观因素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伦理相对主义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伦理绝对主义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项：小成认为在新时代人们都有自己内心珍视的道德准则，说明小成认为道德准则因人而异，并且还受时代的影响，符合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道德观念和道德概念具有相对性和条件性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否认在道德发展中存在着具有普遍性的和规律性的客观因素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伦理相对主义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伦理绝对主义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项：小芳到了国外后认为西方社会的道德规范跟我国差别很大，说明道德发展存在差异，符合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道德观念和道德概念具有相对性和条件性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否认在道德发展中存在着具有普遍性的和规律性的客观因素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伦理相对主义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伦理绝对主义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社会性扮演：</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幼儿与伙伴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在假想的情景中表现和反映现实生活体验的游戏活动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表演游戏：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幼儿按照故事（自编或依据现有故事）中的角色、情节和语言开展的角色扮演游戏活动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项：小方和伙伴们去科技馆的太空探索展区参观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嫦娥五号</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探测器模型，不涉及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假想的情景和反映现实生活体验的游戏活动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，也不涉及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按照故事中的角色扮演游戏活动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，不符合任何一个定义，排除；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项：小刚和朋友把家里的水果和蔬菜贴上标签，说明是在假想的情景中，扮演超市收银员是表现和反映现实生活体验的游戏活动，符合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幼儿与伙伴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在假想的情景中表现和反映现实生活体验的游戏活动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项：小林和几个同学分别扮演森林中的动物，一起创编新版丑小鸭的故事，不涉及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现实生活体验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，属于根据现有故事开展角色扮演游戏活动，符合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表演游戏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社会性扮演</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项：小明将自己的玩具汽车摆成长长的队伍，独自逐一为这些汽车加油，不涉及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幼儿与伙伴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，不涉及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按照故事中的角色扮演游戏活动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，不符合任何一个定义，排除。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解析：本题属于定义判断。</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2021</a:t>
            </a:r>
            <a:r>
              <a:rPr lang="zh-CN" altLang="en-US" sz="1200" kern="1200" dirty="0">
                <a:solidFill>
                  <a:schemeClr val="tx1"/>
                </a:solidFill>
                <a:effectLst/>
                <a:latin typeface="+mn-lt"/>
                <a:sym typeface="楷体" panose="02010609060101010101" charset="-122"/>
              </a:rPr>
              <a:t>年某高校讲师数量与该校教师总人数之比，符合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项：某地区</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年男性新生儿与女性新生儿数量之比，其中女性新生儿数量并非</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年新生儿总量，不符合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项：某地</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年末职工人数与</a:t>
            </a:r>
            <a:r>
              <a:rPr lang="en-US" altLang="zh-CN" sz="1200" kern="1200" dirty="0">
                <a:solidFill>
                  <a:schemeClr val="tx1"/>
                </a:solidFill>
                <a:effectLst/>
                <a:latin typeface="+mn-lt"/>
                <a:sym typeface="楷体" panose="02010609060101010101" charset="-122"/>
              </a:rPr>
              <a:t>2021</a:t>
            </a:r>
            <a:r>
              <a:rPr lang="zh-CN" altLang="en-US" sz="1200" kern="1200" dirty="0">
                <a:solidFill>
                  <a:schemeClr val="tx1"/>
                </a:solidFill>
                <a:effectLst/>
                <a:latin typeface="+mn-lt"/>
                <a:sym typeface="楷体" panose="02010609060101010101" charset="-122"/>
              </a:rPr>
              <a:t>年末职工人数之比，其中</a:t>
            </a:r>
            <a:r>
              <a:rPr lang="en-US" altLang="zh-CN" sz="1200" kern="1200" dirty="0">
                <a:solidFill>
                  <a:schemeClr val="tx1"/>
                </a:solidFill>
                <a:effectLst/>
                <a:latin typeface="+mn-lt"/>
                <a:sym typeface="楷体" panose="02010609060101010101" charset="-122"/>
              </a:rPr>
              <a:t>2022</a:t>
            </a:r>
            <a:r>
              <a:rPr lang="zh-CN" altLang="en-US" sz="1200" kern="1200" dirty="0">
                <a:solidFill>
                  <a:schemeClr val="tx1"/>
                </a:solidFill>
                <a:effectLst/>
                <a:latin typeface="+mn-lt"/>
                <a:sym typeface="楷体" panose="02010609060101010101" charset="-122"/>
              </a:rPr>
              <a:t>年末职工人数并非某地</a:t>
            </a:r>
            <a:r>
              <a:rPr lang="en-US" altLang="zh-CN" sz="1200" kern="1200" dirty="0">
                <a:solidFill>
                  <a:schemeClr val="tx1"/>
                </a:solidFill>
                <a:effectLst/>
                <a:latin typeface="+mn-lt"/>
                <a:sym typeface="楷体" panose="02010609060101010101" charset="-122"/>
              </a:rPr>
              <a:t>2021</a:t>
            </a:r>
            <a:r>
              <a:rPr lang="zh-CN" altLang="en-US" sz="1200" kern="1200" dirty="0">
                <a:solidFill>
                  <a:schemeClr val="tx1"/>
                </a:solidFill>
                <a:effectLst/>
                <a:latin typeface="+mn-lt"/>
                <a:sym typeface="楷体" panose="02010609060101010101" charset="-122"/>
              </a:rPr>
              <a:t>年末职工人数的一部分，不符合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2023</a:t>
            </a:r>
            <a:r>
              <a:rPr lang="zh-CN" altLang="en-US" sz="1200" kern="1200" dirty="0">
                <a:solidFill>
                  <a:schemeClr val="tx1"/>
                </a:solidFill>
                <a:effectLst/>
                <a:latin typeface="+mn-lt"/>
                <a:sym typeface="楷体" panose="02010609060101010101" charset="-122"/>
              </a:rPr>
              <a:t>年甲地人均粮食产量与乙地人均粮食产量之比，其中</a:t>
            </a:r>
            <a:r>
              <a:rPr lang="en-US" altLang="zh-CN" sz="1200" kern="1200" dirty="0">
                <a:solidFill>
                  <a:schemeClr val="tx1"/>
                </a:solidFill>
                <a:effectLst/>
                <a:latin typeface="+mn-lt"/>
                <a:sym typeface="楷体" panose="02010609060101010101" charset="-122"/>
              </a:rPr>
              <a:t>2023</a:t>
            </a:r>
            <a:r>
              <a:rPr lang="zh-CN" altLang="en-US" sz="1200" kern="1200" dirty="0">
                <a:solidFill>
                  <a:schemeClr val="tx1"/>
                </a:solidFill>
                <a:effectLst/>
                <a:latin typeface="+mn-lt"/>
                <a:sym typeface="楷体" panose="02010609060101010101" charset="-122"/>
              </a:rPr>
              <a:t>年甲地人均粮食产量并非乙地人均粮食产量的一部分，不符合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以总体总量为对比的基础，计算某一部分数量所占比重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解析：本题属于语义类，主要考查象征义关系。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柳烟是指柳树枝叶茂密似笼烟雾，云海是指从高处向下望时，像大海一样的云，二者无明显逻辑关系，考虑拆词，柳像烟一样，云像海一样，二者均为比喻象征关系。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项：书山是指书多的像山一样，书像山一样，为比喻象征关系；犬子是谦称自己的儿子或对别人儿子的鄙称，不是比喻象征关系，与题干逻辑关系不一致，排除；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项：天雷是指雷电，是一种自然现象；怒火比喻强烈的愤怒，怒是气势盛的意思，用来修饰火，两者均不是比喻象征关系，与题干逻辑关系不一致，排除；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霜剑指白亮锐利的剑，剑像霜一样，为比喻象征关系，但两字的顺序与题干相反，霜剑也可以比喻霜像剑一样摧残草木的肃杀之性，为比喻象征关系，但玉液指美酒或甘美的浆汁，为偏正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项：麦浪是指麦子像波浪般起伏的样子，麦像浪一样；花雨指落花如雨，花像雨一样，二者均为比喻象征关系，与题干逻辑关系一致，当选。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解析：本题属于映射类，主要考查功能对应关系。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书法展的功能是展示书法作品，二者为功能的对应关系。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项：九连环是中国传统民间智力玩具，以金属丝制成</a:t>
            </a:r>
            <a:r>
              <a:rPr lang="en-US" altLang="zh-CN" sz="1200" kern="1200" dirty="0">
                <a:solidFill>
                  <a:schemeClr val="tx1"/>
                </a:solidFill>
                <a:effectLst/>
                <a:latin typeface="+mn-lt"/>
                <a:sym typeface="楷体" panose="02010609060101010101" charset="-122"/>
              </a:rPr>
              <a:t>9</a:t>
            </a:r>
            <a:r>
              <a:rPr lang="zh-CN" altLang="en-US" sz="1200" kern="1200" dirty="0">
                <a:solidFill>
                  <a:schemeClr val="tx1"/>
                </a:solidFill>
                <a:effectLst/>
                <a:latin typeface="+mn-lt"/>
                <a:sym typeface="楷体" panose="02010609060101010101" charset="-122"/>
              </a:rPr>
              <a:t>个圆环，将圆环套装在横板或各式框架上，并贯以环柄。九连环的特点是环九连，二者为属性的对应关系，与题干逻辑关系不一致，排除；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项：黑板擦的功能是擦黑板，二者为功能的对应关系，与题干逻辑关系一致，当选；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项：空降兵是以伞降或机降方式投入地面作战的兵种，它的特点是兵空降，二者为属性的对应关系，与题干逻辑关系不一致，排除；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项：自行车需要人以脚踩踏板为动力前进，与车自行无明显逻辑关系，与题干逻辑关系不一致，排除。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解析：本题属于语法类，主要考查偏正关系。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明争暗斗</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指的是表面上和暗地里都在进行争斗，和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争斗</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属于对应关系，其中，</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明争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暗斗</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为并列关系，并且均为偏正关系，争斗为动词。</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莺歌燕舞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指的是黄莺在歌唱，小燕子在飞舞，和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歌舞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属于对应关系，其中，</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莺歌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燕舞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为并列关系，但两者均为主谓关系，且歌舞为名词，与题干逻辑关系不一致，排除；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上天入地</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指的是升上天空，钻入地下，和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天地</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属于对应关系，其中，</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上天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入地</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为并列关系，但两者均为动宾关系，且天地为名词，与题干逻辑关系不一致，排除；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东张西望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指的是形容这里那里地到处看，和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张望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属于对应关系，其中，</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东张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西望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为并列关系，并且两者均为偏正关系，张望为动词，与题干逻辑关系一致，当选；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以卵击石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指的是拿蛋去碰石头，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以卵</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击石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不是并列关系，与题干逻辑关系不一致，排除。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解析：本题属于语义类，主要考查反义关系。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杂乱形容东西多而繁杂，凌乱不堪。井井有条形容整齐不乱，条理分明。二者为反义关系。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项：熟练指对技术精通而有经验，熟知并做来顺手。手到擒来原指作战一下子就能把敌人捉拿过来，后比喻做事有把握，不费力就做好了。二者为近义关系，与题干逻辑关系不一致，排除；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项：专一指一个人对事物和感情的一心一意。见异思迁意思是看到别的事物就想改变原来的主意；指主意不坚定，喜爱不专一。二者为反义关系，与题干逻辑关系一致，当选；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项：傲慢意思是看不起人，对人怠慢没有礼貌。颐指气使形容有权势的人指挥别人的傲慢态度。二者为近义关系，与题干逻辑关系不一致，排除；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项：犹豫指迟疑，不果断，缺少主见，对事难以做决定。一针见血比喻说话、做文章直截、简短而切中要害。二者无明显逻辑关系，与题干逻辑关系不一致，排除。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解析：本题属于映射类，主要考查地点和功能对应关系。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报社是生产报纸的地点，二者为地点产出物的对应关系；报纸具有传播功能，二者为功能对应关系。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项：高管是公司的一员，二者不是地点产出物的对应关系；高管可以获得分红，二者不是功能对应关系，与题干逻辑关系不一致，排除；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项：军营是军人居住和训练的地方，二者为地点对应关系，与题干逻辑关系不一致，排除；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项：春联贴在房门上，二者为地点的对应关系，与题干逻辑关系不一致，排除；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项：剧团是创作戏剧的地点，二者为地点产出物的对应关系；戏剧具有娱乐的功能，二者为功能对应关系，与题干逻辑关系一致，当选。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解析：本题属于映射类，主要考查顺承关系。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提纲、初稿、终稿都是写作的流程，三者为并列关系，且写作时先完成提纲，再完成初稿，最后完成终稿，三者存在时间先后顺序。</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项：勘探、设计、开采都是开矿的流程，三者为并列关系，且开矿时先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勘探</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需要对矿有着大致的了解，再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设计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开采方案，最后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开采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，三者存在时间先后顺序，与题干逻辑关系一致，当选；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项：工作、娱乐、休憩都是活动，三者为并列关系，但不存在时间先后顺序，与题干逻辑关系不一致，排除；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项：金星、木星、火星都是行星，三者为并列关系，但不存在时间先后顺序，与题干逻辑关系不一致，排除；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项：教授是老师的职称，二者为对应关系，与题干逻辑关系不一致，排除。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解析：本题属于映射类，主要考查地点对应关系。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佛龛是指供奉佛像、神位等的小阁子；佛窟是山壁开凿而成，窟内雕有佛像及宣扬佛教教义和佛教故事的壁画等的建筑；二者为并列关系，与佛像均为存放地点的对应关系。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项：蜂箱是养蜂过程中供蜜蜂繁衍生息的处所，蜂蜡是由蜜蜂（工蜂）腹部四对蜡腺分泌出来的蜡，二者不是并列关系，与题干逻辑关系不一致，排除；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项：油桶是指盛油用的桶，油箱是指飞机上的或汽车上的装燃料的容器，二者为并列关系。油田指原油生产的特定区域，与油桶、油箱之间无明显逻辑关系，与题干逻辑关系不一致，排除；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项：内存是计算机中用于存放数据的重要部件，硬盘是计算机系统的数据存储器，二者为并列关系，与数据均为存放地点的对应关系，与题干逻辑关系一致，当选；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项：钱币和黄金都是资产，二者为并列关系，与题干逻辑关系不一致，排除。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解决社会中沉疴顽疾的方法是变革，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沉疴顽疾</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变革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是问题与解决手段的对应关系。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项：克服是面对生活中艰难困苦的态度，而不是解决方法，与题干逻辑关系不一致，排除；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项：良政善治是管理中的优点，而不是问题，与题干逻辑关系不一致，排除；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项：解决研究中停滞不前的方法应该是钻研，而不是投资，与题干逻辑关系不一致，排除；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项：解决规制中繁文缛节的方法是精简，</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繁文缛节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精简</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是问题与解决手段的对应关系，与题干逻辑关系一致，当选。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解析：本题属于映射类，主要考查属性对应关系。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项：令尊是称对方父亲的敬词，二者为属性对应关系；贡献史稿，二者为动宾关系，前后逻辑关系不一致，排除；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项：令尊是称对方父亲的敬词，令尊是长辈，二者为种属关系；史稿由文字组成，二者为组成关系，前后逻辑关系不一致，排除；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项：令尊是称对方父亲的敬词，令堂是称对方母亲的敬词，二者为并列关系；药典和史稿均是记载不同内容的资料，二者为并列关系，前后逻辑关系一致，当选；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项：令尊是称对方父亲的敬词，二者为对应关系；传记是史稿，二者为种属关系，前后逻辑关系不一致，排除。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史稿</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的核心定义的是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未经最终定稿、仍可修订完善的历史著作，是史学领域的专用术语</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药典是一个国家或国际组织颁布的记载药品标准、规格的法定法典；是药品研发、生产、经营、使用和监督管理的核心依据，核心特点为法定性、规范性和动态更新性</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传记</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是以真实人物为核心，系统记载其生平事迹、思想历程、社会影响的文学</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史学作品</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解析：本题属于复合类，主要考查并列关系和原材料对应关系。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项：枝干和树叶都是组成树木的一部分，二者为并列关系，建材为建筑物的原材料，二者为原材料的对应关系，前后逻辑关系不一致，排除；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项：枝干是大树的一部分，二者为组成关系，梁柱是建筑物的一部分，二者为组成关系，前后逻辑关系一致，当选；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项：有的鸟巢建筑在枝干上，二者为地点的对应关系，依据图纸修建建筑物，二者为依据的对应关系，前后逻辑关系不一致，排除；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项：枝干和树根都是组成树木的一部分，二者为并列关系，塔楼是一种建筑物，二者为种属关系，前后逻辑关系不一致，排除。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解析：本题属于归纳推理，主要考查可以推出。</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项：题干指出留恋校园生活以及想在学术上继续深造的考生占比分别超过</a:t>
            </a:r>
            <a:r>
              <a:rPr lang="en-US" altLang="zh-CN" sz="1200" kern="1200" dirty="0">
                <a:solidFill>
                  <a:schemeClr val="tx1"/>
                </a:solidFill>
                <a:effectLst/>
                <a:latin typeface="+mn-lt"/>
                <a:sym typeface="楷体" panose="02010609060101010101" charset="-122"/>
              </a:rPr>
              <a:t>40%</a:t>
            </a:r>
            <a:r>
              <a:rPr lang="zh-CN" altLang="en-US" sz="1200" kern="1200" dirty="0">
                <a:solidFill>
                  <a:schemeClr val="tx1"/>
                </a:solidFill>
                <a:effectLst/>
                <a:latin typeface="+mn-lt"/>
                <a:sym typeface="楷体" panose="02010609060101010101" charset="-122"/>
              </a:rPr>
              <a:t>，这二者可以完全重叠，故无法得到有些留恋校园生活的考生不想在学术上继续深造，无法推出，排除；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项：题干指出留恋校园生活的考生占比超过</a:t>
            </a:r>
            <a:r>
              <a:rPr lang="en-US" altLang="zh-CN" sz="1200" kern="1200" dirty="0">
                <a:solidFill>
                  <a:schemeClr val="tx1"/>
                </a:solidFill>
                <a:effectLst/>
                <a:latin typeface="+mn-lt"/>
                <a:sym typeface="楷体" panose="02010609060101010101" charset="-122"/>
              </a:rPr>
              <a:t>40%</a:t>
            </a:r>
            <a:r>
              <a:rPr lang="zh-CN" altLang="en-US" sz="1200" kern="1200" dirty="0">
                <a:solidFill>
                  <a:schemeClr val="tx1"/>
                </a:solidFill>
                <a:effectLst/>
                <a:latin typeface="+mn-lt"/>
                <a:sym typeface="楷体" panose="02010609060101010101" charset="-122"/>
              </a:rPr>
              <a:t>，想增强就业的考生占比超过</a:t>
            </a:r>
            <a:r>
              <a:rPr lang="en-US" altLang="zh-CN" sz="1200" kern="1200" dirty="0">
                <a:solidFill>
                  <a:schemeClr val="tx1"/>
                </a:solidFill>
                <a:effectLst/>
                <a:latin typeface="+mn-lt"/>
                <a:sym typeface="楷体" panose="02010609060101010101" charset="-122"/>
              </a:rPr>
              <a:t>60%</a:t>
            </a:r>
            <a:r>
              <a:rPr lang="zh-CN" altLang="en-US" sz="1200" kern="1200" dirty="0">
                <a:solidFill>
                  <a:schemeClr val="tx1"/>
                </a:solidFill>
                <a:effectLst/>
                <a:latin typeface="+mn-lt"/>
                <a:sym typeface="楷体" panose="02010609060101010101" charset="-122"/>
              </a:rPr>
              <a:t>，留恋校园生活的考生可以完全被包含在想增强就业的考生中，故无法得到有些留恋校园生活的考生没有考虑到增强就业竞争力，无法推出，排除；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题干指出为了完善自身知识结构或提高文化素养的考生占比接近五成即不是为了完善自身知识结构和提高文化素养的考生占比超过五成，且为了增强就业竞争力的考生占比超过六成，则不是为了提高文化素养的考生占比及为了增强就业竞争力的考生占比之和超过</a:t>
            </a:r>
            <a:r>
              <a:rPr lang="en-US" altLang="zh-CN" sz="1200" kern="1200" dirty="0">
                <a:solidFill>
                  <a:schemeClr val="tx1"/>
                </a:solidFill>
                <a:effectLst/>
                <a:latin typeface="+mn-lt"/>
                <a:sym typeface="楷体" panose="02010609060101010101" charset="-122"/>
              </a:rPr>
              <a:t>100%</a:t>
            </a:r>
            <a:r>
              <a:rPr lang="zh-CN" altLang="en-US" sz="1200" kern="1200" dirty="0">
                <a:solidFill>
                  <a:schemeClr val="tx1"/>
                </a:solidFill>
                <a:effectLst/>
                <a:latin typeface="+mn-lt"/>
                <a:sym typeface="楷体" panose="02010609060101010101" charset="-122"/>
              </a:rPr>
              <a:t>，可得二者存在重合，必然有些考生不是为了提高文化素养的同时为了增强就业竞争力，可以推出，当选；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项：题干指出为了完善自身知识结构或提高文化素养的考生占比接近五成，想在学术上继续深造的考生占比超过</a:t>
            </a:r>
            <a:r>
              <a:rPr lang="en-US" altLang="zh-CN" sz="1200" kern="1200" dirty="0">
                <a:solidFill>
                  <a:schemeClr val="tx1"/>
                </a:solidFill>
                <a:effectLst/>
                <a:latin typeface="+mn-lt"/>
                <a:sym typeface="楷体" panose="02010609060101010101" charset="-122"/>
              </a:rPr>
              <a:t>40%</a:t>
            </a:r>
            <a:r>
              <a:rPr lang="zh-CN" altLang="en-US" sz="1200" kern="1200" dirty="0">
                <a:solidFill>
                  <a:schemeClr val="tx1"/>
                </a:solidFill>
                <a:effectLst/>
                <a:latin typeface="+mn-lt"/>
                <a:sym typeface="楷体" panose="02010609060101010101" charset="-122"/>
              </a:rPr>
              <a:t>，这二者相加不到</a:t>
            </a:r>
            <a:r>
              <a:rPr lang="en-US" altLang="zh-CN" sz="1200" kern="1200" dirty="0">
                <a:solidFill>
                  <a:schemeClr val="tx1"/>
                </a:solidFill>
                <a:effectLst/>
                <a:latin typeface="+mn-lt"/>
                <a:sym typeface="楷体" panose="02010609060101010101" charset="-122"/>
              </a:rPr>
              <a:t>100%</a:t>
            </a:r>
            <a:r>
              <a:rPr lang="zh-CN" altLang="en-US" sz="1200" kern="1200" dirty="0">
                <a:solidFill>
                  <a:schemeClr val="tx1"/>
                </a:solidFill>
                <a:effectLst/>
                <a:latin typeface="+mn-lt"/>
                <a:sym typeface="楷体" panose="02010609060101010101" charset="-122"/>
              </a:rPr>
              <a:t>，所以可以完全不重合，故无法得出有些考生不仅为了完善自身知识结构，而且想在学术上继续深造，无法推出，排除。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并不能有效驱蚊。</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项：该项说明蚊子未必不喜欢人觉得难闻的味道，但蚊子是否喜欢维生素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的味道不确定，为不明确项，不能支持，排除；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特别不稳定，喷在身上很快就挥发了，因此完全无法驱蚊，为加强项，保留；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项：该项说明有不少媒体指出维生素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无法驱蚊，但媒体的说法是否正确不确定，为不明确项，不能支持，排除；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的味道至多能干扰蚊子的感官系统，只是暂时性地</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迷惑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蚊子，使其不能迅速找到人，说明维生素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无法达到最终驱蚊的目的，为加强项，保留。</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对比</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项直接说明维生素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特别不稳定，根本无法达到驱蚊效果，而</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项说明维生素</a:t>
            </a:r>
            <a:r>
              <a:rPr lang="en-US" altLang="zh-CN" sz="1200" kern="1200" dirty="0">
                <a:solidFill>
                  <a:schemeClr val="tx1"/>
                </a:solidFill>
                <a:effectLst/>
                <a:latin typeface="+mn-lt"/>
                <a:sym typeface="楷体" panose="02010609060101010101" charset="-122"/>
              </a:rPr>
              <a:t>B1</a:t>
            </a:r>
            <a:r>
              <a:rPr lang="zh-CN" altLang="en-US" sz="1200" kern="1200" dirty="0">
                <a:solidFill>
                  <a:schemeClr val="tx1"/>
                </a:solidFill>
                <a:effectLst/>
                <a:latin typeface="+mn-lt"/>
                <a:sym typeface="楷体" panose="02010609060101010101" charset="-122"/>
              </a:rPr>
              <a:t>是能暂时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迷惑</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蚊子的，只是无法长时间有效。因此，</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项加强力度更强，对比择优选择</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解析：本题属于翻译推理。</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吸纳优质的要素资源流入我国市场</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促进高水平的对外开放且保持外贸规模稳定；</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经济结构顺利转型升级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促进高水平的对外开放且保持外贸规模稳定；</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国内经济实现高质量发展</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经济结构顺利转型升级；</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经济结构顺利转型升级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发展数字经济；</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串联</a:t>
            </a:r>
            <a:r>
              <a:rPr lang="en-US" altLang="en-US" sz="1200" kern="1200" dirty="0">
                <a:solidFill>
                  <a:schemeClr val="tx1"/>
                </a:solidFill>
                <a:effectLst/>
                <a:latin typeface="+mn-lt"/>
                <a:sym typeface="楷体" panose="02010609060101010101" charset="-122"/>
              </a:rPr>
              <a:t>②③</a:t>
            </a:r>
            <a:r>
              <a:rPr lang="zh-CN" altLang="en-US" sz="1200" kern="1200" dirty="0">
                <a:solidFill>
                  <a:schemeClr val="tx1"/>
                </a:solidFill>
                <a:effectLst/>
                <a:latin typeface="+mn-lt"/>
                <a:sym typeface="楷体" panose="02010609060101010101" charset="-122"/>
              </a:rPr>
              <a:t>可得：</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国内经济实现高质量发展</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经济结构顺利转型升级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促进高水平的对外开放且保持外贸规模稳定；</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串联</a:t>
            </a:r>
            <a:r>
              <a:rPr lang="en-US" altLang="en-US" sz="1200" kern="1200" dirty="0">
                <a:solidFill>
                  <a:schemeClr val="tx1"/>
                </a:solidFill>
                <a:effectLst/>
                <a:latin typeface="+mn-lt"/>
                <a:sym typeface="楷体" panose="02010609060101010101" charset="-122"/>
              </a:rPr>
              <a:t>③④</a:t>
            </a:r>
            <a:r>
              <a:rPr lang="zh-CN" altLang="en-US" sz="1200" kern="1200" dirty="0">
                <a:solidFill>
                  <a:schemeClr val="tx1"/>
                </a:solidFill>
                <a:effectLst/>
                <a:latin typeface="+mn-lt"/>
                <a:sym typeface="楷体" panose="02010609060101010101" charset="-122"/>
              </a:rPr>
              <a:t>可得：</a:t>
            </a:r>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国内经济实现高质量发展</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经济结构顺利转型升级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发展数字经济。</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项：翻译为：经济结构顺利转型升级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国内经济就能实现高质量发展，是对</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的肯后，肯后无必然结论，无法推出，排除；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项：翻译为：打造均衡普惠的区域经济合作架构</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发展数字经济，题干不涉及二者之间的关系，无法推出，排除；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项：翻译为：国内经济实现高质量发展</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我国外贸规模保持稳定，国内经济实现高质量发展是对</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的肯前，肯前必肯后，可推出促进高水平的对外开放且保持外贸规模稳定，进而可推出保持外贸规模稳定，当选；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项：翻译为：未能吸纳优质的要素资源流入我国市场</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没有促进高水平的对外开放，是对</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的否前，否前无必然结论，无法推出，排除。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29.</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论点：食品添加剂会危害儿童健康。</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本题只有论点没有论据，要想削弱考虑否论点。</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项：该项说明天然食品不一定安全，而论点讨论的是食品添加剂是否会危害儿童健康，话题不一致，无关项，排除；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项：该项说明合理范围内的食品添加剂是安全的，说明合理剂量的食品安全剂并不会危害儿童健康，可以削弱，当选；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项：该项说明食品添加剂具有防腐作用，而论点讨论的是食品添加剂是否会危害儿童健康，话题不一致，无关项，排除；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项：该项说明儿童经常吃零食会导致营养不均衡，从而导致健康问题的出现，但并不能够证明食品添加剂是否会危害儿童健康，话题不一致，无关项，排除。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30.</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论点：这是一种能有效降解塑料垃圾的菌群。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论据：菌群在含有塑料垃圾的培养基中能维持旺盛的生长能力。</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论点论据话题不一致，优先考虑搭桥，即建立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维持旺盛的生长能力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能有效降解塑料</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之间的联系。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项：选项说明该菌群可以降解部分聚乙烯对苯二甲酸酯塑料，补充论据，可以加强，保留；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项：选项说明该菌群喜好聚乙烯塑料，能够将其分解为碎片，补充论据，可以加强，保留；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项：选项说明该菌群是通过高效降解塑料以获得能量维持生命的，建立论据论点联系，为搭桥项，可以加强，保留；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项：选项说明该菌群为发展降解塑料垃圾生物制品产业提供了可能，说明该菌群对降解塑料垃圾有帮助，补充论据，可以加强，保留。</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对比</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项，搭桥项力度比补充论据力度强，优选。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注：</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项中的将塑料分解成碎片也是塑料降解的典型表现之一。</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论点：有人认为柑橘更甜不是自然条件下的变甜，而是因为果农给果实注射了食品甜味剂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甜蜜素，才会增加甜度。</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本题只有论点，没有论据，要想削弱考虑否论点。</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项：该项说明甜蜜素是安全食品添加剂，许多国家和地区都允许添加，但题干论点讨论的是柑橘变甜的原因，话题不一致，为无关项，不能削弱，当选；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项：该项说明注射的针眼会成为微生物入侵的通道，易导致水果腐烂，说明了注射甜蜜素会带来的劣势，故果农不会冒着水果腐烂的风险来注射甜蜜素增加甜度，可以削弱，排除；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项：该项说明注射无法保证甜蜜素在水果内均匀分布，还可能影响口感，说明了注射甜蜜素会带来的劣势，故果农不会采取注射甜蜜素的手段来增加甜度，可以削弱，排除；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项：该项说明果林里柑橘数量巨大，逐个为果实注入甜蜜素几乎不可能，故果农不会采取注射甜蜜素的手段来增加甜度，可以削弱，排除。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论点：容貌焦虑的来源在于对美颜的过度依赖，而这种依赖正是来自社交平台的反馈。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论据：约</a:t>
            </a:r>
            <a:r>
              <a:rPr lang="en-US" altLang="zh-CN" sz="1200" kern="1200" dirty="0">
                <a:solidFill>
                  <a:schemeClr val="tx1"/>
                </a:solidFill>
                <a:effectLst/>
                <a:latin typeface="+mn-lt"/>
                <a:sym typeface="楷体" panose="02010609060101010101" charset="-122"/>
              </a:rPr>
              <a:t>55%</a:t>
            </a:r>
            <a:r>
              <a:rPr lang="zh-CN" altLang="en-US" sz="1200" kern="1200" dirty="0">
                <a:solidFill>
                  <a:schemeClr val="tx1"/>
                </a:solidFill>
                <a:effectLst/>
                <a:latin typeface="+mn-lt"/>
                <a:sym typeface="楷体" panose="02010609060101010101" charset="-122"/>
              </a:rPr>
              <a:t>的人去做整容手术是为了让自己看起来和美颜照片一样漂亮，因容貌焦虑导致的整容上瘾已经成为一种新的就医现象。</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项：该项说明社交平台会使人们根据反馈不断地进行自我观察，说明容貌焦虑确实来自于社交平台的反馈，补充论据，可以加强，排除；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项：该项说明经常使用美颜功能和浏览社交平台的照片，会加重对自身容貌和外形瑕疵的不满意，说明容貌焦虑确实来自于对美颜的过度依赖及社交平台的反馈，补充论据，可以加强，排除；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项：该项说明社交平台呈现的美化后的照片易给浏览者带来焦虑，说明容貌焦虑确实来自于社交平台的反馈，补充论据，可以加强，排除；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项：该项说明部分因容貌焦虑去整容的人会出现病态的重复性整容行为，该项说明的是有了容貌焦虑之后的行为，与论点讨论的容貌焦虑的原因无关，为无关项，当选。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论点：老姜并非更有价值。</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论据：老姜是由嫩生姜长成的。</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论点讨论老姜的价值，论据分析老姜是如何长成而来的即老姜的来源，论点论据话题不一致，削弱优先考虑拆桥。</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项：该项说明嫩姜与老姜价值各有不同，没有涉及比较，与老姜价值是否更高无关，不能削弱，排除；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项：该项说明是否爱吃完全是个人喜好，强调的是个人喜好，与老姜价值是否更高无关，不能削弱，排除；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项：该项说明老姜的价值由辛辣程度决定，而不是由其来源决定的，切断了价值与来源之间的联系，为拆桥项，可以削弱，当选；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项：该项说明人们的喜好不同，不必强求，强调的是个人喜好，与老姜价值是否更高无关，不能削弱，排除。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论点：古人的寿命比现代人短，主要原因就是中医落后。</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论点包含因果关系，削弱优先考虑因果倒置或者他因削弱。</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：说明在受访者中首选西医的人多于首选中医的人，与古人寿命比现代人短的原因无关，无关选项，不能削弱；</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：说明古人生病之后没有条件看中医，提出了另外一个导致古人寿命比现代人短的原因，为他因削弱，可以削弱；</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：说明古代自然灾害频繁，造成大量人口死亡，提出了另外一个导致古人寿命比现代人短的原因，为他因削弱，可以削弱；</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：说明中医和西医各有所长，需要根据病症做出正确的选择，与古人寿命比现代人短的原因无关，无关选项，不能削弱；</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：说明是现代发达农业技术大大减少了人类非正常的死亡，使得现代人的寿命比古人长，提出了另外一个导致古人寿命比现代人短的原因，为他因削弱，可以削弱；</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6</a:t>
            </a:r>
            <a:r>
              <a:rPr lang="zh-CN" altLang="en-US" sz="1200" kern="1200" dirty="0">
                <a:solidFill>
                  <a:schemeClr val="tx1"/>
                </a:solidFill>
                <a:effectLst/>
                <a:latin typeface="+mn-lt"/>
                <a:sym typeface="楷体" panose="02010609060101010101" charset="-122"/>
              </a:rPr>
              <a:t>：说明人们认为得了急症要去看西医，与古人寿命比现代人短的原因无关，无关选项，不能削弱；</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：说明只有看过中医的人才会知道中医的好处，与古人寿命比现代人短的原因无关，无关选项，不能削弱。</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能够反驳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古人的寿命比现代人短，主要原因就是中医落后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的有网友</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、网友</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，共</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项。</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论点：所以中医落后于西医。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论据：调查显示，有</a:t>
            </a:r>
            <a:r>
              <a:rPr lang="en-US" altLang="zh-CN" sz="1200" kern="1200" dirty="0">
                <a:solidFill>
                  <a:schemeClr val="tx1"/>
                </a:solidFill>
                <a:effectLst/>
                <a:latin typeface="+mn-lt"/>
                <a:sym typeface="楷体" panose="02010609060101010101" charset="-122"/>
              </a:rPr>
              <a:t>42.7%</a:t>
            </a:r>
            <a:r>
              <a:rPr lang="zh-CN" altLang="en-US" sz="1200" kern="1200" dirty="0">
                <a:solidFill>
                  <a:schemeClr val="tx1"/>
                </a:solidFill>
                <a:effectLst/>
                <a:latin typeface="+mn-lt"/>
                <a:sym typeface="楷体" panose="02010609060101010101" charset="-122"/>
              </a:rPr>
              <a:t>的受访者表示首选西医，而只有</a:t>
            </a:r>
            <a:r>
              <a:rPr lang="en-US" altLang="zh-CN" sz="1200" kern="1200" dirty="0">
                <a:solidFill>
                  <a:schemeClr val="tx1"/>
                </a:solidFill>
                <a:effectLst/>
                <a:latin typeface="+mn-lt"/>
                <a:sym typeface="楷体" panose="02010609060101010101" charset="-122"/>
              </a:rPr>
              <a:t>17.7%</a:t>
            </a:r>
            <a:r>
              <a:rPr lang="zh-CN" altLang="en-US" sz="1200" kern="1200" dirty="0">
                <a:solidFill>
                  <a:schemeClr val="tx1"/>
                </a:solidFill>
                <a:effectLst/>
                <a:latin typeface="+mn-lt"/>
                <a:sym typeface="楷体" panose="02010609060101010101" charset="-122"/>
              </a:rPr>
              <a:t>的受访者表示首选中医。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项：该项说明西医医院和科室远多于中医，所以西医要先进于中医，医院和科室的多少不能证明中医和西医谁更先进，与网友</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论证无关，没有指出论证错误，排除；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项：该项说明首选西医的受访者在西医治疗无效后或许也会选择中医，并不能证明中医和西医谁更先进，与网友</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论证无关，没有指出论证错误，排除；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项：该项说明不知道其余受访者选择的是什么，所以不能说中医落后于西医，然而即便知道其余受访者的选择，也不能单凭受访者的选择得出中医落后于西医的结论，故该项没有指出论证错误，排除；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项：该项说明首选西医或者中医只代表受访者的认知和选择，不能证明中医落后，即由论据不能得出论点，可以指出论证错误，当选。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4.xml"/><Relationship Id="rId7" Type="http://schemas.openxmlformats.org/officeDocument/2006/relationships/image" Target="../media/image2.png"/><Relationship Id="rId6" Type="http://schemas.openxmlformats.org/officeDocument/2006/relationships/tags" Target="../tags/tag3.xml"/><Relationship Id="rId5" Type="http://schemas.openxmlformats.org/officeDocument/2006/relationships/image" Target="NULL" TargetMode="External"/><Relationship Id="rId4" Type="http://schemas.openxmlformats.org/officeDocument/2006/relationships/image" Target="../media/image1.pn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5" Type="http://schemas.openxmlformats.org/officeDocument/2006/relationships/image" Target="NULL" TargetMode="External"/><Relationship Id="rId4" Type="http://schemas.openxmlformats.org/officeDocument/2006/relationships/image" Target="../media/image4.png"/><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5" Type="http://schemas.openxmlformats.org/officeDocument/2006/relationships/image" Target="NULL" TargetMode="External"/><Relationship Id="rId4" Type="http://schemas.openxmlformats.org/officeDocument/2006/relationships/image" Target="../media/image4.png"/><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7" Type="http://schemas.openxmlformats.org/officeDocument/2006/relationships/image" Target="../media/image3.png"/><Relationship Id="rId6" Type="http://schemas.openxmlformats.org/officeDocument/2006/relationships/tags" Target="../tags/tag23.xml"/><Relationship Id="rId5" Type="http://schemas.openxmlformats.org/officeDocument/2006/relationships/image" Target="NULL" TargetMode="External"/><Relationship Id="rId4" Type="http://schemas.openxmlformats.org/officeDocument/2006/relationships/image" Target="../media/image6.png"/><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18" name="矩形 17"/>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pic>
        <p:nvPicPr>
          <p:cNvPr id="13" name="@png2x_02_章节" descr="7b0a202020202266696c746572223a202230220a7d0a"/>
          <p:cNvPicPr>
            <a:picLocks noChangeAspect="1"/>
          </p:cNvPicPr>
          <p:nvPr userDrawn="1">
            <p:custDataLst>
              <p:tags r:id="rId3"/>
            </p:custDataLst>
          </p:nvPr>
        </p:nvPicPr>
        <p:blipFill>
          <a:blip r:embed="rId4" r:link="rId5">
            <a:alphaModFix amt="20000"/>
          </a:blip>
          <a:stretch>
            <a:fillRect/>
          </a:stretch>
        </p:blipFill>
        <p:spPr>
          <a:xfrm>
            <a:off x="0" y="4953000"/>
            <a:ext cx="2323465" cy="1905000"/>
          </a:xfrm>
          <a:prstGeom prst="rect">
            <a:avLst/>
          </a:prstGeom>
        </p:spPr>
      </p:pic>
      <p:pic>
        <p:nvPicPr>
          <p:cNvPr id="11" name="@png2x_02_正文"/>
          <p:cNvPicPr>
            <a:picLocks noChangeAspect="1"/>
          </p:cNvPicPr>
          <p:nvPr userDrawn="1">
            <p:custDataLst>
              <p:tags r:id="rId6"/>
            </p:custDataLst>
          </p:nvPr>
        </p:nvPicPr>
        <p:blipFill>
          <a:blip r:embed="rId7" r:link="rId5">
            <a:alphaModFix amt="20000"/>
          </a:blip>
          <a:stretch>
            <a:fillRect/>
          </a:stretch>
        </p:blipFill>
        <p:spPr>
          <a:xfrm flipH="1">
            <a:off x="7913052" y="0"/>
            <a:ext cx="4279265" cy="2276475"/>
          </a:xfrm>
          <a:prstGeom prst="rect">
            <a:avLst/>
          </a:prstGeom>
        </p:spPr>
      </p:pic>
      <p:pic>
        <p:nvPicPr>
          <p:cNvPr id="3" name="图片 2" descr="1"/>
          <p:cNvPicPr>
            <a:picLocks noChangeAspect="1"/>
          </p:cNvPicPr>
          <p:nvPr userDrawn="1">
            <p:custDataLst>
              <p:tags r:id="rId8"/>
            </p:custDataLst>
          </p:nvPr>
        </p:nvPicPr>
        <p:blipFill>
          <a:blip r:embed="rId9"/>
          <a:stretch>
            <a:fillRect/>
          </a:stretch>
        </p:blipFill>
        <p:spPr>
          <a:xfrm>
            <a:off x="107950" y="144780"/>
            <a:ext cx="2807335" cy="53784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a:defRPr>
                <a:cs typeface="楷体" panose="02010609060101010101" charset="-122"/>
              </a:defRPr>
            </a:lvl1p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a:defRPr>
                <a:cs typeface="楷体" panose="02010609060101010101" charset="-122"/>
              </a:defRPr>
            </a:lvl1pPr>
            <a:lvl2pPr>
              <a:defRPr>
                <a:cs typeface="楷体" panose="02010609060101010101" charset="-122"/>
              </a:defRPr>
            </a:lvl2pPr>
            <a:lvl3pPr>
              <a:defRPr>
                <a:cs typeface="楷体" panose="02010609060101010101" charset="-122"/>
              </a:defRPr>
            </a:lvl3pPr>
            <a:lvl4pPr>
              <a:defRPr>
                <a:cs typeface="楷体" panose="02010609060101010101" charset="-122"/>
              </a:defRPr>
            </a:lvl4pPr>
            <a:lvl5pPr>
              <a:defRPr>
                <a:cs typeface="楷体" panose="02010609060101010101"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cs typeface="楷体" panose="02010609060101010101" charset="-122"/>
              </a:defRPr>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cs typeface="楷体" panose="02010609060101010101"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6" name="矩形 15"/>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40000"/>
                  <a:lumOff val="6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pic>
        <p:nvPicPr>
          <p:cNvPr id="17" name="@png2x_01_结束" descr="C:/Users/kingsoft/AppData/Local/Temp/fig2wpp/@png2x_01_结束.png"/>
          <p:cNvPicPr>
            <a:picLocks noChangeAspect="1"/>
          </p:cNvPicPr>
          <p:nvPr userDrawn="1">
            <p:custDataLst>
              <p:tags r:id="rId3"/>
            </p:custDataLst>
          </p:nvPr>
        </p:nvPicPr>
        <p:blipFill>
          <a:blip r:embed="rId4" r:link="rId5">
            <a:alphaModFix amt="20000"/>
          </a:blip>
          <a:stretch>
            <a:fillRect/>
          </a:stretch>
        </p:blipFill>
        <p:spPr>
          <a:xfrm>
            <a:off x="0" y="0"/>
            <a:ext cx="7372350" cy="5682615"/>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6" name="矩形 15"/>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40000"/>
                  <a:lumOff val="6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pic>
        <p:nvPicPr>
          <p:cNvPr id="17" name="@png2x_01_结束" descr="C:/Users/kingsoft/AppData/Local/Temp/fig2wpp/@png2x_01_结束.png"/>
          <p:cNvPicPr>
            <a:picLocks noChangeAspect="1"/>
          </p:cNvPicPr>
          <p:nvPr userDrawn="1">
            <p:custDataLst>
              <p:tags r:id="rId3"/>
            </p:custDataLst>
          </p:nvPr>
        </p:nvPicPr>
        <p:blipFill>
          <a:blip r:embed="rId4" r:link="rId5">
            <a:alphaModFix amt="20000"/>
          </a:blip>
          <a:stretch>
            <a:fillRect/>
          </a:stretch>
        </p:blipFill>
        <p:spPr>
          <a:xfrm>
            <a:off x="0" y="0"/>
            <a:ext cx="7372350" cy="5682615"/>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solidFill>
          <a:schemeClr val="bg1"/>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rot="10800000" flipH="1" flipV="1">
            <a:off x="0" y="0"/>
            <a:ext cx="12192000" cy="6858000"/>
          </a:xfrm>
          <a:prstGeom prst="rect">
            <a:avLst/>
          </a:prstGeom>
          <a:gradFill>
            <a:gsLst>
              <a:gs pos="0">
                <a:srgbClr val="67BEFF"/>
              </a:gs>
              <a:gs pos="0">
                <a:srgbClr val="A5D7FE">
                  <a:alpha val="100000"/>
                </a:srgbClr>
              </a:gs>
              <a:gs pos="0">
                <a:schemeClr val="accent5">
                  <a:lumMod val="20000"/>
                  <a:lumOff val="80000"/>
                </a:schemeClr>
              </a:gs>
              <a:gs pos="100000">
                <a:srgbClr val="E3F0FD">
                  <a:alpha val="36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dirty="0">
              <a:cs typeface="楷体" panose="02010609060101010101" charset="-122"/>
            </a:endParaRPr>
          </a:p>
        </p:txBody>
      </p:sp>
      <p:pic>
        <p:nvPicPr>
          <p:cNvPr id="8" name="@png2x_01_封面" descr="7b0a202020202266696c746572223a202230220a7d0a"/>
          <p:cNvPicPr>
            <a:picLocks noChangeAspect="1"/>
          </p:cNvPicPr>
          <p:nvPr userDrawn="1">
            <p:custDataLst>
              <p:tags r:id="rId3"/>
            </p:custDataLst>
          </p:nvPr>
        </p:nvPicPr>
        <p:blipFill>
          <a:blip r:embed="rId4" r:link="rId5">
            <a:alphaModFix amt="20000"/>
          </a:blip>
          <a:stretch>
            <a:fillRect/>
          </a:stretch>
        </p:blipFill>
        <p:spPr>
          <a:xfrm flipH="1">
            <a:off x="0" y="3045460"/>
            <a:ext cx="4892675" cy="3812540"/>
          </a:xfrm>
          <a:prstGeom prst="rect">
            <a:avLst/>
          </a:prstGeom>
          <a:noFill/>
        </p:spPr>
      </p:pic>
      <p:pic>
        <p:nvPicPr>
          <p:cNvPr id="9" name="图片 8" descr="1"/>
          <p:cNvPicPr>
            <a:picLocks noChangeAspect="1"/>
          </p:cNvPicPr>
          <p:nvPr userDrawn="1">
            <p:custDataLst>
              <p:tags r:id="rId6"/>
            </p:custDataLst>
          </p:nvPr>
        </p:nvPicPr>
        <p:blipFill>
          <a:blip r:embed="rId7"/>
          <a:stretch>
            <a:fillRect/>
          </a:stretch>
        </p:blipFill>
        <p:spPr>
          <a:xfrm>
            <a:off x="107950" y="144780"/>
            <a:ext cx="2807335" cy="537845"/>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楷体" panose="02010609060101010101" charset="-122"/>
            </a:endParaRPr>
          </a:p>
        </p:txBody>
      </p:sp>
      <p:sp>
        <p:nvSpPr>
          <p:cNvPr id="4" name="Rectangle 41800_#color-2111&amp;819"/>
          <p:cNvSpPr/>
          <p:nvPr userDrawn="1">
            <p:custDataLst>
              <p:tags r:id="rId3"/>
            </p:custDataLst>
          </p:nvPr>
        </p:nvSpPr>
        <p:spPr>
          <a:xfrm>
            <a:off x="0" y="0"/>
            <a:ext cx="5614416" cy="6858000"/>
          </a:xfrm>
          <a:prstGeom prst="rect">
            <a:avLst/>
          </a:prstGeom>
          <a:solidFill>
            <a:schemeClr val="tx2">
              <a:alpha val="10000"/>
            </a:schemeClr>
          </a:solidFill>
        </p:spPr>
      </p:sp>
      <p:sp>
        <p:nvSpPr>
          <p:cNvPr id="5" name="Rectangle 29_#color_$accent1_$accent2-2111&amp;1290"/>
          <p:cNvSpPr/>
          <p:nvPr userDrawn="1">
            <p:custDataLst>
              <p:tags r:id="rId4"/>
            </p:custDataLst>
          </p:nvPr>
        </p:nvSpPr>
        <p:spPr>
          <a:xfrm>
            <a:off x="0" y="0"/>
            <a:ext cx="9693910" cy="6858000"/>
          </a:xfrm>
          <a:custGeom>
            <a:avLst/>
            <a:gdLst/>
            <a:ahLst/>
            <a:cxnLst/>
            <a:rect l="l" t="t" r="r" b="b"/>
            <a:pathLst>
              <a:path w="10085832" h="6858000">
                <a:moveTo>
                  <a:pt x="0" y="4581144"/>
                </a:moveTo>
                <a:lnTo>
                  <a:pt x="4581144" y="0"/>
                </a:lnTo>
                <a:lnTo>
                  <a:pt x="6830568" y="0"/>
                </a:lnTo>
                <a:lnTo>
                  <a:pt x="10085832" y="3255264"/>
                </a:lnTo>
                <a:lnTo>
                  <a:pt x="6483096" y="6858000"/>
                </a:lnTo>
                <a:lnTo>
                  <a:pt x="0" y="6858000"/>
                </a:lnTo>
                <a:lnTo>
                  <a:pt x="0" y="4581144"/>
                </a:lnTo>
              </a:path>
            </a:pathLst>
          </a:custGeom>
          <a:gradFill>
            <a:gsLst>
              <a:gs pos="0">
                <a:schemeClr val="accent5">
                  <a:lumMod val="60000"/>
                  <a:lumOff val="40000"/>
                </a:schemeClr>
              </a:gs>
              <a:gs pos="94328">
                <a:schemeClr val="accent1">
                  <a:alpha val="100000"/>
                </a:schemeClr>
              </a:gs>
            </a:gsLst>
            <a:lin ang="10921821"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6" name="Rectangle 27_#color-2111&amp;1293"/>
          <p:cNvSpPr/>
          <p:nvPr userDrawn="1">
            <p:custDataLst>
              <p:tags r:id="rId5"/>
            </p:custDataLst>
          </p:nvPr>
        </p:nvSpPr>
        <p:spPr>
          <a:xfrm>
            <a:off x="2673096" y="0"/>
            <a:ext cx="9518904" cy="6858000"/>
          </a:xfrm>
          <a:custGeom>
            <a:avLst/>
            <a:gdLst/>
            <a:ahLst/>
            <a:cxnLst/>
            <a:rect l="l" t="t" r="r" b="b"/>
            <a:pathLst>
              <a:path w="9518904" h="6858000">
                <a:moveTo>
                  <a:pt x="2569464" y="6858000"/>
                </a:moveTo>
                <a:lnTo>
                  <a:pt x="9518904" y="6858000"/>
                </a:lnTo>
                <a:lnTo>
                  <a:pt x="9518904" y="0"/>
                </a:lnTo>
                <a:lnTo>
                  <a:pt x="3867912" y="0"/>
                </a:lnTo>
                <a:lnTo>
                  <a:pt x="146304" y="3721608"/>
                </a:lnTo>
                <a:cubicBezTo>
                  <a:pt x="-45720" y="3913632"/>
                  <a:pt x="-45720" y="4242816"/>
                  <a:pt x="146304" y="4434840"/>
                </a:cubicBezTo>
                <a:lnTo>
                  <a:pt x="2569464" y="6858000"/>
                </a:lnTo>
              </a:path>
            </a:pathLst>
          </a:custGeom>
          <a:solidFill>
            <a:schemeClr val="bg2"/>
          </a:solidFill>
          <a:effectLst/>
          <a:extLst>
            <a:ext uri="{AF507438-7753-43E0-B8FC-AC1667EBCBE1}">
              <a14:hiddenEffects xmlns:a14="http://schemas.microsoft.com/office/drawing/2010/main">
                <a:effectLst>
                  <a:outerShdw blurRad="251460" dist="101600" dir="5400000" algn="bl" rotWithShape="0">
                    <a:srgbClr val="DDDDDD">
                      <a:alpha val="25000"/>
                    </a:srgbClr>
                  </a:outerShdw>
                </a:effectLst>
              </a14:hiddenEffects>
            </a:ext>
          </a:extLst>
        </p:spPr>
      </p:sp>
      <p:sp>
        <p:nvSpPr>
          <p:cNvPr id="10" name="Rectangle 28_#color_$lt2_$lt2-2111&amp;1296"/>
          <p:cNvSpPr/>
          <p:nvPr userDrawn="1">
            <p:custDataLst>
              <p:tags r:id="rId6"/>
            </p:custDataLst>
          </p:nvPr>
        </p:nvSpPr>
        <p:spPr>
          <a:xfrm>
            <a:off x="0" y="-11430"/>
            <a:ext cx="5198110" cy="3284855"/>
          </a:xfrm>
          <a:custGeom>
            <a:avLst/>
            <a:gdLst/>
            <a:ahLst/>
            <a:cxnLst/>
            <a:rect l="l" t="t" r="r" b="b"/>
            <a:pathLst>
              <a:path w="5879592" h="3538728">
                <a:moveTo>
                  <a:pt x="5879592" y="0"/>
                </a:moveTo>
                <a:lnTo>
                  <a:pt x="0" y="0"/>
                </a:lnTo>
                <a:lnTo>
                  <a:pt x="0" y="1618488"/>
                </a:lnTo>
                <a:lnTo>
                  <a:pt x="1773936" y="3392424"/>
                </a:lnTo>
                <a:cubicBezTo>
                  <a:pt x="1965960" y="3593592"/>
                  <a:pt x="2295144" y="3593592"/>
                  <a:pt x="2487168" y="3392424"/>
                </a:cubicBezTo>
                <a:lnTo>
                  <a:pt x="5879592" y="0"/>
                </a:lnTo>
              </a:path>
            </a:pathLst>
          </a:custGeom>
          <a:gradFill>
            <a:gsLst>
              <a:gs pos="0">
                <a:schemeClr val="bg2">
                  <a:alpha val="100000"/>
                </a:schemeClr>
              </a:gs>
              <a:gs pos="100000">
                <a:schemeClr val="bg2">
                  <a:alpha val="56000"/>
                </a:schemeClr>
              </a:gs>
            </a:gsLst>
            <a:lin ang="912000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2" name="标题 1"/>
          <p:cNvSpPr>
            <a:spLocks noGrp="1"/>
          </p:cNvSpPr>
          <p:nvPr>
            <p:ph type="title" hasCustomPrompt="1"/>
            <p:custDataLst>
              <p:tags r:id="rId7"/>
            </p:custDataLst>
          </p:nvPr>
        </p:nvSpPr>
        <p:spPr>
          <a:xfrm>
            <a:off x="6096000" y="506730"/>
            <a:ext cx="5643880" cy="1081405"/>
          </a:xfrm>
        </p:spPr>
        <p:txBody>
          <a:bodyPr wrap="square" anchor="b">
            <a:normAutofit/>
          </a:bodyPr>
          <a:lstStyle>
            <a:lvl1pPr algn="ctr">
              <a:defRPr sz="5000">
                <a:latin typeface="+mj-ea"/>
                <a:ea typeface="+mj-ea"/>
              </a:defRPr>
            </a:lvl1pPr>
          </a:lstStyle>
          <a:p>
            <a:r>
              <a:rPr lang="zh-CN" altLang="en-US" dirty="0"/>
              <a:t>标题</a:t>
            </a:r>
            <a:endParaRPr lang="zh-CN" altLang="en-US" dirty="0"/>
          </a:p>
        </p:txBody>
      </p:sp>
      <p:pic>
        <p:nvPicPr>
          <p:cNvPr id="12" name="图片 11" descr="1"/>
          <p:cNvPicPr>
            <a:picLocks noChangeAspect="1"/>
          </p:cNvPicPr>
          <p:nvPr userDrawn="1">
            <p:custDataLst>
              <p:tags r:id="rId8"/>
            </p:custDataLst>
          </p:nvPr>
        </p:nvPicPr>
        <p:blipFill>
          <a:blip r:embed="rId9"/>
          <a:stretch>
            <a:fillRect/>
          </a:stretch>
        </p:blipFill>
        <p:spPr>
          <a:xfrm>
            <a:off x="107950" y="144780"/>
            <a:ext cx="2807335" cy="53784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3" Type="http://schemas.openxmlformats.org/officeDocument/2006/relationships/theme" Target="../theme/theme1.xml"/><Relationship Id="rId32" Type="http://schemas.openxmlformats.org/officeDocument/2006/relationships/image" Target="../media/image3.png"/><Relationship Id="rId31" Type="http://schemas.openxmlformats.org/officeDocument/2006/relationships/tags" Target="../tags/tag15.xml"/><Relationship Id="rId30" Type="http://schemas.openxmlformats.org/officeDocument/2006/relationships/tags" Target="../tags/tag14.xml"/><Relationship Id="rId3" Type="http://schemas.openxmlformats.org/officeDocument/2006/relationships/slideLayout" Target="../slideLayouts/slideLayout3.xml"/><Relationship Id="rId29" Type="http://schemas.openxmlformats.org/officeDocument/2006/relationships/image" Target="../media/image5.png"/><Relationship Id="rId28" Type="http://schemas.openxmlformats.org/officeDocument/2006/relationships/tags" Target="../tags/tag13.xml"/><Relationship Id="rId27" Type="http://schemas.openxmlformats.org/officeDocument/2006/relationships/image" Target="NULL" TargetMode="External"/><Relationship Id="rId26" Type="http://schemas.openxmlformats.org/officeDocument/2006/relationships/image" Target="../media/image2.png"/><Relationship Id="rId25" Type="http://schemas.openxmlformats.org/officeDocument/2006/relationships/tags" Target="../tags/tag12.xml"/><Relationship Id="rId24" Type="http://schemas.openxmlformats.org/officeDocument/2006/relationships/tags" Target="../tags/tag11.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7" Type="http://schemas.openxmlformats.org/officeDocument/2006/relationships/tags" Target="../tags/tag20.xml"/><Relationship Id="rId6" Type="http://schemas.openxmlformats.org/officeDocument/2006/relationships/image" Target="NULL" TargetMode="External"/><Relationship Id="rId5" Type="http://schemas.openxmlformats.org/officeDocument/2006/relationships/image" Target="../media/image2.png"/><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9" Type="http://schemas.openxmlformats.org/officeDocument/2006/relationships/theme" Target="../theme/theme3.xml"/><Relationship Id="rId8" Type="http://schemas.openxmlformats.org/officeDocument/2006/relationships/tags" Target="../tags/tag27.xml"/><Relationship Id="rId7" Type="http://schemas.openxmlformats.org/officeDocument/2006/relationships/image" Target="../media/image5.png"/><Relationship Id="rId6" Type="http://schemas.openxmlformats.org/officeDocument/2006/relationships/tags" Target="../tags/tag26.xml"/><Relationship Id="rId5" Type="http://schemas.openxmlformats.org/officeDocument/2006/relationships/image" Target="NULL" TargetMode="External"/><Relationship Id="rId4" Type="http://schemas.openxmlformats.org/officeDocument/2006/relationships/image" Target="../media/image2.png"/><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9" Type="http://schemas.openxmlformats.org/officeDocument/2006/relationships/theme" Target="../theme/theme4.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8" name="矩形 17"/>
          <p:cNvSpPr/>
          <p:nvPr userDrawn="1">
            <p:custDataLst>
              <p:tags r:id="rId24"/>
            </p:custDataLst>
          </p:nvPr>
        </p:nvSpPr>
        <p:spPr>
          <a:xfrm>
            <a:off x="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latin typeface="楷体" panose="02010609060101010101" charset="-122"/>
              <a:ea typeface="楷体" panose="02010609060101010101" charset="-122"/>
              <a:cs typeface="楷体" panose="02010609060101010101" charset="-122"/>
            </a:endParaRPr>
          </a:p>
        </p:txBody>
      </p:sp>
      <p:pic>
        <p:nvPicPr>
          <p:cNvPr id="11" name="@png2x_02_正文"/>
          <p:cNvPicPr>
            <a:picLocks noChangeAspect="1"/>
          </p:cNvPicPr>
          <p:nvPr userDrawn="1">
            <p:custDataLst>
              <p:tags r:id="rId25"/>
            </p:custDataLst>
          </p:nvPr>
        </p:nvPicPr>
        <p:blipFill>
          <a:blip r:embed="rId26" r:link="rId27">
            <a:alphaModFix amt="20000"/>
          </a:blip>
          <a:stretch>
            <a:fillRect/>
          </a:stretch>
        </p:blipFill>
        <p:spPr>
          <a:xfrm flipH="1">
            <a:off x="7913052" y="0"/>
            <a:ext cx="4279265" cy="2276475"/>
          </a:xfrm>
          <a:prstGeom prst="rect">
            <a:avLst/>
          </a:prstGeom>
        </p:spPr>
      </p:pic>
      <p:pic>
        <p:nvPicPr>
          <p:cNvPr id="12" name="@png2x_01_正文"/>
          <p:cNvPicPr>
            <a:picLocks noChangeAspect="1"/>
          </p:cNvPicPr>
          <p:nvPr userDrawn="1">
            <p:custDataLst>
              <p:tags r:id="rId28"/>
            </p:custDataLst>
          </p:nvPr>
        </p:nvPicPr>
        <p:blipFill>
          <a:blip r:embed="rId29" r:link="rId27">
            <a:alphaModFix amt="20000"/>
          </a:blip>
          <a:stretch>
            <a:fillRect/>
          </a:stretch>
        </p:blipFill>
        <p:spPr>
          <a:xfrm rot="5400000">
            <a:off x="186993" y="4824556"/>
            <a:ext cx="1847864" cy="2218863"/>
          </a:xfrm>
          <a:prstGeom prst="rect">
            <a:avLst/>
          </a:prstGeom>
        </p:spPr>
      </p:pic>
      <p:sp>
        <p:nvSpPr>
          <p:cNvPr id="7" name="KSO_TEMPLATE" hidden="1"/>
          <p:cNvSpPr/>
          <p:nvPr userDrawn="1">
            <p:custDataLst>
              <p:tags r:id="rId3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pic>
        <p:nvPicPr>
          <p:cNvPr id="8" name="图片 7" descr="1"/>
          <p:cNvPicPr>
            <a:picLocks noChangeAspect="1"/>
          </p:cNvPicPr>
          <p:nvPr userDrawn="1">
            <p:custDataLst>
              <p:tags r:id="rId31"/>
            </p:custDataLst>
          </p:nvPr>
        </p:nvPicPr>
        <p:blipFill>
          <a:blip r:embed="rId32"/>
          <a:stretch>
            <a:fillRect/>
          </a:stretch>
        </p:blipFill>
        <p:spPr>
          <a:xfrm>
            <a:off x="107950" y="144780"/>
            <a:ext cx="2807335" cy="53784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ctr" defTabSz="914400" rtl="0" eaLnBrk="1" latinLnBrk="0" hangingPunct="1">
        <a:lnSpc>
          <a:spcPct val="100000"/>
        </a:lnSpc>
        <a:spcBef>
          <a:spcPct val="0"/>
        </a:spcBef>
        <a:buNone/>
        <a:defRPr sz="3200" b="1" kern="1200">
          <a:solidFill>
            <a:schemeClr val="tx1"/>
          </a:solidFill>
          <a:latin typeface="+mj-ea"/>
          <a:ea typeface="+mj-ea"/>
          <a:cs typeface="MiSans Bold" panose="00000800000000000000"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ea"/>
          <a:ea typeface="+mn-ea"/>
          <a:cs typeface="MiSans Bold" panose="00000800000000000000" charset="-122"/>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iSans Bold" panose="00000800000000000000"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iSans Bold" panose="00000800000000000000"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ea typeface="+mn-ea"/>
          <a:cs typeface="MiSans Bold" panose="00000800000000000000"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ea"/>
          <a:ea typeface="+mn-ea"/>
          <a:cs typeface="MiSans Bold" panose="000008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矩形 12"/>
          <p:cNvSpPr/>
          <p:nvPr userDrawn="1">
            <p:custDataLst>
              <p:tags r:id="rId3"/>
            </p:custDataLst>
          </p:nvPr>
        </p:nvSpPr>
        <p:spPr>
          <a:xfrm>
            <a:off x="0" y="0"/>
            <a:ext cx="12192000" cy="6858000"/>
          </a:xfrm>
          <a:prstGeom prst="rect">
            <a:avLst/>
          </a:prstGeom>
          <a:gradFill flip="none" rotWithShape="1">
            <a:gsLst>
              <a:gs pos="0">
                <a:srgbClr val="67BEFF">
                  <a:alpha val="100000"/>
                </a:srgbClr>
              </a:gs>
              <a:gs pos="0">
                <a:schemeClr val="accent5">
                  <a:lumMod val="40000"/>
                  <a:lumOff val="60000"/>
                </a:schemeClr>
              </a:gs>
              <a:gs pos="55000">
                <a:srgbClr val="E3F0FD"/>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charset="-122"/>
              <a:ea typeface="楷体" panose="02010609060101010101" charset="-122"/>
              <a:cs typeface="楷体" panose="02010609060101010101" charset="-122"/>
            </a:endParaRPr>
          </a:p>
        </p:txBody>
      </p:sp>
      <p:pic>
        <p:nvPicPr>
          <p:cNvPr id="11" name="@png2x_02_正文"/>
          <p:cNvPicPr>
            <a:picLocks noChangeAspect="1"/>
          </p:cNvPicPr>
          <p:nvPr userDrawn="1">
            <p:custDataLst>
              <p:tags r:id="rId4"/>
            </p:custDataLst>
          </p:nvPr>
        </p:nvPicPr>
        <p:blipFill>
          <a:blip r:embed="rId5" r:link="rId6"/>
          <a:stretch>
            <a:fillRect/>
          </a:stretch>
        </p:blipFill>
        <p:spPr>
          <a:xfrm>
            <a:off x="1587" y="0"/>
            <a:ext cx="4279265" cy="2276475"/>
          </a:xfrm>
          <a:prstGeom prst="rect">
            <a:avLst/>
          </a:prstGeom>
        </p:spPr>
      </p:pic>
      <p:sp>
        <p:nvSpPr>
          <p:cNvPr id="7" name="KSO_TEMPLATE" hidden="1"/>
          <p:cNvSpPr/>
          <p:nvPr userDrawn="1">
            <p:custDataLst>
              <p:tags r:id="rId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ctr" defTabSz="914400" rtl="0" eaLnBrk="1" latinLnBrk="0" hangingPunct="1">
        <a:lnSpc>
          <a:spcPct val="100000"/>
        </a:lnSpc>
        <a:spcBef>
          <a:spcPct val="0"/>
        </a:spcBef>
        <a:buNone/>
        <a:defRPr sz="3200" b="1" kern="1200">
          <a:solidFill>
            <a:schemeClr val="tx1"/>
          </a:solidFill>
          <a:latin typeface="+mj-ea"/>
          <a:ea typeface="+mj-ea"/>
          <a:cs typeface="MiSans Bold" panose="00000800000000000000"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ea"/>
          <a:ea typeface="+mn-ea"/>
          <a:cs typeface="MiSans Bold" panose="00000800000000000000" charset="-122"/>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iSans Bold" panose="00000800000000000000"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iSans Bold" panose="00000800000000000000"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ea typeface="+mn-ea"/>
          <a:cs typeface="MiSans Bold" panose="00000800000000000000"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ea"/>
          <a:ea typeface="+mn-ea"/>
          <a:cs typeface="MiSans Bold" panose="000008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2540" y="0"/>
            <a:ext cx="12192000" cy="6858000"/>
          </a:xfrm>
          <a:prstGeom prst="rect">
            <a:avLst/>
          </a:prstGeom>
          <a:gradFill flip="none" rotWithShape="1">
            <a:gsLst>
              <a:gs pos="0">
                <a:schemeClr val="bg1"/>
              </a:gs>
              <a:gs pos="100000">
                <a:schemeClr val="accent5">
                  <a:lumMod val="20000"/>
                  <a:lumOff val="80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charset="-122"/>
              <a:ea typeface="楷体" panose="02010609060101010101" charset="-122"/>
              <a:cs typeface="楷体" panose="02010609060101010101" charset="-122"/>
            </a:endParaRPr>
          </a:p>
        </p:txBody>
      </p:sp>
      <p:pic>
        <p:nvPicPr>
          <p:cNvPr id="11" name="@png2x_02_正文"/>
          <p:cNvPicPr>
            <a:picLocks noChangeAspect="1"/>
          </p:cNvPicPr>
          <p:nvPr userDrawn="1">
            <p:custDataLst>
              <p:tags r:id="rId3"/>
            </p:custDataLst>
          </p:nvPr>
        </p:nvPicPr>
        <p:blipFill>
          <a:blip r:embed="rId4" r:link="rId5">
            <a:alphaModFix amt="40000"/>
          </a:blip>
          <a:stretch>
            <a:fillRect/>
          </a:stretch>
        </p:blipFill>
        <p:spPr>
          <a:xfrm>
            <a:off x="1587" y="0"/>
            <a:ext cx="4279265" cy="2276475"/>
          </a:xfrm>
          <a:prstGeom prst="rect">
            <a:avLst/>
          </a:prstGeom>
        </p:spPr>
      </p:pic>
      <p:pic>
        <p:nvPicPr>
          <p:cNvPr id="12" name="@png2x_01_正文"/>
          <p:cNvPicPr>
            <a:picLocks noChangeAspect="1"/>
          </p:cNvPicPr>
          <p:nvPr userDrawn="1">
            <p:custDataLst>
              <p:tags r:id="rId6"/>
            </p:custDataLst>
          </p:nvPr>
        </p:nvPicPr>
        <p:blipFill>
          <a:blip r:embed="rId7" r:link="rId5">
            <a:alphaModFix amt="40000"/>
          </a:blip>
          <a:stretch>
            <a:fillRect/>
          </a:stretch>
        </p:blipFill>
        <p:spPr>
          <a:xfrm>
            <a:off x="10341913" y="4638501"/>
            <a:ext cx="1847864" cy="2218863"/>
          </a:xfrm>
          <a:prstGeom prst="rect">
            <a:avLst/>
          </a:prstGeom>
        </p:spPr>
      </p:pic>
      <p:sp>
        <p:nvSpPr>
          <p:cNvPr id="7"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sldLayoutIdLst>
    <p:sldLayoutId id="2147483676" r:id="rId1"/>
  </p:sldLayoutIdLst>
  <p:txStyles>
    <p:titleStyle>
      <a:lvl1pPr algn="ctr" defTabSz="914400" rtl="0" eaLnBrk="1" latinLnBrk="0" hangingPunct="1">
        <a:lnSpc>
          <a:spcPct val="100000"/>
        </a:lnSpc>
        <a:spcBef>
          <a:spcPct val="0"/>
        </a:spcBef>
        <a:buNone/>
        <a:defRPr sz="3200" b="1" kern="1200">
          <a:solidFill>
            <a:schemeClr val="tx1"/>
          </a:solidFill>
          <a:latin typeface="+mj-ea"/>
          <a:ea typeface="+mj-ea"/>
          <a:cs typeface="MiSans Bold" panose="00000800000000000000"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ea"/>
          <a:ea typeface="+mn-ea"/>
          <a:cs typeface="MiSans Bold" panose="00000800000000000000" charset="-122"/>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iSans Bold" panose="00000800000000000000"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iSans Bold" panose="00000800000000000000"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ea typeface="+mn-ea"/>
          <a:cs typeface="MiSans Bold" panose="00000800000000000000"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ea"/>
          <a:ea typeface="+mn-ea"/>
          <a:cs typeface="MiSans Bold" panose="000008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
            </p:custDataLst>
          </p:nvPr>
        </p:nvSpPr>
        <p:spPr>
          <a:xfrm>
            <a:off x="69600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96000" y="1364400"/>
            <a:ext cx="10800000" cy="4813200"/>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4"/>
            </p:custDataLst>
          </p:nvPr>
        </p:nvSpPr>
        <p:spPr>
          <a:xfrm>
            <a:off x="69600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楷体" panose="02010609060101010101" charset="-122"/>
                <a:ea typeface="楷体" panose="02010609060101010101" charset="-122"/>
                <a:cs typeface="楷体" panose="02010609060101010101" charset="-122"/>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5"/>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楷体" panose="02010609060101010101" charset="-122"/>
                <a:ea typeface="楷体" panose="02010609060101010101" charset="-122"/>
                <a:cs typeface="楷体" panose="02010609060101010101" charset="-122"/>
              </a:defRPr>
            </a:lvl1pPr>
          </a:lstStyle>
          <a:p>
            <a:endParaRPr lang="zh-CN" altLang="en-US" dirty="0"/>
          </a:p>
        </p:txBody>
      </p:sp>
      <p:sp>
        <p:nvSpPr>
          <p:cNvPr id="6" name="灯片编号占位符 5"/>
          <p:cNvSpPr>
            <a:spLocks noGrp="1"/>
          </p:cNvSpPr>
          <p:nvPr>
            <p:ph type="sldNum" sz="quarter" idx="4"/>
            <p:custDataLst>
              <p:tags r:id="rId6"/>
            </p:custDataLst>
          </p:nvPr>
        </p:nvSpPr>
        <p:spPr>
          <a:xfrm>
            <a:off x="8754110"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楷体" panose="02010609060101010101" charset="-122"/>
                <a:ea typeface="楷体" panose="02010609060101010101" charset="-122"/>
                <a:cs typeface="楷体" panose="02010609060101010101" charset="-122"/>
              </a:defRPr>
            </a:lvl1pPr>
          </a:lstStyle>
          <a:p>
            <a:fld id="{BE5F26B5-172A-4DC2-B0B7-181CFC56B87C}" type="slidenum">
              <a:rPr lang="zh-CN" altLang="en-US" smtClean="0"/>
            </a:fld>
            <a:endParaRPr lang="zh-CN" altLang="en-US"/>
          </a:p>
        </p:txBody>
      </p:sp>
      <p:sp>
        <p:nvSpPr>
          <p:cNvPr id="8" name="Rectangle 29_#color_$accent1_$accent2-2111&amp;1305"/>
          <p:cNvSpPr/>
          <p:nvPr userDrawn="1">
            <p:custDataLst>
              <p:tags r:id="rId7"/>
            </p:custDataLst>
          </p:nvPr>
        </p:nvSpPr>
        <p:spPr>
          <a:xfrm rot="5400000">
            <a:off x="127" y="5879592"/>
            <a:ext cx="978408" cy="978408"/>
          </a:xfrm>
          <a:custGeom>
            <a:avLst/>
            <a:gdLst/>
            <a:ahLst/>
            <a:cxnLst/>
            <a:rect l="l" t="t" r="r" b="b"/>
            <a:pathLst>
              <a:path w="978408" h="978408">
                <a:moveTo>
                  <a:pt x="978408" y="0"/>
                </a:moveTo>
                <a:lnTo>
                  <a:pt x="978408" y="978408"/>
                </a:lnTo>
                <a:lnTo>
                  <a:pt x="0" y="978408"/>
                </a:lnTo>
                <a:lnTo>
                  <a:pt x="978408" y="0"/>
                </a:lnTo>
              </a:path>
            </a:pathLst>
          </a:custGeom>
          <a:gradFill>
            <a:gsLst>
              <a:gs pos="0">
                <a:schemeClr val="accent2">
                  <a:alpha val="100000"/>
                </a:schemeClr>
              </a:gs>
              <a:gs pos="94328">
                <a:schemeClr val="accent1">
                  <a:alpha val="100000"/>
                </a:schemeClr>
              </a:gs>
            </a:gsLst>
            <a:lin ang="10921821"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a:latin typeface="楷体" panose="02010609060101010101" charset="-122"/>
              <a:ea typeface="楷体" panose="02010609060101010101" charset="-122"/>
              <a:cs typeface="楷体" panose="02010609060101010101" charset="-122"/>
            </a:endParaRPr>
          </a:p>
        </p:txBody>
      </p:sp>
      <p:sp>
        <p:nvSpPr>
          <p:cNvPr id="7"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sldLayoutIdLst>
    <p:sldLayoutId id="2147483678" r:id="rId1"/>
  </p:sldLayoutIdLst>
  <p:txStyles>
    <p:titleStyle>
      <a:lvl1pPr algn="l" defTabSz="914400" rtl="0" eaLnBrk="1" latinLnBrk="0" hangingPunct="1">
        <a:lnSpc>
          <a:spcPct val="100000"/>
        </a:lnSpc>
        <a:spcBef>
          <a:spcPct val="0"/>
        </a:spcBef>
        <a:buNone/>
        <a:defRPr sz="3600" b="1" kern="1200">
          <a:solidFill>
            <a:schemeClr val="tx1"/>
          </a:solidFill>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楷体" panose="02010609060101010101" charset="-122"/>
          <a:ea typeface="楷体" panose="02010609060101010101" charset="-122"/>
          <a:cs typeface="楷体" panose="02010609060101010101" charset="-122"/>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楷体" panose="02010609060101010101" charset="-122"/>
          <a:ea typeface="楷体" panose="02010609060101010101" charset="-122"/>
          <a:cs typeface="楷体" panose="02010609060101010101"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楷体" panose="02010609060101010101" charset="-122"/>
          <a:ea typeface="楷体" panose="02010609060101010101" charset="-122"/>
          <a:cs typeface="楷体" panose="02010609060101010101" charset="-122"/>
          <a:sym typeface="楷体" panose="02010609060101010101"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楷体" panose="02010609060101010101" charset="-122"/>
          <a:ea typeface="楷体" panose="02010609060101010101" charset="-122"/>
          <a:cs typeface="楷体" panose="02010609060101010101" charset="-122"/>
          <a:sym typeface="楷体" panose="02010609060101010101"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楷体" panose="02010609060101010101" charset="-122"/>
          <a:ea typeface="楷体" panose="02010609060101010101" charset="-122"/>
          <a:cs typeface="楷体" panose="02010609060101010101" charset="-122"/>
          <a:sym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6.xml"/><Relationship Id="rId2" Type="http://schemas.openxmlformats.org/officeDocument/2006/relationships/tags" Target="../tags/tag43.xml"/><Relationship Id="rId1" Type="http://schemas.openxmlformats.org/officeDocument/2006/relationships/tags" Target="../tags/tag4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3.xml"/><Relationship Id="rId2" Type="http://schemas.openxmlformats.org/officeDocument/2006/relationships/tags" Target="../tags/tag45.xml"/><Relationship Id="rId1" Type="http://schemas.openxmlformats.org/officeDocument/2006/relationships/tags" Target="../tags/tag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ctrTitle" idx="4294967295"/>
            <p:custDataLst>
              <p:tags r:id="rId1"/>
            </p:custDataLst>
          </p:nvPr>
        </p:nvSpPr>
        <p:spPr>
          <a:xfrm>
            <a:off x="-635" y="1067435"/>
            <a:ext cx="12192635" cy="3158490"/>
          </a:xfrm>
        </p:spPr>
        <p:txBody>
          <a:bodyPr>
            <a:noAutofit/>
          </a:bodyPr>
          <a:p>
            <a:pPr marL="0" indent="0" algn="ctr">
              <a:lnSpc>
                <a:spcPct val="100000"/>
              </a:lnSpc>
              <a:spcBef>
                <a:spcPts val="0"/>
              </a:spcBef>
              <a:spcAft>
                <a:spcPts val="0"/>
              </a:spcAft>
              <a:buSzPct val="100000"/>
            </a:pPr>
            <a:r>
              <a:rPr lang="zh-CN" altLang="en-US" sz="8000" dirty="0">
                <a:solidFill>
                  <a:schemeClr val="tx1"/>
                </a:solidFill>
                <a:latin typeface="楷体" panose="02010609060101010101" charset="-122"/>
                <a:ea typeface="楷体" panose="02010609060101010101" charset="-122"/>
              </a:rPr>
              <a:t>判断推理套题</a:t>
            </a:r>
            <a:r>
              <a:rPr lang="en-US" altLang="zh-CN" sz="8000" dirty="0">
                <a:solidFill>
                  <a:schemeClr val="tx1"/>
                </a:solidFill>
                <a:latin typeface="楷体" panose="02010609060101010101" charset="-122"/>
                <a:ea typeface="楷体" panose="02010609060101010101" charset="-122"/>
              </a:rPr>
              <a:t>4</a:t>
            </a:r>
            <a:br>
              <a:rPr lang="en-US" altLang="zh-CN" sz="8000" dirty="0">
                <a:solidFill>
                  <a:schemeClr val="tx1"/>
                </a:solidFill>
                <a:latin typeface="楷体" panose="02010609060101010101" charset="-122"/>
                <a:ea typeface="楷体" panose="02010609060101010101" charset="-122"/>
              </a:rPr>
            </a:br>
            <a:r>
              <a:rPr lang="en-US" altLang="zh-CN" sz="8000" dirty="0">
                <a:solidFill>
                  <a:schemeClr val="tx1"/>
                </a:solidFill>
                <a:latin typeface="楷体" panose="02010609060101010101" charset="-122"/>
                <a:ea typeface="楷体" panose="02010609060101010101" charset="-122"/>
              </a:rPr>
              <a:t>2023</a:t>
            </a:r>
            <a:r>
              <a:rPr lang="zh-CN" altLang="en-US" sz="8000" dirty="0">
                <a:solidFill>
                  <a:schemeClr val="tx1"/>
                </a:solidFill>
                <a:latin typeface="楷体" panose="02010609060101010101" charset="-122"/>
                <a:ea typeface="楷体" panose="02010609060101010101" charset="-122"/>
              </a:rPr>
              <a:t>年下半年</a:t>
            </a:r>
            <a:r>
              <a:rPr lang="en-US" altLang="zh-CN" sz="8000" dirty="0">
                <a:solidFill>
                  <a:schemeClr val="tx1"/>
                </a:solidFill>
                <a:latin typeface="楷体" panose="02010609060101010101" charset="-122"/>
                <a:ea typeface="楷体" panose="02010609060101010101" charset="-122"/>
              </a:rPr>
              <a:t>B</a:t>
            </a:r>
            <a:r>
              <a:rPr lang="zh-CN" altLang="en-US" sz="8000" dirty="0">
                <a:solidFill>
                  <a:schemeClr val="tx1"/>
                </a:solidFill>
                <a:latin typeface="楷体" panose="02010609060101010101" charset="-122"/>
                <a:ea typeface="楷体" panose="02010609060101010101" charset="-122"/>
              </a:rPr>
              <a:t>类</a:t>
            </a:r>
            <a:endParaRPr lang="zh-CN" altLang="en-US" sz="8000" dirty="0">
              <a:solidFill>
                <a:schemeClr val="tx1"/>
              </a:solidFill>
              <a:latin typeface="楷体" panose="02010609060101010101" charset="-122"/>
              <a:ea typeface="楷体" panose="02010609060101010101" charset="-122"/>
            </a:endParaRPr>
          </a:p>
        </p:txBody>
      </p:sp>
      <p:sp>
        <p:nvSpPr>
          <p:cNvPr id="5" name="Text Placeholder 2"/>
          <p:cNvSpPr>
            <a:spLocks noGrp="1"/>
          </p:cNvSpPr>
          <p:nvPr>
            <p:ph type="body" idx="4294967295"/>
            <p:custDataLst>
              <p:tags r:id="rId2"/>
            </p:custDataLst>
          </p:nvPr>
        </p:nvSpPr>
        <p:spPr>
          <a:xfrm>
            <a:off x="977265" y="4519295"/>
            <a:ext cx="10236200" cy="1076325"/>
          </a:xfrm>
        </p:spPr>
        <p:txBody>
          <a:bodyPr>
            <a:noAutofit/>
          </a:bodyPr>
          <a:p>
            <a:pPr marL="0" algn="ctr">
              <a:lnSpc>
                <a:spcPct val="100000"/>
              </a:lnSpc>
              <a:spcBef>
                <a:spcPts val="1000"/>
              </a:spcBef>
              <a:spcAft>
                <a:spcPts val="0"/>
              </a:spcAft>
              <a:buSzPct val="100000"/>
              <a:buNone/>
            </a:pPr>
            <a:r>
              <a:rPr lang="zh-CN" altLang="en-US" sz="2800" dirty="0">
                <a:solidFill>
                  <a:schemeClr val="tx1"/>
                </a:solidFill>
                <a:latin typeface="楷体" panose="02010609060101010101" charset="-122"/>
                <a:ea typeface="楷体" panose="02010609060101010101" charset="-122"/>
              </a:rPr>
              <a:t>主讲人：桑桑老师</a:t>
            </a:r>
            <a:endParaRPr lang="zh-CN" altLang="en-US" sz="2800" dirty="0">
              <a:solidFill>
                <a:schemeClr val="tx1"/>
              </a:solidFill>
              <a:latin typeface="楷体" panose="02010609060101010101" charset="-122"/>
              <a:ea typeface="楷体" panose="02010609060101010101"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2915" y="701675"/>
            <a:ext cx="11230610" cy="5526405"/>
          </a:xfrm>
          <a:prstGeom prst="rect">
            <a:avLst/>
          </a:prstGeom>
          <a:noFill/>
        </p:spPr>
        <p:txBody>
          <a:bodyPr wrap="square" rtlCol="0" anchor="t">
            <a:noAutofit/>
          </a:bodyPr>
          <a:p>
            <a:pPr indent="0" fontAlgn="auto">
              <a:lnSpc>
                <a:spcPct val="150000"/>
              </a:lnSpc>
            </a:pPr>
            <a:r>
              <a:rPr sz="2000" dirty="0">
                <a:cs typeface="楷体" panose="02010609060101010101" charset="-122"/>
              </a:rPr>
              <a:t>从所给的四个选项中，选择最合适的一个填在问号处，使之呈现一定的规律性（）。</a:t>
            </a:r>
            <a:endParaRPr sz="2000" dirty="0">
              <a:cs typeface="楷体" panose="02010609060101010101" charset="-122"/>
            </a:endParaRPr>
          </a:p>
        </p:txBody>
      </p:sp>
      <p:sp>
        <p:nvSpPr>
          <p:cNvPr id="6" name="标题 5"/>
          <p:cNvSpPr>
            <a:spLocks noGrp="1"/>
          </p:cNvSpPr>
          <p:nvPr>
            <p:ph type="title"/>
          </p:nvPr>
        </p:nvSpPr>
        <p:spPr>
          <a:xfrm>
            <a:off x="838200" y="0"/>
            <a:ext cx="10515600" cy="708025"/>
          </a:xfrm>
        </p:spPr>
        <p:txBody>
          <a:bodyPr/>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endParaRPr kumimoji="1" lang="en-US" altLang="zh-CN" sz="2800" b="1" dirty="0">
              <a:solidFill>
                <a:srgbClr val="FF653F"/>
              </a:solidFill>
            </a:endParaRPr>
          </a:p>
        </p:txBody>
      </p:sp>
      <p:pic>
        <p:nvPicPr>
          <p:cNvPr id="187" name="图片 101"/>
          <p:cNvPicPr>
            <a:picLocks noChangeAspect="1"/>
          </p:cNvPicPr>
          <p:nvPr/>
        </p:nvPicPr>
        <p:blipFill>
          <a:blip r:embed="rId1"/>
          <a:stretch>
            <a:fillRect/>
          </a:stretch>
        </p:blipFill>
        <p:spPr>
          <a:xfrm>
            <a:off x="3765550" y="1285240"/>
            <a:ext cx="4625340" cy="545211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01675"/>
            <a:ext cx="1114679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从所给的四个选项中，选择最合适的一个填入问号处，使之呈现一定的规律性。（）</a:t>
            </a:r>
            <a:endParaRPr lang="zh-CN" altLang="en-US" sz="2000" dirty="0">
              <a:cs typeface="楷体" panose="02010609060101010101" charset="-122"/>
            </a:endParaRPr>
          </a:p>
        </p:txBody>
      </p:sp>
      <p:pic>
        <p:nvPicPr>
          <p:cNvPr id="328" name="图片 102"/>
          <p:cNvPicPr>
            <a:picLocks noChangeAspect="1"/>
          </p:cNvPicPr>
          <p:nvPr/>
        </p:nvPicPr>
        <p:blipFill>
          <a:blip r:embed="rId1"/>
          <a:stretch>
            <a:fillRect/>
          </a:stretch>
        </p:blipFill>
        <p:spPr>
          <a:xfrm>
            <a:off x="961390" y="1608455"/>
            <a:ext cx="10149840" cy="455295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从所给的四个选项中，选择最合适的一个填入问号处，使之呈现一定的规律性（</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p:txBody>
      </p:sp>
      <p:pic>
        <p:nvPicPr>
          <p:cNvPr id="189" name="图片 103"/>
          <p:cNvPicPr>
            <a:picLocks noChangeAspect="1"/>
          </p:cNvPicPr>
          <p:nvPr/>
        </p:nvPicPr>
        <p:blipFill>
          <a:blip r:embed="rId1"/>
          <a:stretch>
            <a:fillRect/>
          </a:stretch>
        </p:blipFill>
        <p:spPr>
          <a:xfrm>
            <a:off x="1104900" y="1376045"/>
            <a:ext cx="9982200" cy="410654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011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701675"/>
            <a:ext cx="1134999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把下面的六个图形分为两类，使每一类图形都有各自的共同特征或规律，分类正确的一项是（</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A.</a:t>
            </a:r>
            <a:r>
              <a:rPr lang="en-US" altLang="en-US" sz="2000" dirty="0">
                <a:cs typeface="楷体" panose="02010609060101010101" charset="-122"/>
              </a:rPr>
              <a:t>①②⑥</a:t>
            </a:r>
            <a:r>
              <a:rPr lang="en-US" altLang="zh-CN" sz="2000" dirty="0">
                <a:cs typeface="楷体" panose="02010609060101010101" charset="-122"/>
              </a:rPr>
              <a:t>,</a:t>
            </a:r>
            <a:r>
              <a:rPr lang="en-US" altLang="en-US" sz="2000" dirty="0">
                <a:cs typeface="楷体" panose="02010609060101010101" charset="-122"/>
              </a:rPr>
              <a:t>③④⑤</a:t>
            </a:r>
            <a:r>
              <a:rPr lang="en-US" altLang="zh-CN" sz="2000" dirty="0">
                <a:cs typeface="楷体" panose="02010609060101010101" charset="-122"/>
              </a:rPr>
              <a:t>	B.</a:t>
            </a:r>
            <a:r>
              <a:rPr lang="en-US" altLang="en-US" sz="2000" dirty="0">
                <a:cs typeface="楷体" panose="02010609060101010101" charset="-122"/>
              </a:rPr>
              <a:t>①③④</a:t>
            </a:r>
            <a:r>
              <a:rPr lang="en-US" altLang="zh-CN" sz="2000" dirty="0">
                <a:cs typeface="楷体" panose="02010609060101010101" charset="-122"/>
              </a:rPr>
              <a:t>,</a:t>
            </a:r>
            <a:r>
              <a:rPr lang="en-US" altLang="en-US" sz="2000" dirty="0">
                <a:cs typeface="楷体" panose="02010609060101010101" charset="-122"/>
              </a:rPr>
              <a:t>②⑤⑥</a:t>
            </a:r>
            <a:endParaRPr lang="en-US"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en-US" altLang="en-US" sz="2000" dirty="0">
                <a:cs typeface="楷体" panose="02010609060101010101" charset="-122"/>
              </a:rPr>
              <a:t>①③⑥</a:t>
            </a:r>
            <a:r>
              <a:rPr lang="en-US" altLang="zh-CN" sz="2000" dirty="0">
                <a:cs typeface="楷体" panose="02010609060101010101" charset="-122"/>
              </a:rPr>
              <a:t>,</a:t>
            </a:r>
            <a:r>
              <a:rPr lang="en-US" altLang="en-US" sz="2000" dirty="0">
                <a:cs typeface="楷体" panose="02010609060101010101" charset="-122"/>
              </a:rPr>
              <a:t>②④⑤</a:t>
            </a:r>
            <a:r>
              <a:rPr lang="en-US" altLang="zh-CN" sz="2000" dirty="0">
                <a:cs typeface="楷体" panose="02010609060101010101" charset="-122"/>
              </a:rPr>
              <a:t>	D.</a:t>
            </a:r>
            <a:r>
              <a:rPr lang="en-US" altLang="en-US" sz="2000" dirty="0">
                <a:cs typeface="楷体" panose="02010609060101010101" charset="-122"/>
              </a:rPr>
              <a:t>①④⑥</a:t>
            </a:r>
            <a:r>
              <a:rPr lang="en-US" altLang="zh-CN" sz="2000" dirty="0">
                <a:cs typeface="楷体" panose="02010609060101010101" charset="-122"/>
              </a:rPr>
              <a:t>,</a:t>
            </a:r>
            <a:r>
              <a:rPr lang="en-US" altLang="en-US" sz="2000" dirty="0">
                <a:cs typeface="楷体" panose="02010609060101010101" charset="-122"/>
              </a:rPr>
              <a:t>②③⑤</a:t>
            </a:r>
            <a:endParaRPr lang="en-US" altLang="en-US" sz="2000" dirty="0">
              <a:cs typeface="楷体" panose="02010609060101010101" charset="-122"/>
            </a:endParaRPr>
          </a:p>
        </p:txBody>
      </p:sp>
      <p:pic>
        <p:nvPicPr>
          <p:cNvPr id="190" name="图片 104"/>
          <p:cNvPicPr>
            <a:picLocks noChangeAspect="1"/>
          </p:cNvPicPr>
          <p:nvPr/>
        </p:nvPicPr>
        <p:blipFill>
          <a:blip r:embed="rId1"/>
          <a:stretch>
            <a:fillRect/>
          </a:stretch>
        </p:blipFill>
        <p:spPr>
          <a:xfrm>
            <a:off x="537845" y="1630045"/>
            <a:ext cx="11261090" cy="225234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0"/>
            <a:ext cx="10515600" cy="708025"/>
          </a:xfrm>
        </p:spPr>
        <p:txBody>
          <a:bodyPr>
            <a:normAutofit/>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从所给的四个选项中，选择最合适的一个填入问号处，使之呈现一定的规律性（</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p:txBody>
      </p:sp>
      <p:pic>
        <p:nvPicPr>
          <p:cNvPr id="188" name="图片 105"/>
          <p:cNvPicPr>
            <a:picLocks noChangeAspect="1"/>
          </p:cNvPicPr>
          <p:nvPr/>
        </p:nvPicPr>
        <p:blipFill>
          <a:blip r:embed="rId1"/>
          <a:stretch>
            <a:fillRect/>
          </a:stretch>
        </p:blipFill>
        <p:spPr>
          <a:xfrm>
            <a:off x="3718560" y="1324610"/>
            <a:ext cx="4599305" cy="508127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附义务赠与也称附负担赠与，是指赠与人对其赠与附加一定的条件，使受赠人承担一定义务的赠与。</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根据上述定义，下列属于附义务赠与的是（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莉莉父亲跟她约定，如果莉莉考上大学，就将送给她一个笔记本电脑</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小林的叔叔签订了一份赠与协议，待小林满</a:t>
            </a:r>
            <a:r>
              <a:rPr lang="en-US" altLang="zh-CN" sz="2400" dirty="0">
                <a:cs typeface="楷体" panose="02010609060101010101" charset="-122"/>
              </a:rPr>
              <a:t>25</a:t>
            </a:r>
            <a:r>
              <a:rPr lang="zh-CN" altLang="en-US" sz="2400" dirty="0">
                <a:cs typeface="楷体" panose="02010609060101010101" charset="-122"/>
              </a:rPr>
              <a:t>岁赠与其部分公司股权</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老张将自己所藏字画赠与市博物馆，但要求博物馆不得转赠，否则将收回全部藏品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小郑为哄女友开心，在女友过生日时赠与其一条价值</a:t>
            </a:r>
            <a:r>
              <a:rPr lang="en-US" altLang="zh-CN" sz="2400" dirty="0">
                <a:cs typeface="楷体" panose="02010609060101010101" charset="-122"/>
              </a:rPr>
              <a:t>5</a:t>
            </a:r>
            <a:r>
              <a:rPr lang="zh-CN" altLang="en-US" sz="2400" dirty="0">
                <a:cs typeface="楷体" panose="02010609060101010101" charset="-122"/>
              </a:rPr>
              <a:t>万元的钻石项链并允诺与她携手一生</a:t>
            </a:r>
            <a:endParaRPr lang="zh-CN" altLang="en-US" sz="2400" dirty="0">
              <a:cs typeface="楷体" panose="0201060906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701675"/>
            <a:ext cx="1115568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情绪管理指的是在理解和完全接纳自己情绪的前提下，能够用理性去思考和控制自己的行动。</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根据上述定义，以下属于情绪管理的是（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为了平息社会对公司这次重大事故的愤怒情绪，公司总经理宣布引咎辞职</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为了推卸战争失败的责任，某国政府宣布逮捕军队数名将军，并宣判他们的叛国罪行</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项羽乃悉引兵渡河，皆沉船、破釜甑、烧庐舍，持三日粮，以示士卒必死，无一还心</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谢公与人围棋，俄而谢玄淮上信至。看书竟，默然无言，徐向局，客问淮上利害，答曰：</a:t>
            </a:r>
            <a:r>
              <a:rPr lang="en-US" altLang="zh-CN" sz="2400" dirty="0">
                <a:cs typeface="楷体" panose="02010609060101010101" charset="-122"/>
              </a:rPr>
              <a:t>“</a:t>
            </a:r>
            <a:r>
              <a:rPr lang="zh-CN" altLang="en-US" sz="2400" dirty="0">
                <a:cs typeface="楷体" panose="02010609060101010101" charset="-122"/>
              </a:rPr>
              <a:t>小儿辈大破贼。</a:t>
            </a:r>
            <a:r>
              <a:rPr lang="en-US" altLang="zh-CN" sz="2400" dirty="0">
                <a:cs typeface="楷体" panose="02010609060101010101" charset="-122"/>
              </a:rPr>
              <a:t>”</a:t>
            </a:r>
            <a:r>
              <a:rPr lang="zh-CN" altLang="en-US" sz="2400" dirty="0">
                <a:cs typeface="楷体" panose="02010609060101010101" charset="-122"/>
              </a:rPr>
              <a:t>意色举止，不异于常</a:t>
            </a:r>
            <a:endParaRPr lang="zh-CN" altLang="en-US" sz="2400" dirty="0">
              <a:cs typeface="楷体" panose="0201060906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暗示性商标由常用词构成，它以隐喻，暗示的手法提示商品的属性或某一特点。该商标的组成要素不直接涉及商品种类、成分，功能等，但是却旨在创造出一种能与该商品发生联系的想象空间。</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根据上述定义，下列不属于暗示性商标的是（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野豹（汽车）</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美木（家具）</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白兔（洗衣粉）</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万年新（电器）</a:t>
            </a:r>
            <a:endParaRPr lang="zh-CN" altLang="en-US" sz="2400" dirty="0">
              <a:cs typeface="楷体" panose="0201060906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地缘政治是政治地理学中的一项理论，它主要是根据地理要素和政治格局的地域形式，分析和预测世界或地区范围的战略形势和有关国家的政治行为，它把地理因素视为影响甚至决定国家政治行为的一个基本因素。</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根据上述定义，下列不涉及地缘政治的是（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一带一路</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远交近攻</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合纵连横</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弱肉强食</a:t>
            </a:r>
            <a:endParaRPr lang="zh-CN" altLang="en-US" sz="2400" dirty="0">
              <a:cs typeface="楷体" panose="0201060906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10</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反正语是汉语中具有的一种特殊的语言现象，即一个词与其否定表达是同一个意思，只是语感上稍有差别。</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根据上述定义，下列选项中不包含反正语的是（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他们好不容易说服了她</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中国队昨天大胜越南队</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这个人实在是聪明得过了头</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做成了这件事，他真了不得</a:t>
            </a:r>
            <a:endParaRPr lang="zh-CN" altLang="en-US" sz="2400" dirty="0">
              <a:cs typeface="楷体" panose="0201060906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隐性采访是指在法律和新闻道德允许的范围内，隐藏记者身份与采访目的的采访方式，目的在于减少采访障碍和干扰，获取有价值的新闻事实。一般包括以下类型：侦察型是记者在不公开身份的情况下，对某些违法犯罪行为或社会负面新闻的探访或侦察；体验型是记者隐藏记者身份，以一个被服务者的身份，感受和体验整个服务过程，以获取事实真实状态；验证型是为了探明虚实，不公开身份对正面人物或事件进行验证。</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根据上述定义，下列不属于隐性采访的是（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记者以旅客身份体验首班赣深高铁的速度和服务，并通过官媒网络直播</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记者以</a:t>
            </a:r>
            <a:r>
              <a:rPr lang="en-US" altLang="zh-CN" sz="2400" dirty="0">
                <a:cs typeface="楷体" panose="02010609060101010101" charset="-122"/>
              </a:rPr>
              <a:t>“</a:t>
            </a:r>
            <a:r>
              <a:rPr lang="zh-CN" altLang="en-US" sz="2400" dirty="0">
                <a:cs typeface="楷体" panose="02010609060101010101" charset="-122"/>
              </a:rPr>
              <a:t>文物贩子</a:t>
            </a:r>
            <a:r>
              <a:rPr lang="en-US" altLang="zh-CN" sz="2400" dirty="0">
                <a:cs typeface="楷体" panose="02010609060101010101" charset="-122"/>
              </a:rPr>
              <a:t>”</a:t>
            </a:r>
            <a:r>
              <a:rPr lang="zh-CN" altLang="en-US" sz="2400" dirty="0">
                <a:cs typeface="楷体" panose="02010609060101010101" charset="-122"/>
              </a:rPr>
              <a:t>的身份与盗墓者接触，并拍下了文物交易的全过程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记者以消费者身份在某制假售假的药店购买了药品并将其送往专业机构检验</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记者以游客身份报名参加了一个旅游团，揭露了该旅游团强制消费的内幕</a:t>
            </a:r>
            <a:endParaRPr lang="zh-CN" altLang="en-US" sz="2400" dirty="0">
              <a:cs typeface="楷体" panose="0201060906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良性妒忌是一种同化性情绪，妒忌者觉得被妒忌者的优越品质，成就或财产是应得的，并希望通过提升自己而与被妒忌者相似；恶意妒忌是一种对比性情绪，它的特征是贬低优越的对比对象，希望他人在某件事上失败或失去妒忌的目标，甚至受到伤害。</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根据上述定义，下列属于良性妒忌的是（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甲在舞会上看到乙佩戴了昂贵的首饰，觉得乙的首饰丢了才解气</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甲觉得乙能取得今天的成就全靠家里人帮忙，乙本身没什么了不起</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甲看到乙升职，觉得自己虽然没有乙能力强，但经过努力也能达到</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甲很羡慕乙的社交能力，觉得</a:t>
            </a:r>
            <a:r>
              <a:rPr lang="en-US" altLang="zh-CN" sz="2400" dirty="0">
                <a:cs typeface="楷体" panose="02010609060101010101" charset="-122"/>
              </a:rPr>
              <a:t>“</a:t>
            </a:r>
            <a:r>
              <a:rPr lang="zh-CN" altLang="en-US" sz="2400" dirty="0">
                <a:cs typeface="楷体" panose="02010609060101010101" charset="-122"/>
              </a:rPr>
              <a:t>社恐</a:t>
            </a:r>
            <a:r>
              <a:rPr lang="en-US" altLang="zh-CN" sz="2400" dirty="0">
                <a:cs typeface="楷体" panose="02010609060101010101" charset="-122"/>
              </a:rPr>
              <a:t>”</a:t>
            </a:r>
            <a:r>
              <a:rPr lang="zh-CN" altLang="en-US" sz="2400" dirty="0">
                <a:cs typeface="楷体" panose="02010609060101010101" charset="-122"/>
              </a:rPr>
              <a:t>的自己永远达不到乙的境界</a:t>
            </a:r>
            <a:endParaRPr lang="zh-CN" altLang="en-US" sz="2400" dirty="0">
              <a:cs typeface="楷体" panose="0201060906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81965" y="708025"/>
            <a:ext cx="1111885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伦理绝对主义认为人们的善恶观念和道德规范是永恒不变的，否认它们的历史性、社会性和民族性，伦理相对主义认为道德观念和道德概念具有相对性和条件性，否认在道德发展中存在着具有普遍性的和规律性的客观因素。</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根据上述定义，下列观点属于伦理绝对主义的是（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荀子坚持</a:t>
            </a:r>
            <a:r>
              <a:rPr lang="en-US" altLang="zh-CN" sz="2400" dirty="0">
                <a:cs typeface="楷体" panose="02010609060101010101" charset="-122"/>
              </a:rPr>
              <a:t>“</a:t>
            </a:r>
            <a:r>
              <a:rPr lang="zh-CN" altLang="en-US" sz="2400" dirty="0">
                <a:cs typeface="楷体" panose="02010609060101010101" charset="-122"/>
              </a:rPr>
              <a:t>性恶论</a:t>
            </a:r>
            <a:r>
              <a:rPr lang="en-US" altLang="zh-CN" sz="2400" dirty="0">
                <a:cs typeface="楷体" panose="02010609060101010101" charset="-122"/>
              </a:rPr>
              <a:t>”</a:t>
            </a:r>
            <a:r>
              <a:rPr lang="zh-CN" altLang="en-US" sz="2400" dirty="0">
                <a:cs typeface="楷体" panose="02010609060101010101" charset="-122"/>
              </a:rPr>
              <a:t>，孟子坚持</a:t>
            </a:r>
            <a:r>
              <a:rPr lang="en-US" altLang="zh-CN" sz="2400" dirty="0">
                <a:cs typeface="楷体" panose="02010609060101010101" charset="-122"/>
              </a:rPr>
              <a:t>“</a:t>
            </a:r>
            <a:r>
              <a:rPr lang="zh-CN" altLang="en-US" sz="2400" dirty="0">
                <a:cs typeface="楷体" panose="02010609060101010101" charset="-122"/>
              </a:rPr>
              <a:t>性善论</a:t>
            </a:r>
            <a:r>
              <a:rPr lang="en-US" altLang="zh-CN" sz="2400" dirty="0">
                <a:cs typeface="楷体" panose="02010609060101010101" charset="-122"/>
              </a:rPr>
              <a:t>”</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尊老爱幼是世界上很多民族共同认可的道德规范</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小成认为在新时代人们都有自己内心珍视的道德准则</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小芳到了国外后认为西方社会的道德规范跟我国差别很大</a:t>
            </a:r>
            <a:endParaRPr lang="zh-CN" altLang="en-US" sz="2400" dirty="0">
              <a:cs typeface="楷体" panose="0201060906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610235" y="701675"/>
            <a:ext cx="1119251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社会性扮演游戏是指幼儿与伙伴在假想的情景中表现和反映现实生活体验的游戏活动。表演游戏是指幼儿按照故事（自编或依据现有故事）中的角色、情节和语言开展的角色扮演游戏活动。</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根据上述定义，下列属于社会性扮演游戏的是（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小方和伙伴们去科技馆的太空探索展区参观</a:t>
            </a:r>
            <a:r>
              <a:rPr lang="en-US" altLang="zh-CN" sz="2400" dirty="0">
                <a:cs typeface="楷体" panose="02010609060101010101" charset="-122"/>
              </a:rPr>
              <a:t>“</a:t>
            </a:r>
            <a:r>
              <a:rPr lang="zh-CN" altLang="en-US" sz="2400" dirty="0">
                <a:cs typeface="楷体" panose="02010609060101010101" charset="-122"/>
              </a:rPr>
              <a:t>嫦娥五号</a:t>
            </a:r>
            <a:r>
              <a:rPr lang="en-US" altLang="zh-CN" sz="2400" dirty="0">
                <a:cs typeface="楷体" panose="02010609060101010101" charset="-122"/>
              </a:rPr>
              <a:t>”</a:t>
            </a:r>
            <a:r>
              <a:rPr lang="zh-CN" altLang="en-US" sz="2400" dirty="0">
                <a:cs typeface="楷体" panose="02010609060101010101" charset="-122"/>
              </a:rPr>
              <a:t>探测器模型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小刚把家里的水果和蔬菜贴上标签，和其他朋友轮流扮演超市收银员</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小林和几个同学分别扮演森林中的动物，一起创编新版丑小鸭的故事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小明将自己的玩具汽车摆成长长的队伍，独自逐一为这些汽车</a:t>
            </a:r>
            <a:r>
              <a:rPr lang="en-US" altLang="zh-CN" sz="2400" dirty="0">
                <a:cs typeface="楷体" panose="02010609060101010101" charset="-122"/>
              </a:rPr>
              <a:t>“</a:t>
            </a:r>
            <a:r>
              <a:rPr lang="zh-CN" altLang="en-US" sz="2400" dirty="0">
                <a:cs typeface="楷体" panose="02010609060101010101" charset="-122"/>
              </a:rPr>
              <a:t>加油</a:t>
            </a:r>
            <a:r>
              <a:rPr lang="en-US" altLang="zh-CN" sz="2400" dirty="0">
                <a:cs typeface="楷体" panose="02010609060101010101" charset="-122"/>
              </a:rPr>
              <a:t>”</a:t>
            </a:r>
            <a:endParaRPr lang="en-US" altLang="zh-CN" sz="2400" dirty="0">
              <a:cs typeface="楷体" panose="0201060906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26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结构相对指标是指以总体总量为对比的基础，计算某一部分数量所占比重的相对指标。</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根据上述定义，下列公式属于结构相对指标的是（</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A.2021</a:t>
            </a:r>
            <a:r>
              <a:rPr lang="zh-CN" altLang="en-US" sz="2400" dirty="0">
                <a:cs typeface="楷体" panose="02010609060101010101" charset="-122"/>
              </a:rPr>
              <a:t>年某高校讲师数量与该校教师总人数之比</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某地区</a:t>
            </a:r>
            <a:r>
              <a:rPr lang="en-US" altLang="zh-CN" sz="2400" dirty="0">
                <a:cs typeface="楷体" panose="02010609060101010101" charset="-122"/>
              </a:rPr>
              <a:t>2022</a:t>
            </a:r>
            <a:r>
              <a:rPr lang="zh-CN" altLang="en-US" sz="2400" dirty="0">
                <a:cs typeface="楷体" panose="02010609060101010101" charset="-122"/>
              </a:rPr>
              <a:t>年男性新生儿与女性新生儿数量之比</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某地</a:t>
            </a:r>
            <a:r>
              <a:rPr lang="en-US" altLang="zh-CN" sz="2400" dirty="0">
                <a:cs typeface="楷体" panose="02010609060101010101" charset="-122"/>
              </a:rPr>
              <a:t>2022</a:t>
            </a:r>
            <a:r>
              <a:rPr lang="zh-CN" altLang="en-US" sz="2400" dirty="0">
                <a:cs typeface="楷体" panose="02010609060101010101" charset="-122"/>
              </a:rPr>
              <a:t>年末职工人数与</a:t>
            </a:r>
            <a:r>
              <a:rPr lang="en-US" altLang="zh-CN" sz="2400" dirty="0">
                <a:cs typeface="楷体" panose="02010609060101010101" charset="-122"/>
              </a:rPr>
              <a:t>2021</a:t>
            </a:r>
            <a:r>
              <a:rPr lang="zh-CN" altLang="en-US" sz="2400" dirty="0">
                <a:cs typeface="楷体" panose="02010609060101010101" charset="-122"/>
              </a:rPr>
              <a:t>年末职工人数之比</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D.2023</a:t>
            </a:r>
            <a:r>
              <a:rPr lang="zh-CN" altLang="en-US" sz="2400" dirty="0">
                <a:cs typeface="楷体" panose="02010609060101010101" charset="-122"/>
              </a:rPr>
              <a:t>年甲地人均粮食产量与乙地人均粮食产量之比</a:t>
            </a:r>
            <a:endParaRPr lang="zh-CN" altLang="en-US" sz="2400" dirty="0">
              <a:cs typeface="楷体" panose="0201060906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1210945"/>
            <a:ext cx="8601710" cy="50171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柳烟：云海</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书山：犬子</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天雷：怒火</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霜剑：玉液</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麦浪：花雨</a:t>
            </a:r>
            <a:endParaRPr lang="zh-CN" altLang="en-US" sz="2400" dirty="0">
              <a:cs typeface="楷体" panose="02010609060101010101" charset="-122"/>
            </a:endParaRPr>
          </a:p>
          <a:p>
            <a:pPr indent="0" fontAlgn="auto">
              <a:lnSpc>
                <a:spcPct val="150000"/>
              </a:lnSpc>
            </a:pPr>
            <a:endParaRPr lang="zh-CN" altLang="en-US" sz="2400" dirty="0">
              <a:cs typeface="楷体" panose="0201060906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1127125"/>
            <a:ext cx="8601710" cy="510095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书法展：展书法</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九连环：环九连</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黑板擦：擦黑板</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空降兵：兵空降</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自行车：车自行</a:t>
            </a:r>
            <a:endParaRPr lang="zh-CN" altLang="en-US" sz="2400" dirty="0">
              <a:cs typeface="楷体" panose="0201060906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1040765"/>
            <a:ext cx="8601710" cy="519366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明争暗斗：争斗</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莺歌燕舞：歌舞</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上天入地：天地</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东张西望：张望</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以卵击石：卵石</a:t>
            </a:r>
            <a:endParaRPr lang="zh-CN" altLang="en-US" sz="2400" dirty="0">
              <a:cs typeface="楷体" panose="0201060906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1071245"/>
            <a:ext cx="8601710" cy="51568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杂乱：井井有条</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熟练：手到擒来</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专一：见异思迁</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傲慢：颐指气使</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犹豫：一针见血</a:t>
            </a:r>
            <a:endParaRPr lang="zh-CN" altLang="en-US" sz="2400" dirty="0">
              <a:cs typeface="楷体" panose="0201060906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0</a:t>
            </a:r>
            <a:endParaRPr kumimoji="1" lang="en-US" altLang="zh-CN" sz="2800" b="1" dirty="0">
              <a:solidFill>
                <a:srgbClr val="FF653F"/>
              </a:solidFill>
            </a:endParaRPr>
          </a:p>
        </p:txBody>
      </p:sp>
      <p:sp>
        <p:nvSpPr>
          <p:cNvPr id="3" name="文本框 2"/>
          <p:cNvSpPr txBox="1"/>
          <p:nvPr/>
        </p:nvSpPr>
        <p:spPr>
          <a:xfrm>
            <a:off x="462915" y="1080135"/>
            <a:ext cx="8601710" cy="514794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报社：报纸：传播</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公司：高管：分红</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军营：军人：救援</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房门：春联：祈福</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剧团：戏剧：娱乐</a:t>
            </a:r>
            <a:endParaRPr lang="zh-CN" altLang="en-US" sz="2400" dirty="0">
              <a:cs typeface="楷体" panose="0201060906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1188720"/>
            <a:ext cx="8601710" cy="504571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提纲：初稿：终稿</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勘探：设计：开采</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工作：娱乐：休憩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金星：木星：火星</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老师：教授：校长</a:t>
            </a:r>
            <a:endParaRPr lang="zh-CN" altLang="en-US" sz="2400" dirty="0">
              <a:cs typeface="楷体" panose="0201060906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1217295"/>
            <a:ext cx="8601710" cy="50171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佛像：佛龛：佛窟</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蜜蜂：蜂箱：蜂蜡</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油田：油桶：油箱</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数据：内存：硬盘</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钱币：黄金：银行</a:t>
            </a:r>
            <a:endParaRPr lang="zh-CN" altLang="en-US" sz="2400" dirty="0">
              <a:cs typeface="楷体" panose="02010609060101010101" charset="-122"/>
            </a:endParaRPr>
          </a:p>
          <a:p>
            <a:pPr indent="0" fontAlgn="auto">
              <a:lnSpc>
                <a:spcPct val="150000"/>
              </a:lnSpc>
            </a:pPr>
            <a:endParaRPr lang="zh-CN" altLang="en-US" sz="2400" dirty="0">
              <a:cs typeface="楷体" panose="0201060906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1293495"/>
            <a:ext cx="8601710" cy="493458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社会：沉疴顽疾：变革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生活：艰难困苦：克服</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管理：良政善治：发扬</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研究：停滞不前：投资</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规制：繁文缛节：精简</a:t>
            </a:r>
            <a:endParaRPr lang="zh-CN" altLang="en-US" sz="2400" dirty="0">
              <a:cs typeface="楷体" panose="02010609060101010101"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1192530"/>
            <a:ext cx="8601710" cy="503555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令尊对于（</a:t>
            </a:r>
            <a:r>
              <a:rPr lang="en-US" altLang="zh-CN" sz="2400" dirty="0">
                <a:cs typeface="楷体" panose="02010609060101010101" charset="-122"/>
              </a:rPr>
              <a:t>  </a:t>
            </a:r>
            <a:r>
              <a:rPr lang="zh-CN" altLang="en-US" sz="2400" dirty="0">
                <a:cs typeface="楷体" panose="02010609060101010101" charset="-122"/>
              </a:rPr>
              <a:t>）相当于（</a:t>
            </a:r>
            <a:r>
              <a:rPr lang="en-US" altLang="zh-CN" sz="2400" dirty="0">
                <a:cs typeface="楷体" panose="02010609060101010101" charset="-122"/>
              </a:rPr>
              <a:t>  </a:t>
            </a:r>
            <a:r>
              <a:rPr lang="zh-CN" altLang="en-US" sz="2400" dirty="0">
                <a:cs typeface="楷体" panose="02010609060101010101" charset="-122"/>
              </a:rPr>
              <a:t>）对于史稿</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尊敬；贡献</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长辈；文字</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令堂；药典</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父亲；传记</a:t>
            </a:r>
            <a:endParaRPr lang="zh-CN" altLang="en-US" sz="2400" dirty="0">
              <a:cs typeface="楷体" panose="0201060906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1318895"/>
            <a:ext cx="8601710" cy="491553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枝干对于（</a:t>
            </a:r>
            <a:r>
              <a:rPr lang="en-US" altLang="zh-CN" sz="2400" dirty="0">
                <a:cs typeface="楷体" panose="02010609060101010101" charset="-122"/>
              </a:rPr>
              <a:t>  </a:t>
            </a:r>
            <a:r>
              <a:rPr lang="zh-CN" altLang="en-US" sz="2400" dirty="0">
                <a:cs typeface="楷体" panose="02010609060101010101" charset="-122"/>
              </a:rPr>
              <a:t>）相当于（</a:t>
            </a:r>
            <a:r>
              <a:rPr lang="en-US" altLang="zh-CN" sz="2400" dirty="0">
                <a:cs typeface="楷体" panose="02010609060101010101" charset="-122"/>
              </a:rPr>
              <a:t>  </a:t>
            </a:r>
            <a:r>
              <a:rPr lang="zh-CN" altLang="en-US" sz="2400" dirty="0">
                <a:cs typeface="楷体" panose="02010609060101010101" charset="-122"/>
              </a:rPr>
              <a:t>）对于建筑物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树叶；建材</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大树；梁柱</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鸟巢；图纸</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树根；塔楼</a:t>
            </a:r>
            <a:endParaRPr lang="zh-CN" altLang="en-US" sz="2400" dirty="0">
              <a:cs typeface="楷体" panose="0201060906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816610"/>
            <a:ext cx="11210925" cy="551815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随着我国高等教育的普及和发展，越来越多的本科高校发展为升学导向，其本科教学则更加趋于通识教育，毕业生将会更大比例地选择继续升学深造。根据相关调查数据显示：超六成的研究生考生想增强就业竞争力而选择考研；接近五成考生是为了完善自身知识结构或提高文化素养；留恋校园生活以及想在学术上继续深造的考生占比分别超过</a:t>
            </a:r>
            <a:r>
              <a:rPr lang="en-US" altLang="zh-CN" sz="2400" dirty="0">
                <a:cs typeface="楷体" panose="02010609060101010101" charset="-122"/>
              </a:rPr>
              <a:t>40%</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根据上述信息，关于研究生考生，一定可以得出以下哪项？（</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有些考生留恋校园生活，但不想在学术上继续深造</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有些留恋校园生活的考生没有考虑到要增强就业竞争力</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有些考生不是为了提高文化素养，而是为了增强就业竞争力</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有些考生不仅为了完善自身知识结构，而且想在学术上继续深造</a:t>
            </a: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978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701675"/>
            <a:ext cx="1114869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维生素</a:t>
            </a:r>
            <a:r>
              <a:rPr lang="en-US" altLang="zh-CN" sz="2400" dirty="0">
                <a:cs typeface="楷体" panose="02010609060101010101" charset="-122"/>
              </a:rPr>
              <a:t>B1</a:t>
            </a:r>
            <a:r>
              <a:rPr lang="zh-CN" altLang="en-US" sz="2400" dirty="0">
                <a:cs typeface="楷体" panose="02010609060101010101" charset="-122"/>
              </a:rPr>
              <a:t>能驱蚊这个</a:t>
            </a:r>
            <a:r>
              <a:rPr lang="en-US" altLang="zh-CN" sz="2400" dirty="0">
                <a:cs typeface="楷体" panose="02010609060101010101" charset="-122"/>
              </a:rPr>
              <a:t>“</a:t>
            </a:r>
            <a:r>
              <a:rPr lang="zh-CN" altLang="en-US" sz="2400" dirty="0">
                <a:cs typeface="楷体" panose="02010609060101010101" charset="-122"/>
              </a:rPr>
              <a:t>偏方</a:t>
            </a:r>
            <a:r>
              <a:rPr lang="en-US" altLang="zh-CN" sz="2400" dirty="0">
                <a:cs typeface="楷体" panose="02010609060101010101" charset="-122"/>
              </a:rPr>
              <a:t>”</a:t>
            </a:r>
            <a:r>
              <a:rPr lang="zh-CN" altLang="en-US" sz="2400" dirty="0">
                <a:cs typeface="楷体" panose="02010609060101010101" charset="-122"/>
              </a:rPr>
              <a:t>，在网上和民间流传很久。据说，因为维生素</a:t>
            </a:r>
            <a:r>
              <a:rPr lang="en-US" altLang="zh-CN" sz="2400" dirty="0">
                <a:cs typeface="楷体" panose="02010609060101010101" charset="-122"/>
              </a:rPr>
              <a:t>B1</a:t>
            </a:r>
            <a:r>
              <a:rPr lang="zh-CN" altLang="en-US" sz="2400" dirty="0">
                <a:cs typeface="楷体" panose="02010609060101010101" charset="-122"/>
              </a:rPr>
              <a:t>很臭，很多人甚至觉得它的味道很恶心，如果身上带有维生素</a:t>
            </a:r>
            <a:r>
              <a:rPr lang="en-US" altLang="zh-CN" sz="2400" dirty="0">
                <a:cs typeface="楷体" panose="02010609060101010101" charset="-122"/>
              </a:rPr>
              <a:t>B1</a:t>
            </a:r>
            <a:r>
              <a:rPr lang="zh-CN" altLang="en-US" sz="2400" dirty="0">
                <a:cs typeface="楷体" panose="02010609060101010101" charset="-122"/>
              </a:rPr>
              <a:t>的味道，蚊子会被熏跑。可是，有专家指出，维生素</a:t>
            </a:r>
            <a:r>
              <a:rPr lang="en-US" altLang="zh-CN" sz="2400" dirty="0">
                <a:cs typeface="楷体" panose="02010609060101010101" charset="-122"/>
              </a:rPr>
              <a:t>B1</a:t>
            </a:r>
            <a:r>
              <a:rPr lang="zh-CN" altLang="en-US" sz="2400" dirty="0">
                <a:cs typeface="楷体" panose="02010609060101010101" charset="-122"/>
              </a:rPr>
              <a:t>并不能有效驱蚊。</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以下哪项如果为真，最能支持专家的观点？（</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人觉得难闻的味道，蚊子未必不喜欢</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维生素</a:t>
            </a:r>
            <a:r>
              <a:rPr lang="en-US" altLang="zh-CN" sz="2400" dirty="0">
                <a:cs typeface="楷体" panose="02010609060101010101" charset="-122"/>
              </a:rPr>
              <a:t>B1</a:t>
            </a:r>
            <a:r>
              <a:rPr lang="zh-CN" altLang="en-US" sz="2400" dirty="0">
                <a:cs typeface="楷体" panose="02010609060101010101" charset="-122"/>
              </a:rPr>
              <a:t>特别不稳定，怕光、怕热，喷在身上，很快就挥发了</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有不少媒体专门辟谣：维生素</a:t>
            </a:r>
            <a:r>
              <a:rPr lang="en-US" altLang="zh-CN" sz="2400" dirty="0">
                <a:cs typeface="楷体" panose="02010609060101010101" charset="-122"/>
              </a:rPr>
              <a:t>B1</a:t>
            </a:r>
            <a:r>
              <a:rPr lang="zh-CN" altLang="en-US" sz="2400" dirty="0">
                <a:cs typeface="楷体" panose="02010609060101010101" charset="-122"/>
              </a:rPr>
              <a:t>驱蚊无科学依据，并不能保证安全和有效</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维生素</a:t>
            </a:r>
            <a:r>
              <a:rPr lang="en-US" altLang="zh-CN" sz="2400" dirty="0">
                <a:cs typeface="楷体" panose="02010609060101010101" charset="-122"/>
              </a:rPr>
              <a:t>B1</a:t>
            </a:r>
            <a:r>
              <a:rPr lang="zh-CN" altLang="en-US" sz="2400" dirty="0">
                <a:cs typeface="楷体" panose="02010609060101010101" charset="-122"/>
              </a:rPr>
              <a:t>的味道至多能干扰蚊子的感官系统，暂时性地</a:t>
            </a:r>
            <a:r>
              <a:rPr lang="en-US" altLang="zh-CN" sz="2400" dirty="0">
                <a:cs typeface="楷体" panose="02010609060101010101" charset="-122"/>
              </a:rPr>
              <a:t>“</a:t>
            </a:r>
            <a:r>
              <a:rPr lang="zh-CN" altLang="en-US" sz="2400" dirty="0">
                <a:cs typeface="楷体" panose="02010609060101010101" charset="-122"/>
              </a:rPr>
              <a:t>迷惑</a:t>
            </a:r>
            <a:r>
              <a:rPr lang="en-US" altLang="zh-CN" sz="2400" dirty="0">
                <a:cs typeface="楷体" panose="02010609060101010101" charset="-122"/>
              </a:rPr>
              <a:t>”</a:t>
            </a:r>
            <a:r>
              <a:rPr lang="zh-CN" altLang="en-US" sz="2400" dirty="0">
                <a:cs typeface="楷体" panose="02010609060101010101" charset="-122"/>
              </a:rPr>
              <a:t>蚊子，使其不能迅速找到人</a:t>
            </a: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295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8025"/>
            <a:ext cx="1115568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共建</a:t>
            </a:r>
            <a:r>
              <a:rPr lang="en-US" altLang="zh-CN" sz="2000" dirty="0">
                <a:cs typeface="楷体" panose="02010609060101010101" charset="-122"/>
              </a:rPr>
              <a:t>“</a:t>
            </a:r>
            <a:r>
              <a:rPr lang="zh-CN" altLang="en-US" sz="2000" dirty="0">
                <a:cs typeface="楷体" panose="02010609060101010101" charset="-122"/>
              </a:rPr>
              <a:t>一带一路</a:t>
            </a:r>
            <a:r>
              <a:rPr lang="en-US" altLang="zh-CN" sz="2000" dirty="0">
                <a:cs typeface="楷体" panose="02010609060101010101" charset="-122"/>
              </a:rPr>
              <a:t>”</a:t>
            </a:r>
            <a:r>
              <a:rPr lang="zh-CN" altLang="en-US" sz="2000" dirty="0">
                <a:cs typeface="楷体" panose="02010609060101010101" charset="-122"/>
              </a:rPr>
              <a:t>致力于打造开放包容、均衡普惠的区域经济合作架构，有助于促进我国实现高水平的对外开放。只有促进高水平的对外开放并且保持外贸规模稳定，才能吸纳优质的要素资源流入我国市场，才能推动国内经济结构顺利转型升级。只有经济结构顺利转型升级，国内经济才能实现高质量发展，这其中只有发展数字经济才能实现经济结构顺利转型升级。</a:t>
            </a: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由此可以推出（</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只要经济结构顺利转型升级，国内经济就能实现高质量发展</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只有发展数字经济，才能打造均衡普惠的区域经济合作架构</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如果国内经济实现高质量发展，就说明我国外贸规模保持稳定</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如果未能吸纳优质的要素资源流入我国市场，就说明没有促进高水平的对外开放</a:t>
            </a:r>
            <a:endParaRPr lang="zh-CN" altLang="en-US" sz="2000" dirty="0">
              <a:cs typeface="楷体" panose="02010609060101010101" charset="-122"/>
            </a:endParaRPr>
          </a:p>
        </p:txBody>
      </p:sp>
      <p:sp>
        <p:nvSpPr>
          <p:cNvPr id="4" name="文本框 3"/>
          <p:cNvSpPr txBox="1"/>
          <p:nvPr/>
        </p:nvSpPr>
        <p:spPr>
          <a:xfrm>
            <a:off x="5240020" y="2600325"/>
            <a:ext cx="6801485" cy="144526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2200" dirty="0">
                <a:solidFill>
                  <a:srgbClr val="FF0000"/>
                </a:solidFill>
                <a:cs typeface="楷体" panose="02010609060101010101" charset="-122"/>
              </a:rPr>
              <a:t>1.吸纳优质要素资源→促进对外开放且保持外贸稳定</a:t>
            </a:r>
            <a:endParaRPr lang="zh-CN" altLang="en-US" sz="2200" dirty="0">
              <a:solidFill>
                <a:srgbClr val="FF0000"/>
              </a:solidFill>
              <a:cs typeface="楷体" panose="02010609060101010101" charset="-122"/>
            </a:endParaRPr>
          </a:p>
          <a:p>
            <a:pPr algn="l"/>
            <a:r>
              <a:rPr lang="en-US" altLang="zh-CN" sz="2200" dirty="0">
                <a:solidFill>
                  <a:srgbClr val="FF0000"/>
                </a:solidFill>
                <a:cs typeface="楷体" panose="02010609060101010101" charset="-122"/>
              </a:rPr>
              <a:t>2.</a:t>
            </a:r>
            <a:r>
              <a:rPr lang="zh-CN" altLang="en-US" sz="2200" dirty="0">
                <a:solidFill>
                  <a:srgbClr val="FF0000"/>
                </a:solidFill>
                <a:cs typeface="楷体" panose="02010609060101010101" charset="-122"/>
              </a:rPr>
              <a:t>推动经济转型升级</a:t>
            </a:r>
            <a:r>
              <a:rPr lang="en-US" altLang="zh-CN" sz="2200" dirty="0">
                <a:solidFill>
                  <a:srgbClr val="FF0000"/>
                </a:solidFill>
                <a:cs typeface="楷体" panose="02010609060101010101" charset="-122"/>
              </a:rPr>
              <a:t>→</a:t>
            </a:r>
            <a:r>
              <a:rPr lang="zh-CN" altLang="en-US" sz="2200" dirty="0">
                <a:solidFill>
                  <a:srgbClr val="FF0000"/>
                </a:solidFill>
                <a:cs typeface="楷体" panose="02010609060101010101" charset="-122"/>
                <a:sym typeface="+mn-ea"/>
              </a:rPr>
              <a:t>促进对外开放且保持外贸稳定</a:t>
            </a:r>
            <a:endParaRPr lang="zh-CN" altLang="en-US" sz="2200" dirty="0">
              <a:solidFill>
                <a:srgbClr val="FF0000"/>
              </a:solidFill>
              <a:cs typeface="楷体" panose="02010609060101010101" charset="-122"/>
            </a:endParaRPr>
          </a:p>
          <a:p>
            <a:pPr algn="l"/>
            <a:r>
              <a:rPr lang="en-US" altLang="zh-CN" sz="2200" dirty="0">
                <a:solidFill>
                  <a:srgbClr val="FF0000"/>
                </a:solidFill>
                <a:cs typeface="楷体" panose="02010609060101010101" charset="-122"/>
              </a:rPr>
              <a:t>3.</a:t>
            </a:r>
            <a:r>
              <a:rPr lang="zh-CN" altLang="en-US" sz="2200" dirty="0">
                <a:solidFill>
                  <a:srgbClr val="FF0000"/>
                </a:solidFill>
                <a:cs typeface="楷体" panose="02010609060101010101" charset="-122"/>
              </a:rPr>
              <a:t>国内经济高质量发展</a:t>
            </a:r>
            <a:r>
              <a:rPr lang="en-US" altLang="zh-CN" sz="2200" dirty="0">
                <a:solidFill>
                  <a:srgbClr val="FF0000"/>
                </a:solidFill>
                <a:cs typeface="楷体" panose="02010609060101010101" charset="-122"/>
              </a:rPr>
              <a:t>→</a:t>
            </a:r>
            <a:r>
              <a:rPr lang="zh-CN" altLang="en-US" sz="2200" dirty="0">
                <a:solidFill>
                  <a:srgbClr val="FF0000"/>
                </a:solidFill>
                <a:cs typeface="楷体" panose="02010609060101010101" charset="-122"/>
                <a:sym typeface="+mn-ea"/>
              </a:rPr>
              <a:t>推动经济转型升级</a:t>
            </a:r>
            <a:endParaRPr lang="zh-CN" altLang="en-US" sz="2200" dirty="0">
              <a:solidFill>
                <a:srgbClr val="FF0000"/>
              </a:solidFill>
              <a:cs typeface="楷体" panose="02010609060101010101" charset="-122"/>
              <a:sym typeface="+mn-ea"/>
            </a:endParaRPr>
          </a:p>
          <a:p>
            <a:pPr algn="l"/>
            <a:r>
              <a:rPr lang="en-US" altLang="zh-CN" sz="2200" dirty="0">
                <a:solidFill>
                  <a:srgbClr val="FF0000"/>
                </a:solidFill>
                <a:cs typeface="楷体" panose="02010609060101010101" charset="-122"/>
              </a:rPr>
              <a:t>4.</a:t>
            </a:r>
            <a:r>
              <a:rPr lang="zh-CN" altLang="en-US" sz="2200" dirty="0">
                <a:solidFill>
                  <a:srgbClr val="FF0000"/>
                </a:solidFill>
                <a:cs typeface="楷体" panose="02010609060101010101" charset="-122"/>
              </a:rPr>
              <a:t>经济</a:t>
            </a:r>
            <a:r>
              <a:rPr lang="zh-CN" altLang="en-US" sz="2200" dirty="0">
                <a:solidFill>
                  <a:srgbClr val="FF0000"/>
                </a:solidFill>
                <a:cs typeface="楷体" panose="02010609060101010101" charset="-122"/>
                <a:sym typeface="+mn-ea"/>
              </a:rPr>
              <a:t>经济转型升级</a:t>
            </a:r>
            <a:r>
              <a:rPr lang="en-US" altLang="zh-CN" sz="2200" dirty="0">
                <a:solidFill>
                  <a:srgbClr val="FF0000"/>
                </a:solidFill>
                <a:cs typeface="楷体" panose="02010609060101010101" charset="-122"/>
                <a:sym typeface="+mn-ea"/>
              </a:rPr>
              <a:t>→</a:t>
            </a:r>
            <a:r>
              <a:rPr lang="zh-CN" altLang="en-US" sz="2200" dirty="0">
                <a:solidFill>
                  <a:srgbClr val="FF0000"/>
                </a:solidFill>
                <a:cs typeface="楷体" panose="02010609060101010101" charset="-122"/>
                <a:sym typeface="+mn-ea"/>
              </a:rPr>
              <a:t>发展数字经济</a:t>
            </a:r>
            <a:endParaRPr lang="zh-CN" altLang="en-US" sz="2200" dirty="0">
              <a:solidFill>
                <a:srgbClr val="FF0000"/>
              </a:solidFill>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406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701675"/>
            <a:ext cx="1113726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在零食等预包装食品中含有多种食品添加剂，通常越是精致的零食含有添加剂的种类越多，即使添加剂通过相关部门审批并正常上市，很多家长还是谈</a:t>
            </a:r>
            <a:r>
              <a:rPr lang="en-US" altLang="zh-CN" sz="2400" dirty="0">
                <a:cs typeface="楷体" panose="02010609060101010101" charset="-122"/>
              </a:rPr>
              <a:t>“</a:t>
            </a:r>
            <a:r>
              <a:rPr lang="zh-CN" altLang="en-US" sz="2400" dirty="0">
                <a:cs typeface="楷体" panose="02010609060101010101" charset="-122"/>
              </a:rPr>
              <a:t>剂</a:t>
            </a:r>
            <a:r>
              <a:rPr lang="en-US" altLang="zh-CN" sz="2400" dirty="0">
                <a:cs typeface="楷体" panose="02010609060101010101" charset="-122"/>
              </a:rPr>
              <a:t>”</a:t>
            </a:r>
            <a:r>
              <a:rPr lang="zh-CN" altLang="en-US" sz="2400" dirty="0">
                <a:cs typeface="楷体" panose="02010609060101010101" charset="-122"/>
              </a:rPr>
              <a:t>色变。倡导食用天然食品的人认为，食品添加剂会危害儿童健康。</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以下哪项如果为真，最能质疑上述观点？（</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天然食品也并不代表就一定安全</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食品添加剂如按剂量合理使用是安全的</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食品添加剂可以起到防止食物变质的作用</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儿童经常食用零食会因营养不均衡而引发健康风险</a:t>
            </a: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057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0</a:t>
            </a:r>
            <a:endParaRPr kumimoji="1" lang="en-US" altLang="zh-CN" sz="2800" b="1" dirty="0">
              <a:solidFill>
                <a:srgbClr val="FF653F"/>
              </a:solidFill>
            </a:endParaRPr>
          </a:p>
        </p:txBody>
      </p:sp>
      <p:sp>
        <p:nvSpPr>
          <p:cNvPr id="3" name="文本框 2"/>
          <p:cNvSpPr txBox="1"/>
          <p:nvPr/>
        </p:nvSpPr>
        <p:spPr>
          <a:xfrm>
            <a:off x="462915" y="701675"/>
            <a:ext cx="1109154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sym typeface="+mn-ea"/>
              </a:rPr>
              <a:t>国内某研究团队自</a:t>
            </a:r>
            <a:r>
              <a:rPr lang="en-US" altLang="zh-CN" sz="2400" dirty="0">
                <a:cs typeface="楷体" panose="02010609060101010101" charset="-122"/>
                <a:sym typeface="+mn-ea"/>
              </a:rPr>
              <a:t>2016</a:t>
            </a:r>
            <a:r>
              <a:rPr lang="zh-CN" altLang="en-US" sz="2400" dirty="0">
                <a:cs typeface="楷体" panose="02010609060101010101" charset="-122"/>
                <a:sym typeface="+mn-ea"/>
              </a:rPr>
              <a:t>年开始，在近海采集了上千份塑料垃圾，经筛选发现部分塑料垃圾上附着了一种菌群。在随后的实验中，该菌群在含有塑料垃圾的培养基中能维持旺盛的生长能力。研究人员推断，这是一种能有效降解塑料垃圾的菌群。</a:t>
            </a:r>
            <a:endParaRPr lang="zh-CN" altLang="en-US" sz="2400" dirty="0">
              <a:cs typeface="楷体" panose="02010609060101010101" charset="-122"/>
              <a:sym typeface="+mn-ea"/>
            </a:endParaRPr>
          </a:p>
          <a:p>
            <a:pPr indent="0" fontAlgn="auto">
              <a:lnSpc>
                <a:spcPct val="150000"/>
              </a:lnSpc>
            </a:pPr>
            <a:r>
              <a:rPr lang="zh-CN" altLang="en-US" sz="2400" dirty="0">
                <a:cs typeface="楷体" panose="02010609060101010101" charset="-122"/>
                <a:sym typeface="+mn-ea"/>
              </a:rPr>
              <a:t>以下哪项如果为真，最能支持上述推断？（</a:t>
            </a:r>
            <a:r>
              <a:rPr lang="en-US" altLang="zh-CN" sz="2400" dirty="0">
                <a:cs typeface="楷体" panose="02010609060101010101" charset="-122"/>
                <a:sym typeface="+mn-ea"/>
              </a:rPr>
              <a:t>  </a:t>
            </a:r>
            <a:r>
              <a:rPr lang="zh-CN" altLang="en-US" sz="2400" dirty="0">
                <a:cs typeface="楷体" panose="02010609060101010101" charset="-122"/>
                <a:sym typeface="+mn-ea"/>
              </a:rPr>
              <a:t>）</a:t>
            </a:r>
            <a:endParaRPr lang="zh-CN" altLang="en-US" sz="2400" dirty="0">
              <a:cs typeface="楷体" panose="02010609060101010101" charset="-122"/>
              <a:sym typeface="+mn-ea"/>
            </a:endParaRPr>
          </a:p>
          <a:p>
            <a:pPr indent="0" fontAlgn="auto">
              <a:lnSpc>
                <a:spcPct val="150000"/>
              </a:lnSpc>
            </a:pPr>
            <a:r>
              <a:rPr lang="en-US" altLang="zh-CN" sz="2400" dirty="0">
                <a:cs typeface="楷体" panose="02010609060101010101" charset="-122"/>
                <a:sym typeface="+mn-ea"/>
              </a:rPr>
              <a:t>A.</a:t>
            </a:r>
            <a:r>
              <a:rPr lang="zh-CN" altLang="en-US" sz="2400" dirty="0">
                <a:cs typeface="楷体" panose="02010609060101010101" charset="-122"/>
                <a:sym typeface="+mn-ea"/>
              </a:rPr>
              <a:t>该菌群可以降解部分聚乙烯对苯二甲酸酯塑料</a:t>
            </a:r>
            <a:endParaRPr lang="zh-CN" altLang="en-US" sz="2400" dirty="0">
              <a:cs typeface="楷体" panose="02010609060101010101" charset="-122"/>
              <a:sym typeface="+mn-ea"/>
            </a:endParaRPr>
          </a:p>
          <a:p>
            <a:pPr indent="0" fontAlgn="auto">
              <a:lnSpc>
                <a:spcPct val="150000"/>
              </a:lnSpc>
            </a:pPr>
            <a:r>
              <a:rPr lang="en-US" altLang="zh-CN" sz="2400" dirty="0">
                <a:cs typeface="楷体" panose="02010609060101010101" charset="-122"/>
                <a:sym typeface="+mn-ea"/>
              </a:rPr>
              <a:t>B.</a:t>
            </a:r>
            <a:r>
              <a:rPr lang="zh-CN" altLang="en-US" sz="2400" dirty="0">
                <a:cs typeface="楷体" panose="02010609060101010101" charset="-122"/>
                <a:sym typeface="+mn-ea"/>
              </a:rPr>
              <a:t>该菌群喜好聚乙烯塑料，能够将其分解为碎片</a:t>
            </a:r>
            <a:endParaRPr lang="zh-CN" altLang="en-US" sz="2400" dirty="0">
              <a:cs typeface="楷体" panose="02010609060101010101" charset="-122"/>
              <a:sym typeface="+mn-ea"/>
            </a:endParaRPr>
          </a:p>
          <a:p>
            <a:pPr indent="0" fontAlgn="auto">
              <a:lnSpc>
                <a:spcPct val="150000"/>
              </a:lnSpc>
            </a:pPr>
            <a:r>
              <a:rPr lang="en-US" altLang="zh-CN" sz="2400" dirty="0">
                <a:cs typeface="楷体" panose="02010609060101010101" charset="-122"/>
                <a:sym typeface="+mn-ea"/>
              </a:rPr>
              <a:t>C.</a:t>
            </a:r>
            <a:r>
              <a:rPr lang="zh-CN" altLang="en-US" sz="2400" dirty="0">
                <a:cs typeface="楷体" panose="02010609060101010101" charset="-122"/>
                <a:sym typeface="+mn-ea"/>
              </a:rPr>
              <a:t>该菌群是通过高效降解塑料以获得能量维持生命的</a:t>
            </a:r>
            <a:endParaRPr lang="zh-CN" altLang="en-US" sz="2400" dirty="0">
              <a:cs typeface="楷体" panose="02010609060101010101" charset="-122"/>
              <a:sym typeface="+mn-ea"/>
            </a:endParaRPr>
          </a:p>
          <a:p>
            <a:pPr indent="0" fontAlgn="auto">
              <a:lnSpc>
                <a:spcPct val="150000"/>
              </a:lnSpc>
            </a:pPr>
            <a:r>
              <a:rPr lang="en-US" altLang="zh-CN" sz="2400" dirty="0">
                <a:cs typeface="楷体" panose="02010609060101010101" charset="-122"/>
                <a:sym typeface="+mn-ea"/>
              </a:rPr>
              <a:t>D.</a:t>
            </a:r>
            <a:r>
              <a:rPr lang="zh-CN" altLang="en-US" sz="2400" dirty="0">
                <a:cs typeface="楷体" panose="02010609060101010101" charset="-122"/>
                <a:sym typeface="+mn-ea"/>
              </a:rPr>
              <a:t>该菌群为发展降解塑料垃圾生物制品产业提供了可能</a:t>
            </a:r>
            <a:endParaRPr lang="zh-CN" altLang="en-US" sz="2400" dirty="0">
              <a:cs typeface="楷体" panose="02010609060101010101"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406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803910"/>
            <a:ext cx="11137265" cy="526415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现在，很多盛产柑橘的地区虽然种植条件没有变化，但出产的柑橘吃起来却比过去甜多了。有人认为柑橘更甜不是自然条件下的变甜，而是因为果农给果实注射了食品甜味剂</a:t>
            </a:r>
            <a:r>
              <a:rPr lang="en-US" altLang="zh-CN" sz="2400" dirty="0">
                <a:cs typeface="楷体" panose="02010609060101010101" charset="-122"/>
              </a:rPr>
              <a:t>——</a:t>
            </a:r>
            <a:r>
              <a:rPr lang="zh-CN" altLang="en-US" sz="2400" dirty="0">
                <a:cs typeface="楷体" panose="02010609060101010101" charset="-122"/>
              </a:rPr>
              <a:t>甜蜜素，才会增加甜度。</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以下各项如果为真，除哪项外均能质疑上述说法？（</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甜蜜素是安全食品添加剂，许多国家和地区都允许添加</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注射的针眼会成为微生物入侵的通道，易导致水果腐烂</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注射无法保证甜蜜素在水果内均匀分布，还可能影响口感</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果林里柑橘数量巨大，逐个为果实注入甜蜜素几乎不可能</a:t>
            </a:r>
            <a:endParaRPr lang="zh-CN" altLang="en-US" sz="2400" dirty="0">
              <a:cs typeface="楷体" panose="0201060906010101010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390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43865" y="857885"/>
            <a:ext cx="11591925" cy="525653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整容医院的最新数据显示，约</a:t>
            </a:r>
            <a:r>
              <a:rPr lang="en-US" altLang="zh-CN" sz="2400" dirty="0">
                <a:cs typeface="楷体" panose="02010609060101010101" charset="-122"/>
              </a:rPr>
              <a:t>55%</a:t>
            </a:r>
            <a:r>
              <a:rPr lang="zh-CN" altLang="en-US" sz="2400" dirty="0">
                <a:cs typeface="楷体" panose="02010609060101010101" charset="-122"/>
              </a:rPr>
              <a:t>的人去做整容手术是为了让自己看起来和美颜照片一样漂亮，因容貌焦虑导致的整容上瘾已经成为一种新的就医现象。可见，容貌焦虑的来源在于对美颜的过度依赖，而这种依赖正是来自社交平台的反馈。</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以下哪项如果为真，不能支持上述结论？（</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社交平台的交互性让人对好评和点赞充满期待，人们根据反馈不断地进行自我观察</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经常使用美颜功能和浏览社交平台的照片，会加重对自身容貌和外形瑕疵的不满意</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区别于现实生活的同步性，社交平台给了呈现者美化照片的时间，上传后易给浏览者带来焦虑</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部分因容貌焦虑去整容的人，不仅无法满足对完美的渴求，反而会出现病态的重复性整容行为</a:t>
            </a:r>
            <a:endParaRPr lang="zh-CN" altLang="en-US" sz="2400" dirty="0">
              <a:cs typeface="楷体" panose="02010609060101010101"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614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836930"/>
            <a:ext cx="1132141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甲：</a:t>
            </a:r>
            <a:r>
              <a:rPr lang="en-US" altLang="zh-CN" sz="2400" dirty="0">
                <a:cs typeface="楷体" panose="02010609060101010101" charset="-122"/>
              </a:rPr>
              <a:t>“</a:t>
            </a:r>
            <a:r>
              <a:rPr lang="zh-CN" altLang="en-US" sz="2400" dirty="0">
                <a:cs typeface="楷体" panose="02010609060101010101" charset="-122"/>
              </a:rPr>
              <a:t>嫩生姜爽爽脆脆，口感好，爱吃。</a:t>
            </a:r>
            <a:r>
              <a:rPr lang="en-US" altLang="zh-CN" sz="2400" dirty="0">
                <a:cs typeface="楷体" panose="02010609060101010101" charset="-122"/>
              </a:rPr>
              <a:t>”</a:t>
            </a:r>
            <a:endParaRPr lang="en-US" altLang="zh-CN" sz="2400" dirty="0">
              <a:cs typeface="楷体" panose="02010609060101010101" charset="-122"/>
            </a:endParaRPr>
          </a:p>
          <a:p>
            <a:pPr indent="0" fontAlgn="auto">
              <a:lnSpc>
                <a:spcPct val="150000"/>
              </a:lnSpc>
            </a:pPr>
            <a:r>
              <a:rPr lang="zh-CN" altLang="en-US" sz="2400" dirty="0">
                <a:cs typeface="楷体" panose="02010609060101010101" charset="-122"/>
              </a:rPr>
              <a:t>乙：</a:t>
            </a:r>
            <a:r>
              <a:rPr lang="en-US" altLang="zh-CN" sz="2400" dirty="0">
                <a:cs typeface="楷体" panose="02010609060101010101" charset="-122"/>
              </a:rPr>
              <a:t>“</a:t>
            </a:r>
            <a:r>
              <a:rPr lang="zh-CN" altLang="en-US" sz="2400" dirty="0">
                <a:cs typeface="楷体" panose="02010609060101010101" charset="-122"/>
              </a:rPr>
              <a:t>可是人常说，姜还是老的辣，老姜更有价值。</a:t>
            </a:r>
            <a:r>
              <a:rPr lang="en-US" altLang="zh-CN" sz="2400" dirty="0">
                <a:cs typeface="楷体" panose="02010609060101010101" charset="-122"/>
              </a:rPr>
              <a:t>”</a:t>
            </a:r>
            <a:endParaRPr lang="en-US" altLang="zh-CN" sz="2400" dirty="0">
              <a:cs typeface="楷体" panose="02010609060101010101" charset="-122"/>
            </a:endParaRPr>
          </a:p>
          <a:p>
            <a:pPr indent="0" fontAlgn="auto">
              <a:lnSpc>
                <a:spcPct val="150000"/>
              </a:lnSpc>
            </a:pPr>
            <a:r>
              <a:rPr lang="zh-CN" altLang="en-US" sz="2400" dirty="0">
                <a:cs typeface="楷体" panose="02010609060101010101" charset="-122"/>
              </a:rPr>
              <a:t>丙：</a:t>
            </a:r>
            <a:r>
              <a:rPr lang="en-US" altLang="zh-CN" sz="2400" dirty="0">
                <a:cs typeface="楷体" panose="02010609060101010101" charset="-122"/>
              </a:rPr>
              <a:t>“</a:t>
            </a:r>
            <a:r>
              <a:rPr lang="zh-CN" altLang="en-US" sz="2400" dirty="0">
                <a:cs typeface="楷体" panose="02010609060101010101" charset="-122"/>
              </a:rPr>
              <a:t>我不认为老姜更有价值，老姜不是由嫩生姜长成的吗？</a:t>
            </a:r>
            <a:r>
              <a:rPr lang="en-US" altLang="zh-CN" sz="2400" dirty="0">
                <a:cs typeface="楷体" panose="02010609060101010101" charset="-122"/>
              </a:rPr>
              <a:t>”</a:t>
            </a:r>
            <a:endParaRPr lang="en-US" altLang="zh-CN" sz="2400" dirty="0">
              <a:cs typeface="楷体" panose="02010609060101010101" charset="-122"/>
            </a:endParaRPr>
          </a:p>
          <a:p>
            <a:pPr indent="0" fontAlgn="auto">
              <a:lnSpc>
                <a:spcPct val="150000"/>
              </a:lnSpc>
            </a:pPr>
            <a:r>
              <a:rPr lang="zh-CN" altLang="en-US" sz="2400" dirty="0">
                <a:cs typeface="楷体" panose="02010609060101010101" charset="-122"/>
              </a:rPr>
              <a:t>以下哪项如果为真，最能质疑丙对乙的反驳？（</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嫩姜爽脆，老姜补益，价值各有不同</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爱不爱吃，完全是个人喜好，与他人无关</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老姜的价值是由其辛辣程度决定的，而不是由其来源决定的</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有人喜爱的是口感，有人喜爱的是内涵，各取所需，不必强求一致</a:t>
            </a: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857885"/>
            <a:ext cx="11460480" cy="5526405"/>
          </a:xfrm>
          <a:prstGeom prst="rect">
            <a:avLst/>
          </a:prstGeom>
          <a:noFill/>
        </p:spPr>
        <p:txBody>
          <a:bodyPr wrap="square" rtlCol="0" anchor="t">
            <a:noAutofit/>
          </a:bodyPr>
          <a:p>
            <a:pPr indent="0" fontAlgn="auto">
              <a:lnSpc>
                <a:spcPct val="110000"/>
              </a:lnSpc>
            </a:pPr>
            <a:r>
              <a:rPr lang="zh-CN" altLang="en-US" sz="2000" dirty="0">
                <a:cs typeface="楷体" panose="02010609060101010101" charset="-122"/>
              </a:rPr>
              <a:t>根据以下材料，回答</a:t>
            </a:r>
            <a:r>
              <a:rPr lang="en-US" altLang="zh-CN" sz="2000" dirty="0">
                <a:cs typeface="楷体" panose="02010609060101010101" charset="-122"/>
              </a:rPr>
              <a:t>34</a:t>
            </a:r>
            <a:r>
              <a:rPr lang="zh-CN" altLang="en-US" sz="2000" dirty="0">
                <a:cs typeface="楷体" panose="02010609060101010101" charset="-122"/>
              </a:rPr>
              <a:t>～</a:t>
            </a:r>
            <a:r>
              <a:rPr lang="en-US" altLang="zh-CN" sz="2000" dirty="0">
                <a:cs typeface="楷体" panose="02010609060101010101" charset="-122"/>
              </a:rPr>
              <a:t>35</a:t>
            </a:r>
            <a:r>
              <a:rPr lang="zh-CN" altLang="en-US" sz="2000" dirty="0">
                <a:cs typeface="楷体" panose="02010609060101010101" charset="-122"/>
              </a:rPr>
              <a:t>题。</a:t>
            </a:r>
            <a:endParaRPr lang="zh-CN" altLang="en-US" sz="2000" dirty="0">
              <a:cs typeface="楷体" panose="02010609060101010101" charset="-122"/>
            </a:endParaRPr>
          </a:p>
          <a:p>
            <a:pPr indent="0" fontAlgn="auto">
              <a:lnSpc>
                <a:spcPct val="110000"/>
              </a:lnSpc>
            </a:pPr>
            <a:r>
              <a:rPr lang="zh-CN" altLang="en-US" sz="2000" dirty="0">
                <a:cs typeface="楷体" panose="02010609060101010101" charset="-122"/>
              </a:rPr>
              <a:t>中医是在古代朴素的唯物论和自发的辨证法思想指导下，通过长期医疗实践逐步形成并发展成的医学理论体系。中医在现代中国仍然是治疗疾病的常用手段之一。有人却提出了反中医的证据：古人的寿命比现代人短，主要原因就是中医落后，对于疾病救治能力有限。对此，网络上出现了不同的声音。</a:t>
            </a:r>
            <a:endParaRPr lang="zh-CN" altLang="en-US" sz="2000" dirty="0">
              <a:cs typeface="楷体" panose="02010609060101010101" charset="-122"/>
            </a:endParaRPr>
          </a:p>
          <a:p>
            <a:pPr indent="0" fontAlgn="auto">
              <a:lnSpc>
                <a:spcPct val="110000"/>
              </a:lnSpc>
            </a:pPr>
            <a:r>
              <a:rPr lang="zh-CN" altLang="en-US" sz="2000" dirty="0">
                <a:cs typeface="楷体" panose="02010609060101010101" charset="-122"/>
              </a:rPr>
              <a:t>网友</a:t>
            </a:r>
            <a:r>
              <a:rPr lang="en-US" altLang="zh-CN" sz="2000" dirty="0">
                <a:cs typeface="楷体" panose="02010609060101010101" charset="-122"/>
              </a:rPr>
              <a:t>1</a:t>
            </a:r>
            <a:r>
              <a:rPr lang="zh-CN" altLang="en-US" sz="2000" dirty="0">
                <a:cs typeface="楷体" panose="02010609060101010101" charset="-122"/>
              </a:rPr>
              <a:t>：调查显示，有</a:t>
            </a:r>
            <a:r>
              <a:rPr lang="en-US" altLang="zh-CN" sz="2000" dirty="0">
                <a:cs typeface="楷体" panose="02010609060101010101" charset="-122"/>
              </a:rPr>
              <a:t>42.7%</a:t>
            </a:r>
            <a:r>
              <a:rPr lang="zh-CN" altLang="en-US" sz="2000" dirty="0">
                <a:cs typeface="楷体" panose="02010609060101010101" charset="-122"/>
              </a:rPr>
              <a:t>的受访者表示首选西医，而只有</a:t>
            </a:r>
            <a:r>
              <a:rPr lang="en-US" altLang="zh-CN" sz="2000" dirty="0">
                <a:cs typeface="楷体" panose="02010609060101010101" charset="-122"/>
              </a:rPr>
              <a:t>17.7%</a:t>
            </a:r>
            <a:r>
              <a:rPr lang="zh-CN" altLang="en-US" sz="2000" dirty="0">
                <a:cs typeface="楷体" panose="02010609060101010101" charset="-122"/>
              </a:rPr>
              <a:t>的受访者表示首选中医，所以中医落后于西医。</a:t>
            </a:r>
            <a:endParaRPr lang="zh-CN" altLang="en-US" sz="2000" dirty="0">
              <a:cs typeface="楷体" panose="02010609060101010101" charset="-122"/>
            </a:endParaRPr>
          </a:p>
          <a:p>
            <a:pPr indent="0" fontAlgn="auto">
              <a:lnSpc>
                <a:spcPct val="110000"/>
              </a:lnSpc>
            </a:pPr>
            <a:r>
              <a:rPr lang="zh-CN" altLang="en-US" sz="2000" dirty="0">
                <a:cs typeface="楷体" panose="02010609060101010101" charset="-122"/>
              </a:rPr>
              <a:t>网友</a:t>
            </a:r>
            <a:r>
              <a:rPr lang="en-US" altLang="zh-CN" sz="2000" dirty="0">
                <a:cs typeface="楷体" panose="02010609060101010101" charset="-122"/>
              </a:rPr>
              <a:t>2</a:t>
            </a:r>
            <a:r>
              <a:rPr lang="zh-CN" altLang="en-US" sz="2000" dirty="0">
                <a:cs typeface="楷体" panose="02010609060101010101" charset="-122"/>
              </a:rPr>
              <a:t>：古人常年经受日晒风吹，饭都吃不饱，更别说生病之后有条件看中医了。</a:t>
            </a:r>
            <a:endParaRPr lang="zh-CN" altLang="en-US" sz="2000" dirty="0">
              <a:cs typeface="楷体" panose="02010609060101010101" charset="-122"/>
            </a:endParaRPr>
          </a:p>
          <a:p>
            <a:pPr indent="0" fontAlgn="auto">
              <a:lnSpc>
                <a:spcPct val="110000"/>
              </a:lnSpc>
            </a:pPr>
            <a:r>
              <a:rPr lang="zh-CN" altLang="en-US" sz="2000" dirty="0">
                <a:cs typeface="楷体" panose="02010609060101010101" charset="-122"/>
              </a:rPr>
              <a:t>网友</a:t>
            </a:r>
            <a:r>
              <a:rPr lang="en-US" altLang="zh-CN" sz="2000" dirty="0">
                <a:cs typeface="楷体" panose="02010609060101010101" charset="-122"/>
              </a:rPr>
              <a:t>3</a:t>
            </a:r>
            <a:r>
              <a:rPr lang="zh-CN" altLang="en-US" sz="2000" dirty="0">
                <a:cs typeface="楷体" panose="02010609060101010101" charset="-122"/>
              </a:rPr>
              <a:t>：古代自然灾害频繁，造成大量的人口死亡，平均寿命当然会低于现在。</a:t>
            </a:r>
            <a:endParaRPr lang="zh-CN" altLang="en-US" sz="2000" dirty="0">
              <a:cs typeface="楷体" panose="02010609060101010101" charset="-122"/>
            </a:endParaRPr>
          </a:p>
          <a:p>
            <a:pPr indent="0" fontAlgn="auto">
              <a:lnSpc>
                <a:spcPct val="110000"/>
              </a:lnSpc>
            </a:pPr>
            <a:r>
              <a:rPr lang="zh-CN" altLang="en-US" sz="2000" dirty="0">
                <a:cs typeface="楷体" panose="02010609060101010101" charset="-122"/>
              </a:rPr>
              <a:t>网友</a:t>
            </a:r>
            <a:r>
              <a:rPr lang="en-US" altLang="zh-CN" sz="2000" dirty="0">
                <a:cs typeface="楷体" panose="02010609060101010101" charset="-122"/>
              </a:rPr>
              <a:t>4</a:t>
            </a:r>
            <a:r>
              <a:rPr lang="zh-CN" altLang="en-US" sz="2000" dirty="0">
                <a:cs typeface="楷体" panose="02010609060101010101" charset="-122"/>
              </a:rPr>
              <a:t>：中医和西医各有所长，需要根据病症做出正确的选择。</a:t>
            </a:r>
            <a:endParaRPr lang="zh-CN" altLang="en-US" sz="2000" dirty="0">
              <a:cs typeface="楷体" panose="02010609060101010101" charset="-122"/>
            </a:endParaRPr>
          </a:p>
          <a:p>
            <a:pPr indent="0" fontAlgn="auto">
              <a:lnSpc>
                <a:spcPct val="110000"/>
              </a:lnSpc>
            </a:pPr>
            <a:r>
              <a:rPr lang="zh-CN" altLang="en-US" sz="2000" dirty="0">
                <a:cs typeface="楷体" panose="02010609060101010101" charset="-122"/>
              </a:rPr>
              <a:t>网友</a:t>
            </a:r>
            <a:r>
              <a:rPr lang="en-US" altLang="zh-CN" sz="2000" dirty="0">
                <a:cs typeface="楷体" panose="02010609060101010101" charset="-122"/>
              </a:rPr>
              <a:t>5</a:t>
            </a:r>
            <a:r>
              <a:rPr lang="zh-CN" altLang="en-US" sz="2000" dirty="0">
                <a:cs typeface="楷体" panose="02010609060101010101" charset="-122"/>
              </a:rPr>
              <a:t>：现代发达农业技术使人们摆脱了靠天吃饭的困境，大大减少了人类非正常的死亡，现代人的寿命自然就比古人长。</a:t>
            </a:r>
            <a:endParaRPr lang="zh-CN" altLang="en-US" sz="2000" dirty="0">
              <a:cs typeface="楷体" panose="02010609060101010101" charset="-122"/>
            </a:endParaRPr>
          </a:p>
          <a:p>
            <a:pPr indent="0" fontAlgn="auto">
              <a:lnSpc>
                <a:spcPct val="110000"/>
              </a:lnSpc>
            </a:pPr>
            <a:r>
              <a:rPr lang="zh-CN" altLang="en-US" sz="2000" dirty="0">
                <a:cs typeface="楷体" panose="02010609060101010101" charset="-122"/>
              </a:rPr>
              <a:t>网友</a:t>
            </a:r>
            <a:r>
              <a:rPr lang="en-US" altLang="zh-CN" sz="2000" dirty="0">
                <a:cs typeface="楷体" panose="02010609060101010101" charset="-122"/>
              </a:rPr>
              <a:t>6</a:t>
            </a:r>
            <a:r>
              <a:rPr lang="zh-CN" altLang="en-US" sz="2000" dirty="0">
                <a:cs typeface="楷体" panose="02010609060101010101" charset="-122"/>
              </a:rPr>
              <a:t>：人们常说中医是</a:t>
            </a:r>
            <a:r>
              <a:rPr lang="en-US" altLang="zh-CN" sz="2000" dirty="0">
                <a:cs typeface="楷体" panose="02010609060101010101" charset="-122"/>
              </a:rPr>
              <a:t>“</a:t>
            </a:r>
            <a:r>
              <a:rPr lang="zh-CN" altLang="en-US" sz="2000" dirty="0">
                <a:cs typeface="楷体" panose="02010609060101010101" charset="-122"/>
              </a:rPr>
              <a:t>慢郎中</a:t>
            </a:r>
            <a:r>
              <a:rPr lang="en-US" altLang="zh-CN" sz="2000" dirty="0">
                <a:cs typeface="楷体" panose="02010609060101010101" charset="-122"/>
              </a:rPr>
              <a:t>”</a:t>
            </a:r>
            <a:r>
              <a:rPr lang="zh-CN" altLang="en-US" sz="2000" dirty="0">
                <a:cs typeface="楷体" panose="02010609060101010101" charset="-122"/>
              </a:rPr>
              <a:t>，真要得了急症，还是要去看西医。</a:t>
            </a:r>
            <a:endParaRPr lang="zh-CN" altLang="en-US" sz="2000" dirty="0">
              <a:cs typeface="楷体" panose="02010609060101010101" charset="-122"/>
            </a:endParaRPr>
          </a:p>
          <a:p>
            <a:pPr indent="0" fontAlgn="auto">
              <a:lnSpc>
                <a:spcPct val="110000"/>
              </a:lnSpc>
            </a:pPr>
            <a:r>
              <a:rPr lang="zh-CN" altLang="en-US" sz="2000" dirty="0">
                <a:cs typeface="楷体" panose="02010609060101010101" charset="-122"/>
              </a:rPr>
              <a:t>网友</a:t>
            </a:r>
            <a:r>
              <a:rPr lang="en-US" altLang="zh-CN" sz="2000" dirty="0">
                <a:cs typeface="楷体" panose="02010609060101010101" charset="-122"/>
              </a:rPr>
              <a:t>7</a:t>
            </a:r>
            <a:r>
              <a:rPr lang="zh-CN" altLang="en-US" sz="2000" dirty="0">
                <a:cs typeface="楷体" panose="02010609060101010101" charset="-122"/>
              </a:rPr>
              <a:t>：只有看过中医的人才会知道中医的好处。</a:t>
            </a:r>
            <a:endParaRPr lang="zh-CN" altLang="en-US" sz="2000" dirty="0">
              <a:cs typeface="楷体" panose="02010609060101010101" charset="-122"/>
            </a:endParaRPr>
          </a:p>
          <a:p>
            <a:pPr indent="0" fontAlgn="auto">
              <a:lnSpc>
                <a:spcPct val="110000"/>
              </a:lnSpc>
            </a:pPr>
            <a:r>
              <a:rPr lang="en-US" altLang="zh-CN" sz="2000" dirty="0">
                <a:cs typeface="楷体" panose="02010609060101010101" charset="-122"/>
              </a:rPr>
              <a:t>34.</a:t>
            </a:r>
            <a:r>
              <a:rPr lang="zh-CN" altLang="en-US" sz="2000" dirty="0">
                <a:cs typeface="楷体" panose="02010609060101010101" charset="-122"/>
              </a:rPr>
              <a:t>以上网友的观点中，能够反驳</a:t>
            </a:r>
            <a:r>
              <a:rPr lang="en-US" altLang="zh-CN" sz="2000" dirty="0">
                <a:cs typeface="楷体" panose="02010609060101010101" charset="-122"/>
              </a:rPr>
              <a:t>“</a:t>
            </a:r>
            <a:r>
              <a:rPr lang="zh-CN" altLang="en-US" sz="2000" dirty="0">
                <a:cs typeface="楷体" panose="02010609060101010101" charset="-122"/>
              </a:rPr>
              <a:t>古人的寿命比现代人短，主要原因就是中医落后</a:t>
            </a:r>
            <a:r>
              <a:rPr lang="en-US" altLang="zh-CN" sz="2000" dirty="0">
                <a:cs typeface="楷体" panose="02010609060101010101" charset="-122"/>
              </a:rPr>
              <a:t>”</a:t>
            </a:r>
            <a:r>
              <a:rPr lang="zh-CN" altLang="en-US" sz="2000" dirty="0">
                <a:cs typeface="楷体" panose="02010609060101010101" charset="-122"/>
              </a:rPr>
              <a:t>的有几项？</a:t>
            </a:r>
            <a:endParaRPr lang="zh-CN" altLang="en-US" sz="2000" dirty="0">
              <a:cs typeface="楷体" panose="02010609060101010101" charset="-122"/>
            </a:endParaRPr>
          </a:p>
          <a:p>
            <a:pPr indent="0" fontAlgn="auto">
              <a:lnSpc>
                <a:spcPct val="110000"/>
              </a:lnSpc>
            </a:pPr>
            <a:r>
              <a:rPr lang="en-US" altLang="zh-CN" sz="2000" dirty="0">
                <a:cs typeface="楷体" panose="02010609060101010101" charset="-122"/>
              </a:rPr>
              <a:t>A.1</a:t>
            </a:r>
            <a:r>
              <a:rPr lang="zh-CN" altLang="en-US" sz="2000" dirty="0">
                <a:cs typeface="楷体" panose="02010609060101010101" charset="-122"/>
              </a:rPr>
              <a:t>项</a:t>
            </a:r>
            <a:r>
              <a:rPr lang="en-US" altLang="zh-CN" sz="2000" dirty="0">
                <a:cs typeface="楷体" panose="02010609060101010101" charset="-122"/>
              </a:rPr>
              <a:t>		B.2</a:t>
            </a:r>
            <a:r>
              <a:rPr lang="zh-CN" altLang="en-US" sz="2000" dirty="0">
                <a:cs typeface="楷体" panose="02010609060101010101" charset="-122"/>
              </a:rPr>
              <a:t>项</a:t>
            </a:r>
            <a:endParaRPr lang="zh-CN" altLang="en-US" sz="2000" dirty="0">
              <a:cs typeface="楷体" panose="02010609060101010101" charset="-122"/>
            </a:endParaRPr>
          </a:p>
          <a:p>
            <a:pPr indent="0" fontAlgn="auto">
              <a:lnSpc>
                <a:spcPct val="110000"/>
              </a:lnSpc>
            </a:pPr>
            <a:r>
              <a:rPr lang="en-US" altLang="zh-CN" sz="2000" dirty="0">
                <a:cs typeface="楷体" panose="02010609060101010101" charset="-122"/>
              </a:rPr>
              <a:t>C.3</a:t>
            </a:r>
            <a:r>
              <a:rPr lang="zh-CN" altLang="en-US" sz="2000" dirty="0">
                <a:cs typeface="楷体" panose="02010609060101010101" charset="-122"/>
              </a:rPr>
              <a:t>项</a:t>
            </a:r>
            <a:r>
              <a:rPr lang="en-US" altLang="zh-CN" sz="2000" dirty="0">
                <a:cs typeface="楷体" panose="02010609060101010101" charset="-122"/>
              </a:rPr>
              <a:t>		D.4</a:t>
            </a:r>
            <a:r>
              <a:rPr lang="zh-CN" altLang="en-US" sz="2000" dirty="0">
                <a:cs typeface="楷体" panose="02010609060101010101" charset="-122"/>
              </a:rPr>
              <a:t>项</a:t>
            </a:r>
            <a:r>
              <a:rPr sz="2000" dirty="0">
                <a:cs typeface="楷体" panose="02010609060101010101" charset="-122"/>
              </a:rPr>
              <a:t>心</a:t>
            </a:r>
            <a:endParaRPr sz="2000" dirty="0">
              <a:cs typeface="楷体" panose="0201060906010101010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35</a:t>
            </a:r>
            <a:endParaRPr kumimoji="1" lang="en-US" altLang="zh-CN" sz="2800" b="1" dirty="0">
              <a:solidFill>
                <a:srgbClr val="FF653F"/>
              </a:solidFill>
            </a:endParaRPr>
          </a:p>
        </p:txBody>
      </p:sp>
      <p:sp>
        <p:nvSpPr>
          <p:cNvPr id="3" name="文本框 2"/>
          <p:cNvSpPr txBox="1"/>
          <p:nvPr/>
        </p:nvSpPr>
        <p:spPr>
          <a:xfrm>
            <a:off x="462915" y="692785"/>
            <a:ext cx="11460480" cy="5526405"/>
          </a:xfrm>
          <a:prstGeom prst="rect">
            <a:avLst/>
          </a:prstGeom>
          <a:noFill/>
        </p:spPr>
        <p:txBody>
          <a:bodyPr wrap="square" rtlCol="0" anchor="t">
            <a:noAutofit/>
          </a:bodyPr>
          <a:p>
            <a:pPr indent="0" fontAlgn="auto">
              <a:lnSpc>
                <a:spcPct val="110000"/>
              </a:lnSpc>
            </a:pPr>
            <a:r>
              <a:rPr lang="zh-CN" altLang="en-US" sz="2000" dirty="0">
                <a:cs typeface="楷体" panose="02010609060101010101" charset="-122"/>
              </a:rPr>
              <a:t>根据以下材料，回答</a:t>
            </a:r>
            <a:r>
              <a:rPr lang="en-US" altLang="zh-CN" sz="2000" dirty="0">
                <a:cs typeface="楷体" panose="02010609060101010101" charset="-122"/>
              </a:rPr>
              <a:t>34</a:t>
            </a:r>
            <a:r>
              <a:rPr lang="zh-CN" altLang="en-US" sz="2000" dirty="0">
                <a:cs typeface="楷体" panose="02010609060101010101" charset="-122"/>
              </a:rPr>
              <a:t>～</a:t>
            </a:r>
            <a:r>
              <a:rPr lang="en-US" altLang="zh-CN" sz="2000" dirty="0">
                <a:cs typeface="楷体" panose="02010609060101010101" charset="-122"/>
              </a:rPr>
              <a:t>35</a:t>
            </a:r>
            <a:r>
              <a:rPr lang="zh-CN" altLang="en-US" sz="2000" dirty="0">
                <a:cs typeface="楷体" panose="02010609060101010101" charset="-122"/>
              </a:rPr>
              <a:t>题。</a:t>
            </a:r>
            <a:endParaRPr lang="zh-CN" altLang="en-US" sz="2000" dirty="0">
              <a:cs typeface="楷体" panose="02010609060101010101" charset="-122"/>
            </a:endParaRPr>
          </a:p>
          <a:p>
            <a:pPr indent="0" fontAlgn="auto">
              <a:lnSpc>
                <a:spcPct val="110000"/>
              </a:lnSpc>
            </a:pPr>
            <a:r>
              <a:rPr lang="zh-CN" altLang="en-US" sz="2000" dirty="0">
                <a:cs typeface="楷体" panose="02010609060101010101" charset="-122"/>
              </a:rPr>
              <a:t>中医是在古代朴素的唯物论和自发的辨证法思想指导下，通过长期医疗实践逐步形成并发展成的医学理论体系。中医在现代中国仍然是治疗疾病的常用手段之一。有人却提出了反中医的证据：古人的寿命比现代人短，主要原因就是中医落后，对于疾病救治能力有限。对此，网络上出现了不同的声音。</a:t>
            </a:r>
            <a:endParaRPr lang="zh-CN" altLang="en-US" sz="2000" dirty="0">
              <a:cs typeface="楷体" panose="02010609060101010101" charset="-122"/>
            </a:endParaRPr>
          </a:p>
          <a:p>
            <a:pPr indent="0" fontAlgn="auto">
              <a:lnSpc>
                <a:spcPct val="110000"/>
              </a:lnSpc>
            </a:pPr>
            <a:r>
              <a:rPr lang="zh-CN" altLang="en-US" sz="2000" dirty="0">
                <a:cs typeface="楷体" panose="02010609060101010101" charset="-122"/>
              </a:rPr>
              <a:t>网友</a:t>
            </a:r>
            <a:r>
              <a:rPr lang="en-US" altLang="zh-CN" sz="2000" dirty="0">
                <a:cs typeface="楷体" panose="02010609060101010101" charset="-122"/>
              </a:rPr>
              <a:t>1</a:t>
            </a:r>
            <a:r>
              <a:rPr lang="zh-CN" altLang="en-US" sz="2000" dirty="0">
                <a:cs typeface="楷体" panose="02010609060101010101" charset="-122"/>
              </a:rPr>
              <a:t>：调查显示，有</a:t>
            </a:r>
            <a:r>
              <a:rPr lang="en-US" altLang="zh-CN" sz="2000" dirty="0">
                <a:cs typeface="楷体" panose="02010609060101010101" charset="-122"/>
              </a:rPr>
              <a:t>42.7%</a:t>
            </a:r>
            <a:r>
              <a:rPr lang="zh-CN" altLang="en-US" sz="2000" dirty="0">
                <a:cs typeface="楷体" panose="02010609060101010101" charset="-122"/>
              </a:rPr>
              <a:t>的受访者表示首选西医，而只有</a:t>
            </a:r>
            <a:r>
              <a:rPr lang="en-US" altLang="zh-CN" sz="2000" dirty="0">
                <a:cs typeface="楷体" panose="02010609060101010101" charset="-122"/>
              </a:rPr>
              <a:t>17.7%</a:t>
            </a:r>
            <a:r>
              <a:rPr lang="zh-CN" altLang="en-US" sz="2000" dirty="0">
                <a:cs typeface="楷体" panose="02010609060101010101" charset="-122"/>
              </a:rPr>
              <a:t>的受访者表示首选中医，所以中医落后于西医。</a:t>
            </a:r>
            <a:endParaRPr lang="zh-CN" altLang="en-US" sz="2000" dirty="0">
              <a:cs typeface="楷体" panose="02010609060101010101" charset="-122"/>
            </a:endParaRPr>
          </a:p>
          <a:p>
            <a:pPr indent="0" fontAlgn="auto">
              <a:lnSpc>
                <a:spcPct val="110000"/>
              </a:lnSpc>
            </a:pPr>
            <a:r>
              <a:rPr lang="zh-CN" altLang="en-US" sz="2000" dirty="0">
                <a:cs typeface="楷体" panose="02010609060101010101" charset="-122"/>
              </a:rPr>
              <a:t>网友</a:t>
            </a:r>
            <a:r>
              <a:rPr lang="en-US" altLang="zh-CN" sz="2000" dirty="0">
                <a:cs typeface="楷体" panose="02010609060101010101" charset="-122"/>
              </a:rPr>
              <a:t>2</a:t>
            </a:r>
            <a:r>
              <a:rPr lang="zh-CN" altLang="en-US" sz="2000" dirty="0">
                <a:cs typeface="楷体" panose="02010609060101010101" charset="-122"/>
              </a:rPr>
              <a:t>：古人常年经受日晒风吹，饭都吃不饱，更别说生病之后有条件看中医了。</a:t>
            </a:r>
            <a:endParaRPr lang="zh-CN" altLang="en-US" sz="2000" dirty="0">
              <a:cs typeface="楷体" panose="02010609060101010101" charset="-122"/>
            </a:endParaRPr>
          </a:p>
          <a:p>
            <a:pPr indent="0" fontAlgn="auto">
              <a:lnSpc>
                <a:spcPct val="110000"/>
              </a:lnSpc>
            </a:pPr>
            <a:r>
              <a:rPr lang="zh-CN" altLang="en-US" sz="2000" dirty="0">
                <a:cs typeface="楷体" panose="02010609060101010101" charset="-122"/>
              </a:rPr>
              <a:t>网友</a:t>
            </a:r>
            <a:r>
              <a:rPr lang="en-US" altLang="zh-CN" sz="2000" dirty="0">
                <a:cs typeface="楷体" panose="02010609060101010101" charset="-122"/>
              </a:rPr>
              <a:t>3</a:t>
            </a:r>
            <a:r>
              <a:rPr lang="zh-CN" altLang="en-US" sz="2000" dirty="0">
                <a:cs typeface="楷体" panose="02010609060101010101" charset="-122"/>
              </a:rPr>
              <a:t>：古代自然灾害频繁，造成大量的人口死亡，平均寿命当然会低于现在。</a:t>
            </a:r>
            <a:endParaRPr lang="zh-CN" altLang="en-US" sz="2000" dirty="0">
              <a:cs typeface="楷体" panose="02010609060101010101" charset="-122"/>
            </a:endParaRPr>
          </a:p>
          <a:p>
            <a:pPr indent="0" fontAlgn="auto">
              <a:lnSpc>
                <a:spcPct val="110000"/>
              </a:lnSpc>
            </a:pPr>
            <a:r>
              <a:rPr lang="zh-CN" altLang="en-US" sz="2000" dirty="0">
                <a:cs typeface="楷体" panose="02010609060101010101" charset="-122"/>
              </a:rPr>
              <a:t>网友</a:t>
            </a:r>
            <a:r>
              <a:rPr lang="en-US" altLang="zh-CN" sz="2000" dirty="0">
                <a:cs typeface="楷体" panose="02010609060101010101" charset="-122"/>
              </a:rPr>
              <a:t>4</a:t>
            </a:r>
            <a:r>
              <a:rPr lang="zh-CN" altLang="en-US" sz="2000" dirty="0">
                <a:cs typeface="楷体" panose="02010609060101010101" charset="-122"/>
              </a:rPr>
              <a:t>：中医和西医各有所长，需要根据病症做出正确的选择。</a:t>
            </a:r>
            <a:endParaRPr lang="zh-CN" altLang="en-US" sz="2000" dirty="0">
              <a:cs typeface="楷体" panose="02010609060101010101" charset="-122"/>
            </a:endParaRPr>
          </a:p>
          <a:p>
            <a:pPr indent="0" fontAlgn="auto">
              <a:lnSpc>
                <a:spcPct val="110000"/>
              </a:lnSpc>
            </a:pPr>
            <a:r>
              <a:rPr lang="zh-CN" altLang="en-US" sz="2000" dirty="0">
                <a:cs typeface="楷体" panose="02010609060101010101" charset="-122"/>
              </a:rPr>
              <a:t>网友</a:t>
            </a:r>
            <a:r>
              <a:rPr lang="en-US" altLang="zh-CN" sz="2000" dirty="0">
                <a:cs typeface="楷体" panose="02010609060101010101" charset="-122"/>
              </a:rPr>
              <a:t>5</a:t>
            </a:r>
            <a:r>
              <a:rPr lang="zh-CN" altLang="en-US" sz="2000" dirty="0">
                <a:cs typeface="楷体" panose="02010609060101010101" charset="-122"/>
              </a:rPr>
              <a:t>：现代发达农业技术使人们摆脱了靠天吃饭的困境，大大减少了人类非正常的死亡，现代人的寿命自然就比古人长。</a:t>
            </a:r>
            <a:endParaRPr lang="zh-CN" altLang="en-US" sz="2000" dirty="0">
              <a:cs typeface="楷体" panose="02010609060101010101" charset="-122"/>
            </a:endParaRPr>
          </a:p>
          <a:p>
            <a:pPr indent="0" fontAlgn="auto">
              <a:lnSpc>
                <a:spcPct val="110000"/>
              </a:lnSpc>
            </a:pPr>
            <a:r>
              <a:rPr lang="zh-CN" altLang="en-US" sz="2000" dirty="0">
                <a:cs typeface="楷体" panose="02010609060101010101" charset="-122"/>
              </a:rPr>
              <a:t>网友</a:t>
            </a:r>
            <a:r>
              <a:rPr lang="en-US" altLang="zh-CN" sz="2000" dirty="0">
                <a:cs typeface="楷体" panose="02010609060101010101" charset="-122"/>
              </a:rPr>
              <a:t>6</a:t>
            </a:r>
            <a:r>
              <a:rPr lang="zh-CN" altLang="en-US" sz="2000" dirty="0">
                <a:cs typeface="楷体" panose="02010609060101010101" charset="-122"/>
              </a:rPr>
              <a:t>：人们常说中医是</a:t>
            </a:r>
            <a:r>
              <a:rPr lang="en-US" altLang="zh-CN" sz="2000" dirty="0">
                <a:cs typeface="楷体" panose="02010609060101010101" charset="-122"/>
              </a:rPr>
              <a:t>“</a:t>
            </a:r>
            <a:r>
              <a:rPr lang="zh-CN" altLang="en-US" sz="2000" dirty="0">
                <a:cs typeface="楷体" panose="02010609060101010101" charset="-122"/>
              </a:rPr>
              <a:t>慢郎中</a:t>
            </a:r>
            <a:r>
              <a:rPr lang="en-US" altLang="zh-CN" sz="2000" dirty="0">
                <a:cs typeface="楷体" panose="02010609060101010101" charset="-122"/>
              </a:rPr>
              <a:t>”</a:t>
            </a:r>
            <a:r>
              <a:rPr lang="zh-CN" altLang="en-US" sz="2000" dirty="0">
                <a:cs typeface="楷体" panose="02010609060101010101" charset="-122"/>
              </a:rPr>
              <a:t>，真要得了急症，还是要去看西医。</a:t>
            </a:r>
            <a:endParaRPr lang="zh-CN" altLang="en-US" sz="2000" dirty="0">
              <a:cs typeface="楷体" panose="02010609060101010101" charset="-122"/>
            </a:endParaRPr>
          </a:p>
          <a:p>
            <a:pPr indent="0" fontAlgn="auto">
              <a:lnSpc>
                <a:spcPct val="110000"/>
              </a:lnSpc>
            </a:pPr>
            <a:r>
              <a:rPr lang="zh-CN" altLang="en-US" sz="2000" dirty="0">
                <a:cs typeface="楷体" panose="02010609060101010101" charset="-122"/>
              </a:rPr>
              <a:t>网友</a:t>
            </a:r>
            <a:r>
              <a:rPr lang="en-US" altLang="zh-CN" sz="2000" dirty="0">
                <a:cs typeface="楷体" panose="02010609060101010101" charset="-122"/>
              </a:rPr>
              <a:t>7</a:t>
            </a:r>
            <a:r>
              <a:rPr lang="zh-CN" altLang="en-US" sz="2000" dirty="0">
                <a:cs typeface="楷体" panose="02010609060101010101" charset="-122"/>
              </a:rPr>
              <a:t>：只有看过中医的人才会知道中医的好处。</a:t>
            </a:r>
            <a:endParaRPr lang="zh-CN" altLang="en-US" sz="2000" dirty="0">
              <a:cs typeface="楷体" panose="02010609060101010101" charset="-122"/>
            </a:endParaRPr>
          </a:p>
          <a:p>
            <a:pPr indent="0" fontAlgn="auto">
              <a:lnSpc>
                <a:spcPct val="110000"/>
              </a:lnSpc>
            </a:pPr>
            <a:r>
              <a:rPr lang="en-US" altLang="zh-CN" sz="2000" dirty="0">
                <a:cs typeface="楷体" panose="02010609060101010101" charset="-122"/>
              </a:rPr>
              <a:t>35.</a:t>
            </a:r>
            <a:r>
              <a:rPr lang="zh-CN" altLang="en-US" sz="2000" dirty="0">
                <a:cs typeface="楷体" panose="02010609060101010101" charset="-122"/>
              </a:rPr>
              <a:t>以下哪项表述最为准确地指出了网友</a:t>
            </a:r>
            <a:r>
              <a:rPr lang="en-US" altLang="zh-CN" sz="2000" dirty="0">
                <a:cs typeface="楷体" panose="02010609060101010101" charset="-122"/>
              </a:rPr>
              <a:t>1</a:t>
            </a:r>
            <a:r>
              <a:rPr lang="zh-CN" altLang="en-US" sz="2000" dirty="0">
                <a:cs typeface="楷体" panose="02010609060101010101" charset="-122"/>
              </a:rPr>
              <a:t>的论证错误？（</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10000"/>
              </a:lnSpc>
            </a:pPr>
            <a:r>
              <a:rPr lang="en-US" altLang="zh-CN" sz="2000" dirty="0">
                <a:cs typeface="楷体" panose="02010609060101010101" charset="-122"/>
              </a:rPr>
              <a:t>A.</a:t>
            </a:r>
            <a:r>
              <a:rPr lang="zh-CN" altLang="en-US" sz="2000" dirty="0">
                <a:cs typeface="楷体" panose="02010609060101010101" charset="-122"/>
              </a:rPr>
              <a:t>西医医院和科室远多于中医，所以西医要先进于中医</a:t>
            </a:r>
            <a:endParaRPr lang="zh-CN" altLang="en-US" sz="2000" dirty="0">
              <a:cs typeface="楷体" panose="02010609060101010101" charset="-122"/>
            </a:endParaRPr>
          </a:p>
          <a:p>
            <a:pPr indent="0" fontAlgn="auto">
              <a:lnSpc>
                <a:spcPct val="110000"/>
              </a:lnSpc>
            </a:pPr>
            <a:r>
              <a:rPr lang="en-US" altLang="zh-CN" sz="2000" dirty="0">
                <a:cs typeface="楷体" panose="02010609060101010101" charset="-122"/>
              </a:rPr>
              <a:t>B.</a:t>
            </a:r>
            <a:r>
              <a:rPr lang="zh-CN" altLang="en-US" sz="2000" dirty="0">
                <a:cs typeface="楷体" panose="02010609060101010101" charset="-122"/>
              </a:rPr>
              <a:t>首选西医的受访者在西医治疗无效后或许也会选择中医</a:t>
            </a:r>
            <a:endParaRPr lang="zh-CN" altLang="en-US" sz="2000" dirty="0">
              <a:cs typeface="楷体" panose="02010609060101010101" charset="-122"/>
            </a:endParaRPr>
          </a:p>
          <a:p>
            <a:pPr indent="0" fontAlgn="auto">
              <a:lnSpc>
                <a:spcPct val="110000"/>
              </a:lnSpc>
            </a:pPr>
            <a:r>
              <a:rPr lang="en-US" altLang="zh-CN" sz="2000" dirty="0">
                <a:cs typeface="楷体" panose="02010609060101010101" charset="-122"/>
              </a:rPr>
              <a:t>C.</a:t>
            </a:r>
            <a:r>
              <a:rPr lang="zh-CN" altLang="en-US" sz="2000" dirty="0">
                <a:cs typeface="楷体" panose="02010609060101010101" charset="-122"/>
              </a:rPr>
              <a:t>不知道其余受访者选择的是什么，所以不能说中医落后于西医</a:t>
            </a:r>
            <a:endParaRPr lang="zh-CN" altLang="en-US" sz="2000" dirty="0">
              <a:cs typeface="楷体" panose="02010609060101010101" charset="-122"/>
            </a:endParaRPr>
          </a:p>
          <a:p>
            <a:pPr indent="0" fontAlgn="auto">
              <a:lnSpc>
                <a:spcPct val="110000"/>
              </a:lnSpc>
            </a:pPr>
            <a:r>
              <a:rPr lang="en-US" altLang="zh-CN" sz="2000" dirty="0">
                <a:cs typeface="楷体" panose="02010609060101010101" charset="-122"/>
              </a:rPr>
              <a:t>D.</a:t>
            </a:r>
            <a:r>
              <a:rPr lang="zh-CN" altLang="en-US" sz="2000" dirty="0">
                <a:cs typeface="楷体" panose="02010609060101010101" charset="-122"/>
              </a:rPr>
              <a:t>首选西医或者中医只代表受访者的认知和选择，不能证明中医落后</a:t>
            </a: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idx="4294967295"/>
            <p:custDataLst>
              <p:tags r:id="rId1"/>
            </p:custDataLst>
          </p:nvPr>
        </p:nvSpPr>
        <p:spPr>
          <a:xfrm>
            <a:off x="6130925" y="1378585"/>
            <a:ext cx="5257800" cy="2005965"/>
          </a:xfrm>
        </p:spPr>
        <p:txBody>
          <a:bodyPr wrap="square">
            <a:normAutofit/>
          </a:bodyPr>
          <a:lstStyle/>
          <a:p>
            <a:pPr algn="ct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感</a:t>
            </a: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谢</a:t>
            </a: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观</a:t>
            </a:r>
            <a:r>
              <a:rPr lang="en-US" altLang="zh-CN" sz="6600">
                <a:latin typeface="楷体" panose="02010609060101010101" charset="-122"/>
                <a:ea typeface="楷体" panose="02010609060101010101" charset="-122"/>
                <a:cs typeface="楷体" panose="02010609060101010101" charset="-122"/>
              </a:rPr>
              <a:t> </a:t>
            </a:r>
            <a:r>
              <a:rPr lang="zh-CN" altLang="en-US" sz="6600">
                <a:latin typeface="楷体" panose="02010609060101010101" charset="-122"/>
                <a:ea typeface="楷体" panose="02010609060101010101" charset="-122"/>
                <a:cs typeface="楷体" panose="02010609060101010101" charset="-122"/>
              </a:rPr>
              <a:t>看！</a:t>
            </a:r>
            <a:endParaRPr lang="zh-CN" altLang="en-US" sz="6600">
              <a:latin typeface="楷体" panose="02010609060101010101" charset="-122"/>
              <a:ea typeface="楷体" panose="02010609060101010101" charset="-122"/>
              <a:cs typeface="楷体" panose="02010609060101010101" charset="-122"/>
            </a:endParaRPr>
          </a:p>
        </p:txBody>
      </p:sp>
      <p:sp>
        <p:nvSpPr>
          <p:cNvPr id="9" name="文本占位符 5"/>
          <p:cNvSpPr/>
          <p:nvPr/>
        </p:nvSpPr>
        <p:spPr>
          <a:xfrm>
            <a:off x="6504830" y="3632915"/>
            <a:ext cx="4510800" cy="626400"/>
          </a:xfrm>
          <a:prstGeom prst="roundRect">
            <a:avLst>
              <a:gd name="adj" fmla="val 50000"/>
            </a:avLst>
          </a:prstGeom>
          <a:solidFill>
            <a:schemeClr val="accent5">
              <a:lumMod val="60000"/>
              <a:lumOff val="40000"/>
            </a:schemeClr>
          </a:solidFill>
        </p:spPr>
        <p:txBody>
          <a:bodyPr vert="horz" wrap="square" lIns="90000" tIns="46800" rIns="90000" bIns="46800" rtlCol="0" anchor="ctr">
            <a:noAutofit/>
          </a:bodyPr>
          <a:lstStyle>
            <a:lvl1pPr marL="0" indent="0" algn="ctr" defTabSz="914400" rtl="0" eaLnBrk="1" latinLnBrk="0" hangingPunct="1">
              <a:lnSpc>
                <a:spcPct val="100000"/>
              </a:lnSpc>
              <a:spcBef>
                <a:spcPts val="1000"/>
              </a:spcBef>
              <a:buFont typeface="Arial" panose="020B0604020202020204" pitchFamily="34" charset="0"/>
              <a:buNone/>
              <a:defRPr sz="1800" b="1" kern="1200">
                <a:solidFill>
                  <a:srgbClr val="FFFFFF"/>
                </a:solidFill>
                <a:latin typeface="+mn-ea"/>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a:latin typeface="楷体" panose="02010609060101010101" charset="-122"/>
                <a:ea typeface="楷体" panose="02010609060101010101" charset="-122"/>
                <a:cs typeface="楷体" panose="02010609060101010101" charset="-122"/>
              </a:rPr>
              <a:t>来前图</a:t>
            </a:r>
            <a:r>
              <a:rPr lang="zh-CN" altLang="en-US" sz="2800">
                <a:latin typeface="楷体" panose="02010609060101010101" charset="-122"/>
                <a:ea typeface="楷体" panose="02010609060101010101" charset="-122"/>
                <a:cs typeface="楷体" panose="02010609060101010101" charset="-122"/>
              </a:rPr>
              <a:t>有前途</a:t>
            </a:r>
            <a:endParaRPr lang="zh-CN" altLang="en-US" sz="2800">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BEAUTIFY_FLAG" val="#wm#"/>
  <p:tag name="KSO_WM_UNIT_TYPE" val="i"/>
  <p:tag name="KSO_WM_UNIT_INDEX" val="2"/>
  <p:tag name="picid" val="{c96c12b9-b486-4b86-8c10-63518c701593}"/>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 name="picid" val="{7e393ffb-6772-49ca-aca6-f8feb68494c3}"/>
</p:tagLst>
</file>

<file path=ppt/tags/tag4.xml><?xml version="1.0" encoding="utf-8"?>
<p:tagLst xmlns:p="http://schemas.openxmlformats.org/presentationml/2006/main">
  <p:tag name="picid" val="{25afab71-fec0-411c-8ded-60cac90c40a9}"/>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 name="picid" val="{a8624358-6c04-465f-adb1-ea6dc7b20afa}"/>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 name="picid" val="{7e393ffb-6772-49ca-aca6-f8feb68494c3}"/>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BEAUTIFY_FLAG" val="#wm#"/>
  <p:tag name="KSO_WM_UNIT_TYPE" val="i"/>
  <p:tag name="KSO_WM_UNIT_INDEX" val="3"/>
  <p:tag name="picid" val="{3da80b80-4c56-422b-a71c-8645a7268ddf}"/>
</p:tagLst>
</file>

<file path=ppt/tags/tag14.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1288"/>
  <p:tag name="KSO_WM_TEMPLATE_THUMBS_INDEX" val="1、9"/>
</p:tagLst>
</file>

<file path=ppt/tags/tag15.xml><?xml version="1.0" encoding="utf-8"?>
<p:tagLst xmlns:p="http://schemas.openxmlformats.org/presentationml/2006/main">
  <p:tag name="picid" val="{25afab71-fec0-411c-8ded-60cac90c40a9}"/>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 name="picid" val="{a8624358-6c04-465f-adb1-ea6dc7b20afa}"/>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Lst>
</file>

<file path=ppt/tags/tag20.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1288"/>
  <p:tag name="KSO_WM_TEMPLATE_THUMBS_INDEX" val="1、9"/>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 name="picid" val="{5ab9f478-1d52-4636-9915-324494dc6b72}"/>
</p:tagLst>
</file>

<file path=ppt/tags/tag23.xml><?xml version="1.0" encoding="utf-8"?>
<p:tagLst xmlns:p="http://schemas.openxmlformats.org/presentationml/2006/main">
  <p:tag name="picid" val="{25afab71-fec0-411c-8ded-60cac90c40a9}"/>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BEAUTIFY_FLAG" val="#wm#"/>
  <p:tag name="KSO_WM_UNIT_TYPE" val="i"/>
  <p:tag name="KSO_WM_UNIT_INDEX" val="3"/>
  <p:tag name="picid" val="{4ff12c0f-5a32-4df5-91dc-35ac7ad6bcc3}"/>
</p:tagLst>
</file>

<file path=ppt/tags/tag27.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1288"/>
  <p:tag name="KSO_WM_TEMPLATE_THUMBS_INDEX" val="1、9"/>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BEAUTIFY_FLAG" val="#wm#"/>
  <p:tag name="KSO_WM_UNIT_TYPE" val="i"/>
  <p:tag name="KSO_WM_UNIT_INDEX" val="3"/>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4"/>
  <p:tag name="KSO_WM_UNIT_LAYERLEVEL" val="1"/>
  <p:tag name="KSO_WM_TAG_VERSION" val="3.0"/>
  <p:tag name="KSO_WM_BEAUTIFY_FLAG" val="#wm#"/>
  <p:tag name="KSO_WM_UNIT_TYPE" val="i"/>
  <p:tag name="KSO_WM_UNIT_INDEX" val="4"/>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34.xml><?xml version="1.0" encoding="utf-8"?>
<p:tagLst xmlns:p="http://schemas.openxmlformats.org/presentationml/2006/main">
  <p:tag name="picid" val="{25afab71-fec0-411c-8ded-60cac90c40a9}"/>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3297"/>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TEMPLATE_CATEGORY" val="custom"/>
  <p:tag name="KSO_WM_TEMPLATE_INDEX" val="20233297"/>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41.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297"/>
  <p:tag name="KSO_WM_TEMPLATE_THUMBS_INDEX" val="1、9"/>
</p:tagLst>
</file>

<file path=ppt/tags/tag42.xml><?xml version="1.0" encoding="utf-8"?>
<p:tagLst xmlns:p="http://schemas.openxmlformats.org/presentationml/2006/main">
  <p:tag name="KSO_WM_UNIT_INDEX" val="1"/>
  <p:tag name="KSO_WM_UNIT_SUBTYPE" val=""/>
  <p:tag name="KSO_WM_UNIT_PRESET_TEXT" val="单击添加文档标题"/>
  <p:tag name="KSO_WM_UNIT_ID" val="custom_1*a*1"/>
  <p:tag name="KSO_WM_BEAUTIFY_FLAG" val="#wm#"/>
  <p:tag name="KSO_WM_TAG_VERSION" val="3.0"/>
  <p:tag name="KSO_WM_UNIT_LAYERLEVEL" val="1"/>
  <p:tag name="KSO_WM_TEMPLATE_CATEGORY" val="custom"/>
  <p:tag name="KSO_WM_TEMPLATE_USER_THEME" val="1"/>
  <p:tag name="KSO_WM_UNIT_TYPE_DROP" val="a"/>
</p:tagLst>
</file>

<file path=ppt/tags/tag43.xml><?xml version="1.0" encoding="utf-8"?>
<p:tagLst xmlns:p="http://schemas.openxmlformats.org/presentationml/2006/main">
  <p:tag name="KSO_WM_UNIT_INDEX" val="1"/>
  <p:tag name="KSO_WM_UNIT_SUBTYPE" val=""/>
  <p:tag name="KSO_WM_UNIT_PRESET_TEXT" val="单击此处添加副标题内容"/>
  <p:tag name="KSO_WM_UNIT_ID" val="custom_1*b*1"/>
  <p:tag name="KSO_WM_BEAUTIFY_FLAG" val="#wm#"/>
  <p:tag name="KSO_WM_TAG_VERSION" val="3.0"/>
  <p:tag name="KSO_WM_UNIT_LAYERLEVEL" val="1"/>
  <p:tag name="KSO_WM_TEMPLATE_CATEGORY" val="custom"/>
  <p:tag name="KSO_WM_TEMPLATE_USER_THEME" val="1"/>
  <p:tag name="KSO_WM_UNIT_TYPE_DROP" val="b"/>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1288_9*a*1"/>
  <p:tag name="KSO_WM_TEMPLATE_CATEGORY" val="custom"/>
  <p:tag name="KSO_WM_TEMPLATE_INDEX" val="20231288"/>
  <p:tag name="KSO_WM_UNIT_LAYERLEVEL" val="1"/>
  <p:tag name="KSO_WM_TAG_VERSION" val="3.0"/>
  <p:tag name="KSO_WM_BEAUTIFY_FLAG" val="#wm#"/>
  <p:tag name="KSO_WM_UNIT_ISCONTENTSTITLE" val="0"/>
  <p:tag name="KSO_WM_UNIT_ISNUMDGMTITLE" val="0"/>
  <p:tag name="KSO_WM_UNIT_NOCLEAR" val="1"/>
  <p:tag name="KSO_WM_UNIT_TYPE" val="a"/>
  <p:tag name="KSO_WM_UNIT_INDEX" val="1"/>
</p:tagLst>
</file>

<file path=ppt/tags/tag45.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46.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5_Office 主题​​">
  <a:themeElements>
    <a:clrScheme name="自定义 185">
      <a:dk1>
        <a:srgbClr val="000000"/>
      </a:dk1>
      <a:lt1>
        <a:srgbClr val="FFFFFF"/>
      </a:lt1>
      <a:dk2>
        <a:srgbClr val="4E0054"/>
      </a:dk2>
      <a:lt2>
        <a:srgbClr val="FCEBFF"/>
      </a:lt2>
      <a:accent1>
        <a:srgbClr val="6E58F6"/>
      </a:accent1>
      <a:accent2>
        <a:srgbClr val="4530E1"/>
      </a:accent2>
      <a:accent3>
        <a:srgbClr val="A749E1"/>
      </a:accent3>
      <a:accent4>
        <a:srgbClr val="3B67FF"/>
      </a:accent4>
      <a:accent5>
        <a:srgbClr val="1EA2ED"/>
      </a:accent5>
      <a:accent6>
        <a:srgbClr val="63CC7A"/>
      </a:accent6>
      <a:hlink>
        <a:srgbClr val="304FFE"/>
      </a:hlink>
      <a:folHlink>
        <a:srgbClr val="492067"/>
      </a:folHlink>
    </a:clrScheme>
    <a:fontScheme name="自定义 23">
      <a:majorFont>
        <a:latin typeface="楷体"/>
        <a:ea typeface="楷体"/>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6_Office 主题​​">
  <a:themeElements>
    <a:clrScheme name="自定义 185">
      <a:dk1>
        <a:srgbClr val="000000"/>
      </a:dk1>
      <a:lt1>
        <a:srgbClr val="FFFFFF"/>
      </a:lt1>
      <a:dk2>
        <a:srgbClr val="4E0054"/>
      </a:dk2>
      <a:lt2>
        <a:srgbClr val="FCEBFF"/>
      </a:lt2>
      <a:accent1>
        <a:srgbClr val="6E58F6"/>
      </a:accent1>
      <a:accent2>
        <a:srgbClr val="4530E1"/>
      </a:accent2>
      <a:accent3>
        <a:srgbClr val="A749E1"/>
      </a:accent3>
      <a:accent4>
        <a:srgbClr val="3B67FF"/>
      </a:accent4>
      <a:accent5>
        <a:srgbClr val="1EA2ED"/>
      </a:accent5>
      <a:accent6>
        <a:srgbClr val="63CC7A"/>
      </a:accent6>
      <a:hlink>
        <a:srgbClr val="304FFE"/>
      </a:hlink>
      <a:folHlink>
        <a:srgbClr val="492067"/>
      </a:folHlink>
    </a:clrScheme>
    <a:fontScheme name="自定义 23">
      <a:majorFont>
        <a:latin typeface="楷体"/>
        <a:ea typeface="楷体"/>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9_Office 主题​​">
  <a:themeElements>
    <a:clrScheme name="自定义 185">
      <a:dk1>
        <a:srgbClr val="000000"/>
      </a:dk1>
      <a:lt1>
        <a:srgbClr val="FFFFFF"/>
      </a:lt1>
      <a:dk2>
        <a:srgbClr val="4E0054"/>
      </a:dk2>
      <a:lt2>
        <a:srgbClr val="FCEBFF"/>
      </a:lt2>
      <a:accent1>
        <a:srgbClr val="6E58F6"/>
      </a:accent1>
      <a:accent2>
        <a:srgbClr val="4530E1"/>
      </a:accent2>
      <a:accent3>
        <a:srgbClr val="A749E1"/>
      </a:accent3>
      <a:accent4>
        <a:srgbClr val="3B67FF"/>
      </a:accent4>
      <a:accent5>
        <a:srgbClr val="1EA2ED"/>
      </a:accent5>
      <a:accent6>
        <a:srgbClr val="63CC7A"/>
      </a:accent6>
      <a:hlink>
        <a:srgbClr val="304FFE"/>
      </a:hlink>
      <a:folHlink>
        <a:srgbClr val="492067"/>
      </a:folHlink>
    </a:clrScheme>
    <a:fontScheme name="自定义 23">
      <a:majorFont>
        <a:latin typeface="楷体"/>
        <a:ea typeface="楷体"/>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图形职场办公简约风">
  <a:themeElements>
    <a:clrScheme name="蓝">
      <a:dk1>
        <a:srgbClr val="000000"/>
      </a:dk1>
      <a:lt1>
        <a:srgbClr val="FFFFFF"/>
      </a:lt1>
      <a:dk2>
        <a:srgbClr val="001548"/>
      </a:dk2>
      <a:lt2>
        <a:srgbClr val="F8FAFE"/>
      </a:lt2>
      <a:accent1>
        <a:srgbClr val="88ACF1"/>
      </a:accent1>
      <a:accent2>
        <a:srgbClr val="6F6CE6"/>
      </a:accent2>
      <a:accent3>
        <a:srgbClr val="6CC6E6"/>
      </a:accent3>
      <a:accent4>
        <a:srgbClr val="6CE6D0"/>
      </a:accent4>
      <a:accent5>
        <a:srgbClr val="187CB1"/>
      </a:accent5>
      <a:accent6>
        <a:srgbClr val="3B56F1"/>
      </a:accent6>
      <a:hlink>
        <a:srgbClr val="658BD5"/>
      </a:hlink>
      <a:folHlink>
        <a:srgbClr val="A16AA5"/>
      </a:folHlink>
    </a:clrScheme>
    <a:fontScheme name="Office Classic 2">
      <a:majorFont>
        <a:latin typeface="楷体"/>
        <a:ea typeface=""/>
        <a:cs typeface=""/>
        <a:font script="Jpan" typeface="ＭＳ Ｐゴシック"/>
        <a:font script="Hang" typeface="굴림"/>
        <a:font script="Hans" typeface="楷体"/>
        <a:font script="Hant" typeface="微軟正黑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굴림"/>
        <a:font script="Hans" typeface="楷体"/>
        <a:font script="Hant" typeface="微軟正黑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6005</Words>
  <Application>WPS 演示</Application>
  <PresentationFormat>宽屏</PresentationFormat>
  <Paragraphs>324</Paragraphs>
  <Slides>37</Slides>
  <Notes>4</Notes>
  <HiddenSlides>0</HiddenSlides>
  <MMClips>0</MMClips>
  <ScaleCrop>false</ScaleCrop>
  <HeadingPairs>
    <vt:vector size="6" baseType="variant">
      <vt:variant>
        <vt:lpstr>已用的字体</vt:lpstr>
      </vt:variant>
      <vt:variant>
        <vt:i4>9</vt:i4>
      </vt:variant>
      <vt:variant>
        <vt:lpstr>主题</vt:lpstr>
      </vt:variant>
      <vt:variant>
        <vt:i4>4</vt:i4>
      </vt:variant>
      <vt:variant>
        <vt:lpstr>幻灯片标题</vt:lpstr>
      </vt:variant>
      <vt:variant>
        <vt:i4>37</vt:i4>
      </vt:variant>
    </vt:vector>
  </HeadingPairs>
  <TitlesOfParts>
    <vt:vector size="50" baseType="lpstr">
      <vt:lpstr>Arial</vt:lpstr>
      <vt:lpstr>宋体</vt:lpstr>
      <vt:lpstr>Wingdings</vt:lpstr>
      <vt:lpstr>楷体</vt:lpstr>
      <vt:lpstr>MiSans Bold</vt:lpstr>
      <vt:lpstr>微软雅黑</vt:lpstr>
      <vt:lpstr>Arial Unicode MS</vt:lpstr>
      <vt:lpstr>MiSans Bold</vt:lpstr>
      <vt:lpstr>Segoe Print</vt:lpstr>
      <vt:lpstr>5_Office 主题​​</vt:lpstr>
      <vt:lpstr>6_Office 主题​​</vt:lpstr>
      <vt:lpstr>9_Office 主题​​</vt:lpstr>
      <vt:lpstr>图形职场办公简约风</vt:lpstr>
      <vt:lpstr>判断推理套题4 2023年下半年B类</vt:lpstr>
      <vt:lpstr>题1</vt:lpstr>
      <vt:lpstr>题2</vt:lpstr>
      <vt:lpstr>题3</vt:lpstr>
      <vt:lpstr>题4</vt:lpstr>
      <vt:lpstr>题5</vt:lpstr>
      <vt:lpstr>题6</vt:lpstr>
      <vt:lpstr>题7</vt:lpstr>
      <vt:lpstr>题8</vt:lpstr>
      <vt:lpstr>题9</vt:lpstr>
      <vt:lpstr>题10</vt:lpstr>
      <vt:lpstr>题11</vt:lpstr>
      <vt:lpstr>题12</vt:lpstr>
      <vt:lpstr>题13</vt:lpstr>
      <vt:lpstr>题14</vt:lpstr>
      <vt:lpstr>题15</vt:lpstr>
      <vt:lpstr>题16</vt:lpstr>
      <vt:lpstr>题17</vt:lpstr>
      <vt:lpstr>题18</vt:lpstr>
      <vt:lpstr>题19</vt:lpstr>
      <vt:lpstr>题20</vt:lpstr>
      <vt:lpstr>题21</vt:lpstr>
      <vt:lpstr>题22</vt:lpstr>
      <vt:lpstr>题23</vt:lpstr>
      <vt:lpstr>题24</vt:lpstr>
      <vt:lpstr>题25</vt:lpstr>
      <vt:lpstr>题26</vt:lpstr>
      <vt:lpstr>题27</vt:lpstr>
      <vt:lpstr>题28</vt:lpstr>
      <vt:lpstr>题29</vt:lpstr>
      <vt:lpstr>题30</vt:lpstr>
      <vt:lpstr>题31</vt:lpstr>
      <vt:lpstr>题32</vt:lpstr>
      <vt:lpstr>题33</vt:lpstr>
      <vt:lpstr>题34</vt:lpstr>
      <vt:lpstr>题34</vt:lpstr>
      <vt:lpstr> 感 谢 观 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223</cp:revision>
  <dcterms:created xsi:type="dcterms:W3CDTF">2019-06-19T02:08:00Z</dcterms:created>
  <dcterms:modified xsi:type="dcterms:W3CDTF">2025-11-28T07:41:30Z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