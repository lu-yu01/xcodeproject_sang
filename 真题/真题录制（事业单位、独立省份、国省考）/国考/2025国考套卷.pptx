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6"/>
  </p:handoutMasterIdLst>
  <p:sldIdLst>
    <p:sldId id="2122" r:id="rId3"/>
    <p:sldId id="2322" r:id="rId5"/>
    <p:sldId id="2364" r:id="rId6"/>
    <p:sldId id="2365" r:id="rId7"/>
    <p:sldId id="2366" r:id="rId8"/>
    <p:sldId id="2326" r:id="rId9"/>
    <p:sldId id="2367" r:id="rId10"/>
    <p:sldId id="2368" r:id="rId11"/>
    <p:sldId id="2369" r:id="rId12"/>
    <p:sldId id="2331" r:id="rId13"/>
    <p:sldId id="2370" r:id="rId14"/>
    <p:sldId id="2341" r:id="rId15"/>
    <p:sldId id="2332" r:id="rId16"/>
    <p:sldId id="2372" r:id="rId17"/>
    <p:sldId id="2373" r:id="rId18"/>
    <p:sldId id="2374" r:id="rId19"/>
    <p:sldId id="2375" r:id="rId20"/>
    <p:sldId id="2334" r:id="rId21"/>
    <p:sldId id="2376" r:id="rId22"/>
    <p:sldId id="2377" r:id="rId23"/>
    <p:sldId id="2338" r:id="rId24"/>
    <p:sldId id="2343" r:id="rId25"/>
    <p:sldId id="2385" r:id="rId26"/>
    <p:sldId id="2386" r:id="rId27"/>
    <p:sldId id="2344" r:id="rId28"/>
    <p:sldId id="2387" r:id="rId29"/>
    <p:sldId id="2347" r:id="rId30"/>
    <p:sldId id="2349" r:id="rId31"/>
    <p:sldId id="2391" r:id="rId32"/>
    <p:sldId id="2392" r:id="rId33"/>
    <p:sldId id="2393" r:id="rId34"/>
    <p:sldId id="2353" r:id="rId35"/>
    <p:sldId id="2352" r:id="rId36"/>
    <p:sldId id="2355" r:id="rId37"/>
    <p:sldId id="2354" r:id="rId38"/>
    <p:sldId id="2356" r:id="rId39"/>
    <p:sldId id="2405" r:id="rId40"/>
    <p:sldId id="2406" r:id="rId41"/>
    <p:sldId id="2358" r:id="rId42"/>
    <p:sldId id="2397" r:id="rId43"/>
    <p:sldId id="2359" r:id="rId44"/>
    <p:sldId id="2398" r:id="rId45"/>
    <p:sldId id="2362" r:id="rId46"/>
    <p:sldId id="2399" r:id="rId47"/>
    <p:sldId id="2363" r:id="rId48"/>
    <p:sldId id="2378" r:id="rId49"/>
    <p:sldId id="2379" r:id="rId50"/>
    <p:sldId id="2380" r:id="rId51"/>
    <p:sldId id="2408" r:id="rId52"/>
    <p:sldId id="2384" r:id="rId53"/>
    <p:sldId id="2382" r:id="rId54"/>
    <p:sldId id="2409" r:id="rId55"/>
    <p:sldId id="2388" r:id="rId56"/>
    <p:sldId id="2414" r:id="rId57"/>
    <p:sldId id="2415" r:id="rId58"/>
    <p:sldId id="2395" r:id="rId59"/>
    <p:sldId id="2416" r:id="rId60"/>
    <p:sldId id="2394" r:id="rId61"/>
    <p:sldId id="2417" r:id="rId62"/>
    <p:sldId id="2418" r:id="rId63"/>
    <p:sldId id="2419" r:id="rId64"/>
    <p:sldId id="2212" r:id="rId65"/>
    <p:sldId id="2404" r:id="rId66"/>
    <p:sldId id="2400" r:id="rId67"/>
    <p:sldId id="2401" r:id="rId68"/>
    <p:sldId id="2402" r:id="rId69"/>
    <p:sldId id="2410" r:id="rId70"/>
    <p:sldId id="2411" r:id="rId71"/>
    <p:sldId id="2412" r:id="rId72"/>
    <p:sldId id="2413" r:id="rId73"/>
    <p:sldId id="2420" r:id="rId74"/>
    <p:sldId id="2407" r:id="rId75"/>
  </p:sldIdLst>
  <p:sldSz cx="12192000" cy="6858000"/>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9" userDrawn="1">
          <p15:clr>
            <a:srgbClr val="A4A3A4"/>
          </p15:clr>
        </p15:guide>
        <p15:guide id="2" pos="39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9"/>
        <p:guide pos="39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gs" Target="tags/tag102.xml"/><Relationship Id="rId80" Type="http://schemas.openxmlformats.org/officeDocument/2006/relationships/commentAuthors" Target="commentAuthors.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解析：本题属于样式类，主要考查对称性。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题干图形均明显存在最大面，且最大面均为轴对称图形，只有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元素组成相同，优先考虑位置规律。如下图所示，在正方形外框上标记</a:t>
            </a:r>
            <a:r>
              <a:rPr lang="en-US" altLang="zh-CN" sz="1200" kern="1200" dirty="0">
                <a:solidFill>
                  <a:schemeClr val="tx1"/>
                </a:solidFill>
                <a:effectLst/>
                <a:latin typeface="+mn-lt"/>
              </a:rPr>
              <a:t>8</a:t>
            </a:r>
            <a:r>
              <a:rPr lang="zh-CN" altLang="en-US" sz="1200" kern="1200" dirty="0">
                <a:solidFill>
                  <a:schemeClr val="tx1"/>
                </a:solidFill>
                <a:effectLst/>
                <a:latin typeface="+mn-lt"/>
              </a:rPr>
              <a:t>个位置，观察发现，圆形每次顺时针移动</a:t>
            </a:r>
            <a:r>
              <a:rPr lang="en-US" altLang="zh-CN" sz="1200" kern="1200" dirty="0">
                <a:solidFill>
                  <a:schemeClr val="tx1"/>
                </a:solidFill>
                <a:effectLst/>
                <a:latin typeface="+mn-lt"/>
              </a:rPr>
              <a:t>3</a:t>
            </a:r>
            <a:r>
              <a:rPr lang="zh-CN" altLang="en-US" sz="1200" kern="1200" dirty="0">
                <a:solidFill>
                  <a:schemeClr val="tx1"/>
                </a:solidFill>
                <a:effectLst/>
                <a:latin typeface="+mn-lt"/>
              </a:rPr>
              <a:t>步，方块每次逆时针移动</a:t>
            </a:r>
            <a:r>
              <a:rPr lang="en-US" altLang="zh-CN" sz="1200" kern="1200" dirty="0">
                <a:solidFill>
                  <a:schemeClr val="tx1"/>
                </a:solidFill>
                <a:effectLst/>
                <a:latin typeface="+mn-lt"/>
              </a:rPr>
              <a:t>3</a:t>
            </a:r>
            <a:r>
              <a:rPr lang="zh-CN" altLang="en-US" sz="1200" kern="1200" dirty="0">
                <a:solidFill>
                  <a:schemeClr val="tx1"/>
                </a:solidFill>
                <a:effectLst/>
                <a:latin typeface="+mn-lt"/>
              </a:rPr>
              <a:t>步，只有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观察题干图形，整体无规律，通过相邻比较发现，图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只有第一行黑块位置不同（第一行黑白块颜色互换），其他四行黑块位置相同；图</a:t>
            </a:r>
            <a:r>
              <a:rPr lang="en-US" altLang="zh-CN" sz="1200" kern="1200" dirty="0">
                <a:solidFill>
                  <a:schemeClr val="tx1"/>
                </a:solidFill>
                <a:effectLst/>
                <a:latin typeface="+mn-lt"/>
              </a:rPr>
              <a:t>2</a:t>
            </a:r>
            <a:r>
              <a:rPr lang="zh-CN" altLang="en-US" sz="1200" kern="1200" dirty="0">
                <a:solidFill>
                  <a:schemeClr val="tx1"/>
                </a:solidFill>
                <a:effectLst/>
                <a:latin typeface="+mn-lt"/>
              </a:rPr>
              <a:t>和图</a:t>
            </a:r>
            <a:r>
              <a:rPr lang="en-US" altLang="zh-CN" sz="1200" kern="1200" dirty="0">
                <a:solidFill>
                  <a:schemeClr val="tx1"/>
                </a:solidFill>
                <a:effectLst/>
                <a:latin typeface="+mn-lt"/>
              </a:rPr>
              <a:t>3</a:t>
            </a:r>
            <a:r>
              <a:rPr lang="zh-CN" altLang="en-US" sz="1200" kern="1200" dirty="0">
                <a:solidFill>
                  <a:schemeClr val="tx1"/>
                </a:solidFill>
                <a:effectLst/>
                <a:latin typeface="+mn-lt"/>
              </a:rPr>
              <a:t>只有第二行黑块位置不同（第二行黑白块颜色互换），其他四行黑块位置相同；图</a:t>
            </a:r>
            <a:r>
              <a:rPr lang="en-US" altLang="zh-CN" sz="1200" kern="1200" dirty="0">
                <a:solidFill>
                  <a:schemeClr val="tx1"/>
                </a:solidFill>
                <a:effectLst/>
                <a:latin typeface="+mn-lt"/>
              </a:rPr>
              <a:t>3</a:t>
            </a:r>
            <a:r>
              <a:rPr lang="zh-CN" altLang="en-US" sz="1200" kern="1200" dirty="0">
                <a:solidFill>
                  <a:schemeClr val="tx1"/>
                </a:solidFill>
                <a:effectLst/>
                <a:latin typeface="+mn-lt"/>
              </a:rPr>
              <a:t>和图</a:t>
            </a:r>
            <a:r>
              <a:rPr lang="en-US" altLang="zh-CN" sz="1200" kern="1200" dirty="0">
                <a:solidFill>
                  <a:schemeClr val="tx1"/>
                </a:solidFill>
                <a:effectLst/>
                <a:latin typeface="+mn-lt"/>
              </a:rPr>
              <a:t>4</a:t>
            </a:r>
            <a:r>
              <a:rPr lang="zh-CN" altLang="en-US" sz="1200" kern="1200" dirty="0">
                <a:solidFill>
                  <a:schemeClr val="tx1"/>
                </a:solidFill>
                <a:effectLst/>
                <a:latin typeface="+mn-lt"/>
              </a:rPr>
              <a:t>只有第三行黑块位置不同（第三行黑白块颜色互换），其他四行黑块位置相同；图</a:t>
            </a:r>
            <a:r>
              <a:rPr lang="en-US" altLang="zh-CN" sz="1200" kern="1200" dirty="0">
                <a:solidFill>
                  <a:schemeClr val="tx1"/>
                </a:solidFill>
                <a:effectLst/>
                <a:latin typeface="+mn-lt"/>
              </a:rPr>
              <a:t>4</a:t>
            </a:r>
            <a:r>
              <a:rPr lang="zh-CN" altLang="en-US" sz="1200" kern="1200" dirty="0">
                <a:solidFill>
                  <a:schemeClr val="tx1"/>
                </a:solidFill>
                <a:effectLst/>
                <a:latin typeface="+mn-lt"/>
              </a:rPr>
              <a:t>和图</a:t>
            </a:r>
            <a:r>
              <a:rPr lang="en-US" altLang="zh-CN" sz="1200" kern="1200" dirty="0">
                <a:solidFill>
                  <a:schemeClr val="tx1"/>
                </a:solidFill>
                <a:effectLst/>
                <a:latin typeface="+mn-lt"/>
              </a:rPr>
              <a:t>5</a:t>
            </a:r>
            <a:r>
              <a:rPr lang="zh-CN" altLang="en-US" sz="1200" kern="1200" dirty="0">
                <a:solidFill>
                  <a:schemeClr val="tx1"/>
                </a:solidFill>
                <a:effectLst/>
                <a:latin typeface="+mn-lt"/>
              </a:rPr>
              <a:t>只有第四行黑块位置不同（第四行黑白块颜色互换），其他四行黑块位置相同，以此类推，？处应该选择一个和图</a:t>
            </a:r>
            <a:r>
              <a:rPr lang="en-US" altLang="zh-CN" sz="1200" kern="1200" dirty="0">
                <a:solidFill>
                  <a:schemeClr val="tx1"/>
                </a:solidFill>
                <a:effectLst/>
                <a:latin typeface="+mn-lt"/>
              </a:rPr>
              <a:t>5</a:t>
            </a:r>
            <a:r>
              <a:rPr lang="zh-CN" altLang="en-US" sz="1200" kern="1200" dirty="0">
                <a:solidFill>
                  <a:schemeClr val="tx1"/>
                </a:solidFill>
                <a:effectLst/>
                <a:latin typeface="+mn-lt"/>
              </a:rPr>
              <a:t>只有第五行黑块位置不同（第五行黑白块颜色互换），其他四行黑块位置相同的图形，只有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元素组成不同，且无明显属性规律，考虑数量规律。观察发现，题干第一组图形均是由</a:t>
            </a:r>
            <a:r>
              <a:rPr lang="en-US" altLang="zh-CN" sz="1200" kern="1200" dirty="0">
                <a:solidFill>
                  <a:schemeClr val="tx1"/>
                </a:solidFill>
                <a:effectLst/>
                <a:latin typeface="+mn-lt"/>
              </a:rPr>
              <a:t>3</a:t>
            </a:r>
            <a:r>
              <a:rPr lang="zh-CN" altLang="en-US" sz="1200" kern="1200" dirty="0">
                <a:solidFill>
                  <a:schemeClr val="tx1"/>
                </a:solidFill>
                <a:effectLst/>
                <a:latin typeface="+mn-lt"/>
              </a:rPr>
              <a:t>条线段组成的两个图形相交在一起，且相交线段的位置均在图形的一端；第二组图形中的前两幅图形均是由</a:t>
            </a:r>
            <a:r>
              <a:rPr lang="en-US" altLang="zh-CN" sz="1200" kern="1200" dirty="0">
                <a:solidFill>
                  <a:schemeClr val="tx1"/>
                </a:solidFill>
                <a:effectLst/>
                <a:latin typeface="+mn-lt"/>
              </a:rPr>
              <a:t>3</a:t>
            </a:r>
            <a:r>
              <a:rPr lang="zh-CN" altLang="en-US" sz="1200" kern="1200" dirty="0">
                <a:solidFill>
                  <a:schemeClr val="tx1"/>
                </a:solidFill>
                <a:effectLst/>
                <a:latin typeface="+mn-lt"/>
              </a:rPr>
              <a:t>条线段组成的两个图形相交在一起，且相交线段的位置均在图形的中间线段处，只有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解析：本题考查属于重构类，主要考查截面图。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根据平面公理</a:t>
            </a:r>
            <a:r>
              <a:rPr lang="en-US" altLang="zh-CN" sz="1200" kern="1200" dirty="0">
                <a:solidFill>
                  <a:schemeClr val="tx1"/>
                </a:solidFill>
                <a:effectLst/>
                <a:latin typeface="+mn-lt"/>
              </a:rPr>
              <a:t>“</a:t>
            </a:r>
            <a:r>
              <a:rPr lang="zh-CN" altLang="en-US" sz="1200" kern="1200" dirty="0">
                <a:solidFill>
                  <a:schemeClr val="tx1"/>
                </a:solidFill>
                <a:effectLst/>
                <a:latin typeface="+mn-lt"/>
              </a:rPr>
              <a:t>过不在一条直线上的三点，有且只有一个平面</a:t>
            </a:r>
            <a:r>
              <a:rPr lang="en-US" altLang="zh-CN" sz="1200" kern="1200" dirty="0">
                <a:solidFill>
                  <a:schemeClr val="tx1"/>
                </a:solidFill>
                <a:effectLst/>
                <a:latin typeface="+mn-lt"/>
              </a:rPr>
              <a:t>”</a:t>
            </a:r>
            <a:r>
              <a:rPr lang="zh-CN" altLang="en-US" sz="1200" kern="1200" dirty="0">
                <a:solidFill>
                  <a:schemeClr val="tx1"/>
                </a:solidFill>
                <a:effectLst/>
                <a:latin typeface="+mn-lt"/>
              </a:rPr>
              <a:t>可以得出，经过</a:t>
            </a:r>
            <a:r>
              <a:rPr lang="en-US" altLang="zh-CN" sz="1200" kern="1200" dirty="0">
                <a:solidFill>
                  <a:schemeClr val="tx1"/>
                </a:solidFill>
                <a:effectLst/>
                <a:latin typeface="+mn-lt"/>
              </a:rPr>
              <a:t>P</a:t>
            </a:r>
            <a:r>
              <a:rPr lang="zh-CN" altLang="en-US" sz="1200" kern="1200" dirty="0">
                <a:solidFill>
                  <a:schemeClr val="tx1"/>
                </a:solidFill>
                <a:effectLst/>
                <a:latin typeface="+mn-lt"/>
              </a:rPr>
              <a:t>、</a:t>
            </a:r>
            <a:r>
              <a:rPr lang="en-US" altLang="zh-CN" sz="1200" kern="1200" dirty="0">
                <a:solidFill>
                  <a:schemeClr val="tx1"/>
                </a:solidFill>
                <a:effectLst/>
                <a:latin typeface="+mn-lt"/>
              </a:rPr>
              <a:t>Q</a:t>
            </a:r>
            <a:r>
              <a:rPr lang="zh-CN" altLang="en-US" sz="1200" kern="1200" dirty="0">
                <a:solidFill>
                  <a:schemeClr val="tx1"/>
                </a:solidFill>
                <a:effectLst/>
                <a:latin typeface="+mn-lt"/>
              </a:rPr>
              <a:t>、</a:t>
            </a:r>
            <a:r>
              <a:rPr lang="en-US" altLang="zh-CN" sz="1200" kern="1200" dirty="0">
                <a:solidFill>
                  <a:schemeClr val="tx1"/>
                </a:solidFill>
                <a:effectLst/>
                <a:latin typeface="+mn-lt"/>
              </a:rPr>
              <a:t>R</a:t>
            </a:r>
            <a:r>
              <a:rPr lang="zh-CN" altLang="en-US" sz="1200" kern="1200" dirty="0">
                <a:solidFill>
                  <a:schemeClr val="tx1"/>
                </a:solidFill>
                <a:effectLst/>
                <a:latin typeface="+mn-lt"/>
              </a:rPr>
              <a:t>三点可以确定的唯一切面（即截面），即为</a:t>
            </a:r>
            <a:r>
              <a:rPr lang="en-US" altLang="zh-CN" sz="1200" kern="1200" dirty="0">
                <a:solidFill>
                  <a:schemeClr val="tx1"/>
                </a:solidFill>
                <a:effectLst/>
                <a:latin typeface="+mn-lt"/>
              </a:rPr>
              <a:t>A</a:t>
            </a:r>
            <a:r>
              <a:rPr lang="zh-CN" altLang="en-US" sz="1200" kern="1200" dirty="0">
                <a:solidFill>
                  <a:schemeClr val="tx1"/>
                </a:solidFill>
                <a:effectLst/>
                <a:latin typeface="+mn-lt"/>
              </a:rPr>
              <a:t>项，如下图所示：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本题为空间重构题，可以通过公共边进行判断，由构成直角的两条边为公共边可知，公共边两侧对应的黑白块颜色应相同，逐一进行分析。</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项：公共边</a:t>
            </a:r>
            <a:r>
              <a:rPr lang="en-US" altLang="en-US" sz="1200" kern="1200" dirty="0">
                <a:solidFill>
                  <a:schemeClr val="tx1"/>
                </a:solidFill>
                <a:effectLst/>
                <a:latin typeface="+mn-lt"/>
              </a:rPr>
              <a:t>①</a:t>
            </a:r>
            <a:r>
              <a:rPr lang="zh-CN" altLang="en-US" sz="1200" kern="1200" dirty="0">
                <a:solidFill>
                  <a:schemeClr val="tx1"/>
                </a:solidFill>
                <a:effectLst/>
                <a:latin typeface="+mn-lt"/>
              </a:rPr>
              <a:t>和</a:t>
            </a:r>
            <a:r>
              <a:rPr lang="en-US" altLang="en-US" sz="1200" kern="1200" dirty="0">
                <a:solidFill>
                  <a:schemeClr val="tx1"/>
                </a:solidFill>
                <a:effectLst/>
                <a:latin typeface="+mn-lt"/>
              </a:rPr>
              <a:t>②</a:t>
            </a:r>
            <a:r>
              <a:rPr lang="zh-CN" altLang="en-US" sz="1200" kern="1200" dirty="0">
                <a:solidFill>
                  <a:schemeClr val="tx1"/>
                </a:solidFill>
                <a:effectLst/>
                <a:latin typeface="+mn-lt"/>
              </a:rPr>
              <a:t>两侧黑白块颜色不同，选项与题干不一致，排除；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项：公共边</a:t>
            </a:r>
            <a:r>
              <a:rPr lang="en-US" altLang="en-US" sz="1200" kern="1200" dirty="0">
                <a:solidFill>
                  <a:schemeClr val="tx1"/>
                </a:solidFill>
                <a:effectLst/>
                <a:latin typeface="+mn-lt"/>
              </a:rPr>
              <a:t>①</a:t>
            </a:r>
            <a:r>
              <a:rPr lang="zh-CN" altLang="en-US" sz="1200" kern="1200" dirty="0">
                <a:solidFill>
                  <a:schemeClr val="tx1"/>
                </a:solidFill>
                <a:effectLst/>
                <a:latin typeface="+mn-lt"/>
              </a:rPr>
              <a:t>和</a:t>
            </a:r>
            <a:r>
              <a:rPr lang="en-US" altLang="en-US" sz="1200" kern="1200" dirty="0">
                <a:solidFill>
                  <a:schemeClr val="tx1"/>
                </a:solidFill>
                <a:effectLst/>
                <a:latin typeface="+mn-lt"/>
              </a:rPr>
              <a:t>②</a:t>
            </a:r>
            <a:r>
              <a:rPr lang="zh-CN" altLang="en-US" sz="1200" kern="1200" dirty="0">
                <a:solidFill>
                  <a:schemeClr val="tx1"/>
                </a:solidFill>
                <a:effectLst/>
                <a:latin typeface="+mn-lt"/>
              </a:rPr>
              <a:t>两侧黑白块颜色不同，选项与题干不一致，排除；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项：公共边</a:t>
            </a:r>
            <a:r>
              <a:rPr lang="en-US" altLang="en-US" sz="1200" kern="1200" dirty="0">
                <a:solidFill>
                  <a:schemeClr val="tx1"/>
                </a:solidFill>
                <a:effectLst/>
                <a:latin typeface="+mn-lt"/>
              </a:rPr>
              <a:t>①</a:t>
            </a:r>
            <a:r>
              <a:rPr lang="zh-CN" altLang="en-US" sz="1200" kern="1200" dirty="0">
                <a:solidFill>
                  <a:schemeClr val="tx1"/>
                </a:solidFill>
                <a:effectLst/>
                <a:latin typeface="+mn-lt"/>
              </a:rPr>
              <a:t>和</a:t>
            </a:r>
            <a:r>
              <a:rPr lang="en-US" altLang="en-US" sz="1200" kern="1200" dirty="0">
                <a:solidFill>
                  <a:schemeClr val="tx1"/>
                </a:solidFill>
                <a:effectLst/>
                <a:latin typeface="+mn-lt"/>
              </a:rPr>
              <a:t>②</a:t>
            </a:r>
            <a:r>
              <a:rPr lang="zh-CN" altLang="en-US" sz="1200" kern="1200" dirty="0">
                <a:solidFill>
                  <a:schemeClr val="tx1"/>
                </a:solidFill>
                <a:effectLst/>
                <a:latin typeface="+mn-lt"/>
              </a:rPr>
              <a:t>、</a:t>
            </a:r>
            <a:r>
              <a:rPr lang="en-US" altLang="en-US" sz="1200" kern="1200" dirty="0">
                <a:solidFill>
                  <a:schemeClr val="tx1"/>
                </a:solidFill>
                <a:effectLst/>
                <a:latin typeface="+mn-lt"/>
              </a:rPr>
              <a:t>③</a:t>
            </a:r>
            <a:r>
              <a:rPr lang="zh-CN" altLang="en-US" sz="1200" kern="1200" dirty="0">
                <a:solidFill>
                  <a:schemeClr val="tx1"/>
                </a:solidFill>
                <a:effectLst/>
                <a:latin typeface="+mn-lt"/>
              </a:rPr>
              <a:t>和</a:t>
            </a:r>
            <a:r>
              <a:rPr lang="en-US" altLang="en-US" sz="1200" kern="1200" dirty="0">
                <a:solidFill>
                  <a:schemeClr val="tx1"/>
                </a:solidFill>
                <a:effectLst/>
                <a:latin typeface="+mn-lt"/>
              </a:rPr>
              <a:t>④</a:t>
            </a:r>
            <a:r>
              <a:rPr lang="zh-CN" altLang="en-US" sz="1200" kern="1200" dirty="0">
                <a:solidFill>
                  <a:schemeClr val="tx1"/>
                </a:solidFill>
                <a:effectLst/>
                <a:latin typeface="+mn-lt"/>
              </a:rPr>
              <a:t>两侧黑白块颜色不同，选项与题干不一致，排除；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项：公共边</a:t>
            </a:r>
            <a:r>
              <a:rPr lang="en-US" altLang="en-US" sz="1200" kern="1200" dirty="0">
                <a:solidFill>
                  <a:schemeClr val="tx1"/>
                </a:solidFill>
                <a:effectLst/>
                <a:latin typeface="+mn-lt"/>
              </a:rPr>
              <a:t>①</a:t>
            </a:r>
            <a:r>
              <a:rPr lang="zh-CN" altLang="en-US" sz="1200" kern="1200" dirty="0">
                <a:solidFill>
                  <a:schemeClr val="tx1"/>
                </a:solidFill>
                <a:effectLst/>
                <a:latin typeface="+mn-lt"/>
              </a:rPr>
              <a:t>和</a:t>
            </a:r>
            <a:r>
              <a:rPr lang="en-US" altLang="en-US" sz="1200" kern="1200" dirty="0">
                <a:solidFill>
                  <a:schemeClr val="tx1"/>
                </a:solidFill>
                <a:effectLst/>
                <a:latin typeface="+mn-lt"/>
              </a:rPr>
              <a:t>②</a:t>
            </a:r>
            <a:r>
              <a:rPr lang="zh-CN" altLang="en-US" sz="1200" kern="1200" dirty="0">
                <a:solidFill>
                  <a:schemeClr val="tx1"/>
                </a:solidFill>
                <a:effectLst/>
                <a:latin typeface="+mn-lt"/>
              </a:rPr>
              <a:t>、</a:t>
            </a:r>
            <a:r>
              <a:rPr lang="en-US" altLang="en-US" sz="1200" kern="1200" dirty="0">
                <a:solidFill>
                  <a:schemeClr val="tx1"/>
                </a:solidFill>
                <a:effectLst/>
                <a:latin typeface="+mn-lt"/>
              </a:rPr>
              <a:t>③</a:t>
            </a:r>
            <a:r>
              <a:rPr lang="zh-CN" altLang="en-US" sz="1200" kern="1200" dirty="0">
                <a:solidFill>
                  <a:schemeClr val="tx1"/>
                </a:solidFill>
                <a:effectLst/>
                <a:latin typeface="+mn-lt"/>
              </a:rPr>
              <a:t>和</a:t>
            </a:r>
            <a:r>
              <a:rPr lang="en-US" altLang="en-US" sz="1200" kern="1200" dirty="0">
                <a:solidFill>
                  <a:schemeClr val="tx1"/>
                </a:solidFill>
                <a:effectLst/>
                <a:latin typeface="+mn-lt"/>
              </a:rPr>
              <a:t>④</a:t>
            </a:r>
            <a:r>
              <a:rPr lang="zh-CN" altLang="en-US" sz="1200" kern="1200" dirty="0">
                <a:solidFill>
                  <a:schemeClr val="tx1"/>
                </a:solidFill>
                <a:effectLst/>
                <a:latin typeface="+mn-lt"/>
              </a:rPr>
              <a:t>、</a:t>
            </a:r>
            <a:r>
              <a:rPr lang="en-US" altLang="en-US" sz="1200" kern="1200" dirty="0">
                <a:solidFill>
                  <a:schemeClr val="tx1"/>
                </a:solidFill>
                <a:effectLst/>
                <a:latin typeface="+mn-lt"/>
              </a:rPr>
              <a:t>⑤</a:t>
            </a:r>
            <a:r>
              <a:rPr lang="zh-CN" altLang="en-US" sz="1200" kern="1200" dirty="0">
                <a:solidFill>
                  <a:schemeClr val="tx1"/>
                </a:solidFill>
                <a:effectLst/>
                <a:latin typeface="+mn-lt"/>
              </a:rPr>
              <a:t>和</a:t>
            </a:r>
            <a:r>
              <a:rPr lang="en-US" altLang="en-US" sz="1200" kern="1200" dirty="0">
                <a:solidFill>
                  <a:schemeClr val="tx1"/>
                </a:solidFill>
                <a:effectLst/>
                <a:latin typeface="+mn-lt"/>
              </a:rPr>
              <a:t>⑥</a:t>
            </a:r>
            <a:r>
              <a:rPr lang="zh-CN" altLang="en-US" sz="1200" kern="1200" dirty="0">
                <a:solidFill>
                  <a:schemeClr val="tx1"/>
                </a:solidFill>
                <a:effectLst/>
                <a:latin typeface="+mn-lt"/>
              </a:rPr>
              <a:t>两侧黑白块颜色均相同，选项与题干一致，当选。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本题考查立体拼合。题干立体图形可以由</a:t>
            </a:r>
            <a:r>
              <a:rPr lang="en-US" altLang="en-US" sz="1200" kern="1200" dirty="0">
                <a:solidFill>
                  <a:schemeClr val="tx1"/>
                </a:solidFill>
                <a:effectLst/>
                <a:latin typeface="+mn-lt"/>
              </a:rPr>
              <a:t>①</a:t>
            </a:r>
            <a:r>
              <a:rPr lang="zh-CN" altLang="en-US" sz="1200" kern="1200" dirty="0">
                <a:solidFill>
                  <a:schemeClr val="tx1"/>
                </a:solidFill>
                <a:effectLst/>
                <a:latin typeface="+mn-lt"/>
              </a:rPr>
              <a:t>、</a:t>
            </a:r>
            <a:r>
              <a:rPr lang="en-US" altLang="en-US" sz="1200" kern="1200" dirty="0">
                <a:solidFill>
                  <a:schemeClr val="tx1"/>
                </a:solidFill>
                <a:effectLst/>
                <a:latin typeface="+mn-lt"/>
              </a:rPr>
              <a:t>②</a:t>
            </a:r>
            <a:r>
              <a:rPr lang="zh-CN" altLang="en-US" sz="1200" kern="1200" dirty="0">
                <a:solidFill>
                  <a:schemeClr val="tx1"/>
                </a:solidFill>
                <a:effectLst/>
                <a:latin typeface="+mn-lt"/>
              </a:rPr>
              <a:t>以及</a:t>
            </a:r>
            <a:r>
              <a:rPr lang="en-US" altLang="zh-CN" sz="1200" kern="1200" dirty="0">
                <a:solidFill>
                  <a:schemeClr val="tx1"/>
                </a:solidFill>
                <a:effectLst/>
                <a:latin typeface="+mn-lt"/>
              </a:rPr>
              <a:t>B</a:t>
            </a:r>
            <a:r>
              <a:rPr lang="zh-CN" altLang="en-US" sz="1200" kern="1200" dirty="0">
                <a:solidFill>
                  <a:schemeClr val="tx1"/>
                </a:solidFill>
                <a:effectLst/>
                <a:latin typeface="+mn-lt"/>
              </a:rPr>
              <a:t>项旋转后拼合而成，如下图所示：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本题为分组分类题目。元素组成相同，且无明显位置规律，考虑属性规律。观察发现，题干图形均由黑球和白球构成，且黑球分布较为规整，考虑对称性。题干图形的黑球部分均为轴对称图形，且图</a:t>
            </a:r>
            <a:r>
              <a:rPr lang="en-US" altLang="en-US" sz="1200" kern="1200" dirty="0">
                <a:solidFill>
                  <a:schemeClr val="tx1"/>
                </a:solidFill>
                <a:effectLst/>
                <a:latin typeface="+mn-lt"/>
              </a:rPr>
              <a:t>①②④</a:t>
            </a:r>
            <a:r>
              <a:rPr lang="zh-CN" altLang="en-US" sz="1200" kern="1200" dirty="0">
                <a:solidFill>
                  <a:schemeClr val="tx1"/>
                </a:solidFill>
                <a:effectLst/>
                <a:latin typeface="+mn-lt"/>
              </a:rPr>
              <a:t>的对称轴均经过四个黑球，图</a:t>
            </a:r>
            <a:r>
              <a:rPr lang="en-US" altLang="en-US" sz="1200" kern="1200" dirty="0">
                <a:solidFill>
                  <a:schemeClr val="tx1"/>
                </a:solidFill>
                <a:effectLst/>
                <a:latin typeface="+mn-lt"/>
              </a:rPr>
              <a:t>③⑤⑥</a:t>
            </a:r>
            <a:r>
              <a:rPr lang="zh-CN" altLang="en-US" sz="1200" kern="1200" dirty="0">
                <a:solidFill>
                  <a:schemeClr val="tx1"/>
                </a:solidFill>
                <a:effectLst/>
                <a:latin typeface="+mn-lt"/>
              </a:rPr>
              <a:t>的对称轴均经过两个黑球，即图</a:t>
            </a:r>
            <a:r>
              <a:rPr lang="en-US" altLang="en-US" sz="1200" kern="1200" dirty="0">
                <a:solidFill>
                  <a:schemeClr val="tx1"/>
                </a:solidFill>
                <a:effectLst/>
                <a:latin typeface="+mn-lt"/>
              </a:rPr>
              <a:t>①②④</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③⑤⑥</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本题为分组分类题目。题干每幅图形均由多个面和一个黑块拼接而成，考虑图形间关系。观察发现，图</a:t>
            </a:r>
            <a:r>
              <a:rPr lang="en-US" altLang="en-US" sz="1200" kern="1200" dirty="0">
                <a:solidFill>
                  <a:schemeClr val="tx1"/>
                </a:solidFill>
                <a:effectLst/>
                <a:latin typeface="+mn-lt"/>
              </a:rPr>
              <a:t>①②⑥</a:t>
            </a:r>
            <a:r>
              <a:rPr lang="zh-CN" altLang="en-US" sz="1200" kern="1200" dirty="0">
                <a:solidFill>
                  <a:schemeClr val="tx1"/>
                </a:solidFill>
                <a:effectLst/>
                <a:latin typeface="+mn-lt"/>
              </a:rPr>
              <a:t>中黑块与图形外框均有</a:t>
            </a:r>
            <a:r>
              <a:rPr lang="en-US" altLang="zh-CN" sz="1200" kern="1200" dirty="0">
                <a:solidFill>
                  <a:schemeClr val="tx1"/>
                </a:solidFill>
                <a:effectLst/>
                <a:latin typeface="+mn-lt"/>
              </a:rPr>
              <a:t>1</a:t>
            </a:r>
            <a:r>
              <a:rPr lang="zh-CN" altLang="en-US" sz="1200" kern="1200" dirty="0">
                <a:solidFill>
                  <a:schemeClr val="tx1"/>
                </a:solidFill>
                <a:effectLst/>
                <a:latin typeface="+mn-lt"/>
              </a:rPr>
              <a:t>条公共边，图</a:t>
            </a:r>
            <a:r>
              <a:rPr lang="en-US" altLang="en-US" sz="1200" kern="1200" dirty="0">
                <a:solidFill>
                  <a:schemeClr val="tx1"/>
                </a:solidFill>
                <a:effectLst/>
                <a:latin typeface="+mn-lt"/>
              </a:rPr>
              <a:t>③④⑤</a:t>
            </a:r>
            <a:r>
              <a:rPr lang="zh-CN" altLang="en-US" sz="1200" kern="1200" dirty="0">
                <a:solidFill>
                  <a:schemeClr val="tx1"/>
                </a:solidFill>
                <a:effectLst/>
                <a:latin typeface="+mn-lt"/>
              </a:rPr>
              <a:t>中黑块与图形外框均没有公共边，即图</a:t>
            </a:r>
            <a:r>
              <a:rPr lang="en-US" altLang="en-US" sz="1200" kern="1200" dirty="0">
                <a:solidFill>
                  <a:schemeClr val="tx1"/>
                </a:solidFill>
                <a:effectLst/>
                <a:latin typeface="+mn-lt"/>
              </a:rPr>
              <a:t>①②⑥</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③④⑤</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③</a:t>
            </a:r>
            <a:r>
              <a:rPr lang="zh-CN" altLang="en-US" sz="1200" kern="1200" dirty="0">
                <a:solidFill>
                  <a:schemeClr val="tx1"/>
                </a:solidFill>
                <a:effectLst/>
                <a:latin typeface="+mn-lt"/>
              </a:rPr>
              <a:t>为多端点图形，考虑笔画数。图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均为一笔画图形，图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均为两笔画图形。即图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利用遥感、遥测技术，对一个国家或地区土地利用状况的动态变化进行定期或不定期的监视和测定</a:t>
            </a:r>
            <a:r>
              <a:rPr lang="en-US" altLang="zh-CN" sz="1200" kern="1200" dirty="0">
                <a:solidFill>
                  <a:schemeClr val="tx1"/>
                </a:solidFill>
                <a:effectLst/>
                <a:latin typeface="+mn-lt"/>
              </a:rPr>
              <a:t>”“</a:t>
            </a:r>
            <a:r>
              <a:rPr lang="zh-CN" altLang="en-US" sz="1200" kern="1200" dirty="0">
                <a:solidFill>
                  <a:schemeClr val="tx1"/>
                </a:solidFill>
                <a:effectLst/>
                <a:latin typeface="+mn-lt"/>
              </a:rPr>
              <a:t>目的在于为国家和地区有关部门提供准确的土地利用变化情况，及时进行土地利用数据更新与对比分析，以便编制土地利用变化图解等</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项：该项说的是通过遥感技术获得了土地变化的类型、位置和数量，即通过遥感技术获得土地利用情况，符合</a:t>
            </a:r>
            <a:r>
              <a:rPr lang="en-US" altLang="zh-CN" sz="1200" kern="1200" dirty="0">
                <a:solidFill>
                  <a:schemeClr val="tx1"/>
                </a:solidFill>
                <a:effectLst/>
                <a:latin typeface="+mn-lt"/>
              </a:rPr>
              <a:t>“</a:t>
            </a:r>
            <a:r>
              <a:rPr lang="zh-CN" altLang="en-US" sz="1200" kern="1200" dirty="0">
                <a:solidFill>
                  <a:schemeClr val="tx1"/>
                </a:solidFill>
                <a:effectLst/>
                <a:latin typeface="+mn-lt"/>
              </a:rPr>
              <a:t>利用遥感、遥测技术，对一个国家或地区土地利用状况的动态变化进行定期或不定期的监视和测定</a:t>
            </a:r>
            <a:r>
              <a:rPr lang="en-US" altLang="zh-CN" sz="1200" kern="1200" dirty="0">
                <a:solidFill>
                  <a:schemeClr val="tx1"/>
                </a:solidFill>
                <a:effectLst/>
                <a:latin typeface="+mn-lt"/>
              </a:rPr>
              <a:t>”“</a:t>
            </a:r>
            <a:r>
              <a:rPr lang="zh-CN" altLang="en-US" sz="1200" kern="1200" dirty="0">
                <a:solidFill>
                  <a:schemeClr val="tx1"/>
                </a:solidFill>
                <a:effectLst/>
                <a:latin typeface="+mn-lt"/>
              </a:rPr>
              <a:t>目的在于为国家和地区有关部门提供准确的土地利用变化情况，及时进行土地利用数据更新与对比分析，以便编制土地利用变化图解等</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项：该项说的是定期现场踏勘土地使用单位及各类型土地的界线，没有提及是否运用了遥感、遥测技术，也未涉及土地利用情况，不符合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利用遥感、遥测技术，对一个国家或地区土地利用状况的动态变化进行定期或不定期的监视和测定</a:t>
            </a:r>
            <a:r>
              <a:rPr lang="en-US" altLang="zh-CN" sz="1200" kern="1200" dirty="0">
                <a:solidFill>
                  <a:schemeClr val="tx1"/>
                </a:solidFill>
                <a:effectLst/>
                <a:latin typeface="+mn-lt"/>
              </a:rPr>
              <a:t>”“</a:t>
            </a:r>
            <a:r>
              <a:rPr lang="zh-CN" altLang="en-US" sz="1200" kern="1200" dirty="0">
                <a:solidFill>
                  <a:schemeClr val="tx1"/>
                </a:solidFill>
                <a:effectLst/>
                <a:latin typeface="+mn-lt"/>
              </a:rPr>
              <a:t>目的在于为国家和地区有关部门提供准确的土地利用变化情况，及时进行土地利用数据更新与对比分析，以便编制土地利用变化图解等</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项：该项说的是土地的权属情况，未涉及土地利用情况，也未涉及遥感、遥测技术，不符合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利用遥感、遥测技术，对一个国家或地区土地利用状况的动态变化进行定期或不定期的监视和测定</a:t>
            </a:r>
            <a:r>
              <a:rPr lang="en-US" altLang="zh-CN" sz="1200" kern="1200" dirty="0">
                <a:solidFill>
                  <a:schemeClr val="tx1"/>
                </a:solidFill>
                <a:effectLst/>
                <a:latin typeface="+mn-lt"/>
              </a:rPr>
              <a:t>”“</a:t>
            </a:r>
            <a:r>
              <a:rPr lang="zh-CN" altLang="en-US" sz="1200" kern="1200" dirty="0">
                <a:solidFill>
                  <a:schemeClr val="tx1"/>
                </a:solidFill>
                <a:effectLst/>
                <a:latin typeface="+mn-lt"/>
              </a:rPr>
              <a:t>目的在于为国家和地区有关部门提供准确的土地利用变化情况，及时进行土地利用数据更新与对比分析，以便编制土地利用变化图解等</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项：该项说的是通过遥感设备监测植被的生长状态，并绘制植被的生长周期图，涉及的是植被情况，不是土地利用情况，不符合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利用遥感、遥测技术，对一个国家或地区土地利用状况的动态变化进行定期或不定期的监视和测定</a:t>
            </a:r>
            <a:r>
              <a:rPr lang="en-US" altLang="zh-CN" sz="1200" kern="1200" dirty="0">
                <a:solidFill>
                  <a:schemeClr val="tx1"/>
                </a:solidFill>
                <a:effectLst/>
                <a:latin typeface="+mn-lt"/>
              </a:rPr>
              <a:t>”“</a:t>
            </a:r>
            <a:r>
              <a:rPr lang="zh-CN" altLang="en-US" sz="1200" kern="1200" dirty="0">
                <a:solidFill>
                  <a:schemeClr val="tx1"/>
                </a:solidFill>
                <a:effectLst/>
                <a:latin typeface="+mn-lt"/>
              </a:rPr>
              <a:t>目的在于为国家和地区有关部门提供准确的土地利用变化情况，及时进行土地利用数据更新与对比分析，以便编制土地利用变化图解等</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人对他人意图的判断与推测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一级主体间性：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人对另一个人意图的判断与推测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二级主体间性：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人对另一人关于其他人意图的判断与推测的认知的认识</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项：妈妈说爸爸正在做饭，做饭是客观事实而非某人的意图，所以该项不存在对他人意图的判断与推测，不符合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人对另一人关于其他人意图的判断与推测的认知的认识</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二级主体间性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项：老师知道学生们不喜欢做作业，说明老师对学生的意图有所判断，但未体现出第三个主体，即没有体现学生对其他人意图的判断与推测，不符合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人对另一人关于其他人意图的判断与推测的认知的认识</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二级主体间性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项：小王知道老板爱挑毛病，说明小王对老板的意图有所判断，但未体现出第三个主体，即没有体现老板对其他人意图的判断与推测，不符合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人对另一人关于其他人意图的判断与推测的认知的认识</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二级主体间性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项：妈妈冲爸爸使眼色后，爸爸尴尬地放下酒杯，说明爸爸对妈妈的意图有所判断，而小花看到这些偷偷笑了，说明小花认识到了爸爸知道妈妈的意图，符合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人对另一人关于其他人意图的判断与推测的认知的认识</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二级主体间性</a:t>
            </a:r>
            <a:r>
              <a:rPr lang="en-US" altLang="zh-CN" sz="1200" kern="1200" dirty="0">
                <a:solidFill>
                  <a:schemeClr val="tx1"/>
                </a:solidFill>
                <a:effectLst/>
                <a:latin typeface="+mn-lt"/>
              </a:rPr>
              <a:t>”</a:t>
            </a:r>
            <a:r>
              <a:rPr lang="zh-CN" altLang="en-US" sz="1200" kern="1200" dirty="0">
                <a:solidFill>
                  <a:schemeClr val="tx1"/>
                </a:solidFill>
                <a:effectLst/>
                <a:latin typeface="+mn-lt"/>
              </a:rPr>
              <a:t>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政府基于与人民的民主协商作出预算决策</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相关责任部门及时反应并积极回复人民的质疑和诉求</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项：甲国财政部门从应急预算中安排保障应急救援经费，只是在应对旱情时进行经费安排，未体现出基于与人民的民主协商作出预算决策，也没有涉及回复人民的质疑和诉求，不符合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政府基于与人民的民主协商作出预算决策</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相关责任部门及时反应并积极回复人民的质疑和诉求</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项：乙省编制并发布预算公开说明，只是将预算情况公开，没有体现出基于与人民的民主协商作出预算决策以及回复人民的质疑和诉求，不符合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政府基于与人民的民主协商作出预算决策</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相关责任部门及时反应并积极回复人民的质疑和诉求</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项：丙市是将上一年度的地方预算执行情况公布并邀请监督、提出意见，但这是对上一年度已执行情况的公开，并非作出预算决策的过程，不符合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政府基于与人民的民主协商作出预算决策</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项：丁区实行预算听证制度，开展听证意味着是与人民进行民主协商的过程，符合</a:t>
            </a:r>
            <a:r>
              <a:rPr lang="en-US" altLang="zh-CN" sz="1200" kern="1200" dirty="0">
                <a:solidFill>
                  <a:schemeClr val="tx1"/>
                </a:solidFill>
                <a:effectLst/>
                <a:latin typeface="+mn-lt"/>
              </a:rPr>
              <a:t>“</a:t>
            </a:r>
            <a:r>
              <a:rPr lang="zh-CN" altLang="en-US" sz="1200" kern="1200" dirty="0">
                <a:solidFill>
                  <a:schemeClr val="tx1"/>
                </a:solidFill>
                <a:effectLst/>
                <a:latin typeface="+mn-lt"/>
              </a:rPr>
              <a:t>政府基于与人民的民主协商作出预算决策</a:t>
            </a:r>
            <a:r>
              <a:rPr lang="en-US" altLang="zh-CN" sz="1200" kern="1200" dirty="0">
                <a:solidFill>
                  <a:schemeClr val="tx1"/>
                </a:solidFill>
                <a:effectLst/>
                <a:latin typeface="+mn-lt"/>
              </a:rPr>
              <a:t>”</a:t>
            </a:r>
            <a:r>
              <a:rPr lang="zh-CN" altLang="en-US" sz="1200" kern="1200" dirty="0">
                <a:solidFill>
                  <a:schemeClr val="tx1"/>
                </a:solidFill>
                <a:effectLst/>
                <a:latin typeface="+mn-lt"/>
              </a:rPr>
              <a:t>，对相关重大支出项目听取意见，并且就意见和建议进行书面答复，体现了相关责任部门及时反应并积极回复人民的质疑和诉求，符合</a:t>
            </a:r>
            <a:r>
              <a:rPr lang="en-US" altLang="zh-CN" sz="1200" kern="1200" dirty="0">
                <a:solidFill>
                  <a:schemeClr val="tx1"/>
                </a:solidFill>
                <a:effectLst/>
                <a:latin typeface="+mn-lt"/>
              </a:rPr>
              <a:t>“</a:t>
            </a:r>
            <a:r>
              <a:rPr lang="zh-CN" altLang="en-US" sz="1200" kern="1200" dirty="0">
                <a:solidFill>
                  <a:schemeClr val="tx1"/>
                </a:solidFill>
                <a:effectLst/>
                <a:latin typeface="+mn-lt"/>
              </a:rPr>
              <a:t>相关责任部门及时反应并积极回复人民的质疑和诉求</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温度习服：</a:t>
            </a:r>
            <a:r>
              <a:rPr lang="en-US" altLang="zh-CN" sz="1200" kern="1200" dirty="0">
                <a:solidFill>
                  <a:schemeClr val="tx1"/>
                </a:solidFill>
                <a:effectLst/>
                <a:latin typeface="+mn-lt"/>
              </a:rPr>
              <a:t>“</a:t>
            </a:r>
            <a:r>
              <a:rPr lang="zh-CN" altLang="en-US" sz="1200" kern="1200" dirty="0">
                <a:solidFill>
                  <a:schemeClr val="tx1"/>
                </a:solidFill>
                <a:effectLst/>
                <a:latin typeface="+mn-lt"/>
              </a:rPr>
              <a:t>机体长期在高温或低温环境中</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产生的对环境温度的耐受现象</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热习服：</a:t>
            </a:r>
            <a:r>
              <a:rPr lang="en-US" altLang="zh-CN" sz="1200" kern="1200" dirty="0">
                <a:solidFill>
                  <a:schemeClr val="tx1"/>
                </a:solidFill>
                <a:effectLst/>
                <a:latin typeface="+mn-lt"/>
              </a:rPr>
              <a:t>“</a:t>
            </a:r>
            <a:r>
              <a:rPr lang="zh-CN" altLang="en-US" sz="1200" kern="1200" dirty="0">
                <a:solidFill>
                  <a:schemeClr val="tx1"/>
                </a:solidFill>
                <a:effectLst/>
                <a:latin typeface="+mn-lt"/>
              </a:rPr>
              <a:t>机体长期生活或工作在炎热或高温环境</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产生的适应性变化</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冷习服：</a:t>
            </a:r>
            <a:r>
              <a:rPr lang="en-US" altLang="zh-CN" sz="1200" kern="1200" dirty="0">
                <a:solidFill>
                  <a:schemeClr val="tx1"/>
                </a:solidFill>
                <a:effectLst/>
                <a:latin typeface="+mn-lt"/>
              </a:rPr>
              <a:t>“</a:t>
            </a:r>
            <a:r>
              <a:rPr lang="zh-CN" altLang="en-US" sz="1200" kern="1200" dirty="0">
                <a:solidFill>
                  <a:schemeClr val="tx1"/>
                </a:solidFill>
                <a:effectLst/>
                <a:latin typeface="+mn-lt"/>
              </a:rPr>
              <a:t>机体长期暴露于寒冷环境</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逐渐出现的适应性变化</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项：穿着防水防风、透气保暖的滑雪服，是为了滑雪时保暖，而不是身体本身形成的耐受，不符合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对环境温度的耐受现象</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温度习服</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项：因纽特人生活在北极，而北极地区的温度终年较低，符合</a:t>
            </a:r>
            <a:r>
              <a:rPr lang="en-US" altLang="zh-CN" sz="1200" kern="1200" dirty="0">
                <a:solidFill>
                  <a:schemeClr val="tx1"/>
                </a:solidFill>
                <a:effectLst/>
                <a:latin typeface="+mn-lt"/>
              </a:rPr>
              <a:t>“</a:t>
            </a:r>
            <a:r>
              <a:rPr lang="zh-CN" altLang="en-US" sz="1200" kern="1200" dirty="0">
                <a:solidFill>
                  <a:schemeClr val="tx1"/>
                </a:solidFill>
                <a:effectLst/>
                <a:latin typeface="+mn-lt"/>
              </a:rPr>
              <a:t>机体长期在高温或低温环境中</a:t>
            </a:r>
            <a:r>
              <a:rPr lang="en-US" altLang="zh-CN" sz="1200" kern="1200" dirty="0">
                <a:solidFill>
                  <a:schemeClr val="tx1"/>
                </a:solidFill>
                <a:effectLst/>
                <a:latin typeface="+mn-lt"/>
              </a:rPr>
              <a:t>”</a:t>
            </a:r>
            <a:r>
              <a:rPr lang="zh-CN" altLang="en-US" sz="1200" kern="1200" dirty="0">
                <a:solidFill>
                  <a:schemeClr val="tx1"/>
                </a:solidFill>
                <a:effectLst/>
                <a:latin typeface="+mn-lt"/>
              </a:rPr>
              <a:t>，因纽特人常表现出较高的基础代谢率以维持体温，符合</a:t>
            </a:r>
            <a:r>
              <a:rPr lang="en-US" altLang="zh-CN" sz="1200" kern="1200" dirty="0">
                <a:solidFill>
                  <a:schemeClr val="tx1"/>
                </a:solidFill>
                <a:effectLst/>
                <a:latin typeface="+mn-lt"/>
              </a:rPr>
              <a:t>“</a:t>
            </a:r>
            <a:r>
              <a:rPr lang="zh-CN" altLang="en-US" sz="1200" kern="1200" dirty="0">
                <a:solidFill>
                  <a:schemeClr val="tx1"/>
                </a:solidFill>
                <a:effectLst/>
                <a:latin typeface="+mn-lt"/>
              </a:rPr>
              <a:t>产生的对环境温度的耐受现象</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温度习服</a:t>
            </a:r>
            <a:r>
              <a:rPr lang="en-US" altLang="zh-CN" sz="1200" kern="1200" dirty="0">
                <a:solidFill>
                  <a:schemeClr val="tx1"/>
                </a:solidFill>
                <a:effectLst/>
                <a:latin typeface="+mn-lt"/>
              </a:rPr>
              <a:t>”</a:t>
            </a:r>
            <a:r>
              <a:rPr lang="zh-CN" altLang="en-US" sz="1200" kern="1200" dirty="0">
                <a:solidFill>
                  <a:schemeClr val="tx1"/>
                </a:solidFill>
                <a:effectLst/>
                <a:latin typeface="+mn-lt"/>
              </a:rPr>
              <a:t>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项：高原地区的人，脸部呈现出</a:t>
            </a:r>
            <a:r>
              <a:rPr lang="en-US" altLang="zh-CN" sz="1200" kern="1200" dirty="0">
                <a:solidFill>
                  <a:schemeClr val="tx1"/>
                </a:solidFill>
                <a:effectLst/>
                <a:latin typeface="+mn-lt"/>
              </a:rPr>
              <a:t>“</a:t>
            </a:r>
            <a:r>
              <a:rPr lang="zh-CN" altLang="en-US" sz="1200" kern="1200" dirty="0">
                <a:solidFill>
                  <a:schemeClr val="tx1"/>
                </a:solidFill>
                <a:effectLst/>
                <a:latin typeface="+mn-lt"/>
              </a:rPr>
              <a:t>高原红</a:t>
            </a:r>
            <a:r>
              <a:rPr lang="en-US" altLang="zh-CN" sz="1200" kern="1200" dirty="0">
                <a:solidFill>
                  <a:schemeClr val="tx1"/>
                </a:solidFill>
                <a:effectLst/>
                <a:latin typeface="+mn-lt"/>
              </a:rPr>
              <a:t>”</a:t>
            </a:r>
            <a:r>
              <a:rPr lang="zh-CN" altLang="en-US" sz="1200" kern="1200" dirty="0">
                <a:solidFill>
                  <a:schemeClr val="tx1"/>
                </a:solidFill>
                <a:effectLst/>
                <a:latin typeface="+mn-lt"/>
              </a:rPr>
              <a:t>的特征，是因为缺氧、干燥、紫外线照射强烈，没有提到高原地区温度的影响，不符合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长期在高温或低温环境中</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温度习服</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项：增加热身时间以适应气温，是为了运动时避免伤害，而不是身体本身形成的耐受，不符合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对环境温度的耐受现象</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温度习服</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把传世的包括出土（水）的具有研究价值的石刻、陶塑、壁画、雕砖、铜玉、织绣、漆器、木器、绘画等历史实物、文本图像以及文化史迹作为主要研究对象</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结合传统文献</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综合考察历史</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项：结合《晋书》等史书，符合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结合传统文献</a:t>
            </a:r>
            <a:r>
              <a:rPr lang="en-US" altLang="zh-CN" sz="1200" kern="1200" dirty="0">
                <a:solidFill>
                  <a:schemeClr val="tx1"/>
                </a:solidFill>
                <a:effectLst/>
                <a:latin typeface="+mn-lt"/>
              </a:rPr>
              <a:t>”</a:t>
            </a:r>
            <a:r>
              <a:rPr lang="zh-CN" altLang="en-US" sz="1200" kern="1200" dirty="0">
                <a:solidFill>
                  <a:schemeClr val="tx1"/>
                </a:solidFill>
                <a:effectLst/>
                <a:latin typeface="+mn-lt"/>
              </a:rPr>
              <a:t>，对吉林集安长川</a:t>
            </a:r>
            <a:r>
              <a:rPr lang="en-US" altLang="zh-CN" sz="1200" kern="1200" dirty="0">
                <a:solidFill>
                  <a:schemeClr val="tx1"/>
                </a:solidFill>
                <a:effectLst/>
                <a:latin typeface="+mn-lt"/>
              </a:rPr>
              <a:t>1</a:t>
            </a:r>
            <a:r>
              <a:rPr lang="zh-CN" altLang="en-US" sz="1200" kern="1200" dirty="0">
                <a:solidFill>
                  <a:schemeClr val="tx1"/>
                </a:solidFill>
                <a:effectLst/>
                <a:latin typeface="+mn-lt"/>
              </a:rPr>
              <a:t>号墓礼佛图主佛形象及莲花纹的考察，符合</a:t>
            </a:r>
            <a:r>
              <a:rPr lang="en-US" altLang="zh-CN" sz="1200" kern="1200" dirty="0">
                <a:solidFill>
                  <a:schemeClr val="tx1"/>
                </a:solidFill>
                <a:effectLst/>
                <a:latin typeface="+mn-lt"/>
              </a:rPr>
              <a:t>“</a:t>
            </a:r>
            <a:r>
              <a:rPr lang="zh-CN" altLang="en-US" sz="1200" kern="1200" dirty="0">
                <a:solidFill>
                  <a:schemeClr val="tx1"/>
                </a:solidFill>
                <a:effectLst/>
                <a:latin typeface="+mn-lt"/>
              </a:rPr>
              <a:t>把传世的包括出土（水）的具有研究价值的石刻、陶塑、壁画、雕砖、铜玉、织绣、漆器、木器、绘画等历史实物、文本图像以及文化史迹作为主要研究对象</a:t>
            </a:r>
            <a:r>
              <a:rPr lang="en-US" altLang="zh-CN" sz="1200" kern="1200" dirty="0">
                <a:solidFill>
                  <a:schemeClr val="tx1"/>
                </a:solidFill>
                <a:effectLst/>
                <a:latin typeface="+mn-lt"/>
              </a:rPr>
              <a:t>”</a:t>
            </a:r>
            <a:r>
              <a:rPr lang="zh-CN" altLang="en-US" sz="1200" kern="1200" dirty="0">
                <a:solidFill>
                  <a:schemeClr val="tx1"/>
                </a:solidFill>
                <a:effectLst/>
                <a:latin typeface="+mn-lt"/>
              </a:rPr>
              <a:t>，研究三燕文化对高句丽佛教产生的影响，符合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综合考察历史</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项：只有对现存的汉画像石的实地考察，没有结合文献资料，不符合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结合传统文献</a:t>
            </a:r>
            <a:r>
              <a:rPr lang="en-US" altLang="zh-CN" sz="1200" kern="1200" dirty="0">
                <a:solidFill>
                  <a:schemeClr val="tx1"/>
                </a:solidFill>
                <a:effectLst/>
                <a:latin typeface="+mn-lt"/>
              </a:rPr>
              <a:t>”</a:t>
            </a:r>
            <a:r>
              <a:rPr lang="zh-CN" altLang="en-US" sz="1200" kern="1200" dirty="0">
                <a:solidFill>
                  <a:schemeClr val="tx1"/>
                </a:solidFill>
                <a:effectLst/>
                <a:latin typeface="+mn-lt"/>
              </a:rPr>
              <a:t>，分析汉画像石的雕刻风格和雕刻技法，不符合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综合考察历史</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项：根据史诗《伊利亚特》的记载，找到特洛伊城的遗址，目的是发掘出王冠、银瓶、短剑等大量器物，而不是结合出土的器物考察历史，不符合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把传世的包括出土（水）的具有研究价值的石刻、陶塑、壁画、雕砖、铜玉、织绣、漆器、木器、绘画等历史实物、文本图像以及文化史迹作为主要研究对象</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综合考察历史</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项：只是对齐白石、傅抱石等人的国画作品进行研究，没有结合文献资料，不符合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结合传统文献</a:t>
            </a:r>
            <a:r>
              <a:rPr lang="en-US" altLang="zh-CN" sz="1200" kern="1200" dirty="0">
                <a:solidFill>
                  <a:schemeClr val="tx1"/>
                </a:solidFill>
                <a:effectLst/>
                <a:latin typeface="+mn-lt"/>
              </a:rPr>
              <a:t>”</a:t>
            </a:r>
            <a:r>
              <a:rPr lang="zh-CN" altLang="en-US" sz="1200" kern="1200" dirty="0">
                <a:solidFill>
                  <a:schemeClr val="tx1"/>
                </a:solidFill>
                <a:effectLst/>
                <a:latin typeface="+mn-lt"/>
              </a:rPr>
              <a:t>，分析当时国画中所蕴含的思想意境，不符合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综合考察历史</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求证思维：</a:t>
            </a:r>
            <a:r>
              <a:rPr lang="en-US" altLang="zh-CN" sz="1200" kern="1200" dirty="0">
                <a:solidFill>
                  <a:schemeClr val="tx1"/>
                </a:solidFill>
                <a:effectLst/>
                <a:latin typeface="+mn-lt"/>
              </a:rPr>
              <a:t>“</a:t>
            </a:r>
            <a:r>
              <a:rPr lang="zh-CN" altLang="en-US" sz="1200" kern="1200" dirty="0">
                <a:solidFill>
                  <a:schemeClr val="tx1"/>
                </a:solidFill>
                <a:effectLst/>
                <a:latin typeface="+mn-lt"/>
              </a:rPr>
              <a:t>用自己掌握的知识和经验</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去验证某一结论</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转化思维：</a:t>
            </a:r>
            <a:r>
              <a:rPr lang="en-US" altLang="zh-CN" sz="1200" kern="1200" dirty="0">
                <a:solidFill>
                  <a:schemeClr val="tx1"/>
                </a:solidFill>
                <a:effectLst/>
                <a:latin typeface="+mn-lt"/>
              </a:rPr>
              <a:t>“</a:t>
            </a:r>
            <a:r>
              <a:rPr lang="zh-CN" altLang="en-US" sz="1200" kern="1200" dirty="0">
                <a:solidFill>
                  <a:schemeClr val="tx1"/>
                </a:solidFill>
                <a:effectLst/>
                <a:latin typeface="+mn-lt"/>
              </a:rPr>
              <a:t>在解决问题的过程中遇到障碍时</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把问题转换成另一种形式</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使问题变得更简单、更清晰</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集中思维：</a:t>
            </a:r>
            <a:r>
              <a:rPr lang="en-US" altLang="zh-CN" sz="1200" kern="1200" dirty="0">
                <a:solidFill>
                  <a:schemeClr val="tx1"/>
                </a:solidFill>
                <a:effectLst/>
                <a:latin typeface="+mn-lt"/>
              </a:rPr>
              <a:t>“</a:t>
            </a:r>
            <a:r>
              <a:rPr lang="zh-CN" altLang="en-US" sz="1200" kern="1200" dirty="0">
                <a:solidFill>
                  <a:schemeClr val="tx1"/>
                </a:solidFill>
                <a:effectLst/>
                <a:latin typeface="+mn-lt"/>
              </a:rPr>
              <a:t>从许多资料中找出合乎逻辑的联系，从而导出一定的结论</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对几种解决方案加以比较研究，进而导出一种解决办法</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项：数学家根据自己所学，符合</a:t>
            </a:r>
            <a:r>
              <a:rPr lang="en-US" altLang="zh-CN" sz="1200" kern="1200" dirty="0">
                <a:solidFill>
                  <a:schemeClr val="tx1"/>
                </a:solidFill>
                <a:effectLst/>
                <a:latin typeface="+mn-lt"/>
              </a:rPr>
              <a:t>“</a:t>
            </a:r>
            <a:r>
              <a:rPr lang="zh-CN" altLang="en-US" sz="1200" kern="1200" dirty="0">
                <a:solidFill>
                  <a:schemeClr val="tx1"/>
                </a:solidFill>
                <a:effectLst/>
                <a:latin typeface="+mn-lt"/>
              </a:rPr>
              <a:t>用自己掌握的知识和经验</a:t>
            </a:r>
            <a:r>
              <a:rPr lang="en-US" altLang="zh-CN" sz="1200" kern="1200" dirty="0">
                <a:solidFill>
                  <a:schemeClr val="tx1"/>
                </a:solidFill>
                <a:effectLst/>
                <a:latin typeface="+mn-lt"/>
              </a:rPr>
              <a:t>”</a:t>
            </a:r>
            <a:r>
              <a:rPr lang="zh-CN" altLang="en-US" sz="1200" kern="1200" dirty="0">
                <a:solidFill>
                  <a:schemeClr val="tx1"/>
                </a:solidFill>
                <a:effectLst/>
                <a:latin typeface="+mn-lt"/>
              </a:rPr>
              <a:t>，从多角度证明某一命题是否成立，符合</a:t>
            </a:r>
            <a:r>
              <a:rPr lang="en-US" altLang="zh-CN" sz="1200" kern="1200" dirty="0">
                <a:solidFill>
                  <a:schemeClr val="tx1"/>
                </a:solidFill>
                <a:effectLst/>
                <a:latin typeface="+mn-lt"/>
              </a:rPr>
              <a:t>“</a:t>
            </a:r>
            <a:r>
              <a:rPr lang="zh-CN" altLang="en-US" sz="1200" kern="1200" dirty="0">
                <a:solidFill>
                  <a:schemeClr val="tx1"/>
                </a:solidFill>
                <a:effectLst/>
                <a:latin typeface="+mn-lt"/>
              </a:rPr>
              <a:t>去验证某一结论</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求证思维</a:t>
            </a:r>
            <a:r>
              <a:rPr lang="en-US" altLang="zh-CN" sz="1200" kern="1200" dirty="0">
                <a:solidFill>
                  <a:schemeClr val="tx1"/>
                </a:solidFill>
                <a:effectLst/>
                <a:latin typeface="+mn-lt"/>
              </a:rPr>
              <a:t>”</a:t>
            </a:r>
            <a:r>
              <a:rPr lang="zh-CN" altLang="en-US" sz="1200" kern="1200" dirty="0">
                <a:solidFill>
                  <a:schemeClr val="tx1"/>
                </a:solidFill>
                <a:effectLst/>
                <a:latin typeface="+mn-lt"/>
              </a:rPr>
              <a:t>定义，说法正确，当选；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项：工程师依据施工方案完成一系列工作，其中施工方案属于明确的材料，不符合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从许多资料中找出合乎逻辑的联系，从而导出一定的结论</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对几种解决方案加以比较研究，进而导出一种解决办法</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集中思维</a:t>
            </a:r>
            <a:r>
              <a:rPr lang="en-US" altLang="zh-CN" sz="1200" kern="1200" dirty="0">
                <a:solidFill>
                  <a:schemeClr val="tx1"/>
                </a:solidFill>
                <a:effectLst/>
                <a:latin typeface="+mn-lt"/>
              </a:rPr>
              <a:t>”</a:t>
            </a:r>
            <a:r>
              <a:rPr lang="zh-CN" altLang="en-US" sz="1200" kern="1200" dirty="0">
                <a:solidFill>
                  <a:schemeClr val="tx1"/>
                </a:solidFill>
                <a:effectLst/>
                <a:latin typeface="+mn-lt"/>
              </a:rPr>
              <a:t>定义，说法错误，排除；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项：针对遇到的问题设计出相应的解决方案，并未体现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从许多资料中找出合乎逻辑的联系，从而导出一定的结论</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对几种解决方案加以比较研究，进而导出一种解决办法</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集中思维</a:t>
            </a:r>
            <a:r>
              <a:rPr lang="en-US" altLang="zh-CN" sz="1200" kern="1200" dirty="0">
                <a:solidFill>
                  <a:schemeClr val="tx1"/>
                </a:solidFill>
                <a:effectLst/>
                <a:latin typeface="+mn-lt"/>
              </a:rPr>
              <a:t>”</a:t>
            </a:r>
            <a:r>
              <a:rPr lang="zh-CN" altLang="en-US" sz="1200" kern="1200" dirty="0">
                <a:solidFill>
                  <a:schemeClr val="tx1"/>
                </a:solidFill>
                <a:effectLst/>
                <a:latin typeface="+mn-lt"/>
              </a:rPr>
              <a:t>定义，说法错误，排除；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项：商家通过分析药店互联网化的不同方案，最终选定线上线下相结合的模式，并未体现</a:t>
            </a:r>
            <a:r>
              <a:rPr lang="en-US" altLang="zh-CN" sz="1200" kern="1200" dirty="0">
                <a:solidFill>
                  <a:schemeClr val="tx1"/>
                </a:solidFill>
                <a:effectLst/>
                <a:latin typeface="+mn-lt"/>
              </a:rPr>
              <a:t>“</a:t>
            </a:r>
            <a:r>
              <a:rPr lang="zh-CN" altLang="en-US" sz="1200" kern="1200" dirty="0">
                <a:solidFill>
                  <a:schemeClr val="tx1"/>
                </a:solidFill>
                <a:effectLst/>
                <a:latin typeface="+mn-lt"/>
              </a:rPr>
              <a:t>在解决问题的过程中遇到障碍时</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把问题转换成另一种形式</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使问题变得更简单、更清晰</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转化思维</a:t>
            </a:r>
            <a:r>
              <a:rPr lang="en-US" altLang="zh-CN" sz="1200" kern="1200" dirty="0">
                <a:solidFill>
                  <a:schemeClr val="tx1"/>
                </a:solidFill>
                <a:effectLst/>
                <a:latin typeface="+mn-lt"/>
              </a:rPr>
              <a:t>”</a:t>
            </a:r>
            <a:r>
              <a:rPr lang="zh-CN" altLang="en-US" sz="1200" kern="1200" dirty="0">
                <a:solidFill>
                  <a:schemeClr val="tx1"/>
                </a:solidFill>
                <a:effectLst/>
                <a:latin typeface="+mn-lt"/>
              </a:rPr>
              <a:t>定义，说法错误，排除。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犯罪事实或者犯罪嫌疑人未被司法机关发觉，或者虽被发觉，但犯罪嫌疑人尚未受到讯问、未被采取强制措施时</a:t>
            </a:r>
            <a:r>
              <a:rPr lang="en-US" altLang="zh-CN" sz="1200" kern="1200" dirty="0">
                <a:solidFill>
                  <a:schemeClr val="tx1"/>
                </a:solidFill>
                <a:effectLst/>
                <a:latin typeface="+mn-lt"/>
              </a:rPr>
              <a:t>”“</a:t>
            </a:r>
            <a:r>
              <a:rPr lang="zh-CN" altLang="en-US" sz="1200" kern="1200" dirty="0">
                <a:solidFill>
                  <a:schemeClr val="tx1"/>
                </a:solidFill>
                <a:effectLst/>
                <a:latin typeface="+mn-lt"/>
              </a:rPr>
              <a:t>主动、直接向公安机关、人民检察院或者人民法院投案</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项：甲实施多起电信诈骗，公安机关在入户走访中发现甲形迹可疑，对甲进行盘问，符合</a:t>
            </a:r>
            <a:r>
              <a:rPr lang="en-US" altLang="zh-CN" sz="1200" kern="1200" dirty="0">
                <a:solidFill>
                  <a:schemeClr val="tx1"/>
                </a:solidFill>
                <a:effectLst/>
                <a:latin typeface="+mn-lt"/>
              </a:rPr>
              <a:t>“</a:t>
            </a:r>
            <a:r>
              <a:rPr lang="zh-CN" altLang="en-US" sz="1200" kern="1200" dirty="0">
                <a:solidFill>
                  <a:schemeClr val="tx1"/>
                </a:solidFill>
                <a:effectLst/>
                <a:latin typeface="+mn-lt"/>
              </a:rPr>
              <a:t>犯罪事实或者犯罪嫌疑人未被司法机关发觉，或者虽被发觉，但犯罪嫌疑人尚未受到讯问、未被采取强制措施时</a:t>
            </a:r>
            <a:r>
              <a:rPr lang="en-US" altLang="zh-CN" sz="1200" kern="1200" dirty="0">
                <a:solidFill>
                  <a:schemeClr val="tx1"/>
                </a:solidFill>
                <a:effectLst/>
                <a:latin typeface="+mn-lt"/>
              </a:rPr>
              <a:t>”</a:t>
            </a:r>
            <a:r>
              <a:rPr lang="zh-CN" altLang="en-US" sz="1200" kern="1200" dirty="0">
                <a:solidFill>
                  <a:schemeClr val="tx1"/>
                </a:solidFill>
                <a:effectLst/>
                <a:latin typeface="+mn-lt"/>
              </a:rPr>
              <a:t>，甲主动交代了自己的罪行，符合</a:t>
            </a:r>
            <a:r>
              <a:rPr lang="en-US" altLang="zh-CN" sz="1200" kern="1200" dirty="0">
                <a:solidFill>
                  <a:schemeClr val="tx1"/>
                </a:solidFill>
                <a:effectLst/>
                <a:latin typeface="+mn-lt"/>
              </a:rPr>
              <a:t>“</a:t>
            </a:r>
            <a:r>
              <a:rPr lang="zh-CN" altLang="en-US" sz="1200" kern="1200" dirty="0">
                <a:solidFill>
                  <a:schemeClr val="tx1"/>
                </a:solidFill>
                <a:effectLst/>
                <a:latin typeface="+mn-lt"/>
              </a:rPr>
              <a:t>主动、直接向公安机关、人民检察院或者人民法院投案</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项：乙致人重伤后潜逃且被公安机关确认为该案的犯罪嫌疑人，后因酒后驾驶被行政拘留，经公安机关讯问后交代了自己的罪行，不符合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犯罪事实或者犯罪嫌疑人未被司法机关发觉，或者虽被发觉，但犯罪嫌疑人尚未受到讯问、未被采取强制措施时</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项：丙多次挪用公款，其所在单位发现款项异常开始查账，符合</a:t>
            </a:r>
            <a:r>
              <a:rPr lang="en-US" altLang="zh-CN" sz="1200" kern="1200" dirty="0">
                <a:solidFill>
                  <a:schemeClr val="tx1"/>
                </a:solidFill>
                <a:effectLst/>
                <a:latin typeface="+mn-lt"/>
              </a:rPr>
              <a:t>“</a:t>
            </a:r>
            <a:r>
              <a:rPr lang="zh-CN" altLang="en-US" sz="1200" kern="1200" dirty="0">
                <a:solidFill>
                  <a:schemeClr val="tx1"/>
                </a:solidFill>
                <a:effectLst/>
                <a:latin typeface="+mn-lt"/>
              </a:rPr>
              <a:t>犯罪事实或者犯罪嫌疑人未被司法机关发觉，或者虽被发觉，但犯罪嫌疑人尚未受到讯问、未被采取强制措施时</a:t>
            </a:r>
            <a:r>
              <a:rPr lang="en-US" altLang="zh-CN" sz="1200" kern="1200" dirty="0">
                <a:solidFill>
                  <a:schemeClr val="tx1"/>
                </a:solidFill>
                <a:effectLst/>
                <a:latin typeface="+mn-lt"/>
              </a:rPr>
              <a:t>”</a:t>
            </a:r>
            <a:r>
              <a:rPr lang="zh-CN" altLang="en-US" sz="1200" kern="1200" dirty="0">
                <a:solidFill>
                  <a:schemeClr val="tx1"/>
                </a:solidFill>
                <a:effectLst/>
                <a:latin typeface="+mn-lt"/>
              </a:rPr>
              <a:t>，丙到公安机关交代自己的罪行，符合</a:t>
            </a:r>
            <a:r>
              <a:rPr lang="en-US" altLang="zh-CN" sz="1200" kern="1200" dirty="0">
                <a:solidFill>
                  <a:schemeClr val="tx1"/>
                </a:solidFill>
                <a:effectLst/>
                <a:latin typeface="+mn-lt"/>
              </a:rPr>
              <a:t>“</a:t>
            </a:r>
            <a:r>
              <a:rPr lang="zh-CN" altLang="en-US" sz="1200" kern="1200" dirty="0">
                <a:solidFill>
                  <a:schemeClr val="tx1"/>
                </a:solidFill>
                <a:effectLst/>
                <a:latin typeface="+mn-lt"/>
              </a:rPr>
              <a:t>主动、直接向公安机关、人民检察院或者人民法院投案</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项：丁在入室盗窃服刑期间，主动向公安机关交代自己系公安机关久未破获的</a:t>
            </a:r>
            <a:r>
              <a:rPr lang="en-US" altLang="zh-CN" sz="1200" kern="1200" dirty="0">
                <a:solidFill>
                  <a:schemeClr val="tx1"/>
                </a:solidFill>
                <a:effectLst/>
                <a:latin typeface="+mn-lt"/>
              </a:rPr>
              <a:t>“7·26”</a:t>
            </a:r>
            <a:r>
              <a:rPr lang="zh-CN" altLang="en-US" sz="1200" kern="1200" dirty="0">
                <a:solidFill>
                  <a:schemeClr val="tx1"/>
                </a:solidFill>
                <a:effectLst/>
                <a:latin typeface="+mn-lt"/>
              </a:rPr>
              <a:t>走私案的主谋之一，符合</a:t>
            </a:r>
            <a:r>
              <a:rPr lang="en-US" altLang="zh-CN" sz="1200" kern="1200" dirty="0">
                <a:solidFill>
                  <a:schemeClr val="tx1"/>
                </a:solidFill>
                <a:effectLst/>
                <a:latin typeface="+mn-lt"/>
              </a:rPr>
              <a:t>“</a:t>
            </a:r>
            <a:r>
              <a:rPr lang="zh-CN" altLang="en-US" sz="1200" kern="1200" dirty="0">
                <a:solidFill>
                  <a:schemeClr val="tx1"/>
                </a:solidFill>
                <a:effectLst/>
                <a:latin typeface="+mn-lt"/>
              </a:rPr>
              <a:t>犯罪事实或者犯罪嫌疑人未被司法机关发觉，或者虽被发觉，但犯罪嫌疑人尚未受到讯问、未被采取强制措施时</a:t>
            </a:r>
            <a:r>
              <a:rPr lang="en-US" altLang="zh-CN" sz="1200" kern="1200" dirty="0">
                <a:solidFill>
                  <a:schemeClr val="tx1"/>
                </a:solidFill>
                <a:effectLst/>
                <a:latin typeface="+mn-lt"/>
              </a:rPr>
              <a:t>”“</a:t>
            </a:r>
            <a:r>
              <a:rPr lang="zh-CN" altLang="en-US" sz="1200" kern="1200" dirty="0">
                <a:solidFill>
                  <a:schemeClr val="tx1"/>
                </a:solidFill>
                <a:effectLst/>
                <a:latin typeface="+mn-lt"/>
              </a:rPr>
              <a:t>主动、直接向公安机关、人民检察院或者人民法院投案</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t>
            </a:r>
            <a:r>
              <a:rPr lang="zh-CN" altLang="en-US" sz="1200" kern="1200" dirty="0">
                <a:solidFill>
                  <a:schemeClr val="tx1"/>
                </a:solidFill>
                <a:effectLst/>
                <a:latin typeface="+mn-lt"/>
              </a:rPr>
              <a:t>从初始节点出发，按照一定的顺序不断扩展到下一个节点，直到不能再扩展</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此时返回上一个节点重新寻找一个新的节点继续扩展，直到找到目标节点，或者搜索完所有节点为止</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121361112</a:t>
            </a:r>
            <a:r>
              <a:rPr lang="zh-CN" altLang="en-US" sz="1200" kern="1200" dirty="0">
                <a:solidFill>
                  <a:schemeClr val="tx1"/>
                </a:solidFill>
                <a:effectLst/>
                <a:latin typeface="+mn-lt"/>
              </a:rPr>
              <a:t>，图中显示，扩展到节点</a:t>
            </a:r>
            <a:r>
              <a:rPr lang="en-US" altLang="zh-CN" sz="1200" kern="1200" dirty="0">
                <a:solidFill>
                  <a:schemeClr val="tx1"/>
                </a:solidFill>
                <a:effectLst/>
                <a:latin typeface="+mn-lt"/>
              </a:rPr>
              <a:t>11</a:t>
            </a:r>
            <a:r>
              <a:rPr lang="zh-CN" altLang="en-US" sz="1200" kern="1200" dirty="0">
                <a:solidFill>
                  <a:schemeClr val="tx1"/>
                </a:solidFill>
                <a:effectLst/>
                <a:latin typeface="+mn-lt"/>
              </a:rPr>
              <a:t>时已无法继续扩展，且未找到目标节点，此时应返回到上一个节点</a:t>
            </a:r>
            <a:r>
              <a:rPr lang="en-US" altLang="zh-CN" sz="1200" kern="1200" dirty="0">
                <a:solidFill>
                  <a:schemeClr val="tx1"/>
                </a:solidFill>
                <a:effectLst/>
                <a:latin typeface="+mn-lt"/>
              </a:rPr>
              <a:t>6</a:t>
            </a:r>
            <a:r>
              <a:rPr lang="zh-CN" altLang="en-US" sz="1200" kern="1200" dirty="0">
                <a:solidFill>
                  <a:schemeClr val="tx1"/>
                </a:solidFill>
                <a:effectLst/>
                <a:latin typeface="+mn-lt"/>
              </a:rPr>
              <a:t>，而该项直接扩展到同级的节点</a:t>
            </a:r>
            <a:r>
              <a:rPr lang="en-US" altLang="zh-CN" sz="1200" kern="1200" dirty="0">
                <a:solidFill>
                  <a:schemeClr val="tx1"/>
                </a:solidFill>
                <a:effectLst/>
                <a:latin typeface="+mn-lt"/>
              </a:rPr>
              <a:t>12</a:t>
            </a:r>
            <a:r>
              <a:rPr lang="zh-CN" altLang="en-US" sz="1200" kern="1200" dirty="0">
                <a:solidFill>
                  <a:schemeClr val="tx1"/>
                </a:solidFill>
                <a:effectLst/>
                <a:latin typeface="+mn-lt"/>
              </a:rPr>
              <a:t>，不符合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此时返回上一个节点重新寻找一个新的节点继续扩展，如此搜索下去，直到找到目标节点，或者搜索完所有节点为止</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148413612</a:t>
            </a:r>
            <a:r>
              <a:rPr lang="zh-CN" altLang="en-US" sz="1200" kern="1200" dirty="0">
                <a:solidFill>
                  <a:schemeClr val="tx1"/>
                </a:solidFill>
                <a:effectLst/>
                <a:latin typeface="+mn-lt"/>
              </a:rPr>
              <a:t>，图中显示，从初始节点</a:t>
            </a:r>
            <a:r>
              <a:rPr lang="en-US" altLang="zh-CN" sz="1200" kern="1200" dirty="0">
                <a:solidFill>
                  <a:schemeClr val="tx1"/>
                </a:solidFill>
                <a:effectLst/>
                <a:latin typeface="+mn-lt"/>
              </a:rPr>
              <a:t>1</a:t>
            </a:r>
            <a:r>
              <a:rPr lang="zh-CN" altLang="en-US" sz="1200" kern="1200" dirty="0">
                <a:solidFill>
                  <a:schemeClr val="tx1"/>
                </a:solidFill>
                <a:effectLst/>
                <a:latin typeface="+mn-lt"/>
              </a:rPr>
              <a:t>出发，扩展到下一个节点</a:t>
            </a:r>
            <a:r>
              <a:rPr lang="en-US" altLang="zh-CN" sz="1200" kern="1200" dirty="0">
                <a:solidFill>
                  <a:schemeClr val="tx1"/>
                </a:solidFill>
                <a:effectLst/>
                <a:latin typeface="+mn-lt"/>
              </a:rPr>
              <a:t>4</a:t>
            </a:r>
            <a:r>
              <a:rPr lang="zh-CN" altLang="en-US" sz="1200" kern="1200" dirty="0">
                <a:solidFill>
                  <a:schemeClr val="tx1"/>
                </a:solidFill>
                <a:effectLst/>
                <a:latin typeface="+mn-lt"/>
              </a:rPr>
              <a:t>，继续扩展到下一个节点</a:t>
            </a:r>
            <a:r>
              <a:rPr lang="en-US" altLang="zh-CN" sz="1200" kern="1200" dirty="0">
                <a:solidFill>
                  <a:schemeClr val="tx1"/>
                </a:solidFill>
                <a:effectLst/>
                <a:latin typeface="+mn-lt"/>
              </a:rPr>
              <a:t>8</a:t>
            </a:r>
            <a:r>
              <a:rPr lang="zh-CN" altLang="en-US" sz="1200" kern="1200" dirty="0">
                <a:solidFill>
                  <a:schemeClr val="tx1"/>
                </a:solidFill>
                <a:effectLst/>
                <a:latin typeface="+mn-lt"/>
              </a:rPr>
              <a:t>，此时已无法继续扩展，且未找到目标节点，应返回到上一个节点</a:t>
            </a:r>
            <a:r>
              <a:rPr lang="en-US" altLang="zh-CN" sz="1200" kern="1200" dirty="0">
                <a:solidFill>
                  <a:schemeClr val="tx1"/>
                </a:solidFill>
                <a:effectLst/>
                <a:latin typeface="+mn-lt"/>
              </a:rPr>
              <a:t>4</a:t>
            </a:r>
            <a:r>
              <a:rPr lang="zh-CN" altLang="en-US" sz="1200" kern="1200" dirty="0">
                <a:solidFill>
                  <a:schemeClr val="tx1"/>
                </a:solidFill>
                <a:effectLst/>
                <a:latin typeface="+mn-lt"/>
              </a:rPr>
              <a:t>，同理继续返回上一个节点</a:t>
            </a:r>
            <a:r>
              <a:rPr lang="en-US" altLang="zh-CN" sz="1200" kern="1200" dirty="0">
                <a:solidFill>
                  <a:schemeClr val="tx1"/>
                </a:solidFill>
                <a:effectLst/>
                <a:latin typeface="+mn-lt"/>
              </a:rPr>
              <a:t>1</a:t>
            </a:r>
            <a:r>
              <a:rPr lang="zh-CN" altLang="en-US" sz="1200" kern="1200" dirty="0">
                <a:solidFill>
                  <a:schemeClr val="tx1"/>
                </a:solidFill>
                <a:effectLst/>
                <a:latin typeface="+mn-lt"/>
              </a:rPr>
              <a:t>，扩展到下一个节点</a:t>
            </a:r>
            <a:r>
              <a:rPr lang="en-US" altLang="zh-CN" sz="1200" kern="1200" dirty="0">
                <a:solidFill>
                  <a:schemeClr val="tx1"/>
                </a:solidFill>
                <a:effectLst/>
                <a:latin typeface="+mn-lt"/>
              </a:rPr>
              <a:t>3</a:t>
            </a:r>
            <a:r>
              <a:rPr lang="zh-CN" altLang="en-US" sz="1200" kern="1200" dirty="0">
                <a:solidFill>
                  <a:schemeClr val="tx1"/>
                </a:solidFill>
                <a:effectLst/>
                <a:latin typeface="+mn-lt"/>
              </a:rPr>
              <a:t>，继续扩展到下一个节点</a:t>
            </a:r>
            <a:r>
              <a:rPr lang="en-US" altLang="zh-CN" sz="1200" kern="1200" dirty="0">
                <a:solidFill>
                  <a:schemeClr val="tx1"/>
                </a:solidFill>
                <a:effectLst/>
                <a:latin typeface="+mn-lt"/>
              </a:rPr>
              <a:t>6</a:t>
            </a:r>
            <a:r>
              <a:rPr lang="zh-CN" altLang="en-US" sz="1200" kern="1200" dirty="0">
                <a:solidFill>
                  <a:schemeClr val="tx1"/>
                </a:solidFill>
                <a:effectLst/>
                <a:latin typeface="+mn-lt"/>
              </a:rPr>
              <a:t>，再扩展到下一个节点</a:t>
            </a:r>
            <a:r>
              <a:rPr lang="en-US" altLang="zh-CN" sz="1200" kern="1200" dirty="0">
                <a:solidFill>
                  <a:schemeClr val="tx1"/>
                </a:solidFill>
                <a:effectLst/>
                <a:latin typeface="+mn-lt"/>
              </a:rPr>
              <a:t>12</a:t>
            </a:r>
            <a:r>
              <a:rPr lang="zh-CN" altLang="en-US" sz="1200" kern="1200" dirty="0">
                <a:solidFill>
                  <a:schemeClr val="tx1"/>
                </a:solidFill>
                <a:effectLst/>
                <a:latin typeface="+mn-lt"/>
              </a:rPr>
              <a:t>，此时已找到目标节点，搜索完成，符合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从初始节点出发，按照一定的顺序不断扩展到下一个节点，直到不能再扩展</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此时返回上一个节点重新寻找一个新的节点继续扩展，直到找到目标节点，或者搜索完所有节点为止</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135373612</a:t>
            </a:r>
            <a:r>
              <a:rPr lang="zh-CN" altLang="en-US" sz="1200" kern="1200" dirty="0">
                <a:solidFill>
                  <a:schemeClr val="tx1"/>
                </a:solidFill>
                <a:effectLst/>
                <a:latin typeface="+mn-lt"/>
              </a:rPr>
              <a:t>，图中显示，扩展到节点</a:t>
            </a:r>
            <a:r>
              <a:rPr lang="en-US" altLang="zh-CN" sz="1200" kern="1200" dirty="0">
                <a:solidFill>
                  <a:schemeClr val="tx1"/>
                </a:solidFill>
                <a:effectLst/>
                <a:latin typeface="+mn-lt"/>
              </a:rPr>
              <a:t>5</a:t>
            </a:r>
            <a:r>
              <a:rPr lang="zh-CN" altLang="en-US" sz="1200" kern="1200" dirty="0">
                <a:solidFill>
                  <a:schemeClr val="tx1"/>
                </a:solidFill>
                <a:effectLst/>
                <a:latin typeface="+mn-lt"/>
              </a:rPr>
              <a:t>时直接返回到上一个节点</a:t>
            </a:r>
            <a:r>
              <a:rPr lang="en-US" altLang="zh-CN" sz="1200" kern="1200" dirty="0">
                <a:solidFill>
                  <a:schemeClr val="tx1"/>
                </a:solidFill>
                <a:effectLst/>
                <a:latin typeface="+mn-lt"/>
              </a:rPr>
              <a:t>3</a:t>
            </a:r>
            <a:r>
              <a:rPr lang="zh-CN" altLang="en-US" sz="1200" kern="1200" dirty="0">
                <a:solidFill>
                  <a:schemeClr val="tx1"/>
                </a:solidFill>
                <a:effectLst/>
                <a:latin typeface="+mn-lt"/>
              </a:rPr>
              <a:t>，而节点</a:t>
            </a:r>
            <a:r>
              <a:rPr lang="en-US" altLang="zh-CN" sz="1200" kern="1200" dirty="0">
                <a:solidFill>
                  <a:schemeClr val="tx1"/>
                </a:solidFill>
                <a:effectLst/>
                <a:latin typeface="+mn-lt"/>
              </a:rPr>
              <a:t>5</a:t>
            </a:r>
            <a:r>
              <a:rPr lang="zh-CN" altLang="en-US" sz="1200" kern="1200" dirty="0">
                <a:solidFill>
                  <a:schemeClr val="tx1"/>
                </a:solidFill>
                <a:effectLst/>
                <a:latin typeface="+mn-lt"/>
              </a:rPr>
              <a:t>含有节点</a:t>
            </a:r>
            <a:r>
              <a:rPr lang="en-US" altLang="zh-CN" sz="1200" kern="1200" dirty="0">
                <a:solidFill>
                  <a:schemeClr val="tx1"/>
                </a:solidFill>
                <a:effectLst/>
                <a:latin typeface="+mn-lt"/>
              </a:rPr>
              <a:t>9</a:t>
            </a:r>
            <a:r>
              <a:rPr lang="zh-CN" altLang="en-US" sz="1200" kern="1200" dirty="0">
                <a:solidFill>
                  <a:schemeClr val="tx1"/>
                </a:solidFill>
                <a:effectLst/>
                <a:latin typeface="+mn-lt"/>
              </a:rPr>
              <a:t>和节点</a:t>
            </a:r>
            <a:r>
              <a:rPr lang="en-US" altLang="zh-CN" sz="1200" kern="1200" dirty="0">
                <a:solidFill>
                  <a:schemeClr val="tx1"/>
                </a:solidFill>
                <a:effectLst/>
                <a:latin typeface="+mn-lt"/>
              </a:rPr>
              <a:t>10</a:t>
            </a:r>
            <a:r>
              <a:rPr lang="zh-CN" altLang="en-US" sz="1200" kern="1200" dirty="0">
                <a:solidFill>
                  <a:schemeClr val="tx1"/>
                </a:solidFill>
                <a:effectLst/>
                <a:latin typeface="+mn-lt"/>
              </a:rPr>
              <a:t>两个下级节点，属于扩展不完整，不符合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从初始节点出发，按照一定的顺序不断扩展到下一个节点，直到不能再扩展</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135105313612</a:t>
            </a:r>
            <a:r>
              <a:rPr lang="zh-CN" altLang="en-US" sz="1200" kern="1200" dirty="0">
                <a:solidFill>
                  <a:schemeClr val="tx1"/>
                </a:solidFill>
                <a:effectLst/>
                <a:latin typeface="+mn-lt"/>
              </a:rPr>
              <a:t>，图中显示，从节点</a:t>
            </a:r>
            <a:r>
              <a:rPr lang="en-US" altLang="zh-CN" sz="1200" kern="1200" dirty="0">
                <a:solidFill>
                  <a:schemeClr val="tx1"/>
                </a:solidFill>
                <a:effectLst/>
                <a:latin typeface="+mn-lt"/>
              </a:rPr>
              <a:t>10</a:t>
            </a:r>
            <a:r>
              <a:rPr lang="zh-CN" altLang="en-US" sz="1200" kern="1200" dirty="0">
                <a:solidFill>
                  <a:schemeClr val="tx1"/>
                </a:solidFill>
                <a:effectLst/>
                <a:latin typeface="+mn-lt"/>
              </a:rPr>
              <a:t>返回到节点</a:t>
            </a:r>
            <a:r>
              <a:rPr lang="en-US" altLang="zh-CN" sz="1200" kern="1200" dirty="0">
                <a:solidFill>
                  <a:schemeClr val="tx1"/>
                </a:solidFill>
                <a:effectLst/>
                <a:latin typeface="+mn-lt"/>
              </a:rPr>
              <a:t>5</a:t>
            </a:r>
            <a:r>
              <a:rPr lang="zh-CN" altLang="en-US" sz="1200" kern="1200" dirty="0">
                <a:solidFill>
                  <a:schemeClr val="tx1"/>
                </a:solidFill>
                <a:effectLst/>
                <a:latin typeface="+mn-lt"/>
              </a:rPr>
              <a:t>时又返回到节点</a:t>
            </a:r>
            <a:r>
              <a:rPr lang="en-US" altLang="zh-CN" sz="1200" kern="1200" dirty="0">
                <a:solidFill>
                  <a:schemeClr val="tx1"/>
                </a:solidFill>
                <a:effectLst/>
                <a:latin typeface="+mn-lt"/>
              </a:rPr>
              <a:t>3</a:t>
            </a:r>
            <a:r>
              <a:rPr lang="zh-CN" altLang="en-US" sz="1200" kern="1200" dirty="0">
                <a:solidFill>
                  <a:schemeClr val="tx1"/>
                </a:solidFill>
                <a:effectLst/>
                <a:latin typeface="+mn-lt"/>
              </a:rPr>
              <a:t>，而节点</a:t>
            </a:r>
            <a:r>
              <a:rPr lang="en-US" altLang="zh-CN" sz="1200" kern="1200" dirty="0">
                <a:solidFill>
                  <a:schemeClr val="tx1"/>
                </a:solidFill>
                <a:effectLst/>
                <a:latin typeface="+mn-lt"/>
              </a:rPr>
              <a:t>5</a:t>
            </a:r>
            <a:r>
              <a:rPr lang="zh-CN" altLang="en-US" sz="1200" kern="1200" dirty="0">
                <a:solidFill>
                  <a:schemeClr val="tx1"/>
                </a:solidFill>
                <a:effectLst/>
                <a:latin typeface="+mn-lt"/>
              </a:rPr>
              <a:t>还含有节点</a:t>
            </a:r>
            <a:r>
              <a:rPr lang="en-US" altLang="zh-CN" sz="1200" kern="1200" dirty="0">
                <a:solidFill>
                  <a:schemeClr val="tx1"/>
                </a:solidFill>
                <a:effectLst/>
                <a:latin typeface="+mn-lt"/>
              </a:rPr>
              <a:t>9</a:t>
            </a:r>
            <a:r>
              <a:rPr lang="zh-CN" altLang="en-US" sz="1200" kern="1200" dirty="0">
                <a:solidFill>
                  <a:schemeClr val="tx1"/>
                </a:solidFill>
                <a:effectLst/>
                <a:latin typeface="+mn-lt"/>
              </a:rPr>
              <a:t>这一下级节点，返回到节点</a:t>
            </a:r>
            <a:r>
              <a:rPr lang="en-US" altLang="zh-CN" sz="1200" kern="1200" dirty="0">
                <a:solidFill>
                  <a:schemeClr val="tx1"/>
                </a:solidFill>
                <a:effectLst/>
                <a:latin typeface="+mn-lt"/>
              </a:rPr>
              <a:t>5</a:t>
            </a:r>
            <a:r>
              <a:rPr lang="zh-CN" altLang="en-US" sz="1200" kern="1200" dirty="0">
                <a:solidFill>
                  <a:schemeClr val="tx1"/>
                </a:solidFill>
                <a:effectLst/>
                <a:latin typeface="+mn-lt"/>
              </a:rPr>
              <a:t>时需要继续扩展到节点</a:t>
            </a:r>
            <a:r>
              <a:rPr lang="en-US" altLang="zh-CN" sz="1200" kern="1200" dirty="0">
                <a:solidFill>
                  <a:schemeClr val="tx1"/>
                </a:solidFill>
                <a:effectLst/>
                <a:latin typeface="+mn-lt"/>
              </a:rPr>
              <a:t>9</a:t>
            </a:r>
            <a:r>
              <a:rPr lang="zh-CN" altLang="en-US" sz="1200" kern="1200" dirty="0">
                <a:solidFill>
                  <a:schemeClr val="tx1"/>
                </a:solidFill>
                <a:effectLst/>
                <a:latin typeface="+mn-lt"/>
              </a:rPr>
              <a:t>，因此扩展顺序有误，不符合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此时返回上一个节点重新寻找一个新的节点继续扩展，如此搜索下去，直到找到目标节点，或者搜索完所有节点为止</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薪酬水平策略：</a:t>
            </a:r>
            <a:r>
              <a:rPr lang="en-US" altLang="zh-CN" sz="1200" kern="1200" dirty="0">
                <a:solidFill>
                  <a:schemeClr val="tx1"/>
                </a:solidFill>
                <a:effectLst/>
                <a:latin typeface="+mn-lt"/>
              </a:rPr>
              <a:t>“</a:t>
            </a:r>
            <a:r>
              <a:rPr lang="zh-CN" altLang="en-US" sz="1200" kern="1200" dirty="0">
                <a:solidFill>
                  <a:schemeClr val="tx1"/>
                </a:solidFill>
                <a:effectLst/>
                <a:latin typeface="+mn-lt"/>
              </a:rPr>
              <a:t>体现企业支付标准</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在市场既定的薪酬水平上</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对公司有利的最优报酬水平</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薪酬结构策略：</a:t>
            </a:r>
            <a:r>
              <a:rPr lang="en-US" altLang="zh-CN" sz="1200" kern="1200" dirty="0">
                <a:solidFill>
                  <a:schemeClr val="tx1"/>
                </a:solidFill>
                <a:effectLst/>
                <a:latin typeface="+mn-lt"/>
              </a:rPr>
              <a:t>“</a:t>
            </a:r>
            <a:r>
              <a:rPr lang="zh-CN" altLang="en-US" sz="1200" kern="1200" dirty="0">
                <a:solidFill>
                  <a:schemeClr val="tx1"/>
                </a:solidFill>
                <a:effectLst/>
                <a:latin typeface="+mn-lt"/>
              </a:rPr>
              <a:t>体现企业支付差异</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通过企业的工资等级和工资幅度、加薪条件、晋升降级、小时工资、加班休假、工作时间等方面的薪酬政策表现</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项：甲企业根据市场调查结果设定薪酬标准，符合</a:t>
            </a:r>
            <a:r>
              <a:rPr lang="en-US" altLang="zh-CN" sz="1200" kern="1200" dirty="0">
                <a:solidFill>
                  <a:schemeClr val="tx1"/>
                </a:solidFill>
                <a:effectLst/>
                <a:latin typeface="+mn-lt"/>
              </a:rPr>
              <a:t>“</a:t>
            </a:r>
            <a:r>
              <a:rPr lang="zh-CN" altLang="en-US" sz="1200" kern="1200" dirty="0">
                <a:solidFill>
                  <a:schemeClr val="tx1"/>
                </a:solidFill>
                <a:effectLst/>
                <a:latin typeface="+mn-lt"/>
              </a:rPr>
              <a:t>在市场既定的薪酬水平上</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对公司有利的最优报酬水平</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薪酬水平策略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薪酬结构策略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项：乙企业因今年赢利提高全员工资，符合</a:t>
            </a:r>
            <a:r>
              <a:rPr lang="en-US" altLang="zh-CN" sz="1200" kern="1200" dirty="0">
                <a:solidFill>
                  <a:schemeClr val="tx1"/>
                </a:solidFill>
                <a:effectLst/>
                <a:latin typeface="+mn-lt"/>
              </a:rPr>
              <a:t>“</a:t>
            </a:r>
            <a:r>
              <a:rPr lang="zh-CN" altLang="en-US" sz="1200" kern="1200" dirty="0">
                <a:solidFill>
                  <a:schemeClr val="tx1"/>
                </a:solidFill>
                <a:effectLst/>
                <a:latin typeface="+mn-lt"/>
              </a:rPr>
              <a:t>体现企业支付标准</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在市场既定的薪酬水平上</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对公司有利的最优报酬水平</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薪酬水平策略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项：丙企业员工工资分为两部分，且绩效工资与员工绩效挂钩，符合</a:t>
            </a:r>
            <a:r>
              <a:rPr lang="en-US" altLang="zh-CN" sz="1200" kern="1200" dirty="0">
                <a:solidFill>
                  <a:schemeClr val="tx1"/>
                </a:solidFill>
                <a:effectLst/>
                <a:latin typeface="+mn-lt"/>
              </a:rPr>
              <a:t>“</a:t>
            </a:r>
            <a:r>
              <a:rPr lang="zh-CN" altLang="en-US" sz="1200" kern="1200" dirty="0">
                <a:solidFill>
                  <a:schemeClr val="tx1"/>
                </a:solidFill>
                <a:effectLst/>
                <a:latin typeface="+mn-lt"/>
              </a:rPr>
              <a:t>体现企业支付差异</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通过企业的工资等级和工资幅度、加薪条件、晋升降级、小时工资、加班休假、工作时间等方面的薪酬政策表现</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薪酬结构策略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薪酬水平策略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项：丁企业采取不同方式调整三个职位层次的人员薪酬，符合</a:t>
            </a:r>
            <a:r>
              <a:rPr lang="en-US" altLang="zh-CN" sz="1200" kern="1200" dirty="0">
                <a:solidFill>
                  <a:schemeClr val="tx1"/>
                </a:solidFill>
                <a:effectLst/>
                <a:latin typeface="+mn-lt"/>
              </a:rPr>
              <a:t>“</a:t>
            </a:r>
            <a:r>
              <a:rPr lang="zh-CN" altLang="en-US" sz="1200" kern="1200" dirty="0">
                <a:solidFill>
                  <a:schemeClr val="tx1"/>
                </a:solidFill>
                <a:effectLst/>
                <a:latin typeface="+mn-lt"/>
              </a:rPr>
              <a:t>体现企业支付差异</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通过企业的工资等级和工资幅度、加薪条件、晋升降级、小时工资、加班休假、工作时间等方面的薪酬政策表现</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薪酬结构策略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薪酬水平策略</a:t>
            </a:r>
            <a:r>
              <a:rPr lang="en-US" altLang="zh-CN" sz="1200" kern="1200" dirty="0">
                <a:solidFill>
                  <a:schemeClr val="tx1"/>
                </a:solidFill>
                <a:effectLst/>
                <a:latin typeface="+mn-lt"/>
              </a:rPr>
              <a:t>”</a:t>
            </a:r>
            <a:r>
              <a:rPr lang="zh-CN" altLang="en-US" sz="1200" kern="1200" dirty="0">
                <a:solidFill>
                  <a:schemeClr val="tx1"/>
                </a:solidFill>
                <a:effectLst/>
                <a:latin typeface="+mn-lt"/>
              </a:rPr>
              <a:t>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引用词语时，只截取其中部分字眼的意义，而置其余于不顾</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项：该项引用</a:t>
            </a:r>
            <a:r>
              <a:rPr lang="en-US" altLang="zh-CN" sz="1200" kern="1200" dirty="0">
                <a:solidFill>
                  <a:schemeClr val="tx1"/>
                </a:solidFill>
                <a:effectLst/>
                <a:latin typeface="+mn-lt"/>
              </a:rPr>
              <a:t>“</a:t>
            </a:r>
            <a:r>
              <a:rPr lang="zh-CN" altLang="en-US" sz="1200" kern="1200" dirty="0">
                <a:solidFill>
                  <a:schemeClr val="tx1"/>
                </a:solidFill>
                <a:effectLst/>
                <a:latin typeface="+mn-lt"/>
              </a:rPr>
              <a:t>小儿科</a:t>
            </a:r>
            <a:r>
              <a:rPr lang="en-US" altLang="zh-CN" sz="1200" kern="1200" dirty="0">
                <a:solidFill>
                  <a:schemeClr val="tx1"/>
                </a:solidFill>
                <a:effectLst/>
                <a:latin typeface="+mn-lt"/>
              </a:rPr>
              <a:t>”</a:t>
            </a:r>
            <a:r>
              <a:rPr lang="zh-CN" altLang="en-US" sz="1200" kern="1200" dirty="0">
                <a:solidFill>
                  <a:schemeClr val="tx1"/>
                </a:solidFill>
                <a:effectLst/>
                <a:latin typeface="+mn-lt"/>
              </a:rPr>
              <a:t>时，只取</a:t>
            </a:r>
            <a:r>
              <a:rPr lang="en-US" altLang="zh-CN" sz="1200" kern="1200" dirty="0">
                <a:solidFill>
                  <a:schemeClr val="tx1"/>
                </a:solidFill>
                <a:effectLst/>
                <a:latin typeface="+mn-lt"/>
              </a:rPr>
              <a:t>“</a:t>
            </a:r>
            <a:r>
              <a:rPr lang="zh-CN" altLang="en-US" sz="1200" kern="1200" dirty="0">
                <a:solidFill>
                  <a:schemeClr val="tx1"/>
                </a:solidFill>
                <a:effectLst/>
                <a:latin typeface="+mn-lt"/>
              </a:rPr>
              <a:t>小</a:t>
            </a:r>
            <a:r>
              <a:rPr lang="en-US" altLang="zh-CN" sz="1200" kern="1200" dirty="0">
                <a:solidFill>
                  <a:schemeClr val="tx1"/>
                </a:solidFill>
                <a:effectLst/>
                <a:latin typeface="+mn-lt"/>
              </a:rPr>
              <a:t>”</a:t>
            </a:r>
            <a:r>
              <a:rPr lang="zh-CN" altLang="en-US" sz="1200" kern="1200" dirty="0">
                <a:solidFill>
                  <a:schemeClr val="tx1"/>
                </a:solidFill>
                <a:effectLst/>
                <a:latin typeface="+mn-lt"/>
              </a:rPr>
              <a:t>义而舍</a:t>
            </a:r>
            <a:r>
              <a:rPr lang="en-US" altLang="zh-CN" sz="1200" kern="1200" dirty="0">
                <a:solidFill>
                  <a:schemeClr val="tx1"/>
                </a:solidFill>
                <a:effectLst/>
                <a:latin typeface="+mn-lt"/>
              </a:rPr>
              <a:t>“</a:t>
            </a:r>
            <a:r>
              <a:rPr lang="zh-CN" altLang="en-US" sz="1200" kern="1200" dirty="0">
                <a:solidFill>
                  <a:schemeClr val="tx1"/>
                </a:solidFill>
                <a:effectLst/>
                <a:latin typeface="+mn-lt"/>
              </a:rPr>
              <a:t>儿科</a:t>
            </a:r>
            <a:r>
              <a:rPr lang="en-US" altLang="zh-CN" sz="1200" kern="1200" dirty="0">
                <a:solidFill>
                  <a:schemeClr val="tx1"/>
                </a:solidFill>
                <a:effectLst/>
                <a:latin typeface="+mn-lt"/>
              </a:rPr>
              <a:t>”</a:t>
            </a:r>
            <a:r>
              <a:rPr lang="zh-CN" altLang="en-US" sz="1200" kern="1200" dirty="0">
                <a:solidFill>
                  <a:schemeClr val="tx1"/>
                </a:solidFill>
                <a:effectLst/>
                <a:latin typeface="+mn-lt"/>
              </a:rPr>
              <a:t>义，表明了眼前的情形在他眼中只是小阵仗，符合</a:t>
            </a:r>
            <a:r>
              <a:rPr lang="en-US" altLang="zh-CN" sz="1200" kern="1200" dirty="0">
                <a:solidFill>
                  <a:schemeClr val="tx1"/>
                </a:solidFill>
                <a:effectLst/>
                <a:latin typeface="+mn-lt"/>
              </a:rPr>
              <a:t>“</a:t>
            </a:r>
            <a:r>
              <a:rPr lang="zh-CN" altLang="en-US" sz="1200" kern="1200" dirty="0">
                <a:solidFill>
                  <a:schemeClr val="tx1"/>
                </a:solidFill>
                <a:effectLst/>
                <a:latin typeface="+mn-lt"/>
              </a:rPr>
              <a:t>引用词语时，只截取其中部分字眼的意义，而置其余于不顾</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，符合定义，排除；小儿科本指儿科。现多喻指小家子气。也比喻微不足道的事情</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项：该项引用</a:t>
            </a:r>
            <a:r>
              <a:rPr lang="en-US" altLang="zh-CN" sz="1200" kern="1200" dirty="0">
                <a:solidFill>
                  <a:schemeClr val="tx1"/>
                </a:solidFill>
                <a:effectLst/>
                <a:latin typeface="+mn-lt"/>
              </a:rPr>
              <a:t>“</a:t>
            </a:r>
            <a:r>
              <a:rPr lang="zh-CN" altLang="en-US" sz="1200" kern="1200" dirty="0">
                <a:solidFill>
                  <a:schemeClr val="tx1"/>
                </a:solidFill>
                <a:effectLst/>
                <a:latin typeface="+mn-lt"/>
              </a:rPr>
              <a:t>光杆司令</a:t>
            </a:r>
            <a:r>
              <a:rPr lang="en-US" altLang="zh-CN" sz="1200" kern="1200" dirty="0">
                <a:solidFill>
                  <a:schemeClr val="tx1"/>
                </a:solidFill>
                <a:effectLst/>
                <a:latin typeface="+mn-lt"/>
              </a:rPr>
              <a:t>”</a:t>
            </a:r>
            <a:r>
              <a:rPr lang="zh-CN" altLang="en-US" sz="1200" kern="1200" dirty="0">
                <a:solidFill>
                  <a:schemeClr val="tx1"/>
                </a:solidFill>
                <a:effectLst/>
                <a:latin typeface="+mn-lt"/>
              </a:rPr>
              <a:t>时，只取</a:t>
            </a:r>
            <a:r>
              <a:rPr lang="en-US" altLang="zh-CN" sz="1200" kern="1200" dirty="0">
                <a:solidFill>
                  <a:schemeClr val="tx1"/>
                </a:solidFill>
                <a:effectLst/>
                <a:latin typeface="+mn-lt"/>
              </a:rPr>
              <a:t>“</a:t>
            </a:r>
            <a:r>
              <a:rPr lang="zh-CN" altLang="en-US" sz="1200" kern="1200" dirty="0">
                <a:solidFill>
                  <a:schemeClr val="tx1"/>
                </a:solidFill>
                <a:effectLst/>
                <a:latin typeface="+mn-lt"/>
              </a:rPr>
              <a:t>光杆</a:t>
            </a:r>
            <a:r>
              <a:rPr lang="en-US" altLang="zh-CN" sz="1200" kern="1200" dirty="0">
                <a:solidFill>
                  <a:schemeClr val="tx1"/>
                </a:solidFill>
                <a:effectLst/>
                <a:latin typeface="+mn-lt"/>
              </a:rPr>
              <a:t>”</a:t>
            </a:r>
            <a:r>
              <a:rPr lang="zh-CN" altLang="en-US" sz="1200" kern="1200" dirty="0">
                <a:solidFill>
                  <a:schemeClr val="tx1"/>
                </a:solidFill>
                <a:effectLst/>
                <a:latin typeface="+mn-lt"/>
              </a:rPr>
              <a:t>义而舍</a:t>
            </a:r>
            <a:r>
              <a:rPr lang="en-US" altLang="zh-CN" sz="1200" kern="1200" dirty="0">
                <a:solidFill>
                  <a:schemeClr val="tx1"/>
                </a:solidFill>
                <a:effectLst/>
                <a:latin typeface="+mn-lt"/>
              </a:rPr>
              <a:t>“</a:t>
            </a:r>
            <a:r>
              <a:rPr lang="zh-CN" altLang="en-US" sz="1200" kern="1200" dirty="0">
                <a:solidFill>
                  <a:schemeClr val="tx1"/>
                </a:solidFill>
                <a:effectLst/>
                <a:latin typeface="+mn-lt"/>
              </a:rPr>
              <a:t>司令</a:t>
            </a:r>
            <a:r>
              <a:rPr lang="en-US" altLang="zh-CN" sz="1200" kern="1200" dirty="0">
                <a:solidFill>
                  <a:schemeClr val="tx1"/>
                </a:solidFill>
                <a:effectLst/>
                <a:latin typeface="+mn-lt"/>
              </a:rPr>
              <a:t>”</a:t>
            </a:r>
            <a:r>
              <a:rPr lang="zh-CN" altLang="en-US" sz="1200" kern="1200" dirty="0">
                <a:solidFill>
                  <a:schemeClr val="tx1"/>
                </a:solidFill>
                <a:effectLst/>
                <a:latin typeface="+mn-lt"/>
              </a:rPr>
              <a:t>义，表明了小林因搞科研而至今未成婚，仍独身一人，符合</a:t>
            </a:r>
            <a:r>
              <a:rPr lang="en-US" altLang="zh-CN" sz="1200" kern="1200" dirty="0">
                <a:solidFill>
                  <a:schemeClr val="tx1"/>
                </a:solidFill>
                <a:effectLst/>
                <a:latin typeface="+mn-lt"/>
              </a:rPr>
              <a:t>“</a:t>
            </a:r>
            <a:r>
              <a:rPr lang="zh-CN" altLang="en-US" sz="1200" kern="1200" dirty="0">
                <a:solidFill>
                  <a:schemeClr val="tx1"/>
                </a:solidFill>
                <a:effectLst/>
                <a:latin typeface="+mn-lt"/>
              </a:rPr>
              <a:t>引用词语时，只截取其中部分字眼的意义，而置其余于不顾</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项：该项引用</a:t>
            </a:r>
            <a:r>
              <a:rPr lang="en-US" altLang="zh-CN" sz="1200" kern="1200" dirty="0">
                <a:solidFill>
                  <a:schemeClr val="tx1"/>
                </a:solidFill>
                <a:effectLst/>
                <a:latin typeface="+mn-lt"/>
              </a:rPr>
              <a:t>“</a:t>
            </a:r>
            <a:r>
              <a:rPr lang="zh-CN" altLang="en-US" sz="1200" kern="1200" dirty="0">
                <a:solidFill>
                  <a:schemeClr val="tx1"/>
                </a:solidFill>
                <a:effectLst/>
                <a:latin typeface="+mn-lt"/>
              </a:rPr>
              <a:t>上刀山下火海</a:t>
            </a:r>
            <a:r>
              <a:rPr lang="en-US" altLang="zh-CN" sz="1200" kern="1200" dirty="0">
                <a:solidFill>
                  <a:schemeClr val="tx1"/>
                </a:solidFill>
                <a:effectLst/>
                <a:latin typeface="+mn-lt"/>
              </a:rPr>
              <a:t>”</a:t>
            </a:r>
            <a:r>
              <a:rPr lang="zh-CN" altLang="en-US" sz="1200" kern="1200" dirty="0">
                <a:solidFill>
                  <a:schemeClr val="tx1"/>
                </a:solidFill>
                <a:effectLst/>
                <a:latin typeface="+mn-lt"/>
              </a:rPr>
              <a:t>时，只取</a:t>
            </a:r>
            <a:r>
              <a:rPr lang="en-US" altLang="zh-CN" sz="1200" kern="1200" dirty="0">
                <a:solidFill>
                  <a:schemeClr val="tx1"/>
                </a:solidFill>
                <a:effectLst/>
                <a:latin typeface="+mn-lt"/>
              </a:rPr>
              <a:t>“</a:t>
            </a:r>
            <a:r>
              <a:rPr lang="zh-CN" altLang="en-US" sz="1200" kern="1200" dirty="0">
                <a:solidFill>
                  <a:schemeClr val="tx1"/>
                </a:solidFill>
                <a:effectLst/>
                <a:latin typeface="+mn-lt"/>
              </a:rPr>
              <a:t>下火海</a:t>
            </a:r>
            <a:r>
              <a:rPr lang="en-US" altLang="zh-CN" sz="1200" kern="1200" dirty="0">
                <a:solidFill>
                  <a:schemeClr val="tx1"/>
                </a:solidFill>
                <a:effectLst/>
                <a:latin typeface="+mn-lt"/>
              </a:rPr>
              <a:t>”</a:t>
            </a:r>
            <a:r>
              <a:rPr lang="zh-CN" altLang="en-US" sz="1200" kern="1200" dirty="0">
                <a:solidFill>
                  <a:schemeClr val="tx1"/>
                </a:solidFill>
                <a:effectLst/>
                <a:latin typeface="+mn-lt"/>
              </a:rPr>
              <a:t>义而舍</a:t>
            </a:r>
            <a:r>
              <a:rPr lang="en-US" altLang="zh-CN" sz="1200" kern="1200" dirty="0">
                <a:solidFill>
                  <a:schemeClr val="tx1"/>
                </a:solidFill>
                <a:effectLst/>
                <a:latin typeface="+mn-lt"/>
              </a:rPr>
              <a:t>“</a:t>
            </a:r>
            <a:r>
              <a:rPr lang="zh-CN" altLang="en-US" sz="1200" kern="1200" dirty="0">
                <a:solidFill>
                  <a:schemeClr val="tx1"/>
                </a:solidFill>
                <a:effectLst/>
                <a:latin typeface="+mn-lt"/>
              </a:rPr>
              <a:t>上刀山</a:t>
            </a:r>
            <a:r>
              <a:rPr lang="en-US" altLang="zh-CN" sz="1200" kern="1200" dirty="0">
                <a:solidFill>
                  <a:schemeClr val="tx1"/>
                </a:solidFill>
                <a:effectLst/>
                <a:latin typeface="+mn-lt"/>
              </a:rPr>
              <a:t>”</a:t>
            </a:r>
            <a:r>
              <a:rPr lang="zh-CN" altLang="en-US" sz="1200" kern="1200" dirty="0">
                <a:solidFill>
                  <a:schemeClr val="tx1"/>
                </a:solidFill>
                <a:effectLst/>
                <a:latin typeface="+mn-lt"/>
              </a:rPr>
              <a:t>义，突出了消防员在扑救大火时不畏艰难险阻的勇敢精神，符合</a:t>
            </a:r>
            <a:r>
              <a:rPr lang="en-US" altLang="zh-CN" sz="1200" kern="1200" dirty="0">
                <a:solidFill>
                  <a:schemeClr val="tx1"/>
                </a:solidFill>
                <a:effectLst/>
                <a:latin typeface="+mn-lt"/>
              </a:rPr>
              <a:t>“</a:t>
            </a:r>
            <a:r>
              <a:rPr lang="zh-CN" altLang="en-US" sz="1200" kern="1200" dirty="0">
                <a:solidFill>
                  <a:schemeClr val="tx1"/>
                </a:solidFill>
                <a:effectLst/>
                <a:latin typeface="+mn-lt"/>
              </a:rPr>
              <a:t>引用词语时，只截取其中部分字眼的意义，而置其余于不顾</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项：该项引用</a:t>
            </a:r>
            <a:r>
              <a:rPr lang="en-US" altLang="zh-CN" sz="1200" kern="1200" dirty="0">
                <a:solidFill>
                  <a:schemeClr val="tx1"/>
                </a:solidFill>
                <a:effectLst/>
                <a:latin typeface="+mn-lt"/>
              </a:rPr>
              <a:t>“</a:t>
            </a:r>
            <a:r>
              <a:rPr lang="zh-CN" altLang="en-US" sz="1200" kern="1200" dirty="0">
                <a:solidFill>
                  <a:schemeClr val="tx1"/>
                </a:solidFill>
                <a:effectLst/>
                <a:latin typeface="+mn-lt"/>
              </a:rPr>
              <a:t>开药方</a:t>
            </a:r>
            <a:r>
              <a:rPr lang="en-US" altLang="zh-CN" sz="1200" kern="1200" dirty="0">
                <a:solidFill>
                  <a:schemeClr val="tx1"/>
                </a:solidFill>
                <a:effectLst/>
                <a:latin typeface="+mn-lt"/>
              </a:rPr>
              <a:t>”</a:t>
            </a:r>
            <a:r>
              <a:rPr lang="zh-CN" altLang="en-US" sz="1200" kern="1200" dirty="0">
                <a:solidFill>
                  <a:schemeClr val="tx1"/>
                </a:solidFill>
                <a:effectLst/>
                <a:latin typeface="+mn-lt"/>
              </a:rPr>
              <a:t>时，用了其完整的意思，表明了他在走投无路时，找老师寻求解决方法，不符合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引用词语时，只截取其中部分字眼的意义，而置其余于不顾</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解析：本题属于语义类，主要考查近义关系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殚精竭虑</a:t>
            </a:r>
            <a:r>
              <a:rPr lang="en-US" altLang="zh-CN" sz="1200" kern="1200" dirty="0">
                <a:solidFill>
                  <a:schemeClr val="tx1"/>
                </a:solidFill>
                <a:effectLst/>
                <a:latin typeface="+mn-lt"/>
              </a:rPr>
              <a:t>”</a:t>
            </a:r>
            <a:r>
              <a:rPr lang="zh-CN" altLang="en-US" sz="1200" kern="1200" dirty="0">
                <a:solidFill>
                  <a:schemeClr val="tx1"/>
                </a:solidFill>
                <a:effectLst/>
                <a:latin typeface="+mn-lt"/>
              </a:rPr>
              <a:t>指用尽精力、费尽心思，</a:t>
            </a:r>
            <a:r>
              <a:rPr lang="en-US" altLang="zh-CN" sz="1200" kern="1200" dirty="0">
                <a:solidFill>
                  <a:schemeClr val="tx1"/>
                </a:solidFill>
                <a:effectLst/>
                <a:latin typeface="+mn-lt"/>
              </a:rPr>
              <a:t>“</a:t>
            </a:r>
            <a:r>
              <a:rPr lang="zh-CN" altLang="en-US" sz="1200" kern="1200" dirty="0">
                <a:solidFill>
                  <a:schemeClr val="tx1"/>
                </a:solidFill>
                <a:effectLst/>
                <a:latin typeface="+mn-lt"/>
              </a:rPr>
              <a:t>费尽心机</a:t>
            </a:r>
            <a:r>
              <a:rPr lang="en-US" altLang="zh-CN" sz="1200" kern="1200" dirty="0">
                <a:solidFill>
                  <a:schemeClr val="tx1"/>
                </a:solidFill>
                <a:effectLst/>
                <a:latin typeface="+mn-lt"/>
              </a:rPr>
              <a:t>”</a:t>
            </a:r>
            <a:r>
              <a:rPr lang="zh-CN" altLang="en-US" sz="1200" kern="1200" dirty="0">
                <a:solidFill>
                  <a:schemeClr val="tx1"/>
                </a:solidFill>
                <a:effectLst/>
                <a:latin typeface="+mn-lt"/>
              </a:rPr>
              <a:t>指挖空心思、想尽办法，二者是近义关系。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狐假虎威</a:t>
            </a:r>
            <a:r>
              <a:rPr lang="en-US" altLang="zh-CN" sz="1200" kern="1200" dirty="0">
                <a:solidFill>
                  <a:schemeClr val="tx1"/>
                </a:solidFill>
                <a:effectLst/>
                <a:latin typeface="+mn-lt"/>
              </a:rPr>
              <a:t>”</a:t>
            </a:r>
            <a:r>
              <a:rPr lang="zh-CN" altLang="en-US" sz="1200" kern="1200" dirty="0">
                <a:solidFill>
                  <a:schemeClr val="tx1"/>
                </a:solidFill>
                <a:effectLst/>
                <a:latin typeface="+mn-lt"/>
              </a:rPr>
              <a:t>指狐狸假借老虎的威势吓跑百兽，比喻倚仗别人的势力来欺压、恐吓人，</a:t>
            </a:r>
            <a:r>
              <a:rPr lang="en-US" altLang="zh-CN" sz="1200" kern="1200" dirty="0">
                <a:solidFill>
                  <a:schemeClr val="tx1"/>
                </a:solidFill>
                <a:effectLst/>
                <a:latin typeface="+mn-lt"/>
              </a:rPr>
              <a:t>“</a:t>
            </a:r>
            <a:r>
              <a:rPr lang="zh-CN" altLang="en-US" sz="1200" kern="1200" dirty="0">
                <a:solidFill>
                  <a:schemeClr val="tx1"/>
                </a:solidFill>
                <a:effectLst/>
                <a:latin typeface="+mn-lt"/>
              </a:rPr>
              <a:t>虚张声势</a:t>
            </a:r>
            <a:r>
              <a:rPr lang="en-US" altLang="zh-CN" sz="1200" kern="1200" dirty="0">
                <a:solidFill>
                  <a:schemeClr val="tx1"/>
                </a:solidFill>
                <a:effectLst/>
                <a:latin typeface="+mn-lt"/>
              </a:rPr>
              <a:t>”</a:t>
            </a:r>
            <a:r>
              <a:rPr lang="zh-CN" altLang="en-US" sz="1200" kern="1200" dirty="0">
                <a:solidFill>
                  <a:schemeClr val="tx1"/>
                </a:solidFill>
                <a:effectLst/>
                <a:latin typeface="+mn-lt"/>
              </a:rPr>
              <a:t>形容假装出强大的气势，指假造声势，借以吓人，二者是近义关系，与题干逻辑关系一致，保留；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舍生忘死</a:t>
            </a:r>
            <a:r>
              <a:rPr lang="en-US" altLang="zh-CN" sz="1200" kern="1200" dirty="0">
                <a:solidFill>
                  <a:schemeClr val="tx1"/>
                </a:solidFill>
                <a:effectLst/>
                <a:latin typeface="+mn-lt"/>
              </a:rPr>
              <a:t>”</a:t>
            </a:r>
            <a:r>
              <a:rPr lang="zh-CN" altLang="en-US" sz="1200" kern="1200" dirty="0">
                <a:solidFill>
                  <a:schemeClr val="tx1"/>
                </a:solidFill>
                <a:effectLst/>
                <a:latin typeface="+mn-lt"/>
              </a:rPr>
              <a:t>形容不顾性命危险，</a:t>
            </a:r>
            <a:r>
              <a:rPr lang="en-US" altLang="zh-CN" sz="1200" kern="1200" dirty="0">
                <a:solidFill>
                  <a:schemeClr val="tx1"/>
                </a:solidFill>
                <a:effectLst/>
                <a:latin typeface="+mn-lt"/>
              </a:rPr>
              <a:t>“</a:t>
            </a:r>
            <a:r>
              <a:rPr lang="zh-CN" altLang="en-US" sz="1200" kern="1200" dirty="0">
                <a:solidFill>
                  <a:schemeClr val="tx1"/>
                </a:solidFill>
                <a:effectLst/>
                <a:latin typeface="+mn-lt"/>
              </a:rPr>
              <a:t>死里逃生</a:t>
            </a:r>
            <a:r>
              <a:rPr lang="en-US" altLang="zh-CN" sz="1200" kern="1200" dirty="0">
                <a:solidFill>
                  <a:schemeClr val="tx1"/>
                </a:solidFill>
                <a:effectLst/>
                <a:latin typeface="+mn-lt"/>
              </a:rPr>
              <a:t>”</a:t>
            </a:r>
            <a:r>
              <a:rPr lang="zh-CN" altLang="en-US" sz="1200" kern="1200" dirty="0">
                <a:solidFill>
                  <a:schemeClr val="tx1"/>
                </a:solidFill>
                <a:effectLst/>
                <a:latin typeface="+mn-lt"/>
              </a:rPr>
              <a:t>指从极其危险的境地中逃脱，二者不是近义关系，与题干逻辑关系不一致，排除；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侃侃而谈</a:t>
            </a:r>
            <a:r>
              <a:rPr lang="en-US" altLang="zh-CN" sz="1200" kern="1200" dirty="0">
                <a:solidFill>
                  <a:schemeClr val="tx1"/>
                </a:solidFill>
                <a:effectLst/>
                <a:latin typeface="+mn-lt"/>
              </a:rPr>
              <a:t>”</a:t>
            </a:r>
            <a:r>
              <a:rPr lang="zh-CN" altLang="en-US" sz="1200" kern="1200" dirty="0">
                <a:solidFill>
                  <a:schemeClr val="tx1"/>
                </a:solidFill>
                <a:effectLst/>
                <a:latin typeface="+mn-lt"/>
              </a:rPr>
              <a:t>指理直气壮、不慌不忙地说话，</a:t>
            </a:r>
            <a:r>
              <a:rPr lang="en-US" altLang="zh-CN" sz="1200" kern="1200" dirty="0">
                <a:solidFill>
                  <a:schemeClr val="tx1"/>
                </a:solidFill>
                <a:effectLst/>
                <a:latin typeface="+mn-lt"/>
              </a:rPr>
              <a:t>“</a:t>
            </a:r>
            <a:r>
              <a:rPr lang="zh-CN" altLang="en-US" sz="1200" kern="1200" dirty="0">
                <a:solidFill>
                  <a:schemeClr val="tx1"/>
                </a:solidFill>
                <a:effectLst/>
                <a:latin typeface="+mn-lt"/>
              </a:rPr>
              <a:t>喋喋不休</a:t>
            </a:r>
            <a:r>
              <a:rPr lang="en-US" altLang="zh-CN" sz="1200" kern="1200" dirty="0">
                <a:solidFill>
                  <a:schemeClr val="tx1"/>
                </a:solidFill>
                <a:effectLst/>
                <a:latin typeface="+mn-lt"/>
              </a:rPr>
              <a:t>”</a:t>
            </a:r>
            <a:r>
              <a:rPr lang="zh-CN" altLang="en-US" sz="1200" kern="1200" dirty="0">
                <a:solidFill>
                  <a:schemeClr val="tx1"/>
                </a:solidFill>
                <a:effectLst/>
                <a:latin typeface="+mn-lt"/>
              </a:rPr>
              <a:t>指说话唠唠叨叨、没完没了，二者是近义关系，与题干逻辑关系一致，保留；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光怪陆离</a:t>
            </a:r>
            <a:r>
              <a:rPr lang="en-US" altLang="zh-CN" sz="1200" kern="1200" dirty="0">
                <a:solidFill>
                  <a:schemeClr val="tx1"/>
                </a:solidFill>
                <a:effectLst/>
                <a:latin typeface="+mn-lt"/>
              </a:rPr>
              <a:t>”</a:t>
            </a:r>
            <a:r>
              <a:rPr lang="zh-CN" altLang="en-US" sz="1200" kern="1200" dirty="0">
                <a:solidFill>
                  <a:schemeClr val="tx1"/>
                </a:solidFill>
                <a:effectLst/>
                <a:latin typeface="+mn-lt"/>
              </a:rPr>
              <a:t>形容现象奇异、色彩繁杂，</a:t>
            </a:r>
            <a:r>
              <a:rPr lang="en-US" altLang="zh-CN" sz="1200" kern="1200" dirty="0">
                <a:solidFill>
                  <a:schemeClr val="tx1"/>
                </a:solidFill>
                <a:effectLst/>
                <a:latin typeface="+mn-lt"/>
              </a:rPr>
              <a:t>“</a:t>
            </a:r>
            <a:r>
              <a:rPr lang="zh-CN" altLang="en-US" sz="1200" kern="1200" dirty="0">
                <a:solidFill>
                  <a:schemeClr val="tx1"/>
                </a:solidFill>
                <a:effectLst/>
                <a:latin typeface="+mn-lt"/>
              </a:rPr>
              <a:t>五光十色</a:t>
            </a:r>
            <a:r>
              <a:rPr lang="en-US" altLang="zh-CN" sz="1200" kern="1200" dirty="0">
                <a:solidFill>
                  <a:schemeClr val="tx1"/>
                </a:solidFill>
                <a:effectLst/>
                <a:latin typeface="+mn-lt"/>
              </a:rPr>
              <a:t>”</a:t>
            </a:r>
            <a:r>
              <a:rPr lang="zh-CN" altLang="en-US" sz="1200" kern="1200" dirty="0">
                <a:solidFill>
                  <a:schemeClr val="tx1"/>
                </a:solidFill>
                <a:effectLst/>
                <a:latin typeface="+mn-lt"/>
              </a:rPr>
              <a:t>形容色彩鲜艳、样式繁多，二者是近义关系，与题干逻辑关系一致，保留。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比较</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三项，题干中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殚精竭虑</a:t>
            </a:r>
            <a:r>
              <a:rPr lang="en-US" altLang="zh-CN" sz="1200" kern="1200" dirty="0">
                <a:solidFill>
                  <a:schemeClr val="tx1"/>
                </a:solidFill>
                <a:effectLst/>
                <a:latin typeface="+mn-lt"/>
              </a:rPr>
              <a:t>”</a:t>
            </a:r>
            <a:r>
              <a:rPr lang="zh-CN" altLang="en-US" sz="1200" kern="1200" dirty="0">
                <a:solidFill>
                  <a:schemeClr val="tx1"/>
                </a:solidFill>
                <a:effectLst/>
                <a:latin typeface="+mn-lt"/>
              </a:rPr>
              <a:t>是褒义词，</a:t>
            </a:r>
            <a:r>
              <a:rPr lang="en-US" altLang="zh-CN" sz="1200" kern="1200" dirty="0">
                <a:solidFill>
                  <a:schemeClr val="tx1"/>
                </a:solidFill>
                <a:effectLst/>
                <a:latin typeface="+mn-lt"/>
              </a:rPr>
              <a:t>“</a:t>
            </a:r>
            <a:r>
              <a:rPr lang="zh-CN" altLang="en-US" sz="1200" kern="1200" dirty="0">
                <a:solidFill>
                  <a:schemeClr val="tx1"/>
                </a:solidFill>
                <a:effectLst/>
                <a:latin typeface="+mn-lt"/>
              </a:rPr>
              <a:t>费尽心机</a:t>
            </a:r>
            <a:r>
              <a:rPr lang="en-US" altLang="zh-CN" sz="1200" kern="1200" dirty="0">
                <a:solidFill>
                  <a:schemeClr val="tx1"/>
                </a:solidFill>
                <a:effectLst/>
                <a:latin typeface="+mn-lt"/>
              </a:rPr>
              <a:t>”</a:t>
            </a:r>
            <a:r>
              <a:rPr lang="zh-CN" altLang="en-US" sz="1200" kern="1200" dirty="0">
                <a:solidFill>
                  <a:schemeClr val="tx1"/>
                </a:solidFill>
                <a:effectLst/>
                <a:latin typeface="+mn-lt"/>
              </a:rPr>
              <a:t>是贬义词，</a:t>
            </a:r>
            <a:r>
              <a:rPr lang="en-US" altLang="zh-CN" sz="1200" kern="1200" dirty="0">
                <a:solidFill>
                  <a:schemeClr val="tx1"/>
                </a:solidFill>
                <a:effectLst/>
                <a:latin typeface="+mn-lt"/>
              </a:rPr>
              <a:t>A</a:t>
            </a:r>
            <a:r>
              <a:rPr lang="zh-CN" altLang="en-US" sz="1200" kern="1200" dirty="0">
                <a:solidFill>
                  <a:schemeClr val="tx1"/>
                </a:solidFill>
                <a:effectLst/>
                <a:latin typeface="+mn-lt"/>
              </a:rPr>
              <a:t>项中</a:t>
            </a:r>
            <a:r>
              <a:rPr lang="en-US" altLang="zh-CN" sz="1200" kern="1200" dirty="0">
                <a:solidFill>
                  <a:schemeClr val="tx1"/>
                </a:solidFill>
                <a:effectLst/>
                <a:latin typeface="+mn-lt"/>
              </a:rPr>
              <a:t>“</a:t>
            </a:r>
            <a:r>
              <a:rPr lang="zh-CN" altLang="en-US" sz="1200" kern="1200" dirty="0">
                <a:solidFill>
                  <a:schemeClr val="tx1"/>
                </a:solidFill>
                <a:effectLst/>
                <a:latin typeface="+mn-lt"/>
              </a:rPr>
              <a:t>狐假虎威</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虚张声势</a:t>
            </a:r>
            <a:r>
              <a:rPr lang="en-US" altLang="zh-CN" sz="1200" kern="1200" dirty="0">
                <a:solidFill>
                  <a:schemeClr val="tx1"/>
                </a:solidFill>
                <a:effectLst/>
                <a:latin typeface="+mn-lt"/>
              </a:rPr>
              <a:t>”</a:t>
            </a:r>
            <a:r>
              <a:rPr lang="zh-CN" altLang="en-US" sz="1200" kern="1200" dirty="0">
                <a:solidFill>
                  <a:schemeClr val="tx1"/>
                </a:solidFill>
                <a:effectLst/>
                <a:latin typeface="+mn-lt"/>
              </a:rPr>
              <a:t>都是贬义词，</a:t>
            </a:r>
            <a:r>
              <a:rPr lang="en-US" altLang="zh-CN" sz="1200" kern="1200" dirty="0">
                <a:solidFill>
                  <a:schemeClr val="tx1"/>
                </a:solidFill>
                <a:effectLst/>
                <a:latin typeface="+mn-lt"/>
              </a:rPr>
              <a:t>D</a:t>
            </a:r>
            <a:r>
              <a:rPr lang="zh-CN" altLang="en-US" sz="1200" kern="1200" dirty="0">
                <a:solidFill>
                  <a:schemeClr val="tx1"/>
                </a:solidFill>
                <a:effectLst/>
                <a:latin typeface="+mn-lt"/>
              </a:rPr>
              <a:t>项中</a:t>
            </a:r>
            <a:r>
              <a:rPr lang="en-US" altLang="zh-CN" sz="1200" kern="1200" dirty="0">
                <a:solidFill>
                  <a:schemeClr val="tx1"/>
                </a:solidFill>
                <a:effectLst/>
                <a:latin typeface="+mn-lt"/>
              </a:rPr>
              <a:t>“</a:t>
            </a:r>
            <a:r>
              <a:rPr lang="zh-CN" altLang="en-US" sz="1200" kern="1200" dirty="0">
                <a:solidFill>
                  <a:schemeClr val="tx1"/>
                </a:solidFill>
                <a:effectLst/>
                <a:latin typeface="+mn-lt"/>
              </a:rPr>
              <a:t>光怪陆离</a:t>
            </a:r>
            <a:r>
              <a:rPr lang="en-US" altLang="zh-CN" sz="1200" kern="1200" dirty="0">
                <a:solidFill>
                  <a:schemeClr val="tx1"/>
                </a:solidFill>
                <a:effectLst/>
                <a:latin typeface="+mn-lt"/>
              </a:rPr>
              <a:t>”</a:t>
            </a:r>
            <a:r>
              <a:rPr lang="zh-CN" altLang="en-US" sz="1200" kern="1200" dirty="0">
                <a:solidFill>
                  <a:schemeClr val="tx1"/>
                </a:solidFill>
                <a:effectLst/>
                <a:latin typeface="+mn-lt"/>
              </a:rPr>
              <a:t>是中性词，</a:t>
            </a:r>
            <a:r>
              <a:rPr lang="en-US" altLang="zh-CN" sz="1200" kern="1200" dirty="0">
                <a:solidFill>
                  <a:schemeClr val="tx1"/>
                </a:solidFill>
                <a:effectLst/>
                <a:latin typeface="+mn-lt"/>
              </a:rPr>
              <a:t>“</a:t>
            </a:r>
            <a:r>
              <a:rPr lang="zh-CN" altLang="en-US" sz="1200" kern="1200" dirty="0">
                <a:solidFill>
                  <a:schemeClr val="tx1"/>
                </a:solidFill>
                <a:effectLst/>
                <a:latin typeface="+mn-lt"/>
              </a:rPr>
              <a:t>五光十色</a:t>
            </a:r>
            <a:r>
              <a:rPr lang="en-US" altLang="zh-CN" sz="1200" kern="1200" dirty="0">
                <a:solidFill>
                  <a:schemeClr val="tx1"/>
                </a:solidFill>
                <a:effectLst/>
                <a:latin typeface="+mn-lt"/>
              </a:rPr>
              <a:t>”</a:t>
            </a:r>
            <a:r>
              <a:rPr lang="zh-CN" altLang="en-US" sz="1200" kern="1200" dirty="0">
                <a:solidFill>
                  <a:schemeClr val="tx1"/>
                </a:solidFill>
                <a:effectLst/>
                <a:latin typeface="+mn-lt"/>
              </a:rPr>
              <a:t>是褒义词，</a:t>
            </a:r>
            <a:r>
              <a:rPr lang="en-US" altLang="zh-CN" sz="1200" kern="1200" dirty="0">
                <a:solidFill>
                  <a:schemeClr val="tx1"/>
                </a:solidFill>
                <a:effectLst/>
                <a:latin typeface="+mn-lt"/>
              </a:rPr>
              <a:t>C</a:t>
            </a:r>
            <a:r>
              <a:rPr lang="zh-CN" altLang="en-US" sz="1200" kern="1200" dirty="0">
                <a:solidFill>
                  <a:schemeClr val="tx1"/>
                </a:solidFill>
                <a:effectLst/>
                <a:latin typeface="+mn-lt"/>
              </a:rPr>
              <a:t>项中</a:t>
            </a:r>
            <a:r>
              <a:rPr lang="en-US" altLang="zh-CN" sz="1200" kern="1200" dirty="0">
                <a:solidFill>
                  <a:schemeClr val="tx1"/>
                </a:solidFill>
                <a:effectLst/>
                <a:latin typeface="+mn-lt"/>
              </a:rPr>
              <a:t>“</a:t>
            </a:r>
            <a:r>
              <a:rPr lang="zh-CN" altLang="en-US" sz="1200" kern="1200" dirty="0">
                <a:solidFill>
                  <a:schemeClr val="tx1"/>
                </a:solidFill>
                <a:effectLst/>
                <a:latin typeface="+mn-lt"/>
              </a:rPr>
              <a:t>侃侃而谈</a:t>
            </a:r>
            <a:r>
              <a:rPr lang="en-US" altLang="zh-CN" sz="1200" kern="1200" dirty="0">
                <a:solidFill>
                  <a:schemeClr val="tx1"/>
                </a:solidFill>
                <a:effectLst/>
                <a:latin typeface="+mn-lt"/>
              </a:rPr>
              <a:t>”</a:t>
            </a:r>
            <a:r>
              <a:rPr lang="zh-CN" altLang="en-US" sz="1200" kern="1200" dirty="0">
                <a:solidFill>
                  <a:schemeClr val="tx1"/>
                </a:solidFill>
                <a:effectLst/>
                <a:latin typeface="+mn-lt"/>
              </a:rPr>
              <a:t>是褒义词，</a:t>
            </a:r>
            <a:r>
              <a:rPr lang="en-US" altLang="zh-CN" sz="1200" kern="1200" dirty="0">
                <a:solidFill>
                  <a:schemeClr val="tx1"/>
                </a:solidFill>
                <a:effectLst/>
                <a:latin typeface="+mn-lt"/>
              </a:rPr>
              <a:t>“</a:t>
            </a:r>
            <a:r>
              <a:rPr lang="zh-CN" altLang="en-US" sz="1200" kern="1200" dirty="0">
                <a:solidFill>
                  <a:schemeClr val="tx1"/>
                </a:solidFill>
                <a:effectLst/>
                <a:latin typeface="+mn-lt"/>
              </a:rPr>
              <a:t>喋喋不休</a:t>
            </a:r>
            <a:r>
              <a:rPr lang="en-US" altLang="zh-CN" sz="1200" kern="1200" dirty="0">
                <a:solidFill>
                  <a:schemeClr val="tx1"/>
                </a:solidFill>
                <a:effectLst/>
                <a:latin typeface="+mn-lt"/>
              </a:rPr>
              <a:t>”</a:t>
            </a:r>
            <a:r>
              <a:rPr lang="zh-CN" altLang="en-US" sz="1200" kern="1200" dirty="0">
                <a:solidFill>
                  <a:schemeClr val="tx1"/>
                </a:solidFill>
                <a:effectLst/>
                <a:latin typeface="+mn-lt"/>
              </a:rPr>
              <a:t>是贬义词，故</a:t>
            </a:r>
            <a:r>
              <a:rPr lang="en-US" altLang="zh-CN" sz="1200" kern="1200" dirty="0">
                <a:solidFill>
                  <a:schemeClr val="tx1"/>
                </a:solidFill>
                <a:effectLst/>
                <a:latin typeface="+mn-lt"/>
              </a:rPr>
              <a:t>C</a:t>
            </a:r>
            <a:r>
              <a:rPr lang="zh-CN" altLang="en-US" sz="1200" kern="1200" dirty="0">
                <a:solidFill>
                  <a:schemeClr val="tx1"/>
                </a:solidFill>
                <a:effectLst/>
                <a:latin typeface="+mn-lt"/>
              </a:rPr>
              <a:t>项更为合适。</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光怪陆离的灯光的世界，哈哈镜把人们照得光怪陆离</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t>
            </a:r>
            <a:r>
              <a:rPr lang="zh-CN" altLang="en-US" sz="1200" kern="1200" dirty="0">
                <a:solidFill>
                  <a:schemeClr val="tx1"/>
                </a:solidFill>
                <a:effectLst/>
                <a:latin typeface="+mn-lt"/>
              </a:rPr>
              <a:t>逐客令</a:t>
            </a:r>
            <a:r>
              <a:rPr lang="en-US" altLang="zh-CN" sz="1200" kern="1200" dirty="0">
                <a:solidFill>
                  <a:schemeClr val="tx1"/>
                </a:solidFill>
                <a:effectLst/>
                <a:latin typeface="+mn-lt"/>
              </a:rPr>
              <a:t>”</a:t>
            </a:r>
            <a:r>
              <a:rPr lang="zh-CN" altLang="en-US" sz="1200" kern="1200" dirty="0">
                <a:solidFill>
                  <a:schemeClr val="tx1"/>
                </a:solidFill>
                <a:effectLst/>
                <a:latin typeface="+mn-lt"/>
              </a:rPr>
              <a:t>本为驱逐客卿的命令，后用于指主人对客人不欢迎时，用明说或暗示的方式，催客人离去。</a:t>
            </a:r>
            <a:r>
              <a:rPr lang="en-US" altLang="zh-CN" sz="1200" kern="1200" dirty="0">
                <a:solidFill>
                  <a:schemeClr val="tx1"/>
                </a:solidFill>
                <a:effectLst/>
                <a:latin typeface="+mn-lt"/>
              </a:rPr>
              <a:t>“</a:t>
            </a:r>
            <a:r>
              <a:rPr lang="zh-CN" altLang="en-US" sz="1200" kern="1200" dirty="0">
                <a:solidFill>
                  <a:schemeClr val="tx1"/>
                </a:solidFill>
                <a:effectLst/>
                <a:latin typeface="+mn-lt"/>
              </a:rPr>
              <a:t>挡箭牌</a:t>
            </a:r>
            <a:r>
              <a:rPr lang="en-US" altLang="zh-CN" sz="1200" kern="1200" dirty="0">
                <a:solidFill>
                  <a:schemeClr val="tx1"/>
                </a:solidFill>
                <a:effectLst/>
                <a:latin typeface="+mn-lt"/>
              </a:rPr>
              <a:t>”</a:t>
            </a:r>
            <a:r>
              <a:rPr lang="zh-CN" altLang="en-US" sz="1200" kern="1200" dirty="0">
                <a:solidFill>
                  <a:schemeClr val="tx1"/>
                </a:solidFill>
                <a:effectLst/>
                <a:latin typeface="+mn-lt"/>
              </a:rPr>
              <a:t>指古代防御武器中可以抵挡刀箭的盾牌，比喻推掉事情的借口或可以掩护的东西。</a:t>
            </a:r>
            <a:r>
              <a:rPr lang="en-US" altLang="zh-CN" sz="1200" kern="1200" dirty="0">
                <a:solidFill>
                  <a:schemeClr val="tx1"/>
                </a:solidFill>
                <a:effectLst/>
                <a:latin typeface="+mn-lt"/>
              </a:rPr>
              <a:t>“</a:t>
            </a:r>
            <a:r>
              <a:rPr lang="zh-CN" altLang="en-US" sz="1200" kern="1200" dirty="0">
                <a:solidFill>
                  <a:schemeClr val="tx1"/>
                </a:solidFill>
                <a:effectLst/>
                <a:latin typeface="+mn-lt"/>
              </a:rPr>
              <a:t>逐客令</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挡箭牌</a:t>
            </a:r>
            <a:r>
              <a:rPr lang="en-US" altLang="zh-CN" sz="1200" kern="1200" dirty="0">
                <a:solidFill>
                  <a:schemeClr val="tx1"/>
                </a:solidFill>
                <a:effectLst/>
                <a:latin typeface="+mn-lt"/>
              </a:rPr>
              <a:t>”</a:t>
            </a:r>
            <a:r>
              <a:rPr lang="zh-CN" altLang="en-US" sz="1200" kern="1200" dirty="0">
                <a:solidFill>
                  <a:schemeClr val="tx1"/>
                </a:solidFill>
                <a:effectLst/>
                <a:latin typeface="+mn-lt"/>
              </a:rPr>
              <a:t>均根据功能进行命名。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急先锋</a:t>
            </a:r>
            <a:r>
              <a:rPr lang="en-US" altLang="zh-CN" sz="1200" kern="1200" dirty="0">
                <a:solidFill>
                  <a:schemeClr val="tx1"/>
                </a:solidFill>
                <a:effectLst/>
                <a:latin typeface="+mn-lt"/>
              </a:rPr>
              <a:t>”</a:t>
            </a:r>
            <a:r>
              <a:rPr lang="zh-CN" altLang="en-US" sz="1200" kern="1200" dirty="0">
                <a:solidFill>
                  <a:schemeClr val="tx1"/>
                </a:solidFill>
                <a:effectLst/>
                <a:latin typeface="+mn-lt"/>
              </a:rPr>
              <a:t>比喻冲锋在前或积极领头的人。</a:t>
            </a:r>
            <a:r>
              <a:rPr lang="en-US" altLang="zh-CN" sz="1200" kern="1200" dirty="0">
                <a:solidFill>
                  <a:schemeClr val="tx1"/>
                </a:solidFill>
                <a:effectLst/>
                <a:latin typeface="+mn-lt"/>
              </a:rPr>
              <a:t>“</a:t>
            </a:r>
            <a:r>
              <a:rPr lang="zh-CN" altLang="en-US" sz="1200" kern="1200" dirty="0">
                <a:solidFill>
                  <a:schemeClr val="tx1"/>
                </a:solidFill>
                <a:effectLst/>
                <a:latin typeface="+mn-lt"/>
              </a:rPr>
              <a:t>领航者</a:t>
            </a:r>
            <a:r>
              <a:rPr lang="en-US" altLang="zh-CN" sz="1200" kern="1200" dirty="0">
                <a:solidFill>
                  <a:schemeClr val="tx1"/>
                </a:solidFill>
                <a:effectLst/>
                <a:latin typeface="+mn-lt"/>
              </a:rPr>
              <a:t>”</a:t>
            </a:r>
            <a:r>
              <a:rPr lang="zh-CN" altLang="en-US" sz="1200" kern="1200" dirty="0">
                <a:solidFill>
                  <a:schemeClr val="tx1"/>
                </a:solidFill>
                <a:effectLst/>
                <a:latin typeface="+mn-lt"/>
              </a:rPr>
              <a:t>通常指的是在特定领域或活动中，为其他人或组织提供指导和方向的人。其中</a:t>
            </a:r>
            <a:r>
              <a:rPr lang="en-US" altLang="zh-CN" sz="1200" kern="1200" dirty="0">
                <a:solidFill>
                  <a:schemeClr val="tx1"/>
                </a:solidFill>
                <a:effectLst/>
                <a:latin typeface="+mn-lt"/>
              </a:rPr>
              <a:t>“</a:t>
            </a:r>
            <a:r>
              <a:rPr lang="zh-CN" altLang="en-US" sz="1200" kern="1200" dirty="0">
                <a:solidFill>
                  <a:schemeClr val="tx1"/>
                </a:solidFill>
                <a:effectLst/>
                <a:latin typeface="+mn-lt"/>
              </a:rPr>
              <a:t>急先锋</a:t>
            </a:r>
            <a:r>
              <a:rPr lang="en-US" altLang="zh-CN" sz="1200" kern="1200" dirty="0">
                <a:solidFill>
                  <a:schemeClr val="tx1"/>
                </a:solidFill>
                <a:effectLst/>
                <a:latin typeface="+mn-lt"/>
              </a:rPr>
              <a:t>”</a:t>
            </a:r>
            <a:r>
              <a:rPr lang="zh-CN" altLang="en-US" sz="1200" kern="1200" dirty="0">
                <a:solidFill>
                  <a:schemeClr val="tx1"/>
                </a:solidFill>
                <a:effectLst/>
                <a:latin typeface="+mn-lt"/>
              </a:rPr>
              <a:t>不是根据功能进行命名，与题干逻辑关系不一致，排除；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避风港</a:t>
            </a:r>
            <a:r>
              <a:rPr lang="en-US" altLang="zh-CN" sz="1200" kern="1200" dirty="0">
                <a:solidFill>
                  <a:schemeClr val="tx1"/>
                </a:solidFill>
                <a:effectLst/>
                <a:latin typeface="+mn-lt"/>
              </a:rPr>
              <a:t>”</a:t>
            </a:r>
            <a:r>
              <a:rPr lang="zh-CN" altLang="en-US" sz="1200" kern="1200" dirty="0">
                <a:solidFill>
                  <a:schemeClr val="tx1"/>
                </a:solidFill>
                <a:effectLst/>
                <a:latin typeface="+mn-lt"/>
              </a:rPr>
              <a:t>意思是供船只躲避大风浪的港湾，比喻供躲避激烈斗争的地方。</a:t>
            </a:r>
            <a:r>
              <a:rPr lang="en-US" altLang="zh-CN" sz="1200" kern="1200" dirty="0">
                <a:solidFill>
                  <a:schemeClr val="tx1"/>
                </a:solidFill>
                <a:effectLst/>
                <a:latin typeface="+mn-lt"/>
              </a:rPr>
              <a:t>“</a:t>
            </a:r>
            <a:r>
              <a:rPr lang="zh-CN" altLang="en-US" sz="1200" kern="1200" dirty="0">
                <a:solidFill>
                  <a:schemeClr val="tx1"/>
                </a:solidFill>
                <a:effectLst/>
                <a:latin typeface="+mn-lt"/>
              </a:rPr>
              <a:t>马后炮</a:t>
            </a:r>
            <a:r>
              <a:rPr lang="en-US" altLang="zh-CN" sz="1200" kern="1200" dirty="0">
                <a:solidFill>
                  <a:schemeClr val="tx1"/>
                </a:solidFill>
                <a:effectLst/>
                <a:latin typeface="+mn-lt"/>
              </a:rPr>
              <a:t>”</a:t>
            </a:r>
            <a:r>
              <a:rPr lang="zh-CN" altLang="en-US" sz="1200" kern="1200" dirty="0">
                <a:solidFill>
                  <a:schemeClr val="tx1"/>
                </a:solidFill>
                <a:effectLst/>
                <a:latin typeface="+mn-lt"/>
              </a:rPr>
              <a:t>是象棋术语，比喻事后才采取措施，但已无济于事。其中</a:t>
            </a:r>
            <a:r>
              <a:rPr lang="en-US" altLang="zh-CN" sz="1200" kern="1200" dirty="0">
                <a:solidFill>
                  <a:schemeClr val="tx1"/>
                </a:solidFill>
                <a:effectLst/>
                <a:latin typeface="+mn-lt"/>
              </a:rPr>
              <a:t>“</a:t>
            </a:r>
            <a:r>
              <a:rPr lang="zh-CN" altLang="en-US" sz="1200" kern="1200" dirty="0">
                <a:solidFill>
                  <a:schemeClr val="tx1"/>
                </a:solidFill>
                <a:effectLst/>
                <a:latin typeface="+mn-lt"/>
              </a:rPr>
              <a:t>马后炮</a:t>
            </a:r>
            <a:r>
              <a:rPr lang="en-US" altLang="zh-CN" sz="1200" kern="1200" dirty="0">
                <a:solidFill>
                  <a:schemeClr val="tx1"/>
                </a:solidFill>
                <a:effectLst/>
                <a:latin typeface="+mn-lt"/>
              </a:rPr>
              <a:t>”</a:t>
            </a:r>
            <a:r>
              <a:rPr lang="zh-CN" altLang="en-US" sz="1200" kern="1200" dirty="0">
                <a:solidFill>
                  <a:schemeClr val="tx1"/>
                </a:solidFill>
                <a:effectLst/>
                <a:latin typeface="+mn-lt"/>
              </a:rPr>
              <a:t>不是根据功能进行命名，与题干逻辑关系不一致，排除；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敲门砖</a:t>
            </a:r>
            <a:r>
              <a:rPr lang="en-US" altLang="zh-CN" sz="1200" kern="1200" dirty="0">
                <a:solidFill>
                  <a:schemeClr val="tx1"/>
                </a:solidFill>
                <a:effectLst/>
                <a:latin typeface="+mn-lt"/>
              </a:rPr>
              <a:t>”</a:t>
            </a:r>
            <a:r>
              <a:rPr lang="zh-CN" altLang="en-US" sz="1200" kern="1200" dirty="0">
                <a:solidFill>
                  <a:schemeClr val="tx1"/>
                </a:solidFill>
                <a:effectLst/>
                <a:latin typeface="+mn-lt"/>
              </a:rPr>
              <a:t>是指敲门的砖石，比喻借以谋取名利的工具，目的一旦达到就被抛弃。</a:t>
            </a:r>
            <a:r>
              <a:rPr lang="en-US" altLang="zh-CN" sz="1200" kern="1200" dirty="0">
                <a:solidFill>
                  <a:schemeClr val="tx1"/>
                </a:solidFill>
                <a:effectLst/>
                <a:latin typeface="+mn-lt"/>
              </a:rPr>
              <a:t>“</a:t>
            </a:r>
            <a:r>
              <a:rPr lang="zh-CN" altLang="en-US" sz="1200" kern="1200" dirty="0">
                <a:solidFill>
                  <a:schemeClr val="tx1"/>
                </a:solidFill>
                <a:effectLst/>
                <a:latin typeface="+mn-lt"/>
              </a:rPr>
              <a:t>绊脚石</a:t>
            </a:r>
            <a:r>
              <a:rPr lang="en-US" altLang="zh-CN" sz="1200" kern="1200" dirty="0">
                <a:solidFill>
                  <a:schemeClr val="tx1"/>
                </a:solidFill>
                <a:effectLst/>
                <a:latin typeface="+mn-lt"/>
              </a:rPr>
              <a:t>”</a:t>
            </a:r>
            <a:r>
              <a:rPr lang="zh-CN" altLang="en-US" sz="1200" kern="1200" dirty="0">
                <a:solidFill>
                  <a:schemeClr val="tx1"/>
                </a:solidFill>
                <a:effectLst/>
                <a:latin typeface="+mn-lt"/>
              </a:rPr>
              <a:t>是指行走时使脚受阻而跌倒的石块，喻指前进道路上的障碍物。</a:t>
            </a:r>
            <a:r>
              <a:rPr lang="en-US" altLang="zh-CN" sz="1200" kern="1200" dirty="0">
                <a:solidFill>
                  <a:schemeClr val="tx1"/>
                </a:solidFill>
                <a:effectLst/>
                <a:latin typeface="+mn-lt"/>
              </a:rPr>
              <a:t>“</a:t>
            </a:r>
            <a:r>
              <a:rPr lang="zh-CN" altLang="en-US" sz="1200" kern="1200" dirty="0">
                <a:solidFill>
                  <a:schemeClr val="tx1"/>
                </a:solidFill>
                <a:effectLst/>
                <a:latin typeface="+mn-lt"/>
              </a:rPr>
              <a:t>敲门砖</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绊脚石</a:t>
            </a:r>
            <a:r>
              <a:rPr lang="en-US" altLang="zh-CN" sz="1200" kern="1200" dirty="0">
                <a:solidFill>
                  <a:schemeClr val="tx1"/>
                </a:solidFill>
                <a:effectLst/>
                <a:latin typeface="+mn-lt"/>
              </a:rPr>
              <a:t>”</a:t>
            </a:r>
            <a:r>
              <a:rPr lang="zh-CN" altLang="en-US" sz="1200" kern="1200" dirty="0">
                <a:solidFill>
                  <a:schemeClr val="tx1"/>
                </a:solidFill>
                <a:effectLst/>
                <a:latin typeface="+mn-lt"/>
              </a:rPr>
              <a:t>均根据功能进行命名，与题干逻辑关系一致，当选；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鸿门宴</a:t>
            </a:r>
            <a:r>
              <a:rPr lang="en-US" altLang="zh-CN" sz="1200" kern="1200" dirty="0">
                <a:solidFill>
                  <a:schemeClr val="tx1"/>
                </a:solidFill>
                <a:effectLst/>
                <a:latin typeface="+mn-lt"/>
              </a:rPr>
              <a:t>”</a:t>
            </a:r>
            <a:r>
              <a:rPr lang="zh-CN" altLang="en-US" sz="1200" kern="1200" dirty="0">
                <a:solidFill>
                  <a:schemeClr val="tx1"/>
                </a:solidFill>
                <a:effectLst/>
                <a:latin typeface="+mn-lt"/>
              </a:rPr>
              <a:t>意指不怀好意、居心不良的邀宴，比喻想要加害客人的宴会。</a:t>
            </a:r>
            <a:r>
              <a:rPr lang="en-US" altLang="zh-CN" sz="1200" kern="1200" dirty="0">
                <a:solidFill>
                  <a:schemeClr val="tx1"/>
                </a:solidFill>
                <a:effectLst/>
                <a:latin typeface="+mn-lt"/>
              </a:rPr>
              <a:t>“</a:t>
            </a:r>
            <a:r>
              <a:rPr lang="zh-CN" altLang="en-US" sz="1200" kern="1200" dirty="0">
                <a:solidFill>
                  <a:schemeClr val="tx1"/>
                </a:solidFill>
                <a:effectLst/>
                <a:latin typeface="+mn-lt"/>
              </a:rPr>
              <a:t>攻心计</a:t>
            </a:r>
            <a:r>
              <a:rPr lang="en-US" altLang="zh-CN" sz="1200" kern="1200" dirty="0">
                <a:solidFill>
                  <a:schemeClr val="tx1"/>
                </a:solidFill>
                <a:effectLst/>
                <a:latin typeface="+mn-lt"/>
              </a:rPr>
              <a:t>”</a:t>
            </a:r>
            <a:r>
              <a:rPr lang="zh-CN" altLang="en-US" sz="1200" kern="1200" dirty="0">
                <a:solidFill>
                  <a:schemeClr val="tx1"/>
                </a:solidFill>
                <a:effectLst/>
                <a:latin typeface="+mn-lt"/>
              </a:rPr>
              <a:t>指的是从心理上、精神上分析对方，从而瓦解对方，达到目的的一种心理战术。其中</a:t>
            </a:r>
            <a:r>
              <a:rPr lang="en-US" altLang="zh-CN" sz="1200" kern="1200" dirty="0">
                <a:solidFill>
                  <a:schemeClr val="tx1"/>
                </a:solidFill>
                <a:effectLst/>
                <a:latin typeface="+mn-lt"/>
              </a:rPr>
              <a:t>“</a:t>
            </a:r>
            <a:r>
              <a:rPr lang="zh-CN" altLang="en-US" sz="1200" kern="1200" dirty="0">
                <a:solidFill>
                  <a:schemeClr val="tx1"/>
                </a:solidFill>
                <a:effectLst/>
                <a:latin typeface="+mn-lt"/>
              </a:rPr>
              <a:t>鸿门宴</a:t>
            </a:r>
            <a:r>
              <a:rPr lang="en-US" altLang="zh-CN" sz="1200" kern="1200" dirty="0">
                <a:solidFill>
                  <a:schemeClr val="tx1"/>
                </a:solidFill>
                <a:effectLst/>
                <a:latin typeface="+mn-lt"/>
              </a:rPr>
              <a:t>”</a:t>
            </a:r>
            <a:r>
              <a:rPr lang="zh-CN" altLang="en-US" sz="1200" kern="1200" dirty="0">
                <a:solidFill>
                  <a:schemeClr val="tx1"/>
                </a:solidFill>
                <a:effectLst/>
                <a:latin typeface="+mn-lt"/>
              </a:rPr>
              <a:t>不是根据功能进行命名，与题干逻辑关系不一致，排除。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鸿门，秦朝都城咸阳郊外的鸿门</a:t>
            </a:r>
            <a:r>
              <a:rPr lang="en-US" altLang="zh-CN" sz="1200" kern="1200" dirty="0">
                <a:solidFill>
                  <a:schemeClr val="tx1"/>
                </a:solidFill>
                <a:effectLst/>
                <a:latin typeface="+mn-lt"/>
              </a:rPr>
              <a:t>(</a:t>
            </a:r>
            <a:r>
              <a:rPr lang="zh-CN" altLang="en-US" sz="1200" kern="1200" dirty="0">
                <a:solidFill>
                  <a:schemeClr val="tx1"/>
                </a:solidFill>
                <a:effectLst/>
                <a:latin typeface="+mn-lt"/>
              </a:rPr>
              <a:t>今陕西省西安市临潼区新丰街道鸿门堡村</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网络直播具有直观性和即时性，前两词与第三词构成属性对应关系。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项：等边性是指图形中各边的长度都相等，等腰梯形只有一组对边相等，不具有等边性，与题干逻辑关系不一致，排除；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项：行政法律具有公开性和权威性，前两词与第三词构成属性对应关系，与题干逻辑关系一致，当选；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项：延展性是表示材料在受力而产生破裂之前，其塑性变形的能力，机械钟摆作为一个整体装置，不具有延展性，与题干逻辑关系不一致，排除；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项：挥发性是指液态物质在低于沸点的温度条件下转变成气态的能力，以及一些气体溶质从溶液中逸出的能力，石棉纤维是天然纤维状的硅质矿物的泛称，不具有挥发性，与题干逻辑关系不一致，排除。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先群众来访，再窗口接访，最后调查督办，三者为时间先后顺序的对应关系。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项：先燃料加注，再点火飞行，第二词和第三词的时间先后顺序与题干不同，与题干逻辑关系不一致，排除；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项：确认汇率和支付本币、兑换外币之间没有必然的时间先后顺序，与题干逻辑关系不一致，排除；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项：先建造堤坝，再潮汐发电，最后送电入户，三者为时间先后顺序的对应关系，与题干逻辑关系一致，当选；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项：先临时休战，再重启谈判，第一词和第二词的时间先后顺序与题干不同，与题干逻辑关系不一致，排除。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通过在海湾或河口筑坝形成水库，利用潮位差驱动水轮机发电</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a:t>
            </a:r>
            <a:r>
              <a:rPr lang="zh-CN" altLang="en-US" sz="1200" kern="1200" dirty="0">
                <a:solidFill>
                  <a:schemeClr val="tx1"/>
                </a:solidFill>
                <a:effectLst/>
                <a:latin typeface="+mn-lt"/>
              </a:rPr>
              <a:t>项：稀树草原是炎热、季节性干旱气候条件下长成的植被类型，稀树草原物种丰富，具有物种多样性，二者为属性对应关系；缔约国家是条约制定国以及自愿加入或者遵守并同意签约的其他主权国家，只有签订国际公约才是缔约国家，二者为条件对应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稀树草原是炎热、季节性干旱气候条件下长成的植被类型，落叶阔叶林也是一种植被类型，二者为并列关系；国际公约是国家之间签署的公约，多边条约是指外交条约，国际公约是外交条约，二者为种属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项：气候变迁可能会导致形成稀树草原，二者为因果对应关系；国际公约有政治协调的功能，二者为功能对应关系，前后逻辑关系不一致，排除；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项：稀树草原是炎热、季节性干旱气候条件下长成的植被类型，二者为种属关系；联合国宪章是联合国的基本大法，是国际公约，二者为种属关系，前后逻辑关系一致，当选。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稀树草原是炎热、季节性干旱气候条件下长成的植被类型，其特点是底层连续高大禾草之上有开放的树冠层，即稀疏的乔木。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落叶阔叶林是温带最常见的森林类型。因其冬季落叶、夏季葱绿，又称夏绿林。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多边条约是指两个以上国家或国际行为主体缔结的外交条约，属于国际公约的种属关系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国际公约</a:t>
            </a:r>
            <a:r>
              <a:rPr lang="en-US" altLang="zh-CN" sz="1200" kern="1200" dirty="0">
                <a:solidFill>
                  <a:schemeClr val="tx1"/>
                </a:solidFill>
                <a:effectLst/>
                <a:latin typeface="+mn-lt"/>
              </a:rPr>
              <a:t> (International Convention) </a:t>
            </a:r>
            <a:r>
              <a:rPr lang="zh-CN" altLang="en-US" sz="1200" kern="1200" dirty="0">
                <a:solidFill>
                  <a:schemeClr val="tx1"/>
                </a:solidFill>
                <a:effectLst/>
                <a:latin typeface="+mn-lt"/>
              </a:rPr>
              <a:t>是指国际间有关政治、经济、文化、技术等方面的多边条约，国际公约属于多边条约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区域贸易协定等多边条约因参与方有限或主题非全球性，不属于国际公约</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《联合国宪章》是国际公约的一种特殊形式，属于具有宪法性质的多边公约</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endParaRPr lang="en-US" altLang="zh-CN" sz="1200" kern="1200" dirty="0">
              <a:solidFill>
                <a:schemeClr val="tx1"/>
              </a:solidFill>
              <a:effectLst/>
              <a:latin typeface="+mn-lt"/>
            </a:endParaRPr>
          </a:p>
          <a:p>
            <a:endParaRPr lang="en-US" altLang="zh-CN"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26.</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论点：提高团队业绩的最佳途径就是减少团队人数。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论据：随着被试人数的增加，平均每个被试使出的力减少了。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本题论点讨论的是减少团队人数是提高团队业绩的最佳途径。论据讨论的是在</a:t>
            </a:r>
            <a:r>
              <a:rPr lang="en-US" altLang="zh-CN" sz="1200" kern="1200" dirty="0">
                <a:solidFill>
                  <a:schemeClr val="tx1"/>
                </a:solidFill>
                <a:effectLst/>
                <a:latin typeface="+mn-lt"/>
              </a:rPr>
              <a:t>“</a:t>
            </a:r>
            <a:r>
              <a:rPr lang="zh-CN" altLang="en-US" sz="1200" kern="1200" dirty="0">
                <a:solidFill>
                  <a:schemeClr val="tx1"/>
                </a:solidFill>
                <a:effectLst/>
                <a:latin typeface="+mn-lt"/>
              </a:rPr>
              <a:t>拔河比赛</a:t>
            </a:r>
            <a:r>
              <a:rPr lang="en-US" altLang="zh-CN" sz="1200" kern="1200" dirty="0">
                <a:solidFill>
                  <a:schemeClr val="tx1"/>
                </a:solidFill>
                <a:effectLst/>
                <a:latin typeface="+mn-lt"/>
              </a:rPr>
              <a:t>”</a:t>
            </a:r>
            <a:r>
              <a:rPr lang="zh-CN" altLang="en-US" sz="1200" kern="1200" dirty="0">
                <a:solidFill>
                  <a:schemeClr val="tx1"/>
                </a:solidFill>
                <a:effectLst/>
                <a:latin typeface="+mn-lt"/>
              </a:rPr>
              <a:t>的实验中被试人数增加，则平均每个被试使出的力会减少，即人数减少有利于每个被试使出的力增加。二者话题不一致，削弱可以考虑拆桥、削弱论点、削弱论据等。本题为选非题，排除能削弱的选项即可。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项：团队中人数过少则效率也会随之下降，说明减少团队人数可能不会提高团队业绩，削弱论点，可以削弱，排除；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项：团队中个人的贡献不被凸显，很容易失去积极性，解释了为什么随着被试人数的增加，平均每个被试使出的力减少了，为加强项，无法削弱，当选；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项：团队的合作和管理方式比拔河更复杂，说明不能将拔河得到的结论应用在团队合作中，拆断了拔河比赛与团队合作、管理方式之间的联系，为拆桥项，可以削弱，排除；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项：增强个体对团队的归属感、责任感能更好地提高团队业绩，说明减少团队人数并非提高团队业绩的最佳途径，削弱论点，可以削弱，排除。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论点：这些丝状体很可能属于真核生物。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论据：这些丝状体均由巨型细胞组成，直径</a:t>
            </a:r>
            <a:r>
              <a:rPr lang="en-US" altLang="zh-CN" sz="1200" kern="1200" dirty="0">
                <a:solidFill>
                  <a:schemeClr val="tx1"/>
                </a:solidFill>
                <a:effectLst/>
                <a:latin typeface="+mn-lt"/>
              </a:rPr>
              <a:t>20~194</a:t>
            </a:r>
            <a:r>
              <a:rPr lang="zh-CN" altLang="en-US" sz="1200" kern="1200" dirty="0">
                <a:solidFill>
                  <a:schemeClr val="tx1"/>
                </a:solidFill>
                <a:effectLst/>
                <a:latin typeface="+mn-lt"/>
              </a:rPr>
              <a:t>微米不等。化石中，有些丝状体直径保持不变，细胞呈短柱状至长柱状；有些丝状体整体向一端均匀收缩，细胞呈柱状、桶状或杯状；而有的丝状体仅一端变细，形态呈现了一定的复杂性。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本题论点说的是这些丝状体很可能属于真核生物，而论据说的是这些丝状体化石有哪些形态特征，论点和论据话题不一致，加强优先考虑搭桥，且本题为选非题，将可以加强的选项排除即可。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项：该项说的是这些丝状体生物化石中发现了类似于真核生物的圆形结构，建立了论据中</a:t>
            </a:r>
            <a:r>
              <a:rPr lang="en-US" altLang="zh-CN" sz="1200" kern="1200" dirty="0">
                <a:solidFill>
                  <a:schemeClr val="tx1"/>
                </a:solidFill>
                <a:effectLst/>
                <a:latin typeface="+mn-lt"/>
              </a:rPr>
              <a:t>“</a:t>
            </a:r>
            <a:r>
              <a:rPr lang="zh-CN" altLang="en-US" sz="1200" kern="1200" dirty="0">
                <a:solidFill>
                  <a:schemeClr val="tx1"/>
                </a:solidFill>
                <a:effectLst/>
                <a:latin typeface="+mn-lt"/>
              </a:rPr>
              <a:t>丝状体化石</a:t>
            </a:r>
            <a:r>
              <a:rPr lang="en-US" altLang="zh-CN" sz="1200" kern="1200" dirty="0">
                <a:solidFill>
                  <a:schemeClr val="tx1"/>
                </a:solidFill>
                <a:effectLst/>
                <a:latin typeface="+mn-lt"/>
              </a:rPr>
              <a:t>”</a:t>
            </a:r>
            <a:r>
              <a:rPr lang="zh-CN" altLang="en-US" sz="1200" kern="1200" dirty="0">
                <a:solidFill>
                  <a:schemeClr val="tx1"/>
                </a:solidFill>
                <a:effectLst/>
                <a:latin typeface="+mn-lt"/>
              </a:rPr>
              <a:t>与论点中</a:t>
            </a:r>
            <a:r>
              <a:rPr lang="en-US" altLang="zh-CN" sz="1200" kern="1200" dirty="0">
                <a:solidFill>
                  <a:schemeClr val="tx1"/>
                </a:solidFill>
                <a:effectLst/>
                <a:latin typeface="+mn-lt"/>
              </a:rPr>
              <a:t>“</a:t>
            </a:r>
            <a:r>
              <a:rPr lang="zh-CN" altLang="en-US" sz="1200" kern="1200" dirty="0">
                <a:solidFill>
                  <a:schemeClr val="tx1"/>
                </a:solidFill>
                <a:effectLst/>
                <a:latin typeface="+mn-lt"/>
              </a:rPr>
              <a:t>真核生物</a:t>
            </a:r>
            <a:r>
              <a:rPr lang="en-US" altLang="zh-CN" sz="1200" kern="1200" dirty="0">
                <a:solidFill>
                  <a:schemeClr val="tx1"/>
                </a:solidFill>
                <a:effectLst/>
                <a:latin typeface="+mn-lt"/>
              </a:rPr>
              <a:t>”</a:t>
            </a:r>
            <a:r>
              <a:rPr lang="zh-CN" altLang="en-US" sz="1200" kern="1200" dirty="0">
                <a:solidFill>
                  <a:schemeClr val="tx1"/>
                </a:solidFill>
                <a:effectLst/>
                <a:latin typeface="+mn-lt"/>
              </a:rPr>
              <a:t>的联系，为搭桥项，可以加强，排除；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项：该项说的是真核生物细胞的直径一般在</a:t>
            </a:r>
            <a:r>
              <a:rPr lang="en-US" altLang="zh-CN" sz="1200" kern="1200" dirty="0">
                <a:solidFill>
                  <a:schemeClr val="tx1"/>
                </a:solidFill>
                <a:effectLst/>
                <a:latin typeface="+mn-lt"/>
              </a:rPr>
              <a:t>10~100</a:t>
            </a:r>
            <a:r>
              <a:rPr lang="zh-CN" altLang="en-US" sz="1200" kern="1200" dirty="0">
                <a:solidFill>
                  <a:schemeClr val="tx1"/>
                </a:solidFill>
                <a:effectLst/>
                <a:latin typeface="+mn-lt"/>
              </a:rPr>
              <a:t>微米之间，与丝状体生物化石中的巨型细胞直径</a:t>
            </a:r>
            <a:r>
              <a:rPr lang="en-US" altLang="zh-CN" sz="1200" kern="1200" dirty="0">
                <a:solidFill>
                  <a:schemeClr val="tx1"/>
                </a:solidFill>
                <a:effectLst/>
                <a:latin typeface="+mn-lt"/>
              </a:rPr>
              <a:t>20~194</a:t>
            </a:r>
            <a:r>
              <a:rPr lang="zh-CN" altLang="en-US" sz="1200" kern="1200" dirty="0">
                <a:solidFill>
                  <a:schemeClr val="tx1"/>
                </a:solidFill>
                <a:effectLst/>
                <a:latin typeface="+mn-lt"/>
              </a:rPr>
              <a:t>微米范围类似，建立了论据中</a:t>
            </a:r>
            <a:r>
              <a:rPr lang="en-US" altLang="zh-CN" sz="1200" kern="1200" dirty="0">
                <a:solidFill>
                  <a:schemeClr val="tx1"/>
                </a:solidFill>
                <a:effectLst/>
                <a:latin typeface="+mn-lt"/>
              </a:rPr>
              <a:t>“</a:t>
            </a:r>
            <a:r>
              <a:rPr lang="zh-CN" altLang="en-US" sz="1200" kern="1200" dirty="0">
                <a:solidFill>
                  <a:schemeClr val="tx1"/>
                </a:solidFill>
                <a:effectLst/>
                <a:latin typeface="+mn-lt"/>
              </a:rPr>
              <a:t>丝状体化石</a:t>
            </a:r>
            <a:r>
              <a:rPr lang="en-US" altLang="zh-CN" sz="1200" kern="1200" dirty="0">
                <a:solidFill>
                  <a:schemeClr val="tx1"/>
                </a:solidFill>
                <a:effectLst/>
                <a:latin typeface="+mn-lt"/>
              </a:rPr>
              <a:t>”</a:t>
            </a:r>
            <a:r>
              <a:rPr lang="zh-CN" altLang="en-US" sz="1200" kern="1200" dirty="0">
                <a:solidFill>
                  <a:schemeClr val="tx1"/>
                </a:solidFill>
                <a:effectLst/>
                <a:latin typeface="+mn-lt"/>
              </a:rPr>
              <a:t>与论点中</a:t>
            </a:r>
            <a:r>
              <a:rPr lang="en-US" altLang="zh-CN" sz="1200" kern="1200" dirty="0">
                <a:solidFill>
                  <a:schemeClr val="tx1"/>
                </a:solidFill>
                <a:effectLst/>
                <a:latin typeface="+mn-lt"/>
              </a:rPr>
              <a:t>“</a:t>
            </a:r>
            <a:r>
              <a:rPr lang="zh-CN" altLang="en-US" sz="1200" kern="1200" dirty="0">
                <a:solidFill>
                  <a:schemeClr val="tx1"/>
                </a:solidFill>
                <a:effectLst/>
                <a:latin typeface="+mn-lt"/>
              </a:rPr>
              <a:t>真核生物</a:t>
            </a:r>
            <a:r>
              <a:rPr lang="en-US" altLang="zh-CN" sz="1200" kern="1200" dirty="0">
                <a:solidFill>
                  <a:schemeClr val="tx1"/>
                </a:solidFill>
                <a:effectLst/>
                <a:latin typeface="+mn-lt"/>
              </a:rPr>
              <a:t>”</a:t>
            </a:r>
            <a:r>
              <a:rPr lang="zh-CN" altLang="en-US" sz="1200" kern="1200" dirty="0">
                <a:solidFill>
                  <a:schemeClr val="tx1"/>
                </a:solidFill>
                <a:effectLst/>
                <a:latin typeface="+mn-lt"/>
              </a:rPr>
              <a:t>的联系，为搭桥项，可以加强，排除；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项：该项说的是原核生物的形态特点，与论点讨论的真核生物以及论据讨论的丝状体化石均无关系，为无关项，无法加强，当选；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项：该项说的是化石中丝状体的形态等特征与一种真核生物绿藻相似，建立了论据中</a:t>
            </a:r>
            <a:r>
              <a:rPr lang="en-US" altLang="zh-CN" sz="1200" kern="1200" dirty="0">
                <a:solidFill>
                  <a:schemeClr val="tx1"/>
                </a:solidFill>
                <a:effectLst/>
                <a:latin typeface="+mn-lt"/>
              </a:rPr>
              <a:t>“</a:t>
            </a:r>
            <a:r>
              <a:rPr lang="zh-CN" altLang="en-US" sz="1200" kern="1200" dirty="0">
                <a:solidFill>
                  <a:schemeClr val="tx1"/>
                </a:solidFill>
                <a:effectLst/>
                <a:latin typeface="+mn-lt"/>
              </a:rPr>
              <a:t>丝状体化石</a:t>
            </a:r>
            <a:r>
              <a:rPr lang="en-US" altLang="zh-CN" sz="1200" kern="1200" dirty="0">
                <a:solidFill>
                  <a:schemeClr val="tx1"/>
                </a:solidFill>
                <a:effectLst/>
                <a:latin typeface="+mn-lt"/>
              </a:rPr>
              <a:t>”</a:t>
            </a:r>
            <a:r>
              <a:rPr lang="zh-CN" altLang="en-US" sz="1200" kern="1200" dirty="0">
                <a:solidFill>
                  <a:schemeClr val="tx1"/>
                </a:solidFill>
                <a:effectLst/>
                <a:latin typeface="+mn-lt"/>
              </a:rPr>
              <a:t>与论点中</a:t>
            </a:r>
            <a:r>
              <a:rPr lang="en-US" altLang="zh-CN" sz="1200" kern="1200" dirty="0">
                <a:solidFill>
                  <a:schemeClr val="tx1"/>
                </a:solidFill>
                <a:effectLst/>
                <a:latin typeface="+mn-lt"/>
              </a:rPr>
              <a:t>“</a:t>
            </a:r>
            <a:r>
              <a:rPr lang="zh-CN" altLang="en-US" sz="1200" kern="1200" dirty="0">
                <a:solidFill>
                  <a:schemeClr val="tx1"/>
                </a:solidFill>
                <a:effectLst/>
                <a:latin typeface="+mn-lt"/>
              </a:rPr>
              <a:t>真核生物</a:t>
            </a:r>
            <a:r>
              <a:rPr lang="en-US" altLang="zh-CN" sz="1200" kern="1200" dirty="0">
                <a:solidFill>
                  <a:schemeClr val="tx1"/>
                </a:solidFill>
                <a:effectLst/>
                <a:latin typeface="+mn-lt"/>
              </a:rPr>
              <a:t>”</a:t>
            </a:r>
            <a:r>
              <a:rPr lang="zh-CN" altLang="en-US" sz="1200" kern="1200" dirty="0">
                <a:solidFill>
                  <a:schemeClr val="tx1"/>
                </a:solidFill>
                <a:effectLst/>
                <a:latin typeface="+mn-lt"/>
              </a:rPr>
              <a:t>的联系，为搭桥项，可以加强，排除。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论点：企业选择产教融合的第二种方案：</a:t>
            </a:r>
            <a:r>
              <a:rPr lang="en-US" altLang="zh-CN" sz="1200" kern="1200" dirty="0">
                <a:solidFill>
                  <a:schemeClr val="tx1"/>
                </a:solidFill>
                <a:effectLst/>
                <a:latin typeface="+mn-lt"/>
              </a:rPr>
              <a:t>“</a:t>
            </a:r>
            <a:r>
              <a:rPr lang="zh-CN" altLang="en-US" sz="1200" kern="1200" dirty="0">
                <a:solidFill>
                  <a:schemeClr val="tx1"/>
                </a:solidFill>
                <a:effectLst/>
                <a:latin typeface="+mn-lt"/>
              </a:rPr>
              <a:t>做浅</a:t>
            </a:r>
            <a:r>
              <a:rPr lang="en-US" altLang="zh-CN" sz="1200" kern="1200" dirty="0">
                <a:solidFill>
                  <a:schemeClr val="tx1"/>
                </a:solidFill>
                <a:effectLst/>
                <a:latin typeface="+mn-lt"/>
              </a:rPr>
              <a:t>”</a:t>
            </a:r>
            <a:r>
              <a:rPr lang="zh-CN" altLang="en-US" sz="1200" kern="1200" dirty="0">
                <a:solidFill>
                  <a:schemeClr val="tx1"/>
                </a:solidFill>
                <a:effectLst/>
                <a:latin typeface="+mn-lt"/>
              </a:rPr>
              <a:t>，在学校设立</a:t>
            </a:r>
            <a:r>
              <a:rPr lang="en-US" altLang="zh-CN" sz="1200" kern="1200" dirty="0">
                <a:solidFill>
                  <a:schemeClr val="tx1"/>
                </a:solidFill>
                <a:effectLst/>
                <a:latin typeface="+mn-lt"/>
              </a:rPr>
              <a:t>“</a:t>
            </a:r>
            <a:r>
              <a:rPr lang="zh-CN" altLang="en-US" sz="1200" kern="1200" dirty="0">
                <a:solidFill>
                  <a:schemeClr val="tx1"/>
                </a:solidFill>
                <a:effectLst/>
                <a:latin typeface="+mn-lt"/>
              </a:rPr>
              <a:t>冠名班</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订单班</a:t>
            </a:r>
            <a:r>
              <a:rPr lang="en-US" altLang="zh-CN" sz="1200" kern="1200" dirty="0">
                <a:solidFill>
                  <a:schemeClr val="tx1"/>
                </a:solidFill>
                <a:effectLst/>
                <a:latin typeface="+mn-lt"/>
              </a:rPr>
              <a:t>”</a:t>
            </a:r>
            <a:r>
              <a:rPr lang="zh-CN" altLang="en-US" sz="1200" kern="1200" dirty="0">
                <a:solidFill>
                  <a:schemeClr val="tx1"/>
                </a:solidFill>
                <a:effectLst/>
                <a:latin typeface="+mn-lt"/>
              </a:rPr>
              <a:t>，以学校教育为主，企业与学生当前没有签约意向，但随时保持互相选择的权利。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本题的论点说的是企业与学校合作，培养企业需要的人，随时需求随时签约。本题只有论点，没有论据，加强考虑补充论据。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项：企业付出人力成本，与论点讨论的企业和学校合作无关，话题不一致，无法加强，排除；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项：企业订单不稳定，订单突然增加时才需要大量人员，那么可以和学校签约</a:t>
            </a:r>
            <a:r>
              <a:rPr lang="en-US" altLang="zh-CN" sz="1200" kern="1200" dirty="0">
                <a:solidFill>
                  <a:schemeClr val="tx1"/>
                </a:solidFill>
                <a:effectLst/>
                <a:latin typeface="+mn-lt"/>
              </a:rPr>
              <a:t>“</a:t>
            </a:r>
            <a:r>
              <a:rPr lang="zh-CN" altLang="en-US" sz="1200" kern="1200" dirty="0">
                <a:solidFill>
                  <a:schemeClr val="tx1"/>
                </a:solidFill>
                <a:effectLst/>
                <a:latin typeface="+mn-lt"/>
              </a:rPr>
              <a:t>订单班</a:t>
            </a:r>
            <a:r>
              <a:rPr lang="en-US" altLang="zh-CN" sz="1200" kern="1200" dirty="0">
                <a:solidFill>
                  <a:schemeClr val="tx1"/>
                </a:solidFill>
                <a:effectLst/>
                <a:latin typeface="+mn-lt"/>
              </a:rPr>
              <a:t>”</a:t>
            </a:r>
            <a:r>
              <a:rPr lang="zh-CN" altLang="en-US" sz="1200" kern="1200" dirty="0">
                <a:solidFill>
                  <a:schemeClr val="tx1"/>
                </a:solidFill>
                <a:effectLst/>
                <a:latin typeface="+mn-lt"/>
              </a:rPr>
              <a:t>，随时和学生互相选择，能支持选择第二方案，补充论据，可以加强，当选；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项：企业生产使用特种专业设备，不具有从市场挖人的条件，与论点讨论的企业和学校合作无关，话题不一致，无法加强，排除；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项：自建培训中心比学校教育更有利，支持第一方案，反而削弱第二方案，无法加强，排除。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论点：在军语中将这些数字变读，是为了符合实际需要。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论据：我军军语惯于将数字</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7</a:t>
            </a:r>
            <a:r>
              <a:rPr lang="zh-CN" altLang="en-US" sz="1200" kern="1200" dirty="0">
                <a:solidFill>
                  <a:schemeClr val="tx1"/>
                </a:solidFill>
                <a:effectLst/>
                <a:latin typeface="+mn-lt"/>
              </a:rPr>
              <a:t>、</a:t>
            </a:r>
            <a:r>
              <a:rPr lang="en-US" altLang="zh-CN" sz="1200" kern="1200" dirty="0">
                <a:solidFill>
                  <a:schemeClr val="tx1"/>
                </a:solidFill>
                <a:effectLst/>
                <a:latin typeface="+mn-lt"/>
              </a:rPr>
              <a:t>9</a:t>
            </a:r>
            <a:r>
              <a:rPr lang="zh-CN" altLang="en-US" sz="1200" kern="1200" dirty="0">
                <a:solidFill>
                  <a:schemeClr val="tx1"/>
                </a:solidFill>
                <a:effectLst/>
                <a:latin typeface="+mn-lt"/>
              </a:rPr>
              <a:t>、</a:t>
            </a:r>
            <a:r>
              <a:rPr lang="en-US" altLang="zh-CN" sz="1200" kern="1200" dirty="0">
                <a:solidFill>
                  <a:schemeClr val="tx1"/>
                </a:solidFill>
                <a:effectLst/>
                <a:latin typeface="+mn-lt"/>
              </a:rPr>
              <a:t>0</a:t>
            </a:r>
            <a:r>
              <a:rPr lang="zh-CN" altLang="en-US" sz="1200" kern="1200" dirty="0">
                <a:solidFill>
                  <a:schemeClr val="tx1"/>
                </a:solidFill>
                <a:effectLst/>
                <a:latin typeface="+mn-lt"/>
              </a:rPr>
              <a:t>变读为幺、两、拐、勾、洞，这些数字有个共同特点，即其原本的发音部位与发音方法使得在读这些数字时无法发出较大声音，在噪声干扰较为强烈的战场上，通信兵使用通讯设备进行情报交流时，话筒对这些数字的实际增音效果并不明显，可能会影响信息的准确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本题论点说的是军语中将部分数字变读的原因，论据说的是这些数字的原本发音会影响信息的准确性。论点、论据话题一致，且本题为选非题，找到可加强的选项排除即可。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项：该项指出常规数字念法中</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7</a:t>
            </a:r>
            <a:r>
              <a:rPr lang="zh-CN" altLang="en-US" sz="1200" kern="1200" dirty="0">
                <a:solidFill>
                  <a:schemeClr val="tx1"/>
                </a:solidFill>
                <a:effectLst/>
                <a:latin typeface="+mn-lt"/>
              </a:rPr>
              <a:t>的韵尾相同，发音相似，说明了原发音在战场上可能导致信息传达错误，而变读可以避免错误，是为了符合实际需要，补充论据，可以加强，排除；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项：该项指出变读可以避免口音问题，减少误解，是为了符合实际需要，补充论据，可以加强，排除；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项：该项指出</a:t>
            </a:r>
            <a:r>
              <a:rPr lang="en-US" altLang="zh-CN" sz="1200" kern="1200" dirty="0">
                <a:solidFill>
                  <a:schemeClr val="tx1"/>
                </a:solidFill>
                <a:effectLst/>
                <a:latin typeface="+mn-lt"/>
              </a:rPr>
              <a:t>“</a:t>
            </a:r>
            <a:r>
              <a:rPr lang="zh-CN" altLang="en-US" sz="1200" kern="1200" dirty="0">
                <a:solidFill>
                  <a:schemeClr val="tx1"/>
                </a:solidFill>
                <a:effectLst/>
                <a:latin typeface="+mn-lt"/>
              </a:rPr>
              <a:t>在国际无线电通话中</a:t>
            </a:r>
            <a:r>
              <a:rPr lang="en-US" altLang="zh-CN" sz="1200" kern="1200" dirty="0">
                <a:solidFill>
                  <a:schemeClr val="tx1"/>
                </a:solidFill>
                <a:effectLst/>
                <a:latin typeface="+mn-lt"/>
              </a:rPr>
              <a:t>”</a:t>
            </a:r>
            <a:r>
              <a:rPr lang="zh-CN" altLang="en-US" sz="1200" kern="1200" dirty="0">
                <a:solidFill>
                  <a:schemeClr val="tx1"/>
                </a:solidFill>
                <a:effectLst/>
                <a:latin typeface="+mn-lt"/>
              </a:rPr>
              <a:t>，也会对</a:t>
            </a:r>
            <a:r>
              <a:rPr lang="en-US" altLang="zh-CN" sz="1200" kern="1200" dirty="0">
                <a:solidFill>
                  <a:schemeClr val="tx1"/>
                </a:solidFill>
                <a:effectLst/>
                <a:latin typeface="+mn-lt"/>
              </a:rPr>
              <a:t>“</a:t>
            </a:r>
            <a:r>
              <a:rPr lang="zh-CN" altLang="en-US" sz="1200" kern="1200" dirty="0">
                <a:solidFill>
                  <a:schemeClr val="tx1"/>
                </a:solidFill>
                <a:effectLst/>
                <a:latin typeface="+mn-lt"/>
              </a:rPr>
              <a:t>字母</a:t>
            </a:r>
            <a:r>
              <a:rPr lang="en-US" altLang="zh-CN" sz="1200" kern="1200" dirty="0">
                <a:solidFill>
                  <a:schemeClr val="tx1"/>
                </a:solidFill>
                <a:effectLst/>
                <a:latin typeface="+mn-lt"/>
              </a:rPr>
              <a:t>”</a:t>
            </a:r>
            <a:r>
              <a:rPr lang="zh-CN" altLang="en-US" sz="1200" kern="1200" dirty="0">
                <a:solidFill>
                  <a:schemeClr val="tx1"/>
                </a:solidFill>
                <a:effectLst/>
                <a:latin typeface="+mn-lt"/>
              </a:rPr>
              <a:t>读音进行变读，而论点说的是在</a:t>
            </a:r>
            <a:r>
              <a:rPr lang="en-US" altLang="zh-CN" sz="1200" kern="1200" dirty="0">
                <a:solidFill>
                  <a:schemeClr val="tx1"/>
                </a:solidFill>
                <a:effectLst/>
                <a:latin typeface="+mn-lt"/>
              </a:rPr>
              <a:t>“</a:t>
            </a:r>
            <a:r>
              <a:rPr lang="zh-CN" altLang="en-US" sz="1200" kern="1200" dirty="0">
                <a:solidFill>
                  <a:schemeClr val="tx1"/>
                </a:solidFill>
                <a:effectLst/>
                <a:latin typeface="+mn-lt"/>
              </a:rPr>
              <a:t>军语</a:t>
            </a:r>
            <a:r>
              <a:rPr lang="en-US" altLang="zh-CN" sz="1200" kern="1200" dirty="0">
                <a:solidFill>
                  <a:schemeClr val="tx1"/>
                </a:solidFill>
                <a:effectLst/>
                <a:latin typeface="+mn-lt"/>
              </a:rPr>
              <a:t>”</a:t>
            </a:r>
            <a:r>
              <a:rPr lang="zh-CN" altLang="en-US" sz="1200" kern="1200" dirty="0">
                <a:solidFill>
                  <a:schemeClr val="tx1"/>
                </a:solidFill>
                <a:effectLst/>
                <a:latin typeface="+mn-lt"/>
              </a:rPr>
              <a:t>中将</a:t>
            </a:r>
            <a:r>
              <a:rPr lang="en-US" altLang="zh-CN" sz="1200" kern="1200" dirty="0">
                <a:solidFill>
                  <a:schemeClr val="tx1"/>
                </a:solidFill>
                <a:effectLst/>
                <a:latin typeface="+mn-lt"/>
              </a:rPr>
              <a:t>“</a:t>
            </a:r>
            <a:r>
              <a:rPr lang="zh-CN" altLang="en-US" sz="1200" kern="1200" dirty="0">
                <a:solidFill>
                  <a:schemeClr val="tx1"/>
                </a:solidFill>
                <a:effectLst/>
                <a:latin typeface="+mn-lt"/>
              </a:rPr>
              <a:t>数字</a:t>
            </a:r>
            <a:r>
              <a:rPr lang="en-US" altLang="zh-CN" sz="1200" kern="1200" dirty="0">
                <a:solidFill>
                  <a:schemeClr val="tx1"/>
                </a:solidFill>
                <a:effectLst/>
                <a:latin typeface="+mn-lt"/>
              </a:rPr>
              <a:t>”</a:t>
            </a:r>
            <a:r>
              <a:rPr lang="zh-CN" altLang="en-US" sz="1200" kern="1200" dirty="0">
                <a:solidFill>
                  <a:schemeClr val="tx1"/>
                </a:solidFill>
                <a:effectLst/>
                <a:latin typeface="+mn-lt"/>
              </a:rPr>
              <a:t>变读，话题不一致，不能加强，当选；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项：该项指将</a:t>
            </a:r>
            <a:r>
              <a:rPr lang="en-US" altLang="zh-CN" sz="1200" kern="1200" dirty="0">
                <a:solidFill>
                  <a:schemeClr val="tx1"/>
                </a:solidFill>
                <a:effectLst/>
                <a:latin typeface="+mn-lt"/>
              </a:rPr>
              <a:t>0</a:t>
            </a:r>
            <a:r>
              <a:rPr lang="zh-CN" altLang="en-US" sz="1200" kern="1200" dirty="0">
                <a:solidFill>
                  <a:schemeClr val="tx1"/>
                </a:solidFill>
                <a:effectLst/>
                <a:latin typeface="+mn-lt"/>
              </a:rPr>
              <a:t>读成</a:t>
            </a:r>
            <a:r>
              <a:rPr lang="en-US" altLang="zh-CN" sz="1200" kern="1200" dirty="0">
                <a:solidFill>
                  <a:schemeClr val="tx1"/>
                </a:solidFill>
                <a:effectLst/>
                <a:latin typeface="+mn-lt"/>
              </a:rPr>
              <a:t>“</a:t>
            </a:r>
            <a:r>
              <a:rPr lang="zh-CN" altLang="en-US" sz="1200" kern="1200" dirty="0">
                <a:solidFill>
                  <a:schemeClr val="tx1"/>
                </a:solidFill>
                <a:effectLst/>
                <a:latin typeface="+mn-lt"/>
              </a:rPr>
              <a:t>洞</a:t>
            </a:r>
            <a:r>
              <a:rPr lang="en-US" altLang="zh-CN" sz="1200" kern="1200" dirty="0">
                <a:solidFill>
                  <a:schemeClr val="tx1"/>
                </a:solidFill>
                <a:effectLst/>
                <a:latin typeface="+mn-lt"/>
              </a:rPr>
              <a:t>”</a:t>
            </a:r>
            <a:r>
              <a:rPr lang="zh-CN" altLang="en-US" sz="1200" kern="1200" dirty="0">
                <a:solidFill>
                  <a:schemeClr val="tx1"/>
                </a:solidFill>
                <a:effectLst/>
                <a:latin typeface="+mn-lt"/>
              </a:rPr>
              <a:t>时，更容易提高声音，举例说明变读能确保信息的准确性，是为了符合实际需要，补充论据，可以加强，排除。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本题为选非题，故正确答案为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论点：相对孤立的海山存在独特的生物群落且拥有高度特有的动物群。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论据：以往的海山生物调查发现，海山岩石上的生物群落与海山周边的软底沉积和深海平原上的生物群落大不相同。而且，一些海山之间的生物群落在物种构成上较少重叠。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本题论点和论据说的都是海山的生物群落比较独特，话题一致，削弱可以考虑削弱论点或削弱论据。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项：指出远离大陆的孤岛因为海洋的分割往往会形成相对孤立且独特的岛屿生物群，但论点讨论的是海山，海山并不都是远离大陆的孤岛，话题不一致，无法削弱，排除；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项：指出海山不可能长期被隔离成水下孤岛，但论点讨论的是海山是否存在独特的生物群落且拥有高度特有的动物群，话题不一致，无法削弱，排除；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项：指出早期一些海山中发现的高度特有物种其实是采样不足造成的，很多海山都有相同的生物来源，说明论据里面的调查并不全面，削弱论据，可以削弱，当选；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指出某些海山顶部形成封闭环流，使栖息其上的生物幼体难以扩散，讨论的是生物幼体难以扩散的原因，但论点讨论的是海山是否存在独特的生物群落且拥有高度特有的动物群，话题不一致，无法削弱，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解析：本题属于分析推理，主要考查材料分析。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）丁、辛在第二季度；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）甲、戊在同一个季度；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）丁在乙之后丙之前举办；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）丙在甲之前己之后举办；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）甲、乙、丙、丁、戊、己、庚、辛</a:t>
            </a:r>
            <a:r>
              <a:rPr lang="en-US" altLang="zh-CN" sz="1200" kern="1200" dirty="0">
                <a:solidFill>
                  <a:schemeClr val="tx1"/>
                </a:solidFill>
                <a:effectLst/>
                <a:latin typeface="+mn-lt"/>
              </a:rPr>
              <a:t>8</a:t>
            </a:r>
            <a:r>
              <a:rPr lang="zh-CN" altLang="en-US" sz="1200" kern="1200" dirty="0">
                <a:solidFill>
                  <a:schemeClr val="tx1"/>
                </a:solidFill>
                <a:effectLst/>
                <a:latin typeface="+mn-lt"/>
              </a:rPr>
              <a:t>次学术会议，每个季度最多举办</a:t>
            </a:r>
            <a:r>
              <a:rPr lang="en-US" altLang="zh-CN" sz="1200" kern="1200" dirty="0">
                <a:solidFill>
                  <a:schemeClr val="tx1"/>
                </a:solidFill>
                <a:effectLst/>
                <a:latin typeface="+mn-lt"/>
              </a:rPr>
              <a:t>3</a:t>
            </a:r>
            <a:r>
              <a:rPr lang="zh-CN" altLang="en-US" sz="1200" kern="1200" dirty="0">
                <a:solidFill>
                  <a:schemeClr val="tx1"/>
                </a:solidFill>
                <a:effectLst/>
                <a:latin typeface="+mn-lt"/>
              </a:rPr>
              <a:t>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）可知，丁在第二季度举办，排除</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两项；根据条件（</a:t>
            </a:r>
            <a:r>
              <a:rPr lang="en-US" altLang="zh-CN" sz="1200" kern="1200" dirty="0">
                <a:solidFill>
                  <a:schemeClr val="tx1"/>
                </a:solidFill>
                <a:effectLst/>
                <a:latin typeface="+mn-lt"/>
              </a:rPr>
              <a:t>3</a:t>
            </a:r>
            <a:r>
              <a:rPr lang="zh-CN" altLang="en-US" sz="1200" kern="1200" dirty="0">
                <a:solidFill>
                  <a:schemeClr val="tx1"/>
                </a:solidFill>
                <a:effectLst/>
                <a:latin typeface="+mn-lt"/>
              </a:rPr>
              <a:t>）和（</a:t>
            </a:r>
            <a:r>
              <a:rPr lang="en-US" altLang="zh-CN" sz="1200" kern="1200" dirty="0">
                <a:solidFill>
                  <a:schemeClr val="tx1"/>
                </a:solidFill>
                <a:effectLst/>
                <a:latin typeface="+mn-lt"/>
              </a:rPr>
              <a:t>4</a:t>
            </a:r>
            <a:r>
              <a:rPr lang="zh-CN" altLang="en-US" sz="1200" kern="1200" dirty="0">
                <a:solidFill>
                  <a:schemeClr val="tx1"/>
                </a:solidFill>
                <a:effectLst/>
                <a:latin typeface="+mn-lt"/>
              </a:rPr>
              <a:t>）可知，甲的前面一定有乙、丁、己、丙</a:t>
            </a:r>
            <a:r>
              <a:rPr lang="en-US" altLang="zh-CN" sz="1200" kern="1200" dirty="0">
                <a:solidFill>
                  <a:schemeClr val="tx1"/>
                </a:solidFill>
                <a:effectLst/>
                <a:latin typeface="+mn-lt"/>
              </a:rPr>
              <a:t>4</a:t>
            </a:r>
            <a:r>
              <a:rPr lang="zh-CN" altLang="en-US" sz="1200" kern="1200" dirty="0">
                <a:solidFill>
                  <a:schemeClr val="tx1"/>
                </a:solidFill>
                <a:effectLst/>
                <a:latin typeface="+mn-lt"/>
              </a:rPr>
              <a:t>次会议，结合条件（</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每个季度最多举办</a:t>
            </a:r>
            <a:r>
              <a:rPr lang="en-US" altLang="zh-CN" sz="1200" kern="1200" dirty="0">
                <a:solidFill>
                  <a:schemeClr val="tx1"/>
                </a:solidFill>
                <a:effectLst/>
                <a:latin typeface="+mn-lt"/>
              </a:rPr>
              <a:t>3</a:t>
            </a:r>
            <a:r>
              <a:rPr lang="zh-CN" altLang="en-US" sz="1200" kern="1200" dirty="0">
                <a:solidFill>
                  <a:schemeClr val="tx1"/>
                </a:solidFill>
                <a:effectLst/>
                <a:latin typeface="+mn-lt"/>
              </a:rPr>
              <a:t>次</a:t>
            </a:r>
            <a:r>
              <a:rPr lang="en-US" altLang="zh-CN" sz="1200" kern="1200" dirty="0">
                <a:solidFill>
                  <a:schemeClr val="tx1"/>
                </a:solidFill>
                <a:effectLst/>
                <a:latin typeface="+mn-lt"/>
              </a:rPr>
              <a:t>”</a:t>
            </a:r>
            <a:r>
              <a:rPr lang="zh-CN" altLang="en-US" sz="1200" kern="1200" dirty="0">
                <a:solidFill>
                  <a:schemeClr val="tx1"/>
                </a:solidFill>
                <a:effectLst/>
                <a:latin typeface="+mn-lt"/>
              </a:rPr>
              <a:t>可知，甲一定不在第一季度举办，排除</a:t>
            </a:r>
            <a:r>
              <a:rPr lang="en-US" altLang="zh-CN" sz="1200" kern="1200" dirty="0">
                <a:solidFill>
                  <a:schemeClr val="tx1"/>
                </a:solidFill>
                <a:effectLst/>
                <a:latin typeface="+mn-lt"/>
              </a:rPr>
              <a:t>A</a:t>
            </a:r>
            <a:r>
              <a:rPr lang="zh-CN" altLang="en-US" sz="1200" kern="1200" dirty="0">
                <a:solidFill>
                  <a:schemeClr val="tx1"/>
                </a:solidFill>
                <a:effectLst/>
                <a:latin typeface="+mn-lt"/>
              </a:rPr>
              <a:t>项，只有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解析：本题属于分析推理，主要考查材料分析。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）丁、辛在第二季度；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）甲、戊在同一个季度；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）丁在乙之后丙之前举办；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）丙在甲之前己之后举办；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）第二季度只安排</a:t>
            </a:r>
            <a:r>
              <a:rPr lang="en-US" altLang="zh-CN" sz="1200" kern="1200" dirty="0">
                <a:solidFill>
                  <a:schemeClr val="tx1"/>
                </a:solidFill>
                <a:effectLst/>
                <a:latin typeface="+mn-lt"/>
              </a:rPr>
              <a:t>2</a:t>
            </a:r>
            <a:r>
              <a:rPr lang="zh-CN" altLang="en-US" sz="1200" kern="1200" dirty="0">
                <a:solidFill>
                  <a:schemeClr val="tx1"/>
                </a:solidFill>
                <a:effectLst/>
                <a:latin typeface="+mn-lt"/>
              </a:rPr>
              <a:t>次会议。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）和（</a:t>
            </a:r>
            <a:r>
              <a:rPr lang="en-US" altLang="zh-CN" sz="1200" kern="1200" dirty="0">
                <a:solidFill>
                  <a:schemeClr val="tx1"/>
                </a:solidFill>
                <a:effectLst/>
                <a:latin typeface="+mn-lt"/>
              </a:rPr>
              <a:t>5</a:t>
            </a:r>
            <a:r>
              <a:rPr lang="zh-CN" altLang="en-US" sz="1200" kern="1200" dirty="0">
                <a:solidFill>
                  <a:schemeClr val="tx1"/>
                </a:solidFill>
                <a:effectLst/>
                <a:latin typeface="+mn-lt"/>
              </a:rPr>
              <a:t>）可知，第二季度只安排了丁、辛两次会议，结合条件（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）可知，丁在乙之后举办，因此乙会议一定在第一季度举办，对应</a:t>
            </a:r>
            <a:r>
              <a:rPr lang="en-US" altLang="zh-CN" sz="1200" kern="1200" dirty="0">
                <a:solidFill>
                  <a:schemeClr val="tx1"/>
                </a:solidFill>
                <a:effectLst/>
                <a:latin typeface="+mn-lt"/>
              </a:rPr>
              <a:t>B</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解析：本题属于分析推理，主要考查材料分析。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）丁、辛在第二季度；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）甲、戊同一季度；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）丁在乙之后，在丙之前；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）丙在甲之前，在己之后；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）乙、丙、丁、戊、己、庚、辛</a:t>
            </a:r>
            <a:r>
              <a:rPr lang="en-US" altLang="zh-CN" sz="1200" kern="1200" dirty="0">
                <a:solidFill>
                  <a:schemeClr val="tx1"/>
                </a:solidFill>
                <a:effectLst/>
                <a:latin typeface="+mn-lt"/>
              </a:rPr>
              <a:t>8</a:t>
            </a:r>
            <a:r>
              <a:rPr lang="zh-CN" altLang="en-US" sz="1200" kern="1200" dirty="0">
                <a:solidFill>
                  <a:schemeClr val="tx1"/>
                </a:solidFill>
                <a:effectLst/>
                <a:latin typeface="+mn-lt"/>
              </a:rPr>
              <a:t>次学术会议，每个季度最多举办</a:t>
            </a:r>
            <a:r>
              <a:rPr lang="en-US" altLang="zh-CN" sz="1200" kern="1200" dirty="0">
                <a:solidFill>
                  <a:schemeClr val="tx1"/>
                </a:solidFill>
                <a:effectLst/>
                <a:latin typeface="+mn-lt"/>
              </a:rPr>
              <a:t>3</a:t>
            </a:r>
            <a:r>
              <a:rPr lang="zh-CN" altLang="en-US" sz="1200" kern="1200" dirty="0">
                <a:solidFill>
                  <a:schemeClr val="tx1"/>
                </a:solidFill>
                <a:effectLst/>
                <a:latin typeface="+mn-lt"/>
              </a:rPr>
              <a:t>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）丙、戊在第四季度。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本题题干信息确定，选项信息充分，优先考虑排除法。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）可知，乙在第二季度或者之前，不可能安排在第三季度，排除</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两项；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）可知，甲一定在第四季度，排除</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经验证，</a:t>
            </a:r>
            <a:r>
              <a:rPr lang="en-US" altLang="zh-CN" sz="1200" kern="1200" dirty="0">
                <a:solidFill>
                  <a:schemeClr val="tx1"/>
                </a:solidFill>
                <a:effectLst/>
                <a:latin typeface="+mn-lt"/>
              </a:rPr>
              <a:t>D</a:t>
            </a:r>
            <a:r>
              <a:rPr lang="zh-CN" altLang="en-US" sz="1200" kern="1200" dirty="0">
                <a:solidFill>
                  <a:schemeClr val="tx1"/>
                </a:solidFill>
                <a:effectLst/>
                <a:latin typeface="+mn-lt"/>
              </a:rPr>
              <a:t>项满足题干所有条件，当选。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解析：本题属于分析推理，主要考查材料分析。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）丁、辛在第二季度；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）甲、戊在同一个季度；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）丁在乙之后丙之前举办；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）丙在甲之前己之后举办；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）甲、乙、丙、丁、戊、己、庚、辛</a:t>
            </a:r>
            <a:r>
              <a:rPr lang="en-US" altLang="zh-CN" sz="1200" kern="1200" dirty="0">
                <a:solidFill>
                  <a:schemeClr val="tx1"/>
                </a:solidFill>
                <a:effectLst/>
                <a:latin typeface="+mn-lt"/>
              </a:rPr>
              <a:t>8</a:t>
            </a:r>
            <a:r>
              <a:rPr lang="zh-CN" altLang="en-US" sz="1200" kern="1200" dirty="0">
                <a:solidFill>
                  <a:schemeClr val="tx1"/>
                </a:solidFill>
                <a:effectLst/>
                <a:latin typeface="+mn-lt"/>
              </a:rPr>
              <a:t>次学术会议，每个季度最多举办</a:t>
            </a:r>
            <a:r>
              <a:rPr lang="en-US" altLang="zh-CN" sz="1200" kern="1200" dirty="0">
                <a:solidFill>
                  <a:schemeClr val="tx1"/>
                </a:solidFill>
                <a:effectLst/>
                <a:latin typeface="+mn-lt"/>
              </a:rPr>
              <a:t>3</a:t>
            </a:r>
            <a:r>
              <a:rPr lang="zh-CN" altLang="en-US" sz="1200" kern="1200" dirty="0">
                <a:solidFill>
                  <a:schemeClr val="tx1"/>
                </a:solidFill>
                <a:effectLst/>
                <a:latin typeface="+mn-lt"/>
              </a:rPr>
              <a:t>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）每个季度至少安排</a:t>
            </a:r>
            <a:r>
              <a:rPr lang="en-US" altLang="zh-CN" sz="1200" kern="1200" dirty="0">
                <a:solidFill>
                  <a:schemeClr val="tx1"/>
                </a:solidFill>
                <a:effectLst/>
                <a:latin typeface="+mn-lt"/>
              </a:rPr>
              <a:t>1</a:t>
            </a:r>
            <a:r>
              <a:rPr lang="zh-CN" altLang="en-US" sz="1200" kern="1200" dirty="0">
                <a:solidFill>
                  <a:schemeClr val="tx1"/>
                </a:solidFill>
                <a:effectLst/>
                <a:latin typeface="+mn-lt"/>
              </a:rPr>
              <a:t>次会议；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7</a:t>
            </a:r>
            <a:r>
              <a:rPr lang="zh-CN" altLang="en-US" sz="1200" kern="1200" dirty="0">
                <a:solidFill>
                  <a:schemeClr val="tx1"/>
                </a:solidFill>
                <a:effectLst/>
                <a:latin typeface="+mn-lt"/>
              </a:rPr>
              <a:t>）第四季度仅安排</a:t>
            </a:r>
            <a:r>
              <a:rPr lang="en-US" altLang="zh-CN" sz="1200" kern="1200" dirty="0">
                <a:solidFill>
                  <a:schemeClr val="tx1"/>
                </a:solidFill>
                <a:effectLst/>
                <a:latin typeface="+mn-lt"/>
              </a:rPr>
              <a:t>1</a:t>
            </a:r>
            <a:r>
              <a:rPr lang="zh-CN" altLang="en-US" sz="1200" kern="1200" dirty="0">
                <a:solidFill>
                  <a:schemeClr val="tx1"/>
                </a:solidFill>
                <a:effectLst/>
                <a:latin typeface="+mn-lt"/>
              </a:rPr>
              <a:t>次会议。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）可知，甲和戊不可能安排在第二季度；此时结合条件（</a:t>
            </a:r>
            <a:r>
              <a:rPr lang="en-US" altLang="zh-CN" sz="1200" kern="1200" dirty="0">
                <a:solidFill>
                  <a:schemeClr val="tx1"/>
                </a:solidFill>
                <a:effectLst/>
                <a:latin typeface="+mn-lt"/>
              </a:rPr>
              <a:t>7</a:t>
            </a:r>
            <a:r>
              <a:rPr lang="zh-CN" altLang="en-US" sz="1200" kern="1200" dirty="0">
                <a:solidFill>
                  <a:schemeClr val="tx1"/>
                </a:solidFill>
                <a:effectLst/>
                <a:latin typeface="+mn-lt"/>
              </a:rPr>
              <a:t>）可知，甲和戊不可能安排在第四季度；再结合条件（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）可知，甲前面已经有己、丙，而每个季度最多举办</a:t>
            </a:r>
            <a:r>
              <a:rPr lang="en-US" altLang="zh-CN" sz="1200" kern="1200" dirty="0">
                <a:solidFill>
                  <a:schemeClr val="tx1"/>
                </a:solidFill>
                <a:effectLst/>
                <a:latin typeface="+mn-lt"/>
              </a:rPr>
              <a:t>3</a:t>
            </a:r>
            <a:r>
              <a:rPr lang="zh-CN" altLang="en-US" sz="1200" kern="1200" dirty="0">
                <a:solidFill>
                  <a:schemeClr val="tx1"/>
                </a:solidFill>
                <a:effectLst/>
                <a:latin typeface="+mn-lt"/>
              </a:rPr>
              <a:t>次，所以甲和戊在同一季度的情况下，不可能安排在第一季度，因此甲和戊只能安排在第三季度，对应</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解析：本题属于分析推理，主要考查材料分析。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）丁、辛在第二季度；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）甲、戊同一季度；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）丁在乙之后，在丙之前；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）丙在甲之前，在己之后；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）甲、乙、丙、丁、戊、己、庚、辛</a:t>
            </a:r>
            <a:r>
              <a:rPr lang="en-US" altLang="zh-CN" sz="1200" kern="1200" dirty="0">
                <a:solidFill>
                  <a:schemeClr val="tx1"/>
                </a:solidFill>
                <a:effectLst/>
                <a:latin typeface="+mn-lt"/>
              </a:rPr>
              <a:t>8</a:t>
            </a:r>
            <a:r>
              <a:rPr lang="zh-CN" altLang="en-US" sz="1200" kern="1200" dirty="0">
                <a:solidFill>
                  <a:schemeClr val="tx1"/>
                </a:solidFill>
                <a:effectLst/>
                <a:latin typeface="+mn-lt"/>
              </a:rPr>
              <a:t>次学术会议，每个季度最多举办</a:t>
            </a:r>
            <a:r>
              <a:rPr lang="en-US" altLang="zh-CN" sz="1200" kern="1200" dirty="0">
                <a:solidFill>
                  <a:schemeClr val="tx1"/>
                </a:solidFill>
                <a:effectLst/>
                <a:latin typeface="+mn-lt"/>
              </a:rPr>
              <a:t>3</a:t>
            </a:r>
            <a:r>
              <a:rPr lang="zh-CN" altLang="en-US" sz="1200" kern="1200" dirty="0">
                <a:solidFill>
                  <a:schemeClr val="tx1"/>
                </a:solidFill>
                <a:effectLst/>
                <a:latin typeface="+mn-lt"/>
              </a:rPr>
              <a:t>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）甲在第三季度，第四季度不安排会议。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根据题干条件（</a:t>
            </a:r>
            <a:r>
              <a:rPr lang="en-US" altLang="zh-CN" sz="1200" kern="1200" dirty="0">
                <a:solidFill>
                  <a:schemeClr val="tx1"/>
                </a:solidFill>
                <a:effectLst/>
                <a:latin typeface="+mn-lt"/>
              </a:rPr>
              <a:t>3</a:t>
            </a:r>
            <a:r>
              <a:rPr lang="zh-CN" altLang="en-US" sz="1200" kern="1200" dirty="0">
                <a:solidFill>
                  <a:schemeClr val="tx1"/>
                </a:solidFill>
                <a:effectLst/>
                <a:latin typeface="+mn-lt"/>
              </a:rPr>
              <a:t>）和条件（</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）可知，丙前有乙、丁和己，情况较少，因此可优先从丙入手进行假设。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假设丙被安排在第一季度，由条件（</a:t>
            </a:r>
            <a:r>
              <a:rPr lang="en-US" altLang="zh-CN" sz="1200" kern="1200" dirty="0">
                <a:solidFill>
                  <a:schemeClr val="tx1"/>
                </a:solidFill>
                <a:effectLst/>
                <a:latin typeface="+mn-lt"/>
              </a:rPr>
              <a:t>1</a:t>
            </a:r>
            <a:r>
              <a:rPr lang="zh-CN" altLang="en-US" sz="1200" kern="1200" dirty="0">
                <a:solidFill>
                  <a:schemeClr val="tx1"/>
                </a:solidFill>
                <a:effectLst/>
                <a:latin typeface="+mn-lt"/>
              </a:rPr>
              <a:t>）可知，丁、辛在第二季度，此时，丙在第一季度，丁在第二季度，不符合条件（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），因此，丙不能安排在第一季度。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假设丙被安排在第二季度，由条件（</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）可知，丁、辛在第二季度，甲、戊在第三季度。结合条件（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）可知，乙和己在丙之前的第一季度，此时第一季度和第三季度均可安排庚，庚可能和乙、己、甲、戊安排在同一个季度。</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假设丙被安排在第三季度，由条件（</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）可知，丁、辛在第二季度，甲、戊在第三季度。结合条件（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）可知，乙和己在丙之前的第一季度或第二季度（如下图所示）。此时第一季度和第二季度均可安排庚，庚可能和乙、己、丁、辛安排在同一个季度。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或或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综上，庚不可能和丙安排在同一个季度。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本题为选非题，故正确答案为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解析：本题属于数量类，主要考查部分数。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题干图形中黑球部分数均为</a:t>
            </a:r>
            <a:r>
              <a:rPr lang="en-US" altLang="zh-CN" sz="1200" kern="1200" dirty="0">
                <a:solidFill>
                  <a:schemeClr val="tx1"/>
                </a:solidFill>
                <a:effectLst/>
                <a:latin typeface="+mn-lt"/>
              </a:rPr>
              <a:t>1</a:t>
            </a:r>
            <a:r>
              <a:rPr lang="zh-CN" altLang="en-US" sz="1200" kern="1200" dirty="0">
                <a:solidFill>
                  <a:schemeClr val="tx1"/>
                </a:solidFill>
                <a:effectLst/>
                <a:latin typeface="+mn-lt"/>
              </a:rPr>
              <a:t>，白球部分数均为</a:t>
            </a:r>
            <a:r>
              <a:rPr lang="en-US" altLang="zh-CN" sz="1200" kern="1200" dirty="0">
                <a:solidFill>
                  <a:schemeClr val="tx1"/>
                </a:solidFill>
                <a:effectLst/>
                <a:latin typeface="+mn-lt"/>
              </a:rPr>
              <a:t>2</a:t>
            </a:r>
            <a:r>
              <a:rPr lang="zh-CN" altLang="en-US" sz="1200" kern="1200" dirty="0">
                <a:solidFill>
                  <a:schemeClr val="tx1"/>
                </a:solidFill>
                <a:effectLst/>
                <a:latin typeface="+mn-lt"/>
              </a:rPr>
              <a:t>，？处图形也应遵循此规律，只有</a:t>
            </a:r>
            <a:r>
              <a:rPr lang="en-US" altLang="zh-CN" sz="1200" kern="1200" dirty="0">
                <a:solidFill>
                  <a:schemeClr val="tx1"/>
                </a:solidFill>
                <a:effectLst/>
                <a:latin typeface="+mn-lt"/>
              </a:rPr>
              <a:t>B</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题干图形均出现规整的空白区域，考虑空白区域的对称性。题干图形空白区域对称轴方向依次顺时针旋转，故问号处应选择空白区域对称轴方向由左上到右下倾斜的，只有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解析：本题属于样式类，主要考查样式运算。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第一行图形中，图一和图二先求异，再将求异后的图形左右翻转，得到图三；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经验证，第二行符合此规律；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第三行应用此规律，图一和图二先求异，再将求异后的图形左右翻转，只有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本题考查截面图。根据平面公理</a:t>
            </a:r>
            <a:r>
              <a:rPr lang="en-US" altLang="zh-CN" sz="1200" kern="1200" dirty="0">
                <a:solidFill>
                  <a:schemeClr val="tx1"/>
                </a:solidFill>
                <a:effectLst/>
                <a:latin typeface="+mn-lt"/>
              </a:rPr>
              <a:t>“</a:t>
            </a:r>
            <a:r>
              <a:rPr lang="zh-CN" altLang="en-US" sz="1200" kern="1200" dirty="0">
                <a:solidFill>
                  <a:schemeClr val="tx1"/>
                </a:solidFill>
                <a:effectLst/>
                <a:latin typeface="+mn-lt"/>
              </a:rPr>
              <a:t>过不在一条直线上的三点，有且只有一个平面</a:t>
            </a:r>
            <a:r>
              <a:rPr lang="en-US" altLang="zh-CN" sz="1200" kern="1200" dirty="0">
                <a:solidFill>
                  <a:schemeClr val="tx1"/>
                </a:solidFill>
                <a:effectLst/>
                <a:latin typeface="+mn-lt"/>
              </a:rPr>
              <a:t>”</a:t>
            </a:r>
            <a:r>
              <a:rPr lang="zh-CN" altLang="en-US" sz="1200" kern="1200" dirty="0">
                <a:solidFill>
                  <a:schemeClr val="tx1"/>
                </a:solidFill>
                <a:effectLst/>
                <a:latin typeface="+mn-lt"/>
              </a:rPr>
              <a:t>可以得出，经过</a:t>
            </a:r>
            <a:r>
              <a:rPr lang="en-US" altLang="zh-CN" sz="1200" kern="1200" dirty="0">
                <a:solidFill>
                  <a:schemeClr val="tx1"/>
                </a:solidFill>
                <a:effectLst/>
                <a:latin typeface="+mn-lt"/>
              </a:rPr>
              <a:t>P</a:t>
            </a:r>
            <a:r>
              <a:rPr lang="zh-CN" altLang="en-US" sz="1200" kern="1200" dirty="0">
                <a:solidFill>
                  <a:schemeClr val="tx1"/>
                </a:solidFill>
                <a:effectLst/>
                <a:latin typeface="+mn-lt"/>
              </a:rPr>
              <a:t>、</a:t>
            </a:r>
            <a:r>
              <a:rPr lang="en-US" altLang="zh-CN" sz="1200" kern="1200" dirty="0">
                <a:solidFill>
                  <a:schemeClr val="tx1"/>
                </a:solidFill>
                <a:effectLst/>
                <a:latin typeface="+mn-lt"/>
              </a:rPr>
              <a:t>Q</a:t>
            </a:r>
            <a:r>
              <a:rPr lang="zh-CN" altLang="en-US" sz="1200" kern="1200" dirty="0">
                <a:solidFill>
                  <a:schemeClr val="tx1"/>
                </a:solidFill>
                <a:effectLst/>
                <a:latin typeface="+mn-lt"/>
              </a:rPr>
              <a:t>、</a:t>
            </a:r>
            <a:r>
              <a:rPr lang="en-US" altLang="zh-CN" sz="1200" kern="1200" dirty="0">
                <a:solidFill>
                  <a:schemeClr val="tx1"/>
                </a:solidFill>
                <a:effectLst/>
                <a:latin typeface="+mn-lt"/>
              </a:rPr>
              <a:t>R</a:t>
            </a:r>
            <a:r>
              <a:rPr lang="zh-CN" altLang="en-US" sz="1200" kern="1200" dirty="0">
                <a:solidFill>
                  <a:schemeClr val="tx1"/>
                </a:solidFill>
                <a:effectLst/>
                <a:latin typeface="+mn-lt"/>
              </a:rPr>
              <a:t>三点可以确定唯一的平面，即切面为</a:t>
            </a:r>
            <a:r>
              <a:rPr lang="en-US" altLang="zh-CN" sz="1200" kern="1200" dirty="0">
                <a:solidFill>
                  <a:schemeClr val="tx1"/>
                </a:solidFill>
                <a:effectLst/>
                <a:latin typeface="+mn-lt"/>
              </a:rPr>
              <a:t>B</a:t>
            </a:r>
            <a:r>
              <a:rPr lang="zh-CN" altLang="en-US" sz="1200" kern="1200" dirty="0">
                <a:solidFill>
                  <a:schemeClr val="tx1"/>
                </a:solidFill>
                <a:effectLst/>
                <a:latin typeface="+mn-lt"/>
              </a:rPr>
              <a:t>项，如下图所示：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解析：本题属于样式类，主要考查样式识别。</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每幅图中均有一个正方形，且图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中的正方形在图形的中心位置，图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中的正方形在图形的四周位置。故图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解析：本题属于位置类，主要考查线线关系。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①②④</a:t>
            </a:r>
            <a:r>
              <a:rPr lang="zh-CN" altLang="en-US" sz="1200" kern="1200" dirty="0">
                <a:solidFill>
                  <a:schemeClr val="tx1"/>
                </a:solidFill>
                <a:effectLst/>
                <a:latin typeface="+mn-lt"/>
              </a:rPr>
              <a:t>中，黑球连线与白球连线互相垂直，图</a:t>
            </a:r>
            <a:r>
              <a:rPr lang="en-US" altLang="en-US" sz="1200" kern="1200" dirty="0">
                <a:solidFill>
                  <a:schemeClr val="tx1"/>
                </a:solidFill>
                <a:effectLst/>
                <a:latin typeface="+mn-lt"/>
              </a:rPr>
              <a:t>③⑤⑥</a:t>
            </a:r>
            <a:r>
              <a:rPr lang="zh-CN" altLang="en-US" sz="1200" kern="1200" dirty="0">
                <a:solidFill>
                  <a:schemeClr val="tx1"/>
                </a:solidFill>
                <a:effectLst/>
                <a:latin typeface="+mn-lt"/>
              </a:rPr>
              <a:t>中，黑球连线与白球连线互相平行。即图</a:t>
            </a:r>
            <a:r>
              <a:rPr lang="en-US" altLang="en-US" sz="1200" kern="1200" dirty="0">
                <a:solidFill>
                  <a:schemeClr val="tx1"/>
                </a:solidFill>
                <a:effectLst/>
                <a:latin typeface="+mn-lt"/>
              </a:rPr>
              <a:t>①②④</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③⑤⑥</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本题为分组分类题目。元素组成不同，且无明显属性规律，考虑数量规律。观察发现，图</a:t>
            </a:r>
            <a:r>
              <a:rPr lang="en-US" altLang="en-US" sz="1200" kern="1200" dirty="0">
                <a:solidFill>
                  <a:schemeClr val="tx1"/>
                </a:solidFill>
                <a:effectLst/>
                <a:latin typeface="+mn-lt"/>
              </a:rPr>
              <a:t>②</a:t>
            </a:r>
            <a:r>
              <a:rPr lang="zh-CN" altLang="en-US" sz="1200" kern="1200" dirty="0">
                <a:solidFill>
                  <a:schemeClr val="tx1"/>
                </a:solidFill>
                <a:effectLst/>
                <a:latin typeface="+mn-lt"/>
              </a:rPr>
              <a:t>为</a:t>
            </a:r>
            <a:r>
              <a:rPr lang="en-US" altLang="zh-CN" sz="1200" kern="1200" dirty="0">
                <a:solidFill>
                  <a:schemeClr val="tx1"/>
                </a:solidFill>
                <a:effectLst/>
                <a:latin typeface="+mn-lt"/>
              </a:rPr>
              <a:t>“</a:t>
            </a:r>
            <a:r>
              <a:rPr lang="zh-CN" altLang="en-US" sz="1200" kern="1200" dirty="0">
                <a:solidFill>
                  <a:schemeClr val="tx1"/>
                </a:solidFill>
                <a:effectLst/>
                <a:latin typeface="+mn-lt"/>
              </a:rPr>
              <a:t>田</a:t>
            </a:r>
            <a:r>
              <a:rPr lang="en-US" altLang="zh-CN" sz="1200" kern="1200" dirty="0">
                <a:solidFill>
                  <a:schemeClr val="tx1"/>
                </a:solidFill>
                <a:effectLst/>
                <a:latin typeface="+mn-lt"/>
              </a:rPr>
              <a:t>”</a:t>
            </a:r>
            <a:r>
              <a:rPr lang="zh-CN" altLang="en-US" sz="1200" kern="1200" dirty="0">
                <a:solidFill>
                  <a:schemeClr val="tx1"/>
                </a:solidFill>
                <a:effectLst/>
                <a:latin typeface="+mn-lt"/>
              </a:rPr>
              <a:t>字的变形图，图</a:t>
            </a:r>
            <a:r>
              <a:rPr lang="en-US" altLang="en-US" sz="1200" kern="1200" dirty="0">
                <a:solidFill>
                  <a:schemeClr val="tx1"/>
                </a:solidFill>
                <a:effectLst/>
                <a:latin typeface="+mn-lt"/>
              </a:rPr>
              <a:t>③</a:t>
            </a:r>
            <a:r>
              <a:rPr lang="zh-CN" altLang="en-US" sz="1200" kern="1200" dirty="0">
                <a:solidFill>
                  <a:schemeClr val="tx1"/>
                </a:solidFill>
                <a:effectLst/>
                <a:latin typeface="+mn-lt"/>
              </a:rPr>
              <a:t>有</a:t>
            </a:r>
            <a:r>
              <a:rPr lang="en-US" altLang="zh-CN" sz="1200" kern="1200" dirty="0">
                <a:solidFill>
                  <a:schemeClr val="tx1"/>
                </a:solidFill>
                <a:effectLst/>
                <a:latin typeface="+mn-lt"/>
              </a:rPr>
              <a:t>“</a:t>
            </a:r>
            <a:r>
              <a:rPr lang="zh-CN" altLang="en-US" sz="1200" kern="1200" dirty="0">
                <a:solidFill>
                  <a:schemeClr val="tx1"/>
                </a:solidFill>
                <a:effectLst/>
                <a:latin typeface="+mn-lt"/>
              </a:rPr>
              <a:t>日</a:t>
            </a:r>
            <a:r>
              <a:rPr lang="en-US" altLang="zh-CN" sz="1200" kern="1200" dirty="0">
                <a:solidFill>
                  <a:schemeClr val="tx1"/>
                </a:solidFill>
                <a:effectLst/>
                <a:latin typeface="+mn-lt"/>
              </a:rPr>
              <a:t>”</a:t>
            </a:r>
            <a:r>
              <a:rPr lang="zh-CN" altLang="en-US" sz="1200" kern="1200" dirty="0">
                <a:solidFill>
                  <a:schemeClr val="tx1"/>
                </a:solidFill>
                <a:effectLst/>
                <a:latin typeface="+mn-lt"/>
              </a:rPr>
              <a:t>字的变形图，考虑笔画数。图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为一笔画图形，图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为两笔画图形，即图</a:t>
            </a:r>
            <a:r>
              <a:rPr lang="en-US" altLang="en-US" sz="1200" kern="1200" dirty="0">
                <a:solidFill>
                  <a:schemeClr val="tx1"/>
                </a:solidFill>
                <a:effectLst/>
                <a:latin typeface="+mn-lt"/>
              </a:rPr>
              <a:t>①③④</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②⑤⑥</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在一件事情已经发生之后</a:t>
            </a:r>
            <a:r>
              <a:rPr lang="en-US" altLang="zh-CN" sz="1200" kern="1200" dirty="0">
                <a:solidFill>
                  <a:schemeClr val="tx1"/>
                </a:solidFill>
                <a:effectLst/>
                <a:latin typeface="+mn-lt"/>
              </a:rPr>
              <a:t>”“</a:t>
            </a:r>
            <a:r>
              <a:rPr lang="zh-CN" altLang="en-US" sz="1200" kern="1200" dirty="0">
                <a:solidFill>
                  <a:schemeClr val="tx1"/>
                </a:solidFill>
                <a:effectLst/>
                <a:latin typeface="+mn-lt"/>
              </a:rPr>
              <a:t>个体之前没有对此做过预判</a:t>
            </a:r>
            <a:r>
              <a:rPr lang="en-US" altLang="zh-CN" sz="1200" kern="1200" dirty="0">
                <a:solidFill>
                  <a:schemeClr val="tx1"/>
                </a:solidFill>
                <a:effectLst/>
                <a:latin typeface="+mn-lt"/>
              </a:rPr>
              <a:t>”“</a:t>
            </a:r>
            <a:r>
              <a:rPr lang="zh-CN" altLang="en-US" sz="1200" kern="1200" dirty="0">
                <a:solidFill>
                  <a:schemeClr val="tx1"/>
                </a:solidFill>
                <a:effectLst/>
                <a:latin typeface="+mn-lt"/>
              </a:rPr>
              <a:t>认为自己</a:t>
            </a:r>
            <a:r>
              <a:rPr lang="en-US" altLang="zh-CN" sz="1200" kern="1200" dirty="0">
                <a:solidFill>
                  <a:schemeClr val="tx1"/>
                </a:solidFill>
                <a:effectLst/>
                <a:latin typeface="+mn-lt"/>
              </a:rPr>
              <a:t>‘</a:t>
            </a:r>
            <a:r>
              <a:rPr lang="zh-CN" altLang="en-US" sz="1200" kern="1200" dirty="0">
                <a:solidFill>
                  <a:schemeClr val="tx1"/>
                </a:solidFill>
                <a:effectLst/>
                <a:latin typeface="+mn-lt"/>
              </a:rPr>
              <a:t>早就知道会这样</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项：小瑾申请升职失败后，符合</a:t>
            </a:r>
            <a:r>
              <a:rPr lang="en-US" altLang="zh-CN" sz="1200" kern="1200" dirty="0">
                <a:solidFill>
                  <a:schemeClr val="tx1"/>
                </a:solidFill>
                <a:effectLst/>
                <a:latin typeface="+mn-lt"/>
              </a:rPr>
              <a:t>“</a:t>
            </a:r>
            <a:r>
              <a:rPr lang="zh-CN" altLang="en-US" sz="1200" kern="1200" dirty="0">
                <a:solidFill>
                  <a:schemeClr val="tx1"/>
                </a:solidFill>
                <a:effectLst/>
                <a:latin typeface="+mn-lt"/>
              </a:rPr>
              <a:t>在一件事情已经发生之后</a:t>
            </a:r>
            <a:r>
              <a:rPr lang="en-US" altLang="zh-CN" sz="1200" kern="1200" dirty="0">
                <a:solidFill>
                  <a:schemeClr val="tx1"/>
                </a:solidFill>
                <a:effectLst/>
                <a:latin typeface="+mn-lt"/>
              </a:rPr>
              <a:t>”</a:t>
            </a:r>
            <a:r>
              <a:rPr lang="zh-CN" altLang="en-US" sz="1200" kern="1200" dirty="0">
                <a:solidFill>
                  <a:schemeClr val="tx1"/>
                </a:solidFill>
                <a:effectLst/>
                <a:latin typeface="+mn-lt"/>
              </a:rPr>
              <a:t>，她说</a:t>
            </a:r>
            <a:r>
              <a:rPr lang="en-US" altLang="zh-CN" sz="1200" kern="1200" dirty="0">
                <a:solidFill>
                  <a:schemeClr val="tx1"/>
                </a:solidFill>
                <a:effectLst/>
                <a:latin typeface="+mn-lt"/>
              </a:rPr>
              <a:t>“</a:t>
            </a:r>
            <a:r>
              <a:rPr lang="zh-CN" altLang="en-US" sz="1200" kern="1200" dirty="0">
                <a:solidFill>
                  <a:schemeClr val="tx1"/>
                </a:solidFill>
                <a:effectLst/>
                <a:latin typeface="+mn-lt"/>
              </a:rPr>
              <a:t>我早就知道，我什么都不如别人，什么也做不好</a:t>
            </a:r>
            <a:r>
              <a:rPr lang="en-US" altLang="zh-CN" sz="1200" kern="1200" dirty="0">
                <a:solidFill>
                  <a:schemeClr val="tx1"/>
                </a:solidFill>
                <a:effectLst/>
                <a:latin typeface="+mn-lt"/>
              </a:rPr>
              <a:t>”</a:t>
            </a:r>
            <a:r>
              <a:rPr lang="zh-CN" altLang="en-US" sz="1200" kern="1200" dirty="0">
                <a:solidFill>
                  <a:schemeClr val="tx1"/>
                </a:solidFill>
                <a:effectLst/>
                <a:latin typeface="+mn-lt"/>
              </a:rPr>
              <a:t>，说明她认为自己做不好事情，是一种自我评价，并非针对</a:t>
            </a:r>
            <a:r>
              <a:rPr lang="en-US" altLang="zh-CN" sz="1200" kern="1200" dirty="0">
                <a:solidFill>
                  <a:schemeClr val="tx1"/>
                </a:solidFill>
                <a:effectLst/>
                <a:latin typeface="+mn-lt"/>
              </a:rPr>
              <a:t>“</a:t>
            </a:r>
            <a:r>
              <a:rPr lang="zh-CN" altLang="en-US" sz="1200" kern="1200" dirty="0">
                <a:solidFill>
                  <a:schemeClr val="tx1"/>
                </a:solidFill>
                <a:effectLst/>
                <a:latin typeface="+mn-lt"/>
              </a:rPr>
              <a:t>申请升职失败</a:t>
            </a:r>
            <a:r>
              <a:rPr lang="en-US" altLang="zh-CN" sz="1200" kern="1200" dirty="0">
                <a:solidFill>
                  <a:schemeClr val="tx1"/>
                </a:solidFill>
                <a:effectLst/>
                <a:latin typeface="+mn-lt"/>
              </a:rPr>
              <a:t>”</a:t>
            </a:r>
            <a:r>
              <a:rPr lang="zh-CN" altLang="en-US" sz="1200" kern="1200" dirty="0">
                <a:solidFill>
                  <a:schemeClr val="tx1"/>
                </a:solidFill>
                <a:effectLst/>
                <a:latin typeface="+mn-lt"/>
              </a:rPr>
              <a:t>这件事的看法，不符合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认为自己</a:t>
            </a:r>
            <a:r>
              <a:rPr lang="en-US" altLang="zh-CN" sz="1200" kern="1200" dirty="0">
                <a:solidFill>
                  <a:schemeClr val="tx1"/>
                </a:solidFill>
                <a:effectLst/>
                <a:latin typeface="+mn-lt"/>
              </a:rPr>
              <a:t>‘</a:t>
            </a:r>
            <a:r>
              <a:rPr lang="zh-CN" altLang="en-US" sz="1200" kern="1200" dirty="0">
                <a:solidFill>
                  <a:schemeClr val="tx1"/>
                </a:solidFill>
                <a:effectLst/>
                <a:latin typeface="+mn-lt"/>
              </a:rPr>
              <a:t>早就知道会这样</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项：阿欣在爬山前说高温预警不宜爬山，是朋友坚持爬山，说明在事情发生之前阿欣已经对</a:t>
            </a:r>
            <a:r>
              <a:rPr lang="en-US" altLang="zh-CN" sz="1200" kern="1200" dirty="0">
                <a:solidFill>
                  <a:schemeClr val="tx1"/>
                </a:solidFill>
                <a:effectLst/>
                <a:latin typeface="+mn-lt"/>
              </a:rPr>
              <a:t>“</a:t>
            </a:r>
            <a:r>
              <a:rPr lang="zh-CN" altLang="en-US" sz="1200" kern="1200" dirty="0">
                <a:solidFill>
                  <a:schemeClr val="tx1"/>
                </a:solidFill>
                <a:effectLst/>
                <a:latin typeface="+mn-lt"/>
              </a:rPr>
              <a:t>爬山会很热</a:t>
            </a:r>
            <a:r>
              <a:rPr lang="en-US" altLang="zh-CN" sz="1200" kern="1200" dirty="0">
                <a:solidFill>
                  <a:schemeClr val="tx1"/>
                </a:solidFill>
                <a:effectLst/>
                <a:latin typeface="+mn-lt"/>
              </a:rPr>
              <a:t>”</a:t>
            </a:r>
            <a:r>
              <a:rPr lang="zh-CN" altLang="en-US" sz="1200" kern="1200" dirty="0">
                <a:solidFill>
                  <a:schemeClr val="tx1"/>
                </a:solidFill>
                <a:effectLst/>
                <a:latin typeface="+mn-lt"/>
              </a:rPr>
              <a:t>做出了预判，不符合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个体之前没有对此做过预判</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项：晓琳参加一个重要会议迟到了，符合</a:t>
            </a:r>
            <a:r>
              <a:rPr lang="en-US" altLang="zh-CN" sz="1200" kern="1200" dirty="0">
                <a:solidFill>
                  <a:schemeClr val="tx1"/>
                </a:solidFill>
                <a:effectLst/>
                <a:latin typeface="+mn-lt"/>
              </a:rPr>
              <a:t>“</a:t>
            </a:r>
            <a:r>
              <a:rPr lang="zh-CN" altLang="en-US" sz="1200" kern="1200" dirty="0">
                <a:solidFill>
                  <a:schemeClr val="tx1"/>
                </a:solidFill>
                <a:effectLst/>
                <a:latin typeface="+mn-lt"/>
              </a:rPr>
              <a:t>在一件事情已经发生之后</a:t>
            </a:r>
            <a:r>
              <a:rPr lang="en-US" altLang="zh-CN" sz="1200" kern="1200" dirty="0">
                <a:solidFill>
                  <a:schemeClr val="tx1"/>
                </a:solidFill>
                <a:effectLst/>
                <a:latin typeface="+mn-lt"/>
              </a:rPr>
              <a:t>”</a:t>
            </a:r>
            <a:r>
              <a:rPr lang="zh-CN" altLang="en-US" sz="1200" kern="1200" dirty="0">
                <a:solidFill>
                  <a:schemeClr val="tx1"/>
                </a:solidFill>
                <a:effectLst/>
                <a:latin typeface="+mn-lt"/>
              </a:rPr>
              <a:t>，她懊悔地说</a:t>
            </a:r>
            <a:r>
              <a:rPr lang="en-US" altLang="zh-CN" sz="1200" kern="1200" dirty="0">
                <a:solidFill>
                  <a:schemeClr val="tx1"/>
                </a:solidFill>
                <a:effectLst/>
                <a:latin typeface="+mn-lt"/>
              </a:rPr>
              <a:t>“</a:t>
            </a:r>
            <a:r>
              <a:rPr lang="zh-CN" altLang="en-US" sz="1200" kern="1200" dirty="0">
                <a:solidFill>
                  <a:schemeClr val="tx1"/>
                </a:solidFill>
                <a:effectLst/>
                <a:latin typeface="+mn-lt"/>
              </a:rPr>
              <a:t>我早该想到周一早上会堵车，不该按周末的情况预估通勤时间</a:t>
            </a:r>
            <a:r>
              <a:rPr lang="en-US" altLang="zh-CN" sz="1200" kern="1200" dirty="0">
                <a:solidFill>
                  <a:schemeClr val="tx1"/>
                </a:solidFill>
                <a:effectLst/>
                <a:latin typeface="+mn-lt"/>
              </a:rPr>
              <a:t>”</a:t>
            </a:r>
            <a:r>
              <a:rPr lang="zh-CN" altLang="en-US" sz="1200" kern="1200" dirty="0">
                <a:solidFill>
                  <a:schemeClr val="tx1"/>
                </a:solidFill>
                <a:effectLst/>
                <a:latin typeface="+mn-lt"/>
              </a:rPr>
              <a:t>，说明她在对</a:t>
            </a:r>
            <a:r>
              <a:rPr lang="en-US" altLang="zh-CN" sz="1200" kern="1200" dirty="0">
                <a:solidFill>
                  <a:schemeClr val="tx1"/>
                </a:solidFill>
                <a:effectLst/>
                <a:latin typeface="+mn-lt"/>
              </a:rPr>
              <a:t>“</a:t>
            </a:r>
            <a:r>
              <a:rPr lang="zh-CN" altLang="en-US" sz="1200" kern="1200" dirty="0">
                <a:solidFill>
                  <a:schemeClr val="tx1"/>
                </a:solidFill>
                <a:effectLst/>
                <a:latin typeface="+mn-lt"/>
              </a:rPr>
              <a:t>自己没有想到周一早上会堵车</a:t>
            </a:r>
            <a:r>
              <a:rPr lang="en-US" altLang="zh-CN" sz="1200" kern="1200" dirty="0">
                <a:solidFill>
                  <a:schemeClr val="tx1"/>
                </a:solidFill>
                <a:effectLst/>
                <a:latin typeface="+mn-lt"/>
              </a:rPr>
              <a:t>”</a:t>
            </a:r>
            <a:r>
              <a:rPr lang="zh-CN" altLang="en-US" sz="1200" kern="1200" dirty="0">
                <a:solidFill>
                  <a:schemeClr val="tx1"/>
                </a:solidFill>
                <a:effectLst/>
                <a:latin typeface="+mn-lt"/>
              </a:rPr>
              <a:t>这件事懊悔，不符合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认为自己</a:t>
            </a:r>
            <a:r>
              <a:rPr lang="en-US" altLang="zh-CN" sz="1200" kern="1200" dirty="0">
                <a:solidFill>
                  <a:schemeClr val="tx1"/>
                </a:solidFill>
                <a:effectLst/>
                <a:latin typeface="+mn-lt"/>
              </a:rPr>
              <a:t>‘</a:t>
            </a:r>
            <a:r>
              <a:rPr lang="zh-CN" altLang="en-US" sz="1200" kern="1200" dirty="0">
                <a:solidFill>
                  <a:schemeClr val="tx1"/>
                </a:solidFill>
                <a:effectLst/>
                <a:latin typeface="+mn-lt"/>
              </a:rPr>
              <a:t>早就知道会这样</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项：晓菲在股票大跌之后，符合</a:t>
            </a:r>
            <a:r>
              <a:rPr lang="en-US" altLang="zh-CN" sz="1200" kern="1200" dirty="0">
                <a:solidFill>
                  <a:schemeClr val="tx1"/>
                </a:solidFill>
                <a:effectLst/>
                <a:latin typeface="+mn-lt"/>
              </a:rPr>
              <a:t>“</a:t>
            </a:r>
            <a:r>
              <a:rPr lang="zh-CN" altLang="en-US" sz="1200" kern="1200" dirty="0">
                <a:solidFill>
                  <a:schemeClr val="tx1"/>
                </a:solidFill>
                <a:effectLst/>
                <a:latin typeface="+mn-lt"/>
              </a:rPr>
              <a:t>在一件事情已经发生之后</a:t>
            </a:r>
            <a:r>
              <a:rPr lang="en-US" altLang="zh-CN" sz="1200" kern="1200" dirty="0">
                <a:solidFill>
                  <a:schemeClr val="tx1"/>
                </a:solidFill>
                <a:effectLst/>
                <a:latin typeface="+mn-lt"/>
              </a:rPr>
              <a:t>”</a:t>
            </a:r>
            <a:r>
              <a:rPr lang="zh-CN" altLang="en-US" sz="1200" kern="1200" dirty="0">
                <a:solidFill>
                  <a:schemeClr val="tx1"/>
                </a:solidFill>
                <a:effectLst/>
                <a:latin typeface="+mn-lt"/>
              </a:rPr>
              <a:t>，懊恼地说</a:t>
            </a:r>
            <a:r>
              <a:rPr lang="en-US" altLang="zh-CN" sz="1200" kern="1200" dirty="0">
                <a:solidFill>
                  <a:schemeClr val="tx1"/>
                </a:solidFill>
                <a:effectLst/>
                <a:latin typeface="+mn-lt"/>
              </a:rPr>
              <a:t>“</a:t>
            </a:r>
            <a:r>
              <a:rPr lang="zh-CN" altLang="en-US" sz="1200" kern="1200" dirty="0">
                <a:solidFill>
                  <a:schemeClr val="tx1"/>
                </a:solidFill>
                <a:effectLst/>
                <a:latin typeface="+mn-lt"/>
              </a:rPr>
              <a:t>我早就觉察到那些信号了，觉得走势不太好</a:t>
            </a:r>
            <a:r>
              <a:rPr lang="en-US" altLang="zh-CN" sz="1200" kern="1200" dirty="0">
                <a:solidFill>
                  <a:schemeClr val="tx1"/>
                </a:solidFill>
                <a:effectLst/>
                <a:latin typeface="+mn-lt"/>
              </a:rPr>
              <a:t>”</a:t>
            </a:r>
            <a:r>
              <a:rPr lang="zh-CN" altLang="en-US" sz="1200" kern="1200" dirty="0">
                <a:solidFill>
                  <a:schemeClr val="tx1"/>
                </a:solidFill>
                <a:effectLst/>
                <a:latin typeface="+mn-lt"/>
              </a:rPr>
              <a:t>，说明晓菲认为自己早就觉察到股票会下跌，符合</a:t>
            </a:r>
            <a:r>
              <a:rPr lang="en-US" altLang="zh-CN" sz="1200" kern="1200" dirty="0">
                <a:solidFill>
                  <a:schemeClr val="tx1"/>
                </a:solidFill>
                <a:effectLst/>
                <a:latin typeface="+mn-lt"/>
              </a:rPr>
              <a:t>“</a:t>
            </a:r>
            <a:r>
              <a:rPr lang="zh-CN" altLang="en-US" sz="1200" kern="1200" dirty="0">
                <a:solidFill>
                  <a:schemeClr val="tx1"/>
                </a:solidFill>
                <a:effectLst/>
                <a:latin typeface="+mn-lt"/>
              </a:rPr>
              <a:t>认为自己</a:t>
            </a:r>
            <a:r>
              <a:rPr lang="en-US" altLang="zh-CN" sz="1200" kern="1200" dirty="0">
                <a:solidFill>
                  <a:schemeClr val="tx1"/>
                </a:solidFill>
                <a:effectLst/>
                <a:latin typeface="+mn-lt"/>
              </a:rPr>
              <a:t>‘</a:t>
            </a:r>
            <a:r>
              <a:rPr lang="zh-CN" altLang="en-US" sz="1200" kern="1200" dirty="0">
                <a:solidFill>
                  <a:schemeClr val="tx1"/>
                </a:solidFill>
                <a:effectLst/>
                <a:latin typeface="+mn-lt"/>
              </a:rPr>
              <a:t>早就知道会这样</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选择或然率理论：</a:t>
            </a:r>
            <a:r>
              <a:rPr lang="en-US" altLang="zh-CN" sz="1200" kern="1200" dirty="0">
                <a:solidFill>
                  <a:schemeClr val="tx1"/>
                </a:solidFill>
                <a:effectLst/>
                <a:latin typeface="+mn-lt"/>
              </a:rPr>
              <a:t>“</a:t>
            </a:r>
            <a:r>
              <a:rPr lang="zh-CN" altLang="en-US" sz="1200" kern="1200" dirty="0">
                <a:solidFill>
                  <a:schemeClr val="tx1"/>
                </a:solidFill>
                <a:effectLst/>
                <a:latin typeface="+mn-lt"/>
              </a:rPr>
              <a:t>影响受众对大众传播内容选择的决定性因素</a:t>
            </a:r>
            <a:r>
              <a:rPr lang="en-US" altLang="zh-CN" sz="1200" kern="1200" dirty="0">
                <a:solidFill>
                  <a:schemeClr val="tx1"/>
                </a:solidFill>
                <a:effectLst/>
                <a:latin typeface="+mn-lt"/>
              </a:rPr>
              <a:t>”“</a:t>
            </a:r>
            <a:r>
              <a:rPr lang="zh-CN" altLang="en-US" sz="1200" kern="1200" dirty="0">
                <a:solidFill>
                  <a:schemeClr val="tx1"/>
                </a:solidFill>
                <a:effectLst/>
                <a:latin typeface="+mn-lt"/>
              </a:rPr>
              <a:t>该理论的核心公式是：选择或然率</a:t>
            </a:r>
            <a:r>
              <a:rPr lang="en-US" altLang="zh-CN" sz="1200" kern="1200" dirty="0">
                <a:solidFill>
                  <a:schemeClr val="tx1"/>
                </a:solidFill>
                <a:effectLst/>
                <a:latin typeface="+mn-lt"/>
              </a:rPr>
              <a:t>=</a:t>
            </a:r>
            <a:r>
              <a:rPr lang="zh-CN" altLang="en-US" sz="1200" kern="1200" dirty="0">
                <a:solidFill>
                  <a:schemeClr val="tx1"/>
                </a:solidFill>
                <a:effectLst/>
                <a:latin typeface="+mn-lt"/>
              </a:rPr>
              <a:t>报偿的保证</a:t>
            </a:r>
            <a:r>
              <a:rPr lang="en-US" altLang="zh-CN" sz="1200" kern="1200" dirty="0">
                <a:solidFill>
                  <a:schemeClr val="tx1"/>
                </a:solidFill>
                <a:effectLst/>
                <a:latin typeface="+mn-lt"/>
              </a:rPr>
              <a:t>/</a:t>
            </a:r>
            <a:r>
              <a:rPr lang="zh-CN" altLang="en-US" sz="1200" kern="1200" dirty="0">
                <a:solidFill>
                  <a:schemeClr val="tx1"/>
                </a:solidFill>
                <a:effectLst/>
                <a:latin typeface="+mn-lt"/>
              </a:rPr>
              <a:t>费力的程度</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报偿的保证：</a:t>
            </a:r>
            <a:r>
              <a:rPr lang="en-US" altLang="zh-CN" sz="1200" kern="1200" dirty="0">
                <a:solidFill>
                  <a:schemeClr val="tx1"/>
                </a:solidFill>
                <a:effectLst/>
                <a:latin typeface="+mn-lt"/>
              </a:rPr>
              <a:t>“</a:t>
            </a:r>
            <a:r>
              <a:rPr lang="zh-CN" altLang="en-US" sz="1200" kern="1200" dirty="0">
                <a:solidFill>
                  <a:schemeClr val="tx1"/>
                </a:solidFill>
                <a:effectLst/>
                <a:latin typeface="+mn-lt"/>
              </a:rPr>
              <a:t>传播内容满足选择者需要的程度</a:t>
            </a:r>
            <a:r>
              <a:rPr lang="en-US" altLang="zh-CN" sz="1200" kern="1200" dirty="0">
                <a:solidFill>
                  <a:schemeClr val="tx1"/>
                </a:solidFill>
                <a:effectLst/>
                <a:latin typeface="+mn-lt"/>
              </a:rPr>
              <a:t>”“</a:t>
            </a:r>
            <a:r>
              <a:rPr lang="zh-CN" altLang="en-US" sz="1200" kern="1200" dirty="0">
                <a:solidFill>
                  <a:schemeClr val="tx1"/>
                </a:solidFill>
                <a:effectLst/>
                <a:latin typeface="+mn-lt"/>
              </a:rPr>
              <a:t>内容对于受众的吸引力和实用性</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费力的程度：</a:t>
            </a:r>
            <a:r>
              <a:rPr lang="en-US" altLang="zh-CN" sz="1200" kern="1200" dirty="0">
                <a:solidFill>
                  <a:schemeClr val="tx1"/>
                </a:solidFill>
                <a:effectLst/>
                <a:latin typeface="+mn-lt"/>
              </a:rPr>
              <a:t>“</a:t>
            </a:r>
            <a:r>
              <a:rPr lang="zh-CN" altLang="en-US" sz="1200" kern="1200" dirty="0">
                <a:solidFill>
                  <a:schemeClr val="tx1"/>
                </a:solidFill>
                <a:effectLst/>
                <a:latin typeface="+mn-lt"/>
              </a:rPr>
              <a:t>获取传播内容和使用传播途径的难度</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项：视频号平台借助了数据分析和个性化算法推荐符合用户</a:t>
            </a:r>
            <a:r>
              <a:rPr lang="en-US" altLang="zh-CN" sz="1200" kern="1200" dirty="0">
                <a:solidFill>
                  <a:schemeClr val="tx1"/>
                </a:solidFill>
                <a:effectLst/>
                <a:latin typeface="+mn-lt"/>
              </a:rPr>
              <a:t>“</a:t>
            </a:r>
            <a:r>
              <a:rPr lang="zh-CN" altLang="en-US" sz="1200" kern="1200" dirty="0">
                <a:solidFill>
                  <a:schemeClr val="tx1"/>
                </a:solidFill>
                <a:effectLst/>
                <a:latin typeface="+mn-lt"/>
              </a:rPr>
              <a:t>偏好的视频</a:t>
            </a:r>
            <a:r>
              <a:rPr lang="en-US" altLang="zh-CN" sz="1200" kern="1200" dirty="0">
                <a:solidFill>
                  <a:schemeClr val="tx1"/>
                </a:solidFill>
                <a:effectLst/>
                <a:latin typeface="+mn-lt"/>
              </a:rPr>
              <a:t>”</a:t>
            </a:r>
            <a:r>
              <a:rPr lang="zh-CN" altLang="en-US" sz="1200" kern="1200" dirty="0">
                <a:solidFill>
                  <a:schemeClr val="tx1"/>
                </a:solidFill>
                <a:effectLst/>
                <a:latin typeface="+mn-lt"/>
              </a:rPr>
              <a:t>，体现</a:t>
            </a:r>
            <a:r>
              <a:rPr lang="en-US" altLang="zh-CN" sz="1200" kern="1200" dirty="0">
                <a:solidFill>
                  <a:schemeClr val="tx1"/>
                </a:solidFill>
                <a:effectLst/>
                <a:latin typeface="+mn-lt"/>
              </a:rPr>
              <a:t>“</a:t>
            </a:r>
            <a:r>
              <a:rPr lang="zh-CN" altLang="en-US" sz="1200" kern="1200" dirty="0">
                <a:solidFill>
                  <a:schemeClr val="tx1"/>
                </a:solidFill>
                <a:effectLst/>
                <a:latin typeface="+mn-lt"/>
              </a:rPr>
              <a:t>传播内容满足选择者需要的程度</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内容对于受众的吸引力和实用性</a:t>
            </a:r>
            <a:r>
              <a:rPr lang="en-US" altLang="zh-CN" sz="1200" kern="1200" dirty="0">
                <a:solidFill>
                  <a:schemeClr val="tx1"/>
                </a:solidFill>
                <a:effectLst/>
                <a:latin typeface="+mn-lt"/>
              </a:rPr>
              <a:t>”</a:t>
            </a:r>
            <a:r>
              <a:rPr lang="zh-CN" altLang="en-US" sz="1200" kern="1200" dirty="0">
                <a:solidFill>
                  <a:schemeClr val="tx1"/>
                </a:solidFill>
                <a:effectLst/>
                <a:latin typeface="+mn-lt"/>
              </a:rPr>
              <a:t>提高了，而</a:t>
            </a:r>
            <a:r>
              <a:rPr lang="en-US" altLang="zh-CN" sz="1200" kern="1200" dirty="0">
                <a:solidFill>
                  <a:schemeClr val="tx1"/>
                </a:solidFill>
                <a:effectLst/>
                <a:latin typeface="+mn-lt"/>
              </a:rPr>
              <a:t>“</a:t>
            </a:r>
            <a:r>
              <a:rPr lang="zh-CN" altLang="en-US" sz="1200" kern="1200" dirty="0">
                <a:solidFill>
                  <a:schemeClr val="tx1"/>
                </a:solidFill>
                <a:effectLst/>
                <a:latin typeface="+mn-lt"/>
              </a:rPr>
              <a:t>推荐</a:t>
            </a:r>
            <a:r>
              <a:rPr lang="en-US" altLang="zh-CN" sz="1200" kern="1200" dirty="0">
                <a:solidFill>
                  <a:schemeClr val="tx1"/>
                </a:solidFill>
                <a:effectLst/>
                <a:latin typeface="+mn-lt"/>
              </a:rPr>
              <a:t>”</a:t>
            </a:r>
            <a:r>
              <a:rPr lang="zh-CN" altLang="en-US" sz="1200" kern="1200" dirty="0">
                <a:solidFill>
                  <a:schemeClr val="tx1"/>
                </a:solidFill>
                <a:effectLst/>
                <a:latin typeface="+mn-lt"/>
              </a:rPr>
              <a:t>体现</a:t>
            </a:r>
            <a:r>
              <a:rPr lang="en-US" altLang="zh-CN" sz="1200" kern="1200" dirty="0">
                <a:solidFill>
                  <a:schemeClr val="tx1"/>
                </a:solidFill>
                <a:effectLst/>
                <a:latin typeface="+mn-lt"/>
              </a:rPr>
              <a:t>“</a:t>
            </a:r>
            <a:r>
              <a:rPr lang="zh-CN" altLang="en-US" sz="1200" kern="1200" dirty="0">
                <a:solidFill>
                  <a:schemeClr val="tx1"/>
                </a:solidFill>
                <a:effectLst/>
                <a:latin typeface="+mn-lt"/>
              </a:rPr>
              <a:t>获取传播内容和使用传播途径的难度</a:t>
            </a:r>
            <a:r>
              <a:rPr lang="en-US" altLang="zh-CN" sz="1200" kern="1200" dirty="0">
                <a:solidFill>
                  <a:schemeClr val="tx1"/>
                </a:solidFill>
                <a:effectLst/>
                <a:latin typeface="+mn-lt"/>
              </a:rPr>
              <a:t>”</a:t>
            </a:r>
            <a:r>
              <a:rPr lang="zh-CN" altLang="en-US" sz="1200" kern="1200" dirty="0">
                <a:solidFill>
                  <a:schemeClr val="tx1"/>
                </a:solidFill>
                <a:effectLst/>
                <a:latin typeface="+mn-lt"/>
              </a:rPr>
              <a:t>降低了，属于提高选择或然率的传播行为，符合定义，当选；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项：影视作品在播放之前被插入一段</a:t>
            </a:r>
            <a:r>
              <a:rPr lang="en-US" altLang="zh-CN" sz="1200" kern="1200" dirty="0">
                <a:solidFill>
                  <a:schemeClr val="tx1"/>
                </a:solidFill>
                <a:effectLst/>
                <a:latin typeface="+mn-lt"/>
              </a:rPr>
              <a:t>2</a:t>
            </a:r>
            <a:r>
              <a:rPr lang="zh-CN" altLang="en-US" sz="1200" kern="1200" dirty="0">
                <a:solidFill>
                  <a:schemeClr val="tx1"/>
                </a:solidFill>
                <a:effectLst/>
                <a:latin typeface="+mn-lt"/>
              </a:rPr>
              <a:t>分钟的广告，增加了用户观看影视作品的难度，属于降低选择或然率的传播行为，不符合定义，排除；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项：某商家将畅销商品放在出口处，不涉及传播内容，不符合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影响受众对大众传播内容选择的决定性因素</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项：电视内置视频播放软件，开机后须先注册登录，才可搜索相关内容观看，增加了用户看电视的难度，属于降低选择或然率的传播行为，不符合定义，排除。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三维反求工程是指通过测量实物，获取数据并重构其三维数字化模型的过程。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核心步骤包括：</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测量实物（获取空间坐标）；</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数据处理（提取设计与加工特征）；</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模型重构（使用</a:t>
            </a:r>
            <a:r>
              <a:rPr lang="en-US" altLang="zh-CN" sz="1200" kern="1200" dirty="0">
                <a:solidFill>
                  <a:schemeClr val="tx1"/>
                </a:solidFill>
                <a:effectLst/>
                <a:latin typeface="+mn-lt"/>
              </a:rPr>
              <a:t>CAD</a:t>
            </a:r>
            <a:r>
              <a:rPr lang="zh-CN" altLang="en-US" sz="1200" kern="1200" dirty="0">
                <a:solidFill>
                  <a:schemeClr val="tx1"/>
                </a:solidFill>
                <a:effectLst/>
                <a:latin typeface="+mn-lt"/>
              </a:rPr>
              <a:t>软件建模）；</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验证模型（制造样品检验精度和性能）。</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根据定义可知，三维反求工程的步骤应先</a:t>
            </a:r>
            <a:r>
              <a:rPr lang="en-US" altLang="zh-CN" sz="1200" kern="1200" dirty="0">
                <a:solidFill>
                  <a:schemeClr val="tx1"/>
                </a:solidFill>
                <a:effectLst/>
                <a:latin typeface="+mn-lt"/>
              </a:rPr>
              <a:t>“</a:t>
            </a:r>
            <a:r>
              <a:rPr lang="zh-CN" altLang="en-US" sz="1200" kern="1200" dirty="0">
                <a:solidFill>
                  <a:schemeClr val="tx1"/>
                </a:solidFill>
                <a:effectLst/>
                <a:latin typeface="+mn-lt"/>
              </a:rPr>
              <a:t>对实物进行测量</a:t>
            </a:r>
            <a:r>
              <a:rPr lang="en-US" altLang="zh-CN" sz="1200" kern="1200" dirty="0">
                <a:solidFill>
                  <a:schemeClr val="tx1"/>
                </a:solidFill>
                <a:effectLst/>
                <a:latin typeface="+mn-lt"/>
              </a:rPr>
              <a:t>”</a:t>
            </a:r>
            <a:r>
              <a:rPr lang="zh-CN" altLang="en-US" sz="1200" kern="1200" dirty="0">
                <a:solidFill>
                  <a:schemeClr val="tx1"/>
                </a:solidFill>
                <a:effectLst/>
                <a:latin typeface="+mn-lt"/>
              </a:rPr>
              <a:t>，再</a:t>
            </a:r>
            <a:r>
              <a:rPr lang="en-US" altLang="zh-CN" sz="1200" kern="1200" dirty="0">
                <a:solidFill>
                  <a:schemeClr val="tx1"/>
                </a:solidFill>
                <a:effectLst/>
                <a:latin typeface="+mn-lt"/>
              </a:rPr>
              <a:t>“</a:t>
            </a:r>
            <a:r>
              <a:rPr lang="zh-CN" altLang="en-US" sz="1200" kern="1200" dirty="0">
                <a:solidFill>
                  <a:schemeClr val="tx1"/>
                </a:solidFill>
                <a:effectLst/>
                <a:latin typeface="+mn-lt"/>
              </a:rPr>
              <a:t>根据测量数据通过三维几何建模方法重构实物的数字化模型</a:t>
            </a:r>
            <a:r>
              <a:rPr lang="en-US" altLang="zh-CN" sz="1200" kern="1200" dirty="0">
                <a:solidFill>
                  <a:schemeClr val="tx1"/>
                </a:solidFill>
                <a:effectLst/>
                <a:latin typeface="+mn-lt"/>
              </a:rPr>
              <a:t>”</a:t>
            </a:r>
            <a:r>
              <a:rPr lang="zh-CN" altLang="en-US" sz="1200" kern="1200" dirty="0">
                <a:solidFill>
                  <a:schemeClr val="tx1"/>
                </a:solidFill>
                <a:effectLst/>
                <a:latin typeface="+mn-lt"/>
              </a:rPr>
              <a:t>，故步骤</a:t>
            </a:r>
            <a:r>
              <a:rPr lang="en-US" altLang="en-US" sz="1200" kern="1200" dirty="0">
                <a:solidFill>
                  <a:schemeClr val="tx1"/>
                </a:solidFill>
                <a:effectLst/>
                <a:latin typeface="+mn-lt"/>
              </a:rPr>
              <a:t>③</a:t>
            </a:r>
            <a:r>
              <a:rPr lang="zh-CN" altLang="en-US" sz="1200" kern="1200" dirty="0">
                <a:solidFill>
                  <a:schemeClr val="tx1"/>
                </a:solidFill>
                <a:effectLst/>
                <a:latin typeface="+mn-lt"/>
              </a:rPr>
              <a:t>应位于首句，排除</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两项。继续分析步骤</a:t>
            </a:r>
            <a:r>
              <a:rPr lang="en-US" altLang="en-US" sz="1200" kern="1200" dirty="0">
                <a:solidFill>
                  <a:schemeClr val="tx1"/>
                </a:solidFill>
                <a:effectLst/>
                <a:latin typeface="+mn-lt"/>
              </a:rPr>
              <a:t>①</a:t>
            </a:r>
            <a:r>
              <a:rPr lang="zh-CN" altLang="en-US" sz="1200" kern="1200" dirty="0">
                <a:solidFill>
                  <a:schemeClr val="tx1"/>
                </a:solidFill>
                <a:effectLst/>
                <a:latin typeface="+mn-lt"/>
              </a:rPr>
              <a:t>和步骤</a:t>
            </a:r>
            <a:r>
              <a:rPr lang="en-US" altLang="en-US" sz="1200" kern="1200" dirty="0">
                <a:solidFill>
                  <a:schemeClr val="tx1"/>
                </a:solidFill>
                <a:effectLst/>
                <a:latin typeface="+mn-lt"/>
              </a:rPr>
              <a:t>④</a:t>
            </a:r>
            <a:r>
              <a:rPr lang="zh-CN" altLang="en-US" sz="1200" kern="1200" dirty="0">
                <a:solidFill>
                  <a:schemeClr val="tx1"/>
                </a:solidFill>
                <a:effectLst/>
                <a:latin typeface="+mn-lt"/>
              </a:rPr>
              <a:t>可知，应先</a:t>
            </a:r>
            <a:r>
              <a:rPr lang="en-US" altLang="zh-CN" sz="1200" kern="1200" dirty="0">
                <a:solidFill>
                  <a:schemeClr val="tx1"/>
                </a:solidFill>
                <a:effectLst/>
                <a:latin typeface="+mn-lt"/>
              </a:rPr>
              <a:t>“</a:t>
            </a:r>
            <a:r>
              <a:rPr lang="zh-CN" altLang="en-US" sz="1200" kern="1200" dirty="0">
                <a:solidFill>
                  <a:schemeClr val="tx1"/>
                </a:solidFill>
                <a:effectLst/>
                <a:latin typeface="+mn-lt"/>
              </a:rPr>
              <a:t>重构三维模型</a:t>
            </a:r>
            <a:r>
              <a:rPr lang="en-US" altLang="zh-CN" sz="1200" kern="1200" dirty="0">
                <a:solidFill>
                  <a:schemeClr val="tx1"/>
                </a:solidFill>
                <a:effectLst/>
                <a:latin typeface="+mn-lt"/>
              </a:rPr>
              <a:t>”</a:t>
            </a:r>
            <a:r>
              <a:rPr lang="zh-CN" altLang="en-US" sz="1200" kern="1200" dirty="0">
                <a:solidFill>
                  <a:schemeClr val="tx1"/>
                </a:solidFill>
                <a:effectLst/>
                <a:latin typeface="+mn-lt"/>
              </a:rPr>
              <a:t>再</a:t>
            </a:r>
            <a:r>
              <a:rPr lang="en-US" altLang="zh-CN" sz="1200" kern="1200" dirty="0">
                <a:solidFill>
                  <a:schemeClr val="tx1"/>
                </a:solidFill>
                <a:effectLst/>
                <a:latin typeface="+mn-lt"/>
              </a:rPr>
              <a:t>“</a:t>
            </a:r>
            <a:r>
              <a:rPr lang="zh-CN" altLang="en-US" sz="1200" kern="1200" dirty="0">
                <a:solidFill>
                  <a:schemeClr val="tx1"/>
                </a:solidFill>
                <a:effectLst/>
                <a:latin typeface="+mn-lt"/>
              </a:rPr>
              <a:t>验证模型</a:t>
            </a:r>
            <a:r>
              <a:rPr lang="en-US" altLang="zh-CN" sz="1200" kern="1200" dirty="0">
                <a:solidFill>
                  <a:schemeClr val="tx1"/>
                </a:solidFill>
                <a:effectLst/>
                <a:latin typeface="+mn-lt"/>
              </a:rPr>
              <a:t>”</a:t>
            </a:r>
            <a:r>
              <a:rPr lang="zh-CN" altLang="en-US" sz="1200" kern="1200" dirty="0">
                <a:solidFill>
                  <a:schemeClr val="tx1"/>
                </a:solidFill>
                <a:effectLst/>
                <a:latin typeface="+mn-lt"/>
              </a:rPr>
              <a:t>，故步骤</a:t>
            </a:r>
            <a:r>
              <a:rPr lang="en-US" altLang="en-US" sz="1200" kern="1200" dirty="0">
                <a:solidFill>
                  <a:schemeClr val="tx1"/>
                </a:solidFill>
                <a:effectLst/>
                <a:latin typeface="+mn-lt"/>
              </a:rPr>
              <a:t>④</a:t>
            </a:r>
            <a:r>
              <a:rPr lang="zh-CN" altLang="en-US" sz="1200" kern="1200" dirty="0">
                <a:solidFill>
                  <a:schemeClr val="tx1"/>
                </a:solidFill>
                <a:effectLst/>
                <a:latin typeface="+mn-lt"/>
              </a:rPr>
              <a:t>应在步骤</a:t>
            </a:r>
            <a:r>
              <a:rPr lang="en-US" altLang="en-US" sz="1200" kern="1200" dirty="0">
                <a:solidFill>
                  <a:schemeClr val="tx1"/>
                </a:solidFill>
                <a:effectLst/>
                <a:latin typeface="+mn-lt"/>
              </a:rPr>
              <a:t>①</a:t>
            </a:r>
            <a:r>
              <a:rPr lang="zh-CN" altLang="en-US" sz="1200" kern="1200" dirty="0">
                <a:solidFill>
                  <a:schemeClr val="tx1"/>
                </a:solidFill>
                <a:effectLst/>
                <a:latin typeface="+mn-lt"/>
              </a:rPr>
              <a:t>之前，排除</a:t>
            </a:r>
            <a:r>
              <a:rPr lang="en-US" altLang="zh-CN" sz="1200" kern="1200" dirty="0">
                <a:solidFill>
                  <a:schemeClr val="tx1"/>
                </a:solidFill>
                <a:effectLst/>
                <a:latin typeface="+mn-lt"/>
              </a:rPr>
              <a:t>C</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元科学：</a:t>
            </a:r>
            <a:r>
              <a:rPr lang="en-US" altLang="zh-CN" sz="1200" kern="1200" dirty="0">
                <a:solidFill>
                  <a:schemeClr val="tx1"/>
                </a:solidFill>
                <a:effectLst/>
                <a:latin typeface="+mn-lt"/>
              </a:rPr>
              <a:t>“</a:t>
            </a:r>
            <a:r>
              <a:rPr lang="zh-CN" altLang="en-US" sz="1200" kern="1200" dirty="0">
                <a:solidFill>
                  <a:schemeClr val="tx1"/>
                </a:solidFill>
                <a:effectLst/>
                <a:latin typeface="+mn-lt"/>
              </a:rPr>
              <a:t>是一种以科学为研究对象的学科</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它研究科学的性质、特征、形成和发展规律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科学内部</a:t>
            </a:r>
            <a:r>
              <a:rPr lang="en-US" altLang="zh-CN" sz="1200" kern="1200" dirty="0">
                <a:solidFill>
                  <a:schemeClr val="tx1"/>
                </a:solidFill>
                <a:effectLst/>
                <a:latin typeface="+mn-lt"/>
              </a:rPr>
              <a:t>’</a:t>
            </a:r>
            <a:r>
              <a:rPr lang="zh-CN" altLang="en-US" sz="1200" kern="1200" dirty="0">
                <a:solidFill>
                  <a:schemeClr val="tx1"/>
                </a:solidFill>
                <a:effectLst/>
                <a:latin typeface="+mn-lt"/>
              </a:rPr>
              <a:t>出现的概念</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元科学概念：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谈论科学的</a:t>
            </a:r>
            <a:r>
              <a:rPr lang="en-US" altLang="zh-CN" sz="1200" kern="1200" dirty="0">
                <a:solidFill>
                  <a:schemeClr val="tx1"/>
                </a:solidFill>
                <a:effectLst/>
                <a:latin typeface="+mn-lt"/>
              </a:rPr>
              <a:t>’</a:t>
            </a:r>
            <a:r>
              <a:rPr lang="zh-CN" altLang="en-US" sz="1200" kern="1200" dirty="0">
                <a:solidFill>
                  <a:schemeClr val="tx1"/>
                </a:solidFill>
                <a:effectLst/>
                <a:latin typeface="+mn-lt"/>
              </a:rPr>
              <a:t>，表示科学的陈述或活动特征的概念</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黑洞</a:t>
            </a:r>
            <a:r>
              <a:rPr lang="en-US" altLang="zh-CN" sz="1200" kern="1200" dirty="0">
                <a:solidFill>
                  <a:schemeClr val="tx1"/>
                </a:solidFill>
                <a:effectLst/>
                <a:latin typeface="+mn-lt"/>
              </a:rPr>
              <a:t>”“</a:t>
            </a:r>
            <a:r>
              <a:rPr lang="zh-CN" altLang="en-US" sz="1200" kern="1200" dirty="0">
                <a:solidFill>
                  <a:schemeClr val="tx1"/>
                </a:solidFill>
                <a:effectLst/>
                <a:latin typeface="+mn-lt"/>
              </a:rPr>
              <a:t>量子</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科学内部</a:t>
            </a:r>
            <a:r>
              <a:rPr lang="en-US" altLang="zh-CN" sz="1200" kern="1200" dirty="0">
                <a:solidFill>
                  <a:schemeClr val="tx1"/>
                </a:solidFill>
                <a:effectLst/>
                <a:latin typeface="+mn-lt"/>
              </a:rPr>
              <a:t>”</a:t>
            </a:r>
            <a:r>
              <a:rPr lang="zh-CN" altLang="en-US" sz="1200" kern="1200" dirty="0">
                <a:solidFill>
                  <a:schemeClr val="tx1"/>
                </a:solidFill>
                <a:effectLst/>
                <a:latin typeface="+mn-lt"/>
              </a:rPr>
              <a:t>出现的概念，符合</a:t>
            </a:r>
            <a:r>
              <a:rPr lang="en-US" altLang="zh-CN" sz="1200" kern="1200" dirty="0">
                <a:solidFill>
                  <a:schemeClr val="tx1"/>
                </a:solidFill>
                <a:effectLst/>
                <a:latin typeface="+mn-lt"/>
              </a:rPr>
              <a:t>“</a:t>
            </a:r>
            <a:r>
              <a:rPr lang="zh-CN" altLang="en-US" sz="1200" kern="1200" dirty="0">
                <a:solidFill>
                  <a:schemeClr val="tx1"/>
                </a:solidFill>
                <a:effectLst/>
                <a:latin typeface="+mn-lt"/>
              </a:rPr>
              <a:t>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物质波</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科学内部</a:t>
            </a:r>
            <a:r>
              <a:rPr lang="en-US" altLang="zh-CN" sz="1200" kern="1200" dirty="0">
                <a:solidFill>
                  <a:schemeClr val="tx1"/>
                </a:solidFill>
                <a:effectLst/>
                <a:latin typeface="+mn-lt"/>
              </a:rPr>
              <a:t>”</a:t>
            </a:r>
            <a:r>
              <a:rPr lang="zh-CN" altLang="en-US" sz="1200" kern="1200" dirty="0">
                <a:solidFill>
                  <a:schemeClr val="tx1"/>
                </a:solidFill>
                <a:effectLst/>
                <a:latin typeface="+mn-lt"/>
              </a:rPr>
              <a:t>出现的概念，符合</a:t>
            </a:r>
            <a:r>
              <a:rPr lang="en-US" altLang="zh-CN" sz="1200" kern="1200" dirty="0">
                <a:solidFill>
                  <a:schemeClr val="tx1"/>
                </a:solidFill>
                <a:effectLst/>
                <a:latin typeface="+mn-lt"/>
              </a:rPr>
              <a:t>“</a:t>
            </a:r>
            <a:r>
              <a:rPr lang="zh-CN" altLang="en-US" sz="1200" kern="1200" dirty="0">
                <a:solidFill>
                  <a:schemeClr val="tx1"/>
                </a:solidFill>
                <a:effectLst/>
                <a:latin typeface="+mn-lt"/>
              </a:rPr>
              <a:t>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科学</a:t>
            </a:r>
            <a:r>
              <a:rPr lang="en-US" altLang="zh-CN" sz="1200" kern="1200" dirty="0">
                <a:solidFill>
                  <a:schemeClr val="tx1"/>
                </a:solidFill>
                <a:effectLst/>
                <a:latin typeface="+mn-lt"/>
              </a:rPr>
              <a:t>”</a:t>
            </a:r>
            <a:r>
              <a:rPr lang="zh-CN" altLang="en-US" sz="1200" kern="1200" dirty="0">
                <a:solidFill>
                  <a:schemeClr val="tx1"/>
                </a:solidFill>
                <a:effectLst/>
                <a:latin typeface="+mn-lt"/>
              </a:rPr>
              <a:t>是元科学的研究对象，不是</a:t>
            </a:r>
            <a:r>
              <a:rPr lang="en-US" altLang="zh-CN" sz="1200" kern="1200" dirty="0">
                <a:solidFill>
                  <a:schemeClr val="tx1"/>
                </a:solidFill>
                <a:effectLst/>
                <a:latin typeface="+mn-lt"/>
              </a:rPr>
              <a:t>“</a:t>
            </a:r>
            <a:r>
              <a:rPr lang="zh-CN" altLang="en-US" sz="1200" kern="1200" dirty="0">
                <a:solidFill>
                  <a:schemeClr val="tx1"/>
                </a:solidFill>
                <a:effectLst/>
                <a:latin typeface="+mn-lt"/>
              </a:rPr>
              <a:t>科学内部</a:t>
            </a:r>
            <a:r>
              <a:rPr lang="en-US" altLang="zh-CN" sz="1200" kern="1200" dirty="0">
                <a:solidFill>
                  <a:schemeClr val="tx1"/>
                </a:solidFill>
                <a:effectLst/>
                <a:latin typeface="+mn-lt"/>
              </a:rPr>
              <a:t>”</a:t>
            </a:r>
            <a:r>
              <a:rPr lang="zh-CN" altLang="en-US" sz="1200" kern="1200" dirty="0">
                <a:solidFill>
                  <a:schemeClr val="tx1"/>
                </a:solidFill>
                <a:effectLst/>
                <a:latin typeface="+mn-lt"/>
              </a:rPr>
              <a:t>出现的概念，不符合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理论</a:t>
            </a:r>
            <a:r>
              <a:rPr lang="en-US" altLang="zh-CN" sz="1200" kern="1200" dirty="0">
                <a:solidFill>
                  <a:schemeClr val="tx1"/>
                </a:solidFill>
                <a:effectLst/>
                <a:latin typeface="+mn-lt"/>
              </a:rPr>
              <a:t>”“</a:t>
            </a:r>
            <a:r>
              <a:rPr lang="zh-CN" altLang="en-US" sz="1200" kern="1200" dirty="0">
                <a:solidFill>
                  <a:schemeClr val="tx1"/>
                </a:solidFill>
                <a:effectLst/>
                <a:latin typeface="+mn-lt"/>
              </a:rPr>
              <a:t>确证</a:t>
            </a:r>
            <a:r>
              <a:rPr lang="en-US" altLang="zh-CN" sz="1200" kern="1200" dirty="0">
                <a:solidFill>
                  <a:schemeClr val="tx1"/>
                </a:solidFill>
                <a:effectLst/>
                <a:latin typeface="+mn-lt"/>
              </a:rPr>
              <a:t>”</a:t>
            </a:r>
            <a:r>
              <a:rPr lang="zh-CN" altLang="en-US" sz="1200" kern="1200" dirty="0">
                <a:solidFill>
                  <a:schemeClr val="tx1"/>
                </a:solidFill>
                <a:effectLst/>
                <a:latin typeface="+mn-lt"/>
              </a:rPr>
              <a:t>都是用来</a:t>
            </a:r>
            <a:r>
              <a:rPr lang="en-US" altLang="zh-CN" sz="1200" kern="1200" dirty="0">
                <a:solidFill>
                  <a:schemeClr val="tx1"/>
                </a:solidFill>
                <a:effectLst/>
                <a:latin typeface="+mn-lt"/>
              </a:rPr>
              <a:t>“</a:t>
            </a:r>
            <a:r>
              <a:rPr lang="zh-CN" altLang="en-US" sz="1200" kern="1200" dirty="0">
                <a:solidFill>
                  <a:schemeClr val="tx1"/>
                </a:solidFill>
                <a:effectLst/>
                <a:latin typeface="+mn-lt"/>
              </a:rPr>
              <a:t>谈论科学的</a:t>
            </a:r>
            <a:r>
              <a:rPr lang="en-US" altLang="zh-CN" sz="1200" kern="1200" dirty="0">
                <a:solidFill>
                  <a:schemeClr val="tx1"/>
                </a:solidFill>
                <a:effectLst/>
                <a:latin typeface="+mn-lt"/>
              </a:rPr>
              <a:t>”</a:t>
            </a:r>
            <a:r>
              <a:rPr lang="zh-CN" altLang="en-US" sz="1200" kern="1200" dirty="0">
                <a:solidFill>
                  <a:schemeClr val="tx1"/>
                </a:solidFill>
                <a:effectLst/>
                <a:latin typeface="+mn-lt"/>
              </a:rPr>
              <a:t>，表示科学的陈述或活动特征，符合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元科学概念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经验</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科学内部</a:t>
            </a:r>
            <a:r>
              <a:rPr lang="en-US" altLang="zh-CN" sz="1200" kern="1200" dirty="0">
                <a:solidFill>
                  <a:schemeClr val="tx1"/>
                </a:solidFill>
                <a:effectLst/>
                <a:latin typeface="+mn-lt"/>
              </a:rPr>
              <a:t>”</a:t>
            </a:r>
            <a:r>
              <a:rPr lang="zh-CN" altLang="en-US" sz="1200" kern="1200" dirty="0">
                <a:solidFill>
                  <a:schemeClr val="tx1"/>
                </a:solidFill>
                <a:effectLst/>
                <a:latin typeface="+mn-lt"/>
              </a:rPr>
              <a:t>出现的概念，不符合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宇宙</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科学内部</a:t>
            </a:r>
            <a:r>
              <a:rPr lang="en-US" altLang="zh-CN" sz="1200" kern="1200" dirty="0">
                <a:solidFill>
                  <a:schemeClr val="tx1"/>
                </a:solidFill>
                <a:effectLst/>
                <a:latin typeface="+mn-lt"/>
              </a:rPr>
              <a:t>”</a:t>
            </a:r>
            <a:r>
              <a:rPr lang="zh-CN" altLang="en-US" sz="1200" kern="1200" dirty="0">
                <a:solidFill>
                  <a:schemeClr val="tx1"/>
                </a:solidFill>
                <a:effectLst/>
                <a:latin typeface="+mn-lt"/>
              </a:rPr>
              <a:t>出现的概念，符合</a:t>
            </a:r>
            <a:r>
              <a:rPr lang="en-US" altLang="zh-CN" sz="1200" kern="1200" dirty="0">
                <a:solidFill>
                  <a:schemeClr val="tx1"/>
                </a:solidFill>
                <a:effectLst/>
                <a:latin typeface="+mn-lt"/>
              </a:rPr>
              <a:t>“</a:t>
            </a:r>
            <a:r>
              <a:rPr lang="zh-CN" altLang="en-US" sz="1200" kern="1200" dirty="0">
                <a:solidFill>
                  <a:schemeClr val="tx1"/>
                </a:solidFill>
                <a:effectLst/>
                <a:latin typeface="+mn-lt"/>
              </a:rPr>
              <a:t>科学概念</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侦查中具有专门知识的人或了解客体特征的人</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通过比较先后出现的客体的特征</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对客体是否同一做出的判断</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项：通过对手机中所存储的信息进行检查，只是检查手机存储的信息，不符合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通过比较先后出现的客体的特征</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项：通过对犯罪现场提取的</a:t>
            </a:r>
            <a:r>
              <a:rPr lang="en-US" altLang="zh-CN" sz="1200" kern="1200" dirty="0">
                <a:solidFill>
                  <a:schemeClr val="tx1"/>
                </a:solidFill>
                <a:effectLst/>
                <a:latin typeface="+mn-lt"/>
              </a:rPr>
              <a:t>DNA</a:t>
            </a:r>
            <a:r>
              <a:rPr lang="zh-CN" altLang="en-US" sz="1200" kern="1200" dirty="0">
                <a:solidFill>
                  <a:schemeClr val="tx1"/>
                </a:solidFill>
                <a:effectLst/>
                <a:latin typeface="+mn-lt"/>
              </a:rPr>
              <a:t>信息与</a:t>
            </a:r>
            <a:r>
              <a:rPr lang="en-US" altLang="zh-CN" sz="1200" kern="1200" dirty="0">
                <a:solidFill>
                  <a:schemeClr val="tx1"/>
                </a:solidFill>
                <a:effectLst/>
                <a:latin typeface="+mn-lt"/>
              </a:rPr>
              <a:t>DNA</a:t>
            </a:r>
            <a:r>
              <a:rPr lang="zh-CN" altLang="en-US" sz="1200" kern="1200" dirty="0">
                <a:solidFill>
                  <a:schemeClr val="tx1"/>
                </a:solidFill>
                <a:effectLst/>
                <a:latin typeface="+mn-lt"/>
              </a:rPr>
              <a:t>信息库进行比对，把现场提取的</a:t>
            </a:r>
            <a:r>
              <a:rPr lang="en-US" altLang="zh-CN" sz="1200" kern="1200" dirty="0">
                <a:solidFill>
                  <a:schemeClr val="tx1"/>
                </a:solidFill>
                <a:effectLst/>
                <a:latin typeface="+mn-lt"/>
              </a:rPr>
              <a:t>DNA</a:t>
            </a:r>
            <a:r>
              <a:rPr lang="zh-CN" altLang="en-US" sz="1200" kern="1200" dirty="0">
                <a:solidFill>
                  <a:schemeClr val="tx1"/>
                </a:solidFill>
                <a:effectLst/>
                <a:latin typeface="+mn-lt"/>
              </a:rPr>
              <a:t>信息与先录入到</a:t>
            </a:r>
            <a:r>
              <a:rPr lang="en-US" altLang="zh-CN" sz="1200" kern="1200" dirty="0">
                <a:solidFill>
                  <a:schemeClr val="tx1"/>
                </a:solidFill>
                <a:effectLst/>
                <a:latin typeface="+mn-lt"/>
              </a:rPr>
              <a:t>DNA</a:t>
            </a:r>
            <a:r>
              <a:rPr lang="zh-CN" altLang="en-US" sz="1200" kern="1200" dirty="0">
                <a:solidFill>
                  <a:schemeClr val="tx1"/>
                </a:solidFill>
                <a:effectLst/>
                <a:latin typeface="+mn-lt"/>
              </a:rPr>
              <a:t>信息库中的进行比对，符合</a:t>
            </a:r>
            <a:r>
              <a:rPr lang="en-US" altLang="zh-CN" sz="1200" kern="1200" dirty="0">
                <a:solidFill>
                  <a:schemeClr val="tx1"/>
                </a:solidFill>
                <a:effectLst/>
                <a:latin typeface="+mn-lt"/>
              </a:rPr>
              <a:t>“</a:t>
            </a:r>
            <a:r>
              <a:rPr lang="zh-CN" altLang="en-US" sz="1200" kern="1200" dirty="0">
                <a:solidFill>
                  <a:schemeClr val="tx1"/>
                </a:solidFill>
                <a:effectLst/>
                <a:latin typeface="+mn-lt"/>
              </a:rPr>
              <a:t>通过比较先后出现的客体的特征</a:t>
            </a:r>
            <a:r>
              <a:rPr lang="en-US" altLang="zh-CN" sz="1200" kern="1200" dirty="0">
                <a:solidFill>
                  <a:schemeClr val="tx1"/>
                </a:solidFill>
                <a:effectLst/>
                <a:latin typeface="+mn-lt"/>
              </a:rPr>
              <a:t>”</a:t>
            </a:r>
            <a:r>
              <a:rPr lang="zh-CN" altLang="en-US" sz="1200" kern="1200" dirty="0">
                <a:solidFill>
                  <a:schemeClr val="tx1"/>
                </a:solidFill>
                <a:effectLst/>
                <a:latin typeface="+mn-lt"/>
              </a:rPr>
              <a:t>，通过</a:t>
            </a:r>
            <a:r>
              <a:rPr lang="en-US" altLang="zh-CN" sz="1200" kern="1200" dirty="0">
                <a:solidFill>
                  <a:schemeClr val="tx1"/>
                </a:solidFill>
                <a:effectLst/>
                <a:latin typeface="+mn-lt"/>
              </a:rPr>
              <a:t>DNA</a:t>
            </a:r>
            <a:r>
              <a:rPr lang="zh-CN" altLang="en-US" sz="1200" kern="1200" dirty="0">
                <a:solidFill>
                  <a:schemeClr val="tx1"/>
                </a:solidFill>
                <a:effectLst/>
                <a:latin typeface="+mn-lt"/>
              </a:rPr>
              <a:t>比对查找犯罪嫌疑人，即判断现场提取的</a:t>
            </a:r>
            <a:r>
              <a:rPr lang="en-US" altLang="zh-CN" sz="1200" kern="1200" dirty="0">
                <a:solidFill>
                  <a:schemeClr val="tx1"/>
                </a:solidFill>
                <a:effectLst/>
                <a:latin typeface="+mn-lt"/>
              </a:rPr>
              <a:t>DNA</a:t>
            </a:r>
            <a:r>
              <a:rPr lang="zh-CN" altLang="en-US" sz="1200" kern="1200" dirty="0">
                <a:solidFill>
                  <a:schemeClr val="tx1"/>
                </a:solidFill>
                <a:effectLst/>
                <a:latin typeface="+mn-lt"/>
              </a:rPr>
              <a:t>信息与</a:t>
            </a:r>
            <a:r>
              <a:rPr lang="en-US" altLang="zh-CN" sz="1200" kern="1200" dirty="0">
                <a:solidFill>
                  <a:schemeClr val="tx1"/>
                </a:solidFill>
                <a:effectLst/>
                <a:latin typeface="+mn-lt"/>
              </a:rPr>
              <a:t>DNA</a:t>
            </a:r>
            <a:r>
              <a:rPr lang="zh-CN" altLang="en-US" sz="1200" kern="1200" dirty="0">
                <a:solidFill>
                  <a:schemeClr val="tx1"/>
                </a:solidFill>
                <a:effectLst/>
                <a:latin typeface="+mn-lt"/>
              </a:rPr>
              <a:t>信息库中储存的信息是否为同一人，符合</a:t>
            </a:r>
            <a:r>
              <a:rPr lang="en-US" altLang="zh-CN" sz="1200" kern="1200" dirty="0">
                <a:solidFill>
                  <a:schemeClr val="tx1"/>
                </a:solidFill>
                <a:effectLst/>
                <a:latin typeface="+mn-lt"/>
              </a:rPr>
              <a:t>“</a:t>
            </a:r>
            <a:r>
              <a:rPr lang="zh-CN" altLang="en-US" sz="1200" kern="1200" dirty="0">
                <a:solidFill>
                  <a:schemeClr val="tx1"/>
                </a:solidFill>
                <a:effectLst/>
                <a:latin typeface="+mn-lt"/>
              </a:rPr>
              <a:t>对客体是否同一做出的判断</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项：通过对走私案中所缴获的走私物品进行多次鉴定，判断是否是国外某厂家生产的物品，只能证明这些物品是否产自于国外某厂家，无法证明该物品与其他物品为同一个物品，不符合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对客体是否同一做出的判断</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项：通过对犯罪嫌疑人车上所收缴的各类物品进行检验，只是检查收缴的物品，不符合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通过比较先后出现的客体的特征</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春汛、桃汛：</a:t>
            </a:r>
            <a:r>
              <a:rPr lang="en-US" altLang="zh-CN" sz="1200" kern="1200" dirty="0">
                <a:solidFill>
                  <a:schemeClr val="tx1"/>
                </a:solidFill>
                <a:effectLst/>
                <a:latin typeface="+mn-lt"/>
              </a:rPr>
              <a:t>“</a:t>
            </a:r>
            <a:r>
              <a:rPr lang="zh-CN" altLang="en-US" sz="1200" kern="1200" dirty="0">
                <a:solidFill>
                  <a:schemeClr val="tx1"/>
                </a:solidFill>
                <a:effectLst/>
                <a:latin typeface="+mn-lt"/>
              </a:rPr>
              <a:t>春季，流域内的季节性积雪融化、河流解冻或春雨，引起河水上涨</a:t>
            </a:r>
            <a:r>
              <a:rPr lang="en-US" altLang="zh-CN" sz="1200" kern="1200" dirty="0">
                <a:solidFill>
                  <a:schemeClr val="tx1"/>
                </a:solidFill>
                <a:effectLst/>
                <a:latin typeface="+mn-lt"/>
              </a:rPr>
              <a:t>”“</a:t>
            </a:r>
            <a:r>
              <a:rPr lang="zh-CN" altLang="en-US" sz="1200" kern="1200" dirty="0">
                <a:solidFill>
                  <a:schemeClr val="tx1"/>
                </a:solidFill>
                <a:effectLst/>
                <a:latin typeface="+mn-lt"/>
              </a:rPr>
              <a:t>因正值桃花盛开时节，故亦称桃汛</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凌汛：</a:t>
            </a:r>
            <a:r>
              <a:rPr lang="en-US" altLang="zh-CN" sz="1200" kern="1200" dirty="0">
                <a:solidFill>
                  <a:schemeClr val="tx1"/>
                </a:solidFill>
                <a:effectLst/>
                <a:latin typeface="+mn-lt"/>
              </a:rPr>
              <a:t>“</a:t>
            </a:r>
            <a:r>
              <a:rPr lang="zh-CN" altLang="en-US" sz="1200" kern="1200" dirty="0">
                <a:solidFill>
                  <a:schemeClr val="tx1"/>
                </a:solidFill>
                <a:effectLst/>
                <a:latin typeface="+mn-lt"/>
              </a:rPr>
              <a:t>春季河冰解冻引起的涨水现象</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夏汛：</a:t>
            </a:r>
            <a:r>
              <a:rPr lang="en-US" altLang="zh-CN" sz="1200" kern="1200" dirty="0">
                <a:solidFill>
                  <a:schemeClr val="tx1"/>
                </a:solidFill>
                <a:effectLst/>
                <a:latin typeface="+mn-lt"/>
              </a:rPr>
              <a:t>“</a:t>
            </a:r>
            <a:r>
              <a:rPr lang="zh-CN" altLang="en-US" sz="1200" kern="1200" dirty="0">
                <a:solidFill>
                  <a:schemeClr val="tx1"/>
                </a:solidFill>
                <a:effectLst/>
                <a:latin typeface="+mn-lt"/>
              </a:rPr>
              <a:t>夏季，流域内的暴雨或高山冰川和积雪融化，使河水急剧上涨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伏汛：</a:t>
            </a:r>
            <a:r>
              <a:rPr lang="en-US" altLang="zh-CN" sz="1200" kern="1200" dirty="0">
                <a:solidFill>
                  <a:schemeClr val="tx1"/>
                </a:solidFill>
                <a:effectLst/>
                <a:latin typeface="+mn-lt"/>
              </a:rPr>
              <a:t>“</a:t>
            </a:r>
            <a:r>
              <a:rPr lang="zh-CN" altLang="en-US" sz="1200" kern="1200" dirty="0">
                <a:solidFill>
                  <a:schemeClr val="tx1"/>
                </a:solidFill>
                <a:effectLst/>
                <a:latin typeface="+mn-lt"/>
              </a:rPr>
              <a:t>发生在夏季三伏前后的汛水</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秋汛：</a:t>
            </a:r>
            <a:r>
              <a:rPr lang="en-US" altLang="zh-CN" sz="1200" kern="1200" dirty="0">
                <a:solidFill>
                  <a:schemeClr val="tx1"/>
                </a:solidFill>
                <a:effectLst/>
                <a:latin typeface="+mn-lt"/>
              </a:rPr>
              <a:t>“</a:t>
            </a:r>
            <a:r>
              <a:rPr lang="zh-CN" altLang="en-US" sz="1200" kern="1200" dirty="0">
                <a:solidFill>
                  <a:schemeClr val="tx1"/>
                </a:solidFill>
                <a:effectLst/>
                <a:latin typeface="+mn-lt"/>
              </a:rPr>
              <a:t>秋季由于暴雨，河水发生急剧上涨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项：凌汛是春季河冰解冻引起的涨水现象，说明是在春季因河流解冻引起的河水上涨，属于春汛的一种，所以春汛包含凌汛，判断正确，排除；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项：伏汛是发生在夏季三伏前后的汛水，说明是在夏季发生的河水上涨，属于夏汛的一种，所以夏汛包含伏汛，判断正确，排除；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项：伏汛是发生在夏季三伏前后的汛水，凌汛是春季河冰解冻引起的涨水现象，夏季在春季后，所以伏汛在凌汛后，判断错误，当选；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项：春汛的发生因正值桃花盛开时节，故亦称桃汛，所以春汛就是桃汛，判断正确，排除。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第一步：找出定义关键词。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具有包含与被包含关系的三个概念</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a:t>
            </a:r>
            <a:r>
              <a:rPr lang="en-US" altLang="zh-CN" sz="1200" kern="1200" dirty="0">
                <a:solidFill>
                  <a:schemeClr val="tx1"/>
                </a:solidFill>
                <a:effectLst/>
                <a:latin typeface="+mn-lt"/>
              </a:rPr>
              <a:t>“</a:t>
            </a:r>
            <a:r>
              <a:rPr lang="zh-CN" altLang="en-US" sz="1200" kern="1200" dirty="0">
                <a:solidFill>
                  <a:schemeClr val="tx1"/>
                </a:solidFill>
                <a:effectLst/>
                <a:latin typeface="+mn-lt"/>
              </a:rPr>
              <a:t>排序推理</a:t>
            </a:r>
            <a:r>
              <a:rPr lang="en-US" altLang="zh-CN" sz="1200" kern="1200" dirty="0">
                <a:solidFill>
                  <a:schemeClr val="tx1"/>
                </a:solidFill>
                <a:effectLst/>
                <a:latin typeface="+mn-lt"/>
              </a:rPr>
              <a:t>”</a:t>
            </a:r>
            <a:r>
              <a:rPr lang="zh-CN" altLang="en-US" sz="1200" kern="1200" dirty="0">
                <a:solidFill>
                  <a:schemeClr val="tx1"/>
                </a:solidFill>
                <a:effectLst/>
                <a:latin typeface="+mn-lt"/>
              </a:rPr>
              <a:t>的例子可以理解为：由</a:t>
            </a:r>
            <a:r>
              <a:rPr lang="en-US" altLang="zh-CN" sz="1200" kern="1200" dirty="0">
                <a:solidFill>
                  <a:schemeClr val="tx1"/>
                </a:solidFill>
                <a:effectLst/>
                <a:latin typeface="+mn-lt"/>
              </a:rPr>
              <a:t>“</a:t>
            </a:r>
            <a:r>
              <a:rPr lang="zh-CN" altLang="en-US" sz="1200" kern="1200" dirty="0">
                <a:solidFill>
                  <a:schemeClr val="tx1"/>
                </a:solidFill>
                <a:effectLst/>
                <a:latin typeface="+mn-lt"/>
              </a:rPr>
              <a:t>所有的乔木（</a:t>
            </a:r>
            <a:r>
              <a:rPr lang="en-US" altLang="zh-CN" sz="1200" kern="1200" dirty="0">
                <a:solidFill>
                  <a:schemeClr val="tx1"/>
                </a:solidFill>
                <a:effectLst/>
                <a:latin typeface="+mn-lt"/>
              </a:rPr>
              <a:t>a</a:t>
            </a:r>
            <a:r>
              <a:rPr lang="zh-CN" altLang="en-US" sz="1200" kern="1200" dirty="0">
                <a:solidFill>
                  <a:schemeClr val="tx1"/>
                </a:solidFill>
                <a:effectLst/>
                <a:latin typeface="+mn-lt"/>
              </a:rPr>
              <a:t>）都是植物（</a:t>
            </a:r>
            <a:r>
              <a:rPr lang="en-US" altLang="zh-CN" sz="1200" kern="1200" dirty="0">
                <a:solidFill>
                  <a:schemeClr val="tx1"/>
                </a:solidFill>
                <a:effectLst/>
                <a:latin typeface="+mn-lt"/>
              </a:rPr>
              <a:t>b</a:t>
            </a:r>
            <a:r>
              <a:rPr lang="zh-CN" altLang="en-US" sz="1200" kern="1200" dirty="0">
                <a:solidFill>
                  <a:schemeClr val="tx1"/>
                </a:solidFill>
                <a:effectLst/>
                <a:latin typeface="+mn-lt"/>
              </a:rPr>
              <a:t>），所有的水杉（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）都是植物（</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而得出</a:t>
            </a:r>
            <a:r>
              <a:rPr lang="en-US" altLang="zh-CN" sz="1200" kern="1200" dirty="0">
                <a:solidFill>
                  <a:schemeClr val="tx1"/>
                </a:solidFill>
                <a:effectLst/>
                <a:latin typeface="+mn-lt"/>
              </a:rPr>
              <a:t>“</a:t>
            </a:r>
            <a:r>
              <a:rPr lang="zh-CN" altLang="en-US" sz="1200" kern="1200" dirty="0">
                <a:solidFill>
                  <a:schemeClr val="tx1"/>
                </a:solidFill>
                <a:effectLst/>
                <a:latin typeface="+mn-lt"/>
              </a:rPr>
              <a:t>所有的水杉（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）都是乔木（</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，即逻辑结构为：</a:t>
            </a:r>
            <a:r>
              <a:rPr lang="en-US" altLang="zh-CN" sz="1200" kern="1200" dirty="0">
                <a:solidFill>
                  <a:schemeClr val="tx1"/>
                </a:solidFill>
                <a:effectLst/>
                <a:latin typeface="+mn-lt"/>
              </a:rPr>
              <a:t>“</a:t>
            </a:r>
            <a:r>
              <a:rPr lang="zh-CN" altLang="en-US" sz="1200" kern="1200" dirty="0">
                <a:solidFill>
                  <a:schemeClr val="tx1"/>
                </a:solidFill>
                <a:effectLst/>
                <a:latin typeface="+mn-lt"/>
              </a:rPr>
              <a:t>所有</a:t>
            </a:r>
            <a:r>
              <a:rPr lang="en-US" altLang="zh-CN" sz="1200" kern="1200" dirty="0">
                <a:solidFill>
                  <a:schemeClr val="tx1"/>
                </a:solidFill>
                <a:effectLst/>
                <a:latin typeface="+mn-lt"/>
              </a:rPr>
              <a:t>a</a:t>
            </a:r>
            <a:r>
              <a:rPr lang="zh-CN" altLang="en-US" sz="1200" kern="1200" dirty="0">
                <a:solidFill>
                  <a:schemeClr val="tx1"/>
                </a:solidFill>
                <a:effectLst/>
                <a:latin typeface="+mn-lt"/>
              </a:rPr>
              <a:t>都是</a:t>
            </a:r>
            <a:r>
              <a:rPr lang="en-US" altLang="zh-CN" sz="1200" kern="1200" dirty="0">
                <a:solidFill>
                  <a:schemeClr val="tx1"/>
                </a:solidFill>
                <a:effectLst/>
                <a:latin typeface="+mn-lt"/>
              </a:rPr>
              <a:t>b</a:t>
            </a:r>
            <a:r>
              <a:rPr lang="zh-CN" altLang="en-US" sz="1200" kern="1200" dirty="0">
                <a:solidFill>
                  <a:schemeClr val="tx1"/>
                </a:solidFill>
                <a:effectLst/>
                <a:latin typeface="+mn-lt"/>
              </a:rPr>
              <a:t>，所有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a:t>
            </a:r>
            <a:r>
              <a:rPr lang="en-US" altLang="zh-CN" sz="1200" kern="1200" dirty="0">
                <a:solidFill>
                  <a:schemeClr val="tx1"/>
                </a:solidFill>
                <a:effectLst/>
                <a:latin typeface="+mn-lt"/>
              </a:rPr>
              <a:t>b</a:t>
            </a:r>
            <a:r>
              <a:rPr lang="zh-CN" altLang="en-US" sz="1200" kern="1200" dirty="0">
                <a:solidFill>
                  <a:schemeClr val="tx1"/>
                </a:solidFill>
                <a:effectLst/>
                <a:latin typeface="+mn-lt"/>
              </a:rPr>
              <a:t>，所以，所有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项：菱形、平行四边形、四边形符合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具有包含与被包含关系的三个概念</a:t>
            </a:r>
            <a:r>
              <a:rPr lang="en-US" altLang="zh-CN" sz="1200" kern="1200" dirty="0">
                <a:solidFill>
                  <a:schemeClr val="tx1"/>
                </a:solidFill>
                <a:effectLst/>
                <a:latin typeface="+mn-lt"/>
              </a:rPr>
              <a:t>”</a:t>
            </a:r>
            <a:r>
              <a:rPr lang="zh-CN" altLang="en-US" sz="1200" kern="1200" dirty="0">
                <a:solidFill>
                  <a:schemeClr val="tx1"/>
                </a:solidFill>
                <a:effectLst/>
                <a:latin typeface="+mn-lt"/>
              </a:rPr>
              <a:t>，选项可以理解为：</a:t>
            </a:r>
            <a:r>
              <a:rPr lang="en-US" altLang="zh-CN" sz="1200" kern="1200" dirty="0">
                <a:solidFill>
                  <a:schemeClr val="tx1"/>
                </a:solidFill>
                <a:effectLst/>
                <a:latin typeface="+mn-lt"/>
              </a:rPr>
              <a:t>“</a:t>
            </a:r>
            <a:r>
              <a:rPr lang="zh-CN" altLang="en-US" sz="1200" kern="1200" dirty="0">
                <a:solidFill>
                  <a:schemeClr val="tx1"/>
                </a:solidFill>
                <a:effectLst/>
                <a:latin typeface="+mn-lt"/>
              </a:rPr>
              <a:t>所有的平行四边形（</a:t>
            </a:r>
            <a:r>
              <a:rPr lang="en-US" altLang="zh-CN" sz="1200" kern="1200" dirty="0">
                <a:solidFill>
                  <a:schemeClr val="tx1"/>
                </a:solidFill>
                <a:effectLst/>
                <a:latin typeface="+mn-lt"/>
              </a:rPr>
              <a:t>a</a:t>
            </a:r>
            <a:r>
              <a:rPr lang="zh-CN" altLang="en-US" sz="1200" kern="1200" dirty="0">
                <a:solidFill>
                  <a:schemeClr val="tx1"/>
                </a:solidFill>
                <a:effectLst/>
                <a:latin typeface="+mn-lt"/>
              </a:rPr>
              <a:t>）都是四边形（</a:t>
            </a:r>
            <a:r>
              <a:rPr lang="en-US" altLang="zh-CN" sz="1200" kern="1200" dirty="0">
                <a:solidFill>
                  <a:schemeClr val="tx1"/>
                </a:solidFill>
                <a:effectLst/>
                <a:latin typeface="+mn-lt"/>
              </a:rPr>
              <a:t>b</a:t>
            </a:r>
            <a:r>
              <a:rPr lang="zh-CN" altLang="en-US" sz="1200" kern="1200" dirty="0">
                <a:solidFill>
                  <a:schemeClr val="tx1"/>
                </a:solidFill>
                <a:effectLst/>
                <a:latin typeface="+mn-lt"/>
              </a:rPr>
              <a:t>），所有的菱形（</a:t>
            </a:r>
            <a:r>
              <a:rPr lang="en-US" altLang="zh-CN" sz="1200" kern="1200" dirty="0">
                <a:solidFill>
                  <a:schemeClr val="tx1"/>
                </a:solidFill>
                <a:effectLst/>
                <a:latin typeface="+mn-lt"/>
              </a:rPr>
              <a:t>c</a:t>
            </a:r>
            <a:r>
              <a:rPr lang="zh-CN" altLang="en-US" sz="1200" kern="1200" dirty="0">
                <a:solidFill>
                  <a:schemeClr val="tx1"/>
                </a:solidFill>
                <a:effectLst/>
                <a:latin typeface="+mn-lt"/>
              </a:rPr>
              <a:t>）都是四边形（</a:t>
            </a:r>
            <a:r>
              <a:rPr lang="en-US" altLang="zh-CN" sz="1200" kern="1200" dirty="0">
                <a:solidFill>
                  <a:schemeClr val="tx1"/>
                </a:solidFill>
                <a:effectLst/>
                <a:latin typeface="+mn-lt"/>
              </a:rPr>
              <a:t>b</a:t>
            </a:r>
            <a:r>
              <a:rPr lang="zh-CN" altLang="en-US" sz="1200" kern="1200" dirty="0">
                <a:solidFill>
                  <a:schemeClr val="tx1"/>
                </a:solidFill>
                <a:effectLst/>
                <a:latin typeface="+mn-lt"/>
              </a:rPr>
              <a:t>），所以，所有的菱形（</a:t>
            </a:r>
            <a:r>
              <a:rPr lang="en-US" altLang="zh-CN" sz="1200" kern="1200" dirty="0">
                <a:solidFill>
                  <a:schemeClr val="tx1"/>
                </a:solidFill>
                <a:effectLst/>
                <a:latin typeface="+mn-lt"/>
              </a:rPr>
              <a:t>c</a:t>
            </a:r>
            <a:r>
              <a:rPr lang="zh-CN" altLang="en-US" sz="1200" kern="1200" dirty="0">
                <a:solidFill>
                  <a:schemeClr val="tx1"/>
                </a:solidFill>
                <a:effectLst/>
                <a:latin typeface="+mn-lt"/>
              </a:rPr>
              <a:t>）都是平行四边形（</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，即逻辑结构为：</a:t>
            </a:r>
            <a:r>
              <a:rPr lang="en-US" altLang="zh-CN" sz="1200" kern="1200" dirty="0">
                <a:solidFill>
                  <a:schemeClr val="tx1"/>
                </a:solidFill>
                <a:effectLst/>
                <a:latin typeface="+mn-lt"/>
              </a:rPr>
              <a:t>“</a:t>
            </a:r>
            <a:r>
              <a:rPr lang="zh-CN" altLang="en-US" sz="1200" kern="1200" dirty="0">
                <a:solidFill>
                  <a:schemeClr val="tx1"/>
                </a:solidFill>
                <a:effectLst/>
                <a:latin typeface="+mn-lt"/>
              </a:rPr>
              <a:t>所有</a:t>
            </a:r>
            <a:r>
              <a:rPr lang="en-US" altLang="zh-CN" sz="1200" kern="1200" dirty="0">
                <a:solidFill>
                  <a:schemeClr val="tx1"/>
                </a:solidFill>
                <a:effectLst/>
                <a:latin typeface="+mn-lt"/>
              </a:rPr>
              <a:t>a</a:t>
            </a:r>
            <a:r>
              <a:rPr lang="zh-CN" altLang="en-US" sz="1200" kern="1200" dirty="0">
                <a:solidFill>
                  <a:schemeClr val="tx1"/>
                </a:solidFill>
                <a:effectLst/>
                <a:latin typeface="+mn-lt"/>
              </a:rPr>
              <a:t>都是</a:t>
            </a:r>
            <a:r>
              <a:rPr lang="en-US" altLang="zh-CN" sz="1200" kern="1200" dirty="0">
                <a:solidFill>
                  <a:schemeClr val="tx1"/>
                </a:solidFill>
                <a:effectLst/>
                <a:latin typeface="+mn-lt"/>
              </a:rPr>
              <a:t>b</a:t>
            </a:r>
            <a:r>
              <a:rPr lang="zh-CN" altLang="en-US" sz="1200" kern="1200" dirty="0">
                <a:solidFill>
                  <a:schemeClr val="tx1"/>
                </a:solidFill>
                <a:effectLst/>
                <a:latin typeface="+mn-lt"/>
              </a:rPr>
              <a:t>，所有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a:t>
            </a:r>
            <a:r>
              <a:rPr lang="en-US" altLang="zh-CN" sz="1200" kern="1200" dirty="0">
                <a:solidFill>
                  <a:schemeClr val="tx1"/>
                </a:solidFill>
                <a:effectLst/>
                <a:latin typeface="+mn-lt"/>
              </a:rPr>
              <a:t>b</a:t>
            </a:r>
            <a:r>
              <a:rPr lang="zh-CN" altLang="en-US" sz="1200" kern="1200" dirty="0">
                <a:solidFill>
                  <a:schemeClr val="tx1"/>
                </a:solidFill>
                <a:effectLst/>
                <a:latin typeface="+mn-lt"/>
              </a:rPr>
              <a:t>，所以，所有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a:t>
            </a:r>
            <a:r>
              <a:rPr lang="en-US" altLang="zh-CN" sz="1200" kern="1200" dirty="0">
                <a:solidFill>
                  <a:schemeClr val="tx1"/>
                </a:solidFill>
                <a:effectLst/>
                <a:latin typeface="+mn-lt"/>
              </a:rPr>
              <a:t>a”</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项：蝴蝶、昆虫、动物符合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具有包含与被包含关系的三个概念</a:t>
            </a:r>
            <a:r>
              <a:rPr lang="en-US" altLang="zh-CN" sz="1200" kern="1200" dirty="0">
                <a:solidFill>
                  <a:schemeClr val="tx1"/>
                </a:solidFill>
                <a:effectLst/>
                <a:latin typeface="+mn-lt"/>
              </a:rPr>
              <a:t>”</a:t>
            </a:r>
            <a:r>
              <a:rPr lang="zh-CN" altLang="en-US" sz="1200" kern="1200" dirty="0">
                <a:solidFill>
                  <a:schemeClr val="tx1"/>
                </a:solidFill>
                <a:effectLst/>
                <a:latin typeface="+mn-lt"/>
              </a:rPr>
              <a:t>，选项可以理解为：</a:t>
            </a:r>
            <a:r>
              <a:rPr lang="en-US" altLang="zh-CN" sz="1200" kern="1200" dirty="0">
                <a:solidFill>
                  <a:schemeClr val="tx1"/>
                </a:solidFill>
                <a:effectLst/>
                <a:latin typeface="+mn-lt"/>
              </a:rPr>
              <a:t>“</a:t>
            </a:r>
            <a:r>
              <a:rPr lang="zh-CN" altLang="en-US" sz="1200" kern="1200" dirty="0">
                <a:solidFill>
                  <a:schemeClr val="tx1"/>
                </a:solidFill>
                <a:effectLst/>
                <a:latin typeface="+mn-lt"/>
              </a:rPr>
              <a:t>所有的昆虫（</a:t>
            </a:r>
            <a:r>
              <a:rPr lang="en-US" altLang="zh-CN" sz="1200" kern="1200" dirty="0">
                <a:solidFill>
                  <a:schemeClr val="tx1"/>
                </a:solidFill>
                <a:effectLst/>
                <a:latin typeface="+mn-lt"/>
              </a:rPr>
              <a:t>a</a:t>
            </a:r>
            <a:r>
              <a:rPr lang="zh-CN" altLang="en-US" sz="1200" kern="1200" dirty="0">
                <a:solidFill>
                  <a:schemeClr val="tx1"/>
                </a:solidFill>
                <a:effectLst/>
                <a:latin typeface="+mn-lt"/>
              </a:rPr>
              <a:t>）都是动物（</a:t>
            </a:r>
            <a:r>
              <a:rPr lang="en-US" altLang="zh-CN" sz="1200" kern="1200" dirty="0">
                <a:solidFill>
                  <a:schemeClr val="tx1"/>
                </a:solidFill>
                <a:effectLst/>
                <a:latin typeface="+mn-lt"/>
              </a:rPr>
              <a:t>b</a:t>
            </a:r>
            <a:r>
              <a:rPr lang="zh-CN" altLang="en-US" sz="1200" kern="1200" dirty="0">
                <a:solidFill>
                  <a:schemeClr val="tx1"/>
                </a:solidFill>
                <a:effectLst/>
                <a:latin typeface="+mn-lt"/>
              </a:rPr>
              <a:t>），所有的蝴蝶（</a:t>
            </a:r>
            <a:r>
              <a:rPr lang="en-US" altLang="zh-CN" sz="1200" kern="1200" dirty="0">
                <a:solidFill>
                  <a:schemeClr val="tx1"/>
                </a:solidFill>
                <a:effectLst/>
                <a:latin typeface="+mn-lt"/>
              </a:rPr>
              <a:t>c</a:t>
            </a:r>
            <a:r>
              <a:rPr lang="zh-CN" altLang="en-US" sz="1200" kern="1200" dirty="0">
                <a:solidFill>
                  <a:schemeClr val="tx1"/>
                </a:solidFill>
                <a:effectLst/>
                <a:latin typeface="+mn-lt"/>
              </a:rPr>
              <a:t>）都是昆虫（</a:t>
            </a:r>
            <a:r>
              <a:rPr lang="en-US" altLang="zh-CN" sz="1200" kern="1200" dirty="0">
                <a:solidFill>
                  <a:schemeClr val="tx1"/>
                </a:solidFill>
                <a:effectLst/>
                <a:latin typeface="+mn-lt"/>
              </a:rPr>
              <a:t>a</a:t>
            </a:r>
            <a:r>
              <a:rPr lang="zh-CN" altLang="en-US" sz="1200" kern="1200" dirty="0">
                <a:solidFill>
                  <a:schemeClr val="tx1"/>
                </a:solidFill>
                <a:effectLst/>
                <a:latin typeface="+mn-lt"/>
              </a:rPr>
              <a:t>），所以，所有的蝴蝶（</a:t>
            </a:r>
            <a:r>
              <a:rPr lang="en-US" altLang="zh-CN" sz="1200" kern="1200" dirty="0">
                <a:solidFill>
                  <a:schemeClr val="tx1"/>
                </a:solidFill>
                <a:effectLst/>
                <a:latin typeface="+mn-lt"/>
              </a:rPr>
              <a:t>c</a:t>
            </a:r>
            <a:r>
              <a:rPr lang="zh-CN" altLang="en-US" sz="1200" kern="1200" dirty="0">
                <a:solidFill>
                  <a:schemeClr val="tx1"/>
                </a:solidFill>
                <a:effectLst/>
                <a:latin typeface="+mn-lt"/>
              </a:rPr>
              <a:t>）都是动物（</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，即逻辑结构为：</a:t>
            </a:r>
            <a:r>
              <a:rPr lang="en-US" altLang="zh-CN" sz="1200" kern="1200" dirty="0">
                <a:solidFill>
                  <a:schemeClr val="tx1"/>
                </a:solidFill>
                <a:effectLst/>
                <a:latin typeface="+mn-lt"/>
              </a:rPr>
              <a:t>“</a:t>
            </a:r>
            <a:r>
              <a:rPr lang="zh-CN" altLang="en-US" sz="1200" kern="1200" dirty="0">
                <a:solidFill>
                  <a:schemeClr val="tx1"/>
                </a:solidFill>
                <a:effectLst/>
                <a:latin typeface="+mn-lt"/>
              </a:rPr>
              <a:t>所有</a:t>
            </a:r>
            <a:r>
              <a:rPr lang="en-US" altLang="zh-CN" sz="1200" kern="1200" dirty="0">
                <a:solidFill>
                  <a:schemeClr val="tx1"/>
                </a:solidFill>
                <a:effectLst/>
                <a:latin typeface="+mn-lt"/>
              </a:rPr>
              <a:t>a</a:t>
            </a:r>
            <a:r>
              <a:rPr lang="zh-CN" altLang="en-US" sz="1200" kern="1200" dirty="0">
                <a:solidFill>
                  <a:schemeClr val="tx1"/>
                </a:solidFill>
                <a:effectLst/>
                <a:latin typeface="+mn-lt"/>
              </a:rPr>
              <a:t>都是</a:t>
            </a:r>
            <a:r>
              <a:rPr lang="en-US" altLang="zh-CN" sz="1200" kern="1200" dirty="0">
                <a:solidFill>
                  <a:schemeClr val="tx1"/>
                </a:solidFill>
                <a:effectLst/>
                <a:latin typeface="+mn-lt"/>
              </a:rPr>
              <a:t>b</a:t>
            </a:r>
            <a:r>
              <a:rPr lang="zh-CN" altLang="en-US" sz="1200" kern="1200" dirty="0">
                <a:solidFill>
                  <a:schemeClr val="tx1"/>
                </a:solidFill>
                <a:effectLst/>
                <a:latin typeface="+mn-lt"/>
              </a:rPr>
              <a:t>，所有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a:t>
            </a:r>
            <a:r>
              <a:rPr lang="en-US" altLang="zh-CN" sz="1200" kern="1200" dirty="0">
                <a:solidFill>
                  <a:schemeClr val="tx1"/>
                </a:solidFill>
                <a:effectLst/>
                <a:latin typeface="+mn-lt"/>
              </a:rPr>
              <a:t>a</a:t>
            </a:r>
            <a:r>
              <a:rPr lang="zh-CN" altLang="en-US" sz="1200" kern="1200" dirty="0">
                <a:solidFill>
                  <a:schemeClr val="tx1"/>
                </a:solidFill>
                <a:effectLst/>
                <a:latin typeface="+mn-lt"/>
              </a:rPr>
              <a:t>，所以，所有</a:t>
            </a:r>
            <a:r>
              <a:rPr lang="en-US" altLang="zh-CN" sz="1200" kern="1200" dirty="0">
                <a:solidFill>
                  <a:schemeClr val="tx1"/>
                </a:solidFill>
                <a:effectLst/>
                <a:latin typeface="+mn-lt"/>
              </a:rPr>
              <a:t>c</a:t>
            </a:r>
            <a:r>
              <a:rPr lang="zh-CN" altLang="en-US" sz="1200" kern="1200" dirty="0">
                <a:solidFill>
                  <a:schemeClr val="tx1"/>
                </a:solidFill>
                <a:effectLst/>
                <a:latin typeface="+mn-lt"/>
              </a:rPr>
              <a:t>都是</a:t>
            </a:r>
            <a:r>
              <a:rPr lang="en-US" altLang="zh-CN" sz="1200" kern="1200" dirty="0">
                <a:solidFill>
                  <a:schemeClr val="tx1"/>
                </a:solidFill>
                <a:effectLst/>
                <a:latin typeface="+mn-lt"/>
              </a:rPr>
              <a:t>b”</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项：文字、符号、图形不符合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具有包含与被包含关系的三个概念</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项：这个花园的花、迎春花、冬春季开放的花不符合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具有包含与被包含关系的三个概念</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解析：本题属于映射类，主要考查方式目的对应关系。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嘤其鸣矣，求其友声</a:t>
            </a:r>
            <a:r>
              <a:rPr lang="en-US" altLang="zh-CN" sz="1200" kern="1200" dirty="0">
                <a:solidFill>
                  <a:schemeClr val="tx1"/>
                </a:solidFill>
                <a:effectLst/>
                <a:latin typeface="+mn-lt"/>
              </a:rPr>
              <a:t>”</a:t>
            </a:r>
            <a:r>
              <a:rPr lang="zh-CN" altLang="en-US" sz="1200" kern="1200" dirty="0">
                <a:solidFill>
                  <a:schemeClr val="tx1"/>
                </a:solidFill>
                <a:effectLst/>
                <a:latin typeface="+mn-lt"/>
              </a:rPr>
              <a:t>指小鸟那嘤嘤的叫声，是为了寻求知音，二者为方式目的的对应关系。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遏其生气，以求重价</a:t>
            </a:r>
            <a:r>
              <a:rPr lang="en-US" altLang="zh-CN" sz="1200" kern="1200" dirty="0">
                <a:solidFill>
                  <a:schemeClr val="tx1"/>
                </a:solidFill>
                <a:effectLst/>
                <a:latin typeface="+mn-lt"/>
              </a:rPr>
              <a:t>”</a:t>
            </a:r>
            <a:r>
              <a:rPr lang="zh-CN" altLang="en-US" sz="1200" kern="1200" dirty="0">
                <a:solidFill>
                  <a:schemeClr val="tx1"/>
                </a:solidFill>
                <a:effectLst/>
                <a:latin typeface="+mn-lt"/>
              </a:rPr>
              <a:t>指阻抑它（梅花）的生机，这样做是为了谋求高价，二者为方式目的的对应关系，与题干逻辑关系一致，当选；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求之其本，经旬必得</a:t>
            </a:r>
            <a:r>
              <a:rPr lang="en-US" altLang="zh-CN" sz="1200" kern="1200" dirty="0">
                <a:solidFill>
                  <a:schemeClr val="tx1"/>
                </a:solidFill>
                <a:effectLst/>
                <a:latin typeface="+mn-lt"/>
              </a:rPr>
              <a:t>”</a:t>
            </a:r>
            <a:r>
              <a:rPr lang="zh-CN" altLang="en-US" sz="1200" kern="1200" dirty="0">
                <a:solidFill>
                  <a:schemeClr val="tx1"/>
                </a:solidFill>
                <a:effectLst/>
                <a:latin typeface="+mn-lt"/>
              </a:rPr>
              <a:t>指做事情如果从根本做起，经过一段时间必定能够收效，二者为条件对应关系，与题干逻辑关系不一致，排除；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道不拾遗，夜不闭户</a:t>
            </a:r>
            <a:r>
              <a:rPr lang="en-US" altLang="zh-CN" sz="1200" kern="1200" dirty="0">
                <a:solidFill>
                  <a:schemeClr val="tx1"/>
                </a:solidFill>
                <a:effectLst/>
                <a:latin typeface="+mn-lt"/>
              </a:rPr>
              <a:t>”</a:t>
            </a:r>
            <a:r>
              <a:rPr lang="zh-CN" altLang="en-US" sz="1200" kern="1200" dirty="0">
                <a:solidFill>
                  <a:schemeClr val="tx1"/>
                </a:solidFill>
                <a:effectLst/>
                <a:latin typeface="+mn-lt"/>
              </a:rPr>
              <a:t>指东西丢在路上没有人拾走，夜里睡觉都不需要关门防盗，二者为并列关系，与题干逻辑关系不一致，排除；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避其锐气，击其惰归</a:t>
            </a:r>
            <a:r>
              <a:rPr lang="en-US" altLang="zh-CN" sz="1200" kern="1200" dirty="0">
                <a:solidFill>
                  <a:schemeClr val="tx1"/>
                </a:solidFill>
                <a:effectLst/>
                <a:latin typeface="+mn-lt"/>
              </a:rPr>
              <a:t>”</a:t>
            </a:r>
            <a:r>
              <a:rPr lang="zh-CN" altLang="en-US" sz="1200" kern="1200" dirty="0">
                <a:solidFill>
                  <a:schemeClr val="tx1"/>
                </a:solidFill>
                <a:effectLst/>
                <a:latin typeface="+mn-lt"/>
              </a:rPr>
              <a:t>指先避开敌人初来时的气势，等敌人疲惫时再狠狠打击，二者为时间先后顺序的对应关系，与题干逻辑关系不一致，排除。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第一步：判断题干词语间逻辑关系。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电池板是光伏电站的组成部分，前两词为组成关系，光伏电站具有发电的功能，第一个词和第三个词为功能对应关系。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第二步：判断选项词语间逻辑关系。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项：桥墩支架是跨海大桥的组成部分，前两词为组成关系，跨海大桥具有交通功能，第一个词和第三个词为功能对应关系，与题干逻辑关系一致，当选；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项：射电望远镜的工作原理是接收来自宇宙空间的电磁波，二者不是组成关系，与题干逻辑关系不一致，排除；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项：油气管道是海底气田开发生产系统的组成部分，但钻井是开发海底气田的一项工程，二者不是功能对应关系，与题干逻辑关系不一致，排除；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项：球幕电影是一种电影形式，游乐设施是指用于经营目的，承载游客游乐的载体，二者无明显逻辑关系，与题干逻辑关系不一致，排除。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第一步：找出论点和论据。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论点：可利用现在飞速发展的互联技术，把黑匣子升级成为</a:t>
            </a:r>
            <a:r>
              <a:rPr lang="en-US" altLang="zh-CN" sz="1200" kern="1200" dirty="0">
                <a:solidFill>
                  <a:schemeClr val="tx1"/>
                </a:solidFill>
                <a:effectLst/>
                <a:latin typeface="+mn-lt"/>
              </a:rPr>
              <a:t>“</a:t>
            </a:r>
            <a:r>
              <a:rPr lang="zh-CN" altLang="en-US" sz="1200" kern="1200" dirty="0">
                <a:solidFill>
                  <a:schemeClr val="tx1"/>
                </a:solidFill>
                <a:effectLst/>
                <a:latin typeface="+mn-lt"/>
              </a:rPr>
              <a:t>云匣子</a:t>
            </a:r>
            <a:r>
              <a:rPr lang="en-US" altLang="zh-CN" sz="1200" kern="1200" dirty="0">
                <a:solidFill>
                  <a:schemeClr val="tx1"/>
                </a:solidFill>
                <a:effectLst/>
                <a:latin typeface="+mn-lt"/>
              </a:rPr>
              <a:t>”</a:t>
            </a:r>
            <a:r>
              <a:rPr lang="zh-CN" altLang="en-US" sz="1200" kern="1200" dirty="0">
                <a:solidFill>
                  <a:schemeClr val="tx1"/>
                </a:solidFill>
                <a:effectLst/>
                <a:latin typeface="+mn-lt"/>
              </a:rPr>
              <a:t>，那么飞机在空中就能够实时与地面进行信息交互，使空难事故的分析变得更加便捷。</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本题只有论点，没有论据，削弱优先考虑削弱论点。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项：该项指出飞机接入互联网的信号稳定性受到太多外界不可控因素的影响，说明把黑匣子升级成为</a:t>
            </a:r>
            <a:r>
              <a:rPr lang="en-US" altLang="zh-CN" sz="1200" kern="1200" dirty="0">
                <a:solidFill>
                  <a:schemeClr val="tx1"/>
                </a:solidFill>
                <a:effectLst/>
                <a:latin typeface="+mn-lt"/>
              </a:rPr>
              <a:t>“</a:t>
            </a:r>
            <a:r>
              <a:rPr lang="zh-CN" altLang="en-US" sz="1200" kern="1200" dirty="0">
                <a:solidFill>
                  <a:schemeClr val="tx1"/>
                </a:solidFill>
                <a:effectLst/>
                <a:latin typeface="+mn-lt"/>
              </a:rPr>
              <a:t>云匣子</a:t>
            </a:r>
            <a:r>
              <a:rPr lang="en-US" altLang="zh-CN" sz="1200" kern="1200" dirty="0">
                <a:solidFill>
                  <a:schemeClr val="tx1"/>
                </a:solidFill>
                <a:effectLst/>
                <a:latin typeface="+mn-lt"/>
              </a:rPr>
              <a:t>”</a:t>
            </a:r>
            <a:r>
              <a:rPr lang="zh-CN" altLang="en-US" sz="1200" kern="1200" dirty="0">
                <a:solidFill>
                  <a:schemeClr val="tx1"/>
                </a:solidFill>
                <a:effectLst/>
                <a:latin typeface="+mn-lt"/>
              </a:rPr>
              <a:t>也无法实现飞机实时与地面进行信息交互，直接否定论点，可以削弱，当选；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项：该项指出投入高昂的数据管理成本不如直接用于提升飞行安全，但不明确把黑匣子升级成为</a:t>
            </a:r>
            <a:r>
              <a:rPr lang="en-US" altLang="zh-CN" sz="1200" kern="1200" dirty="0">
                <a:solidFill>
                  <a:schemeClr val="tx1"/>
                </a:solidFill>
                <a:effectLst/>
                <a:latin typeface="+mn-lt"/>
              </a:rPr>
              <a:t>“</a:t>
            </a:r>
            <a:r>
              <a:rPr lang="zh-CN" altLang="en-US" sz="1200" kern="1200" dirty="0">
                <a:solidFill>
                  <a:schemeClr val="tx1"/>
                </a:solidFill>
                <a:effectLst/>
                <a:latin typeface="+mn-lt"/>
              </a:rPr>
              <a:t>云匣子</a:t>
            </a:r>
            <a:r>
              <a:rPr lang="en-US" altLang="zh-CN" sz="1200" kern="1200" dirty="0">
                <a:solidFill>
                  <a:schemeClr val="tx1"/>
                </a:solidFill>
                <a:effectLst/>
                <a:latin typeface="+mn-lt"/>
              </a:rPr>
              <a:t>”</a:t>
            </a:r>
            <a:r>
              <a:rPr lang="zh-CN" altLang="en-US" sz="1200" kern="1200" dirty="0">
                <a:solidFill>
                  <a:schemeClr val="tx1"/>
                </a:solidFill>
                <a:effectLst/>
                <a:latin typeface="+mn-lt"/>
              </a:rPr>
              <a:t>的成本是否高昂，也不明确把黑匣子升级成为</a:t>
            </a:r>
            <a:r>
              <a:rPr lang="en-US" altLang="zh-CN" sz="1200" kern="1200" dirty="0">
                <a:solidFill>
                  <a:schemeClr val="tx1"/>
                </a:solidFill>
                <a:effectLst/>
                <a:latin typeface="+mn-lt"/>
              </a:rPr>
              <a:t>“</a:t>
            </a:r>
            <a:r>
              <a:rPr lang="zh-CN" altLang="en-US" sz="1200" kern="1200" dirty="0">
                <a:solidFill>
                  <a:schemeClr val="tx1"/>
                </a:solidFill>
                <a:effectLst/>
                <a:latin typeface="+mn-lt"/>
              </a:rPr>
              <a:t>云匣子</a:t>
            </a:r>
            <a:r>
              <a:rPr lang="en-US" altLang="zh-CN" sz="1200" kern="1200" dirty="0">
                <a:solidFill>
                  <a:schemeClr val="tx1"/>
                </a:solidFill>
                <a:effectLst/>
                <a:latin typeface="+mn-lt"/>
              </a:rPr>
              <a:t>”</a:t>
            </a:r>
            <a:r>
              <a:rPr lang="zh-CN" altLang="en-US" sz="1200" kern="1200" dirty="0">
                <a:solidFill>
                  <a:schemeClr val="tx1"/>
                </a:solidFill>
                <a:effectLst/>
                <a:latin typeface="+mn-lt"/>
              </a:rPr>
              <a:t>能否使空难事故的分析变得更加便捷，为不明确项，无法削弱，排除；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项：该项指出即使能顺利搜寻到黑匣子也难以揭开事故真相，讨论的是依靠黑匣子能否揭开事故真相，而论点讨论的是把黑匣子升级成为</a:t>
            </a:r>
            <a:r>
              <a:rPr lang="en-US" altLang="zh-CN" sz="1200" kern="1200" dirty="0">
                <a:solidFill>
                  <a:schemeClr val="tx1"/>
                </a:solidFill>
                <a:effectLst/>
                <a:latin typeface="+mn-lt"/>
              </a:rPr>
              <a:t>“</a:t>
            </a:r>
            <a:r>
              <a:rPr lang="zh-CN" altLang="en-US" sz="1200" kern="1200" dirty="0">
                <a:solidFill>
                  <a:schemeClr val="tx1"/>
                </a:solidFill>
                <a:effectLst/>
                <a:latin typeface="+mn-lt"/>
              </a:rPr>
              <a:t>云匣子</a:t>
            </a:r>
            <a:r>
              <a:rPr lang="en-US" altLang="zh-CN" sz="1200" kern="1200" dirty="0">
                <a:solidFill>
                  <a:schemeClr val="tx1"/>
                </a:solidFill>
                <a:effectLst/>
                <a:latin typeface="+mn-lt"/>
              </a:rPr>
              <a:t>”</a:t>
            </a:r>
            <a:r>
              <a:rPr lang="zh-CN" altLang="en-US" sz="1200" kern="1200" dirty="0">
                <a:solidFill>
                  <a:schemeClr val="tx1"/>
                </a:solidFill>
                <a:effectLst/>
                <a:latin typeface="+mn-lt"/>
              </a:rPr>
              <a:t>能否使空难事故的分析变得更加便捷，话题不一致，无法削弱，排除；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项：该项指出实时同步每一架飞机的海量数据对飞行管理并无帮助，讨论的是同步每一架飞机数据对飞行管理的影响，而论点讨论的是把黑匣子升级成为</a:t>
            </a:r>
            <a:r>
              <a:rPr lang="en-US" altLang="zh-CN" sz="1200" kern="1200" dirty="0">
                <a:solidFill>
                  <a:schemeClr val="tx1"/>
                </a:solidFill>
                <a:effectLst/>
                <a:latin typeface="+mn-lt"/>
              </a:rPr>
              <a:t>“</a:t>
            </a:r>
            <a:r>
              <a:rPr lang="zh-CN" altLang="en-US" sz="1200" kern="1200" dirty="0">
                <a:solidFill>
                  <a:schemeClr val="tx1"/>
                </a:solidFill>
                <a:effectLst/>
                <a:latin typeface="+mn-lt"/>
              </a:rPr>
              <a:t>云匣子</a:t>
            </a:r>
            <a:r>
              <a:rPr lang="en-US" altLang="zh-CN" sz="1200" kern="1200" dirty="0">
                <a:solidFill>
                  <a:schemeClr val="tx1"/>
                </a:solidFill>
                <a:effectLst/>
                <a:latin typeface="+mn-lt"/>
              </a:rPr>
              <a:t>”</a:t>
            </a:r>
            <a:r>
              <a:rPr lang="zh-CN" altLang="en-US" sz="1200" kern="1200" dirty="0">
                <a:solidFill>
                  <a:schemeClr val="tx1"/>
                </a:solidFill>
                <a:effectLst/>
                <a:latin typeface="+mn-lt"/>
              </a:rPr>
              <a:t>能否使空难事故的分析变得更加便捷，话题不一致，无法削弱，排除。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论点：死于癌症的风险增加可能与空气污染物中的</a:t>
            </a:r>
            <a:r>
              <a:rPr lang="en-US" altLang="zh-CN" sz="1200" kern="1200" dirty="0">
                <a:solidFill>
                  <a:schemeClr val="tx1"/>
                </a:solidFill>
                <a:effectLst/>
                <a:latin typeface="+mn-lt"/>
              </a:rPr>
              <a:t>PM2.5</a:t>
            </a:r>
            <a:r>
              <a:rPr lang="zh-CN" altLang="en-US" sz="1200" kern="1200" dirty="0">
                <a:solidFill>
                  <a:schemeClr val="tx1"/>
                </a:solidFill>
                <a:effectLst/>
                <a:latin typeface="+mn-lt"/>
              </a:rPr>
              <a:t>有关。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a:t>
            </a:r>
            <a:r>
              <a:rPr lang="en-US" altLang="zh-CN" sz="1200" kern="1200" dirty="0">
                <a:solidFill>
                  <a:schemeClr val="tx1"/>
                </a:solidFill>
                <a:effectLst/>
                <a:latin typeface="+mn-lt"/>
              </a:rPr>
              <a:t>PM2.5</a:t>
            </a:r>
            <a:r>
              <a:rPr lang="zh-CN" altLang="en-US" sz="1200" kern="1200" dirty="0">
                <a:solidFill>
                  <a:schemeClr val="tx1"/>
                </a:solidFill>
                <a:effectLst/>
                <a:latin typeface="+mn-lt"/>
              </a:rPr>
              <a:t>会导致脏器的炎症和氧化应激反应。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本题论点讨论的是</a:t>
            </a:r>
            <a:r>
              <a:rPr lang="en-US" altLang="zh-CN" sz="1200" kern="1200" dirty="0">
                <a:solidFill>
                  <a:schemeClr val="tx1"/>
                </a:solidFill>
                <a:effectLst/>
                <a:latin typeface="+mn-lt"/>
              </a:rPr>
              <a:t>“PM2.5”</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死于癌症的风险</a:t>
            </a:r>
            <a:r>
              <a:rPr lang="en-US" altLang="zh-CN" sz="1200" kern="1200" dirty="0">
                <a:solidFill>
                  <a:schemeClr val="tx1"/>
                </a:solidFill>
                <a:effectLst/>
                <a:latin typeface="+mn-lt"/>
              </a:rPr>
              <a:t>”</a:t>
            </a:r>
            <a:r>
              <a:rPr lang="zh-CN" altLang="en-US" sz="1200" kern="1200" dirty="0">
                <a:solidFill>
                  <a:schemeClr val="tx1"/>
                </a:solidFill>
                <a:effectLst/>
                <a:latin typeface="+mn-lt"/>
              </a:rPr>
              <a:t>之间的关系，论据讨论的是</a:t>
            </a:r>
            <a:r>
              <a:rPr lang="en-US" altLang="zh-CN" sz="1200" kern="1200" dirty="0">
                <a:solidFill>
                  <a:schemeClr val="tx1"/>
                </a:solidFill>
                <a:effectLst/>
                <a:latin typeface="+mn-lt"/>
              </a:rPr>
              <a:t>“PM2.5”</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脏器的炎症和氧化应激反应</a:t>
            </a:r>
            <a:r>
              <a:rPr lang="en-US" altLang="zh-CN" sz="1200" kern="1200" dirty="0">
                <a:solidFill>
                  <a:schemeClr val="tx1"/>
                </a:solidFill>
                <a:effectLst/>
                <a:latin typeface="+mn-lt"/>
              </a:rPr>
              <a:t>”</a:t>
            </a:r>
            <a:r>
              <a:rPr lang="zh-CN" altLang="en-US" sz="1200" kern="1200" dirty="0">
                <a:solidFill>
                  <a:schemeClr val="tx1"/>
                </a:solidFill>
                <a:effectLst/>
                <a:latin typeface="+mn-lt"/>
              </a:rPr>
              <a:t>之间的关系，二者话题不一致，加强优先考虑搭桥，即在</a:t>
            </a:r>
            <a:r>
              <a:rPr lang="en-US" altLang="zh-CN" sz="1200" kern="1200" dirty="0">
                <a:solidFill>
                  <a:schemeClr val="tx1"/>
                </a:solidFill>
                <a:effectLst/>
                <a:latin typeface="+mn-lt"/>
              </a:rPr>
              <a:t>“</a:t>
            </a:r>
            <a:r>
              <a:rPr lang="zh-CN" altLang="en-US" sz="1200" kern="1200" dirty="0">
                <a:solidFill>
                  <a:schemeClr val="tx1"/>
                </a:solidFill>
                <a:effectLst/>
                <a:latin typeface="+mn-lt"/>
              </a:rPr>
              <a:t>脏器的炎症和氧化应激反应</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死于癌症的风险</a:t>
            </a:r>
            <a:r>
              <a:rPr lang="en-US" altLang="zh-CN" sz="1200" kern="1200" dirty="0">
                <a:solidFill>
                  <a:schemeClr val="tx1"/>
                </a:solidFill>
                <a:effectLst/>
                <a:latin typeface="+mn-lt"/>
              </a:rPr>
              <a:t>”</a:t>
            </a:r>
            <a:r>
              <a:rPr lang="zh-CN" altLang="en-US" sz="1200" kern="1200" dirty="0">
                <a:solidFill>
                  <a:schemeClr val="tx1"/>
                </a:solidFill>
                <a:effectLst/>
                <a:latin typeface="+mn-lt"/>
              </a:rPr>
              <a:t>之间建立联系。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项：该项指出脏器的炎症和氧化应激反应是明确的致癌危险因素，即在</a:t>
            </a:r>
            <a:r>
              <a:rPr lang="en-US" altLang="zh-CN" sz="1200" kern="1200" dirty="0">
                <a:solidFill>
                  <a:schemeClr val="tx1"/>
                </a:solidFill>
                <a:effectLst/>
                <a:latin typeface="+mn-lt"/>
              </a:rPr>
              <a:t>“</a:t>
            </a:r>
            <a:r>
              <a:rPr lang="zh-CN" altLang="en-US" sz="1200" kern="1200" dirty="0">
                <a:solidFill>
                  <a:schemeClr val="tx1"/>
                </a:solidFill>
                <a:effectLst/>
                <a:latin typeface="+mn-lt"/>
              </a:rPr>
              <a:t>脏器的炎症和氧化应激反应</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死于癌症的风险</a:t>
            </a:r>
            <a:r>
              <a:rPr lang="en-US" altLang="zh-CN" sz="1200" kern="1200" dirty="0">
                <a:solidFill>
                  <a:schemeClr val="tx1"/>
                </a:solidFill>
                <a:effectLst/>
                <a:latin typeface="+mn-lt"/>
              </a:rPr>
              <a:t>”</a:t>
            </a:r>
            <a:r>
              <a:rPr lang="zh-CN" altLang="en-US" sz="1200" kern="1200" dirty="0">
                <a:solidFill>
                  <a:schemeClr val="tx1"/>
                </a:solidFill>
                <a:effectLst/>
                <a:latin typeface="+mn-lt"/>
              </a:rPr>
              <a:t>之间建立了联系，为搭桥项，可以加强，当选；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项：该项指出</a:t>
            </a:r>
            <a:r>
              <a:rPr lang="en-US" altLang="zh-CN" sz="1200" kern="1200" dirty="0">
                <a:solidFill>
                  <a:schemeClr val="tx1"/>
                </a:solidFill>
                <a:effectLst/>
                <a:latin typeface="+mn-lt"/>
              </a:rPr>
              <a:t>PM2.5</a:t>
            </a:r>
            <a:r>
              <a:rPr lang="zh-CN" altLang="en-US" sz="1200" kern="1200" dirty="0">
                <a:solidFill>
                  <a:schemeClr val="tx1"/>
                </a:solidFill>
                <a:effectLst/>
                <a:latin typeface="+mn-lt"/>
              </a:rPr>
              <a:t>在大气中的情况，而论点讨论的是死于癌症的风险与</a:t>
            </a:r>
            <a:r>
              <a:rPr lang="en-US" altLang="zh-CN" sz="1200" kern="1200" dirty="0">
                <a:solidFill>
                  <a:schemeClr val="tx1"/>
                </a:solidFill>
                <a:effectLst/>
                <a:latin typeface="+mn-lt"/>
              </a:rPr>
              <a:t>PM2.5</a:t>
            </a:r>
            <a:r>
              <a:rPr lang="zh-CN" altLang="en-US" sz="1200" kern="1200" dirty="0">
                <a:solidFill>
                  <a:schemeClr val="tx1"/>
                </a:solidFill>
                <a:effectLst/>
                <a:latin typeface="+mn-lt"/>
              </a:rPr>
              <a:t>是否有关，话题不一致，无法加强，排除；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项：该项指出吸烟会将</a:t>
            </a:r>
            <a:r>
              <a:rPr lang="en-US" altLang="zh-CN" sz="1200" kern="1200" dirty="0">
                <a:solidFill>
                  <a:schemeClr val="tx1"/>
                </a:solidFill>
                <a:effectLst/>
                <a:latin typeface="+mn-lt"/>
              </a:rPr>
              <a:t>PM2.5</a:t>
            </a:r>
            <a:r>
              <a:rPr lang="zh-CN" altLang="en-US" sz="1200" kern="1200" dirty="0">
                <a:solidFill>
                  <a:schemeClr val="tx1"/>
                </a:solidFill>
                <a:effectLst/>
                <a:latin typeface="+mn-lt"/>
              </a:rPr>
              <a:t>直接输送到肺部，但最终死于癌症的风险是否会增加并未明确指出，为不明确项，无法加强，排除；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项：该项指出女性更容易接触烹饪油烟，其中有</a:t>
            </a:r>
            <a:r>
              <a:rPr lang="en-US" altLang="zh-CN" sz="1200" kern="1200" dirty="0">
                <a:solidFill>
                  <a:schemeClr val="tx1"/>
                </a:solidFill>
                <a:effectLst/>
                <a:latin typeface="+mn-lt"/>
              </a:rPr>
              <a:t>PM2.5</a:t>
            </a:r>
            <a:r>
              <a:rPr lang="zh-CN" altLang="en-US" sz="1200" kern="1200" dirty="0">
                <a:solidFill>
                  <a:schemeClr val="tx1"/>
                </a:solidFill>
                <a:effectLst/>
                <a:latin typeface="+mn-lt"/>
              </a:rPr>
              <a:t>，但最终死于癌症的风险是否会增加并未明确指出，为不明确项，无法加强，排除。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第一步：分析题干条件。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）甲：东面的人说谎；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）乙：南面的人说谎；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）丙：丙西面</a:t>
            </a:r>
            <a:r>
              <a:rPr lang="en-US" altLang="zh-CN" sz="1200" kern="1200" dirty="0">
                <a:solidFill>
                  <a:schemeClr val="tx1"/>
                </a:solidFill>
                <a:effectLst/>
                <a:latin typeface="+mn-lt"/>
              </a:rPr>
              <a:t> </a:t>
            </a:r>
            <a:r>
              <a:rPr lang="zh-CN" altLang="en-US" sz="1200" kern="1200" dirty="0">
                <a:solidFill>
                  <a:schemeClr val="tx1"/>
                </a:solidFill>
                <a:effectLst/>
                <a:latin typeface="+mn-lt"/>
              </a:rPr>
              <a:t>或</a:t>
            </a:r>
            <a:r>
              <a:rPr lang="en-US" altLang="zh-CN" sz="1200" kern="1200" dirty="0">
                <a:solidFill>
                  <a:schemeClr val="tx1"/>
                </a:solidFill>
                <a:effectLst/>
                <a:latin typeface="+mn-lt"/>
              </a:rPr>
              <a:t> </a:t>
            </a:r>
            <a:r>
              <a:rPr lang="zh-CN" altLang="en-US" sz="1200" kern="1200" dirty="0">
                <a:solidFill>
                  <a:schemeClr val="tx1"/>
                </a:solidFill>
                <a:effectLst/>
                <a:latin typeface="+mn-lt"/>
              </a:rPr>
              <a:t>丙北面；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）丁：丁北面；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人按顺时针顺序依次围坐，每人坐一面。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第二步：根据题干条件进行推理。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题干没有明显的矛盾关系和反对关系，可采用代入法解题。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A</a:t>
            </a:r>
            <a:r>
              <a:rPr lang="zh-CN" altLang="en-US" sz="1200" kern="1200" dirty="0">
                <a:solidFill>
                  <a:schemeClr val="tx1"/>
                </a:solidFill>
                <a:effectLst/>
                <a:latin typeface="+mn-lt"/>
              </a:rPr>
              <a:t>项：甲坐在北面，根据（</a:t>
            </a:r>
            <a:r>
              <a:rPr lang="en-US" altLang="zh-CN" sz="1200" kern="1200" dirty="0">
                <a:solidFill>
                  <a:schemeClr val="tx1"/>
                </a:solidFill>
                <a:effectLst/>
                <a:latin typeface="+mn-lt"/>
              </a:rPr>
              <a:t>5</a:t>
            </a:r>
            <a:r>
              <a:rPr lang="zh-CN" altLang="en-US" sz="1200" kern="1200" dirty="0">
                <a:solidFill>
                  <a:schemeClr val="tx1"/>
                </a:solidFill>
                <a:effectLst/>
                <a:latin typeface="+mn-lt"/>
              </a:rPr>
              <a:t>）可知乙坐在东面，丙坐在南面，丁坐在西面；则根据（</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）可知，丁说假话；根据（</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）可知，丙说假话；根据（</a:t>
            </a:r>
            <a:r>
              <a:rPr lang="en-US" altLang="zh-CN" sz="1200" kern="1200" dirty="0">
                <a:solidFill>
                  <a:schemeClr val="tx1"/>
                </a:solidFill>
                <a:effectLst/>
                <a:latin typeface="+mn-lt"/>
              </a:rPr>
              <a:t>2</a:t>
            </a:r>
            <a:r>
              <a:rPr lang="zh-CN" altLang="en-US" sz="1200" kern="1200" dirty="0">
                <a:solidFill>
                  <a:schemeClr val="tx1"/>
                </a:solidFill>
                <a:effectLst/>
                <a:latin typeface="+mn-lt"/>
              </a:rPr>
              <a:t>）可知，乙说真话；由于</a:t>
            </a:r>
            <a:r>
              <a:rPr lang="en-US" altLang="zh-CN" sz="1200" kern="1200" dirty="0">
                <a:solidFill>
                  <a:schemeClr val="tx1"/>
                </a:solidFill>
                <a:effectLst/>
                <a:latin typeface="+mn-lt"/>
              </a:rPr>
              <a:t>4</a:t>
            </a:r>
            <a:r>
              <a:rPr lang="zh-CN" altLang="en-US" sz="1200" kern="1200" dirty="0">
                <a:solidFill>
                  <a:schemeClr val="tx1"/>
                </a:solidFill>
                <a:effectLst/>
                <a:latin typeface="+mn-lt"/>
              </a:rPr>
              <a:t>人中只有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人说真话，可知甲说假话，则东面的人应没有说谎，即乙说的是真话，与前面推出的结论相符，可以推出，当选；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B</a:t>
            </a:r>
            <a:r>
              <a:rPr lang="zh-CN" altLang="en-US" sz="1200" kern="1200" dirty="0">
                <a:solidFill>
                  <a:schemeClr val="tx1"/>
                </a:solidFill>
                <a:effectLst/>
                <a:latin typeface="+mn-lt"/>
              </a:rPr>
              <a:t>项：甲坐在东面，根据（</a:t>
            </a:r>
            <a:r>
              <a:rPr lang="en-US" altLang="zh-CN" sz="1200" kern="1200" dirty="0">
                <a:solidFill>
                  <a:schemeClr val="tx1"/>
                </a:solidFill>
                <a:effectLst/>
                <a:latin typeface="+mn-lt"/>
              </a:rPr>
              <a:t>5</a:t>
            </a:r>
            <a:r>
              <a:rPr lang="zh-CN" altLang="en-US" sz="1200" kern="1200" dirty="0">
                <a:solidFill>
                  <a:schemeClr val="tx1"/>
                </a:solidFill>
                <a:effectLst/>
                <a:latin typeface="+mn-lt"/>
              </a:rPr>
              <a:t>）可知乙坐在南面，丙坐在西面，丁坐在北面；则根据（</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）可知，丁说真话；根据（</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）可知，丙说真话，由于</a:t>
            </a:r>
            <a:r>
              <a:rPr lang="en-US" altLang="zh-CN" sz="1200" kern="1200" dirty="0">
                <a:solidFill>
                  <a:schemeClr val="tx1"/>
                </a:solidFill>
                <a:effectLst/>
                <a:latin typeface="+mn-lt"/>
              </a:rPr>
              <a:t>4</a:t>
            </a:r>
            <a:r>
              <a:rPr lang="zh-CN" altLang="en-US" sz="1200" kern="1200" dirty="0">
                <a:solidFill>
                  <a:schemeClr val="tx1"/>
                </a:solidFill>
                <a:effectLst/>
                <a:latin typeface="+mn-lt"/>
              </a:rPr>
              <a:t>人中只有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人说真话，所以与题干矛盾，无法推出，排除；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C</a:t>
            </a:r>
            <a:r>
              <a:rPr lang="zh-CN" altLang="en-US" sz="1200" kern="1200" dirty="0">
                <a:solidFill>
                  <a:schemeClr val="tx1"/>
                </a:solidFill>
                <a:effectLst/>
                <a:latin typeface="+mn-lt"/>
              </a:rPr>
              <a:t>项：乙坐在西面，根据（</a:t>
            </a:r>
            <a:r>
              <a:rPr lang="en-US" altLang="zh-CN" sz="1200" kern="1200" dirty="0">
                <a:solidFill>
                  <a:schemeClr val="tx1"/>
                </a:solidFill>
                <a:effectLst/>
                <a:latin typeface="+mn-lt"/>
              </a:rPr>
              <a:t>5</a:t>
            </a:r>
            <a:r>
              <a:rPr lang="zh-CN" altLang="en-US" sz="1200" kern="1200" dirty="0">
                <a:solidFill>
                  <a:schemeClr val="tx1"/>
                </a:solidFill>
                <a:effectLst/>
                <a:latin typeface="+mn-lt"/>
              </a:rPr>
              <a:t>）可知甲坐在南面，丙坐在北面，丁坐在东面；则根据（</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）可知，丁说假话；根据（</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）可知，丙说真话；由于</a:t>
            </a:r>
            <a:r>
              <a:rPr lang="en-US" altLang="zh-CN" sz="1200" kern="1200" dirty="0">
                <a:solidFill>
                  <a:schemeClr val="tx1"/>
                </a:solidFill>
                <a:effectLst/>
                <a:latin typeface="+mn-lt"/>
              </a:rPr>
              <a:t>4</a:t>
            </a:r>
            <a:r>
              <a:rPr lang="zh-CN" altLang="en-US" sz="1200" kern="1200" dirty="0">
                <a:solidFill>
                  <a:schemeClr val="tx1"/>
                </a:solidFill>
                <a:effectLst/>
                <a:latin typeface="+mn-lt"/>
              </a:rPr>
              <a:t>人中只有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人说真话，可知甲和乙均说假话，根据（</a:t>
            </a:r>
            <a:r>
              <a:rPr lang="en-US" altLang="zh-CN" sz="1200" kern="1200" dirty="0">
                <a:solidFill>
                  <a:schemeClr val="tx1"/>
                </a:solidFill>
                <a:effectLst/>
                <a:latin typeface="+mn-lt"/>
              </a:rPr>
              <a:t>1</a:t>
            </a:r>
            <a:r>
              <a:rPr lang="zh-CN" altLang="en-US" sz="1200" kern="1200" dirty="0">
                <a:solidFill>
                  <a:schemeClr val="tx1"/>
                </a:solidFill>
                <a:effectLst/>
                <a:latin typeface="+mn-lt"/>
              </a:rPr>
              <a:t>）可知，东面的人应没有说谎，即丁说真话，这与前面推出的</a:t>
            </a:r>
            <a:r>
              <a:rPr lang="en-US" altLang="zh-CN" sz="1200" kern="1200" dirty="0">
                <a:solidFill>
                  <a:schemeClr val="tx1"/>
                </a:solidFill>
                <a:effectLst/>
                <a:latin typeface="+mn-lt"/>
              </a:rPr>
              <a:t>“</a:t>
            </a:r>
            <a:r>
              <a:rPr lang="zh-CN" altLang="en-US" sz="1200" kern="1200" dirty="0">
                <a:solidFill>
                  <a:schemeClr val="tx1"/>
                </a:solidFill>
                <a:effectLst/>
                <a:latin typeface="+mn-lt"/>
              </a:rPr>
              <a:t>丁说假话</a:t>
            </a:r>
            <a:r>
              <a:rPr lang="en-US" altLang="zh-CN" sz="1200" kern="1200" dirty="0">
                <a:solidFill>
                  <a:schemeClr val="tx1"/>
                </a:solidFill>
                <a:effectLst/>
                <a:latin typeface="+mn-lt"/>
              </a:rPr>
              <a:t>”</a:t>
            </a:r>
            <a:r>
              <a:rPr lang="zh-CN" altLang="en-US" sz="1200" kern="1200" dirty="0">
                <a:solidFill>
                  <a:schemeClr val="tx1"/>
                </a:solidFill>
                <a:effectLst/>
                <a:latin typeface="+mn-lt"/>
              </a:rPr>
              <a:t>相矛盾，无法推出，排除；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D</a:t>
            </a:r>
            <a:r>
              <a:rPr lang="zh-CN" altLang="en-US" sz="1200" kern="1200" dirty="0">
                <a:solidFill>
                  <a:schemeClr val="tx1"/>
                </a:solidFill>
                <a:effectLst/>
                <a:latin typeface="+mn-lt"/>
              </a:rPr>
              <a:t>项：乙坐在南面，根据（</a:t>
            </a:r>
            <a:r>
              <a:rPr lang="en-US" altLang="zh-CN" sz="1200" kern="1200" dirty="0">
                <a:solidFill>
                  <a:schemeClr val="tx1"/>
                </a:solidFill>
                <a:effectLst/>
                <a:latin typeface="+mn-lt"/>
              </a:rPr>
              <a:t>5</a:t>
            </a:r>
            <a:r>
              <a:rPr lang="zh-CN" altLang="en-US" sz="1200" kern="1200" dirty="0">
                <a:solidFill>
                  <a:schemeClr val="tx1"/>
                </a:solidFill>
                <a:effectLst/>
                <a:latin typeface="+mn-lt"/>
              </a:rPr>
              <a:t>）可知甲坐在东面，丙坐在西面，丁坐在北面；此时情况与</a:t>
            </a:r>
            <a:r>
              <a:rPr lang="en-US" altLang="zh-CN" sz="1200" kern="1200" dirty="0">
                <a:solidFill>
                  <a:schemeClr val="tx1"/>
                </a:solidFill>
                <a:effectLst/>
                <a:latin typeface="+mn-lt"/>
              </a:rPr>
              <a:t>B</a:t>
            </a:r>
            <a:r>
              <a:rPr lang="zh-CN" altLang="en-US" sz="1200" kern="1200" dirty="0">
                <a:solidFill>
                  <a:schemeClr val="tx1"/>
                </a:solidFill>
                <a:effectLst/>
                <a:latin typeface="+mn-lt"/>
              </a:rPr>
              <a:t>项相同，无法推出，排除。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论点：电子企业原材料价格居高不下，将严重削弱该国电子企业在国际市场上的竞争力。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论据：随着通货膨胀的蔓延，</a:t>
            </a:r>
            <a:r>
              <a:rPr lang="en-US" altLang="zh-CN" sz="1200" kern="1200" dirty="0">
                <a:solidFill>
                  <a:schemeClr val="tx1"/>
                </a:solidFill>
                <a:effectLst/>
                <a:latin typeface="+mn-lt"/>
              </a:rPr>
              <a:t>H</a:t>
            </a:r>
            <a:r>
              <a:rPr lang="zh-CN" altLang="en-US" sz="1200" kern="1200" dirty="0">
                <a:solidFill>
                  <a:schemeClr val="tx1"/>
                </a:solidFill>
                <a:effectLst/>
                <a:latin typeface="+mn-lt"/>
              </a:rPr>
              <a:t>国电子企业主要产品的原材料价格大幅上涨。该国最大的电子企业公报显示，今年该企业智能手机应用处理器价格较上年上涨</a:t>
            </a:r>
            <a:r>
              <a:rPr lang="en-US" altLang="zh-CN" sz="1200" kern="1200" dirty="0">
                <a:solidFill>
                  <a:schemeClr val="tx1"/>
                </a:solidFill>
                <a:effectLst/>
                <a:latin typeface="+mn-lt"/>
              </a:rPr>
              <a:t>30%</a:t>
            </a:r>
            <a:r>
              <a:rPr lang="zh-CN" altLang="en-US" sz="1200" kern="1200" dirty="0">
                <a:solidFill>
                  <a:schemeClr val="tx1"/>
                </a:solidFill>
                <a:effectLst/>
                <a:latin typeface="+mn-lt"/>
              </a:rPr>
              <a:t>，用于智能手机的相机模块价格上涨</a:t>
            </a:r>
            <a:r>
              <a:rPr lang="en-US" altLang="zh-CN" sz="1200" kern="1200" dirty="0">
                <a:solidFill>
                  <a:schemeClr val="tx1"/>
                </a:solidFill>
                <a:effectLst/>
                <a:latin typeface="+mn-lt"/>
              </a:rPr>
              <a:t>11%</a:t>
            </a:r>
            <a:r>
              <a:rPr lang="zh-CN" altLang="en-US" sz="1200" kern="1200" dirty="0">
                <a:solidFill>
                  <a:schemeClr val="tx1"/>
                </a:solidFill>
                <a:effectLst/>
                <a:latin typeface="+mn-lt"/>
              </a:rPr>
              <a:t>，用于电视和显示器的面板价格上涨</a:t>
            </a:r>
            <a:r>
              <a:rPr lang="en-US" altLang="zh-CN" sz="1200" kern="1200" dirty="0">
                <a:solidFill>
                  <a:schemeClr val="tx1"/>
                </a:solidFill>
                <a:effectLst/>
                <a:latin typeface="+mn-lt"/>
              </a:rPr>
              <a:t>9%</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本题论点讨论的是</a:t>
            </a:r>
            <a:r>
              <a:rPr lang="en-US" altLang="zh-CN" sz="1200" kern="1200" dirty="0">
                <a:solidFill>
                  <a:schemeClr val="tx1"/>
                </a:solidFill>
                <a:effectLst/>
                <a:latin typeface="+mn-lt"/>
              </a:rPr>
              <a:t>H</a:t>
            </a:r>
            <a:r>
              <a:rPr lang="zh-CN" altLang="en-US" sz="1200" kern="1200" dirty="0">
                <a:solidFill>
                  <a:schemeClr val="tx1"/>
                </a:solidFill>
                <a:effectLst/>
                <a:latin typeface="+mn-lt"/>
              </a:rPr>
              <a:t>国电子企业原材料价格上涨与国际市场竞争力之间的关系，论据讨论的是</a:t>
            </a:r>
            <a:r>
              <a:rPr lang="en-US" altLang="zh-CN" sz="1200" kern="1200" dirty="0">
                <a:solidFill>
                  <a:schemeClr val="tx1"/>
                </a:solidFill>
                <a:effectLst/>
                <a:latin typeface="+mn-lt"/>
              </a:rPr>
              <a:t>H</a:t>
            </a:r>
            <a:r>
              <a:rPr lang="zh-CN" altLang="en-US" sz="1200" kern="1200" dirty="0">
                <a:solidFill>
                  <a:schemeClr val="tx1"/>
                </a:solidFill>
                <a:effectLst/>
                <a:latin typeface="+mn-lt"/>
              </a:rPr>
              <a:t>国最大的电子企业原材料价格上涨，故论点和论据的话题一致，加强优先考虑补充论据，即解释</a:t>
            </a:r>
            <a:r>
              <a:rPr lang="en-US" altLang="zh-CN" sz="1200" kern="1200" dirty="0">
                <a:solidFill>
                  <a:schemeClr val="tx1"/>
                </a:solidFill>
                <a:effectLst/>
                <a:latin typeface="+mn-lt"/>
              </a:rPr>
              <a:t>H</a:t>
            </a:r>
            <a:r>
              <a:rPr lang="zh-CN" altLang="en-US" sz="1200" kern="1200" dirty="0">
                <a:solidFill>
                  <a:schemeClr val="tx1"/>
                </a:solidFill>
                <a:effectLst/>
                <a:latin typeface="+mn-lt"/>
              </a:rPr>
              <a:t>国电子企业原材料价格上涨将削弱其在国际市场上的竞争力的原因或举例证明。</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项：该项讨论的是电子企业主要产品原材料价格大幅上涨的原因，而论点讨论的是</a:t>
            </a:r>
            <a:r>
              <a:rPr lang="en-US" altLang="zh-CN" sz="1200" kern="1200" dirty="0">
                <a:solidFill>
                  <a:schemeClr val="tx1"/>
                </a:solidFill>
                <a:effectLst/>
                <a:latin typeface="+mn-lt"/>
              </a:rPr>
              <a:t>H</a:t>
            </a:r>
            <a:r>
              <a:rPr lang="zh-CN" altLang="en-US" sz="1200" kern="1200" dirty="0">
                <a:solidFill>
                  <a:schemeClr val="tx1"/>
                </a:solidFill>
                <a:effectLst/>
                <a:latin typeface="+mn-lt"/>
              </a:rPr>
              <a:t>国电子企业原材料价格上涨与国际市场竞争力之间的关系，话题不一致，无法加强，排除；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项：该项讨论的是电子产品的全球消费需求在缩减的原因，而论点讨论的是</a:t>
            </a:r>
            <a:r>
              <a:rPr lang="en-US" altLang="zh-CN" sz="1200" kern="1200" dirty="0">
                <a:solidFill>
                  <a:schemeClr val="tx1"/>
                </a:solidFill>
                <a:effectLst/>
                <a:latin typeface="+mn-lt"/>
              </a:rPr>
              <a:t>H</a:t>
            </a:r>
            <a:r>
              <a:rPr lang="zh-CN" altLang="en-US" sz="1200" kern="1200" dirty="0">
                <a:solidFill>
                  <a:schemeClr val="tx1"/>
                </a:solidFill>
                <a:effectLst/>
                <a:latin typeface="+mn-lt"/>
              </a:rPr>
              <a:t>国电子企业原材料价格上涨与国际市场竞争力之间的关系，话题不一致，无法加强，排除；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项：该项讨论的是其他国家电子企业通过科技创新降低产品原材料价格上涨的影响，以求通过低价在国际市场中脱颖而出，说明</a:t>
            </a:r>
            <a:r>
              <a:rPr lang="en-US" altLang="zh-CN" sz="1200" kern="1200" dirty="0">
                <a:solidFill>
                  <a:schemeClr val="tx1"/>
                </a:solidFill>
                <a:effectLst/>
                <a:latin typeface="+mn-lt"/>
              </a:rPr>
              <a:t>H</a:t>
            </a:r>
            <a:r>
              <a:rPr lang="zh-CN" altLang="en-US" sz="1200" kern="1200" dirty="0">
                <a:solidFill>
                  <a:schemeClr val="tx1"/>
                </a:solidFill>
                <a:effectLst/>
                <a:latin typeface="+mn-lt"/>
              </a:rPr>
              <a:t>国的电子企业相较于其他国家的电子企业，可能因原材料价格更高，在国际市场上的竞争中处于劣势，补充论据，可以加强，当选；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项：该项讨论的是近年来</a:t>
            </a:r>
            <a:r>
              <a:rPr lang="en-US" altLang="zh-CN" sz="1200" kern="1200" dirty="0">
                <a:solidFill>
                  <a:schemeClr val="tx1"/>
                </a:solidFill>
                <a:effectLst/>
                <a:latin typeface="+mn-lt"/>
              </a:rPr>
              <a:t>H</a:t>
            </a:r>
            <a:r>
              <a:rPr lang="zh-CN" altLang="en-US" sz="1200" kern="1200" dirty="0">
                <a:solidFill>
                  <a:schemeClr val="tx1"/>
                </a:solidFill>
                <a:effectLst/>
                <a:latin typeface="+mn-lt"/>
              </a:rPr>
              <a:t>国在技术和质量上的竞争优势正在逐渐减弱，但不明确原材料价格上涨是否会进一步削弱其在国际市场上的竞争力，为不明确项，无法加强，排除。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第一步：翻译题干。</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为企业参与出口竞争提供真正的市场根基形成完备的市场体系与商业规则环境；</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形成完备的市场体系深化要素市场化配置体制机制改革；</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深化要素市场化配置体制机制改革促进要素自主有序流动</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提高要素配置效率；</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形成完备的商业规则环境推进全方位开放并建立全国统一大市场</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加强执法效率和市场司法保障；</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将</a:t>
            </a:r>
            <a:r>
              <a:rPr lang="en-US" altLang="en-US" sz="1200" kern="1200" dirty="0">
                <a:solidFill>
                  <a:schemeClr val="tx1"/>
                </a:solidFill>
                <a:effectLst/>
                <a:latin typeface="+mn-lt"/>
              </a:rPr>
              <a:t>①②③</a:t>
            </a:r>
            <a:r>
              <a:rPr lang="zh-CN" altLang="en-US" sz="1200" kern="1200" dirty="0">
                <a:solidFill>
                  <a:schemeClr val="tx1"/>
                </a:solidFill>
                <a:effectLst/>
                <a:latin typeface="+mn-lt"/>
              </a:rPr>
              <a:t>串联可得到</a:t>
            </a:r>
            <a:r>
              <a:rPr lang="en-US" altLang="en-US" sz="1200" kern="1200" dirty="0">
                <a:solidFill>
                  <a:schemeClr val="tx1"/>
                </a:solidFill>
                <a:effectLst/>
                <a:latin typeface="+mn-lt"/>
              </a:rPr>
              <a:t>⑤</a:t>
            </a:r>
            <a:r>
              <a:rPr lang="zh-CN" altLang="en-US" sz="1200" kern="1200" dirty="0">
                <a:solidFill>
                  <a:schemeClr val="tx1"/>
                </a:solidFill>
                <a:effectLst/>
                <a:latin typeface="+mn-lt"/>
              </a:rPr>
              <a:t>：为企业参与出口竞争提供真正的市场根基形成完备的市场体系深化要素市场化配置体制机制改革促进要素自主有序流动</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提高要素配置效率；</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将</a:t>
            </a:r>
            <a:r>
              <a:rPr lang="en-US" altLang="en-US" sz="1200" kern="1200" dirty="0">
                <a:solidFill>
                  <a:schemeClr val="tx1"/>
                </a:solidFill>
                <a:effectLst/>
                <a:latin typeface="+mn-lt"/>
              </a:rPr>
              <a:t>①④</a:t>
            </a:r>
            <a:r>
              <a:rPr lang="zh-CN" altLang="en-US" sz="1200" kern="1200" dirty="0">
                <a:solidFill>
                  <a:schemeClr val="tx1"/>
                </a:solidFill>
                <a:effectLst/>
                <a:latin typeface="+mn-lt"/>
              </a:rPr>
              <a:t>串联可得到</a:t>
            </a:r>
            <a:r>
              <a:rPr lang="en-US" altLang="en-US" sz="1200" kern="1200" dirty="0">
                <a:solidFill>
                  <a:schemeClr val="tx1"/>
                </a:solidFill>
                <a:effectLst/>
                <a:latin typeface="+mn-lt"/>
              </a:rPr>
              <a:t>⑥</a:t>
            </a:r>
            <a:r>
              <a:rPr lang="zh-CN" altLang="en-US" sz="1200" kern="1200" dirty="0">
                <a:solidFill>
                  <a:schemeClr val="tx1"/>
                </a:solidFill>
                <a:effectLst/>
                <a:latin typeface="+mn-lt"/>
              </a:rPr>
              <a:t>：为企业参与出口竞争提供真正的市场根基形成完备的商业规则环境推进全方位开放并建立全国统一大市场</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加强执法效率和市场司法保障。</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项：翻译为：深化要素市场化配置体制机制改革形成完备的市场体系，是对条件</a:t>
            </a:r>
            <a:r>
              <a:rPr lang="en-US" altLang="en-US" sz="1200" kern="1200" dirty="0">
                <a:solidFill>
                  <a:schemeClr val="tx1"/>
                </a:solidFill>
                <a:effectLst/>
                <a:latin typeface="+mn-lt"/>
              </a:rPr>
              <a:t>②</a:t>
            </a:r>
            <a:r>
              <a:rPr lang="zh-CN" altLang="en-US" sz="1200" kern="1200" dirty="0">
                <a:solidFill>
                  <a:schemeClr val="tx1"/>
                </a:solidFill>
                <a:effectLst/>
                <a:latin typeface="+mn-lt"/>
              </a:rPr>
              <a:t>的肯后，肯后无必然结论，无法推出，排除；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项：翻译为：加强执法效率和司法保障推进全方位开放并建立全国统一大市场，二者之间无推出关系，无法推出，排除；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项：翻译为：国内市场形成完备的商业规则环境促进要素自主有序流动</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提高要素配置效率，二者之间无法建立联系，无法推出，排除；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项：翻译为：为企业参与进出口竞争提供真正的市场根基推进全方位开放并建立全国统一大市场</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加强执法效率和司法保障，是对条件</a:t>
            </a:r>
            <a:r>
              <a:rPr lang="en-US" altLang="en-US" sz="1200" kern="1200" dirty="0">
                <a:solidFill>
                  <a:schemeClr val="tx1"/>
                </a:solidFill>
                <a:effectLst/>
                <a:latin typeface="+mn-lt"/>
              </a:rPr>
              <a:t>⑥</a:t>
            </a:r>
            <a:r>
              <a:rPr lang="zh-CN" altLang="en-US" sz="1200" kern="1200" dirty="0">
                <a:solidFill>
                  <a:schemeClr val="tx1"/>
                </a:solidFill>
                <a:effectLst/>
                <a:latin typeface="+mn-lt"/>
              </a:rPr>
              <a:t>的肯前，根据</a:t>
            </a:r>
            <a:r>
              <a:rPr lang="en-US" altLang="zh-CN" sz="1200" kern="1200" dirty="0">
                <a:solidFill>
                  <a:schemeClr val="tx1"/>
                </a:solidFill>
                <a:effectLst/>
                <a:latin typeface="+mn-lt"/>
              </a:rPr>
              <a:t>“</a:t>
            </a:r>
            <a:r>
              <a:rPr lang="zh-CN" altLang="en-US" sz="1200" kern="1200" dirty="0">
                <a:solidFill>
                  <a:schemeClr val="tx1"/>
                </a:solidFill>
                <a:effectLst/>
                <a:latin typeface="+mn-lt"/>
              </a:rPr>
              <a:t>肯前必肯后</a:t>
            </a:r>
            <a:r>
              <a:rPr lang="en-US" altLang="zh-CN" sz="1200" kern="1200" dirty="0">
                <a:solidFill>
                  <a:schemeClr val="tx1"/>
                </a:solidFill>
                <a:effectLst/>
                <a:latin typeface="+mn-lt"/>
              </a:rPr>
              <a:t>”</a:t>
            </a:r>
            <a:r>
              <a:rPr lang="zh-CN" altLang="en-US" sz="1200" kern="1200" dirty="0">
                <a:solidFill>
                  <a:schemeClr val="tx1"/>
                </a:solidFill>
                <a:effectLst/>
                <a:latin typeface="+mn-lt"/>
              </a:rPr>
              <a:t>，可以推出，当选。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第一步：找出论点和论据。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论点：文蛤合成红霉素的能力应当源于文蛤体内的微生物，正是这些微生物帮助文蛤合成了红霉素。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论据：红霉素主要由微生物合成，此前从未在动物体内发现。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本题论点讨论的是文蛤合成红霉素的能力来源于其体内的微生物，论据讨论的是红霉素主要由微生物合成，且此前从未在动物体内发现，二者话题一致，削弱可以考虑削弱论点。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第二步：逐一分析选项。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项：选项指出文蛤具有红霉素合成基因，即文蛤自身具有合成红霉素的能力，说明其合成红霉素的能力不是来源于体内的微生物，削弱论点，可以削弱，当选；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项：选项指出文蛤贝壳的外套膜可以</a:t>
            </a:r>
            <a:r>
              <a:rPr lang="en-US" altLang="zh-CN" sz="1200" kern="1200" dirty="0">
                <a:solidFill>
                  <a:schemeClr val="tx1"/>
                </a:solidFill>
                <a:effectLst/>
                <a:latin typeface="+mn-lt"/>
              </a:rPr>
              <a:t>“</a:t>
            </a:r>
            <a:r>
              <a:rPr lang="zh-CN" altLang="en-US" sz="1200" kern="1200" dirty="0">
                <a:solidFill>
                  <a:schemeClr val="tx1"/>
                </a:solidFill>
                <a:effectLst/>
                <a:latin typeface="+mn-lt"/>
              </a:rPr>
              <a:t>存储</a:t>
            </a:r>
            <a:r>
              <a:rPr lang="en-US" altLang="zh-CN" sz="1200" kern="1200" dirty="0">
                <a:solidFill>
                  <a:schemeClr val="tx1"/>
                </a:solidFill>
                <a:effectLst/>
                <a:latin typeface="+mn-lt"/>
              </a:rPr>
              <a:t>”</a:t>
            </a:r>
            <a:r>
              <a:rPr lang="zh-CN" altLang="en-US" sz="1200" kern="1200" dirty="0">
                <a:solidFill>
                  <a:schemeClr val="tx1"/>
                </a:solidFill>
                <a:effectLst/>
                <a:latin typeface="+mn-lt"/>
              </a:rPr>
              <a:t>红霉素，而论点讨论的是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合成</a:t>
            </a:r>
            <a:r>
              <a:rPr lang="en-US" altLang="zh-CN" sz="1200" kern="1200" dirty="0">
                <a:solidFill>
                  <a:schemeClr val="tx1"/>
                </a:solidFill>
                <a:effectLst/>
                <a:latin typeface="+mn-lt"/>
              </a:rPr>
              <a:t>”</a:t>
            </a:r>
            <a:r>
              <a:rPr lang="zh-CN" altLang="en-US" sz="1200" kern="1200" dirty="0">
                <a:solidFill>
                  <a:schemeClr val="tx1"/>
                </a:solidFill>
                <a:effectLst/>
                <a:latin typeface="+mn-lt"/>
              </a:rPr>
              <a:t>红霉素能力的来源，二者话题不一致，无关选项，无法削弱，排除；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选项指出文蛤体内没有发现糖多孢红霉素菌，但红霉素只是最早从糖多孢红霉素菌的分泌物中发现，并不是只有这种微生物能合成红霉素，因此不明确文蛤合成红霉素的能力是否来源于其它微生物，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项：选项指出在其他贝类体内发现了类似红霉素的抗生素，但论点讨论的是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文蛤</a:t>
            </a:r>
            <a:r>
              <a:rPr lang="en-US" altLang="zh-CN" sz="1200" kern="1200" dirty="0">
                <a:solidFill>
                  <a:schemeClr val="tx1"/>
                </a:solidFill>
                <a:effectLst/>
                <a:latin typeface="+mn-lt"/>
              </a:rPr>
              <a:t>”</a:t>
            </a:r>
            <a:r>
              <a:rPr lang="zh-CN" altLang="en-US" sz="1200" kern="1200" dirty="0">
                <a:solidFill>
                  <a:schemeClr val="tx1"/>
                </a:solidFill>
                <a:effectLst/>
                <a:latin typeface="+mn-lt"/>
              </a:rPr>
              <a:t>，二者讨论的主体不一致，无关选项，无法削弱，排除。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第一步：分析题干条件。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）戊、己、庚至少有</a:t>
            </a:r>
            <a:r>
              <a:rPr lang="en-US" altLang="zh-CN" sz="1200" kern="1200" dirty="0">
                <a:solidFill>
                  <a:schemeClr val="tx1"/>
                </a:solidFill>
                <a:effectLst/>
                <a:latin typeface="+mn-lt"/>
              </a:rPr>
              <a:t>2</a:t>
            </a:r>
            <a:r>
              <a:rPr lang="zh-CN" altLang="en-US" sz="1200" kern="1200" dirty="0">
                <a:solidFill>
                  <a:schemeClr val="tx1"/>
                </a:solidFill>
                <a:effectLst/>
                <a:latin typeface="+mn-lt"/>
              </a:rPr>
              <a:t>人获奖；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）甲、丙、戊至少有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人获奖丁获奖</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己获奖；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）乙、戊、己至少有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人获奖丁获奖</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丙获奖。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第二步：根据题干条件进行推理。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戊、己</a:t>
            </a:r>
            <a:r>
              <a:rPr lang="en-US" altLang="zh-CN" sz="1200" kern="1200" dirty="0">
                <a:solidFill>
                  <a:schemeClr val="tx1"/>
                </a:solidFill>
                <a:effectLst/>
                <a:latin typeface="+mn-lt"/>
              </a:rPr>
              <a:t>”</a:t>
            </a:r>
            <a:r>
              <a:rPr lang="zh-CN" altLang="en-US" sz="1200" kern="1200" dirty="0">
                <a:solidFill>
                  <a:schemeClr val="tx1"/>
                </a:solidFill>
                <a:effectLst/>
                <a:latin typeface="+mn-lt"/>
              </a:rPr>
              <a:t>提及次数最多，可优先从此处入手进行推理。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戊、己、庚至少有</a:t>
            </a:r>
            <a:r>
              <a:rPr lang="en-US" altLang="zh-CN" sz="1200" kern="1200" dirty="0">
                <a:solidFill>
                  <a:schemeClr val="tx1"/>
                </a:solidFill>
                <a:effectLst/>
                <a:latin typeface="+mn-lt"/>
              </a:rPr>
              <a:t>2</a:t>
            </a:r>
            <a:r>
              <a:rPr lang="zh-CN" altLang="en-US" sz="1200" kern="1200" dirty="0">
                <a:solidFill>
                  <a:schemeClr val="tx1"/>
                </a:solidFill>
                <a:effectLst/>
                <a:latin typeface="+mn-lt"/>
              </a:rPr>
              <a:t>人获奖</a:t>
            </a:r>
            <a:r>
              <a:rPr lang="en-US" altLang="zh-CN" sz="1200" kern="1200" dirty="0">
                <a:solidFill>
                  <a:schemeClr val="tx1"/>
                </a:solidFill>
                <a:effectLst/>
                <a:latin typeface="+mn-lt"/>
              </a:rPr>
              <a:t>”</a:t>
            </a:r>
            <a:r>
              <a:rPr lang="zh-CN" altLang="en-US" sz="1200" kern="1200" dirty="0">
                <a:solidFill>
                  <a:schemeClr val="tx1"/>
                </a:solidFill>
                <a:effectLst/>
                <a:latin typeface="+mn-lt"/>
              </a:rPr>
              <a:t>可知，戊、己至少有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人获奖，因此乙、戊、己也至少有</a:t>
            </a:r>
            <a:r>
              <a:rPr lang="en-US" altLang="zh-CN" sz="1200" kern="1200" dirty="0">
                <a:solidFill>
                  <a:schemeClr val="tx1"/>
                </a:solidFill>
                <a:effectLst/>
                <a:latin typeface="+mn-lt"/>
              </a:rPr>
              <a:t>1</a:t>
            </a:r>
            <a:r>
              <a:rPr lang="zh-CN" altLang="en-US" sz="1200" kern="1200" dirty="0">
                <a:solidFill>
                  <a:schemeClr val="tx1"/>
                </a:solidFill>
                <a:effectLst/>
                <a:latin typeface="+mn-lt"/>
              </a:rPr>
              <a:t>人获奖，这是对条件（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）的肯前，根据</a:t>
            </a:r>
            <a:r>
              <a:rPr lang="en-US" altLang="zh-CN" sz="1200" kern="1200" dirty="0">
                <a:solidFill>
                  <a:schemeClr val="tx1"/>
                </a:solidFill>
                <a:effectLst/>
                <a:latin typeface="+mn-lt"/>
              </a:rPr>
              <a:t>“</a:t>
            </a:r>
            <a:r>
              <a:rPr lang="zh-CN" altLang="en-US" sz="1200" kern="1200" dirty="0">
                <a:solidFill>
                  <a:schemeClr val="tx1"/>
                </a:solidFill>
                <a:effectLst/>
                <a:latin typeface="+mn-lt"/>
              </a:rPr>
              <a:t>肯前必肯后</a:t>
            </a:r>
            <a:r>
              <a:rPr lang="en-US" altLang="zh-CN" sz="1200" kern="1200" dirty="0">
                <a:solidFill>
                  <a:schemeClr val="tx1"/>
                </a:solidFill>
                <a:effectLst/>
                <a:latin typeface="+mn-lt"/>
              </a:rPr>
              <a:t>”</a:t>
            </a:r>
            <a:r>
              <a:rPr lang="zh-CN" altLang="en-US" sz="1200" kern="1200" dirty="0">
                <a:solidFill>
                  <a:schemeClr val="tx1"/>
                </a:solidFill>
                <a:effectLst/>
                <a:latin typeface="+mn-lt"/>
              </a:rPr>
              <a:t>可知，丁获奖而丙不获奖，因此一定获奖的是丁，对应</a:t>
            </a:r>
            <a:r>
              <a:rPr lang="en-US" altLang="zh-CN" sz="1200" kern="1200" dirty="0">
                <a:solidFill>
                  <a:schemeClr val="tx1"/>
                </a:solidFill>
                <a:effectLst/>
                <a:latin typeface="+mn-lt"/>
              </a:rPr>
              <a:t>D</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解析：本题属于位置类，主要考查平移。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小短线在外圈依次逆时针平移</a:t>
            </a:r>
            <a:r>
              <a:rPr lang="en-US" altLang="zh-CN" sz="1200" kern="1200" dirty="0">
                <a:solidFill>
                  <a:schemeClr val="tx1"/>
                </a:solidFill>
                <a:effectLst/>
                <a:latin typeface="+mn-lt"/>
              </a:rPr>
              <a:t>1</a:t>
            </a:r>
            <a:r>
              <a:rPr lang="zh-CN" altLang="en-US" sz="1200" kern="1200" dirty="0">
                <a:solidFill>
                  <a:schemeClr val="tx1"/>
                </a:solidFill>
                <a:effectLst/>
                <a:latin typeface="+mn-lt"/>
              </a:rPr>
              <a:t>格，折线的拐点在内圈依次顺时针平移</a:t>
            </a:r>
            <a:r>
              <a:rPr lang="en-US" altLang="zh-CN" sz="1200" kern="1200" dirty="0">
                <a:solidFill>
                  <a:schemeClr val="tx1"/>
                </a:solidFill>
                <a:effectLst/>
                <a:latin typeface="+mn-lt"/>
              </a:rPr>
              <a:t>1</a:t>
            </a:r>
            <a:r>
              <a:rPr lang="zh-CN" altLang="en-US" sz="1200" kern="1200" dirty="0">
                <a:solidFill>
                  <a:schemeClr val="tx1"/>
                </a:solidFill>
                <a:effectLst/>
                <a:latin typeface="+mn-lt"/>
              </a:rPr>
              <a:t>格，折线整体依次顺时针旋转了</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三项均能由题干多面体拼接而成。</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解法一：本题属于重构类，主要考查六面体。</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项中，两个</a:t>
            </a:r>
            <a:r>
              <a:rPr lang="en-US" altLang="zh-CN" sz="1200" kern="1200" dirty="0">
                <a:solidFill>
                  <a:schemeClr val="tx1"/>
                </a:solidFill>
                <a:effectLst/>
                <a:latin typeface="+mn-lt"/>
              </a:rPr>
              <a:t>“C”</a:t>
            </a:r>
            <a:r>
              <a:rPr lang="zh-CN" altLang="en-US" sz="1200" kern="1200" dirty="0">
                <a:solidFill>
                  <a:schemeClr val="tx1"/>
                </a:solidFill>
                <a:effectLst/>
                <a:latin typeface="+mn-lt"/>
              </a:rPr>
              <a:t>的开口方向一致，但</a:t>
            </a:r>
            <a:r>
              <a:rPr lang="en-US" altLang="zh-CN" sz="1200" kern="1200" dirty="0">
                <a:solidFill>
                  <a:schemeClr val="tx1"/>
                </a:solidFill>
                <a:effectLst/>
                <a:latin typeface="+mn-lt"/>
              </a:rPr>
              <a:t>D</a:t>
            </a:r>
            <a:r>
              <a:rPr lang="zh-CN" altLang="en-US" sz="1200" kern="1200" dirty="0">
                <a:solidFill>
                  <a:schemeClr val="tx1"/>
                </a:solidFill>
                <a:effectLst/>
                <a:latin typeface="+mn-lt"/>
              </a:rPr>
              <a:t>项中，两个</a:t>
            </a:r>
            <a:r>
              <a:rPr lang="en-US" altLang="zh-CN" sz="1200" kern="1200" dirty="0">
                <a:solidFill>
                  <a:schemeClr val="tx1"/>
                </a:solidFill>
                <a:effectLst/>
                <a:latin typeface="+mn-lt"/>
              </a:rPr>
              <a:t>“C”</a:t>
            </a:r>
            <a:r>
              <a:rPr lang="zh-CN" altLang="en-US" sz="1200" kern="1200" dirty="0">
                <a:solidFill>
                  <a:schemeClr val="tx1"/>
                </a:solidFill>
                <a:effectLst/>
                <a:latin typeface="+mn-lt"/>
              </a:rPr>
              <a:t>的开口方向不一致，因此</a:t>
            </a:r>
            <a:r>
              <a:rPr lang="en-US" altLang="zh-CN" sz="1200" kern="1200" dirty="0">
                <a:solidFill>
                  <a:schemeClr val="tx1"/>
                </a:solidFill>
                <a:effectLst/>
                <a:latin typeface="+mn-lt"/>
              </a:rPr>
              <a:t>D</a:t>
            </a:r>
            <a:r>
              <a:rPr lang="zh-CN" altLang="en-US" sz="1200" kern="1200" dirty="0">
                <a:solidFill>
                  <a:schemeClr val="tx1"/>
                </a:solidFill>
                <a:effectLst/>
                <a:latin typeface="+mn-lt"/>
              </a:rPr>
              <a:t>项折成的纸盒与其他三个不同。</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解法二：本题属于重构类，主要考查六面体。</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项中，</a:t>
            </a:r>
            <a:r>
              <a:rPr lang="en-US" altLang="zh-CN" sz="1200" kern="1200" dirty="0">
                <a:solidFill>
                  <a:schemeClr val="tx1"/>
                </a:solidFill>
                <a:effectLst/>
                <a:latin typeface="+mn-lt"/>
              </a:rPr>
              <a:t>“A”</a:t>
            </a:r>
            <a:r>
              <a:rPr lang="zh-CN" altLang="en-US" sz="1200" kern="1200" dirty="0">
                <a:solidFill>
                  <a:schemeClr val="tx1"/>
                </a:solidFill>
                <a:effectLst/>
                <a:latin typeface="+mn-lt"/>
              </a:rPr>
              <a:t>的左右分别与</a:t>
            </a:r>
            <a:r>
              <a:rPr lang="en-US" altLang="zh-CN" sz="1200" kern="1200" dirty="0">
                <a:solidFill>
                  <a:schemeClr val="tx1"/>
                </a:solidFill>
                <a:effectLst/>
                <a:latin typeface="+mn-lt"/>
              </a:rPr>
              <a:t>“C”</a:t>
            </a:r>
            <a:r>
              <a:rPr lang="zh-CN" altLang="en-US" sz="1200" kern="1200" dirty="0">
                <a:solidFill>
                  <a:schemeClr val="tx1"/>
                </a:solidFill>
                <a:effectLst/>
                <a:latin typeface="+mn-lt"/>
              </a:rPr>
              <a:t>的开口和后背相邻，但</a:t>
            </a:r>
            <a:r>
              <a:rPr lang="en-US" altLang="zh-CN" sz="1200" kern="1200" dirty="0">
                <a:solidFill>
                  <a:schemeClr val="tx1"/>
                </a:solidFill>
                <a:effectLst/>
                <a:latin typeface="+mn-lt"/>
              </a:rPr>
              <a:t>D</a:t>
            </a:r>
            <a:r>
              <a:rPr lang="zh-CN" altLang="en-US" sz="1200" kern="1200" dirty="0">
                <a:solidFill>
                  <a:schemeClr val="tx1"/>
                </a:solidFill>
                <a:effectLst/>
                <a:latin typeface="+mn-lt"/>
              </a:rPr>
              <a:t>项中，一个</a:t>
            </a:r>
            <a:r>
              <a:rPr lang="en-US" altLang="zh-CN" sz="1200" kern="1200" dirty="0">
                <a:solidFill>
                  <a:schemeClr val="tx1"/>
                </a:solidFill>
                <a:effectLst/>
                <a:latin typeface="+mn-lt"/>
              </a:rPr>
              <a:t>“A”</a:t>
            </a:r>
            <a:r>
              <a:rPr lang="zh-CN" altLang="en-US" sz="1200" kern="1200" dirty="0">
                <a:solidFill>
                  <a:schemeClr val="tx1"/>
                </a:solidFill>
                <a:effectLst/>
                <a:latin typeface="+mn-lt"/>
              </a:rPr>
              <a:t>的左右均与</a:t>
            </a:r>
            <a:r>
              <a:rPr lang="en-US" altLang="zh-CN" sz="1200" kern="1200" dirty="0">
                <a:solidFill>
                  <a:schemeClr val="tx1"/>
                </a:solidFill>
                <a:effectLst/>
                <a:latin typeface="+mn-lt"/>
              </a:rPr>
              <a:t>“C”</a:t>
            </a:r>
            <a:r>
              <a:rPr lang="zh-CN" altLang="en-US" sz="1200" kern="1200" dirty="0">
                <a:solidFill>
                  <a:schemeClr val="tx1"/>
                </a:solidFill>
                <a:effectLst/>
                <a:latin typeface="+mn-lt"/>
              </a:rPr>
              <a:t>的后背相邻，另一个</a:t>
            </a:r>
            <a:r>
              <a:rPr lang="en-US" altLang="zh-CN" sz="1200" kern="1200" dirty="0">
                <a:solidFill>
                  <a:schemeClr val="tx1"/>
                </a:solidFill>
                <a:effectLst/>
                <a:latin typeface="+mn-lt"/>
              </a:rPr>
              <a:t>“A”</a:t>
            </a:r>
            <a:r>
              <a:rPr lang="zh-CN" altLang="en-US" sz="1200" kern="1200" dirty="0">
                <a:solidFill>
                  <a:schemeClr val="tx1"/>
                </a:solidFill>
                <a:effectLst/>
                <a:latin typeface="+mn-lt"/>
              </a:rPr>
              <a:t>的左右均与</a:t>
            </a:r>
            <a:r>
              <a:rPr lang="en-US" altLang="zh-CN" sz="1200" kern="1200" dirty="0">
                <a:solidFill>
                  <a:schemeClr val="tx1"/>
                </a:solidFill>
                <a:effectLst/>
                <a:latin typeface="+mn-lt"/>
              </a:rPr>
              <a:t>“C”</a:t>
            </a:r>
            <a:r>
              <a:rPr lang="zh-CN" altLang="en-US" sz="1200" kern="1200" dirty="0">
                <a:solidFill>
                  <a:schemeClr val="tx1"/>
                </a:solidFill>
                <a:effectLst/>
                <a:latin typeface="+mn-lt"/>
              </a:rPr>
              <a:t>的开口相邻，因此</a:t>
            </a:r>
            <a:r>
              <a:rPr lang="en-US" altLang="zh-CN" sz="1200" kern="1200" dirty="0">
                <a:solidFill>
                  <a:schemeClr val="tx1"/>
                </a:solidFill>
                <a:effectLst/>
                <a:latin typeface="+mn-lt"/>
              </a:rPr>
              <a:t>D</a:t>
            </a:r>
            <a:r>
              <a:rPr lang="zh-CN" altLang="en-US" sz="1200" kern="1200" dirty="0">
                <a:solidFill>
                  <a:schemeClr val="tx1"/>
                </a:solidFill>
                <a:effectLst/>
                <a:latin typeface="+mn-lt"/>
              </a:rPr>
              <a:t>项折成的纸盒与其他三个不同。</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天子或诸侯的都城</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具有重要政治地位的大城邑</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鄙：</a:t>
            </a:r>
            <a:r>
              <a:rPr lang="en-US" altLang="zh-CN" sz="1200" kern="1200" dirty="0">
                <a:solidFill>
                  <a:schemeClr val="tx1"/>
                </a:solidFill>
                <a:effectLst/>
                <a:latin typeface="+mn-lt"/>
              </a:rPr>
              <a:t>“</a:t>
            </a:r>
            <a:r>
              <a:rPr lang="zh-CN" altLang="en-US" sz="1200" kern="1200" dirty="0">
                <a:solidFill>
                  <a:schemeClr val="tx1"/>
                </a:solidFill>
                <a:effectLst/>
                <a:latin typeface="+mn-lt"/>
              </a:rPr>
              <a:t>边远的小城</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城镇</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图示中，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表示：</a:t>
            </a:r>
            <a:r>
              <a:rPr lang="en-US" altLang="zh-CN" sz="1200" kern="1200" dirty="0">
                <a:solidFill>
                  <a:schemeClr val="tx1"/>
                </a:solidFill>
                <a:effectLst/>
                <a:latin typeface="+mn-lt"/>
              </a:rPr>
              <a:t>P</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Q</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表示：</a:t>
            </a:r>
            <a:r>
              <a:rPr lang="en-US" altLang="zh-CN" sz="1200" kern="1200" dirty="0">
                <a:solidFill>
                  <a:schemeClr val="tx1"/>
                </a:solidFill>
                <a:effectLst/>
                <a:latin typeface="+mn-lt"/>
              </a:rPr>
              <a:t>Q</a:t>
            </a:r>
            <a:r>
              <a:rPr lang="zh-CN" altLang="en-US" sz="1200" kern="1200" dirty="0">
                <a:solidFill>
                  <a:schemeClr val="tx1"/>
                </a:solidFill>
                <a:effectLst/>
                <a:latin typeface="+mn-lt"/>
              </a:rPr>
              <a:t>和</a:t>
            </a:r>
            <a:r>
              <a:rPr lang="en-US" altLang="zh-CN" sz="1200" kern="1200" dirty="0">
                <a:solidFill>
                  <a:schemeClr val="tx1"/>
                </a:solidFill>
                <a:effectLst/>
                <a:latin typeface="+mn-lt"/>
              </a:rPr>
              <a:t>P</a:t>
            </a:r>
            <a:r>
              <a:rPr lang="zh-CN" altLang="en-US" sz="1200" kern="1200" dirty="0">
                <a:solidFill>
                  <a:schemeClr val="tx1"/>
                </a:solidFill>
                <a:effectLst/>
                <a:latin typeface="+mn-lt"/>
              </a:rPr>
              <a:t>是并列关系。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指具有重要政治地位的大城邑，</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指城镇，</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，而图片表示为</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，图示关系错误，排除；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指天子或诸侯的都城，</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指具有重要政治地位的大城邑，有些</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，有些</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，有些</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，有些</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是交叉关系，而图片表示为</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a:t>
            </a:r>
            <a:r>
              <a:rPr lang="zh-CN" altLang="en-US" sz="1200" kern="1200" dirty="0">
                <a:solidFill>
                  <a:schemeClr val="tx1"/>
                </a:solidFill>
                <a:effectLst/>
                <a:latin typeface="+mn-lt"/>
              </a:rPr>
              <a:t>国</a:t>
            </a:r>
            <a:r>
              <a:rPr lang="en-US" altLang="zh-CN" sz="1200" kern="1200" dirty="0">
                <a:solidFill>
                  <a:schemeClr val="tx1"/>
                </a:solidFill>
                <a:effectLst/>
                <a:latin typeface="+mn-lt"/>
              </a:rPr>
              <a:t>”</a:t>
            </a:r>
            <a:r>
              <a:rPr lang="zh-CN" altLang="en-US" sz="1200" kern="1200" dirty="0">
                <a:solidFill>
                  <a:schemeClr val="tx1"/>
                </a:solidFill>
                <a:effectLst/>
                <a:latin typeface="+mn-lt"/>
              </a:rPr>
              <a:t>，图示关系错误，排除；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指具有重要政治地位的大城邑，</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指城镇，</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，而图片表示为</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是并列关系，图示关系错误，排除；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指具有重要政治地位的大城邑，</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指城镇，</a:t>
            </a:r>
            <a:r>
              <a:rPr lang="en-US" altLang="zh-CN" sz="1200" kern="1200" dirty="0">
                <a:solidFill>
                  <a:schemeClr val="tx1"/>
                </a:solidFill>
                <a:effectLst/>
                <a:latin typeface="+mn-lt"/>
              </a:rPr>
              <a:t>“</a:t>
            </a:r>
            <a:r>
              <a:rPr lang="zh-CN" altLang="en-US" sz="1200" kern="1200" dirty="0">
                <a:solidFill>
                  <a:schemeClr val="tx1"/>
                </a:solidFill>
                <a:effectLst/>
                <a:latin typeface="+mn-lt"/>
              </a:rPr>
              <a:t>鄙</a:t>
            </a:r>
            <a:r>
              <a:rPr lang="en-US" altLang="zh-CN" sz="1200" kern="1200" dirty="0">
                <a:solidFill>
                  <a:schemeClr val="tx1"/>
                </a:solidFill>
                <a:effectLst/>
                <a:latin typeface="+mn-lt"/>
              </a:rPr>
              <a:t>”</a:t>
            </a:r>
            <a:r>
              <a:rPr lang="zh-CN" altLang="en-US" sz="1200" kern="1200" dirty="0">
                <a:solidFill>
                  <a:schemeClr val="tx1"/>
                </a:solidFill>
                <a:effectLst/>
                <a:latin typeface="+mn-lt"/>
              </a:rPr>
              <a:t>指边远的小城，</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鄙</a:t>
            </a:r>
            <a:r>
              <a:rPr lang="en-US" altLang="zh-CN" sz="1200" kern="1200" dirty="0">
                <a:solidFill>
                  <a:schemeClr val="tx1"/>
                </a:solidFill>
                <a:effectLst/>
                <a:latin typeface="+mn-lt"/>
              </a:rPr>
              <a:t>”</a:t>
            </a:r>
            <a:r>
              <a:rPr lang="zh-CN" altLang="en-US" sz="1200" kern="1200" dirty="0">
                <a:solidFill>
                  <a:schemeClr val="tx1"/>
                </a:solidFill>
                <a:effectLst/>
                <a:latin typeface="+mn-lt"/>
              </a:rPr>
              <a:t>包含于</a:t>
            </a:r>
            <a:r>
              <a:rPr lang="en-US" altLang="zh-CN" sz="1200" kern="1200" dirty="0">
                <a:solidFill>
                  <a:schemeClr val="tx1"/>
                </a:solidFill>
                <a:effectLst/>
                <a:latin typeface="+mn-lt"/>
              </a:rPr>
              <a:t>“</a:t>
            </a:r>
            <a:r>
              <a:rPr lang="zh-CN" altLang="en-US" sz="1200" kern="1200" dirty="0">
                <a:solidFill>
                  <a:schemeClr val="tx1"/>
                </a:solidFill>
                <a:effectLst/>
                <a:latin typeface="+mn-lt"/>
              </a:rPr>
              <a:t>邑</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都</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鄙</a:t>
            </a:r>
            <a:r>
              <a:rPr lang="en-US" altLang="zh-CN" sz="1200" kern="1200" dirty="0">
                <a:solidFill>
                  <a:schemeClr val="tx1"/>
                </a:solidFill>
                <a:effectLst/>
                <a:latin typeface="+mn-lt"/>
              </a:rPr>
              <a:t>”</a:t>
            </a:r>
            <a:r>
              <a:rPr lang="zh-CN" altLang="en-US" sz="1200" kern="1200" dirty="0">
                <a:solidFill>
                  <a:schemeClr val="tx1"/>
                </a:solidFill>
                <a:effectLst/>
                <a:latin typeface="+mn-lt"/>
              </a:rPr>
              <a:t>是并列关系，图示关系正确，当选。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研究细胞的化学成分及其在细胞活动中的变化和定位</a:t>
            </a:r>
            <a:r>
              <a:rPr lang="en-US" altLang="zh-CN" sz="1200" kern="1200" dirty="0">
                <a:solidFill>
                  <a:schemeClr val="tx1"/>
                </a:solidFill>
                <a:effectLst/>
                <a:latin typeface="+mn-lt"/>
              </a:rPr>
              <a:t>”“</a:t>
            </a:r>
            <a:r>
              <a:rPr lang="zh-CN" altLang="en-US" sz="1200" kern="1200" dirty="0">
                <a:solidFill>
                  <a:schemeClr val="tx1"/>
                </a:solidFill>
                <a:effectLst/>
                <a:latin typeface="+mn-lt"/>
              </a:rPr>
              <a:t>在不破坏细胞形态结构的状况下</a:t>
            </a:r>
            <a:r>
              <a:rPr lang="en-US" altLang="zh-CN" sz="1200" kern="1200" dirty="0">
                <a:solidFill>
                  <a:schemeClr val="tx1"/>
                </a:solidFill>
                <a:effectLst/>
                <a:latin typeface="+mn-lt"/>
              </a:rPr>
              <a:t>”“</a:t>
            </a:r>
            <a:r>
              <a:rPr lang="zh-CN" altLang="en-US" sz="1200" kern="1200" dirty="0">
                <a:solidFill>
                  <a:schemeClr val="tx1"/>
                </a:solidFill>
                <a:effectLst/>
                <a:latin typeface="+mn-lt"/>
              </a:rPr>
              <a:t>对细胞的各种组分做定量分析</a:t>
            </a:r>
            <a:r>
              <a:rPr lang="en-US" altLang="zh-CN" sz="1200" kern="1200" dirty="0">
                <a:solidFill>
                  <a:schemeClr val="tx1"/>
                </a:solidFill>
                <a:effectLst/>
                <a:latin typeface="+mn-lt"/>
              </a:rPr>
              <a:t>”“</a:t>
            </a:r>
            <a:r>
              <a:rPr lang="zh-CN" altLang="en-US" sz="1200" kern="1200" dirty="0">
                <a:solidFill>
                  <a:schemeClr val="tx1"/>
                </a:solidFill>
                <a:effectLst/>
                <a:latin typeface="+mn-lt"/>
              </a:rPr>
              <a:t>了解细胞代谢过程中各种细胞组分的作用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项：观察玉米根系细胞摄取营养的能力及受环境影响产生的活动，不涉及细胞的化学成分，也没有对细胞的各种组分做定量分析，不符合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研究细胞的化学成分及其在细胞活动中的变化和定位</a:t>
            </a:r>
            <a:r>
              <a:rPr lang="en-US" altLang="zh-CN" sz="1200" kern="1200" dirty="0">
                <a:solidFill>
                  <a:schemeClr val="tx1"/>
                </a:solidFill>
                <a:effectLst/>
                <a:latin typeface="+mn-lt"/>
              </a:rPr>
              <a:t>”“</a:t>
            </a:r>
            <a:r>
              <a:rPr lang="zh-CN" altLang="en-US" sz="1200" kern="1200" dirty="0">
                <a:solidFill>
                  <a:schemeClr val="tx1"/>
                </a:solidFill>
                <a:effectLst/>
                <a:latin typeface="+mn-lt"/>
              </a:rPr>
              <a:t>对细胞的各种组分做定量分析</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项：分析哺乳动物细胞内核酸、蛋白质的含量，是对细胞内化学成分</a:t>
            </a:r>
            <a:r>
              <a:rPr lang="en-US" altLang="zh-CN" sz="1200" kern="1200" dirty="0">
                <a:solidFill>
                  <a:schemeClr val="tx1"/>
                </a:solidFill>
                <a:effectLst/>
                <a:latin typeface="+mn-lt"/>
              </a:rPr>
              <a:t>“</a:t>
            </a:r>
            <a:r>
              <a:rPr lang="zh-CN" altLang="en-US" sz="1200" kern="1200" dirty="0">
                <a:solidFill>
                  <a:schemeClr val="tx1"/>
                </a:solidFill>
                <a:effectLst/>
                <a:latin typeface="+mn-lt"/>
              </a:rPr>
              <a:t>核酸</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蛋白质</a:t>
            </a:r>
            <a:r>
              <a:rPr lang="en-US" altLang="zh-CN" sz="1200" kern="1200" dirty="0">
                <a:solidFill>
                  <a:schemeClr val="tx1"/>
                </a:solidFill>
                <a:effectLst/>
                <a:latin typeface="+mn-lt"/>
              </a:rPr>
              <a:t>”</a:t>
            </a:r>
            <a:r>
              <a:rPr lang="zh-CN" altLang="en-US" sz="1200" kern="1200" dirty="0">
                <a:solidFill>
                  <a:schemeClr val="tx1"/>
                </a:solidFill>
                <a:effectLst/>
                <a:latin typeface="+mn-lt"/>
              </a:rPr>
              <a:t>做定量分析，符合</a:t>
            </a:r>
            <a:r>
              <a:rPr lang="en-US" altLang="zh-CN" sz="1200" kern="1200" dirty="0">
                <a:solidFill>
                  <a:schemeClr val="tx1"/>
                </a:solidFill>
                <a:effectLst/>
                <a:latin typeface="+mn-lt"/>
              </a:rPr>
              <a:t>“</a:t>
            </a:r>
            <a:r>
              <a:rPr lang="zh-CN" altLang="en-US" sz="1200" kern="1200" dirty="0">
                <a:solidFill>
                  <a:schemeClr val="tx1"/>
                </a:solidFill>
                <a:effectLst/>
                <a:latin typeface="+mn-lt"/>
              </a:rPr>
              <a:t>研究细胞的化学成分及其在细胞活动中的变化和定位</a:t>
            </a:r>
            <a:r>
              <a:rPr lang="en-US" altLang="zh-CN" sz="1200" kern="1200" dirty="0">
                <a:solidFill>
                  <a:schemeClr val="tx1"/>
                </a:solidFill>
                <a:effectLst/>
                <a:latin typeface="+mn-lt"/>
              </a:rPr>
              <a:t>”“</a:t>
            </a:r>
            <a:r>
              <a:rPr lang="zh-CN" altLang="en-US" sz="1200" kern="1200" dirty="0">
                <a:solidFill>
                  <a:schemeClr val="tx1"/>
                </a:solidFill>
                <a:effectLst/>
                <a:latin typeface="+mn-lt"/>
              </a:rPr>
              <a:t>对细胞的各种组分做定量分析</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项：根据显微镜下</a:t>
            </a:r>
            <a:r>
              <a:rPr lang="en-US" altLang="zh-CN" sz="1200" kern="1200" dirty="0">
                <a:solidFill>
                  <a:schemeClr val="tx1"/>
                </a:solidFill>
                <a:effectLst/>
                <a:latin typeface="+mn-lt"/>
              </a:rPr>
              <a:t>“</a:t>
            </a:r>
            <a:r>
              <a:rPr lang="zh-CN" altLang="en-US" sz="1200" kern="1200" dirty="0">
                <a:solidFill>
                  <a:schemeClr val="tx1"/>
                </a:solidFill>
                <a:effectLst/>
                <a:latin typeface="+mn-lt"/>
              </a:rPr>
              <a:t>骨髓细胞的不同形态</a:t>
            </a:r>
            <a:r>
              <a:rPr lang="en-US" altLang="zh-CN" sz="1200" kern="1200" dirty="0">
                <a:solidFill>
                  <a:schemeClr val="tx1"/>
                </a:solidFill>
                <a:effectLst/>
                <a:latin typeface="+mn-lt"/>
              </a:rPr>
              <a:t>”</a:t>
            </a:r>
            <a:r>
              <a:rPr lang="zh-CN" altLang="en-US" sz="1200" kern="1200" dirty="0">
                <a:solidFill>
                  <a:schemeClr val="tx1"/>
                </a:solidFill>
                <a:effectLst/>
                <a:latin typeface="+mn-lt"/>
              </a:rPr>
              <a:t>来判断患者的疾病种类，不是研究细胞的化学成分，也没有对细胞的各种组分做定量分析，不符合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研究细胞的化学成分及其在细胞活动中的变化和定位</a:t>
            </a:r>
            <a:r>
              <a:rPr lang="en-US" altLang="zh-CN" sz="1200" kern="1200" dirty="0">
                <a:solidFill>
                  <a:schemeClr val="tx1"/>
                </a:solidFill>
                <a:effectLst/>
                <a:latin typeface="+mn-lt"/>
              </a:rPr>
              <a:t>”“</a:t>
            </a:r>
            <a:r>
              <a:rPr lang="zh-CN" altLang="en-US" sz="1200" kern="1200" dirty="0">
                <a:solidFill>
                  <a:schemeClr val="tx1"/>
                </a:solidFill>
                <a:effectLst/>
                <a:latin typeface="+mn-lt"/>
              </a:rPr>
              <a:t>对细胞的各种组分做定量分析</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项：研究小鼠免疫细胞被病原体杀死的动态过程，其研究的是</a:t>
            </a:r>
            <a:r>
              <a:rPr lang="en-US" altLang="zh-CN" sz="1200" kern="1200" dirty="0">
                <a:solidFill>
                  <a:schemeClr val="tx1"/>
                </a:solidFill>
                <a:effectLst/>
                <a:latin typeface="+mn-lt"/>
              </a:rPr>
              <a:t>“</a:t>
            </a:r>
            <a:r>
              <a:rPr lang="zh-CN" altLang="en-US" sz="1200" kern="1200" dirty="0">
                <a:solidFill>
                  <a:schemeClr val="tx1"/>
                </a:solidFill>
                <a:effectLst/>
                <a:latin typeface="+mn-lt"/>
              </a:rPr>
              <a:t>病原体</a:t>
            </a:r>
            <a:r>
              <a:rPr lang="en-US" altLang="zh-CN" sz="1200" kern="1200" dirty="0">
                <a:solidFill>
                  <a:schemeClr val="tx1"/>
                </a:solidFill>
                <a:effectLst/>
                <a:latin typeface="+mn-lt"/>
              </a:rPr>
              <a:t>”</a:t>
            </a:r>
            <a:r>
              <a:rPr lang="zh-CN" altLang="en-US" sz="1200" kern="1200" dirty="0">
                <a:solidFill>
                  <a:schemeClr val="tx1"/>
                </a:solidFill>
                <a:effectLst/>
                <a:latin typeface="+mn-lt"/>
              </a:rPr>
              <a:t>释放毒素杀死免疫细胞的过程，不是研究免疫细胞的各种组分，不符合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研究细胞的化学成分及其在细胞活动中的变化和定位</a:t>
            </a:r>
            <a:r>
              <a:rPr lang="en-US" altLang="zh-CN" sz="1200" kern="1200" dirty="0">
                <a:solidFill>
                  <a:schemeClr val="tx1"/>
                </a:solidFill>
                <a:effectLst/>
                <a:latin typeface="+mn-lt"/>
              </a:rPr>
              <a:t>”“</a:t>
            </a:r>
            <a:r>
              <a:rPr lang="zh-CN" altLang="en-US" sz="1200" kern="1200" dirty="0">
                <a:solidFill>
                  <a:schemeClr val="tx1"/>
                </a:solidFill>
                <a:effectLst/>
                <a:latin typeface="+mn-lt"/>
              </a:rPr>
              <a:t>对细胞的各种组分做定量分析</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解析：本题属于映射类，主要考查工具对应关系。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提取指纹是为了收集罪证，二者为方式目的的对应关系；透明胶是提取指纹的工具，二者为工具对应关系。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项：温度不当会导致叶子发黄，二者为因果对应关系，与题干逻辑关系不一致，排除；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项：敲碎车窗是为了逃生自救，二者为方式目的的对应关系；安全锤是敲碎车窗的工具，二者为工具对应关系，与题干逻辑关系一致，当选；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项：设置防护是为了道路施工，二者为方式目的的对应关系，但混凝土不是设置防护的工具，二者不是工具对应关系，与题干逻辑关系不一致，排除；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项：冷风侵入会导致肩周疼痛，二者为因果对应关系，与题干逻辑关系不一致，排除。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行政文书是国家行政机关处理公务所形成的具有特定格式的文字材料，行政机关发布的行政文书，二者构成主宾关系；汇编语言是任何一种用于电子计算机、微处理器、微控制器或其他可编程器件的低级语言，编程人员编写汇编语言，二者构成主宾关系，但词语前后顺序相反，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项：利用行政文书进行行政管理，二者为工具对应关系；利用汇编语言传送指令，二者为工具对应关系，但词语前后顺序相反，前后逻辑关系不一致，排除；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行政文书是国家行政机关处理公务所形成的具有特定格式的文字材料，商务文书是指企业在经营运作、贸易往来、开拓发展等一系列商务活动中所使用的各种文书的总称，二者为并列关系；汇编语言又被称为符号语言，二者为全同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监管函是一种由监管部门向被监管对象发出的书面通知，旨在告知其存在的违规事实或风险状况，并要求其及时补救、改正或防范，监管函是一种行政文书，二者为种属关系；汇编语言是一种计算机语言，二者为种属关系，前后逻辑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论点：今年出现小果占比过大是由于套袋较早造成的。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论据：过早套袋会使果实失去营养竞争力，在营养供应不足的情况下，果实竞争不过新梢。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本题论据说的是过早套袋会使果实失去营养竞争力，进而导致果实竞争不过新梢，即小果占比大；论点是基于此得出的小果占比过大的原因是套袋较早，二者话题一致，削弱优先考虑否定论点，即小果占比过大不是由于套袋较早造成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项：该项指出今年套果袋时果实大小基本一致，并且期间无病虫危害，只能说明病虫危害不是导致小果占比过大的原因，但是否存在其他的原因导致小果占比过大不明确，为不明确项，无法削弱，排除；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项：该项指出纸袋的遮光作用影响果实光合能力，进而影响甜度，只能说明套袋影响甜度，而论点讨论的是小果占比过大的原因，话题不一致，无法削弱，排除；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指出今年在没有分出大小果实就完成了疏除冗余幼果的操作，留下的不一定是优质大果，说明小果占比过大可能是由于没有分出大小果实就完成了疏除冗余幼果的操作造成的，把优质大果去掉了，保留下小果，直接否定论点，可以削弱，保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指出今年桃树长得太快，加之萌芽肥、花后肥都没有追施，导致后期果实营养供应不足，说明果实营养供应不足是桃树长得太快，没有追肥造成的，进而导致小果占比过大，直接否定论点，可以削弱，保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对比</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两项，</a:t>
            </a:r>
            <a:r>
              <a:rPr lang="en-US" altLang="zh-CN" sz="1200" kern="1200" dirty="0">
                <a:solidFill>
                  <a:schemeClr val="tx1"/>
                </a:solidFill>
                <a:effectLst/>
                <a:latin typeface="+mn-lt"/>
              </a:rPr>
              <a:t>C</a:t>
            </a:r>
            <a:r>
              <a:rPr lang="zh-CN" altLang="en-US" sz="1200" kern="1200" dirty="0">
                <a:solidFill>
                  <a:schemeClr val="tx1"/>
                </a:solidFill>
                <a:effectLst/>
                <a:latin typeface="+mn-lt"/>
              </a:rPr>
              <a:t>项表述为</a:t>
            </a:r>
            <a:r>
              <a:rPr lang="en-US" altLang="zh-CN" sz="1200" kern="1200" dirty="0">
                <a:solidFill>
                  <a:schemeClr val="tx1"/>
                </a:solidFill>
                <a:effectLst/>
                <a:latin typeface="+mn-lt"/>
              </a:rPr>
              <a:t>“</a:t>
            </a:r>
            <a:r>
              <a:rPr lang="zh-CN" altLang="en-US" sz="1200" kern="1200" dirty="0">
                <a:solidFill>
                  <a:schemeClr val="tx1"/>
                </a:solidFill>
                <a:effectLst/>
                <a:latin typeface="+mn-lt"/>
              </a:rPr>
              <a:t>不一定</a:t>
            </a:r>
            <a:r>
              <a:rPr lang="en-US" altLang="zh-CN" sz="1200" kern="1200" dirty="0">
                <a:solidFill>
                  <a:schemeClr val="tx1"/>
                </a:solidFill>
                <a:effectLst/>
                <a:latin typeface="+mn-lt"/>
              </a:rPr>
              <a:t>”</a:t>
            </a:r>
            <a:r>
              <a:rPr lang="zh-CN" altLang="en-US" sz="1200" kern="1200" dirty="0">
                <a:solidFill>
                  <a:schemeClr val="tx1"/>
                </a:solidFill>
                <a:effectLst/>
                <a:latin typeface="+mn-lt"/>
              </a:rPr>
              <a:t>，为可能性削弱，</a:t>
            </a:r>
            <a:r>
              <a:rPr lang="en-US" altLang="zh-CN" sz="1200" kern="1200" dirty="0">
                <a:solidFill>
                  <a:schemeClr val="tx1"/>
                </a:solidFill>
                <a:effectLst/>
                <a:latin typeface="+mn-lt"/>
              </a:rPr>
              <a:t>D</a:t>
            </a:r>
            <a:r>
              <a:rPr lang="zh-CN" altLang="en-US" sz="1200" kern="1200" dirty="0">
                <a:solidFill>
                  <a:schemeClr val="tx1"/>
                </a:solidFill>
                <a:effectLst/>
                <a:latin typeface="+mn-lt"/>
              </a:rPr>
              <a:t>项为肯定性削弱，削弱力度更强，</a:t>
            </a:r>
            <a:r>
              <a:rPr lang="en-US" altLang="zh-CN" sz="1200" kern="1200" dirty="0">
                <a:solidFill>
                  <a:schemeClr val="tx1"/>
                </a:solidFill>
                <a:effectLst/>
                <a:latin typeface="+mn-lt"/>
              </a:rPr>
              <a:t>D</a:t>
            </a:r>
            <a:r>
              <a:rPr lang="zh-CN" altLang="en-US" sz="1200" kern="1200" dirty="0">
                <a:solidFill>
                  <a:schemeClr val="tx1"/>
                </a:solidFill>
                <a:effectLst/>
                <a:latin typeface="+mn-lt"/>
              </a:rPr>
              <a:t>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4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7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73.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tags" Target="../tags/tag74.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75.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76.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7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94.xml"/></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65.xml"/><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tags" Target="../tags/tag95.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19.png"/><Relationship Id="rId1" Type="http://schemas.openxmlformats.org/officeDocument/2006/relationships/tags" Target="../tags/tag96.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97.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市地级</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151" name="图片 1" descr="IMG_256"/>
          <p:cNvPicPr>
            <a:picLocks noChangeAspect="1"/>
          </p:cNvPicPr>
          <p:nvPr/>
        </p:nvPicPr>
        <p:blipFill>
          <a:blip r:embed="rId2"/>
          <a:stretch>
            <a:fillRect/>
          </a:stretch>
        </p:blipFill>
        <p:spPr>
          <a:xfrm>
            <a:off x="1376680" y="1741805"/>
            <a:ext cx="9439275" cy="4279265"/>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77.</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679575" y="1722120"/>
            <a:ext cx="8434070" cy="399161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78.</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1743710" y="1722120"/>
            <a:ext cx="8703945" cy="435165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581785" y="1722120"/>
            <a:ext cx="9028430" cy="394398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5218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左边为给定的多面体，现用经</a:t>
            </a:r>
            <a:r>
              <a:rPr lang="en-US" altLang="zh-CN" sz="2000" spc="200" dirty="0">
                <a:solidFill>
                  <a:srgbClr val="000000"/>
                </a:solidFill>
                <a:latin typeface="+mn-ea"/>
                <a:cs typeface="楷体" panose="02010609060101010101" charset="-122"/>
                <a:sym typeface="楷体" panose="02010609060101010101" charset="-122"/>
              </a:rPr>
              <a:t>P</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Q</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三点的平面对其进行切割，问哪个选项是其切面？</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155" name="图片 6" descr="IMG_261"/>
          <p:cNvPicPr>
            <a:picLocks noChangeAspect="1"/>
          </p:cNvPicPr>
          <p:nvPr/>
        </p:nvPicPr>
        <p:blipFill>
          <a:blip r:embed="rId2"/>
          <a:stretch>
            <a:fillRect/>
          </a:stretch>
        </p:blipFill>
        <p:spPr>
          <a:xfrm>
            <a:off x="1051560" y="1920875"/>
            <a:ext cx="10446385" cy="3029585"/>
          </a:xfrm>
          <a:prstGeom prst="rect">
            <a:avLst/>
          </a:prstGeom>
          <a:noFill/>
          <a:ln w="9525">
            <a:noFill/>
          </a:ln>
        </p:spPr>
      </p:pic>
      <p:pic>
        <p:nvPicPr>
          <p:cNvPr id="198" name="图片 198" descr="IMG_262"/>
          <p:cNvPicPr>
            <a:picLocks noChangeAspect="1"/>
          </p:cNvPicPr>
          <p:nvPr/>
        </p:nvPicPr>
        <p:blipFill>
          <a:blip r:embed="rId3"/>
          <a:stretch>
            <a:fillRect/>
          </a:stretch>
        </p:blipFill>
        <p:spPr>
          <a:xfrm>
            <a:off x="9404350" y="4497705"/>
            <a:ext cx="2180590" cy="215709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下图为</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个黑色、</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个白色正方体粘接成的长方体，问哪一项可能是其正确的外表面展开图</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4" name="图片 3"/>
          <p:cNvPicPr>
            <a:picLocks noChangeAspect="1"/>
          </p:cNvPicPr>
          <p:nvPr/>
        </p:nvPicPr>
        <p:blipFill>
          <a:blip r:embed="rId2"/>
          <a:stretch>
            <a:fillRect/>
          </a:stretch>
        </p:blipFill>
        <p:spPr>
          <a:xfrm>
            <a:off x="0" y="2121535"/>
            <a:ext cx="12192000" cy="308356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193802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82.</a:t>
            </a:r>
            <a:r>
              <a:rPr lang="zh-CN" altLang="en-US" sz="2000" spc="200" dirty="0">
                <a:solidFill>
                  <a:srgbClr val="000000"/>
                </a:solidFill>
                <a:latin typeface="+mn-ea"/>
                <a:cs typeface="楷体" panose="02010609060101010101" charset="-122"/>
                <a:sym typeface="楷体" panose="02010609060101010101" charset="-122"/>
              </a:rPr>
              <a:t>左边为</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个白色和</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个灰色正方体组合而成多面体的正、反两面直观图，其可以由</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三个多面体组合而成，问哪一项能填入问号处？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694690" y="2352040"/>
            <a:ext cx="6525260" cy="3645535"/>
          </a:xfrm>
          <a:prstGeom prst="rect">
            <a:avLst/>
          </a:prstGeom>
        </p:spPr>
      </p:pic>
      <p:pic>
        <p:nvPicPr>
          <p:cNvPr id="3" name="图片 2"/>
          <p:cNvPicPr/>
          <p:nvPr/>
        </p:nvPicPr>
        <p:blipFill>
          <a:blip r:embed="rId3"/>
          <a:stretch>
            <a:fillRect/>
          </a:stretch>
        </p:blipFill>
        <p:spPr>
          <a:xfrm>
            <a:off x="7364730" y="3055303"/>
            <a:ext cx="4610100" cy="223837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83.</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①②⑥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		</a:t>
            </a:r>
            <a:r>
              <a:rPr lang="en-US" altLang="zh-CN" sz="2000" spc="200" dirty="0">
                <a:solidFill>
                  <a:srgbClr val="000000"/>
                </a:solidFill>
                <a:latin typeface="+mn-ea"/>
                <a:cs typeface="楷体" panose="02010609060101010101" charset="-122"/>
                <a:sym typeface="楷体" panose="02010609060101010101" charset="-122"/>
              </a:rPr>
              <a:t> B. </a:t>
            </a:r>
            <a:r>
              <a:rPr lang="en-US" altLang="en-US" sz="2000" spc="200" dirty="0">
                <a:solidFill>
                  <a:srgbClr val="000000"/>
                </a:solidFill>
                <a:latin typeface="+mn-ea"/>
                <a:cs typeface="楷体" panose="02010609060101010101" charset="-122"/>
                <a:sym typeface="楷体" panose="02010609060101010101" charset="-122"/>
              </a:rPr>
              <a:t>①②④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①③⑥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		</a:t>
            </a:r>
            <a:r>
              <a:rPr lang="en-US" altLang="zh-CN" sz="2000" spc="200" dirty="0">
                <a:solidFill>
                  <a:srgbClr val="000000"/>
                </a:solidFill>
                <a:latin typeface="+mn-ea"/>
                <a:cs typeface="楷体" panose="02010609060101010101" charset="-122"/>
                <a:sym typeface="楷体" panose="02010609060101010101" charset="-122"/>
              </a:rPr>
              <a:t> D. </a:t>
            </a:r>
            <a:r>
              <a:rPr lang="en-US" altLang="en-US" sz="2000" spc="200" dirty="0">
                <a:solidFill>
                  <a:srgbClr val="000000"/>
                </a:solidFill>
                <a:latin typeface="+mn-ea"/>
                <a:cs typeface="楷体" panose="02010609060101010101" charset="-122"/>
                <a:sym typeface="楷体" panose="02010609060101010101" charset="-122"/>
              </a:rPr>
              <a:t>①④⑤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4" name="图片 3"/>
          <p:cNvPicPr>
            <a:picLocks noChangeAspect="1"/>
          </p:cNvPicPr>
          <p:nvPr/>
        </p:nvPicPr>
        <p:blipFill>
          <a:blip r:embed="rId2"/>
          <a:stretch>
            <a:fillRect/>
          </a:stretch>
        </p:blipFill>
        <p:spPr>
          <a:xfrm>
            <a:off x="1058545" y="2105025"/>
            <a:ext cx="10458450" cy="216154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6996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①②⑥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①③⑥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①②③</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④⑤⑥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spc="200" dirty="0">
                <a:solidFill>
                  <a:srgbClr val="000000"/>
                </a:solidFill>
                <a:latin typeface="+mn-ea"/>
                <a:cs typeface="楷体" panose="02010609060101010101" charset="-122"/>
                <a:sym typeface="楷体" panose="02010609060101010101" charset="-122"/>
              </a:rPr>
              <a:t>①②⑤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4502150" y="1300163"/>
            <a:ext cx="4762500" cy="3876674"/>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6996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85.</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①③④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①③⑤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①④⑥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②③⑤</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161" name="图片 15" descr="IMG_270"/>
          <p:cNvPicPr>
            <a:picLocks noChangeAspect="1"/>
          </p:cNvPicPr>
          <p:nvPr/>
        </p:nvPicPr>
        <p:blipFill>
          <a:blip r:embed="rId2"/>
          <a:stretch>
            <a:fillRect/>
          </a:stretch>
        </p:blipFill>
        <p:spPr>
          <a:xfrm>
            <a:off x="4366895" y="1479550"/>
            <a:ext cx="4897755" cy="3898900"/>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184150"/>
            <a:ext cx="8660130"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土地监测是利用遥感、遥测技术，对一个国家或地区土地利用状况的动态变化进行定期或不定期的监视和测定，目的在于为国家和地区有关部门提供准确的土地利用变化情况，及时进行土地利用数据更新与对比分析，以便编制土地利用变化图解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根据上述定义，下列属于土地监测的是：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通过量化多时相遥感图像空间域、时间域、光谱域的耦合特征，获得土地变化的类型、位置和数量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利用定期现场踏勘的方式标绘各土地使用单位及各类型土地的界线，对变化的地物界线作出修正</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通过某地区土地权属变更资料的分析，梳理该地区土地所有权、使用权的变化，以及土地纠纷调解情况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利用植被具有红光强吸收特点，通过遥感设备监测植被的生长状态，并绘制植被的生长周期图</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52180"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主体间性是指人对他人意图的判断与推测。主体间性有不同的级别，一级主体间性即人对另一个人意图的判断与推测，二级主体间性即人对另一人关于其他人意图的判断与推测的认知的认识。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根据上述定义，下列体现了二级主体间性的是：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小明饿了，去问妈妈饭做好没有，妈妈说爸爸正在做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老师知道学生们不喜欢做作业，周五就在班级群里通知本周末不留作业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小王知道老板爱挑毛病，每次提交的总结都得仔细检查好几遍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小花看见妈妈冲爸爸使了个眼色后，爸爸尴尬地放下酒杯，小花偷偷地笑了</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5218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回应型预算要求政府基于与人民的民主协商作出预算决策，相关责任部门应当及时反应并积极回复人民的质疑和诉求。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根据上述定义，下列属于回应型预算的是：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甲国突发大规模严重旱情，财政部门从中央及各级政府应急预算中，通过多种财政政策安排，保障应急救援经费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乙省是地质灾害高发地区，年初该省编制《乙省地质灾害应急中心</a:t>
            </a:r>
            <a:r>
              <a:rPr lang="en-US" altLang="zh-CN" sz="2000" spc="200" dirty="0">
                <a:solidFill>
                  <a:srgbClr val="000000"/>
                </a:solidFill>
                <a:latin typeface="+mn-ea"/>
                <a:cs typeface="楷体" panose="02010609060101010101" charset="-122"/>
                <a:sym typeface="楷体" panose="02010609060101010101" charset="-122"/>
              </a:rPr>
              <a:t>XX</a:t>
            </a:r>
            <a:r>
              <a:rPr lang="zh-CN" altLang="en-US" sz="2000" spc="200" dirty="0">
                <a:solidFill>
                  <a:srgbClr val="000000"/>
                </a:solidFill>
                <a:latin typeface="+mn-ea"/>
                <a:cs typeface="楷体" panose="02010609060101010101" charset="-122"/>
                <a:sym typeface="楷体" panose="02010609060101010101" charset="-122"/>
              </a:rPr>
              <a:t>年度部门预算公开说明》并在官网上发布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丙市在年初将上一年度的地方预算执行情况在官网进行公布，诚邀广大市民和社会公众踊跃监督并提出意见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丁区实行预算听证制度，对与公共服务和社会民生相关的重大支出项目开展听证，并就意见和建议进行书面答复</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5218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温度习服是指机体长期在高温或低温环境中，逐渐产生的对环境温度的耐受现象，包括热习服和冷习服。热习服是指机体长期生活或工作在炎热或高温环境后产生的适应性变化；冷习服是指机体长期暴露于寒冷环境后逐渐出现的适应性变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根据上述定义，下列属于温度习服的是：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长期接受滑雪训练的人都会穿着防水防风、透气保暖的滑雪服进行运动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生活在北极的因纽特人常表现出较高的基础代谢率以维持体温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生活在缺氧、干燥、紫外线照射强烈的高原地区的人，脸部呈现出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高原红</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特征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在寒冷天气进行体育锻炼的人，倾向于增加热身时间以适应气温</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582295"/>
            <a:ext cx="858837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形象史学是指把形与象作为主要材料，用以研究历史的一门学问。具体来说，是指把传世的包括出土（水）的具有研究价值的石刻、陶塑、壁画、雕砖、铜玉、织绣、漆器、木器、绘画等历史实物、文本图像以及文化史迹作为主要研究对象，并结合传统文献来综合考察历史的一种新的史学研究模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根据上述定义，下列属于形象史学研究范畴的是：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结合《晋书》等史书，通过对吉林集安长川</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号墓礼佛图主佛形象及莲花纹的考察，研究三燕文化对高句丽佛教产生的影响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通过对现存的汉画像石（汉代人雕刻在墓室、祠堂四壁的装饰石刻壁画）的实地考察，分析汉画像石的雕刻风格和雕刻技法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根据史诗《伊利亚特》的记载，找到特洛伊城的遗址，并在其中发掘出王冠、银瓶、短剑等大量器物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通过对二十世纪二三十年代齐白石、傅抱石等人具有代表性的国画作品进行研究，分析当时国画中所蕴含的思想意境</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582295"/>
            <a:ext cx="858837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91.</a:t>
            </a:r>
            <a:r>
              <a:rPr lang="zh-CN" altLang="en-US" sz="2000" spc="200" dirty="0">
                <a:solidFill>
                  <a:srgbClr val="000000"/>
                </a:solidFill>
                <a:latin typeface="+mn-ea"/>
                <a:cs typeface="楷体" panose="02010609060101010101" charset="-122"/>
                <a:sym typeface="楷体" panose="02010609060101010101" charset="-122"/>
              </a:rPr>
              <a:t>求证思维是指用自己掌握的知识和经验去验证某一结论的思维。转化思维是指在解决问题的过程中遇到障碍时，把问题转换成另一种形式，使问题变得更简单、更清晰。集中思维是指从许多资料中找出合乎逻辑的联系，从而导出一定的结论，或者对几种解决方案加以比较研究，进而导出一种解决办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数学家根据自己所学，从多角度证明某一命题是否成立。这体现了求证思维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修建铁路时，工程师依据施工方案采用爆破的方法开山劈岭，完成线路铺设。这体现了集中思维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当发现改变滚珠形状无法减少轴承摩擦时，有人设计出使旋转轴呈悬浮状的空气轴承。这体现了集中思维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商家通过分析药店互联网化的不同方案，权衡利弊后最终选定线上线下相结合的模式。这体现了转化思维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02565"/>
            <a:ext cx="8606155"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自动投案是指犯罪事实或者犯罪嫌疑人未被司法机关发觉，或者虽被发觉，但犯罪嫌疑人尚未受到讯问、未被采取强制措施时，主动、直接向公安机关、人民检察院或者人民法院投案。</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根据上述定义，下列不属于自动投案的是：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甲实施多起电信诈骗，获利十余万元，在公安机关进行的一次隐患排查入户走访中，发现甲形迹可疑，经盘问甲主动交代了自己的罪行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乙致人重伤后潜逃，在公安机关经侦查确认乙为该案的犯罪嫌疑人时，乙正因酒后驾驶被行政拘留，经公安机关讯问后，乙交代了自己的罪行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丙多次挪用公款，其父母发现异常后，多次规劝其投案自首无效，直至单位发现款项异常开始查账后，丙才到公安机关交代自己的罪行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丁因入室盗窃被判处有期徒刑，在服刑期间，丁主动向公安机关交代自己系公安机关久未破获的</a:t>
            </a:r>
            <a:r>
              <a:rPr lang="en-US" altLang="zh-CN" sz="2000" spc="200" dirty="0">
                <a:solidFill>
                  <a:srgbClr val="000000"/>
                </a:solidFill>
                <a:latin typeface="+mn-ea"/>
                <a:cs typeface="楷体" panose="02010609060101010101" charset="-122"/>
                <a:sym typeface="楷体" panose="02010609060101010101" charset="-122"/>
              </a:rPr>
              <a:t>“7·26”</a:t>
            </a:r>
            <a:r>
              <a:rPr lang="zh-CN" altLang="en-US" sz="2000" spc="200" dirty="0">
                <a:solidFill>
                  <a:srgbClr val="000000"/>
                </a:solidFill>
                <a:latin typeface="+mn-ea"/>
                <a:cs typeface="楷体" panose="02010609060101010101" charset="-122"/>
                <a:sym typeface="楷体" panose="02010609060101010101" charset="-122"/>
              </a:rPr>
              <a:t>走私案的主谋之一</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582295"/>
            <a:ext cx="858837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93.</a:t>
            </a:r>
            <a:r>
              <a:rPr lang="zh-CN" altLang="en-US" sz="2000" spc="200" dirty="0">
                <a:solidFill>
                  <a:srgbClr val="000000"/>
                </a:solidFill>
                <a:latin typeface="+mn-ea"/>
                <a:cs typeface="楷体" panose="02010609060101010101" charset="-122"/>
                <a:sym typeface="楷体" panose="02010609060101010101" charset="-122"/>
              </a:rPr>
              <a:t>深度优先搜索是指从初始节点出发，按照一定的顺序扩展到下一个节点，然后从下一个节点出发继续扩展到新的节点，不断递归执行这个过程，直到某个节点不能再扩展到下一个节点，此时返回上一个节点重新寻找一个新的节点继续扩展，如此搜索下去，直到找到目标节点，或者搜索完所有节点为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根据上述定义，如果以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为初始节点，</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为目标节点，下列搜索路径符合深度优先搜索的是：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6</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12</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8</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6</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12</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7</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6</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12</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10</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6</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12</a:t>
            </a: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5394325" y="2348865"/>
            <a:ext cx="1871980" cy="146939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582295"/>
            <a:ext cx="858837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94.</a:t>
            </a:r>
            <a:r>
              <a:rPr lang="zh-CN" altLang="en-US" sz="2000" spc="200" dirty="0">
                <a:solidFill>
                  <a:srgbClr val="000000"/>
                </a:solidFill>
                <a:latin typeface="+mn-ea"/>
                <a:cs typeface="楷体" panose="02010609060101010101" charset="-122"/>
                <a:sym typeface="楷体" panose="02010609060101010101" charset="-122"/>
              </a:rPr>
              <a:t>企业薪酬策略主要包括两个方面：一是体现企业支付标准的策略，即薪酬水平策略，其本质是在市场既定的薪酬水平上设定一个对公司有利的最优报酬水平；二是体现企业支付差异的策略，即薪酬结构策略，其通过企业的工资等级和工资幅度、加薪条件、晋升降级、小时工资、加班休假、工作时间等方面的薪酬政策表现出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甲企业根据市场调查结果，设定行政岗位的薪酬标准。这体现了薪酬结构策略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乙企业今年赢利颇丰，企业将全员工资普遍调高。这体现了薪酬水平策略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丙企业工资分为基本工资和绩效工资两部分，绩效工资与员工绩效挂钩。这体现了薪酬水平策略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丁企业采取不同方式调整高、中、低三个职位层次人员的薪酬。这体现了薪酬水平策略</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95.</a:t>
            </a:r>
            <a:r>
              <a:rPr lang="zh-CN" altLang="en-US" sz="2000" spc="200" dirty="0">
                <a:solidFill>
                  <a:srgbClr val="000000"/>
                </a:solidFill>
                <a:latin typeface="+mn-ea"/>
                <a:cs typeface="楷体" panose="02010609060101010101" charset="-122"/>
                <a:sym typeface="楷体" panose="02010609060101010101" charset="-122"/>
              </a:rPr>
              <a:t>断取是修辞格的一种，引用词语时，只截取其中部分字眼的意义，而置其余于不顾，是一种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断章取义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的修辞方式。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根据上述定义，下列没有采用断取修辞方式的是：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相较于他之前见过的大阵仗，眼前的情形在他眼中就是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小儿科</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小林一心扑在科研项目上，他至今还是一个</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光杆司令</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山林发生火灾，消防员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上刀山下火海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，奋力保卫人民的生命和财产安全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实在走投无路，他最终还是找老师</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开药方</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，问询这一困局的破解之道</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96.</a:t>
            </a:r>
            <a:r>
              <a:rPr lang="zh-CN" altLang="en-US" sz="2000" spc="200" dirty="0">
                <a:solidFill>
                  <a:srgbClr val="000000"/>
                </a:solidFill>
                <a:latin typeface="+mn-ea"/>
                <a:cs typeface="楷体" panose="02010609060101010101" charset="-122"/>
                <a:sym typeface="楷体" panose="02010609060101010101" charset="-122"/>
              </a:rPr>
              <a:t>殚精竭虑：费尽心机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狐假虎威：虚张声势</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舍生忘死：死里逃生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侃侃而谈：喋喋不休</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光怪陆离：五光十色</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97.</a:t>
            </a:r>
            <a:r>
              <a:rPr lang="zh-CN" altLang="en-US" sz="2000" spc="200" dirty="0">
                <a:solidFill>
                  <a:srgbClr val="000000"/>
                </a:solidFill>
                <a:latin typeface="+mn-ea"/>
                <a:cs typeface="楷体" panose="02010609060101010101" charset="-122"/>
                <a:sym typeface="楷体" panose="02010609060101010101" charset="-122"/>
              </a:rPr>
              <a:t>逐客令：挡箭牌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急先锋：领航者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避风港：马后炮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敲门砖：绊脚石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鸿门宴：攻心计</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98.</a:t>
            </a:r>
            <a:r>
              <a:rPr lang="zh-CN" altLang="en-US" sz="2000" spc="200" dirty="0">
                <a:solidFill>
                  <a:srgbClr val="000000"/>
                </a:solidFill>
                <a:latin typeface="+mn-ea"/>
                <a:cs typeface="楷体" panose="02010609060101010101" charset="-122"/>
                <a:sym typeface="楷体" panose="02010609060101010101" charset="-122"/>
              </a:rPr>
              <a:t>直观性：即时性：网络直播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等边性：对称性：等腰梯形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公开性：权威性：行政法律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周期性：延展性：机械钟摆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挥发性：保温性：石棉纤维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99.</a:t>
            </a:r>
            <a:r>
              <a:rPr lang="zh-CN" altLang="en-US" sz="2000" spc="200" dirty="0">
                <a:solidFill>
                  <a:srgbClr val="000000"/>
                </a:solidFill>
                <a:latin typeface="+mn-ea"/>
                <a:cs typeface="楷体" panose="02010609060101010101" charset="-122"/>
                <a:sym typeface="楷体" panose="02010609060101010101" charset="-122"/>
              </a:rPr>
              <a:t>群众来访：窗口接访：调查督办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地面试验：点火飞行：燃料加注</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支付本币：兑换外币：确认汇率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建造堤坝：潮汐发电：送电入户</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重启谈判：临时休战：边境冲突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稀树草原</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相当于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国际公约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物种多样性；缔约国家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落叶阔叶林；多边条约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气候变迁；政治协调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植被类型；联合国宪章</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101.</a:t>
            </a:r>
            <a:r>
              <a:rPr lang="zh-CN" altLang="en-US" sz="2000" spc="200" dirty="0">
                <a:solidFill>
                  <a:srgbClr val="000000"/>
                </a:solidFill>
                <a:latin typeface="+mn-ea"/>
                <a:cs typeface="楷体" panose="02010609060101010101" charset="-122"/>
                <a:sym typeface="楷体" panose="02010609060101010101" charset="-122"/>
              </a:rPr>
              <a:t>研究者设计了一个</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拔河比赛</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的实验，要求被试分别在单独和群体的情境下拔河，同时用仪器来测量他们的拉力。结果发现随着被试人数的增加，平均每个被试使出的力减少了。据此研究者认为，提高团队业绩的最佳途径就是减少团队人数。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下列选项如果为真，除哪项外均能质疑上述研究者的观点？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团队合作中各取所长很重要，人数过少效率也会随之下降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团队一起工作时，个人的贡献不被凸显，很容易失去积极性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团队的合作与管理方式要比拔河复杂得多，不能一概而论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增强个体对团队的归属感、责任感，能够更好地提高团队业绩</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3044825"/>
            <a:ext cx="1128014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论点：提高团队业绩的最佳途径就是减少团队人数。</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论据：随着被试人数的增加，平均每个被试使出的力减少了。</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849630"/>
            <a:ext cx="11280140" cy="5492750"/>
          </a:xfrm>
          <a:prstGeom prst="rect">
            <a:avLst/>
          </a:prstGeom>
        </p:spPr>
        <p:txBody>
          <a:bodyPr wrap="square">
            <a:spAutoFit/>
          </a:bodyPr>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102.</a:t>
            </a:r>
            <a:r>
              <a:rPr lang="zh-CN" altLang="en-US" sz="1800" spc="200" dirty="0">
                <a:solidFill>
                  <a:srgbClr val="000000"/>
                </a:solidFill>
                <a:latin typeface="+mn-ea"/>
                <a:cs typeface="楷体" panose="02010609060101010101" charset="-122"/>
                <a:sym typeface="楷体" panose="02010609060101010101" charset="-122"/>
              </a:rPr>
              <a:t>考古人员发现了近</a:t>
            </a:r>
            <a:r>
              <a:rPr lang="en-US" altLang="zh-CN" sz="1800" spc="200" dirty="0">
                <a:solidFill>
                  <a:srgbClr val="000000"/>
                </a:solidFill>
                <a:latin typeface="+mn-ea"/>
                <a:cs typeface="楷体" panose="02010609060101010101" charset="-122"/>
                <a:sym typeface="楷体" panose="02010609060101010101" charset="-122"/>
              </a:rPr>
              <a:t>300</a:t>
            </a:r>
            <a:r>
              <a:rPr lang="zh-CN" altLang="en-US" sz="1800" spc="200" dirty="0">
                <a:solidFill>
                  <a:srgbClr val="000000"/>
                </a:solidFill>
                <a:latin typeface="+mn-ea"/>
                <a:cs typeface="楷体" panose="02010609060101010101" charset="-122"/>
                <a:sym typeface="楷体" panose="02010609060101010101" charset="-122"/>
              </a:rPr>
              <a:t>枚</a:t>
            </a:r>
            <a:r>
              <a:rPr lang="en-US" altLang="zh-CN" sz="1800" spc="200" dirty="0">
                <a:solidFill>
                  <a:srgbClr val="000000"/>
                </a:solidFill>
                <a:latin typeface="+mn-ea"/>
                <a:cs typeface="楷体" panose="02010609060101010101" charset="-122"/>
                <a:sym typeface="楷体" panose="02010609060101010101" charset="-122"/>
              </a:rPr>
              <a:t>16</a:t>
            </a:r>
            <a:r>
              <a:rPr lang="zh-CN" altLang="en-US" sz="1800" spc="200" dirty="0">
                <a:solidFill>
                  <a:srgbClr val="000000"/>
                </a:solidFill>
                <a:latin typeface="+mn-ea"/>
                <a:cs typeface="楷体" panose="02010609060101010101" charset="-122"/>
                <a:sym typeface="楷体" panose="02010609060101010101" charset="-122"/>
              </a:rPr>
              <a:t>亿年前的丝状体生物化石，这些丝状体均由</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巨型细胞组成，直径</a:t>
            </a:r>
            <a:r>
              <a:rPr lang="en-US" altLang="zh-CN" sz="1800" spc="200" dirty="0">
                <a:solidFill>
                  <a:srgbClr val="000000"/>
                </a:solidFill>
                <a:latin typeface="+mn-ea"/>
                <a:cs typeface="楷体" panose="02010609060101010101" charset="-122"/>
                <a:sym typeface="楷体" panose="02010609060101010101" charset="-122"/>
              </a:rPr>
              <a:t>20~194</a:t>
            </a:r>
            <a:r>
              <a:rPr lang="zh-CN" altLang="en-US" sz="1800" spc="200" dirty="0">
                <a:solidFill>
                  <a:srgbClr val="000000"/>
                </a:solidFill>
                <a:latin typeface="+mn-ea"/>
                <a:cs typeface="楷体" panose="02010609060101010101" charset="-122"/>
                <a:sym typeface="楷体" panose="02010609060101010101" charset="-122"/>
              </a:rPr>
              <a:t>微米不等。化石中，有些丝状体直径保持不变，</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细胞呈短柱状至长柱状；有些丝状体整体向一端均匀收缩，细胞呈柱状、桶状或杯状；而有的丝状体仅一端变细，形态呈现了一定的复杂性。考古人员据此认为，这些丝状体很可能属于真核生物。</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以下各项如果为真，除哪项外均能支持上述观点？</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a:t>
            </a:r>
            <a:r>
              <a:rPr lang="zh-CN" altLang="en-US" sz="1800" spc="200" dirty="0">
                <a:solidFill>
                  <a:srgbClr val="000000"/>
                </a:solidFill>
                <a:latin typeface="+mn-ea"/>
                <a:cs typeface="楷体" panose="02010609060101010101" charset="-122"/>
                <a:sym typeface="楷体" panose="02010609060101010101" charset="-122"/>
              </a:rPr>
              <a:t>这些化石中被发现有类似于现生繁殖细胞</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孢子一样的圆形结构，这一结构只出现在真核生物中</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B.</a:t>
            </a:r>
            <a:r>
              <a:rPr lang="zh-CN" altLang="en-US" sz="1800" spc="200" dirty="0">
                <a:solidFill>
                  <a:srgbClr val="000000"/>
                </a:solidFill>
                <a:latin typeface="+mn-ea"/>
                <a:cs typeface="楷体" panose="02010609060101010101" charset="-122"/>
                <a:sym typeface="楷体" panose="02010609060101010101" charset="-122"/>
              </a:rPr>
              <a:t>原核生物细胞的直径一般小于</a:t>
            </a:r>
            <a:r>
              <a:rPr lang="en-US" altLang="zh-CN" sz="1800" spc="200" dirty="0">
                <a:solidFill>
                  <a:srgbClr val="000000"/>
                </a:solidFill>
                <a:latin typeface="+mn-ea"/>
                <a:cs typeface="楷体" panose="02010609060101010101" charset="-122"/>
                <a:sym typeface="楷体" panose="02010609060101010101" charset="-122"/>
              </a:rPr>
              <a:t>2</a:t>
            </a:r>
            <a:r>
              <a:rPr lang="zh-CN" altLang="en-US" sz="1800" spc="200" dirty="0">
                <a:solidFill>
                  <a:srgbClr val="000000"/>
                </a:solidFill>
                <a:latin typeface="+mn-ea"/>
                <a:cs typeface="楷体" panose="02010609060101010101" charset="-122"/>
                <a:sym typeface="楷体" panose="02010609060101010101" charset="-122"/>
              </a:rPr>
              <a:t>微米，而真核生物细胞的直径一般在</a:t>
            </a:r>
            <a:r>
              <a:rPr lang="en-US" altLang="zh-CN" sz="1800" spc="200" dirty="0">
                <a:solidFill>
                  <a:srgbClr val="000000"/>
                </a:solidFill>
                <a:latin typeface="+mn-ea"/>
                <a:cs typeface="楷体" panose="02010609060101010101" charset="-122"/>
                <a:sym typeface="楷体" panose="02010609060101010101" charset="-122"/>
              </a:rPr>
              <a:t>10~100</a:t>
            </a:r>
            <a:r>
              <a:rPr lang="zh-CN" altLang="en-US" sz="1800" spc="200" dirty="0">
                <a:solidFill>
                  <a:srgbClr val="000000"/>
                </a:solidFill>
                <a:latin typeface="+mn-ea"/>
                <a:cs typeface="楷体" panose="02010609060101010101" charset="-122"/>
                <a:sym typeface="楷体" panose="02010609060101010101" charset="-122"/>
              </a:rPr>
              <a:t>微米之间</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a:t>
            </a:r>
            <a:r>
              <a:rPr lang="zh-CN" altLang="en-US" sz="1800" spc="200" dirty="0">
                <a:solidFill>
                  <a:srgbClr val="000000"/>
                </a:solidFill>
                <a:latin typeface="+mn-ea"/>
                <a:cs typeface="楷体" panose="02010609060101010101" charset="-122"/>
                <a:sym typeface="楷体" panose="02010609060101010101" charset="-122"/>
              </a:rPr>
              <a:t>在目前已知的原核生物中，大多数的丝状体形态都比较简单，只有个别呈现出过渡期形态</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D.</a:t>
            </a:r>
            <a:r>
              <a:rPr lang="zh-CN" altLang="en-US" sz="1800" spc="200" dirty="0">
                <a:solidFill>
                  <a:srgbClr val="000000"/>
                </a:solidFill>
                <a:latin typeface="+mn-ea"/>
                <a:cs typeface="楷体" panose="02010609060101010101" charset="-122"/>
                <a:sym typeface="楷体" panose="02010609060101010101" charset="-122"/>
              </a:rPr>
              <a:t>经比对，该化石中丝状体与一些现生绿藻（一种真核生物）的藻丝体形态、细胞大小分布和繁殖方式等最为接近</a:t>
            </a:r>
            <a:endParaRPr lang="zh-CN" altLang="en-US" sz="18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826385"/>
            <a:ext cx="1128014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论点：这些丝状体很可能属于真核生物。</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论据：化石中的丝状体的形态复杂，由巨型细胞组成，直径</a:t>
            </a:r>
            <a:r>
              <a:rPr lang="en-US" altLang="zh-CN" sz="2000" spc="200" dirty="0">
                <a:solidFill>
                  <a:srgbClr val="FF0000"/>
                </a:solidFill>
                <a:latin typeface="+mn-ea"/>
                <a:cs typeface="楷体" panose="02010609060101010101" charset="-122"/>
                <a:sym typeface="+mn-ea"/>
              </a:rPr>
              <a:t>20~194</a:t>
            </a:r>
            <a:r>
              <a:rPr lang="zh-CN" altLang="en-US" sz="2000" spc="200" dirty="0">
                <a:solidFill>
                  <a:srgbClr val="FF0000"/>
                </a:solidFill>
                <a:latin typeface="+mn-ea"/>
                <a:cs typeface="楷体" panose="02010609060101010101" charset="-122"/>
                <a:sym typeface="+mn-ea"/>
              </a:rPr>
              <a:t>微米不等</a:t>
            </a:r>
            <a:r>
              <a:rPr lang="zh-CN" altLang="en-US" sz="2000" spc="200" dirty="0">
                <a:solidFill>
                  <a:srgbClr val="FF0000"/>
                </a:solidFill>
                <a:latin typeface="+mn-ea"/>
                <a:cs typeface="楷体" panose="02010609060101010101" charset="-122"/>
                <a:sym typeface="+mn-ea"/>
              </a:rPr>
              <a:t>。</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03200"/>
            <a:ext cx="8623935" cy="60928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103.</a:t>
            </a:r>
            <a:r>
              <a:rPr lang="zh-CN" altLang="en-US" sz="2000" spc="200" dirty="0">
                <a:solidFill>
                  <a:srgbClr val="000000"/>
                </a:solidFill>
                <a:latin typeface="+mn-ea"/>
                <a:cs typeface="楷体" panose="02010609060101010101" charset="-122"/>
                <a:sym typeface="楷体" panose="02010609060101010101" charset="-122"/>
              </a:rPr>
              <a:t>某企业对于如何进行产教融合，形成如下两种方案：一是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做深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，企业自建培训中心，成立专职和兼职的企业培训师队伍，并根据企业需求，制定专门的培训大纲和计划，该中心与毕业生未来形成签约。二是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做浅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，在学校设立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冠名班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订单班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，以学校教育为主，企业与学生当前没有签约意向，但随时保持互相选择的权利。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以下理由中，能够支持企业选择第二方案的是：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企业必须付出人力成本，人力资源自带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稀缺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增值</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属性，在企业面临竞争压力时尤其要重视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企业订单量并不是稳定的，遇到订单量突然增加需要扩产的时候，才临时需要大量的人参与进来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该企业生产使用的是特种专业设备，竞争对手稀少，不具备从市场上挖掘技术人员的条件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学校教育内容具有普适性，而自建培训中心有利于企业保障准员工的培养质量，提前锁定毕业生</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03200"/>
            <a:ext cx="8623935" cy="60928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我军军语惯于将数字</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9</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0</a:t>
            </a:r>
            <a:r>
              <a:rPr lang="zh-CN" altLang="en-US" sz="2000" spc="200" dirty="0">
                <a:solidFill>
                  <a:srgbClr val="000000"/>
                </a:solidFill>
                <a:latin typeface="+mn-ea"/>
                <a:cs typeface="楷体" panose="02010609060101010101" charset="-122"/>
                <a:sym typeface="楷体" panose="02010609060101010101" charset="-122"/>
              </a:rPr>
              <a:t>变读为幺、两、拐、勾、洞，这些数字有个共同特点，即其原本的发音部位与发音方法使得在读这些数字时无法发出较大声音，在噪声干扰较为强烈的战场上，通信兵使用通讯设备进行情报交流时，话筒对这些数字的实际增音效果并不明显，可能会影响信息的准确性。因此，在军语中将这些数字变读，是为了符合实际需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以下哪项如果为真，不能支持上述结论？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常规数字念法中</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的韵尾相同，发音相似，在嘈杂的战场环境中容易混淆，造成信息传达错误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士兵一般都来自不同的兵源地，不可避免地带有家乡口音，将数字变读可以避免口音问题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在国际无线电通话中，也会对字母读音进行变读，如将</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读成</a:t>
            </a:r>
            <a:r>
              <a:rPr lang="en-US" altLang="zh-CN" sz="2000" spc="200" dirty="0">
                <a:solidFill>
                  <a:srgbClr val="000000"/>
                </a:solidFill>
                <a:latin typeface="+mn-ea"/>
                <a:cs typeface="楷体" panose="02010609060101010101" charset="-122"/>
                <a:sym typeface="楷体" panose="02010609060101010101" charset="-122"/>
              </a:rPr>
              <a:t>Alpha</a:t>
            </a:r>
            <a:r>
              <a:rPr lang="zh-CN" altLang="en-US" sz="2000" spc="200" dirty="0">
                <a:solidFill>
                  <a:srgbClr val="000000"/>
                </a:solidFill>
                <a:latin typeface="+mn-ea"/>
                <a:cs typeface="楷体" panose="02010609060101010101" charset="-122"/>
                <a:sym typeface="楷体" panose="02010609060101010101" charset="-122"/>
              </a:rPr>
              <a:t>，将</a:t>
            </a: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读成</a:t>
            </a:r>
            <a:r>
              <a:rPr lang="en-US" altLang="zh-CN" sz="2000" spc="200" dirty="0">
                <a:solidFill>
                  <a:srgbClr val="000000"/>
                </a:solidFill>
                <a:latin typeface="+mn-ea"/>
                <a:cs typeface="楷体" panose="02010609060101010101" charset="-122"/>
                <a:sym typeface="楷体" panose="02010609060101010101" charset="-122"/>
              </a:rPr>
              <a:t>Delta</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将</a:t>
            </a:r>
            <a:r>
              <a:rPr lang="en-US" altLang="zh-CN" sz="2000" spc="200" dirty="0">
                <a:solidFill>
                  <a:srgbClr val="000000"/>
                </a:solidFill>
                <a:latin typeface="+mn-ea"/>
                <a:cs typeface="楷体" panose="02010609060101010101" charset="-122"/>
                <a:sym typeface="楷体" panose="02010609060101010101" charset="-122"/>
              </a:rPr>
              <a:t>0</a:t>
            </a:r>
            <a:r>
              <a:rPr lang="zh-CN" altLang="en-US" sz="2000" spc="200" dirty="0">
                <a:solidFill>
                  <a:srgbClr val="000000"/>
                </a:solidFill>
                <a:latin typeface="+mn-ea"/>
                <a:cs typeface="楷体" panose="02010609060101010101" charset="-122"/>
                <a:sym typeface="楷体" panose="02010609060101010101" charset="-122"/>
              </a:rPr>
              <a:t>读成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时，更容易提高声音，同时也使声音更加干脆清晰，确保信息的准确性</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03200"/>
            <a:ext cx="862393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105.</a:t>
            </a:r>
            <a:r>
              <a:rPr lang="zh-CN" altLang="en-US" sz="2000" spc="200" dirty="0">
                <a:solidFill>
                  <a:srgbClr val="000000"/>
                </a:solidFill>
                <a:latin typeface="+mn-ea"/>
                <a:cs typeface="楷体" panose="02010609060101010101" charset="-122"/>
                <a:sym typeface="楷体" panose="02010609060101010101" charset="-122"/>
              </a:rPr>
              <a:t>海山是海面下的岛屿，与岛屿中的火山岛有相同的起源和相似的形态，以往的海山生物调查发现，海山岩石上的生物群落与海山周边的软底沉积和深海平原上的生物群落大不相同。而且，一些海山之间的生物群落在物种构成上较少重叠。因此，有一些学者认为，相对孤立的海山存在独特的生物群落且拥有高度特有的动物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以下哪项如果为真，最能反驳上述学者的观点？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远离大陆的孤岛，因为海洋的分割往往会形成相对孤立且独特的岛屿生物群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物理隔离海洋的现象在海洋中很少出现，所以海山不可能长期被隔离成水下孤岛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早期一些海山中发现的高度特有物种其实是采样不足造成的，很多海山都有相同的生物来源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地形和海流的相互作用在某些海山顶部形成封闭环流，使栖息其上的生物幼体难以扩散</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70789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某科研机构今年拟举办甲、乙、丙、丁、戊、己、庚、辛</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次学术会议，每个季度最多举办</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次，且各次会议举办时间不重叠。具体安排要求如下：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）丁、辛安排在第二季度；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）甲、戊安排在同一个季度；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）丁在乙之后丙之前举办；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）丙在甲之前己之后举办。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106.</a:t>
            </a:r>
            <a:r>
              <a:rPr lang="zh-CN" altLang="en-US" sz="2000" spc="200" dirty="0">
                <a:solidFill>
                  <a:srgbClr val="000000"/>
                </a:solidFill>
                <a:latin typeface="+mn-ea"/>
                <a:cs typeface="楷体" panose="02010609060101010101" charset="-122"/>
                <a:sym typeface="楷体" panose="02010609060101010101" charset="-122"/>
              </a:rPr>
              <a:t>下列哪</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次会议可以安排在第一季度？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甲和戊</a:t>
            </a:r>
            <a:r>
              <a:rPr lang="en-US" altLang="zh-CN" sz="2000" spc="200" dirty="0">
                <a:solidFill>
                  <a:srgbClr val="000000"/>
                </a:solidFill>
                <a:latin typeface="+mn-ea"/>
                <a:cs typeface="楷体" panose="02010609060101010101" charset="-122"/>
                <a:sym typeface="楷体" panose="02010609060101010101" charset="-122"/>
              </a:rPr>
              <a:t>	B.</a:t>
            </a:r>
            <a:r>
              <a:rPr lang="zh-CN" altLang="en-US" sz="2000" spc="200" dirty="0">
                <a:solidFill>
                  <a:srgbClr val="000000"/>
                </a:solidFill>
                <a:latin typeface="+mn-ea"/>
                <a:cs typeface="楷体" panose="02010609060101010101" charset="-122"/>
                <a:sym typeface="楷体" panose="02010609060101010101" charset="-122"/>
              </a:rPr>
              <a:t>丙和丁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丁和己</a:t>
            </a:r>
            <a:r>
              <a:rPr lang="en-US" altLang="zh-CN" sz="2000" spc="200" dirty="0">
                <a:solidFill>
                  <a:srgbClr val="000000"/>
                </a:solidFill>
                <a:latin typeface="+mn-ea"/>
                <a:cs typeface="楷体" panose="02010609060101010101" charset="-122"/>
                <a:sym typeface="楷体" panose="02010609060101010101" charset="-122"/>
              </a:rPr>
              <a:t>	D.</a:t>
            </a:r>
            <a:r>
              <a:rPr lang="zh-CN" altLang="en-US" sz="2000" spc="200" dirty="0">
                <a:solidFill>
                  <a:srgbClr val="000000"/>
                </a:solidFill>
                <a:latin typeface="+mn-ea"/>
                <a:cs typeface="楷体" panose="02010609060101010101" charset="-122"/>
                <a:sym typeface="楷体" panose="02010609060101010101" charset="-122"/>
              </a:rPr>
              <a:t>己和庚</a:t>
            </a:r>
            <a:endParaRPr lang="zh-CN" altLang="en-US" sz="2000"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custDataLst>
              <p:tags r:id="rId2"/>
            </p:custDataLst>
          </p:nvPr>
        </p:nvGraphicFramePr>
        <p:xfrm>
          <a:off x="6909435" y="4580255"/>
          <a:ext cx="4947920" cy="1387475"/>
        </p:xfrm>
        <a:graphic>
          <a:graphicData uri="http://schemas.openxmlformats.org/drawingml/2006/table">
            <a:tbl>
              <a:tblPr firstRow="1" bandRow="1">
                <a:tableStyleId>{5C22544A-7EE6-4342-B048-85BDC9FD1C3A}</a:tableStyleId>
              </a:tblPr>
              <a:tblGrid>
                <a:gridCol w="1236980"/>
                <a:gridCol w="1236980"/>
                <a:gridCol w="1236980"/>
                <a:gridCol w="1236980"/>
              </a:tblGrid>
              <a:tr h="527050">
                <a:tc>
                  <a:txBody>
                    <a:bodyPr/>
                    <a:p>
                      <a:pPr>
                        <a:buNone/>
                      </a:pPr>
                      <a:r>
                        <a:rPr lang="zh-CN" altLang="en-US"/>
                        <a:t>第一季度</a:t>
                      </a:r>
                      <a:endParaRPr lang="zh-CN" altLang="en-US"/>
                    </a:p>
                  </a:txBody>
                  <a:tcPr/>
                </a:tc>
                <a:tc>
                  <a:txBody>
                    <a:bodyPr/>
                    <a:p>
                      <a:pPr>
                        <a:buNone/>
                      </a:pPr>
                      <a:r>
                        <a:rPr lang="zh-CN" altLang="en-US"/>
                        <a:t>第二季度</a:t>
                      </a:r>
                      <a:endParaRPr lang="zh-CN" altLang="en-US"/>
                    </a:p>
                  </a:txBody>
                  <a:tcPr/>
                </a:tc>
                <a:tc>
                  <a:txBody>
                    <a:bodyPr/>
                    <a:p>
                      <a:pPr>
                        <a:buNone/>
                      </a:pPr>
                      <a:r>
                        <a:rPr lang="zh-CN" altLang="en-US"/>
                        <a:t>第三季度</a:t>
                      </a:r>
                      <a:endParaRPr lang="zh-CN" altLang="en-US"/>
                    </a:p>
                  </a:txBody>
                  <a:tcPr/>
                </a:tc>
                <a:tc>
                  <a:txBody>
                    <a:bodyPr/>
                    <a:p>
                      <a:pPr>
                        <a:buNone/>
                      </a:pPr>
                      <a:r>
                        <a:rPr lang="zh-CN" altLang="en-US"/>
                        <a:t>第四季度</a:t>
                      </a:r>
                      <a:endParaRPr lang="zh-CN" altLang="en-US"/>
                    </a:p>
                  </a:txBody>
                  <a:tcPr/>
                </a:tc>
              </a:tr>
              <a:tr h="860425">
                <a:tc>
                  <a:txBody>
                    <a:bodyPr/>
                    <a:p>
                      <a:pPr>
                        <a:buNone/>
                      </a:pPr>
                      <a:endParaRPr lang="zh-CN" altLang="en-US"/>
                    </a:p>
                  </a:txBody>
                  <a:tcPr/>
                </a:tc>
                <a:tc>
                  <a:txBody>
                    <a:bodyPr/>
                    <a:p>
                      <a:pPr>
                        <a:buNone/>
                      </a:pPr>
                      <a:r>
                        <a:rPr lang="zh-CN" altLang="en-US" sz="2400"/>
                        <a:t>丁辛</a:t>
                      </a:r>
                      <a:endParaRPr lang="zh-CN" altLang="en-US" sz="2400"/>
                    </a:p>
                  </a:txBody>
                  <a:tcPr/>
                </a:tc>
                <a:tc>
                  <a:txBody>
                    <a:bodyPr/>
                    <a:p>
                      <a:pPr>
                        <a:buNone/>
                      </a:pPr>
                      <a:endParaRPr lang="zh-CN" altLang="en-US"/>
                    </a:p>
                  </a:txBody>
                  <a:tcPr/>
                </a:tc>
                <a:tc>
                  <a:txBody>
                    <a:bodyPr/>
                    <a:p>
                      <a:pPr>
                        <a:buNone/>
                      </a:pPr>
                      <a:endParaRPr lang="zh-CN" altLang="en-US"/>
                    </a:p>
                  </a:txBody>
                  <a:tcPr/>
                </a:tc>
              </a:tr>
            </a:tbl>
          </a:graphicData>
        </a:graphic>
      </p:graphicFrame>
      <p:sp>
        <p:nvSpPr>
          <p:cNvPr id="3" name="文本框 2"/>
          <p:cNvSpPr txBox="1"/>
          <p:nvPr/>
        </p:nvSpPr>
        <p:spPr>
          <a:xfrm>
            <a:off x="6096000" y="2221865"/>
            <a:ext cx="407797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）丁辛二季度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）甲、戊同季度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）乙＞丁＞丙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）己＞丙＞甲</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spc="200" dirty="0">
                <a:solidFill>
                  <a:srgbClr val="000000"/>
                </a:solidFill>
                <a:latin typeface="+mn-ea"/>
                <a:cs typeface="楷体" panose="02010609060101010101" charset="-122"/>
                <a:sym typeface="楷体" panose="02010609060101010101" charset="-122"/>
              </a:rPr>
              <a:t>106</a:t>
            </a: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某科研机构今年拟举办甲、乙、丙、丁、戊、己、庚、辛</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次学术会议，每个季度最多举办</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次，且各次会议举办时间不重叠。具体安排要求如下：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）丁、辛安排在第二季度；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）甲、戊安排在同一个季度；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）丁在乙之后丙之前举办；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）丙在甲之前己之后举办。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107.</a:t>
            </a:r>
            <a:r>
              <a:rPr lang="zh-CN" altLang="en-US" sz="2000" spc="200" dirty="0">
                <a:solidFill>
                  <a:srgbClr val="000000"/>
                </a:solidFill>
                <a:latin typeface="+mn-ea"/>
                <a:cs typeface="楷体" panose="02010609060101010101" charset="-122"/>
                <a:sym typeface="楷体" panose="02010609060101010101" charset="-122"/>
              </a:rPr>
              <a:t>如果第二季度只安排</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次会议，那么以下哪次会议一定安排在第一季度？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a:t>
            </a:r>
            <a:r>
              <a:rPr lang="en-US" altLang="zh-CN" sz="2000" spc="200" dirty="0">
                <a:solidFill>
                  <a:srgbClr val="000000"/>
                </a:solidFill>
                <a:latin typeface="+mn-ea"/>
                <a:cs typeface="楷体" panose="02010609060101010101" charset="-122"/>
                <a:sym typeface="楷体" panose="02010609060101010101" charset="-122"/>
              </a:rPr>
              <a:t>	B.</a:t>
            </a:r>
            <a:r>
              <a:rPr lang="zh-CN" altLang="en-US" sz="2000" spc="200" dirty="0">
                <a:solidFill>
                  <a:srgbClr val="000000"/>
                </a:solidFill>
                <a:latin typeface="+mn-ea"/>
                <a:cs typeface="楷体" panose="02010609060101010101" charset="-122"/>
                <a:sym typeface="楷体" panose="02010609060101010101" charset="-122"/>
              </a:rPr>
              <a:t>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庚</a:t>
            </a:r>
            <a:r>
              <a:rPr lang="en-US" altLang="zh-CN" sz="2000" spc="200" dirty="0">
                <a:solidFill>
                  <a:srgbClr val="000000"/>
                </a:solidFill>
                <a:latin typeface="+mn-ea"/>
                <a:cs typeface="楷体" panose="02010609060101010101" charset="-122"/>
                <a:sym typeface="楷体" panose="02010609060101010101" charset="-122"/>
              </a:rPr>
              <a:t>	D.</a:t>
            </a:r>
            <a:r>
              <a:rPr lang="zh-CN" altLang="en-US" sz="2000" spc="200" dirty="0">
                <a:solidFill>
                  <a:srgbClr val="000000"/>
                </a:solidFill>
                <a:latin typeface="+mn-ea"/>
                <a:cs typeface="楷体" panose="02010609060101010101" charset="-122"/>
                <a:sym typeface="楷体" panose="02010609060101010101" charset="-122"/>
              </a:rPr>
              <a:t>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custDataLst>
              <p:tags r:id="rId2"/>
            </p:custDataLst>
          </p:nvPr>
        </p:nvGraphicFramePr>
        <p:xfrm>
          <a:off x="6909435" y="4580255"/>
          <a:ext cx="4947920" cy="1387475"/>
        </p:xfrm>
        <a:graphic>
          <a:graphicData uri="http://schemas.openxmlformats.org/drawingml/2006/table">
            <a:tbl>
              <a:tblPr firstRow="1" bandRow="1">
                <a:tableStyleId>{5C22544A-7EE6-4342-B048-85BDC9FD1C3A}</a:tableStyleId>
              </a:tblPr>
              <a:tblGrid>
                <a:gridCol w="1236980"/>
                <a:gridCol w="1236980"/>
                <a:gridCol w="1236980"/>
                <a:gridCol w="1236980"/>
              </a:tblGrid>
              <a:tr h="527050">
                <a:tc>
                  <a:txBody>
                    <a:bodyPr/>
                    <a:p>
                      <a:pPr>
                        <a:buNone/>
                      </a:pPr>
                      <a:r>
                        <a:rPr lang="zh-CN" altLang="en-US"/>
                        <a:t>第一季度</a:t>
                      </a:r>
                      <a:endParaRPr lang="zh-CN" altLang="en-US"/>
                    </a:p>
                  </a:txBody>
                  <a:tcPr/>
                </a:tc>
                <a:tc>
                  <a:txBody>
                    <a:bodyPr/>
                    <a:p>
                      <a:pPr>
                        <a:buNone/>
                      </a:pPr>
                      <a:r>
                        <a:rPr lang="zh-CN" altLang="en-US"/>
                        <a:t>第二季度</a:t>
                      </a:r>
                      <a:endParaRPr lang="zh-CN" altLang="en-US"/>
                    </a:p>
                  </a:txBody>
                  <a:tcPr/>
                </a:tc>
                <a:tc>
                  <a:txBody>
                    <a:bodyPr/>
                    <a:p>
                      <a:pPr>
                        <a:buNone/>
                      </a:pPr>
                      <a:r>
                        <a:rPr lang="zh-CN" altLang="en-US"/>
                        <a:t>第三季度</a:t>
                      </a:r>
                      <a:endParaRPr lang="zh-CN" altLang="en-US"/>
                    </a:p>
                  </a:txBody>
                  <a:tcPr/>
                </a:tc>
                <a:tc>
                  <a:txBody>
                    <a:bodyPr/>
                    <a:p>
                      <a:pPr>
                        <a:buNone/>
                      </a:pPr>
                      <a:r>
                        <a:rPr lang="zh-CN" altLang="en-US"/>
                        <a:t>第四季度</a:t>
                      </a:r>
                      <a:endParaRPr lang="zh-CN" altLang="en-US"/>
                    </a:p>
                  </a:txBody>
                  <a:tcPr/>
                </a:tc>
              </a:tr>
              <a:tr h="860425">
                <a:tc>
                  <a:txBody>
                    <a:bodyPr/>
                    <a:p>
                      <a:pPr>
                        <a:buNone/>
                      </a:pPr>
                      <a:endParaRPr lang="zh-CN" altLang="en-US"/>
                    </a:p>
                  </a:txBody>
                  <a:tcPr/>
                </a:tc>
                <a:tc>
                  <a:txBody>
                    <a:bodyPr/>
                    <a:p>
                      <a:pPr>
                        <a:buNone/>
                      </a:pPr>
                      <a:r>
                        <a:rPr lang="zh-CN" altLang="en-US" sz="2400"/>
                        <a:t>丁辛</a:t>
                      </a:r>
                      <a:endParaRPr lang="zh-CN" altLang="en-US" sz="2400"/>
                    </a:p>
                  </a:txBody>
                  <a:tcPr/>
                </a:tc>
                <a:tc>
                  <a:txBody>
                    <a:bodyPr/>
                    <a:p>
                      <a:pPr>
                        <a:buNone/>
                      </a:pPr>
                      <a:endParaRPr lang="zh-CN" altLang="en-US"/>
                    </a:p>
                  </a:txBody>
                  <a:tcPr/>
                </a:tc>
                <a:tc>
                  <a:txBody>
                    <a:bodyPr/>
                    <a:p>
                      <a:pPr>
                        <a:buNone/>
                      </a:pPr>
                      <a:endParaRPr lang="zh-CN" altLang="en-US"/>
                    </a:p>
                  </a:txBody>
                  <a:tcPr/>
                </a:tc>
              </a:tr>
            </a:tbl>
          </a:graphicData>
        </a:graphic>
      </p:graphicFrame>
      <p:sp>
        <p:nvSpPr>
          <p:cNvPr id="3" name="文本框 2"/>
          <p:cNvSpPr txBox="1"/>
          <p:nvPr/>
        </p:nvSpPr>
        <p:spPr>
          <a:xfrm>
            <a:off x="6096000" y="2221865"/>
            <a:ext cx="407797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）丁辛二季度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）甲、戊同季度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）乙＞丁＞丙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）己＞丙＞甲</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70789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某科研机构今年拟举办甲、乙、丙、丁、戊、己、庚、辛</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次学术会议，每个季度最多举办</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次，且各次会议举办时间不重叠。具体安排要求如下：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）丁、辛安排在第二季度；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）甲、戊安排在同一个季度；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）丁在乙之后丙之前举办；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）丙在甲之前己之后举办。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108.</a:t>
            </a:r>
            <a:r>
              <a:rPr lang="zh-CN" altLang="en-US" sz="2000" spc="200" dirty="0">
                <a:solidFill>
                  <a:srgbClr val="000000"/>
                </a:solidFill>
                <a:latin typeface="+mn-ea"/>
                <a:cs typeface="楷体" panose="02010609060101010101" charset="-122"/>
                <a:sym typeface="楷体" panose="02010609060101010101" charset="-122"/>
              </a:rPr>
              <a:t>如果丙、戊安排在第四季度，下列哪</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次会议可以安排在第三季度？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甲和庚</a:t>
            </a:r>
            <a:r>
              <a:rPr lang="en-US" altLang="zh-CN" sz="2000" spc="200" dirty="0">
                <a:solidFill>
                  <a:srgbClr val="000000"/>
                </a:solidFill>
                <a:latin typeface="+mn-ea"/>
                <a:cs typeface="楷体" panose="02010609060101010101" charset="-122"/>
                <a:sym typeface="楷体" panose="02010609060101010101" charset="-122"/>
              </a:rPr>
              <a:t>	B.</a:t>
            </a:r>
            <a:r>
              <a:rPr lang="zh-CN" altLang="en-US" sz="2000" spc="200" dirty="0">
                <a:solidFill>
                  <a:srgbClr val="000000"/>
                </a:solidFill>
                <a:latin typeface="+mn-ea"/>
                <a:cs typeface="楷体" panose="02010609060101010101" charset="-122"/>
                <a:sym typeface="楷体" panose="02010609060101010101" charset="-122"/>
              </a:rPr>
              <a:t>乙和丁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乙和己</a:t>
            </a:r>
            <a:r>
              <a:rPr lang="en-US" altLang="zh-CN" sz="2000" spc="200" dirty="0">
                <a:solidFill>
                  <a:srgbClr val="000000"/>
                </a:solidFill>
                <a:latin typeface="+mn-ea"/>
                <a:cs typeface="楷体" panose="02010609060101010101" charset="-122"/>
                <a:sym typeface="楷体" panose="02010609060101010101" charset="-122"/>
              </a:rPr>
              <a:t>	D.</a:t>
            </a:r>
            <a:r>
              <a:rPr lang="zh-CN" altLang="en-US" sz="2000" spc="200" dirty="0">
                <a:solidFill>
                  <a:srgbClr val="000000"/>
                </a:solidFill>
                <a:latin typeface="+mn-ea"/>
                <a:cs typeface="楷体" panose="02010609060101010101" charset="-122"/>
                <a:sym typeface="楷体" panose="02010609060101010101" charset="-122"/>
              </a:rPr>
              <a:t>己和庚</a:t>
            </a:r>
            <a:endParaRPr lang="zh-CN" altLang="en-US" sz="2000"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custDataLst>
              <p:tags r:id="rId2"/>
            </p:custDataLst>
          </p:nvPr>
        </p:nvGraphicFramePr>
        <p:xfrm>
          <a:off x="6909435" y="4494530"/>
          <a:ext cx="4947920" cy="1387475"/>
        </p:xfrm>
        <a:graphic>
          <a:graphicData uri="http://schemas.openxmlformats.org/drawingml/2006/table">
            <a:tbl>
              <a:tblPr firstRow="1" bandRow="1">
                <a:tableStyleId>{5C22544A-7EE6-4342-B048-85BDC9FD1C3A}</a:tableStyleId>
              </a:tblPr>
              <a:tblGrid>
                <a:gridCol w="1236980"/>
                <a:gridCol w="1236980"/>
                <a:gridCol w="1236980"/>
                <a:gridCol w="1236980"/>
              </a:tblGrid>
              <a:tr h="527050">
                <a:tc>
                  <a:txBody>
                    <a:bodyPr/>
                    <a:p>
                      <a:pPr>
                        <a:buNone/>
                      </a:pPr>
                      <a:r>
                        <a:rPr lang="zh-CN" altLang="en-US"/>
                        <a:t>第一季度</a:t>
                      </a:r>
                      <a:endParaRPr lang="zh-CN" altLang="en-US"/>
                    </a:p>
                  </a:txBody>
                  <a:tcPr/>
                </a:tc>
                <a:tc>
                  <a:txBody>
                    <a:bodyPr/>
                    <a:p>
                      <a:pPr>
                        <a:buNone/>
                      </a:pPr>
                      <a:r>
                        <a:rPr lang="zh-CN" altLang="en-US"/>
                        <a:t>第二季度</a:t>
                      </a:r>
                      <a:endParaRPr lang="zh-CN" altLang="en-US"/>
                    </a:p>
                  </a:txBody>
                  <a:tcPr/>
                </a:tc>
                <a:tc>
                  <a:txBody>
                    <a:bodyPr/>
                    <a:p>
                      <a:pPr>
                        <a:buNone/>
                      </a:pPr>
                      <a:r>
                        <a:rPr lang="zh-CN" altLang="en-US"/>
                        <a:t>第三季度</a:t>
                      </a:r>
                      <a:endParaRPr lang="zh-CN" altLang="en-US"/>
                    </a:p>
                  </a:txBody>
                  <a:tcPr/>
                </a:tc>
                <a:tc>
                  <a:txBody>
                    <a:bodyPr/>
                    <a:p>
                      <a:pPr>
                        <a:buNone/>
                      </a:pPr>
                      <a:r>
                        <a:rPr lang="zh-CN" altLang="en-US"/>
                        <a:t>第四季度</a:t>
                      </a:r>
                      <a:endParaRPr lang="zh-CN" altLang="en-US"/>
                    </a:p>
                  </a:txBody>
                  <a:tcPr/>
                </a:tc>
              </a:tr>
              <a:tr h="860425">
                <a:tc>
                  <a:txBody>
                    <a:bodyPr/>
                    <a:p>
                      <a:pPr>
                        <a:buNone/>
                      </a:pPr>
                      <a:endParaRPr lang="zh-CN" altLang="en-US"/>
                    </a:p>
                  </a:txBody>
                  <a:tcPr/>
                </a:tc>
                <a:tc>
                  <a:txBody>
                    <a:bodyPr/>
                    <a:p>
                      <a:pPr>
                        <a:buNone/>
                      </a:pPr>
                      <a:r>
                        <a:rPr lang="zh-CN" altLang="en-US" sz="2400"/>
                        <a:t>丁辛</a:t>
                      </a:r>
                      <a:endParaRPr lang="zh-CN" altLang="en-US" sz="2400"/>
                    </a:p>
                  </a:txBody>
                  <a:tcPr/>
                </a:tc>
                <a:tc>
                  <a:txBody>
                    <a:bodyPr/>
                    <a:p>
                      <a:pPr>
                        <a:buNone/>
                      </a:pPr>
                      <a:endParaRPr lang="zh-CN" altLang="en-US"/>
                    </a:p>
                  </a:txBody>
                  <a:tcPr/>
                </a:tc>
                <a:tc>
                  <a:txBody>
                    <a:bodyPr/>
                    <a:p>
                      <a:pPr>
                        <a:buNone/>
                      </a:pPr>
                      <a:r>
                        <a:rPr lang="zh-CN" altLang="en-US" sz="2400"/>
                        <a:t>丙戊</a:t>
                      </a:r>
                      <a:endParaRPr lang="zh-CN" altLang="en-US" sz="2400"/>
                    </a:p>
                  </a:txBody>
                  <a:tcPr/>
                </a:tc>
              </a:tr>
            </a:tbl>
          </a:graphicData>
        </a:graphic>
      </p:graphicFrame>
      <p:sp>
        <p:nvSpPr>
          <p:cNvPr id="3" name="文本框 2"/>
          <p:cNvSpPr txBox="1"/>
          <p:nvPr/>
        </p:nvSpPr>
        <p:spPr>
          <a:xfrm>
            <a:off x="6096000" y="2136140"/>
            <a:ext cx="407797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）丁辛二季度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）甲、戊同季度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）乙＞丁＞丙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）己＞丙＞甲</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某科研机构今年拟举办甲、乙、丙、丁、戊、己、庚、辛</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次学术会议，每个季度最多举办</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次，且各次会议举办时间不重叠。具体安排要求如下：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）丁、辛安排在第二季度；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）甲、戊安排在同一个季度；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）丁在乙之后丙之前举办；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）丙在甲之前己之后举办。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如果每个季度至少安排</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次会议，并且最后一个季度仅安排</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次会议，下列哪</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次会议一定安排在第三季度？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甲和戊</a:t>
            </a:r>
            <a:r>
              <a:rPr lang="en-US" altLang="zh-CN" sz="2000" spc="200" dirty="0">
                <a:solidFill>
                  <a:srgbClr val="000000"/>
                </a:solidFill>
                <a:latin typeface="+mn-ea"/>
                <a:cs typeface="楷体" panose="02010609060101010101" charset="-122"/>
                <a:sym typeface="楷体" panose="02010609060101010101" charset="-122"/>
              </a:rPr>
              <a:t>	B.</a:t>
            </a:r>
            <a:r>
              <a:rPr lang="zh-CN" altLang="en-US" sz="2000" spc="200" dirty="0">
                <a:solidFill>
                  <a:srgbClr val="000000"/>
                </a:solidFill>
                <a:latin typeface="+mn-ea"/>
                <a:cs typeface="楷体" panose="02010609060101010101" charset="-122"/>
                <a:sym typeface="楷体" panose="02010609060101010101" charset="-122"/>
              </a:rPr>
              <a:t>乙和丙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丙和己</a:t>
            </a:r>
            <a:r>
              <a:rPr lang="en-US" altLang="zh-CN" sz="2000" spc="200" dirty="0">
                <a:solidFill>
                  <a:srgbClr val="000000"/>
                </a:solidFill>
                <a:latin typeface="+mn-ea"/>
                <a:cs typeface="楷体" panose="02010609060101010101" charset="-122"/>
                <a:sym typeface="楷体" panose="02010609060101010101" charset="-122"/>
              </a:rPr>
              <a:t>	D.</a:t>
            </a:r>
            <a:r>
              <a:rPr lang="zh-CN" altLang="en-US" sz="2000" spc="200" dirty="0">
                <a:solidFill>
                  <a:srgbClr val="000000"/>
                </a:solidFill>
                <a:latin typeface="+mn-ea"/>
                <a:cs typeface="楷体" panose="02010609060101010101" charset="-122"/>
                <a:sym typeface="楷体" panose="02010609060101010101" charset="-122"/>
              </a:rPr>
              <a:t>己和庚</a:t>
            </a:r>
            <a:endParaRPr lang="zh-CN" altLang="en-US" sz="2000"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custDataLst>
              <p:tags r:id="rId2"/>
            </p:custDataLst>
          </p:nvPr>
        </p:nvGraphicFramePr>
        <p:xfrm>
          <a:off x="6909435" y="4494530"/>
          <a:ext cx="4947920" cy="1387475"/>
        </p:xfrm>
        <a:graphic>
          <a:graphicData uri="http://schemas.openxmlformats.org/drawingml/2006/table">
            <a:tbl>
              <a:tblPr firstRow="1" bandRow="1">
                <a:tableStyleId>{5C22544A-7EE6-4342-B048-85BDC9FD1C3A}</a:tableStyleId>
              </a:tblPr>
              <a:tblGrid>
                <a:gridCol w="1236980"/>
                <a:gridCol w="1236980"/>
                <a:gridCol w="1236980"/>
                <a:gridCol w="1236980"/>
              </a:tblGrid>
              <a:tr h="527050">
                <a:tc>
                  <a:txBody>
                    <a:bodyPr/>
                    <a:p>
                      <a:pPr>
                        <a:buNone/>
                      </a:pPr>
                      <a:r>
                        <a:rPr lang="zh-CN" altLang="en-US"/>
                        <a:t>第一季度</a:t>
                      </a:r>
                      <a:endParaRPr lang="zh-CN" altLang="en-US"/>
                    </a:p>
                  </a:txBody>
                  <a:tcPr/>
                </a:tc>
                <a:tc>
                  <a:txBody>
                    <a:bodyPr/>
                    <a:p>
                      <a:pPr>
                        <a:buNone/>
                      </a:pPr>
                      <a:r>
                        <a:rPr lang="zh-CN" altLang="en-US"/>
                        <a:t>第二季度</a:t>
                      </a:r>
                      <a:endParaRPr lang="zh-CN" altLang="en-US"/>
                    </a:p>
                  </a:txBody>
                  <a:tcPr/>
                </a:tc>
                <a:tc>
                  <a:txBody>
                    <a:bodyPr/>
                    <a:p>
                      <a:pPr>
                        <a:buNone/>
                      </a:pPr>
                      <a:r>
                        <a:rPr lang="zh-CN" altLang="en-US"/>
                        <a:t>第三季度</a:t>
                      </a:r>
                      <a:endParaRPr lang="zh-CN" altLang="en-US"/>
                    </a:p>
                  </a:txBody>
                  <a:tcPr/>
                </a:tc>
                <a:tc>
                  <a:txBody>
                    <a:bodyPr/>
                    <a:p>
                      <a:pPr>
                        <a:buNone/>
                      </a:pPr>
                      <a:r>
                        <a:rPr lang="zh-CN" altLang="en-US"/>
                        <a:t>第四季度</a:t>
                      </a:r>
                      <a:endParaRPr lang="zh-CN" altLang="en-US"/>
                    </a:p>
                  </a:txBody>
                  <a:tcPr/>
                </a:tc>
              </a:tr>
              <a:tr h="860425">
                <a:tc>
                  <a:txBody>
                    <a:bodyPr/>
                    <a:p>
                      <a:pPr>
                        <a:buNone/>
                      </a:pPr>
                      <a:endParaRPr lang="zh-CN" altLang="en-US"/>
                    </a:p>
                  </a:txBody>
                  <a:tcPr/>
                </a:tc>
                <a:tc>
                  <a:txBody>
                    <a:bodyPr/>
                    <a:p>
                      <a:pPr>
                        <a:buNone/>
                      </a:pPr>
                      <a:r>
                        <a:rPr lang="zh-CN" altLang="en-US" sz="2400"/>
                        <a:t>丁辛</a:t>
                      </a:r>
                      <a:endParaRPr lang="zh-CN" altLang="en-US" sz="2400"/>
                    </a:p>
                  </a:txBody>
                  <a:tcPr/>
                </a:tc>
                <a:tc>
                  <a:txBody>
                    <a:bodyPr/>
                    <a:p>
                      <a:pPr>
                        <a:buNone/>
                      </a:pPr>
                      <a:endParaRPr lang="zh-CN" altLang="en-US"/>
                    </a:p>
                  </a:txBody>
                  <a:tcPr/>
                </a:tc>
                <a:tc>
                  <a:txBody>
                    <a:bodyPr/>
                    <a:p>
                      <a:pPr>
                        <a:buNone/>
                      </a:pPr>
                      <a:endParaRPr lang="zh-CN" altLang="en-US"/>
                    </a:p>
                  </a:txBody>
                  <a:tcPr/>
                </a:tc>
              </a:tr>
            </a:tbl>
          </a:graphicData>
        </a:graphic>
      </p:graphicFrame>
      <p:sp>
        <p:nvSpPr>
          <p:cNvPr id="3" name="文本框 2"/>
          <p:cNvSpPr txBox="1"/>
          <p:nvPr/>
        </p:nvSpPr>
        <p:spPr>
          <a:xfrm>
            <a:off x="6096000" y="2136140"/>
            <a:ext cx="407797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）丁辛二季度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）甲、戊同季度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）乙＞丁＞丙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）己＞丙＞甲</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某科研机构今年拟举办甲、乙、丙、丁、戊、己、庚、辛</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次学术会议，每个季度最多举办</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次，且各次会议举办时间不重叠。具体安排要求如下：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）丁、辛安排在第二季度；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）甲、戊安排在同一个季度；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）丁在乙之后丙之前举办；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）丙在甲之前己之后举办。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如果甲安排在第三季度，第四季度不安排会议，庚不可能和哪次会议安排在同一个季度？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乙</a:t>
            </a:r>
            <a:r>
              <a:rPr lang="en-US" altLang="zh-CN" sz="2000" spc="200" dirty="0">
                <a:solidFill>
                  <a:srgbClr val="000000"/>
                </a:solidFill>
                <a:latin typeface="+mn-ea"/>
                <a:cs typeface="楷体" panose="02010609060101010101" charset="-122"/>
                <a:sym typeface="楷体" panose="02010609060101010101" charset="-122"/>
              </a:rPr>
              <a:t>	B.</a:t>
            </a:r>
            <a:r>
              <a:rPr lang="zh-CN" altLang="en-US" sz="2000" spc="200" dirty="0">
                <a:solidFill>
                  <a:srgbClr val="000000"/>
                </a:solidFill>
                <a:latin typeface="+mn-ea"/>
                <a:cs typeface="楷体" panose="02010609060101010101" charset="-122"/>
                <a:sym typeface="楷体" panose="02010609060101010101" charset="-122"/>
              </a:rPr>
              <a:t>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己</a:t>
            </a:r>
            <a:r>
              <a:rPr lang="en-US" altLang="zh-CN" sz="2000" spc="200" dirty="0">
                <a:solidFill>
                  <a:srgbClr val="000000"/>
                </a:solidFill>
                <a:latin typeface="+mn-ea"/>
                <a:cs typeface="楷体" panose="02010609060101010101" charset="-122"/>
                <a:sym typeface="楷体" panose="02010609060101010101" charset="-122"/>
              </a:rPr>
              <a:t>	D.</a:t>
            </a:r>
            <a:r>
              <a:rPr lang="zh-CN" altLang="en-US" sz="2000" spc="200" dirty="0">
                <a:solidFill>
                  <a:srgbClr val="000000"/>
                </a:solidFill>
                <a:latin typeface="+mn-ea"/>
                <a:cs typeface="楷体" panose="02010609060101010101" charset="-122"/>
                <a:sym typeface="楷体" panose="02010609060101010101" charset="-122"/>
              </a:rPr>
              <a:t>辛</a:t>
            </a:r>
            <a:endParaRPr lang="zh-CN" altLang="en-US" sz="2000"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custDataLst>
              <p:tags r:id="rId2"/>
            </p:custDataLst>
          </p:nvPr>
        </p:nvGraphicFramePr>
        <p:xfrm>
          <a:off x="6909435" y="4494530"/>
          <a:ext cx="4947920" cy="1387475"/>
        </p:xfrm>
        <a:graphic>
          <a:graphicData uri="http://schemas.openxmlformats.org/drawingml/2006/table">
            <a:tbl>
              <a:tblPr firstRow="1" bandRow="1">
                <a:tableStyleId>{5C22544A-7EE6-4342-B048-85BDC9FD1C3A}</a:tableStyleId>
              </a:tblPr>
              <a:tblGrid>
                <a:gridCol w="1236980"/>
                <a:gridCol w="1236980"/>
                <a:gridCol w="1236980"/>
                <a:gridCol w="1236980"/>
              </a:tblGrid>
              <a:tr h="527050">
                <a:tc>
                  <a:txBody>
                    <a:bodyPr/>
                    <a:p>
                      <a:pPr>
                        <a:buNone/>
                      </a:pPr>
                      <a:r>
                        <a:rPr lang="zh-CN" altLang="en-US"/>
                        <a:t>第一季度</a:t>
                      </a:r>
                      <a:endParaRPr lang="zh-CN" altLang="en-US"/>
                    </a:p>
                  </a:txBody>
                  <a:tcPr/>
                </a:tc>
                <a:tc>
                  <a:txBody>
                    <a:bodyPr/>
                    <a:p>
                      <a:pPr>
                        <a:buNone/>
                      </a:pPr>
                      <a:r>
                        <a:rPr lang="zh-CN" altLang="en-US"/>
                        <a:t>第二季度</a:t>
                      </a:r>
                      <a:endParaRPr lang="zh-CN" altLang="en-US"/>
                    </a:p>
                  </a:txBody>
                  <a:tcPr/>
                </a:tc>
                <a:tc>
                  <a:txBody>
                    <a:bodyPr/>
                    <a:p>
                      <a:pPr>
                        <a:buNone/>
                      </a:pPr>
                      <a:r>
                        <a:rPr lang="zh-CN" altLang="en-US"/>
                        <a:t>第三季度</a:t>
                      </a:r>
                      <a:endParaRPr lang="zh-CN" altLang="en-US"/>
                    </a:p>
                  </a:txBody>
                  <a:tcPr/>
                </a:tc>
                <a:tc>
                  <a:txBody>
                    <a:bodyPr/>
                    <a:p>
                      <a:pPr>
                        <a:buNone/>
                      </a:pPr>
                      <a:r>
                        <a:rPr lang="zh-CN" altLang="en-US"/>
                        <a:t>第四季度</a:t>
                      </a:r>
                      <a:endParaRPr lang="zh-CN" altLang="en-US"/>
                    </a:p>
                  </a:txBody>
                  <a:tcPr/>
                </a:tc>
              </a:tr>
              <a:tr h="860425">
                <a:tc>
                  <a:txBody>
                    <a:bodyPr/>
                    <a:p>
                      <a:pPr>
                        <a:buNone/>
                      </a:pPr>
                      <a:endParaRPr lang="zh-CN" altLang="en-US"/>
                    </a:p>
                  </a:txBody>
                  <a:tcPr/>
                </a:tc>
                <a:tc>
                  <a:txBody>
                    <a:bodyPr/>
                    <a:p>
                      <a:pPr>
                        <a:buNone/>
                      </a:pPr>
                      <a:r>
                        <a:rPr lang="zh-CN" altLang="en-US" sz="2400"/>
                        <a:t>丁辛</a:t>
                      </a:r>
                      <a:endParaRPr lang="zh-CN" altLang="en-US" sz="2400"/>
                    </a:p>
                  </a:txBody>
                  <a:tcPr/>
                </a:tc>
                <a:tc>
                  <a:txBody>
                    <a:bodyPr/>
                    <a:p>
                      <a:pPr>
                        <a:buNone/>
                      </a:pPr>
                      <a:r>
                        <a:rPr lang="zh-CN" altLang="en-US" sz="2400"/>
                        <a:t>甲</a:t>
                      </a:r>
                      <a:endParaRPr lang="zh-CN" altLang="en-US" sz="2400"/>
                    </a:p>
                  </a:txBody>
                  <a:tcPr/>
                </a:tc>
                <a:tc>
                  <a:txBody>
                    <a:bodyPr/>
                    <a:p>
                      <a:pPr>
                        <a:buNone/>
                      </a:pPr>
                      <a:r>
                        <a:rPr lang="zh-CN" altLang="en-US" sz="4800"/>
                        <a:t>×</a:t>
                      </a:r>
                      <a:endParaRPr lang="zh-CN" altLang="en-US" sz="4800"/>
                    </a:p>
                  </a:txBody>
                  <a:tcPr/>
                </a:tc>
              </a:tr>
            </a:tbl>
          </a:graphicData>
        </a:graphic>
      </p:graphicFrame>
      <p:sp>
        <p:nvSpPr>
          <p:cNvPr id="3" name="文本框 2"/>
          <p:cNvSpPr txBox="1"/>
          <p:nvPr/>
        </p:nvSpPr>
        <p:spPr>
          <a:xfrm>
            <a:off x="6096000" y="2136140"/>
            <a:ext cx="407797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）丁辛二季度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）甲、戊同季度</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）乙＞丁＞丙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）己＞丙＞甲</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970915" y="1978660"/>
            <a:ext cx="9973945" cy="393509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40.</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a:picLocks noChangeAspect="1"/>
          </p:cNvPicPr>
          <p:nvPr/>
        </p:nvPicPr>
        <p:blipFill>
          <a:blip r:embed="rId2"/>
          <a:stretch>
            <a:fillRect/>
          </a:stretch>
        </p:blipFill>
        <p:spPr>
          <a:xfrm>
            <a:off x="1263650" y="1932940"/>
            <a:ext cx="9664700" cy="3813175"/>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9632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41.</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1084580" y="1861820"/>
            <a:ext cx="10023475" cy="399859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9632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42.</a:t>
            </a:r>
            <a:r>
              <a:rPr lang="zh-CN" altLang="en-US" sz="2000" spc="200" dirty="0">
                <a:solidFill>
                  <a:srgbClr val="000000"/>
                </a:solidFill>
                <a:latin typeface="+mn-ea"/>
                <a:cs typeface="楷体" panose="02010609060101010101" charset="-122"/>
                <a:sym typeface="楷体" panose="02010609060101010101" charset="-122"/>
              </a:rPr>
              <a:t>左边为给定的多面体，现用经</a:t>
            </a:r>
            <a:r>
              <a:rPr lang="en-US" altLang="zh-CN" sz="2000" spc="200" dirty="0">
                <a:solidFill>
                  <a:srgbClr val="000000"/>
                </a:solidFill>
                <a:latin typeface="+mn-ea"/>
                <a:cs typeface="楷体" panose="02010609060101010101" charset="-122"/>
                <a:sym typeface="楷体" panose="02010609060101010101" charset="-122"/>
              </a:rPr>
              <a:t>P</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Q</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三个顶点的平面对其进行切割，问哪个选项是其切面？</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897573" y="5011738"/>
            <a:ext cx="1495425" cy="1495425"/>
          </a:xfrm>
          <a:prstGeom prst="rect">
            <a:avLst/>
          </a:prstGeom>
        </p:spPr>
      </p:pic>
      <p:pic>
        <p:nvPicPr>
          <p:cNvPr id="4" name="图片 3"/>
          <p:cNvPicPr/>
          <p:nvPr/>
        </p:nvPicPr>
        <p:blipFill>
          <a:blip r:embed="rId3"/>
          <a:stretch>
            <a:fillRect/>
          </a:stretch>
        </p:blipFill>
        <p:spPr>
          <a:xfrm>
            <a:off x="694690" y="2331085"/>
            <a:ext cx="11154410" cy="3686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6013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43.</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①③⑤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①③④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①③⑥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5" name="图片 4"/>
          <p:cNvPicPr>
            <a:picLocks noChangeAspect="1"/>
          </p:cNvPicPr>
          <p:nvPr/>
        </p:nvPicPr>
        <p:blipFill>
          <a:blip r:embed="rId2"/>
          <a:stretch>
            <a:fillRect/>
          </a:stretch>
        </p:blipFill>
        <p:spPr>
          <a:xfrm>
            <a:off x="3488055" y="1851025"/>
            <a:ext cx="4324350" cy="343535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44.</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①②③</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④⑤⑥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①⑤⑥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②③④</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①②④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①③⑤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4118610" y="1722755"/>
            <a:ext cx="4413250" cy="353822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45.</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①②④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①③④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①②⑤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③④⑥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spc="200" dirty="0">
                <a:solidFill>
                  <a:srgbClr val="000000"/>
                </a:solidFill>
                <a:latin typeface="+mn-ea"/>
                <a:cs typeface="楷体" panose="02010609060101010101" charset="-122"/>
                <a:sym typeface="楷体" panose="02010609060101010101" charset="-122"/>
              </a:rPr>
              <a:t>①④⑤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5" name="图片 4"/>
          <p:cNvPicPr>
            <a:picLocks noChangeAspect="1"/>
          </p:cNvPicPr>
          <p:nvPr/>
        </p:nvPicPr>
        <p:blipFill>
          <a:blip r:embed="rId2"/>
          <a:stretch>
            <a:fillRect/>
          </a:stretch>
        </p:blipFill>
        <p:spPr>
          <a:xfrm>
            <a:off x="4398010" y="1358265"/>
            <a:ext cx="4859655" cy="375602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854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46.</a:t>
            </a:r>
            <a:r>
              <a:rPr lang="zh-CN" altLang="en-US" sz="2000" spc="200" dirty="0">
                <a:solidFill>
                  <a:srgbClr val="000000"/>
                </a:solidFill>
                <a:latin typeface="+mn-ea"/>
                <a:cs typeface="楷体" panose="02010609060101010101" charset="-122"/>
                <a:sym typeface="楷体" panose="02010609060101010101" charset="-122"/>
              </a:rPr>
              <a:t>后视错觉是个体的一种认知偏差，是指在一件事情已经发生之后，即使个体之前没有对此做过预判，也认为自己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早就知道会这样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根据上述定义，下列符合后视错觉的是：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小瑾是一个悲观的人，她申请升职失败后，灰心丧气地说：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我早就知道，我什么都不如别人，什么也做不好。</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朋友邀阿欣去爬山，阿欣说高温预警不宜爬山，朋友坚持去，才到半山腰就汗流浃背，阿欣说：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我早就说会很热啊。</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晓琳参加一个重要会议迟到了。她懊悔地说：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我早该想到周一早上会堵车，不该按周末的情况预估通勤时间。</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晓菲在股票大跌之后，懊恼地说：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我早就觉察到那些信号了，觉得走势不太好，怎么就没有早卖出啊。</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676890"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47.</a:t>
            </a:r>
            <a:r>
              <a:rPr lang="zh-CN" altLang="en-US" sz="2000" spc="200" dirty="0">
                <a:solidFill>
                  <a:srgbClr val="000000"/>
                </a:solidFill>
                <a:latin typeface="+mn-ea"/>
                <a:cs typeface="楷体" panose="02010609060101010101" charset="-122"/>
                <a:sym typeface="楷体" panose="02010609060101010101" charset="-122"/>
              </a:rPr>
              <a:t>选择或然率理论解释的是影响受众对大众传播内容选择的决定性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因素。该理论的核心公式是：选择或然率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报偿的保证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费力的程度。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其中，报偿的保证指的是传播内容满足选择者需要的程度，即内容对于受众的吸引力和实用性；费力的程度指的是获取传播内容和使用传播途径的难度。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根据上述定义，下列属于提高选择或然率的传播行为的是：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视频号平台借助数据分析和个性化算法，给用户推荐符合其偏好的视频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时下流行的某影视作品在播放之前被插入一段</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分钟的广告</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某商家优化了商品布局，将畅销商品放在出口处，顾客可直接扫码支付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电视内置视频播放软件，开机后须先注册登录，才可搜索相关内容观看</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2350"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48.</a:t>
            </a:r>
            <a:r>
              <a:rPr lang="zh-CN" altLang="en-US" sz="2000" spc="200" dirty="0">
                <a:solidFill>
                  <a:srgbClr val="000000"/>
                </a:solidFill>
                <a:latin typeface="+mn-ea"/>
                <a:cs typeface="楷体" panose="02010609060101010101" charset="-122"/>
                <a:sym typeface="楷体" panose="02010609060101010101" charset="-122"/>
              </a:rPr>
              <a:t>三维反求是测量技术、数据处理技术、图形处理技术和加工技术相结合的综合性技术，是指用一定的测量方法对实物进行测量，根据测量数据通过三维几何建模方法重构实物的数字化模型的过程。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根据上述定义，下列关于三维反求工程的步骤，排序正确的是：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通过制造样品来验证模型是否满足精度和其他性能指标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通过一定的算法，从测量数据中提取零件的设计与加工特征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使用高精度的三维测量技术获取零件表面各点的空间坐标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④</a:t>
            </a:r>
            <a:r>
              <a:rPr lang="zh-CN" altLang="en-US" sz="2000" spc="200" dirty="0">
                <a:solidFill>
                  <a:srgbClr val="000000"/>
                </a:solidFill>
                <a:latin typeface="+mn-ea"/>
                <a:cs typeface="楷体" panose="02010609060101010101" charset="-122"/>
                <a:sym typeface="楷体" panose="02010609060101010101" charset="-122"/>
              </a:rPr>
              <a:t>使用计算机辅助设计软件将数据与特征重构为三维模型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①③④②</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①④③②</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③①②④</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③②④①</a:t>
            </a:r>
            <a:endParaRPr lang="en-US"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2350"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49.</a:t>
            </a:r>
            <a:r>
              <a:rPr lang="zh-CN" altLang="en-US" sz="2000" spc="200" dirty="0">
                <a:solidFill>
                  <a:srgbClr val="000000"/>
                </a:solidFill>
                <a:latin typeface="+mn-ea"/>
                <a:cs typeface="楷体" panose="02010609060101010101" charset="-122"/>
                <a:sym typeface="楷体" panose="02010609060101010101" charset="-122"/>
              </a:rPr>
              <a:t>元科学也称元理论，是一种以科学为研究对象的学科，它研究科学的性质、特征、形成和发展规律。科学概念是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科学内部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出现的概念，如</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质量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频率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等；而元科学概念是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谈论科学的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，表示科学的陈述或活动特征的概念。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黑洞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是科学概念，</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量子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是元科学概念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物质波</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科学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都是科学概念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理论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确证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都是元科学概念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经验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是科学概念，</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宇宙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是元科学概念</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50.</a:t>
            </a:r>
            <a:r>
              <a:rPr lang="zh-CN" altLang="en-US" sz="2000" spc="200" dirty="0">
                <a:solidFill>
                  <a:srgbClr val="000000"/>
                </a:solidFill>
                <a:latin typeface="+mn-ea"/>
                <a:cs typeface="楷体" panose="02010609060101010101" charset="-122"/>
                <a:sym typeface="楷体" panose="02010609060101010101" charset="-122"/>
              </a:rPr>
              <a:t>同一认定是指侦查中具有专门知识的人或了解客体特征的人，通过比较先后出现的客体的特征而对客体是否同一做出的判断。这里所说的客体是指与案件有关联的人或物。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根据上述定义，下列属于同一认定的是：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通过对手机中所存储的信息进行检查，确定其是否为报案人所丢失的手机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通过对犯罪现场提取的</a:t>
            </a:r>
            <a:r>
              <a:rPr lang="en-US" altLang="zh-CN" sz="2000" spc="200" dirty="0">
                <a:solidFill>
                  <a:srgbClr val="000000"/>
                </a:solidFill>
                <a:latin typeface="+mn-ea"/>
                <a:cs typeface="楷体" panose="02010609060101010101" charset="-122"/>
                <a:sym typeface="楷体" panose="02010609060101010101" charset="-122"/>
              </a:rPr>
              <a:t>DNA</a:t>
            </a:r>
            <a:r>
              <a:rPr lang="zh-CN" altLang="en-US" sz="2000" spc="200" dirty="0">
                <a:solidFill>
                  <a:srgbClr val="000000"/>
                </a:solidFill>
                <a:latin typeface="+mn-ea"/>
                <a:cs typeface="楷体" panose="02010609060101010101" charset="-122"/>
                <a:sym typeface="楷体" panose="02010609060101010101" charset="-122"/>
              </a:rPr>
              <a:t>信息与</a:t>
            </a:r>
            <a:r>
              <a:rPr lang="en-US" altLang="zh-CN" sz="2000" spc="200" dirty="0">
                <a:solidFill>
                  <a:srgbClr val="000000"/>
                </a:solidFill>
                <a:latin typeface="+mn-ea"/>
                <a:cs typeface="楷体" panose="02010609060101010101" charset="-122"/>
                <a:sym typeface="楷体" panose="02010609060101010101" charset="-122"/>
              </a:rPr>
              <a:t>DNA</a:t>
            </a:r>
            <a:r>
              <a:rPr lang="zh-CN" altLang="en-US" sz="2000" spc="200" dirty="0">
                <a:solidFill>
                  <a:srgbClr val="000000"/>
                </a:solidFill>
                <a:latin typeface="+mn-ea"/>
                <a:cs typeface="楷体" panose="02010609060101010101" charset="-122"/>
                <a:sym typeface="楷体" panose="02010609060101010101" charset="-122"/>
              </a:rPr>
              <a:t>信息库进行比对，查找犯罪嫌疑人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通过对走私案中所缴获的走私物品进行多次鉴定，认定其是否为国外某厂家所生产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通过对犯罪嫌疑人车上所收缴的各类物品进行检验，判断其是否属于违禁物品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51.</a:t>
            </a:r>
            <a:r>
              <a:rPr lang="zh-CN" altLang="en-US" sz="2000" spc="200" dirty="0">
                <a:solidFill>
                  <a:srgbClr val="000000"/>
                </a:solidFill>
                <a:latin typeface="+mn-ea"/>
                <a:cs typeface="楷体" panose="02010609060101010101" charset="-122"/>
                <a:sym typeface="楷体" panose="02010609060101010101" charset="-122"/>
              </a:rPr>
              <a:t>流域内降雨或融冰化雪都可以引起河水显著上涨。春季，气候转暖，流域内的季节性积雪融化、河流解冻或春雨，引起河水上涨称春汛。因正值桃花盛开时节，故亦称桃汛。我国北方，把春季河冰解冻引起的涨水现象专称为凌汛。夏季，流域内的暴雨或高山冰川和积雪融化，使河水急剧上涨，称夏汛。我国习惯上把发生在夏季三伏前后的汛水称为伏汛。秋季由于暴雨，河水发生急剧上涨称秋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根据上述定义，下列判断错误的是：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春汛包含凌汛</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夏汛包含伏汛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伏汛在凌汛前</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春汛就是桃汛</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2040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52.</a:t>
            </a:r>
            <a:r>
              <a:rPr lang="zh-CN" altLang="en-US" sz="2000" spc="200" dirty="0">
                <a:solidFill>
                  <a:srgbClr val="000000"/>
                </a:solidFill>
                <a:latin typeface="+mn-ea"/>
                <a:cs typeface="楷体" panose="02010609060101010101" charset="-122"/>
                <a:sym typeface="楷体" panose="02010609060101010101" charset="-122"/>
              </a:rPr>
              <a:t>具有包含与被包含关系的三个概念，如植物、乔木、水杉等，可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至少形成三个正确的命题：所有的水杉都是乔木，所有的乔木都是植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物，所有的水杉都是植物，由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所有的乔木都是植物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所有的水杉都是植物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而得出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所有的水杉都是乔木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，这样的推理被称为排序推理。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根据上述定义，下列属于排序推理的是：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所有的平行四边形都是四边形，所有的菱形都是四边形，所以，所有的菱形都是平行四边形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所有的昆虫都是动物，所有的蝴蝶都是昆虫，所以，所有的蝴蝶都是动物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所有的文字都是符号，所有的文字都是图形，所以，所有的符号都是图形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这个花园的花都是迎春花，迎春花都在冬、春季开放，所以，这个花园的花都在冬、春季开放</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53.</a:t>
            </a:r>
            <a:r>
              <a:rPr lang="zh-CN" altLang="en-US" sz="2000" spc="200" dirty="0">
                <a:solidFill>
                  <a:srgbClr val="000000"/>
                </a:solidFill>
                <a:latin typeface="+mn-ea"/>
                <a:cs typeface="楷体" panose="02010609060101010101" charset="-122"/>
                <a:sym typeface="楷体" panose="02010609060101010101" charset="-122"/>
              </a:rPr>
              <a:t>嘤其鸣矣：求其友声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遏其生气：以求重价</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求之其本：经旬必得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道不拾遗：夜不闭户</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避其锐气：击其惰归</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54</a:t>
            </a:r>
            <a:r>
              <a:rPr lang="zh-CN" altLang="en-US" sz="2000" spc="200" dirty="0">
                <a:solidFill>
                  <a:srgbClr val="000000"/>
                </a:solidFill>
                <a:latin typeface="+mn-ea"/>
                <a:cs typeface="楷体" panose="02010609060101010101" charset="-122"/>
                <a:sym typeface="楷体" panose="02010609060101010101" charset="-122"/>
              </a:rPr>
              <a:t>光伏电站：电池板：发电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跨海大桥：桥墩支架：交通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射电望远镜：电磁波：信号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海底气田：油气管道：钻井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游乐设施：球幕电影：娱乐</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791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55.</a:t>
            </a:r>
            <a:r>
              <a:rPr lang="zh-CN" altLang="en-US" sz="2000" spc="200" dirty="0">
                <a:solidFill>
                  <a:srgbClr val="000000"/>
                </a:solidFill>
                <a:latin typeface="+mn-ea"/>
                <a:cs typeface="楷体" panose="02010609060101010101" charset="-122"/>
                <a:sym typeface="楷体" panose="02010609060101010101" charset="-122"/>
              </a:rPr>
              <a:t>飞行信息记录系统，也就是俗标的黑匣子，在空难事故调查中的重要作用不需赘言，但无论在陆上还是海上的空难事故中，搜寻黑匣子都极其不易。有人建议，可利用现在飞速发展的互联技术，把黑匣子升级成为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云匣子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，那么飞机在空中就能够实时与地面进行信息交互，使空难事故的分析变得更加便捷。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以下哪项如果为真，最能质疑上述建议？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飞机接入互联网，其信号稳定性受到太多外界不可控因素的影响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空难是极小概率事件，投入高昂的数据管理成本不如直接用于提升飞行安全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即使救援人员能够顺利搜寻到黑匣子，想要依靠其揭开事故真相也绝非易事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实时同步每一架飞机的海量数据，对飞行管理并无帮助，更无必要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235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56.</a:t>
            </a:r>
            <a:r>
              <a:rPr lang="zh-CN" altLang="en-US" sz="2000" spc="200" dirty="0">
                <a:solidFill>
                  <a:srgbClr val="000000"/>
                </a:solidFill>
                <a:latin typeface="+mn-ea"/>
                <a:cs typeface="楷体" panose="02010609060101010101" charset="-122"/>
                <a:sym typeface="楷体" panose="02010609060101010101" charset="-122"/>
              </a:rPr>
              <a:t>某项研究显示，与未接触空气污染的人相比，暴露于空气污染中的人死于乳腺癌的风险增加了</a:t>
            </a: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，死于其他各类癌症的风险增加了</a:t>
            </a:r>
            <a:r>
              <a:rPr lang="en-US" altLang="zh-CN" sz="2000" spc="200" dirty="0">
                <a:solidFill>
                  <a:srgbClr val="000000"/>
                </a:solidFill>
                <a:latin typeface="+mn-ea"/>
                <a:cs typeface="楷体" panose="02010609060101010101" charset="-122"/>
                <a:sym typeface="楷体" panose="02010609060101010101" charset="-122"/>
              </a:rPr>
              <a:t>22%</a:t>
            </a:r>
            <a:r>
              <a:rPr lang="zh-CN" altLang="en-US" sz="2000" spc="200" dirty="0">
                <a:solidFill>
                  <a:srgbClr val="000000"/>
                </a:solidFill>
                <a:latin typeface="+mn-ea"/>
                <a:cs typeface="楷体" panose="02010609060101010101" charset="-122"/>
                <a:sym typeface="楷体" panose="02010609060101010101" charset="-122"/>
              </a:rPr>
              <a:t>。该研究团队由此认为，这可能与空气污染物中的</a:t>
            </a:r>
            <a:r>
              <a:rPr lang="en-US" altLang="zh-CN" sz="2000" spc="200" dirty="0">
                <a:solidFill>
                  <a:srgbClr val="000000"/>
                </a:solidFill>
                <a:latin typeface="+mn-ea"/>
                <a:cs typeface="楷体" panose="02010609060101010101" charset="-122"/>
                <a:sym typeface="楷体" panose="02010609060101010101" charset="-122"/>
              </a:rPr>
              <a:t>PM2.5</a:t>
            </a:r>
            <a:r>
              <a:rPr lang="zh-CN" altLang="en-US" sz="2000" spc="200" dirty="0">
                <a:solidFill>
                  <a:srgbClr val="000000"/>
                </a:solidFill>
                <a:latin typeface="+mn-ea"/>
                <a:cs typeface="楷体" panose="02010609060101010101" charset="-122"/>
                <a:sym typeface="楷体" panose="02010609060101010101" charset="-122"/>
              </a:rPr>
              <a:t>有关，因为</a:t>
            </a:r>
            <a:r>
              <a:rPr lang="en-US" altLang="zh-CN" sz="2000" spc="200" dirty="0">
                <a:solidFill>
                  <a:srgbClr val="000000"/>
                </a:solidFill>
                <a:latin typeface="+mn-ea"/>
                <a:cs typeface="楷体" panose="02010609060101010101" charset="-122"/>
                <a:sym typeface="楷体" panose="02010609060101010101" charset="-122"/>
              </a:rPr>
              <a:t>PM2.5</a:t>
            </a:r>
            <a:r>
              <a:rPr lang="zh-CN" altLang="en-US" sz="2000" spc="200" dirty="0">
                <a:solidFill>
                  <a:srgbClr val="000000"/>
                </a:solidFill>
                <a:latin typeface="+mn-ea"/>
                <a:cs typeface="楷体" panose="02010609060101010101" charset="-122"/>
                <a:sym typeface="楷体" panose="02010609060101010101" charset="-122"/>
              </a:rPr>
              <a:t>会导致脏器的炎症和氧化应激反应。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以下哪项如果为真，最可能是上述专家预设的前提？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脏器的炎症和氧化应激反应是明确的致癌危险因素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B.PM2.5</a:t>
            </a:r>
            <a:r>
              <a:rPr lang="zh-CN" altLang="en-US" sz="2000" spc="200" dirty="0">
                <a:solidFill>
                  <a:srgbClr val="000000"/>
                </a:solidFill>
                <a:latin typeface="+mn-ea"/>
                <a:cs typeface="楷体" panose="02010609060101010101" charset="-122"/>
                <a:sym typeface="楷体" panose="02010609060101010101" charset="-122"/>
              </a:rPr>
              <a:t>在大气成分中含量较少，但对空气质量有重要影响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吸食香烟和电子烟等都可以将</a:t>
            </a:r>
            <a:r>
              <a:rPr lang="en-US" altLang="zh-CN" sz="2000" spc="200" dirty="0">
                <a:solidFill>
                  <a:srgbClr val="000000"/>
                </a:solidFill>
                <a:latin typeface="+mn-ea"/>
                <a:cs typeface="楷体" panose="02010609060101010101" charset="-122"/>
                <a:sym typeface="楷体" panose="02010609060101010101" charset="-122"/>
              </a:rPr>
              <a:t>PM2.5</a:t>
            </a:r>
            <a:r>
              <a:rPr lang="zh-CN" altLang="en-US" sz="2000" spc="200" dirty="0">
                <a:solidFill>
                  <a:srgbClr val="000000"/>
                </a:solidFill>
                <a:latin typeface="+mn-ea"/>
                <a:cs typeface="楷体" panose="02010609060101010101" charset="-122"/>
                <a:sym typeface="楷体" panose="02010609060101010101" charset="-122"/>
              </a:rPr>
              <a:t>直接输送到肺部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女性更易接触烹饪油烟，其中含有大量的</a:t>
            </a:r>
            <a:r>
              <a:rPr lang="en-US" altLang="zh-CN" sz="2000" spc="200" dirty="0">
                <a:solidFill>
                  <a:srgbClr val="000000"/>
                </a:solidFill>
                <a:latin typeface="+mn-ea"/>
                <a:cs typeface="楷体" panose="02010609060101010101" charset="-122"/>
                <a:sym typeface="楷体" panose="02010609060101010101" charset="-122"/>
              </a:rPr>
              <a:t>PM2.5</a:t>
            </a:r>
            <a:endParaRPr lang="en-US" altLang="zh-CN"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921635"/>
            <a:ext cx="1128014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论点：死于癌症的风险增加可能与空气污染物中的</a:t>
            </a:r>
            <a:r>
              <a:rPr lang="en-US" altLang="zh-CN" sz="2000" spc="200" dirty="0">
                <a:solidFill>
                  <a:srgbClr val="FF0000"/>
                </a:solidFill>
                <a:latin typeface="+mn-ea"/>
                <a:cs typeface="楷体" panose="02010609060101010101" charset="-122"/>
                <a:sym typeface="+mn-ea"/>
              </a:rPr>
              <a:t>PM2.5</a:t>
            </a:r>
            <a:r>
              <a:rPr lang="zh-CN" altLang="en-US" sz="2000" spc="200" dirty="0">
                <a:solidFill>
                  <a:srgbClr val="FF0000"/>
                </a:solidFill>
                <a:latin typeface="+mn-ea"/>
                <a:cs typeface="楷体" panose="02010609060101010101" charset="-122"/>
                <a:sym typeface="+mn-ea"/>
              </a:rPr>
              <a:t>有关。</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a:t>
            </a:r>
            <a:r>
              <a:rPr lang="en-US" altLang="zh-CN" sz="2000" spc="200" dirty="0">
                <a:solidFill>
                  <a:srgbClr val="FF0000"/>
                </a:solidFill>
                <a:latin typeface="+mn-ea"/>
                <a:cs typeface="楷体" panose="02010609060101010101" charset="-122"/>
                <a:sym typeface="+mn-ea"/>
              </a:rPr>
              <a:t>PM2.5</a:t>
            </a:r>
            <a:r>
              <a:rPr lang="zh-CN" altLang="en-US" sz="2000" spc="200" dirty="0">
                <a:solidFill>
                  <a:srgbClr val="FF0000"/>
                </a:solidFill>
                <a:latin typeface="+mn-ea"/>
                <a:cs typeface="楷体" panose="02010609060101010101" charset="-122"/>
                <a:sym typeface="+mn-ea"/>
              </a:rPr>
              <a:t>会导致脏器的炎症和氧化应激反应。</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791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57.</a:t>
            </a:r>
            <a:r>
              <a:rPr lang="zh-CN" altLang="en-US" sz="2000" spc="200" dirty="0">
                <a:solidFill>
                  <a:srgbClr val="000000"/>
                </a:solidFill>
                <a:latin typeface="+mn-ea"/>
                <a:cs typeface="楷体" panose="02010609060101010101" charset="-122"/>
                <a:sym typeface="楷体" panose="02010609060101010101" charset="-122"/>
              </a:rPr>
              <a:t>甲、乙、丙、丁</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人按顺时针依次围坐在四方桌前，每人坐一面，</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人中只有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人说真话。</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甲：坐在东面的人说谎；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乙：坐在南面的人说谎；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丙：我坐在西面或者北面；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丁：我坐在北面。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根据以上陈述，可以得出：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甲坐在北面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甲坐在东面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乙坐在西面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乙坐在南面</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567690"/>
            <a:ext cx="8606155" cy="5846445"/>
          </a:xfrm>
          <a:prstGeom prst="rect">
            <a:avLst/>
          </a:prstGeom>
        </p:spPr>
        <p:txBody>
          <a:bodyPr wrap="square">
            <a:spAutoFit/>
          </a:bodyPr>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58.</a:t>
            </a:r>
            <a:r>
              <a:rPr lang="zh-CN" altLang="en-US" sz="1800" spc="200" dirty="0">
                <a:solidFill>
                  <a:srgbClr val="000000"/>
                </a:solidFill>
                <a:latin typeface="+mn-ea"/>
                <a:cs typeface="楷体" panose="02010609060101010101" charset="-122"/>
                <a:sym typeface="楷体" panose="02010609060101010101" charset="-122"/>
              </a:rPr>
              <a:t>随着通货膨胀的蔓延，</a:t>
            </a:r>
            <a:r>
              <a:rPr lang="en-US" altLang="zh-CN" sz="1800" spc="200" dirty="0">
                <a:solidFill>
                  <a:srgbClr val="000000"/>
                </a:solidFill>
                <a:latin typeface="+mn-ea"/>
                <a:cs typeface="楷体" panose="02010609060101010101" charset="-122"/>
                <a:sym typeface="楷体" panose="02010609060101010101" charset="-122"/>
              </a:rPr>
              <a:t>H</a:t>
            </a:r>
            <a:r>
              <a:rPr lang="zh-CN" altLang="en-US" sz="1800" spc="200" dirty="0">
                <a:solidFill>
                  <a:srgbClr val="000000"/>
                </a:solidFill>
                <a:latin typeface="+mn-ea"/>
                <a:cs typeface="楷体" panose="02010609060101010101" charset="-122"/>
                <a:sym typeface="楷体" panose="02010609060101010101" charset="-122"/>
              </a:rPr>
              <a:t>国电子企业主要产品的原材料价格大幅上涨。该国最大的电子企业公报显示，今年该企业智能手机应用处理器价格较上年上涨</a:t>
            </a:r>
            <a:r>
              <a:rPr lang="en-US" altLang="zh-CN" sz="1800" spc="200" dirty="0">
                <a:solidFill>
                  <a:srgbClr val="000000"/>
                </a:solidFill>
                <a:latin typeface="+mn-ea"/>
                <a:cs typeface="楷体" panose="02010609060101010101" charset="-122"/>
                <a:sym typeface="楷体" panose="02010609060101010101" charset="-122"/>
              </a:rPr>
              <a:t>30%</a:t>
            </a:r>
            <a:r>
              <a:rPr lang="zh-CN" altLang="en-US" sz="1800" spc="200" dirty="0">
                <a:solidFill>
                  <a:srgbClr val="000000"/>
                </a:solidFill>
                <a:latin typeface="+mn-ea"/>
                <a:cs typeface="楷体" panose="02010609060101010101" charset="-122"/>
                <a:sym typeface="楷体" panose="02010609060101010101" charset="-122"/>
              </a:rPr>
              <a:t>，用于智能手机的相机模块价格上涨</a:t>
            </a:r>
            <a:r>
              <a:rPr lang="en-US" altLang="zh-CN" sz="1800" spc="200" dirty="0">
                <a:solidFill>
                  <a:srgbClr val="000000"/>
                </a:solidFill>
                <a:latin typeface="+mn-ea"/>
                <a:cs typeface="楷体" panose="02010609060101010101" charset="-122"/>
                <a:sym typeface="楷体" panose="02010609060101010101" charset="-122"/>
              </a:rPr>
              <a:t>11%</a:t>
            </a:r>
            <a:r>
              <a:rPr lang="zh-CN" altLang="en-US" sz="1800" spc="200" dirty="0">
                <a:solidFill>
                  <a:srgbClr val="000000"/>
                </a:solidFill>
                <a:latin typeface="+mn-ea"/>
                <a:cs typeface="楷体" panose="02010609060101010101" charset="-122"/>
                <a:sym typeface="楷体" panose="02010609060101010101" charset="-122"/>
              </a:rPr>
              <a:t>，用于电视和显示器的面板价格上涨</a:t>
            </a:r>
            <a:r>
              <a:rPr lang="en-US" altLang="zh-CN" sz="1800" spc="200" dirty="0">
                <a:solidFill>
                  <a:srgbClr val="000000"/>
                </a:solidFill>
                <a:latin typeface="+mn-ea"/>
                <a:cs typeface="楷体" panose="02010609060101010101" charset="-122"/>
                <a:sym typeface="楷体" panose="02010609060101010101" charset="-122"/>
              </a:rPr>
              <a:t>9%</a:t>
            </a:r>
            <a:r>
              <a:rPr lang="zh-CN" altLang="en-US" sz="1800" spc="200" dirty="0">
                <a:solidFill>
                  <a:srgbClr val="000000"/>
                </a:solidFill>
                <a:latin typeface="+mn-ea"/>
                <a:cs typeface="楷体" panose="02010609060101010101" charset="-122"/>
                <a:sym typeface="楷体" panose="02010609060101010101" charset="-122"/>
              </a:rPr>
              <a:t>。</a:t>
            </a:r>
            <a:r>
              <a:rPr lang="en-US" altLang="zh-CN" sz="1800" spc="200" dirty="0">
                <a:solidFill>
                  <a:srgbClr val="000000"/>
                </a:solidFill>
                <a:latin typeface="+mn-ea"/>
                <a:cs typeface="楷体" panose="02010609060101010101" charset="-122"/>
                <a:sym typeface="楷体" panose="02010609060101010101" charset="-122"/>
              </a:rPr>
              <a:t>H</a:t>
            </a:r>
            <a:r>
              <a:rPr lang="zh-CN" altLang="en-US" sz="1800" spc="200" dirty="0">
                <a:solidFill>
                  <a:srgbClr val="000000"/>
                </a:solidFill>
                <a:latin typeface="+mn-ea"/>
                <a:cs typeface="楷体" panose="02010609060101010101" charset="-122"/>
                <a:sym typeface="楷体" panose="02010609060101010101" charset="-122"/>
              </a:rPr>
              <a:t>国经济界认为，电子企业原材料价格居高不下，将严重削弱该国电子企业在国际市场上的竞争力。</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以下哪项如果为真，最能支持上述结论？</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a:t>
            </a:r>
            <a:r>
              <a:rPr lang="zh-CN" altLang="en-US" sz="1800" spc="200" dirty="0">
                <a:solidFill>
                  <a:srgbClr val="000000"/>
                </a:solidFill>
                <a:latin typeface="+mn-ea"/>
                <a:cs typeface="楷体" panose="02010609060101010101" charset="-122"/>
                <a:sym typeface="楷体" panose="02010609060101010101" charset="-122"/>
              </a:rPr>
              <a:t>近年来，无论是国际还是国内，硅化合物价格始终呈上涨趋势，这是导致</a:t>
            </a:r>
            <a:r>
              <a:rPr lang="en-US" altLang="zh-CN" sz="1800" spc="200" dirty="0">
                <a:solidFill>
                  <a:srgbClr val="000000"/>
                </a:solidFill>
                <a:latin typeface="+mn-ea"/>
                <a:cs typeface="楷体" panose="02010609060101010101" charset="-122"/>
                <a:sym typeface="楷体" panose="02010609060101010101" charset="-122"/>
              </a:rPr>
              <a:t>H</a:t>
            </a:r>
            <a:r>
              <a:rPr lang="zh-CN" altLang="en-US" sz="1800" spc="200" dirty="0">
                <a:solidFill>
                  <a:srgbClr val="000000"/>
                </a:solidFill>
                <a:latin typeface="+mn-ea"/>
                <a:cs typeface="楷体" panose="02010609060101010101" charset="-122"/>
                <a:sym typeface="楷体" panose="02010609060101010101" charset="-122"/>
              </a:rPr>
              <a:t>国电子企业主要产品原材料价格大幅上涨的原因</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B.</a:t>
            </a:r>
            <a:r>
              <a:rPr lang="zh-CN" altLang="en-US" sz="1800" spc="200" dirty="0">
                <a:solidFill>
                  <a:srgbClr val="000000"/>
                </a:solidFill>
                <a:latin typeface="+mn-ea"/>
                <a:cs typeface="楷体" panose="02010609060101010101" charset="-122"/>
                <a:sym typeface="楷体" panose="02010609060101010101" charset="-122"/>
              </a:rPr>
              <a:t>在</a:t>
            </a:r>
            <a:r>
              <a:rPr lang="en-US" altLang="zh-CN" sz="1800" spc="200" dirty="0">
                <a:solidFill>
                  <a:srgbClr val="000000"/>
                </a:solidFill>
                <a:latin typeface="+mn-ea"/>
                <a:cs typeface="楷体" panose="02010609060101010101" charset="-122"/>
                <a:sym typeface="楷体" panose="02010609060101010101" charset="-122"/>
              </a:rPr>
              <a:t>H</a:t>
            </a:r>
            <a:r>
              <a:rPr lang="zh-CN" altLang="en-US" sz="1800" spc="200" dirty="0">
                <a:solidFill>
                  <a:srgbClr val="000000"/>
                </a:solidFill>
                <a:latin typeface="+mn-ea"/>
                <a:cs typeface="楷体" panose="02010609060101010101" charset="-122"/>
                <a:sym typeface="楷体" panose="02010609060101010101" charset="-122"/>
              </a:rPr>
              <a:t>国电子企业主要产品的原材料价格大幅上涨的同时，由于购买力下降等原因，电子产品的全球消费需求在缩减</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a:t>
            </a:r>
            <a:r>
              <a:rPr lang="zh-CN" altLang="en-US" sz="1800" spc="200" dirty="0">
                <a:solidFill>
                  <a:srgbClr val="000000"/>
                </a:solidFill>
                <a:latin typeface="+mn-ea"/>
                <a:cs typeface="楷体" panose="02010609060101010101" charset="-122"/>
                <a:sym typeface="楷体" panose="02010609060101010101" charset="-122"/>
              </a:rPr>
              <a:t>其他国家电子企业都在通过科技创新降低产品原材料价格上涨的影响，以求通过低价在竞争激烈的国际电子产品市场中脱颖而出</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D.</a:t>
            </a:r>
            <a:r>
              <a:rPr lang="zh-CN" altLang="en-US" sz="1800" spc="200" dirty="0">
                <a:solidFill>
                  <a:srgbClr val="000000"/>
                </a:solidFill>
                <a:latin typeface="+mn-ea"/>
                <a:cs typeface="楷体" panose="02010609060101010101" charset="-122"/>
                <a:sym typeface="楷体" panose="02010609060101010101" charset="-122"/>
              </a:rPr>
              <a:t>一直以来，</a:t>
            </a:r>
            <a:r>
              <a:rPr lang="en-US" altLang="zh-CN" sz="1800" spc="200" dirty="0">
                <a:solidFill>
                  <a:srgbClr val="000000"/>
                </a:solidFill>
                <a:latin typeface="+mn-ea"/>
                <a:cs typeface="楷体" panose="02010609060101010101" charset="-122"/>
                <a:sym typeface="楷体" panose="02010609060101010101" charset="-122"/>
              </a:rPr>
              <a:t>H</a:t>
            </a:r>
            <a:r>
              <a:rPr lang="zh-CN" altLang="en-US" sz="1800" spc="200" dirty="0">
                <a:solidFill>
                  <a:srgbClr val="000000"/>
                </a:solidFill>
                <a:latin typeface="+mn-ea"/>
                <a:cs typeface="楷体" panose="02010609060101010101" charset="-122"/>
                <a:sym typeface="楷体" panose="02010609060101010101" charset="-122"/>
              </a:rPr>
              <a:t>国电子企业生产的产品以其卓越的技术和质量优势在国际市场上极具竞争力，近年来这种竞争优势在逐渐减弱</a:t>
            </a:r>
            <a:endParaRPr lang="zh-CN" altLang="en-US" sz="18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604135"/>
            <a:ext cx="1149731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a:t>
            </a:r>
            <a:r>
              <a:rPr lang="en-US" altLang="zh-CN" sz="2000" spc="200" dirty="0">
                <a:solidFill>
                  <a:srgbClr val="FF0000"/>
                </a:solidFill>
                <a:latin typeface="+mn-ea"/>
                <a:cs typeface="楷体" panose="02010609060101010101" charset="-122"/>
                <a:sym typeface="+mn-ea"/>
              </a:rPr>
              <a:t>H</a:t>
            </a:r>
            <a:r>
              <a:rPr lang="zh-CN" altLang="en-US" sz="2000" spc="200" dirty="0">
                <a:solidFill>
                  <a:srgbClr val="FF0000"/>
                </a:solidFill>
                <a:latin typeface="+mn-ea"/>
                <a:cs typeface="楷体" panose="02010609060101010101" charset="-122"/>
                <a:sym typeface="+mn-ea"/>
              </a:rPr>
              <a:t>国</a:t>
            </a:r>
            <a:r>
              <a:rPr lang="zh-CN" altLang="en-US" sz="2000" spc="200" dirty="0">
                <a:solidFill>
                  <a:srgbClr val="FF0000"/>
                </a:solidFill>
                <a:latin typeface="+mn-ea"/>
                <a:cs typeface="楷体" panose="02010609060101010101" charset="-122"/>
                <a:sym typeface="+mn-ea"/>
              </a:rPr>
              <a:t>电子企业原材料价格居高不下，将严重削弱该国电子企业在国际市场上的竞争力。</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a:t>
            </a:r>
            <a:r>
              <a:rPr lang="en-US" altLang="zh-CN" sz="2000" spc="200" dirty="0">
                <a:solidFill>
                  <a:srgbClr val="FF0000"/>
                </a:solidFill>
                <a:latin typeface="+mn-ea"/>
                <a:cs typeface="楷体" panose="02010609060101010101" charset="-122"/>
                <a:sym typeface="+mn-ea"/>
              </a:rPr>
              <a:t>H</a:t>
            </a:r>
            <a:r>
              <a:rPr lang="zh-CN" altLang="en-US" sz="2000" spc="200" dirty="0">
                <a:solidFill>
                  <a:srgbClr val="FF0000"/>
                </a:solidFill>
                <a:latin typeface="+mn-ea"/>
                <a:cs typeface="楷体" panose="02010609060101010101" charset="-122"/>
                <a:sym typeface="+mn-ea"/>
              </a:rPr>
              <a:t>国电子企业主要产品的原材料价格大幅上涨</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7501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59.</a:t>
            </a:r>
            <a:r>
              <a:rPr lang="zh-CN" altLang="en-US" sz="2000" spc="200" dirty="0">
                <a:solidFill>
                  <a:srgbClr val="000000"/>
                </a:solidFill>
                <a:latin typeface="+mn-ea"/>
                <a:cs typeface="楷体" panose="02010609060101010101" charset="-122"/>
                <a:sym typeface="楷体" panose="02010609060101010101" charset="-122"/>
              </a:rPr>
              <a:t>国内市场只有形成完备的市场体系与商业规则环境，才能为企业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参与出口竞争提供真正的市场根基，要形成完备的市场体系，必须深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化要素市场化配置体制机制改革，只有促进要素自主有序流动，且提高要素配置效率，才能深化要素市场化配置体制机制改革，要形成完备的商业规则环境，必须推进全方位开放并建立全国统一大市场，且加强执法效率和市场司法保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根据以上陈述，可以推出下列哪项？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只要深化要素市场化配置体制机制改革就能形成完备的市场体系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如果加强执法效率和司法保障，就能推进全方位开放并建立全国统一大市场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只有促进要素自主有序流动，且提高要素配置效率，才能使国内市场形成完备的商业规则环境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除非推进全方位开放并建立全国统一大市场，且加强执法效率和司法保障，否则不能为企业参与进出口竞争提供真正的市场根基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71410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60.</a:t>
            </a:r>
            <a:r>
              <a:rPr lang="zh-CN" altLang="en-US" sz="2000" spc="200" dirty="0">
                <a:solidFill>
                  <a:srgbClr val="000000"/>
                </a:solidFill>
                <a:latin typeface="+mn-ea"/>
                <a:cs typeface="楷体" panose="02010609060101010101" charset="-122"/>
                <a:sym typeface="楷体" panose="02010609060101010101" charset="-122"/>
              </a:rPr>
              <a:t>红霉素是一种抗生素，最早从放线菌糖多孢红霉菌的分泌物中发现，最新研究中，人们发现一种名为文蛤的贝类体内也会分泌红霉素。红霉素主要由微生物合成，此前从未在动物体内发现，研究者据此推测，文蛤合成红霉素的能力应当源于文蛤体内的微生物，正是这些微生物帮助文蛤合成了红霉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以下哪项如果为真，最能削弱研究者的推测？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文蛤的基因组中具有红霉素合成基因，该基因表达在文蛤外套膜的粘液细胞中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文蛤贝壳下有一层外套膜，膜的上皮内分布着粘液细胞，它们能存储红霉素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通过对文蛤体内的所有维生素进行检测并没有发现糖多孢红霉素菌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研究者在其他贝类体内也发现了类似红霉素的抗生素</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61.</a:t>
            </a:r>
            <a:r>
              <a:rPr lang="zh-CN" altLang="en-US" sz="2000" spc="200" dirty="0">
                <a:solidFill>
                  <a:srgbClr val="000000"/>
                </a:solidFill>
                <a:latin typeface="+mn-ea"/>
                <a:cs typeface="楷体" panose="02010609060101010101" charset="-122"/>
                <a:sym typeface="楷体" panose="02010609060101010101" charset="-122"/>
              </a:rPr>
              <a:t>甲、乙、丙、丁、戊、己、庚</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人报名参加象棋比赛，对于比赛结果，大家预测如下：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）戊、己、庚至少有</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人获奖；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）如果甲、丙、戊至少有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人获奖，则丁、己均不获奖；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）如果乙、戊、己至少有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人获奖，则丁获奖而丙不获奖。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比赛结束后，发现上述预测完全正确。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根据上述信息，一定获奖的是：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甲</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行政执法类差异题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102.</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descr="IMG_257"/>
          <p:cNvPicPr>
            <a:picLocks noChangeAspect="1"/>
          </p:cNvPicPr>
          <p:nvPr/>
        </p:nvPicPr>
        <p:blipFill>
          <a:blip r:embed="rId2"/>
          <a:stretch>
            <a:fillRect/>
          </a:stretch>
        </p:blipFill>
        <p:spPr>
          <a:xfrm>
            <a:off x="1303655" y="1722120"/>
            <a:ext cx="9584690" cy="4410075"/>
          </a:xfrm>
          <a:prstGeom prst="rect">
            <a:avLst/>
          </a:prstGeom>
          <a:noFill/>
          <a:ln w="9525">
            <a:noFill/>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2350" cy="147637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103.</a:t>
            </a:r>
            <a:r>
              <a:rPr lang="zh-CN" altLang="en-US" sz="2000" spc="200" dirty="0">
                <a:solidFill>
                  <a:srgbClr val="000000"/>
                </a:solidFill>
                <a:latin typeface="+mn-ea"/>
                <a:cs typeface="楷体" panose="02010609060101010101" charset="-122"/>
                <a:sym typeface="楷体" panose="02010609060101010101" charset="-122"/>
              </a:rPr>
              <a:t>以下为</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个由若干棱长为</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的正方体拼成的多面体，将它们在</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空间内进行拼接，不可能拼成以下四个选项中的哪一个多面体？</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156" name="图片 8" descr="IMG_263"/>
          <p:cNvPicPr>
            <a:picLocks noChangeAspect="1"/>
          </p:cNvPicPr>
          <p:nvPr/>
        </p:nvPicPr>
        <p:blipFill>
          <a:blip r:embed="rId2"/>
          <a:stretch>
            <a:fillRect/>
          </a:stretch>
        </p:blipFill>
        <p:spPr>
          <a:xfrm>
            <a:off x="205105" y="2256790"/>
            <a:ext cx="7228840" cy="4084955"/>
          </a:xfrm>
          <a:prstGeom prst="rect">
            <a:avLst/>
          </a:prstGeom>
          <a:noFill/>
          <a:ln w="9525">
            <a:noFill/>
          </a:ln>
        </p:spPr>
      </p:pic>
      <p:pic>
        <p:nvPicPr>
          <p:cNvPr id="2" name="图片 8" descr="IMG_263"/>
          <p:cNvPicPr>
            <a:picLocks noChangeAspect="1"/>
          </p:cNvPicPr>
          <p:nvPr/>
        </p:nvPicPr>
        <p:blipFill>
          <a:blip r:embed="rId3"/>
          <a:stretch>
            <a:fillRect/>
          </a:stretch>
        </p:blipFill>
        <p:spPr>
          <a:xfrm>
            <a:off x="872490" y="2404745"/>
            <a:ext cx="6317615" cy="3570605"/>
          </a:xfrm>
          <a:prstGeom prst="rect">
            <a:avLst/>
          </a:prstGeom>
          <a:noFill/>
          <a:ln w="9525">
            <a:noFill/>
          </a:ln>
        </p:spPr>
      </p:pic>
      <p:pic>
        <p:nvPicPr>
          <p:cNvPr id="3" name="图片 2"/>
          <p:cNvPicPr/>
          <p:nvPr/>
        </p:nvPicPr>
        <p:blipFill>
          <a:blip r:embed="rId4"/>
          <a:stretch>
            <a:fillRect/>
          </a:stretch>
        </p:blipFill>
        <p:spPr>
          <a:xfrm>
            <a:off x="7596505" y="3583940"/>
            <a:ext cx="3843020" cy="239141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5308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以下除哪项外，都是同一正方体纸盒的外表面展开图？</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157" name="图片 157"/>
          <p:cNvPicPr>
            <a:picLocks noChangeAspect="1"/>
          </p:cNvPicPr>
          <p:nvPr/>
        </p:nvPicPr>
        <p:blipFill>
          <a:blip r:embed="rId2"/>
          <a:stretch>
            <a:fillRect/>
          </a:stretch>
        </p:blipFill>
        <p:spPr>
          <a:xfrm>
            <a:off x="531495" y="2003425"/>
            <a:ext cx="11129645" cy="2838450"/>
          </a:xfrm>
          <a:prstGeom prst="rect">
            <a:avLst/>
          </a:prstGeom>
          <a:noFill/>
          <a:ln>
            <a:noFill/>
          </a:ln>
        </p:spPr>
      </p:pic>
      <p:pic>
        <p:nvPicPr>
          <p:cNvPr id="18" name="图片 18"/>
          <p:cNvPicPr>
            <a:picLocks noChangeAspect="1"/>
          </p:cNvPicPr>
          <p:nvPr/>
        </p:nvPicPr>
        <p:blipFill>
          <a:blip r:embed="rId3"/>
          <a:stretch>
            <a:fillRect/>
          </a:stretch>
        </p:blipFill>
        <p:spPr>
          <a:xfrm>
            <a:off x="946785" y="1893570"/>
            <a:ext cx="10942955" cy="2790825"/>
          </a:xfrm>
          <a:prstGeom prst="rect">
            <a:avLst/>
          </a:prstGeom>
          <a:noFill/>
          <a:ln>
            <a:noFill/>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60130"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105.</a:t>
            </a:r>
            <a:r>
              <a:rPr lang="zh-CN" altLang="en-US" sz="2000" spc="200" dirty="0">
                <a:solidFill>
                  <a:srgbClr val="000000"/>
                </a:solidFill>
                <a:latin typeface="+mn-ea"/>
                <a:cs typeface="楷体" panose="02010609060101010101" charset="-122"/>
                <a:sym typeface="楷体" panose="02010609060101010101" charset="-122"/>
              </a:rPr>
              <a:t>都、国、鄙、邑四个词在古汉语中表示不同的概念。</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既可以指诸侯的封地，又可以指天子或诸侯的都城。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本义是大城邑，后引申为具有重要政治地位的大城邑。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在古汉语中是指边邑，即边远的小城。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在古汉语中是指城镇。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下列图示对上述概念关系的描述，正确的是：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1389380" y="3233420"/>
            <a:ext cx="5488940" cy="3070225"/>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78460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106.</a:t>
            </a:r>
            <a:r>
              <a:rPr lang="zh-CN" altLang="en-US" sz="2000" spc="200" dirty="0">
                <a:solidFill>
                  <a:srgbClr val="000000"/>
                </a:solidFill>
                <a:latin typeface="+mn-ea"/>
                <a:cs typeface="楷体" panose="02010609060101010101" charset="-122"/>
                <a:sym typeface="楷体" panose="02010609060101010101" charset="-122"/>
              </a:rPr>
              <a:t>细胞化学是研究细胞的化学成分及其在细胞活动中的变化和定位的学科。具体来说，细胞化学是在不破坏细胞形态结构的状况下，用生化的和物理的技术对细胞的各种组分做定量分析，研究其动态变化，了解细胞代谢过程中各种细胞组分的作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根据上述定义，下列属于细胞化学研究范围的是：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观察玉米根系细胞从周围环境中摄取营养的能力以及受环境影响产生的活动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根据哺乳动物细胞内核酸、蛋白质吸收不同紫外光的特点，分析其含量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抽取患者骨髓液，根据显微镜下骨髓细胞的不同形态，判断患者的疾病种类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研究小鼠免疫细胞受病原体侵入后，病原体释放毒素杀死免疫细胞的动态过程</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107.</a:t>
            </a:r>
            <a:r>
              <a:rPr lang="zh-CN" altLang="en-US" sz="2000" spc="200" dirty="0">
                <a:solidFill>
                  <a:srgbClr val="000000"/>
                </a:solidFill>
                <a:latin typeface="+mn-ea"/>
                <a:cs typeface="楷体" panose="02010609060101010101" charset="-122"/>
                <a:sym typeface="楷体" panose="02010609060101010101" charset="-122"/>
              </a:rPr>
              <a:t>收集罪证：提取指纹：透明胶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温度不当：叶子发黄：营养液</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逃生自救：敲碎车窗：安全锤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道路施工：设置防护：混凝土</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冷风侵入：肩周疼痛：艾草贴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108.</a:t>
            </a:r>
            <a:r>
              <a:rPr lang="zh-CN" altLang="en-US" sz="2000" spc="200" dirty="0">
                <a:solidFill>
                  <a:srgbClr val="000000"/>
                </a:solidFill>
                <a:latin typeface="+mn-ea"/>
                <a:cs typeface="楷体" panose="02010609060101010101" charset="-122"/>
                <a:sym typeface="楷体" panose="02010609060101010101" charset="-122"/>
              </a:rPr>
              <a:t>行政文书对于（）相当于（）对于汇编语言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行政机关；编程人员</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行政管理；传送指令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商务文书；符号语言</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监管函；计算机语言</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9180"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某桃园</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月份对其种植的蟠桃进行套袋。</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月份，桃果出现异常，</a:t>
            </a:r>
            <a:r>
              <a:rPr lang="en-US" altLang="zh-CN" sz="2000" spc="200" dirty="0">
                <a:solidFill>
                  <a:srgbClr val="000000"/>
                </a:solidFill>
                <a:latin typeface="+mn-ea"/>
                <a:cs typeface="楷体" panose="02010609060101010101" charset="-122"/>
                <a:sym typeface="楷体" panose="02010609060101010101" charset="-122"/>
              </a:rPr>
              <a:t>50</a:t>
            </a:r>
            <a:r>
              <a:rPr lang="zh-CN" altLang="en-US" sz="2000" spc="200" dirty="0">
                <a:solidFill>
                  <a:srgbClr val="000000"/>
                </a:solidFill>
                <a:latin typeface="+mn-ea"/>
                <a:cs typeface="楷体" panose="02010609060101010101" charset="-122"/>
                <a:sym typeface="楷体" panose="02010609060101010101" charset="-122"/>
              </a:rPr>
              <a:t>克左右的大果很少；</a:t>
            </a:r>
            <a:r>
              <a:rPr lang="en-US" altLang="zh-CN" sz="2000" spc="200" dirty="0">
                <a:solidFill>
                  <a:srgbClr val="000000"/>
                </a:solidFill>
                <a:latin typeface="+mn-ea"/>
                <a:cs typeface="楷体" panose="02010609060101010101" charset="-122"/>
                <a:sym typeface="楷体" panose="02010609060101010101" charset="-122"/>
              </a:rPr>
              <a:t>10</a:t>
            </a:r>
            <a:r>
              <a:rPr lang="zh-CN" altLang="en-US" sz="2000" spc="200" dirty="0">
                <a:solidFill>
                  <a:srgbClr val="000000"/>
                </a:solidFill>
                <a:latin typeface="+mn-ea"/>
                <a:cs typeface="楷体" panose="02010609060101010101" charset="-122"/>
                <a:sym typeface="楷体" panose="02010609060101010101" charset="-122"/>
              </a:rPr>
              <a:t>余克的小果特别多，约占</a:t>
            </a:r>
            <a:r>
              <a:rPr lang="en-US" altLang="zh-CN" sz="2000" spc="200" dirty="0">
                <a:solidFill>
                  <a:srgbClr val="000000"/>
                </a:solidFill>
                <a:latin typeface="+mn-ea"/>
                <a:cs typeface="楷体" panose="02010609060101010101" charset="-122"/>
                <a:sym typeface="楷体" panose="02010609060101010101" charset="-122"/>
              </a:rPr>
              <a:t>75%</a:t>
            </a:r>
            <a:r>
              <a:rPr lang="zh-CN" altLang="en-US" sz="2000" spc="200" dirty="0">
                <a:solidFill>
                  <a:srgbClr val="000000"/>
                </a:solidFill>
                <a:latin typeface="+mn-ea"/>
                <a:cs typeface="楷体" panose="02010609060101010101" charset="-122"/>
                <a:sym typeface="楷体" panose="02010609060101010101" charset="-122"/>
              </a:rPr>
              <a:t>，正常情况下，此时果实应重</a:t>
            </a:r>
            <a:r>
              <a:rPr lang="en-US" altLang="zh-CN" sz="2000" spc="200" dirty="0">
                <a:solidFill>
                  <a:srgbClr val="000000"/>
                </a:solidFill>
                <a:latin typeface="+mn-ea"/>
                <a:cs typeface="楷体" panose="02010609060101010101" charset="-122"/>
                <a:sym typeface="楷体" panose="02010609060101010101" charset="-122"/>
              </a:rPr>
              <a:t>50</a:t>
            </a:r>
            <a:r>
              <a:rPr lang="zh-CN" altLang="en-US" sz="2000" spc="200" dirty="0">
                <a:solidFill>
                  <a:srgbClr val="000000"/>
                </a:solidFill>
                <a:latin typeface="+mn-ea"/>
                <a:cs typeface="楷体" panose="02010609060101010101" charset="-122"/>
                <a:sym typeface="楷体" panose="02010609060101010101" charset="-122"/>
              </a:rPr>
              <a:t>克左右。有人推测，今年出现小果占比过大是由于套袋较早造成的，因为过早套袋会使果实失去营养竞争力，在营养供应不足的情况下，果实竞争不过新梢。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以下哪项如果为真，最能削弱上述推测？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今年套果袋时果实大小基本一致，并且期间无病虫危害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纸袋的遮光作用影响果实光合能力，进而影响甜度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今年在没有分出大小果实就完成了疏除冗余幼果的操作，留下的不一定是优质大果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今年桃树长得太快，加之萌芽肥、花后肥都没有追施，导致后期果实营养供应不足</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921635"/>
            <a:ext cx="1128014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论点：今年出现小果占比过大是由于套袋较早造成的。</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论据：过早套袋会使果实失去营养竞争力，在营养供应不足的情况下，果实竞争不过新梢。</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TABLE_ENDDRAG_ORIGIN_RECT" val="389*116"/>
  <p:tag name="TABLE_ENDDRAG_RECT" val="544*360*389*116"/>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TABLE_ENDDRAG_ORIGIN_RECT" val="389*116"/>
  <p:tag name="TABLE_ENDDRAG_RECT" val="544*360*389*116"/>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TABLE_ENDDRAG_ORIGIN_RECT" val="389*116"/>
  <p:tag name="TABLE_ENDDRAG_RECT" val="544*360*389*116"/>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TABLE_ENDDRAG_ORIGIN_RECT" val="389*116"/>
  <p:tag name="TABLE_ENDDRAG_RECT" val="544*360*389*116"/>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TABLE_ENDDRAG_ORIGIN_RECT" val="389*116"/>
  <p:tag name="TABLE_ENDDRAG_RECT" val="544*360*389*116"/>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12261</Words>
  <Application>WPS 演示</Application>
  <PresentationFormat>宽屏</PresentationFormat>
  <Paragraphs>575</Paragraphs>
  <Slides>72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72</vt:i4>
      </vt:variant>
    </vt:vector>
  </HeadingPairs>
  <TitlesOfParts>
    <vt:vector size="81" baseType="lpstr">
      <vt:lpstr>Arial</vt:lpstr>
      <vt:lpstr>宋体</vt:lpstr>
      <vt:lpstr>Wingdings</vt:lpstr>
      <vt:lpstr>微软雅黑</vt:lpstr>
      <vt:lpstr>Wingdings</vt:lpstr>
      <vt:lpstr>微软雅黑 Light</vt:lpstr>
      <vt:lpstr>楷体</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249</cp:revision>
  <dcterms:created xsi:type="dcterms:W3CDTF">2019-06-19T02:08:00Z</dcterms:created>
  <dcterms:modified xsi:type="dcterms:W3CDTF">2025-11-02T03:36:19Z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