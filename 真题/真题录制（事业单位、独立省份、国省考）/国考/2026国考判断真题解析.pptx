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4"/>
  </p:handoutMasterIdLst>
  <p:sldIdLst>
    <p:sldId id="1990" r:id="rId3"/>
    <p:sldId id="1578" r:id="rId5"/>
    <p:sldId id="1916" r:id="rId6"/>
    <p:sldId id="1917" r:id="rId7"/>
    <p:sldId id="1918" r:id="rId8"/>
    <p:sldId id="1919" r:id="rId9"/>
    <p:sldId id="1920" r:id="rId10"/>
    <p:sldId id="1921" r:id="rId11"/>
    <p:sldId id="1922" r:id="rId12"/>
    <p:sldId id="1923" r:id="rId13"/>
    <p:sldId id="1924" r:id="rId14"/>
    <p:sldId id="1925" r:id="rId15"/>
    <p:sldId id="1926" r:id="rId16"/>
    <p:sldId id="1927" r:id="rId17"/>
    <p:sldId id="1928" r:id="rId18"/>
    <p:sldId id="1929" r:id="rId19"/>
    <p:sldId id="1930" r:id="rId20"/>
    <p:sldId id="1931" r:id="rId21"/>
    <p:sldId id="1932" r:id="rId22"/>
    <p:sldId id="1933" r:id="rId23"/>
    <p:sldId id="1934" r:id="rId24"/>
    <p:sldId id="1935" r:id="rId25"/>
    <p:sldId id="1936" r:id="rId26"/>
    <p:sldId id="1937" r:id="rId27"/>
    <p:sldId id="1938" r:id="rId28"/>
    <p:sldId id="1939" r:id="rId29"/>
    <p:sldId id="1940" r:id="rId30"/>
    <p:sldId id="1941" r:id="rId31"/>
    <p:sldId id="1942" r:id="rId32"/>
    <p:sldId id="1943" r:id="rId33"/>
    <p:sldId id="1944" r:id="rId34"/>
    <p:sldId id="1945" r:id="rId35"/>
    <p:sldId id="1950" r:id="rId36"/>
    <p:sldId id="1951" r:id="rId37"/>
    <p:sldId id="1952" r:id="rId38"/>
    <p:sldId id="1953" r:id="rId39"/>
    <p:sldId id="1991" r:id="rId40"/>
    <p:sldId id="1992" r:id="rId41"/>
    <p:sldId id="1956" r:id="rId42"/>
    <p:sldId id="1957" r:id="rId43"/>
    <p:sldId id="1958" r:id="rId44"/>
    <p:sldId id="1959" r:id="rId45"/>
    <p:sldId id="1960" r:id="rId46"/>
    <p:sldId id="1961" r:id="rId47"/>
    <p:sldId id="1962" r:id="rId48"/>
    <p:sldId id="1963" r:id="rId49"/>
    <p:sldId id="1964" r:id="rId50"/>
    <p:sldId id="1965" r:id="rId51"/>
    <p:sldId id="1966" r:id="rId52"/>
    <p:sldId id="1967" r:id="rId53"/>
    <p:sldId id="1968" r:id="rId54"/>
    <p:sldId id="1969" r:id="rId55"/>
    <p:sldId id="1970" r:id="rId56"/>
    <p:sldId id="1993" r:id="rId57"/>
    <p:sldId id="1994" r:id="rId58"/>
    <p:sldId id="1971" r:id="rId59"/>
    <p:sldId id="1972" r:id="rId60"/>
    <p:sldId id="1973" r:id="rId61"/>
    <p:sldId id="1974" r:id="rId62"/>
    <p:sldId id="1975" r:id="rId63"/>
    <p:sldId id="1976" r:id="rId64"/>
    <p:sldId id="1977" r:id="rId65"/>
    <p:sldId id="1978" r:id="rId66"/>
    <p:sldId id="1979" r:id="rId67"/>
    <p:sldId id="1980" r:id="rId68"/>
    <p:sldId id="1981" r:id="rId69"/>
    <p:sldId id="1982" r:id="rId70"/>
    <p:sldId id="1983" r:id="rId71"/>
    <p:sldId id="1984" r:id="rId72"/>
    <p:sldId id="1995" r:id="rId73"/>
  </p:sldIdLst>
  <p:sldSz cx="12192000" cy="6858000"/>
  <p:notesSz cx="6858000" cy="9144000"/>
  <p:custDataLst>
    <p:tags r:id="rId7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1"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667521689" name="小蕊" initials="小"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081"/>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gs" Target="tags/tag31.xml"/><Relationship Id="rId78" Type="http://schemas.openxmlformats.org/officeDocument/2006/relationships/commentAuthors" Target="commentAuthors.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handoutMaster" Target="handoutMasters/handoutMaster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76.</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解析：题干每幅图形均分为</a:t>
            </a:r>
            <a:r>
              <a:rPr lang="en-US" altLang="zh-CN" dirty="0"/>
              <a:t>2</a:t>
            </a:r>
            <a:r>
              <a:rPr lang="zh-CN" altLang="en-US" dirty="0"/>
              <a:t>个部分，且其中一个部分有</a:t>
            </a:r>
            <a:r>
              <a:rPr lang="en-US" altLang="zh-CN" dirty="0"/>
              <a:t>1</a:t>
            </a:r>
            <a:r>
              <a:rPr lang="zh-CN" altLang="en-US" dirty="0"/>
              <a:t>个黑球，另一个部分有</a:t>
            </a:r>
            <a:r>
              <a:rPr lang="en-US" altLang="zh-CN" dirty="0"/>
              <a:t>2</a:t>
            </a:r>
            <a:r>
              <a:rPr lang="zh-CN" altLang="en-US" dirty="0"/>
              <a:t>个黑球，只有</a:t>
            </a:r>
            <a:r>
              <a:rPr lang="en-US" altLang="zh-CN" dirty="0"/>
              <a:t>D</a:t>
            </a:r>
            <a:r>
              <a:rPr lang="zh-CN" altLang="en-US" dirty="0"/>
              <a:t>项符合规律。</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77.</a:t>
            </a:r>
            <a:r>
              <a:rPr lang="zh-CN" altLang="en-US" dirty="0"/>
              <a:t>答案：</a:t>
            </a:r>
            <a:r>
              <a:rPr lang="en-US" altLang="zh-CN" dirty="0"/>
              <a:t>A	</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图形出现十六宫格，可以优先考虑内外分开看。观察发现，题干图形中黑色三角形均存在三个顶点，其中外圈的两个顶点在外圈依次逆时针平移一格，内圈的顶点在内圈依次逆时针平移一格，故？处图形也应符合此规律，只有</a:t>
            </a:r>
            <a:r>
              <a:rPr lang="en-US" altLang="zh-CN" dirty="0"/>
              <a:t>A</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78.</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解析：题干均由</a:t>
            </a:r>
            <a:r>
              <a:rPr lang="en-US" altLang="zh-CN" dirty="0"/>
              <a:t>1</a:t>
            </a:r>
            <a:r>
              <a:rPr lang="zh-CN" altLang="en-US" dirty="0"/>
              <a:t>个中心对称图形和</a:t>
            </a:r>
            <a:r>
              <a:rPr lang="en-US" altLang="zh-CN" dirty="0"/>
              <a:t>1</a:t>
            </a:r>
            <a:r>
              <a:rPr lang="zh-CN" altLang="en-US" dirty="0"/>
              <a:t>个轴对称图形构成，排除</a:t>
            </a:r>
            <a:r>
              <a:rPr lang="en-US" altLang="zh-CN" dirty="0"/>
              <a:t>D</a:t>
            </a:r>
            <a:r>
              <a:rPr lang="zh-CN" altLang="en-US" dirty="0"/>
              <a:t>项；继续观察发现，题干图形出现明显的多端点图形，考虑笔画数，题干图形的笔画数均为</a:t>
            </a:r>
            <a:r>
              <a:rPr lang="en-US" altLang="zh-CN" dirty="0"/>
              <a:t>3</a:t>
            </a:r>
            <a:r>
              <a:rPr lang="zh-CN" altLang="en-US" dirty="0"/>
              <a:t>（</a:t>
            </a:r>
            <a:r>
              <a:rPr lang="en-US" altLang="zh-CN" dirty="0"/>
              <a:t>1</a:t>
            </a:r>
            <a:r>
              <a:rPr lang="zh-CN" altLang="en-US" dirty="0"/>
              <a:t>个图形为一笔画图形，</a:t>
            </a:r>
            <a:r>
              <a:rPr lang="en-US" altLang="zh-CN" dirty="0"/>
              <a:t>1</a:t>
            </a:r>
            <a:r>
              <a:rPr lang="zh-CN" altLang="en-US" dirty="0"/>
              <a:t>个图形为两笔画图形），故？处图形的笔画数应为</a:t>
            </a:r>
            <a:r>
              <a:rPr lang="en-US" altLang="zh-CN" dirty="0"/>
              <a:t>3</a:t>
            </a:r>
            <a:r>
              <a:rPr lang="zh-CN" altLang="en-US" dirty="0"/>
              <a:t>，只有</a:t>
            </a:r>
            <a:r>
              <a:rPr lang="en-US" altLang="zh-CN" dirty="0"/>
              <a:t>B</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79.</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解析：第一行图形的运算规律为：白</a:t>
            </a:r>
            <a:r>
              <a:rPr lang="en-US" altLang="zh-CN" dirty="0"/>
              <a:t>+</a:t>
            </a:r>
            <a:r>
              <a:rPr lang="zh-CN" altLang="en-US" dirty="0"/>
              <a:t>黑</a:t>
            </a:r>
            <a:r>
              <a:rPr lang="en-US" altLang="zh-CN" dirty="0"/>
              <a:t>=</a:t>
            </a:r>
            <a:r>
              <a:rPr lang="zh-CN" altLang="en-US" dirty="0"/>
              <a:t>白，白</a:t>
            </a:r>
            <a:r>
              <a:rPr lang="en-US" altLang="zh-CN" dirty="0"/>
              <a:t>+</a:t>
            </a:r>
            <a:r>
              <a:rPr lang="zh-CN" altLang="en-US" dirty="0"/>
              <a:t>白</a:t>
            </a:r>
            <a:r>
              <a:rPr lang="en-US" altLang="zh-CN" dirty="0"/>
              <a:t>=</a:t>
            </a:r>
            <a:r>
              <a:rPr lang="zh-CN" altLang="en-US" dirty="0"/>
              <a:t>白，黑</a:t>
            </a:r>
            <a:r>
              <a:rPr lang="en-US" altLang="zh-CN" dirty="0"/>
              <a:t>+</a:t>
            </a:r>
            <a:r>
              <a:rPr lang="zh-CN" altLang="en-US" dirty="0"/>
              <a:t>白</a:t>
            </a:r>
            <a:r>
              <a:rPr lang="en-US" altLang="zh-CN" dirty="0"/>
              <a:t>=</a:t>
            </a:r>
            <a:r>
              <a:rPr lang="zh-CN" altLang="en-US" dirty="0"/>
              <a:t>白，黑</a:t>
            </a:r>
            <a:r>
              <a:rPr lang="en-US" altLang="zh-CN" dirty="0"/>
              <a:t>+</a:t>
            </a:r>
            <a:r>
              <a:rPr lang="zh-CN" altLang="en-US" dirty="0"/>
              <a:t>黑</a:t>
            </a:r>
            <a:r>
              <a:rPr lang="en-US" altLang="zh-CN" dirty="0"/>
              <a:t>=</a:t>
            </a:r>
            <a:r>
              <a:rPr lang="zh-CN" altLang="en-US" dirty="0"/>
              <a:t>黑；经验证，第二行图形符合此规律；第三行图形应用此规律，只有</a:t>
            </a:r>
            <a:r>
              <a:rPr lang="en-US" altLang="zh-CN" dirty="0"/>
              <a:t>C</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80.</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解析：本题考查截面图。根据平面公理</a:t>
            </a:r>
            <a:r>
              <a:rPr lang="en-US" altLang="zh-CN" dirty="0"/>
              <a:t>“</a:t>
            </a:r>
            <a:r>
              <a:rPr lang="zh-CN" altLang="en-US" dirty="0"/>
              <a:t>过不在一条直线上的三点，有且只有一个平面</a:t>
            </a:r>
            <a:r>
              <a:rPr lang="en-US" altLang="zh-CN" dirty="0"/>
              <a:t>”</a:t>
            </a:r>
            <a:r>
              <a:rPr lang="zh-CN" altLang="en-US" dirty="0"/>
              <a:t>可以得出，经过</a:t>
            </a:r>
            <a:r>
              <a:rPr lang="en-US" altLang="zh-CN" dirty="0"/>
              <a:t>P</a:t>
            </a:r>
            <a:r>
              <a:rPr lang="zh-CN" altLang="en-US" dirty="0"/>
              <a:t>、</a:t>
            </a:r>
            <a:r>
              <a:rPr lang="en-US" altLang="zh-CN" dirty="0"/>
              <a:t>Q</a:t>
            </a:r>
            <a:r>
              <a:rPr lang="zh-CN" altLang="en-US" dirty="0"/>
              <a:t>、</a:t>
            </a:r>
            <a:r>
              <a:rPr lang="en-US" altLang="zh-CN" dirty="0"/>
              <a:t>R</a:t>
            </a:r>
            <a:r>
              <a:rPr lang="zh-CN" altLang="en-US" dirty="0"/>
              <a:t>三点可以确定唯一的切面（即截面），即为</a:t>
            </a:r>
            <a:r>
              <a:rPr lang="en-US" altLang="zh-CN" dirty="0"/>
              <a:t>B</a:t>
            </a:r>
            <a:r>
              <a:rPr lang="zh-CN" altLang="en-US" dirty="0"/>
              <a:t>项，如下图所示：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81.</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解析：将题干</a:t>
            </a:r>
            <a:r>
              <a:rPr lang="en-US" altLang="zh-CN" dirty="0"/>
              <a:t>2</a:t>
            </a:r>
            <a:r>
              <a:rPr lang="zh-CN" altLang="en-US" dirty="0"/>
              <a:t>个正方体的面标上字母序号，并在立体图形和外表面展开图的</a:t>
            </a:r>
            <a:r>
              <a:rPr lang="en-US" altLang="zh-CN" dirty="0"/>
              <a:t>“T”</a:t>
            </a:r>
            <a:r>
              <a:rPr lang="zh-CN" altLang="en-US" dirty="0"/>
              <a:t>字形面（面</a:t>
            </a:r>
            <a:r>
              <a:rPr lang="en-US" altLang="zh-CN" dirty="0"/>
              <a:t>e</a:t>
            </a:r>
            <a:r>
              <a:rPr lang="zh-CN" altLang="en-US" dirty="0"/>
              <a:t>和面</a:t>
            </a:r>
            <a:r>
              <a:rPr lang="en-US" altLang="zh-CN" dirty="0"/>
              <a:t>g</a:t>
            </a:r>
            <a:r>
              <a:rPr lang="zh-CN" altLang="en-US" dirty="0"/>
              <a:t>）中以</a:t>
            </a:r>
            <a:r>
              <a:rPr lang="en-US" altLang="zh-CN" dirty="0"/>
              <a:t>“T”</a:t>
            </a:r>
            <a:r>
              <a:rPr lang="zh-CN" altLang="en-US" dirty="0"/>
              <a:t>字形中线端点为起始点，顺时针描边标号，如下图所示。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a:t>
            </a:r>
            <a:r>
              <a:rPr lang="en-US" altLang="en-US" dirty="0"/>
              <a:t>①</a:t>
            </a:r>
            <a:r>
              <a:rPr lang="zh-CN" altLang="en-US" dirty="0"/>
              <a:t>中，标出</a:t>
            </a:r>
            <a:r>
              <a:rPr lang="en-US" altLang="zh-CN" dirty="0"/>
              <a:t>“T</a:t>
            </a:r>
            <a:r>
              <a:rPr lang="zh-CN" altLang="en-US" dirty="0"/>
              <a:t>字形</a:t>
            </a:r>
            <a:r>
              <a:rPr lang="en-US" altLang="zh-CN" dirty="0"/>
              <a:t>”</a:t>
            </a:r>
            <a:r>
              <a:rPr lang="zh-CN" altLang="en-US" dirty="0"/>
              <a:t>面中对应的边</a:t>
            </a:r>
            <a:r>
              <a:rPr lang="en-US" altLang="zh-CN" dirty="0"/>
              <a:t>2</a:t>
            </a:r>
            <a:r>
              <a:rPr lang="zh-CN" altLang="en-US" dirty="0"/>
              <a:t>和边</a:t>
            </a:r>
            <a:r>
              <a:rPr lang="en-US" altLang="zh-CN" dirty="0"/>
              <a:t>3</a:t>
            </a:r>
            <a:r>
              <a:rPr lang="zh-CN" altLang="en-US" dirty="0"/>
              <a:t>后发现，二者与题干右侧正方体中面</a:t>
            </a:r>
            <a:r>
              <a:rPr lang="en-US" altLang="zh-CN" dirty="0"/>
              <a:t>g</a:t>
            </a:r>
            <a:r>
              <a:rPr lang="zh-CN" altLang="en-US" dirty="0"/>
              <a:t>的边</a:t>
            </a:r>
            <a:r>
              <a:rPr lang="en-US" altLang="zh-CN" dirty="0"/>
              <a:t>2</a:t>
            </a:r>
            <a:r>
              <a:rPr lang="zh-CN" altLang="en-US" dirty="0"/>
              <a:t>和边</a:t>
            </a:r>
            <a:r>
              <a:rPr lang="en-US" altLang="zh-CN" dirty="0"/>
              <a:t>3</a:t>
            </a:r>
            <a:r>
              <a:rPr lang="zh-CN" altLang="en-US" dirty="0"/>
              <a:t>对应一致，故图</a:t>
            </a:r>
            <a:r>
              <a:rPr lang="en-US" altLang="en-US" dirty="0"/>
              <a:t>①</a:t>
            </a:r>
            <a:r>
              <a:rPr lang="zh-CN" altLang="en-US" dirty="0"/>
              <a:t>可能是题干右侧正方体的外表面展开图；</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a:t>
            </a:r>
            <a:r>
              <a:rPr lang="en-US" altLang="en-US" dirty="0"/>
              <a:t>②</a:t>
            </a:r>
            <a:r>
              <a:rPr lang="zh-CN" altLang="en-US" dirty="0"/>
              <a:t>中，标出</a:t>
            </a:r>
            <a:r>
              <a:rPr lang="en-US" altLang="zh-CN" dirty="0"/>
              <a:t>“T</a:t>
            </a:r>
            <a:r>
              <a:rPr lang="zh-CN" altLang="en-US" dirty="0"/>
              <a:t>字形</a:t>
            </a:r>
            <a:r>
              <a:rPr lang="en-US" altLang="zh-CN" dirty="0"/>
              <a:t>”</a:t>
            </a:r>
            <a:r>
              <a:rPr lang="zh-CN" altLang="en-US" dirty="0"/>
              <a:t>面中对应的边</a:t>
            </a:r>
            <a:r>
              <a:rPr lang="en-US" altLang="zh-CN" dirty="0"/>
              <a:t>2</a:t>
            </a:r>
            <a:r>
              <a:rPr lang="zh-CN" altLang="en-US" dirty="0"/>
              <a:t>和边</a:t>
            </a:r>
            <a:r>
              <a:rPr lang="en-US" altLang="zh-CN" dirty="0"/>
              <a:t>3</a:t>
            </a:r>
            <a:r>
              <a:rPr lang="zh-CN" altLang="en-US" dirty="0"/>
              <a:t>后发现，二者与题干右侧正方体中面</a:t>
            </a:r>
            <a:r>
              <a:rPr lang="en-US" altLang="zh-CN" dirty="0"/>
              <a:t>g</a:t>
            </a:r>
            <a:r>
              <a:rPr lang="zh-CN" altLang="en-US" dirty="0"/>
              <a:t>的边</a:t>
            </a:r>
            <a:r>
              <a:rPr lang="en-US" altLang="zh-CN" dirty="0"/>
              <a:t>2</a:t>
            </a:r>
            <a:r>
              <a:rPr lang="zh-CN" altLang="en-US" dirty="0"/>
              <a:t>和边</a:t>
            </a:r>
            <a:r>
              <a:rPr lang="en-US" altLang="zh-CN" dirty="0"/>
              <a:t>3</a:t>
            </a:r>
            <a:r>
              <a:rPr lang="zh-CN" altLang="en-US" dirty="0"/>
              <a:t>对应不一致，故图</a:t>
            </a:r>
            <a:r>
              <a:rPr lang="en-US" altLang="en-US" dirty="0"/>
              <a:t>②</a:t>
            </a:r>
            <a:r>
              <a:rPr lang="zh-CN" altLang="en-US" dirty="0"/>
              <a:t>不可能是题干右侧正方体的外表面展开图，标出</a:t>
            </a:r>
            <a:r>
              <a:rPr lang="en-US" altLang="zh-CN" dirty="0"/>
              <a:t>“T</a:t>
            </a:r>
            <a:r>
              <a:rPr lang="zh-CN" altLang="en-US" dirty="0"/>
              <a:t>字形</a:t>
            </a:r>
            <a:r>
              <a:rPr lang="en-US" altLang="zh-CN" dirty="0"/>
              <a:t>”</a:t>
            </a:r>
            <a:r>
              <a:rPr lang="zh-CN" altLang="en-US" dirty="0"/>
              <a:t>面中对应的边</a:t>
            </a:r>
            <a:r>
              <a:rPr lang="en-US" altLang="zh-CN" dirty="0"/>
              <a:t>4</a:t>
            </a:r>
            <a:r>
              <a:rPr lang="zh-CN" altLang="en-US" dirty="0"/>
              <a:t>后发现，与题干左侧正方体中面</a:t>
            </a:r>
            <a:r>
              <a:rPr lang="en-US" altLang="zh-CN" dirty="0"/>
              <a:t>e</a:t>
            </a:r>
            <a:r>
              <a:rPr lang="zh-CN" altLang="en-US" dirty="0"/>
              <a:t>的边</a:t>
            </a:r>
            <a:r>
              <a:rPr lang="en-US" altLang="zh-CN" dirty="0"/>
              <a:t>4</a:t>
            </a:r>
            <a:r>
              <a:rPr lang="zh-CN" altLang="en-US" dirty="0"/>
              <a:t>对应不一致，故图</a:t>
            </a:r>
            <a:r>
              <a:rPr lang="en-US" altLang="en-US" dirty="0"/>
              <a:t>②</a:t>
            </a:r>
            <a:r>
              <a:rPr lang="zh-CN" altLang="en-US" dirty="0"/>
              <a:t>不可能是题干左侧正方体的外表面展开图；</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a:t>
            </a:r>
            <a:r>
              <a:rPr lang="en-US" altLang="en-US" dirty="0"/>
              <a:t>③</a:t>
            </a:r>
            <a:r>
              <a:rPr lang="zh-CN" altLang="en-US" dirty="0"/>
              <a:t>中，标出</a:t>
            </a:r>
            <a:r>
              <a:rPr lang="en-US" altLang="zh-CN" dirty="0"/>
              <a:t>“T</a:t>
            </a:r>
            <a:r>
              <a:rPr lang="zh-CN" altLang="en-US" dirty="0"/>
              <a:t>字形</a:t>
            </a:r>
            <a:r>
              <a:rPr lang="en-US" altLang="zh-CN" dirty="0"/>
              <a:t>”</a:t>
            </a:r>
            <a:r>
              <a:rPr lang="zh-CN" altLang="en-US" dirty="0"/>
              <a:t>面中对应的边</a:t>
            </a:r>
            <a:r>
              <a:rPr lang="en-US" altLang="zh-CN" dirty="0"/>
              <a:t>4</a:t>
            </a:r>
            <a:r>
              <a:rPr lang="zh-CN" altLang="en-US" dirty="0"/>
              <a:t>后发现，该公共边与题干左侧正方体中面</a:t>
            </a:r>
            <a:r>
              <a:rPr lang="en-US" altLang="zh-CN" dirty="0"/>
              <a:t>e</a:t>
            </a:r>
            <a:r>
              <a:rPr lang="zh-CN" altLang="en-US" dirty="0"/>
              <a:t>的边</a:t>
            </a:r>
            <a:r>
              <a:rPr lang="en-US" altLang="zh-CN" dirty="0"/>
              <a:t>4</a:t>
            </a:r>
            <a:r>
              <a:rPr lang="zh-CN" altLang="en-US" dirty="0"/>
              <a:t>对应一致，故图</a:t>
            </a:r>
            <a:r>
              <a:rPr lang="en-US" altLang="en-US" dirty="0"/>
              <a:t>③</a:t>
            </a:r>
            <a:r>
              <a:rPr lang="zh-CN" altLang="en-US" dirty="0"/>
              <a:t>可能是题干左侧正方体的外表面展开图；</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a:t>
            </a:r>
            <a:r>
              <a:rPr lang="en-US" altLang="en-US" dirty="0"/>
              <a:t>④</a:t>
            </a:r>
            <a:r>
              <a:rPr lang="zh-CN" altLang="en-US" dirty="0"/>
              <a:t>中，标出</a:t>
            </a:r>
            <a:r>
              <a:rPr lang="en-US" altLang="zh-CN" dirty="0"/>
              <a:t>“T</a:t>
            </a:r>
            <a:r>
              <a:rPr lang="zh-CN" altLang="en-US" dirty="0"/>
              <a:t>字形</a:t>
            </a:r>
            <a:r>
              <a:rPr lang="en-US" altLang="zh-CN" dirty="0"/>
              <a:t>”</a:t>
            </a:r>
            <a:r>
              <a:rPr lang="zh-CN" altLang="en-US" dirty="0"/>
              <a:t>面中对应的边</a:t>
            </a:r>
            <a:r>
              <a:rPr lang="en-US" altLang="zh-CN" dirty="0"/>
              <a:t>2</a:t>
            </a:r>
            <a:r>
              <a:rPr lang="zh-CN" altLang="en-US" dirty="0"/>
              <a:t>和边</a:t>
            </a:r>
            <a:r>
              <a:rPr lang="en-US" altLang="zh-CN" dirty="0"/>
              <a:t>3</a:t>
            </a:r>
            <a:r>
              <a:rPr lang="zh-CN" altLang="en-US" dirty="0"/>
              <a:t>后发现，二者与题干右侧正方体中面</a:t>
            </a:r>
            <a:r>
              <a:rPr lang="en-US" altLang="zh-CN" dirty="0"/>
              <a:t>g</a:t>
            </a:r>
            <a:r>
              <a:rPr lang="zh-CN" altLang="en-US" dirty="0"/>
              <a:t>的边</a:t>
            </a:r>
            <a:r>
              <a:rPr lang="en-US" altLang="zh-CN" dirty="0"/>
              <a:t>2</a:t>
            </a:r>
            <a:r>
              <a:rPr lang="zh-CN" altLang="en-US" dirty="0"/>
              <a:t>和边</a:t>
            </a:r>
            <a:r>
              <a:rPr lang="en-US" altLang="zh-CN" dirty="0"/>
              <a:t>3</a:t>
            </a:r>
            <a:r>
              <a:rPr lang="zh-CN" altLang="en-US" dirty="0"/>
              <a:t>对应不一致，故图</a:t>
            </a:r>
            <a:r>
              <a:rPr lang="en-US" altLang="en-US" dirty="0"/>
              <a:t>④</a:t>
            </a:r>
            <a:r>
              <a:rPr lang="zh-CN" altLang="en-US" dirty="0"/>
              <a:t>不可能是题干右侧正方体的外表面展开图，标出</a:t>
            </a:r>
            <a:r>
              <a:rPr lang="en-US" altLang="zh-CN" dirty="0"/>
              <a:t>“T</a:t>
            </a:r>
            <a:r>
              <a:rPr lang="zh-CN" altLang="en-US" dirty="0"/>
              <a:t>字形</a:t>
            </a:r>
            <a:r>
              <a:rPr lang="en-US" altLang="zh-CN" dirty="0"/>
              <a:t>”</a:t>
            </a:r>
            <a:r>
              <a:rPr lang="zh-CN" altLang="en-US" dirty="0"/>
              <a:t>面中对应的边</a:t>
            </a:r>
            <a:r>
              <a:rPr lang="en-US" altLang="zh-CN" dirty="0"/>
              <a:t>4</a:t>
            </a:r>
            <a:r>
              <a:rPr lang="zh-CN" altLang="en-US" dirty="0"/>
              <a:t>后发现，与题干左侧正方体中面</a:t>
            </a:r>
            <a:r>
              <a:rPr lang="en-US" altLang="zh-CN" dirty="0"/>
              <a:t>e</a:t>
            </a:r>
            <a:r>
              <a:rPr lang="zh-CN" altLang="en-US" dirty="0"/>
              <a:t>的边</a:t>
            </a:r>
            <a:r>
              <a:rPr lang="en-US" altLang="zh-CN" dirty="0"/>
              <a:t>4</a:t>
            </a:r>
            <a:r>
              <a:rPr lang="zh-CN" altLang="en-US" dirty="0"/>
              <a:t>对应不一致，故图</a:t>
            </a:r>
            <a:r>
              <a:rPr lang="en-US" altLang="en-US" dirty="0"/>
              <a:t>④</a:t>
            </a:r>
            <a:r>
              <a:rPr lang="zh-CN" altLang="en-US" dirty="0"/>
              <a:t>不可能是题干左侧正方体的外表面展开图。</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综上，</a:t>
            </a:r>
            <a:r>
              <a:rPr lang="en-US" altLang="zh-CN" dirty="0"/>
              <a:t>2</a:t>
            </a:r>
            <a:r>
              <a:rPr lang="zh-CN" altLang="en-US" dirty="0"/>
              <a:t>个正方体的外表面展开图可能是</a:t>
            </a:r>
            <a:r>
              <a:rPr lang="en-US" altLang="en-US" dirty="0"/>
              <a:t>①</a:t>
            </a:r>
            <a:r>
              <a:rPr lang="zh-CN" altLang="en-US" dirty="0"/>
              <a:t>和</a:t>
            </a:r>
            <a:r>
              <a:rPr lang="en-US" altLang="en-US" dirty="0"/>
              <a:t>③</a:t>
            </a:r>
            <a:r>
              <a:rPr lang="zh-CN" altLang="en-US" dirty="0"/>
              <a:t>，对应</a:t>
            </a:r>
            <a:r>
              <a:rPr lang="en-US" altLang="zh-CN" dirty="0"/>
              <a:t>D</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82.</a:t>
            </a:r>
            <a:r>
              <a:rPr lang="zh-CN" altLang="en-US" dirty="0"/>
              <a:t>答案：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解析：本题考查立体拼合。题干多面体可以由</a:t>
            </a:r>
            <a:r>
              <a:rPr lang="en-US" altLang="zh-CN" dirty="0"/>
              <a:t>A</a:t>
            </a:r>
            <a:r>
              <a:rPr lang="zh-CN" altLang="en-US" dirty="0"/>
              <a:t>、</a:t>
            </a:r>
            <a:r>
              <a:rPr lang="en-US" altLang="zh-CN" dirty="0"/>
              <a:t>B</a:t>
            </a:r>
            <a:r>
              <a:rPr lang="zh-CN" altLang="en-US" dirty="0"/>
              <a:t>、</a:t>
            </a:r>
            <a:r>
              <a:rPr lang="en-US" altLang="zh-CN" dirty="0"/>
              <a:t>D</a:t>
            </a:r>
            <a:r>
              <a:rPr lang="zh-CN" altLang="en-US" dirty="0"/>
              <a:t>三项中的立体图形拼合而成，具体拼合过程如下图所示：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83.</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解析：图</a:t>
            </a:r>
            <a:r>
              <a:rPr lang="en-US" altLang="en-US" dirty="0"/>
              <a:t>①④⑤</a:t>
            </a:r>
            <a:r>
              <a:rPr lang="zh-CN" altLang="en-US" dirty="0"/>
              <a:t>中的黑菱形和白菱形相交于线，图</a:t>
            </a:r>
            <a:r>
              <a:rPr lang="en-US" altLang="en-US" dirty="0"/>
              <a:t>②③⑥</a:t>
            </a:r>
            <a:r>
              <a:rPr lang="zh-CN" altLang="en-US" dirty="0"/>
              <a:t>中的黑菱形和白菱形不相交。故图</a:t>
            </a:r>
            <a:r>
              <a:rPr lang="en-US" altLang="en-US" dirty="0"/>
              <a:t>①④⑤</a:t>
            </a:r>
            <a:r>
              <a:rPr lang="zh-CN" altLang="en-US" dirty="0"/>
              <a:t>为一组，图</a:t>
            </a:r>
            <a:r>
              <a:rPr lang="en-US" altLang="en-US" dirty="0"/>
              <a:t>②③⑥</a:t>
            </a:r>
            <a:r>
              <a:rPr lang="zh-CN" altLang="en-US" dirty="0"/>
              <a:t>为一组。</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84.</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解析：每幅图中均有</a:t>
            </a:r>
            <a:r>
              <a:rPr lang="en-US" altLang="zh-CN" dirty="0"/>
              <a:t>1-2</a:t>
            </a:r>
            <a:r>
              <a:rPr lang="zh-CN" altLang="en-US" dirty="0"/>
              <a:t>个白色面形状与黑色面形状相同，故考虑相同形状的面，图</a:t>
            </a:r>
            <a:r>
              <a:rPr lang="en-US" altLang="en-US" dirty="0"/>
              <a:t>①②④</a:t>
            </a:r>
            <a:r>
              <a:rPr lang="zh-CN" altLang="en-US" dirty="0"/>
              <a:t>中黑色面的形状与</a:t>
            </a:r>
            <a:r>
              <a:rPr lang="en-US" altLang="zh-CN" dirty="0"/>
              <a:t>2</a:t>
            </a:r>
            <a:r>
              <a:rPr lang="zh-CN" altLang="en-US" dirty="0"/>
              <a:t>个白色面形状一致，图</a:t>
            </a:r>
            <a:r>
              <a:rPr lang="en-US" altLang="en-US" dirty="0"/>
              <a:t>③⑤⑥</a:t>
            </a:r>
            <a:r>
              <a:rPr lang="zh-CN" altLang="en-US" dirty="0"/>
              <a:t>中黑色面的形状与</a:t>
            </a:r>
            <a:r>
              <a:rPr lang="en-US" altLang="zh-CN" dirty="0"/>
              <a:t>1</a:t>
            </a:r>
            <a:r>
              <a:rPr lang="zh-CN" altLang="en-US" dirty="0"/>
              <a:t>个白色面形状一致，故图</a:t>
            </a:r>
            <a:r>
              <a:rPr lang="en-US" altLang="en-US" dirty="0"/>
              <a:t>①②④</a:t>
            </a:r>
            <a:r>
              <a:rPr lang="zh-CN" altLang="en-US" dirty="0"/>
              <a:t>为一组，图</a:t>
            </a:r>
            <a:r>
              <a:rPr lang="en-US" altLang="en-US" dirty="0"/>
              <a:t>③⑤⑥</a:t>
            </a:r>
            <a:r>
              <a:rPr lang="zh-CN" altLang="en-US" dirty="0"/>
              <a:t>为一组。</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85.</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解析：图</a:t>
            </a:r>
            <a:r>
              <a:rPr lang="en-US" altLang="en-US" dirty="0"/>
              <a:t>①④⑤</a:t>
            </a:r>
            <a:r>
              <a:rPr lang="zh-CN" altLang="en-US" dirty="0"/>
              <a:t>中十字交叉点位于白球外部，图</a:t>
            </a:r>
            <a:r>
              <a:rPr lang="en-US" altLang="en-US" dirty="0"/>
              <a:t>②③⑥</a:t>
            </a:r>
            <a:r>
              <a:rPr lang="zh-CN" altLang="en-US" dirty="0"/>
              <a:t>中十字交叉点位于白球内部，故图</a:t>
            </a:r>
            <a:r>
              <a:rPr lang="en-US" altLang="en-US" dirty="0"/>
              <a:t>①④⑤</a:t>
            </a:r>
            <a:r>
              <a:rPr lang="zh-CN" altLang="en-US" dirty="0"/>
              <a:t>为一组，图</a:t>
            </a:r>
            <a:r>
              <a:rPr lang="en-US" altLang="en-US" dirty="0"/>
              <a:t>②③⑥</a:t>
            </a:r>
            <a:r>
              <a:rPr lang="zh-CN" altLang="en-US" dirty="0"/>
              <a:t>为一组，只有</a:t>
            </a:r>
            <a:r>
              <a:rPr lang="en-US" altLang="zh-CN" dirty="0"/>
              <a:t>A</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86.</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用物理、化学或者物理与化学相结合的方法</a:t>
            </a:r>
            <a:r>
              <a:rPr lang="en-US" altLang="zh-CN" dirty="0"/>
              <a:t>”</a:t>
            </a:r>
            <a:r>
              <a:rPr lang="zh-CN" altLang="en-US" dirty="0"/>
              <a:t>、</a:t>
            </a:r>
            <a:r>
              <a:rPr lang="en-US" altLang="zh-CN" dirty="0"/>
              <a:t>“</a:t>
            </a:r>
            <a:r>
              <a:rPr lang="zh-CN" altLang="en-US" dirty="0"/>
              <a:t>将原矿中的有用矿物与伴生的无用固定物质（脉石）或有害矿物分开的过程</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项：利用矿物颗粒电性的差别，属于物理方法，符合</a:t>
            </a:r>
            <a:r>
              <a:rPr lang="en-US" altLang="zh-CN" dirty="0"/>
              <a:t>“</a:t>
            </a:r>
            <a:r>
              <a:rPr lang="zh-CN" altLang="en-US" dirty="0"/>
              <a:t>用物理、化学或者物理与化学相结合的方法</a:t>
            </a:r>
            <a:r>
              <a:rPr lang="en-US" altLang="zh-CN" dirty="0"/>
              <a:t>”</a:t>
            </a:r>
            <a:r>
              <a:rPr lang="zh-CN" altLang="en-US" dirty="0"/>
              <a:t>，在高压电场中挑选出白钨矿、赤铁矿等（有用物质），通过电机分离除尘（伴生的无用固定物质），符合</a:t>
            </a:r>
            <a:r>
              <a:rPr lang="en-US" altLang="zh-CN" dirty="0"/>
              <a:t>“</a:t>
            </a:r>
            <a:r>
              <a:rPr lang="zh-CN" altLang="en-US" dirty="0"/>
              <a:t>将原矿中的有用矿物与伴生的无用固定物质（脉石）或有害矿物分开的过程</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项：利用水枪和洗矿槽等设备清洗锡矿石，属于物理方法，符合</a:t>
            </a:r>
            <a:r>
              <a:rPr lang="en-US" altLang="zh-CN" dirty="0"/>
              <a:t>“</a:t>
            </a:r>
            <a:r>
              <a:rPr lang="zh-CN" altLang="en-US" dirty="0"/>
              <a:t>用物理、化学或者物理与化学相结合的方法</a:t>
            </a:r>
            <a:r>
              <a:rPr lang="en-US" altLang="zh-CN" dirty="0"/>
              <a:t>”</a:t>
            </a:r>
            <a:r>
              <a:rPr lang="zh-CN" altLang="en-US" dirty="0"/>
              <a:t>，将锡矿石中的泥土等杂质（伴生的无用固定物质）洗去，同时也可以将部分轻矿物冲走，实现锡石（有用矿物）初步富集，符合</a:t>
            </a:r>
            <a:r>
              <a:rPr lang="en-US" altLang="zh-CN" dirty="0"/>
              <a:t>“</a:t>
            </a:r>
            <a:r>
              <a:rPr lang="zh-CN" altLang="en-US" dirty="0"/>
              <a:t>将原矿中的有用矿物与伴生的无用固定物质（脉石）或有害矿物分开的过程</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项：通过敲击、光照、观察皮壳等方法对开采的翡翠原石进行筛选，挑选优质原石，仅是对原石整体品质进行判断与挑选，不涉及对原石中的物质分开的过程，不符合</a:t>
            </a:r>
            <a:r>
              <a:rPr lang="en-US" altLang="zh-CN" dirty="0"/>
              <a:t>“</a:t>
            </a:r>
            <a:r>
              <a:rPr lang="zh-CN" altLang="en-US" dirty="0"/>
              <a:t>将原矿中的有用矿物与伴生的无用固定物质（脉石）或有害矿物分开的过程</a:t>
            </a:r>
            <a:r>
              <a:rPr lang="en-US" altLang="zh-CN" dirty="0"/>
              <a:t>”</a:t>
            </a:r>
            <a:r>
              <a:rPr lang="zh-CN" altLang="en-US" dirty="0"/>
              <a:t>，不符合定义，当选；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项：将铜矿矿石破碎到一定的粒度后，属于物理方法，混以少量的食盐和煤粉隔氧加热，属于化学方法，符合</a:t>
            </a:r>
            <a:r>
              <a:rPr lang="en-US" altLang="zh-CN" dirty="0"/>
              <a:t>“</a:t>
            </a:r>
            <a:r>
              <a:rPr lang="zh-CN" altLang="en-US" dirty="0"/>
              <a:t>用物理、化学或者物理与化学相结合的方法</a:t>
            </a:r>
            <a:r>
              <a:rPr lang="en-US" altLang="zh-CN" dirty="0"/>
              <a:t>”</a:t>
            </a:r>
            <a:r>
              <a:rPr lang="zh-CN" altLang="en-US" dirty="0"/>
              <a:t>，矿石中的铜（有用矿物）便以金属状态析出，由此获得铜精矿，符合</a:t>
            </a:r>
            <a:r>
              <a:rPr lang="en-US" altLang="zh-CN" dirty="0"/>
              <a:t>“</a:t>
            </a:r>
            <a:r>
              <a:rPr lang="zh-CN" altLang="en-US" dirty="0"/>
              <a:t>将原矿中的有用矿物与伴生的无用固定物质（脉石）或有害矿物分开的过程</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87.</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同行业竞争对手的威胁</a:t>
            </a:r>
            <a:r>
              <a:rPr lang="en-US" altLang="zh-CN" dirty="0"/>
              <a:t>”</a:t>
            </a:r>
            <a:r>
              <a:rPr lang="zh-CN" altLang="en-US" dirty="0"/>
              <a:t>、</a:t>
            </a:r>
            <a:r>
              <a:rPr lang="en-US" altLang="zh-CN" dirty="0"/>
              <a:t>“</a:t>
            </a:r>
            <a:r>
              <a:rPr lang="zh-CN" altLang="en-US" dirty="0"/>
              <a:t>潜在进入者的威胁</a:t>
            </a:r>
            <a:r>
              <a:rPr lang="en-US" altLang="zh-CN" dirty="0"/>
              <a:t>”</a:t>
            </a:r>
            <a:r>
              <a:rPr lang="zh-CN" altLang="en-US" dirty="0"/>
              <a:t>、</a:t>
            </a:r>
            <a:r>
              <a:rPr lang="en-US" altLang="zh-CN" dirty="0"/>
              <a:t>“</a:t>
            </a:r>
            <a:r>
              <a:rPr lang="zh-CN" altLang="en-US" dirty="0"/>
              <a:t>替代品的威胁</a:t>
            </a:r>
            <a:r>
              <a:rPr lang="en-US" altLang="zh-CN" dirty="0"/>
              <a:t>”</a:t>
            </a:r>
            <a:r>
              <a:rPr lang="zh-CN" altLang="en-US" dirty="0"/>
              <a:t>、</a:t>
            </a:r>
            <a:r>
              <a:rPr lang="en-US" altLang="zh-CN" dirty="0"/>
              <a:t>“</a:t>
            </a:r>
            <a:r>
              <a:rPr lang="zh-CN" altLang="en-US" dirty="0"/>
              <a:t>上游供应商的议价能力</a:t>
            </a:r>
            <a:r>
              <a:rPr lang="en-US" altLang="zh-CN" dirty="0"/>
              <a:t>”</a:t>
            </a:r>
            <a:r>
              <a:rPr lang="zh-CN" altLang="en-US" dirty="0"/>
              <a:t>、</a:t>
            </a:r>
            <a:r>
              <a:rPr lang="en-US" altLang="zh-CN" dirty="0"/>
              <a:t>“</a:t>
            </a:r>
            <a:r>
              <a:rPr lang="zh-CN" altLang="en-US" dirty="0"/>
              <a:t>下游购买者的议价能力</a:t>
            </a:r>
            <a:r>
              <a:rPr lang="en-US" altLang="zh-CN" dirty="0"/>
              <a:t>”</a:t>
            </a:r>
            <a:r>
              <a:rPr lang="zh-CN" altLang="en-US" dirty="0"/>
              <a:t>、</a:t>
            </a:r>
            <a:r>
              <a:rPr lang="en-US" altLang="zh-CN" dirty="0"/>
              <a:t>“</a:t>
            </a:r>
            <a:r>
              <a:rPr lang="zh-CN" altLang="en-US" dirty="0"/>
              <a:t>帮助企业了解其所处行业的竞争环境，以制定相应的竞争策略</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项：康复机器人行业准入门槛高吗？需要强大的技术能力和创新能力吗？问题中的</a:t>
            </a:r>
            <a:r>
              <a:rPr lang="en-US" altLang="zh-CN" dirty="0"/>
              <a:t>“</a:t>
            </a:r>
            <a:r>
              <a:rPr lang="zh-CN" altLang="en-US" dirty="0"/>
              <a:t>准入门槛</a:t>
            </a:r>
            <a:r>
              <a:rPr lang="en-US" altLang="zh-CN" dirty="0"/>
              <a:t>”</a:t>
            </a:r>
            <a:r>
              <a:rPr lang="zh-CN" altLang="en-US" dirty="0"/>
              <a:t>、</a:t>
            </a:r>
            <a:r>
              <a:rPr lang="en-US" altLang="zh-CN" dirty="0"/>
              <a:t>“</a:t>
            </a:r>
            <a:r>
              <a:rPr lang="zh-CN" altLang="en-US" dirty="0"/>
              <a:t>技术能力和创新能力</a:t>
            </a:r>
            <a:r>
              <a:rPr lang="en-US" altLang="zh-CN" dirty="0"/>
              <a:t>”</a:t>
            </a:r>
            <a:r>
              <a:rPr lang="zh-CN" altLang="en-US" dirty="0"/>
              <a:t>直接关系到潜在企业能否进入康复机器人行业，符合波特五力模型中的</a:t>
            </a:r>
            <a:r>
              <a:rPr lang="en-US" altLang="zh-CN" dirty="0"/>
              <a:t>“</a:t>
            </a:r>
            <a:r>
              <a:rPr lang="zh-CN" altLang="en-US" dirty="0"/>
              <a:t>潜在进入者的威胁</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项：医院和康复中心患者规模如何？对于康复机器人的需求有多大？问题中的</a:t>
            </a:r>
            <a:r>
              <a:rPr lang="en-US" altLang="zh-CN" dirty="0"/>
              <a:t>“</a:t>
            </a:r>
            <a:r>
              <a:rPr lang="zh-CN" altLang="en-US" dirty="0"/>
              <a:t>医院</a:t>
            </a:r>
            <a:r>
              <a:rPr lang="en-US" altLang="zh-CN" dirty="0"/>
              <a:t>”</a:t>
            </a:r>
            <a:r>
              <a:rPr lang="zh-CN" altLang="en-US" dirty="0"/>
              <a:t>和</a:t>
            </a:r>
            <a:r>
              <a:rPr lang="en-US" altLang="zh-CN" dirty="0"/>
              <a:t>“</a:t>
            </a:r>
            <a:r>
              <a:rPr lang="zh-CN" altLang="en-US" dirty="0"/>
              <a:t>康复中心</a:t>
            </a:r>
            <a:r>
              <a:rPr lang="en-US" altLang="zh-CN" dirty="0"/>
              <a:t>”</a:t>
            </a:r>
            <a:r>
              <a:rPr lang="zh-CN" altLang="en-US" dirty="0"/>
              <a:t>是康复机器人的</a:t>
            </a:r>
            <a:r>
              <a:rPr lang="en-US" altLang="zh-CN" dirty="0"/>
              <a:t>“</a:t>
            </a:r>
            <a:r>
              <a:rPr lang="zh-CN" altLang="en-US" dirty="0"/>
              <a:t>下游购买者</a:t>
            </a:r>
            <a:r>
              <a:rPr lang="en-US" altLang="zh-CN" dirty="0"/>
              <a:t>”</a:t>
            </a:r>
            <a:r>
              <a:rPr lang="zh-CN" altLang="en-US" dirty="0"/>
              <a:t>，</a:t>
            </a:r>
            <a:r>
              <a:rPr lang="en-US" altLang="zh-CN" dirty="0"/>
              <a:t>“</a:t>
            </a:r>
            <a:r>
              <a:rPr lang="zh-CN" altLang="en-US" dirty="0"/>
              <a:t>患者规模</a:t>
            </a:r>
            <a:r>
              <a:rPr lang="en-US" altLang="zh-CN" dirty="0"/>
              <a:t>”</a:t>
            </a:r>
            <a:r>
              <a:rPr lang="zh-CN" altLang="en-US" dirty="0"/>
              <a:t>与</a:t>
            </a:r>
            <a:r>
              <a:rPr lang="en-US" altLang="zh-CN" dirty="0"/>
              <a:t>“</a:t>
            </a:r>
            <a:r>
              <a:rPr lang="zh-CN" altLang="en-US" dirty="0"/>
              <a:t>需求程度</a:t>
            </a:r>
            <a:r>
              <a:rPr lang="en-US" altLang="zh-CN" dirty="0"/>
              <a:t>”</a:t>
            </a:r>
            <a:r>
              <a:rPr lang="zh-CN" altLang="en-US" dirty="0"/>
              <a:t>会直接影响购买者采购时的</a:t>
            </a:r>
            <a:r>
              <a:rPr lang="en-US" altLang="zh-CN" dirty="0"/>
              <a:t>“</a:t>
            </a:r>
            <a:r>
              <a:rPr lang="zh-CN" altLang="en-US" dirty="0"/>
              <a:t>议价能力</a:t>
            </a:r>
            <a:r>
              <a:rPr lang="en-US" altLang="zh-CN" dirty="0"/>
              <a:t>”</a:t>
            </a:r>
            <a:r>
              <a:rPr lang="zh-CN" altLang="en-US" dirty="0"/>
              <a:t>，符合波特五力模型中的</a:t>
            </a:r>
            <a:r>
              <a:rPr lang="en-US" altLang="zh-CN" dirty="0"/>
              <a:t>“</a:t>
            </a:r>
            <a:r>
              <a:rPr lang="zh-CN" altLang="en-US" dirty="0"/>
              <a:t>下游购买者的议价能力</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项：与传统物理治疗等康复治疗方法相比，康复机器人有竞争力吗？问题中的</a:t>
            </a:r>
            <a:r>
              <a:rPr lang="en-US" altLang="zh-CN" dirty="0"/>
              <a:t>“</a:t>
            </a:r>
            <a:r>
              <a:rPr lang="zh-CN" altLang="en-US" dirty="0"/>
              <a:t>传统物理治疗</a:t>
            </a:r>
            <a:r>
              <a:rPr lang="en-US" altLang="zh-CN" dirty="0"/>
              <a:t>”</a:t>
            </a:r>
            <a:r>
              <a:rPr lang="zh-CN" altLang="en-US" dirty="0"/>
              <a:t>是康复机器人的</a:t>
            </a:r>
            <a:r>
              <a:rPr lang="en-US" altLang="zh-CN" dirty="0"/>
              <a:t>“</a:t>
            </a:r>
            <a:r>
              <a:rPr lang="zh-CN" altLang="en-US" dirty="0"/>
              <a:t>替代方案</a:t>
            </a:r>
            <a:r>
              <a:rPr lang="en-US" altLang="zh-CN" dirty="0"/>
              <a:t>”</a:t>
            </a:r>
            <a:r>
              <a:rPr lang="zh-CN" altLang="en-US" dirty="0"/>
              <a:t>，是在分析</a:t>
            </a:r>
            <a:r>
              <a:rPr lang="en-US" altLang="zh-CN" dirty="0"/>
              <a:t>“</a:t>
            </a:r>
            <a:r>
              <a:rPr lang="zh-CN" altLang="en-US" dirty="0"/>
              <a:t>替代品</a:t>
            </a:r>
            <a:r>
              <a:rPr lang="en-US" altLang="zh-CN" dirty="0"/>
              <a:t>”</a:t>
            </a:r>
            <a:r>
              <a:rPr lang="zh-CN" altLang="en-US" dirty="0"/>
              <a:t>的竞争力对行业的威胁，符合波特五力模型中的</a:t>
            </a:r>
            <a:r>
              <a:rPr lang="en-US" altLang="zh-CN" dirty="0"/>
              <a:t>“</a:t>
            </a:r>
            <a:r>
              <a:rPr lang="zh-CN" altLang="en-US" dirty="0"/>
              <a:t>替代品的威胁</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项：康复机器人企业内部各部门之间的协同合作程度高吗？问题中的</a:t>
            </a:r>
            <a:r>
              <a:rPr lang="en-US" altLang="zh-CN" dirty="0"/>
              <a:t>“</a:t>
            </a:r>
            <a:r>
              <a:rPr lang="zh-CN" altLang="en-US" dirty="0"/>
              <a:t>企业内部各部门之间的协同合作程度</a:t>
            </a:r>
            <a:r>
              <a:rPr lang="en-US" altLang="zh-CN" dirty="0"/>
              <a:t>”</a:t>
            </a:r>
            <a:r>
              <a:rPr lang="zh-CN" altLang="en-US" dirty="0"/>
              <a:t>属于企业</a:t>
            </a:r>
            <a:r>
              <a:rPr lang="en-US" altLang="zh-CN" dirty="0"/>
              <a:t>“</a:t>
            </a:r>
            <a:r>
              <a:rPr lang="zh-CN" altLang="en-US" dirty="0"/>
              <a:t>内部管理</a:t>
            </a:r>
            <a:r>
              <a:rPr lang="en-US" altLang="zh-CN" dirty="0"/>
              <a:t>”</a:t>
            </a:r>
            <a:r>
              <a:rPr lang="zh-CN" altLang="en-US" dirty="0"/>
              <a:t>的范畴，不符合波特五力模型中的任何一个，不符合定义，当选。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88.</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解析：假对：</a:t>
            </a:r>
            <a:r>
              <a:rPr lang="en-US" altLang="zh-CN" dirty="0"/>
              <a:t>“</a:t>
            </a:r>
            <a:r>
              <a:rPr lang="zh-CN" altLang="en-US" dirty="0"/>
              <a:t>同音或多义的字或词作形（音）此义彼的表达</a:t>
            </a:r>
            <a:r>
              <a:rPr lang="en-US" altLang="zh-CN" dirty="0"/>
              <a:t>”</a:t>
            </a:r>
            <a:r>
              <a:rPr lang="zh-CN" altLang="en-US" dirty="0"/>
              <a:t>、</a:t>
            </a:r>
            <a:r>
              <a:rPr lang="en-US" altLang="zh-CN" dirty="0"/>
              <a:t>“</a:t>
            </a:r>
            <a:r>
              <a:rPr lang="zh-CN" altLang="en-US" dirty="0"/>
              <a:t>构成形式上相对</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谐音假对：</a:t>
            </a:r>
            <a:r>
              <a:rPr lang="en-US" altLang="zh-CN" dirty="0"/>
              <a:t>“</a:t>
            </a:r>
            <a:r>
              <a:rPr lang="zh-CN" altLang="en-US" dirty="0"/>
              <a:t>利用语音的相同或相近构成的假对</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衍义假对：</a:t>
            </a:r>
            <a:r>
              <a:rPr lang="en-US" altLang="zh-CN" dirty="0"/>
              <a:t>“</a:t>
            </a:r>
            <a:r>
              <a:rPr lang="zh-CN" altLang="en-US" dirty="0"/>
              <a:t>利用字或词的一形多义现象构成的假对</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项：该句意思为，明月透过松林洒落斑驳的静影，清泉轻轻地在大石上叮咚流淌，</a:t>
            </a:r>
            <a:r>
              <a:rPr lang="en-US" altLang="zh-CN" dirty="0"/>
              <a:t>“</a:t>
            </a:r>
            <a:r>
              <a:rPr lang="zh-CN" altLang="en-US" dirty="0"/>
              <a:t>松</a:t>
            </a:r>
            <a:r>
              <a:rPr lang="en-US" altLang="zh-CN" dirty="0"/>
              <a:t>”“</a:t>
            </a:r>
            <a:r>
              <a:rPr lang="zh-CN" altLang="en-US" dirty="0"/>
              <a:t>石</a:t>
            </a:r>
            <a:r>
              <a:rPr lang="en-US" altLang="zh-CN" dirty="0"/>
              <a:t>”</a:t>
            </a:r>
            <a:r>
              <a:rPr lang="zh-CN" altLang="en-US" dirty="0"/>
              <a:t>二字均没有利用其一字多义的现象，不符合</a:t>
            </a:r>
            <a:r>
              <a:rPr lang="en-US" altLang="zh-CN" dirty="0"/>
              <a:t>“</a:t>
            </a:r>
            <a:r>
              <a:rPr lang="zh-CN" altLang="en-US" dirty="0"/>
              <a:t>利用字或词的一形多义现象构成的假对</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项：该句意思为，厨房里的仆人准备了鸡肉和黍米，年幼的孩子采摘了杨梅，</a:t>
            </a:r>
            <a:r>
              <a:rPr lang="en-US" altLang="zh-CN" dirty="0"/>
              <a:t>“</a:t>
            </a:r>
            <a:r>
              <a:rPr lang="zh-CN" altLang="en-US" dirty="0"/>
              <a:t>鸡</a:t>
            </a:r>
            <a:r>
              <a:rPr lang="en-US" altLang="zh-CN" dirty="0"/>
              <a:t>”“</a:t>
            </a:r>
            <a:r>
              <a:rPr lang="zh-CN" altLang="en-US" dirty="0"/>
              <a:t>杨</a:t>
            </a:r>
            <a:r>
              <a:rPr lang="en-US" altLang="zh-CN" dirty="0"/>
              <a:t>”</a:t>
            </a:r>
            <a:r>
              <a:rPr lang="zh-CN" altLang="en-US" dirty="0"/>
              <a:t>二字均没有利用其一字多义的现象，不符合</a:t>
            </a:r>
            <a:r>
              <a:rPr lang="en-US" altLang="zh-CN" dirty="0"/>
              <a:t>“</a:t>
            </a:r>
            <a:r>
              <a:rPr lang="zh-CN" altLang="en-US" dirty="0"/>
              <a:t>利用字或词的一形多义现象构成的假对</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项：该句意思为，我本来就没有炼丹求仙的方术，又怎能避免成为白头老翁呢？其中</a:t>
            </a:r>
            <a:r>
              <a:rPr lang="en-US" altLang="zh-CN" dirty="0"/>
              <a:t>“</a:t>
            </a:r>
            <a:r>
              <a:rPr lang="zh-CN" altLang="en-US" dirty="0"/>
              <a:t>丹</a:t>
            </a:r>
            <a:r>
              <a:rPr lang="en-US" altLang="zh-CN" dirty="0"/>
              <a:t>”</a:t>
            </a:r>
            <a:r>
              <a:rPr lang="zh-CN" altLang="en-US" dirty="0"/>
              <a:t>字在这句诗中意为</a:t>
            </a:r>
            <a:r>
              <a:rPr lang="en-US" altLang="zh-CN" dirty="0"/>
              <a:t>“</a:t>
            </a:r>
            <a:r>
              <a:rPr lang="zh-CN" altLang="en-US" dirty="0"/>
              <a:t>依成方制成的颗粒状或粉末状的中药</a:t>
            </a:r>
            <a:r>
              <a:rPr lang="en-US" altLang="zh-CN" dirty="0"/>
              <a:t>”</a:t>
            </a:r>
            <a:r>
              <a:rPr lang="zh-CN" altLang="en-US" dirty="0"/>
              <a:t>，同时取其另外的含义</a:t>
            </a:r>
            <a:r>
              <a:rPr lang="en-US" altLang="zh-CN" dirty="0"/>
              <a:t>“</a:t>
            </a:r>
            <a:r>
              <a:rPr lang="zh-CN" altLang="en-US" dirty="0"/>
              <a:t>红色</a:t>
            </a:r>
            <a:r>
              <a:rPr lang="en-US" altLang="zh-CN" dirty="0"/>
              <a:t>”</a:t>
            </a:r>
            <a:r>
              <a:rPr lang="zh-CN" altLang="en-US" dirty="0"/>
              <a:t>与</a:t>
            </a:r>
            <a:r>
              <a:rPr lang="en-US" altLang="zh-CN" dirty="0"/>
              <a:t>“</a:t>
            </a:r>
            <a:r>
              <a:rPr lang="zh-CN" altLang="en-US" dirty="0"/>
              <a:t>白</a:t>
            </a:r>
            <a:r>
              <a:rPr lang="en-US" altLang="zh-CN" dirty="0"/>
              <a:t>”</a:t>
            </a:r>
            <a:r>
              <a:rPr lang="zh-CN" altLang="en-US" dirty="0"/>
              <a:t>对应，符合</a:t>
            </a:r>
            <a:r>
              <a:rPr lang="en-US" altLang="zh-CN" dirty="0"/>
              <a:t>“</a:t>
            </a:r>
            <a:r>
              <a:rPr lang="zh-CN" altLang="en-US" dirty="0"/>
              <a:t>利用字或词的一形多义现象构成的假对</a:t>
            </a:r>
            <a:r>
              <a:rPr lang="en-US" altLang="zh-CN" dirty="0"/>
              <a:t>”</a:t>
            </a:r>
            <a:r>
              <a:rPr lang="zh-CN" altLang="en-US" dirty="0"/>
              <a:t>，符合定义，当选；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项：该句意思为，枸杞树因为我才得以留存下来，鸡栖木啊，又能把你怎么样呢？</a:t>
            </a:r>
            <a:r>
              <a:rPr lang="en-US" altLang="zh-CN" dirty="0"/>
              <a:t>“</a:t>
            </a:r>
            <a:r>
              <a:rPr lang="zh-CN" altLang="en-US" dirty="0"/>
              <a:t>枸</a:t>
            </a:r>
            <a:r>
              <a:rPr lang="en-US" altLang="zh-CN" dirty="0"/>
              <a:t>”“</a:t>
            </a:r>
            <a:r>
              <a:rPr lang="zh-CN" altLang="en-US" dirty="0"/>
              <a:t>鸡</a:t>
            </a:r>
            <a:r>
              <a:rPr lang="en-US" altLang="zh-CN" dirty="0"/>
              <a:t>”</a:t>
            </a:r>
            <a:r>
              <a:rPr lang="zh-CN" altLang="en-US" dirty="0"/>
              <a:t>二字均没有利用其一字多义的现象，不符合</a:t>
            </a:r>
            <a:r>
              <a:rPr lang="en-US" altLang="zh-CN" dirty="0"/>
              <a:t>“</a:t>
            </a:r>
            <a:r>
              <a:rPr lang="zh-CN" altLang="en-US" dirty="0"/>
              <a:t>利用字或词的一形多义现象构成的假对</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明</a:t>
            </a:r>
            <a:r>
              <a:rPr lang="en-US" altLang="zh-CN" dirty="0"/>
              <a:t>” </a:t>
            </a:r>
            <a:r>
              <a:rPr lang="zh-CN" altLang="en-US" dirty="0"/>
              <a:t>对</a:t>
            </a:r>
            <a:r>
              <a:rPr lang="en-US" altLang="zh-CN" dirty="0"/>
              <a:t> “</a:t>
            </a:r>
            <a:r>
              <a:rPr lang="zh-CN" altLang="en-US" dirty="0"/>
              <a:t>清</a:t>
            </a:r>
            <a:r>
              <a:rPr lang="en-US" altLang="zh-CN" dirty="0"/>
              <a:t>”</a:t>
            </a:r>
            <a:r>
              <a:rPr lang="zh-CN" altLang="en-US" dirty="0"/>
              <a:t>，</a:t>
            </a:r>
            <a:r>
              <a:rPr lang="en-US" altLang="zh-CN" dirty="0"/>
              <a:t>“</a:t>
            </a:r>
            <a:r>
              <a:rPr lang="zh-CN" altLang="en-US" dirty="0"/>
              <a:t>月</a:t>
            </a:r>
            <a:r>
              <a:rPr lang="en-US" altLang="zh-CN" dirty="0"/>
              <a:t>” </a:t>
            </a:r>
            <a:r>
              <a:rPr lang="zh-CN" altLang="en-US" dirty="0"/>
              <a:t>对</a:t>
            </a:r>
            <a:r>
              <a:rPr lang="en-US" altLang="zh-CN" dirty="0"/>
              <a:t> “</a:t>
            </a:r>
            <a:r>
              <a:rPr lang="zh-CN" altLang="en-US" dirty="0"/>
              <a:t>泉</a:t>
            </a:r>
            <a:r>
              <a:rPr lang="en-US" altLang="zh-CN" dirty="0"/>
              <a:t>”</a:t>
            </a:r>
            <a:r>
              <a:rPr lang="zh-CN" altLang="en-US" dirty="0"/>
              <a:t>，</a:t>
            </a:r>
            <a:r>
              <a:rPr lang="en-US" altLang="zh-CN" dirty="0"/>
              <a:t>“</a:t>
            </a:r>
            <a:r>
              <a:rPr lang="zh-CN" altLang="en-US" dirty="0"/>
              <a:t>松间</a:t>
            </a:r>
            <a:r>
              <a:rPr lang="en-US" altLang="zh-CN" dirty="0"/>
              <a:t>” </a:t>
            </a:r>
            <a:r>
              <a:rPr lang="zh-CN" altLang="en-US" dirty="0"/>
              <a:t>对</a:t>
            </a:r>
            <a:r>
              <a:rPr lang="en-US" altLang="zh-CN" dirty="0"/>
              <a:t> “</a:t>
            </a:r>
            <a:r>
              <a:rPr lang="zh-CN" altLang="en-US" dirty="0"/>
              <a:t>石上</a:t>
            </a:r>
            <a:r>
              <a:rPr lang="en-US" altLang="zh-CN" dirty="0"/>
              <a:t>”</a:t>
            </a:r>
            <a:r>
              <a:rPr lang="zh-CN" altLang="en-US" dirty="0"/>
              <a:t>，</a:t>
            </a:r>
            <a:r>
              <a:rPr lang="en-US" altLang="zh-CN" dirty="0"/>
              <a:t>“</a:t>
            </a:r>
            <a:r>
              <a:rPr lang="zh-CN" altLang="en-US" dirty="0"/>
              <a:t>照</a:t>
            </a:r>
            <a:r>
              <a:rPr lang="en-US" altLang="zh-CN" dirty="0"/>
              <a:t>” </a:t>
            </a:r>
            <a:r>
              <a:rPr lang="zh-CN" altLang="en-US" dirty="0"/>
              <a:t>对</a:t>
            </a:r>
            <a:r>
              <a:rPr lang="en-US" altLang="zh-CN" dirty="0"/>
              <a:t> “</a:t>
            </a:r>
            <a:r>
              <a:rPr lang="zh-CN" altLang="en-US" dirty="0"/>
              <a:t>流</a:t>
            </a:r>
            <a:r>
              <a:rPr lang="en-US" altLang="zh-CN" dirty="0"/>
              <a:t>”</a:t>
            </a:r>
            <a:r>
              <a:rPr lang="zh-CN" altLang="en-US" dirty="0"/>
              <a:t>。全句为工对，用字均取本义，无一字多义借用，也无谐音借用。</a:t>
            </a:r>
            <a:r>
              <a:rPr lang="en-US" altLang="en-US" dirty="0"/>
              <a:t>→</a:t>
            </a:r>
            <a:r>
              <a:rPr lang="en-US" altLang="zh-CN" dirty="0"/>
              <a:t> </a:t>
            </a:r>
            <a:r>
              <a:rPr lang="zh-CN" altLang="en-US" dirty="0"/>
              <a:t>不属于假对，更非衍义假对。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鸡黍</a:t>
            </a:r>
            <a:r>
              <a:rPr lang="en-US" altLang="zh-CN" dirty="0"/>
              <a:t>” </a:t>
            </a:r>
            <a:r>
              <a:rPr lang="zh-CN" altLang="en-US" dirty="0"/>
              <a:t>对</a:t>
            </a:r>
            <a:r>
              <a:rPr lang="en-US" altLang="zh-CN" dirty="0"/>
              <a:t> “</a:t>
            </a:r>
            <a:r>
              <a:rPr lang="zh-CN" altLang="en-US" dirty="0"/>
              <a:t>杨梅</a:t>
            </a:r>
            <a:r>
              <a:rPr lang="en-US" altLang="zh-CN" dirty="0"/>
              <a:t>”</a:t>
            </a:r>
            <a:r>
              <a:rPr lang="zh-CN" altLang="en-US" dirty="0"/>
              <a:t>：</a:t>
            </a:r>
            <a:r>
              <a:rPr lang="en-US" altLang="zh-CN" dirty="0"/>
              <a:t>“</a:t>
            </a:r>
            <a:r>
              <a:rPr lang="zh-CN" altLang="en-US" dirty="0"/>
              <a:t>鸡</a:t>
            </a:r>
            <a:r>
              <a:rPr lang="en-US" altLang="zh-CN" dirty="0"/>
              <a:t>” </a:t>
            </a:r>
            <a:r>
              <a:rPr lang="zh-CN" altLang="en-US" dirty="0"/>
              <a:t>是家禽，</a:t>
            </a:r>
            <a:r>
              <a:rPr lang="en-US" altLang="zh-CN" dirty="0"/>
              <a:t>“</a:t>
            </a:r>
            <a:r>
              <a:rPr lang="zh-CN" altLang="en-US" dirty="0"/>
              <a:t>杨</a:t>
            </a:r>
            <a:r>
              <a:rPr lang="en-US" altLang="zh-CN" dirty="0"/>
              <a:t>” </a:t>
            </a:r>
            <a:r>
              <a:rPr lang="zh-CN" altLang="en-US" dirty="0"/>
              <a:t>是树木，字面不对；利用</a:t>
            </a:r>
            <a:r>
              <a:rPr lang="en-US" altLang="zh-CN" dirty="0"/>
              <a:t> “</a:t>
            </a:r>
            <a:r>
              <a:rPr lang="zh-CN" altLang="en-US" dirty="0"/>
              <a:t>杨</a:t>
            </a:r>
            <a:r>
              <a:rPr lang="en-US" altLang="zh-CN" dirty="0"/>
              <a:t>” </a:t>
            </a:r>
            <a:r>
              <a:rPr lang="zh-CN" altLang="en-US" dirty="0"/>
              <a:t>与</a:t>
            </a:r>
            <a:r>
              <a:rPr lang="en-US" altLang="zh-CN" dirty="0"/>
              <a:t> “</a:t>
            </a:r>
            <a:r>
              <a:rPr lang="zh-CN" altLang="en-US" dirty="0"/>
              <a:t>羊</a:t>
            </a:r>
            <a:r>
              <a:rPr lang="en-US" altLang="zh-CN" dirty="0"/>
              <a:t>” </a:t>
            </a:r>
            <a:r>
              <a:rPr lang="zh-CN" altLang="en-US" dirty="0"/>
              <a:t>同音，以</a:t>
            </a:r>
            <a:r>
              <a:rPr lang="en-US" altLang="zh-CN" dirty="0"/>
              <a:t> “</a:t>
            </a:r>
            <a:r>
              <a:rPr lang="zh-CN" altLang="en-US" dirty="0"/>
              <a:t>杨</a:t>
            </a:r>
            <a:r>
              <a:rPr lang="en-US" altLang="zh-CN" dirty="0"/>
              <a:t>” </a:t>
            </a:r>
            <a:r>
              <a:rPr lang="zh-CN" altLang="en-US" dirty="0"/>
              <a:t>借代</a:t>
            </a:r>
            <a:r>
              <a:rPr lang="en-US" altLang="zh-CN" dirty="0"/>
              <a:t> “</a:t>
            </a:r>
            <a:r>
              <a:rPr lang="zh-CN" altLang="en-US" dirty="0"/>
              <a:t>羊</a:t>
            </a:r>
            <a:r>
              <a:rPr lang="en-US" altLang="zh-CN" dirty="0"/>
              <a:t>”</a:t>
            </a:r>
            <a:r>
              <a:rPr lang="zh-CN" altLang="en-US" dirty="0"/>
              <a:t>，与</a:t>
            </a:r>
            <a:r>
              <a:rPr lang="en-US" altLang="zh-CN" dirty="0"/>
              <a:t> “</a:t>
            </a:r>
            <a:r>
              <a:rPr lang="zh-CN" altLang="en-US" dirty="0"/>
              <a:t>鸡</a:t>
            </a:r>
            <a:r>
              <a:rPr lang="en-US" altLang="zh-CN" dirty="0"/>
              <a:t>” </a:t>
            </a:r>
            <a:r>
              <a:rPr lang="zh-CN" altLang="en-US" dirty="0"/>
              <a:t>形成禽畜相对，属于谐音假对。</a:t>
            </a:r>
            <a:r>
              <a:rPr lang="en-US" altLang="en-US" dirty="0"/>
              <a:t>→</a:t>
            </a:r>
            <a:r>
              <a:rPr lang="en-US" altLang="zh-CN" dirty="0"/>
              <a:t> </a:t>
            </a:r>
            <a:r>
              <a:rPr lang="zh-CN" altLang="en-US" dirty="0"/>
              <a:t>是谐音假对，不是衍义假对。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丹灶</a:t>
            </a:r>
            <a:r>
              <a:rPr lang="en-US" altLang="zh-CN" dirty="0"/>
              <a:t>” </a:t>
            </a:r>
            <a:r>
              <a:rPr lang="zh-CN" altLang="en-US" dirty="0"/>
              <a:t>对</a:t>
            </a:r>
            <a:r>
              <a:rPr lang="en-US" altLang="zh-CN" dirty="0"/>
              <a:t> “</a:t>
            </a:r>
            <a:r>
              <a:rPr lang="zh-CN" altLang="en-US" dirty="0"/>
              <a:t>白头</a:t>
            </a:r>
            <a:r>
              <a:rPr lang="en-US" altLang="zh-CN" dirty="0"/>
              <a:t>”</a:t>
            </a:r>
            <a:r>
              <a:rPr lang="zh-CN" altLang="en-US" dirty="0"/>
              <a:t>，</a:t>
            </a:r>
            <a:r>
              <a:rPr lang="en-US" altLang="zh-CN" dirty="0"/>
              <a:t>“</a:t>
            </a:r>
            <a:r>
              <a:rPr lang="zh-CN" altLang="en-US" dirty="0"/>
              <a:t>术</a:t>
            </a:r>
            <a:r>
              <a:rPr lang="en-US" altLang="zh-CN" dirty="0"/>
              <a:t>” </a:t>
            </a:r>
            <a:r>
              <a:rPr lang="zh-CN" altLang="en-US" dirty="0"/>
              <a:t>对</a:t>
            </a:r>
            <a:r>
              <a:rPr lang="en-US" altLang="zh-CN" dirty="0"/>
              <a:t> “</a:t>
            </a:r>
            <a:r>
              <a:rPr lang="zh-CN" altLang="en-US" dirty="0"/>
              <a:t>翁</a:t>
            </a:r>
            <a:r>
              <a:rPr lang="en-US" altLang="zh-CN" dirty="0"/>
              <a:t>”</a:t>
            </a:r>
            <a:r>
              <a:rPr lang="zh-CN" altLang="en-US" dirty="0"/>
              <a:t>：</a:t>
            </a:r>
            <a:r>
              <a:rPr lang="en-US" altLang="zh-CN" dirty="0"/>
              <a:t>“</a:t>
            </a:r>
            <a:r>
              <a:rPr lang="zh-CN" altLang="en-US" dirty="0"/>
              <a:t>丹灶术</a:t>
            </a:r>
            <a:r>
              <a:rPr lang="en-US" altLang="zh-CN" dirty="0"/>
              <a:t>” </a:t>
            </a:r>
            <a:r>
              <a:rPr lang="zh-CN" altLang="en-US" dirty="0"/>
              <a:t>指炼丹之术，</a:t>
            </a:r>
            <a:r>
              <a:rPr lang="en-US" altLang="zh-CN" dirty="0"/>
              <a:t>“</a:t>
            </a:r>
            <a:r>
              <a:rPr lang="zh-CN" altLang="en-US" dirty="0"/>
              <a:t>白头翁</a:t>
            </a:r>
            <a:r>
              <a:rPr lang="en-US" altLang="zh-CN" dirty="0"/>
              <a:t>” </a:t>
            </a:r>
            <a:r>
              <a:rPr lang="zh-CN" altLang="en-US" dirty="0"/>
              <a:t>本指白发老人；此处</a:t>
            </a:r>
            <a:r>
              <a:rPr lang="en-US" altLang="zh-CN" dirty="0"/>
              <a:t> “</a:t>
            </a:r>
            <a:r>
              <a:rPr lang="zh-CN" altLang="en-US" dirty="0"/>
              <a:t>白头翁</a:t>
            </a:r>
            <a:r>
              <a:rPr lang="en-US" altLang="zh-CN" dirty="0"/>
              <a:t>” </a:t>
            </a:r>
            <a:r>
              <a:rPr lang="zh-CN" altLang="en-US" dirty="0"/>
              <a:t>同时也是草药名，与</a:t>
            </a:r>
            <a:r>
              <a:rPr lang="en-US" altLang="zh-CN" dirty="0"/>
              <a:t> “</a:t>
            </a:r>
            <a:r>
              <a:rPr lang="zh-CN" altLang="en-US" dirty="0"/>
              <a:t>丹灶术</a:t>
            </a:r>
            <a:r>
              <a:rPr lang="en-US" altLang="zh-CN" dirty="0"/>
              <a:t>”</a:t>
            </a:r>
            <a:r>
              <a:rPr lang="zh-CN" altLang="en-US" dirty="0"/>
              <a:t>（方术）在</a:t>
            </a:r>
            <a:r>
              <a:rPr lang="en-US" altLang="zh-CN" dirty="0"/>
              <a:t> “</a:t>
            </a:r>
            <a:r>
              <a:rPr lang="zh-CN" altLang="en-US" dirty="0"/>
              <a:t>方药</a:t>
            </a:r>
            <a:r>
              <a:rPr lang="en-US" altLang="zh-CN" dirty="0"/>
              <a:t> / </a:t>
            </a:r>
            <a:r>
              <a:rPr lang="zh-CN" altLang="en-US" dirty="0"/>
              <a:t>术类</a:t>
            </a:r>
            <a:r>
              <a:rPr lang="en-US" altLang="zh-CN" dirty="0"/>
              <a:t>” </a:t>
            </a:r>
            <a:r>
              <a:rPr lang="zh-CN" altLang="en-US" dirty="0"/>
              <a:t>上形成意义对应，是利用</a:t>
            </a:r>
            <a:r>
              <a:rPr lang="en-US" altLang="zh-CN" dirty="0"/>
              <a:t> “</a:t>
            </a:r>
            <a:r>
              <a:rPr lang="zh-CN" altLang="en-US" dirty="0"/>
              <a:t>白头翁</a:t>
            </a:r>
            <a:r>
              <a:rPr lang="en-US" altLang="zh-CN" dirty="0"/>
              <a:t>”</a:t>
            </a:r>
            <a:r>
              <a:rPr lang="zh-CN" altLang="en-US" dirty="0"/>
              <a:t>一词多义（既指人，又指药）构成的假对。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无谐音借用，纯靠一形多义实现对偶。</a:t>
            </a:r>
            <a:r>
              <a:rPr lang="en-US" altLang="en-US" dirty="0"/>
              <a:t>→</a:t>
            </a:r>
            <a:r>
              <a:rPr lang="en-US" altLang="zh-CN" dirty="0"/>
              <a:t> </a:t>
            </a:r>
            <a:r>
              <a:rPr lang="zh-CN" altLang="en-US" dirty="0"/>
              <a:t>属于衍义假对。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枸杞</a:t>
            </a:r>
            <a:r>
              <a:rPr lang="en-US" altLang="zh-CN" dirty="0"/>
              <a:t>” </a:t>
            </a:r>
            <a:r>
              <a:rPr lang="zh-CN" altLang="en-US" dirty="0"/>
              <a:t>对</a:t>
            </a:r>
            <a:r>
              <a:rPr lang="en-US" altLang="zh-CN" dirty="0"/>
              <a:t> “</a:t>
            </a:r>
            <a:r>
              <a:rPr lang="zh-CN" altLang="en-US" dirty="0"/>
              <a:t>鸡栖</a:t>
            </a:r>
            <a:r>
              <a:rPr lang="en-US" altLang="zh-CN" dirty="0"/>
              <a:t>”</a:t>
            </a:r>
            <a:r>
              <a:rPr lang="zh-CN" altLang="en-US" dirty="0"/>
              <a:t>：</a:t>
            </a:r>
            <a:r>
              <a:rPr lang="en-US" altLang="zh-CN" dirty="0"/>
              <a:t>“</a:t>
            </a:r>
            <a:r>
              <a:rPr lang="zh-CN" altLang="en-US" dirty="0"/>
              <a:t>枸</a:t>
            </a:r>
            <a:r>
              <a:rPr lang="en-US" altLang="zh-CN" dirty="0"/>
              <a:t>” </a:t>
            </a:r>
            <a:r>
              <a:rPr lang="zh-CN" altLang="en-US" dirty="0"/>
              <a:t>与</a:t>
            </a:r>
            <a:r>
              <a:rPr lang="en-US" altLang="zh-CN" dirty="0"/>
              <a:t> “</a:t>
            </a:r>
            <a:r>
              <a:rPr lang="zh-CN" altLang="en-US" dirty="0"/>
              <a:t>狗</a:t>
            </a:r>
            <a:r>
              <a:rPr lang="en-US" altLang="zh-CN" dirty="0"/>
              <a:t>” </a:t>
            </a:r>
            <a:r>
              <a:rPr lang="zh-CN" altLang="en-US" dirty="0"/>
              <a:t>同音，</a:t>
            </a:r>
            <a:r>
              <a:rPr lang="en-US" altLang="zh-CN" dirty="0"/>
              <a:t>“</a:t>
            </a:r>
            <a:r>
              <a:rPr lang="zh-CN" altLang="en-US" dirty="0"/>
              <a:t>杞</a:t>
            </a:r>
            <a:r>
              <a:rPr lang="en-US" altLang="zh-CN" dirty="0"/>
              <a:t>” </a:t>
            </a:r>
            <a:r>
              <a:rPr lang="zh-CN" altLang="en-US" dirty="0"/>
              <a:t>与</a:t>
            </a:r>
            <a:r>
              <a:rPr lang="en-US" altLang="zh-CN" dirty="0"/>
              <a:t> “</a:t>
            </a:r>
            <a:r>
              <a:rPr lang="zh-CN" altLang="en-US" dirty="0"/>
              <a:t>栖</a:t>
            </a:r>
            <a:r>
              <a:rPr lang="en-US" altLang="zh-CN" dirty="0"/>
              <a:t>” </a:t>
            </a:r>
            <a:r>
              <a:rPr lang="zh-CN" altLang="en-US" dirty="0"/>
              <a:t>同音，通过谐音使</a:t>
            </a:r>
            <a:r>
              <a:rPr lang="en-US" altLang="zh-CN" dirty="0"/>
              <a:t> “</a:t>
            </a:r>
            <a:r>
              <a:rPr lang="zh-CN" altLang="en-US" dirty="0"/>
              <a:t>枸杞</a:t>
            </a:r>
            <a:r>
              <a:rPr lang="en-US" altLang="zh-CN" dirty="0"/>
              <a:t>” </a:t>
            </a:r>
            <a:r>
              <a:rPr lang="zh-CN" altLang="en-US" dirty="0"/>
              <a:t>与</a:t>
            </a:r>
            <a:r>
              <a:rPr lang="en-US" altLang="zh-CN" dirty="0"/>
              <a:t> “</a:t>
            </a:r>
            <a:r>
              <a:rPr lang="zh-CN" altLang="en-US" dirty="0"/>
              <a:t>鸡栖</a:t>
            </a:r>
            <a:r>
              <a:rPr lang="en-US" altLang="zh-CN" dirty="0"/>
              <a:t>” </a:t>
            </a:r>
            <a:r>
              <a:rPr lang="zh-CN" altLang="en-US" dirty="0"/>
              <a:t>形成形式对应，属于谐音假对。</a:t>
            </a:r>
            <a:r>
              <a:rPr lang="en-US" altLang="en-US" dirty="0"/>
              <a:t>→</a:t>
            </a:r>
            <a:r>
              <a:rPr lang="en-US" altLang="zh-CN" dirty="0"/>
              <a:t> </a:t>
            </a:r>
            <a:r>
              <a:rPr lang="zh-CN" altLang="en-US" dirty="0"/>
              <a:t>是谐音假对，不是衍义假对。</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89.</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a:t>
            </a:r>
            <a:r>
              <a:rPr lang="en-US" altLang="zh-CN" dirty="0"/>
              <a:t>“</a:t>
            </a:r>
            <a:r>
              <a:rPr lang="zh-CN" altLang="en-US" dirty="0"/>
              <a:t>提高药物治疗的安全性、有效性和经济性</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项：该项说的是药师与主治医生协商调整了患者的用药方案，并给予其相应的用药教育和指导，说明药师向患者直接提供了药物相关指导，符合</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a:t>
            </a:r>
            <a:r>
              <a:rPr lang="en-US" altLang="zh-CN" dirty="0"/>
              <a:t>“</a:t>
            </a:r>
            <a:r>
              <a:rPr lang="zh-CN" altLang="en-US" dirty="0"/>
              <a:t>提高药物治疗的安全性、有效性和经济性</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项：该项说的是药师在社区药房为长期服药的患者提供健康用药建议，说明药师用专业知识直接向患者提供健康用药建议，符合</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a:t>
            </a:r>
            <a:r>
              <a:rPr lang="en-US" altLang="zh-CN" dirty="0"/>
              <a:t>“</a:t>
            </a:r>
            <a:r>
              <a:rPr lang="zh-CN" altLang="en-US" dirty="0"/>
              <a:t>提高药物治疗的安全性、有效性和经济性</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说的是药师给患者条码，患者扫码后会显示药物的使用医嘱，首先药师提供给患者的是条码，而非直接提供药物相关服务，且显示的是医嘱，说明是医生对药物的嘱托，并不是药师提供的用药建议，不符合</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项：该项说的是药师审核某患者处方的合法性，评估病情与用药匹配度及疗程合理性，说明药师用专业知识直接向患者提供了用药匹配度的建议，能够提升药物的安全性和有效性，符合</a:t>
            </a:r>
            <a:r>
              <a:rPr lang="en-US" altLang="zh-CN" dirty="0"/>
              <a:t>“</a:t>
            </a:r>
            <a:r>
              <a:rPr lang="zh-CN" altLang="en-US" dirty="0"/>
              <a:t>药师应用药学专业知识</a:t>
            </a:r>
            <a:r>
              <a:rPr lang="en-US" altLang="zh-CN" dirty="0"/>
              <a:t>”</a:t>
            </a:r>
            <a:r>
              <a:rPr lang="zh-CN" altLang="en-US" dirty="0"/>
              <a:t>、</a:t>
            </a:r>
            <a:r>
              <a:rPr lang="en-US" altLang="zh-CN" dirty="0"/>
              <a:t>“</a:t>
            </a:r>
            <a:r>
              <a:rPr lang="zh-CN" altLang="en-US" dirty="0"/>
              <a:t>向公众（包括医护人员、患者及家属）提供直接的、负责任的、与药物使用有关的服务</a:t>
            </a:r>
            <a:r>
              <a:rPr lang="en-US" altLang="zh-CN" dirty="0"/>
              <a:t>”</a:t>
            </a:r>
            <a:r>
              <a:rPr lang="zh-CN" altLang="en-US" dirty="0"/>
              <a:t>、</a:t>
            </a:r>
            <a:r>
              <a:rPr lang="en-US" altLang="zh-CN" dirty="0"/>
              <a:t>“</a:t>
            </a:r>
            <a:r>
              <a:rPr lang="zh-CN" altLang="en-US" dirty="0"/>
              <a:t>提高药物治疗的安全性、有效性和经济性</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药师运用专业知识与医生协商调整用药方案、开展用药教育，属于直接与药物使用相关的专业服务，符合定义。体现药学服务。</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药师面向患者提供个性化用药咨询，是直接的药物使用相关服务，符合定义。体现药学服务。</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此行为仅为提供条码、触发电子医嘱展示，药师未运用药学专业知识提供直接、负责任的用药相关服务（如用药指导、咨询、方案调整、处方审核等），只是传递了一个可获取医嘱的媒介，未体现核心的专业服务过程。未体现药学服务。</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处方审核、用药匹配度与疗程评估是药师核心药学专业服务，直接保障用药安全有效，符合定义。体现药学服务。</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90.</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解析：均变论：</a:t>
            </a:r>
            <a:r>
              <a:rPr lang="en-US" altLang="zh-CN" dirty="0"/>
              <a:t>“</a:t>
            </a:r>
            <a:r>
              <a:rPr lang="zh-CN" altLang="en-US" dirty="0"/>
              <a:t>支配各种地质过程的法则在地质历史上没有发生过变化</a:t>
            </a:r>
            <a:r>
              <a:rPr lang="en-US" altLang="zh-CN" dirty="0"/>
              <a:t>”</a:t>
            </a:r>
            <a:r>
              <a:rPr lang="zh-CN" altLang="en-US" dirty="0"/>
              <a:t>、</a:t>
            </a:r>
            <a:r>
              <a:rPr lang="en-US" altLang="zh-CN" dirty="0"/>
              <a:t>“</a:t>
            </a:r>
            <a:r>
              <a:rPr lang="zh-CN" altLang="en-US" dirty="0"/>
              <a:t>现在起作用的各种自然营力在漫长的地质过程中具有普遍的均一性</a:t>
            </a:r>
            <a:r>
              <a:rPr lang="en-US" altLang="zh-CN" dirty="0"/>
              <a:t>”</a:t>
            </a:r>
            <a:r>
              <a:rPr lang="zh-CN" altLang="en-US" dirty="0"/>
              <a:t>、</a:t>
            </a:r>
            <a:r>
              <a:rPr lang="en-US" altLang="zh-CN" dirty="0"/>
              <a:t>“</a:t>
            </a:r>
            <a:r>
              <a:rPr lang="zh-CN" altLang="en-US" dirty="0"/>
              <a:t>地球上生物的种与演变是一个渐变的过程，种之间有过渡关系，生物进化过程是极其漫长的</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灾变论：</a:t>
            </a:r>
            <a:r>
              <a:rPr lang="en-US" altLang="zh-CN" dirty="0"/>
              <a:t>“</a:t>
            </a:r>
            <a:r>
              <a:rPr lang="zh-CN" altLang="en-US" dirty="0"/>
              <a:t>地球经常发生各种突如其来的、短暂的全球性灾难性变化，这些变化强烈地改变了地球的面貌</a:t>
            </a:r>
            <a:r>
              <a:rPr lang="en-US" altLang="zh-CN" dirty="0"/>
              <a:t>”</a:t>
            </a:r>
            <a:r>
              <a:rPr lang="zh-CN" altLang="en-US" dirty="0"/>
              <a:t>、</a:t>
            </a:r>
            <a:r>
              <a:rPr lang="en-US" altLang="zh-CN" dirty="0"/>
              <a:t>“</a:t>
            </a:r>
            <a:r>
              <a:rPr lang="zh-CN" altLang="en-US" dirty="0"/>
              <a:t>地球上生物的变化是反复多次灾变的结果</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a:t>
            </a:r>
            <a:r>
              <a:rPr lang="en-US" altLang="zh-CN" dirty="0"/>
              <a:t>“</a:t>
            </a:r>
            <a:r>
              <a:rPr lang="zh-CN" altLang="en-US" dirty="0"/>
              <a:t>我们找不到开始的痕迹，也看不到结束的迹象</a:t>
            </a:r>
            <a:r>
              <a:rPr lang="en-US" altLang="zh-CN" dirty="0"/>
              <a:t>”</a:t>
            </a:r>
            <a:r>
              <a:rPr lang="zh-CN" altLang="en-US" dirty="0"/>
              <a:t>，体现了</a:t>
            </a:r>
            <a:r>
              <a:rPr lang="en-US" altLang="zh-CN" dirty="0"/>
              <a:t>“</a:t>
            </a:r>
            <a:r>
              <a:rPr lang="zh-CN" altLang="en-US" dirty="0"/>
              <a:t>支配各种地质过程的法则在地质历史上没有发生过变化</a:t>
            </a:r>
            <a:r>
              <a:rPr lang="en-US" altLang="zh-CN" dirty="0"/>
              <a:t>”</a:t>
            </a:r>
            <a:r>
              <a:rPr lang="zh-CN" altLang="en-US" dirty="0"/>
              <a:t>、</a:t>
            </a:r>
            <a:r>
              <a:rPr lang="en-US" altLang="zh-CN" dirty="0"/>
              <a:t>“</a:t>
            </a:r>
            <a:r>
              <a:rPr lang="zh-CN" altLang="en-US" dirty="0"/>
              <a:t>地球上生物的种与演变是一个渐变的过程，种之间有过渡关系，生物进化过程是极其漫长的</a:t>
            </a:r>
            <a:r>
              <a:rPr lang="en-US" altLang="zh-CN" dirty="0"/>
              <a:t>”</a:t>
            </a:r>
            <a:r>
              <a:rPr lang="zh-CN" altLang="en-US" dirty="0"/>
              <a:t>，符合</a:t>
            </a:r>
            <a:r>
              <a:rPr lang="en-US" altLang="zh-CN" dirty="0"/>
              <a:t>“</a:t>
            </a:r>
            <a:r>
              <a:rPr lang="zh-CN" altLang="en-US" dirty="0"/>
              <a:t>均变论</a:t>
            </a:r>
            <a:r>
              <a:rPr lang="en-US" altLang="zh-CN" dirty="0"/>
              <a:t>”</a:t>
            </a:r>
            <a:r>
              <a:rPr lang="zh-CN" altLang="en-US" dirty="0"/>
              <a:t>定义，不符合</a:t>
            </a:r>
            <a:r>
              <a:rPr lang="en-US" altLang="zh-CN" dirty="0"/>
              <a:t>“</a:t>
            </a:r>
            <a:r>
              <a:rPr lang="zh-CN" altLang="en-US" dirty="0"/>
              <a:t>灾变论</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a:t>
            </a:r>
            <a:r>
              <a:rPr lang="en-US" altLang="zh-CN" dirty="0"/>
              <a:t>“</a:t>
            </a:r>
            <a:r>
              <a:rPr lang="zh-CN" altLang="en-US" dirty="0"/>
              <a:t>地质记录是一部被鲜血和火焰写成的史诗</a:t>
            </a:r>
            <a:r>
              <a:rPr lang="en-US" altLang="zh-CN" dirty="0"/>
              <a:t>”</a:t>
            </a:r>
            <a:r>
              <a:rPr lang="zh-CN" altLang="en-US" dirty="0"/>
              <a:t>，</a:t>
            </a:r>
            <a:r>
              <a:rPr lang="en-US" altLang="zh-CN" dirty="0"/>
              <a:t>“</a:t>
            </a:r>
            <a:r>
              <a:rPr lang="zh-CN" altLang="en-US" dirty="0"/>
              <a:t>鲜血和火焰</a:t>
            </a:r>
            <a:r>
              <a:rPr lang="en-US" altLang="zh-CN" dirty="0"/>
              <a:t>”</a:t>
            </a:r>
            <a:r>
              <a:rPr lang="zh-CN" altLang="en-US" dirty="0"/>
              <a:t>隐喻的是灾难，体现了</a:t>
            </a:r>
            <a:r>
              <a:rPr lang="en-US" altLang="zh-CN" dirty="0"/>
              <a:t>“</a:t>
            </a:r>
            <a:r>
              <a:rPr lang="zh-CN" altLang="en-US" dirty="0"/>
              <a:t>地球经常发生各种突如其来的、短暂的全球性灾难性变化，这些变化强烈地改变了地球的面貌</a:t>
            </a:r>
            <a:r>
              <a:rPr lang="en-US" altLang="zh-CN" dirty="0"/>
              <a:t>”</a:t>
            </a:r>
            <a:r>
              <a:rPr lang="zh-CN" altLang="en-US" dirty="0"/>
              <a:t>、</a:t>
            </a:r>
            <a:r>
              <a:rPr lang="en-US" altLang="zh-CN" dirty="0"/>
              <a:t>“</a:t>
            </a:r>
            <a:r>
              <a:rPr lang="zh-CN" altLang="en-US" dirty="0"/>
              <a:t>地球上生物的变化是反复多次灾变的结果</a:t>
            </a:r>
            <a:r>
              <a:rPr lang="en-US" altLang="zh-CN" dirty="0"/>
              <a:t>”</a:t>
            </a:r>
            <a:r>
              <a:rPr lang="zh-CN" altLang="en-US" dirty="0"/>
              <a:t>，符合</a:t>
            </a:r>
            <a:r>
              <a:rPr lang="en-US" altLang="zh-CN" dirty="0"/>
              <a:t>“</a:t>
            </a:r>
            <a:r>
              <a:rPr lang="zh-CN" altLang="en-US" dirty="0"/>
              <a:t>灾变论</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a:t>
            </a:r>
            <a:r>
              <a:rPr lang="en-US" altLang="zh-CN" dirty="0"/>
              <a:t>“</a:t>
            </a:r>
            <a:r>
              <a:rPr lang="zh-CN" altLang="en-US" dirty="0"/>
              <a:t>现在是通往过去的一把钥匙</a:t>
            </a:r>
            <a:r>
              <a:rPr lang="en-US" altLang="zh-CN" dirty="0"/>
              <a:t>”</a:t>
            </a:r>
            <a:r>
              <a:rPr lang="zh-CN" altLang="en-US" dirty="0"/>
              <a:t>，体现了</a:t>
            </a:r>
            <a:r>
              <a:rPr lang="en-US" altLang="zh-CN" dirty="0"/>
              <a:t>“</a:t>
            </a:r>
            <a:r>
              <a:rPr lang="zh-CN" altLang="en-US" dirty="0"/>
              <a:t>支配各种地质过程的法则在地质历史上没有发生过变化</a:t>
            </a:r>
            <a:r>
              <a:rPr lang="en-US" altLang="zh-CN" dirty="0"/>
              <a:t>”</a:t>
            </a:r>
            <a:r>
              <a:rPr lang="zh-CN" altLang="en-US" dirty="0"/>
              <a:t>、</a:t>
            </a:r>
            <a:r>
              <a:rPr lang="en-US" altLang="zh-CN" dirty="0"/>
              <a:t>“</a:t>
            </a:r>
            <a:r>
              <a:rPr lang="zh-CN" altLang="en-US" dirty="0"/>
              <a:t>现在起作用的各种自然营力在漫长的地质过程中具有普遍的均一性</a:t>
            </a:r>
            <a:r>
              <a:rPr lang="en-US" altLang="zh-CN" dirty="0"/>
              <a:t>”</a:t>
            </a:r>
            <a:r>
              <a:rPr lang="zh-CN" altLang="en-US" dirty="0"/>
              <a:t>、</a:t>
            </a:r>
            <a:r>
              <a:rPr lang="en-US" altLang="zh-CN" dirty="0"/>
              <a:t>“</a:t>
            </a:r>
            <a:r>
              <a:rPr lang="zh-CN" altLang="en-US" dirty="0"/>
              <a:t>地球上生物的种与演变是一个渐变的过程，种之间有过渡关系，生物进化过程是极其漫长的</a:t>
            </a:r>
            <a:r>
              <a:rPr lang="en-US" altLang="zh-CN" dirty="0"/>
              <a:t>”</a:t>
            </a:r>
            <a:r>
              <a:rPr lang="zh-CN" altLang="en-US" dirty="0"/>
              <a:t>，符合</a:t>
            </a:r>
            <a:r>
              <a:rPr lang="en-US" altLang="zh-CN" dirty="0"/>
              <a:t>“</a:t>
            </a:r>
            <a:r>
              <a:rPr lang="zh-CN" altLang="en-US" dirty="0"/>
              <a:t>均变论</a:t>
            </a:r>
            <a:r>
              <a:rPr lang="en-US" altLang="zh-CN" dirty="0"/>
              <a:t>”</a:t>
            </a:r>
            <a:r>
              <a:rPr lang="zh-CN" altLang="en-US" dirty="0"/>
              <a:t>定义，不符合</a:t>
            </a:r>
            <a:r>
              <a:rPr lang="en-US" altLang="zh-CN" dirty="0"/>
              <a:t>“</a:t>
            </a:r>
            <a:r>
              <a:rPr lang="zh-CN" altLang="en-US" dirty="0"/>
              <a:t>灾变论</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a:t>
            </a:r>
            <a:r>
              <a:rPr lang="en-US" altLang="zh-CN" dirty="0"/>
              <a:t>“</a:t>
            </a:r>
            <a:r>
              <a:rPr lang="zh-CN" altLang="en-US" dirty="0"/>
              <a:t>自然界里没有飞跃</a:t>
            </a:r>
            <a:r>
              <a:rPr lang="en-US" altLang="zh-CN" dirty="0"/>
              <a:t>”</a:t>
            </a:r>
            <a:r>
              <a:rPr lang="zh-CN" altLang="en-US" dirty="0"/>
              <a:t>，体现了</a:t>
            </a:r>
            <a:r>
              <a:rPr lang="en-US" altLang="zh-CN" dirty="0"/>
              <a:t>“</a:t>
            </a:r>
            <a:r>
              <a:rPr lang="zh-CN" altLang="en-US" dirty="0"/>
              <a:t>地球上生物的种与演变是一个渐变的过程，种之间有过渡关系，生物进化过程是极其漫长的</a:t>
            </a:r>
            <a:r>
              <a:rPr lang="en-US" altLang="zh-CN" dirty="0"/>
              <a:t>”</a:t>
            </a:r>
            <a:r>
              <a:rPr lang="zh-CN" altLang="en-US" dirty="0"/>
              <a:t>，符合</a:t>
            </a:r>
            <a:r>
              <a:rPr lang="en-US" altLang="zh-CN" dirty="0"/>
              <a:t>“</a:t>
            </a:r>
            <a:r>
              <a:rPr lang="zh-CN" altLang="en-US" dirty="0"/>
              <a:t>均变论</a:t>
            </a:r>
            <a:r>
              <a:rPr lang="en-US" altLang="zh-CN" dirty="0"/>
              <a:t>”</a:t>
            </a:r>
            <a:r>
              <a:rPr lang="zh-CN" altLang="en-US" dirty="0"/>
              <a:t>定义，不符合</a:t>
            </a:r>
            <a:r>
              <a:rPr lang="en-US" altLang="zh-CN" dirty="0"/>
              <a:t>“</a:t>
            </a:r>
            <a:r>
              <a:rPr lang="zh-CN" altLang="en-US" dirty="0"/>
              <a:t>灾变论</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强调地质历史的漫长与连续性，符合均变论中</a:t>
            </a:r>
            <a:r>
              <a:rPr lang="en-US" altLang="zh-CN" dirty="0"/>
              <a:t> “</a:t>
            </a:r>
            <a:r>
              <a:rPr lang="zh-CN" altLang="en-US" dirty="0"/>
              <a:t>地质过程漫长、渐进</a:t>
            </a:r>
            <a:r>
              <a:rPr lang="en-US" altLang="zh-CN" dirty="0"/>
              <a:t>” </a:t>
            </a:r>
            <a:r>
              <a:rPr lang="zh-CN" altLang="en-US" dirty="0"/>
              <a:t>的特点，不体现灾变论。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鲜血和火焰</a:t>
            </a:r>
            <a:r>
              <a:rPr lang="en-US" altLang="zh-CN" dirty="0"/>
              <a:t>” </a:t>
            </a:r>
            <a:r>
              <a:rPr lang="zh-CN" altLang="en-US" dirty="0"/>
              <a:t>形象地指代剧烈、灾难性的地质事件（如火山爆发、地壳剧烈运动等突发灾变），突出地质历史由多次突发、剧烈的灾难性变化构成，直接体现灾变论核心观点。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意为现在的地质作用法则与过去一致，通过研究现在可推知过去，是均变论的经典表述，不体现灾变论。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强调生物与地质变化是渐变过程，无突然的飞跃式变化，符合均变论中</a:t>
            </a:r>
            <a:r>
              <a:rPr lang="en-US" altLang="zh-CN" dirty="0"/>
              <a:t> “</a:t>
            </a:r>
            <a:r>
              <a:rPr lang="zh-CN" altLang="en-US" dirty="0"/>
              <a:t>生物渐变、地质过程均一</a:t>
            </a:r>
            <a:r>
              <a:rPr lang="en-US" altLang="zh-CN" dirty="0"/>
              <a:t>” </a:t>
            </a:r>
            <a:r>
              <a:rPr lang="zh-CN" altLang="en-US" dirty="0"/>
              <a:t>的观点，不体现灾变论。</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91.</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解析：相似律：</a:t>
            </a:r>
            <a:r>
              <a:rPr lang="en-US" altLang="zh-CN" dirty="0"/>
              <a:t>“</a:t>
            </a:r>
            <a:r>
              <a:rPr lang="zh-CN" altLang="en-US" dirty="0"/>
              <a:t>两种在性质、特征上相似的事物或属性可形成联想</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对比律：</a:t>
            </a:r>
            <a:r>
              <a:rPr lang="en-US" altLang="zh-CN" dirty="0"/>
              <a:t>“</a:t>
            </a:r>
            <a:r>
              <a:rPr lang="zh-CN" altLang="en-US" dirty="0"/>
              <a:t>具有相反特点的事物或属性可形成联想</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接近律：</a:t>
            </a:r>
            <a:r>
              <a:rPr lang="en-US" altLang="zh-CN" dirty="0"/>
              <a:t>“</a:t>
            </a:r>
            <a:r>
              <a:rPr lang="zh-CN" altLang="en-US" dirty="0"/>
              <a:t>在空间与时间上接近的事物或属性可形成联想</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项：由树木想到森林，森林由树木组成，空间上接近，符合</a:t>
            </a:r>
            <a:r>
              <a:rPr lang="en-US" altLang="zh-CN" dirty="0"/>
              <a:t>“</a:t>
            </a:r>
            <a:r>
              <a:rPr lang="zh-CN" altLang="en-US" dirty="0"/>
              <a:t>在空间与时间上接近的事物或属性可形成联想</a:t>
            </a:r>
            <a:r>
              <a:rPr lang="en-US" altLang="zh-CN" dirty="0"/>
              <a:t>”</a:t>
            </a:r>
            <a:r>
              <a:rPr lang="zh-CN" altLang="en-US" dirty="0"/>
              <a:t>，符合</a:t>
            </a:r>
            <a:r>
              <a:rPr lang="en-US" altLang="zh-CN" dirty="0"/>
              <a:t>“</a:t>
            </a:r>
            <a:r>
              <a:rPr lang="zh-CN" altLang="en-US" dirty="0"/>
              <a:t>接近律</a:t>
            </a:r>
            <a:r>
              <a:rPr lang="en-US" altLang="zh-CN" dirty="0"/>
              <a:t>”</a:t>
            </a:r>
            <a:r>
              <a:rPr lang="zh-CN" altLang="en-US" dirty="0"/>
              <a:t>定义。由蓝天想到飞机，飞机在天空中飞，符合</a:t>
            </a:r>
            <a:r>
              <a:rPr lang="en-US" altLang="zh-CN" dirty="0"/>
              <a:t>“</a:t>
            </a:r>
            <a:r>
              <a:rPr lang="zh-CN" altLang="en-US" dirty="0"/>
              <a:t>在空间与时间上接近的事物或属性可形成联想</a:t>
            </a:r>
            <a:r>
              <a:rPr lang="en-US" altLang="zh-CN" dirty="0"/>
              <a:t>”</a:t>
            </a:r>
            <a:r>
              <a:rPr lang="zh-CN" altLang="en-US" dirty="0"/>
              <a:t>，符合</a:t>
            </a:r>
            <a:r>
              <a:rPr lang="en-US" altLang="zh-CN" dirty="0"/>
              <a:t>“</a:t>
            </a:r>
            <a:r>
              <a:rPr lang="zh-CN" altLang="en-US" dirty="0"/>
              <a:t>接近律</a:t>
            </a:r>
            <a:r>
              <a:rPr lang="en-US" altLang="zh-CN" dirty="0"/>
              <a:t>”</a:t>
            </a:r>
            <a:r>
              <a:rPr lang="zh-CN" altLang="en-US" dirty="0"/>
              <a:t>定义，二者均不符合</a:t>
            </a:r>
            <a:r>
              <a:rPr lang="en-US" altLang="zh-CN" dirty="0"/>
              <a:t>“</a:t>
            </a:r>
            <a:r>
              <a:rPr lang="zh-CN" altLang="en-US" dirty="0"/>
              <a:t>对比律</a:t>
            </a:r>
            <a:r>
              <a:rPr lang="en-US" altLang="zh-CN" dirty="0"/>
              <a:t>”</a:t>
            </a:r>
            <a:r>
              <a:rPr lang="zh-CN" altLang="en-US" dirty="0"/>
              <a:t>定义，说法错误，排除；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项：由狐狸想到狡猾，狐狸的特征是狡猾，符合</a:t>
            </a:r>
            <a:r>
              <a:rPr lang="en-US" altLang="zh-CN" dirty="0"/>
              <a:t>“</a:t>
            </a:r>
            <a:r>
              <a:rPr lang="zh-CN" altLang="en-US" dirty="0"/>
              <a:t>两种在性质、特征上相似的事物或属性可形成联想</a:t>
            </a:r>
            <a:r>
              <a:rPr lang="en-US" altLang="zh-CN" dirty="0"/>
              <a:t>”</a:t>
            </a:r>
            <a:r>
              <a:rPr lang="zh-CN" altLang="en-US" dirty="0"/>
              <a:t>，符合</a:t>
            </a:r>
            <a:r>
              <a:rPr lang="en-US" altLang="zh-CN" dirty="0"/>
              <a:t>“</a:t>
            </a:r>
            <a:r>
              <a:rPr lang="zh-CN" altLang="en-US" dirty="0"/>
              <a:t>相似律</a:t>
            </a:r>
            <a:r>
              <a:rPr lang="en-US" altLang="zh-CN" dirty="0"/>
              <a:t>”</a:t>
            </a:r>
            <a:r>
              <a:rPr lang="zh-CN" altLang="en-US" dirty="0"/>
              <a:t>定义。由电灯想到房间，电灯安装在房间里，空间接近，符合</a:t>
            </a:r>
            <a:r>
              <a:rPr lang="en-US" altLang="zh-CN" dirty="0"/>
              <a:t>“</a:t>
            </a:r>
            <a:r>
              <a:rPr lang="zh-CN" altLang="en-US" dirty="0"/>
              <a:t>在空间与时间上接近的事物或属性可形成联想</a:t>
            </a:r>
            <a:r>
              <a:rPr lang="en-US" altLang="zh-CN" dirty="0"/>
              <a:t>”</a:t>
            </a:r>
            <a:r>
              <a:rPr lang="zh-CN" altLang="en-US" dirty="0"/>
              <a:t>，符合</a:t>
            </a:r>
            <a:r>
              <a:rPr lang="en-US" altLang="zh-CN" dirty="0"/>
              <a:t>“</a:t>
            </a:r>
            <a:r>
              <a:rPr lang="zh-CN" altLang="en-US" dirty="0"/>
              <a:t>接近律</a:t>
            </a:r>
            <a:r>
              <a:rPr lang="en-US" altLang="zh-CN" dirty="0"/>
              <a:t>”</a:t>
            </a:r>
            <a:r>
              <a:rPr lang="zh-CN" altLang="en-US" dirty="0"/>
              <a:t>定义，不符合</a:t>
            </a:r>
            <a:r>
              <a:rPr lang="en-US" altLang="zh-CN" dirty="0"/>
              <a:t>“</a:t>
            </a:r>
            <a:r>
              <a:rPr lang="zh-CN" altLang="en-US" dirty="0"/>
              <a:t>相似律</a:t>
            </a:r>
            <a:r>
              <a:rPr lang="en-US" altLang="zh-CN" dirty="0"/>
              <a:t>”</a:t>
            </a:r>
            <a:r>
              <a:rPr lang="zh-CN" altLang="en-US" dirty="0"/>
              <a:t>定义，说法错误，排除；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项：由钢铁想到坚强，钢铁性质坚硬，用来比喻坚强，符合</a:t>
            </a:r>
            <a:r>
              <a:rPr lang="en-US" altLang="zh-CN" dirty="0"/>
              <a:t>“</a:t>
            </a:r>
            <a:r>
              <a:rPr lang="zh-CN" altLang="en-US" dirty="0"/>
              <a:t>两种在性质、特征上相似的事物或属性可形成联想</a:t>
            </a:r>
            <a:r>
              <a:rPr lang="en-US" altLang="zh-CN" dirty="0"/>
              <a:t>”</a:t>
            </a:r>
            <a:r>
              <a:rPr lang="zh-CN" altLang="en-US" dirty="0"/>
              <a:t>，符合</a:t>
            </a:r>
            <a:r>
              <a:rPr lang="en-US" altLang="zh-CN" dirty="0"/>
              <a:t>“</a:t>
            </a:r>
            <a:r>
              <a:rPr lang="zh-CN" altLang="en-US" dirty="0"/>
              <a:t>相似律</a:t>
            </a:r>
            <a:r>
              <a:rPr lang="en-US" altLang="zh-CN" dirty="0"/>
              <a:t>”</a:t>
            </a:r>
            <a:r>
              <a:rPr lang="zh-CN" altLang="en-US" dirty="0"/>
              <a:t>定义，不符合</a:t>
            </a:r>
            <a:r>
              <a:rPr lang="en-US" altLang="zh-CN" dirty="0"/>
              <a:t>“</a:t>
            </a:r>
            <a:r>
              <a:rPr lang="zh-CN" altLang="en-US" dirty="0"/>
              <a:t>接近律</a:t>
            </a:r>
            <a:r>
              <a:rPr lang="en-US" altLang="zh-CN" dirty="0"/>
              <a:t>”</a:t>
            </a:r>
            <a:r>
              <a:rPr lang="zh-CN" altLang="en-US" dirty="0"/>
              <a:t>定义。由酷暑想到严寒，酷暑和严寒在温度上相反，符合</a:t>
            </a:r>
            <a:r>
              <a:rPr lang="en-US" altLang="zh-CN" dirty="0"/>
              <a:t>“</a:t>
            </a:r>
            <a:r>
              <a:rPr lang="zh-CN" altLang="en-US" dirty="0"/>
              <a:t>具有相反特点的事物或属性可形成联想</a:t>
            </a:r>
            <a:r>
              <a:rPr lang="en-US" altLang="zh-CN" dirty="0"/>
              <a:t>”</a:t>
            </a:r>
            <a:r>
              <a:rPr lang="zh-CN" altLang="en-US" dirty="0"/>
              <a:t>，符合</a:t>
            </a:r>
            <a:r>
              <a:rPr lang="en-US" altLang="zh-CN" dirty="0"/>
              <a:t>“</a:t>
            </a:r>
            <a:r>
              <a:rPr lang="zh-CN" altLang="en-US" dirty="0"/>
              <a:t>对比律</a:t>
            </a:r>
            <a:r>
              <a:rPr lang="en-US" altLang="zh-CN" dirty="0"/>
              <a:t>”</a:t>
            </a:r>
            <a:r>
              <a:rPr lang="zh-CN" altLang="en-US" dirty="0"/>
              <a:t>定义，说法错误，排除；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项：由黑暗想到光明，黑暗与光明是相反概念，符合</a:t>
            </a:r>
            <a:r>
              <a:rPr lang="en-US" altLang="zh-CN" dirty="0"/>
              <a:t>“</a:t>
            </a:r>
            <a:r>
              <a:rPr lang="zh-CN" altLang="en-US" dirty="0"/>
              <a:t>具有相反特点的事物或属性可形成联想</a:t>
            </a:r>
            <a:r>
              <a:rPr lang="en-US" altLang="zh-CN" dirty="0"/>
              <a:t>”</a:t>
            </a:r>
            <a:r>
              <a:rPr lang="zh-CN" altLang="en-US" dirty="0"/>
              <a:t>，符合</a:t>
            </a:r>
            <a:r>
              <a:rPr lang="en-US" altLang="zh-CN" dirty="0"/>
              <a:t>“</a:t>
            </a:r>
            <a:r>
              <a:rPr lang="zh-CN" altLang="en-US" dirty="0"/>
              <a:t>对比律</a:t>
            </a:r>
            <a:r>
              <a:rPr lang="en-US" altLang="zh-CN" dirty="0"/>
              <a:t>”</a:t>
            </a:r>
            <a:r>
              <a:rPr lang="zh-CN" altLang="en-US" dirty="0"/>
              <a:t>定义。由花圃想到蝴蝶，花圃里有蝴蝶，空间接近，符合</a:t>
            </a:r>
            <a:r>
              <a:rPr lang="en-US" altLang="zh-CN" dirty="0"/>
              <a:t>“</a:t>
            </a:r>
            <a:r>
              <a:rPr lang="zh-CN" altLang="en-US" dirty="0"/>
              <a:t>在空间与时间上接近的事物或属性可形成联想</a:t>
            </a:r>
            <a:r>
              <a:rPr lang="en-US" altLang="zh-CN" dirty="0"/>
              <a:t>”</a:t>
            </a:r>
            <a:r>
              <a:rPr lang="zh-CN" altLang="en-US" dirty="0"/>
              <a:t>，符合</a:t>
            </a:r>
            <a:r>
              <a:rPr lang="en-US" altLang="zh-CN" dirty="0"/>
              <a:t>“</a:t>
            </a:r>
            <a:r>
              <a:rPr lang="zh-CN" altLang="en-US" dirty="0"/>
              <a:t>接近律</a:t>
            </a:r>
            <a:r>
              <a:rPr lang="en-US" altLang="zh-CN" dirty="0"/>
              <a:t>”</a:t>
            </a:r>
            <a:r>
              <a:rPr lang="zh-CN" altLang="en-US" dirty="0"/>
              <a:t>定义，说法正确，当选。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解析：商品动销率：</a:t>
            </a:r>
            <a:r>
              <a:rPr lang="en-US" altLang="zh-CN" dirty="0"/>
              <a:t>“</a:t>
            </a:r>
            <a:r>
              <a:rPr lang="zh-CN" altLang="en-US" dirty="0"/>
              <a:t>在售的商品品种数与库存商品总品种数的比率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商品库销比：</a:t>
            </a:r>
            <a:r>
              <a:rPr lang="en-US" altLang="zh-CN" dirty="0"/>
              <a:t>“</a:t>
            </a:r>
            <a:r>
              <a:rPr lang="zh-CN" altLang="en-US" dirty="0"/>
              <a:t>商品库存量与销售额的比率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商品滞销率：</a:t>
            </a:r>
            <a:r>
              <a:rPr lang="en-US" altLang="zh-CN" dirty="0"/>
              <a:t>“</a:t>
            </a:r>
            <a:r>
              <a:rPr lang="zh-CN" altLang="en-US" dirty="0"/>
              <a:t>滞销的商品品种数占库存商品总品种数的比率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商品损耗率：</a:t>
            </a:r>
            <a:r>
              <a:rPr lang="en-US" altLang="zh-CN" dirty="0"/>
              <a:t>“</a:t>
            </a:r>
            <a:r>
              <a:rPr lang="zh-CN" altLang="en-US" dirty="0"/>
              <a:t>一定的保管条件下，某商品在储存保管期间</a:t>
            </a:r>
            <a:r>
              <a:rPr lang="en-US" altLang="zh-CN" dirty="0"/>
              <a:t>”</a:t>
            </a:r>
            <a:r>
              <a:rPr lang="zh-CN" altLang="en-US" dirty="0"/>
              <a:t>、</a:t>
            </a:r>
            <a:r>
              <a:rPr lang="en-US" altLang="zh-CN" dirty="0"/>
              <a:t>“</a:t>
            </a:r>
            <a:r>
              <a:rPr lang="zh-CN" altLang="en-US" dirty="0"/>
              <a:t>自然损耗量与商品在库总量的比例</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项：根据商品动销率</a:t>
            </a:r>
            <a:r>
              <a:rPr lang="en-US" altLang="zh-CN" dirty="0"/>
              <a:t>=</a:t>
            </a:r>
            <a:r>
              <a:rPr lang="zh-CN" altLang="en-US" dirty="0"/>
              <a:t>在售的商品品种数</a:t>
            </a:r>
            <a:r>
              <a:rPr lang="en-US" altLang="zh-CN" dirty="0"/>
              <a:t>/</a:t>
            </a:r>
            <a:r>
              <a:rPr lang="zh-CN" altLang="en-US" dirty="0"/>
              <a:t>库存商品总品种数，若商品动销率超过</a:t>
            </a:r>
            <a:r>
              <a:rPr lang="en-US" altLang="zh-CN" dirty="0"/>
              <a:t>100%</a:t>
            </a:r>
            <a:r>
              <a:rPr lang="zh-CN" altLang="en-US" dirty="0"/>
              <a:t>，说明商品在售品种数高于库存商品总品种数，说法正确，当选；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项：根据商品损耗率</a:t>
            </a:r>
            <a:r>
              <a:rPr lang="en-US" altLang="zh-CN" dirty="0"/>
              <a:t>=</a:t>
            </a:r>
            <a:r>
              <a:rPr lang="zh-CN" altLang="en-US" dirty="0"/>
              <a:t>自然损耗量</a:t>
            </a:r>
            <a:r>
              <a:rPr lang="en-US" altLang="zh-CN" dirty="0"/>
              <a:t>/</a:t>
            </a:r>
            <a:r>
              <a:rPr lang="zh-CN" altLang="en-US" dirty="0"/>
              <a:t>商品在库总量，若商品损耗率高，表明商品自然损耗量相对升高或者商品在库总量相对降低，无法必然得到库存积压情况或销售态势情况，说法错误，排除；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项：根据商品滞销率</a:t>
            </a:r>
            <a:r>
              <a:rPr lang="en-US" altLang="zh-CN" dirty="0"/>
              <a:t>=</a:t>
            </a:r>
            <a:r>
              <a:rPr lang="zh-CN" altLang="en-US" dirty="0"/>
              <a:t>滞销的商品品种数</a:t>
            </a:r>
            <a:r>
              <a:rPr lang="en-US" altLang="zh-CN" dirty="0"/>
              <a:t>/</a:t>
            </a:r>
            <a:r>
              <a:rPr lang="zh-CN" altLang="en-US" dirty="0"/>
              <a:t>库存商品总品种数，若库存商品数一定时，商品滞销率越高，说明滞销的</a:t>
            </a:r>
            <a:r>
              <a:rPr lang="en-US" altLang="zh-CN" dirty="0"/>
              <a:t>“</a:t>
            </a:r>
            <a:r>
              <a:rPr lang="zh-CN" altLang="en-US" dirty="0"/>
              <a:t>商品品种数</a:t>
            </a:r>
            <a:r>
              <a:rPr lang="en-US" altLang="zh-CN" dirty="0"/>
              <a:t>”</a:t>
            </a:r>
            <a:r>
              <a:rPr lang="zh-CN" altLang="en-US" dirty="0"/>
              <a:t>越多，而不是滞销的</a:t>
            </a:r>
            <a:r>
              <a:rPr lang="en-US" altLang="zh-CN" dirty="0"/>
              <a:t>“</a:t>
            </a:r>
            <a:r>
              <a:rPr lang="zh-CN" altLang="en-US" dirty="0"/>
              <a:t>商品</a:t>
            </a:r>
            <a:r>
              <a:rPr lang="en-US" altLang="zh-CN" dirty="0"/>
              <a:t>”</a:t>
            </a:r>
            <a:r>
              <a:rPr lang="zh-CN" altLang="en-US" dirty="0"/>
              <a:t>越多（可能仅指商品数量），说法错误，排除；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项：根据商品库销比</a:t>
            </a:r>
            <a:r>
              <a:rPr lang="en-US" altLang="zh-CN" dirty="0"/>
              <a:t>=</a:t>
            </a:r>
            <a:r>
              <a:rPr lang="zh-CN" altLang="en-US" dirty="0"/>
              <a:t>商品库存量</a:t>
            </a:r>
            <a:r>
              <a:rPr lang="en-US" altLang="zh-CN" dirty="0"/>
              <a:t>/</a:t>
            </a:r>
            <a:r>
              <a:rPr lang="zh-CN" altLang="en-US" dirty="0"/>
              <a:t>销售额，当商品库存量越大，销售额越高时，因无法确定比值的大小关系，所以无法得知商品库销比一定会越大，说法错误，排除。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93.</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解析：动作预期：</a:t>
            </a:r>
            <a:r>
              <a:rPr lang="en-US" altLang="zh-CN" dirty="0"/>
              <a:t>“</a:t>
            </a:r>
            <a:r>
              <a:rPr lang="zh-CN" altLang="en-US" dirty="0"/>
              <a:t>运动员</a:t>
            </a:r>
            <a:r>
              <a:rPr lang="en-US" altLang="zh-CN" dirty="0"/>
              <a:t>”</a:t>
            </a:r>
            <a:r>
              <a:rPr lang="zh-CN" altLang="en-US" dirty="0"/>
              <a:t>、</a:t>
            </a:r>
            <a:r>
              <a:rPr lang="en-US" altLang="zh-CN" dirty="0"/>
              <a:t>“</a:t>
            </a:r>
            <a:r>
              <a:rPr lang="zh-CN" altLang="en-US" dirty="0"/>
              <a:t>在比赛过程中</a:t>
            </a:r>
            <a:r>
              <a:rPr lang="en-US" altLang="zh-CN" dirty="0"/>
              <a:t>”</a:t>
            </a:r>
            <a:r>
              <a:rPr lang="zh-CN" altLang="en-US" dirty="0"/>
              <a:t>、</a:t>
            </a:r>
            <a:r>
              <a:rPr lang="en-US" altLang="zh-CN" dirty="0"/>
              <a:t>“</a:t>
            </a:r>
            <a:r>
              <a:rPr lang="zh-CN" altLang="en-US" dirty="0"/>
              <a:t>根据已有信息，对即将发生的动作结果进行预测</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运动学信息：</a:t>
            </a:r>
            <a:r>
              <a:rPr lang="en-US" altLang="zh-CN" dirty="0"/>
              <a:t>“</a:t>
            </a:r>
            <a:r>
              <a:rPr lang="zh-CN" altLang="en-US" dirty="0"/>
              <a:t>对手的动作</a:t>
            </a:r>
            <a:r>
              <a:rPr lang="en-US" altLang="zh-CN" dirty="0"/>
              <a:t>”</a:t>
            </a:r>
            <a:r>
              <a:rPr lang="zh-CN" altLang="en-US" dirty="0"/>
              <a:t>、</a:t>
            </a:r>
            <a:r>
              <a:rPr lang="en-US" altLang="zh-CN" dirty="0"/>
              <a:t>“</a:t>
            </a:r>
            <a:r>
              <a:rPr lang="zh-CN" altLang="en-US" dirty="0"/>
              <a:t>器材的运动轨迹</a:t>
            </a:r>
            <a:r>
              <a:rPr lang="en-US" altLang="zh-CN" dirty="0"/>
              <a:t>”</a:t>
            </a:r>
            <a:r>
              <a:rPr lang="zh-CN" altLang="en-US" dirty="0"/>
              <a:t>、</a:t>
            </a:r>
            <a:r>
              <a:rPr lang="en-US" altLang="zh-CN" dirty="0"/>
              <a:t>“</a:t>
            </a:r>
            <a:r>
              <a:rPr lang="zh-CN" altLang="en-US" dirty="0"/>
              <a:t>队员之间的相对位置</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情境先验信息：</a:t>
            </a:r>
            <a:r>
              <a:rPr lang="en-US" altLang="zh-CN" dirty="0"/>
              <a:t>“</a:t>
            </a:r>
            <a:r>
              <a:rPr lang="zh-CN" altLang="en-US" dirty="0"/>
              <a:t>比赛情境中事件发生的概率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项：篮球队员甲，符合</a:t>
            </a:r>
            <a:r>
              <a:rPr lang="en-US" altLang="zh-CN" dirty="0"/>
              <a:t>“</a:t>
            </a:r>
            <a:r>
              <a:rPr lang="zh-CN" altLang="en-US" dirty="0"/>
              <a:t>运动员</a:t>
            </a:r>
            <a:r>
              <a:rPr lang="en-US" altLang="zh-CN" dirty="0"/>
              <a:t>”</a:t>
            </a:r>
            <a:r>
              <a:rPr lang="zh-CN" altLang="en-US" dirty="0"/>
              <a:t>，根据对手今日比赛罚篮命中率不高，在对手投篮时选择直接犯规，即预测犯规后对手会罚篮不中，符合</a:t>
            </a:r>
            <a:r>
              <a:rPr lang="en-US" altLang="zh-CN" dirty="0"/>
              <a:t>“</a:t>
            </a:r>
            <a:r>
              <a:rPr lang="zh-CN" altLang="en-US" dirty="0"/>
              <a:t>在比赛过程中</a:t>
            </a:r>
            <a:r>
              <a:rPr lang="en-US" altLang="zh-CN" dirty="0"/>
              <a:t>”</a:t>
            </a:r>
            <a:r>
              <a:rPr lang="zh-CN" altLang="en-US" dirty="0"/>
              <a:t>、</a:t>
            </a:r>
            <a:r>
              <a:rPr lang="en-US" altLang="zh-CN" dirty="0"/>
              <a:t>“</a:t>
            </a:r>
            <a:r>
              <a:rPr lang="zh-CN" altLang="en-US" dirty="0"/>
              <a:t>根据已有信息，对即将发生的动作结果进行预测</a:t>
            </a:r>
            <a:r>
              <a:rPr lang="en-US" altLang="zh-CN" dirty="0"/>
              <a:t>”</a:t>
            </a:r>
            <a:r>
              <a:rPr lang="zh-CN" altLang="en-US" dirty="0"/>
              <a:t>、</a:t>
            </a:r>
            <a:r>
              <a:rPr lang="en-US" altLang="zh-CN" dirty="0"/>
              <a:t>“</a:t>
            </a:r>
            <a:r>
              <a:rPr lang="zh-CN" altLang="en-US" dirty="0"/>
              <a:t>比赛情境中事件发生的概率</a:t>
            </a:r>
            <a:r>
              <a:rPr lang="en-US" altLang="zh-CN" dirty="0"/>
              <a:t>”</a:t>
            </a:r>
            <a:r>
              <a:rPr lang="zh-CN" altLang="en-US" dirty="0"/>
              <a:t>，符合</a:t>
            </a:r>
            <a:r>
              <a:rPr lang="en-US" altLang="zh-CN" dirty="0"/>
              <a:t>“</a:t>
            </a:r>
            <a:r>
              <a:rPr lang="zh-CN" altLang="en-US" dirty="0"/>
              <a:t>情境先验信息</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项：网球运动员乙知道对手在比赛前有一系列习惯性动作，不符合</a:t>
            </a:r>
            <a:r>
              <a:rPr lang="en-US" altLang="zh-CN" dirty="0"/>
              <a:t>“</a:t>
            </a:r>
            <a:r>
              <a:rPr lang="zh-CN" altLang="en-US" dirty="0"/>
              <a:t>在比赛过程中</a:t>
            </a:r>
            <a:r>
              <a:rPr lang="en-US" altLang="zh-CN" dirty="0"/>
              <a:t>”</a:t>
            </a:r>
            <a:r>
              <a:rPr lang="zh-CN" altLang="en-US" dirty="0"/>
              <a:t>，且乙是暗自提醒自己不要被干扰，未利用这些信息进行预测，不符合</a:t>
            </a:r>
            <a:r>
              <a:rPr lang="en-US" altLang="zh-CN" dirty="0"/>
              <a:t>“</a:t>
            </a:r>
            <a:r>
              <a:rPr lang="zh-CN" altLang="en-US" dirty="0"/>
              <a:t>对即将发生的动作结果进行预测</a:t>
            </a:r>
            <a:r>
              <a:rPr lang="en-US" altLang="zh-CN" dirty="0"/>
              <a:t>”</a:t>
            </a:r>
            <a:r>
              <a:rPr lang="zh-CN" altLang="en-US" dirty="0"/>
              <a:t>，不符合</a:t>
            </a:r>
            <a:r>
              <a:rPr lang="en-US" altLang="zh-CN" dirty="0"/>
              <a:t>“</a:t>
            </a:r>
            <a:r>
              <a:rPr lang="zh-CN" altLang="en-US" dirty="0"/>
              <a:t>动作预期</a:t>
            </a:r>
            <a:r>
              <a:rPr lang="en-US" altLang="zh-CN" dirty="0"/>
              <a:t>”</a:t>
            </a:r>
            <a:r>
              <a:rPr lang="zh-CN" altLang="en-US" dirty="0"/>
              <a:t>定义，进而也不符合</a:t>
            </a:r>
            <a:r>
              <a:rPr lang="en-US" altLang="zh-CN" dirty="0"/>
              <a:t>“</a:t>
            </a:r>
            <a:r>
              <a:rPr lang="zh-CN" altLang="en-US" dirty="0"/>
              <a:t>运动学信息</a:t>
            </a:r>
            <a:r>
              <a:rPr lang="en-US" altLang="zh-CN" dirty="0"/>
              <a:t>”</a:t>
            </a:r>
            <a:r>
              <a:rPr lang="zh-CN" altLang="en-US" dirty="0"/>
              <a:t>定义和</a:t>
            </a:r>
            <a:r>
              <a:rPr lang="en-US" altLang="zh-CN" dirty="0"/>
              <a:t>“</a:t>
            </a:r>
            <a:r>
              <a:rPr lang="zh-CN" altLang="en-US" dirty="0"/>
              <a:t>情境先验信息</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项：羽毛球双打运动员丙，符合</a:t>
            </a:r>
            <a:r>
              <a:rPr lang="en-US" altLang="zh-CN" dirty="0"/>
              <a:t>“</a:t>
            </a:r>
            <a:r>
              <a:rPr lang="zh-CN" altLang="en-US" dirty="0"/>
              <a:t>运动员</a:t>
            </a:r>
            <a:r>
              <a:rPr lang="en-US" altLang="zh-CN" dirty="0"/>
              <a:t>”</a:t>
            </a:r>
            <a:r>
              <a:rPr lang="zh-CN" altLang="en-US" dirty="0"/>
              <a:t>，根据对方准备接发球的球员位置稍微靠前，预测对方来不及转身或后退接球，符合</a:t>
            </a:r>
            <a:r>
              <a:rPr lang="en-US" altLang="zh-CN" dirty="0"/>
              <a:t>“</a:t>
            </a:r>
            <a:r>
              <a:rPr lang="zh-CN" altLang="en-US" dirty="0"/>
              <a:t>在比赛过程中</a:t>
            </a:r>
            <a:r>
              <a:rPr lang="en-US" altLang="zh-CN" dirty="0"/>
              <a:t>”</a:t>
            </a:r>
            <a:r>
              <a:rPr lang="zh-CN" altLang="en-US" dirty="0"/>
              <a:t>、</a:t>
            </a:r>
            <a:r>
              <a:rPr lang="en-US" altLang="zh-CN" dirty="0"/>
              <a:t>“</a:t>
            </a:r>
            <a:r>
              <a:rPr lang="zh-CN" altLang="en-US" dirty="0"/>
              <a:t>根据已有信息，对即将发生的动作结果进行预测</a:t>
            </a:r>
            <a:r>
              <a:rPr lang="en-US" altLang="zh-CN" dirty="0"/>
              <a:t>”</a:t>
            </a:r>
            <a:r>
              <a:rPr lang="zh-CN" altLang="en-US" dirty="0"/>
              <a:t>、</a:t>
            </a:r>
            <a:r>
              <a:rPr lang="en-US" altLang="zh-CN" dirty="0"/>
              <a:t>“</a:t>
            </a:r>
            <a:r>
              <a:rPr lang="zh-CN" altLang="en-US" dirty="0"/>
              <a:t>队员之间的相对位置</a:t>
            </a:r>
            <a:r>
              <a:rPr lang="en-US" altLang="zh-CN" dirty="0"/>
              <a:t>”</a:t>
            </a:r>
            <a:r>
              <a:rPr lang="zh-CN" altLang="en-US" dirty="0"/>
              <a:t>，符合</a:t>
            </a:r>
            <a:r>
              <a:rPr lang="en-US" altLang="zh-CN" dirty="0"/>
              <a:t>“</a:t>
            </a:r>
            <a:r>
              <a:rPr lang="zh-CN" altLang="en-US" dirty="0"/>
              <a:t>运动学信息</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项：乒乓球运动员丁，符合</a:t>
            </a:r>
            <a:r>
              <a:rPr lang="en-US" altLang="zh-CN" dirty="0"/>
              <a:t>“</a:t>
            </a:r>
            <a:r>
              <a:rPr lang="zh-CN" altLang="en-US" dirty="0"/>
              <a:t>运动员</a:t>
            </a:r>
            <a:r>
              <a:rPr lang="en-US" altLang="zh-CN" dirty="0"/>
              <a:t>”</a:t>
            </a:r>
            <a:r>
              <a:rPr lang="zh-CN" altLang="en-US" dirty="0"/>
              <a:t>，根据对方发过来的球位置较低、速度较慢，预测球会擦网变线，符合</a:t>
            </a:r>
            <a:r>
              <a:rPr lang="en-US" altLang="zh-CN" dirty="0"/>
              <a:t>“</a:t>
            </a:r>
            <a:r>
              <a:rPr lang="zh-CN" altLang="en-US" dirty="0"/>
              <a:t>在比赛过程中</a:t>
            </a:r>
            <a:r>
              <a:rPr lang="en-US" altLang="zh-CN" dirty="0"/>
              <a:t>”</a:t>
            </a:r>
            <a:r>
              <a:rPr lang="zh-CN" altLang="en-US" dirty="0"/>
              <a:t>、</a:t>
            </a:r>
            <a:r>
              <a:rPr lang="en-US" altLang="zh-CN" dirty="0"/>
              <a:t>“</a:t>
            </a:r>
            <a:r>
              <a:rPr lang="zh-CN" altLang="en-US" dirty="0"/>
              <a:t>根据已有信息，对即将发生的动作结果进行预测</a:t>
            </a:r>
            <a:r>
              <a:rPr lang="en-US" altLang="zh-CN" dirty="0"/>
              <a:t>”</a:t>
            </a:r>
            <a:r>
              <a:rPr lang="zh-CN" altLang="en-US" dirty="0"/>
              <a:t>、</a:t>
            </a:r>
            <a:r>
              <a:rPr lang="en-US" altLang="zh-CN" dirty="0"/>
              <a:t>“</a:t>
            </a:r>
            <a:r>
              <a:rPr lang="zh-CN" altLang="en-US" dirty="0"/>
              <a:t>器材的运动轨迹</a:t>
            </a:r>
            <a:r>
              <a:rPr lang="en-US" altLang="zh-CN" dirty="0"/>
              <a:t>”</a:t>
            </a:r>
            <a:r>
              <a:rPr lang="zh-CN" altLang="en-US" dirty="0"/>
              <a:t>，符合</a:t>
            </a:r>
            <a:r>
              <a:rPr lang="en-US" altLang="zh-CN" dirty="0"/>
              <a:t>“</a:t>
            </a:r>
            <a:r>
              <a:rPr lang="zh-CN" altLang="en-US" dirty="0"/>
              <a:t>运动学信息</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对手今日比赛罚篮命中率</a:t>
            </a:r>
            <a:r>
              <a:rPr lang="en-US" altLang="zh-CN" dirty="0"/>
              <a:t>” </a:t>
            </a:r>
            <a:r>
              <a:rPr lang="zh-CN" altLang="en-US" dirty="0"/>
              <a:t>属于比赛情境中事件发生的概率，是情境先验信息。</a:t>
            </a:r>
            <a:r>
              <a:rPr lang="en-US" altLang="en-US" dirty="0"/>
              <a:t>→</a:t>
            </a:r>
            <a:r>
              <a:rPr lang="en-US" altLang="zh-CN" dirty="0"/>
              <a:t> </a:t>
            </a:r>
            <a:r>
              <a:rPr lang="zh-CN" altLang="en-US" dirty="0"/>
              <a:t>涉及情境先验信息。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乙只是知晓对手的习惯性动作，并提醒自己不被干扰，整个过程没有对即将发生的动作结果进行预测，也未利用对手动作、轨迹、位置（运动学信息）或事件概率（情境先验信息）去做动作预期，仅为心理提醒。</a:t>
            </a:r>
            <a:r>
              <a:rPr lang="en-US" altLang="en-US" dirty="0"/>
              <a:t>→</a:t>
            </a:r>
            <a:r>
              <a:rPr lang="en-US" altLang="zh-CN" dirty="0"/>
              <a:t> </a:t>
            </a:r>
            <a:r>
              <a:rPr lang="zh-CN" altLang="en-US" dirty="0"/>
              <a:t>不涉及任何一种信息。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对方准备接发球的球员位置稍微靠前</a:t>
            </a:r>
            <a:r>
              <a:rPr lang="en-US" altLang="zh-CN" dirty="0"/>
              <a:t>” </a:t>
            </a:r>
            <a:r>
              <a:rPr lang="zh-CN" altLang="en-US" dirty="0"/>
              <a:t>属于队员之间的相对位置，是运动学信息。</a:t>
            </a:r>
            <a:r>
              <a:rPr lang="en-US" altLang="en-US" dirty="0"/>
              <a:t>→</a:t>
            </a:r>
            <a:r>
              <a:rPr lang="en-US" altLang="zh-CN" dirty="0"/>
              <a:t> </a:t>
            </a:r>
            <a:r>
              <a:rPr lang="zh-CN" altLang="en-US" dirty="0"/>
              <a:t>涉及运动学信息。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球位置较低、速度较慢</a:t>
            </a:r>
            <a:r>
              <a:rPr lang="en-US" altLang="zh-CN" dirty="0"/>
              <a:t>” </a:t>
            </a:r>
            <a:r>
              <a:rPr lang="zh-CN" altLang="en-US" dirty="0"/>
              <a:t>属于器材的运动轨迹，是运动学信息。</a:t>
            </a:r>
            <a:r>
              <a:rPr lang="en-US" altLang="en-US" dirty="0"/>
              <a:t>→</a:t>
            </a:r>
            <a:r>
              <a:rPr lang="en-US" altLang="zh-CN" dirty="0"/>
              <a:t> </a:t>
            </a:r>
            <a:r>
              <a:rPr lang="zh-CN" altLang="en-US" dirty="0"/>
              <a:t>涉及运动学信息。</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94.</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解析：纯粹随意条件：</a:t>
            </a:r>
            <a:r>
              <a:rPr lang="en-US" altLang="zh-CN" dirty="0"/>
              <a:t>“</a:t>
            </a:r>
            <a:r>
              <a:rPr lang="zh-CN" altLang="en-US" dirty="0"/>
              <a:t>成就与否完全由一方当事人的意思决定</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非纯粹随意条件：</a:t>
            </a:r>
            <a:r>
              <a:rPr lang="en-US" altLang="zh-CN" dirty="0"/>
              <a:t>“</a:t>
            </a:r>
            <a:r>
              <a:rPr lang="zh-CN" altLang="en-US" dirty="0"/>
              <a:t>成就与否除一方当事人的意思外，尚须另一方当事人发生某种事件</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混合条件：</a:t>
            </a:r>
            <a:r>
              <a:rPr lang="en-US" altLang="zh-CN" dirty="0"/>
              <a:t>“</a:t>
            </a:r>
            <a:r>
              <a:rPr lang="zh-CN" altLang="en-US" dirty="0"/>
              <a:t>成就与否取决于一方当事人与第三人的意思</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偶成条件：</a:t>
            </a:r>
            <a:r>
              <a:rPr lang="en-US" altLang="zh-CN" dirty="0"/>
              <a:t>“</a:t>
            </a:r>
            <a:r>
              <a:rPr lang="zh-CN" altLang="en-US" dirty="0"/>
              <a:t>成就与否无关当事人的意思，但可能受制于第三人的意思</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项：小王与爸爸约定，如果小王考上的研究生院校让爸爸满意，爸爸就资助其旅游经费，双方约定的达成完全取决于爸爸是否满意，符合</a:t>
            </a:r>
            <a:r>
              <a:rPr lang="en-US" altLang="zh-CN" dirty="0"/>
              <a:t>“</a:t>
            </a:r>
            <a:r>
              <a:rPr lang="zh-CN" altLang="en-US" dirty="0"/>
              <a:t>成就与否完全由一方当事人的意思决定</a:t>
            </a:r>
            <a:r>
              <a:rPr lang="en-US" altLang="zh-CN" dirty="0"/>
              <a:t>”</a:t>
            </a:r>
            <a:r>
              <a:rPr lang="zh-CN" altLang="en-US" dirty="0"/>
              <a:t>，符合</a:t>
            </a:r>
            <a:r>
              <a:rPr lang="en-US" altLang="zh-CN" dirty="0"/>
              <a:t>“</a:t>
            </a:r>
            <a:r>
              <a:rPr lang="zh-CN" altLang="en-US" dirty="0"/>
              <a:t>纯粹随意条件</a:t>
            </a:r>
            <a:r>
              <a:rPr lang="en-US" altLang="zh-CN" dirty="0"/>
              <a:t>”</a:t>
            </a:r>
            <a:r>
              <a:rPr lang="zh-CN" altLang="en-US" dirty="0"/>
              <a:t>定义，不符合</a:t>
            </a:r>
            <a:r>
              <a:rPr lang="en-US" altLang="zh-CN" dirty="0"/>
              <a:t>“</a:t>
            </a:r>
            <a:r>
              <a:rPr lang="zh-CN" altLang="en-US" dirty="0"/>
              <a:t>混合条件</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项：某店铺与供应商约定，如果三伏的第一天下雨，则今年的雨伞就多进货</a:t>
            </a:r>
            <a:r>
              <a:rPr lang="en-US" altLang="zh-CN" dirty="0"/>
              <a:t>30%</a:t>
            </a:r>
            <a:r>
              <a:rPr lang="zh-CN" altLang="en-US" dirty="0"/>
              <a:t>，是否多进货</a:t>
            </a:r>
            <a:r>
              <a:rPr lang="en-US" altLang="zh-CN" dirty="0"/>
              <a:t>30%</a:t>
            </a:r>
            <a:r>
              <a:rPr lang="zh-CN" altLang="en-US" dirty="0"/>
              <a:t>取决于天气，与双方当事人无关，符合</a:t>
            </a:r>
            <a:r>
              <a:rPr lang="en-US" altLang="zh-CN" dirty="0"/>
              <a:t>“</a:t>
            </a:r>
            <a:r>
              <a:rPr lang="zh-CN" altLang="en-US" dirty="0"/>
              <a:t>成就与否无关当事人的意思，但可能受制于第三人的意思</a:t>
            </a:r>
            <a:r>
              <a:rPr lang="en-US" altLang="zh-CN" dirty="0"/>
              <a:t>”</a:t>
            </a:r>
            <a:r>
              <a:rPr lang="zh-CN" altLang="en-US" dirty="0"/>
              <a:t>，符合</a:t>
            </a:r>
            <a:r>
              <a:rPr lang="en-US" altLang="zh-CN" dirty="0"/>
              <a:t>“</a:t>
            </a:r>
            <a:r>
              <a:rPr lang="zh-CN" altLang="en-US" dirty="0"/>
              <a:t>偶成条件</a:t>
            </a:r>
            <a:r>
              <a:rPr lang="en-US" altLang="zh-CN" dirty="0"/>
              <a:t>”</a:t>
            </a:r>
            <a:r>
              <a:rPr lang="zh-CN" altLang="en-US" dirty="0"/>
              <a:t>定义，不符合</a:t>
            </a:r>
            <a:r>
              <a:rPr lang="en-US" altLang="zh-CN" dirty="0"/>
              <a:t>“</a:t>
            </a:r>
            <a:r>
              <a:rPr lang="zh-CN" altLang="en-US" dirty="0"/>
              <a:t>混合条件</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项：甲厂与乙厂约定，如果甲厂能与丙公司签订承揽合同，甲厂就在乙厂购置原料板材，甲厂与乙厂达成合作，需要甲厂（一方当事人）有签订意愿，丙公司（第三人）同意签订，符合</a:t>
            </a:r>
            <a:r>
              <a:rPr lang="en-US" altLang="zh-CN" dirty="0"/>
              <a:t>“</a:t>
            </a:r>
            <a:r>
              <a:rPr lang="zh-CN" altLang="en-US" dirty="0"/>
              <a:t>成就与否取决于一方当事人与第三人的意思</a:t>
            </a:r>
            <a:r>
              <a:rPr lang="en-US" altLang="zh-CN" dirty="0"/>
              <a:t>”</a:t>
            </a:r>
            <a:r>
              <a:rPr lang="zh-CN" altLang="en-US" dirty="0"/>
              <a:t>，符合</a:t>
            </a:r>
            <a:r>
              <a:rPr lang="en-US" altLang="zh-CN" dirty="0"/>
              <a:t>“</a:t>
            </a:r>
            <a:r>
              <a:rPr lang="zh-CN" altLang="en-US" dirty="0"/>
              <a:t>混合条件</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项：小李与哥哥约定，如果小李能在开学前考取驾照，哥哥就把现在开的这台车赠送给小李，哥哥有赠送车给小李的意愿，且需要小李在开学前考取驾照，符合</a:t>
            </a:r>
            <a:r>
              <a:rPr lang="en-US" altLang="zh-CN" dirty="0"/>
              <a:t>“</a:t>
            </a:r>
            <a:r>
              <a:rPr lang="zh-CN" altLang="en-US" dirty="0"/>
              <a:t>成就与否除一方当事人的意思外，尚须另一方当事人发生某种事件</a:t>
            </a:r>
            <a:r>
              <a:rPr lang="en-US" altLang="zh-CN" dirty="0"/>
              <a:t>”</a:t>
            </a:r>
            <a:r>
              <a:rPr lang="zh-CN" altLang="en-US" dirty="0"/>
              <a:t>，符合</a:t>
            </a:r>
            <a:r>
              <a:rPr lang="en-US" altLang="zh-CN" dirty="0"/>
              <a:t>“</a:t>
            </a:r>
            <a:r>
              <a:rPr lang="zh-CN" altLang="en-US" dirty="0"/>
              <a:t>非纯粹随意条件</a:t>
            </a:r>
            <a:r>
              <a:rPr lang="en-US" altLang="zh-CN" dirty="0"/>
              <a:t>”</a:t>
            </a:r>
            <a:r>
              <a:rPr lang="zh-CN" altLang="en-US" dirty="0"/>
              <a:t>定义，不符合</a:t>
            </a:r>
            <a:r>
              <a:rPr lang="en-US" altLang="zh-CN" dirty="0"/>
              <a:t>“</a:t>
            </a:r>
            <a:r>
              <a:rPr lang="zh-CN" altLang="en-US" dirty="0"/>
              <a:t>混合条件</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纯粹随意条件：完全由一方当事人意思决定。</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非纯粹随意条件：一方意思</a:t>
            </a:r>
            <a:r>
              <a:rPr lang="en-US" altLang="zh-CN" dirty="0"/>
              <a:t> + </a:t>
            </a:r>
            <a:r>
              <a:rPr lang="zh-CN" altLang="en-US" dirty="0"/>
              <a:t>另一方当事人的事件。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混合条件：成就与否取决于一方当事人</a:t>
            </a:r>
            <a:r>
              <a:rPr lang="en-US" altLang="zh-CN" dirty="0"/>
              <a:t> + </a:t>
            </a:r>
            <a:r>
              <a:rPr lang="zh-CN" altLang="en-US" dirty="0"/>
              <a:t>第三人的意思。</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偶成条件：与当事人意思无关，可受制于第三人意思。</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双方是小王（一方）、爸爸（另一方当事人）条件取决于爸爸（另一方当事人）的意思，属于纯粹随意条件，不是混合条件。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 </a:t>
            </a:r>
            <a:r>
              <a:rPr lang="zh-CN" altLang="en-US" dirty="0"/>
              <a:t>条件是</a:t>
            </a:r>
            <a:r>
              <a:rPr lang="en-US" altLang="zh-CN" dirty="0"/>
              <a:t> “</a:t>
            </a:r>
            <a:r>
              <a:rPr lang="zh-CN" altLang="en-US" dirty="0"/>
              <a:t>下雨</a:t>
            </a:r>
            <a:r>
              <a:rPr lang="en-US" altLang="zh-CN" dirty="0"/>
              <a:t>”</a:t>
            </a:r>
            <a:r>
              <a:rPr lang="zh-CN" altLang="en-US" dirty="0"/>
              <a:t>，属于自然事件，与双方当事人意思无关，属于偶成条件。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合同双方：甲厂（一方当事人）、乙厂（另一方当事人），条件成就取决于：甲厂（一方当事人）的行为</a:t>
            </a:r>
            <a:r>
              <a:rPr lang="en-US" altLang="zh-CN" dirty="0"/>
              <a:t> / </a:t>
            </a:r>
            <a:r>
              <a:rPr lang="zh-CN" altLang="en-US" dirty="0"/>
              <a:t>意思</a:t>
            </a:r>
            <a:r>
              <a:rPr lang="en-US" altLang="zh-CN" dirty="0"/>
              <a:t> + </a:t>
            </a:r>
            <a:r>
              <a:rPr lang="zh-CN" altLang="en-US" dirty="0"/>
              <a:t>丙公司（第三人）的意思（签订合同需双方合意）完全符合混合条件定义。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 </a:t>
            </a:r>
            <a:r>
              <a:rPr lang="zh-CN" altLang="en-US" dirty="0"/>
              <a:t>条件取决于小李（一方当事人）的行为，属于非纯粹随意条件。</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95.</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根据性状的相对重要性顺序排列进行选择</a:t>
            </a:r>
            <a:r>
              <a:rPr lang="en-US" altLang="zh-CN" dirty="0"/>
              <a:t>”</a:t>
            </a:r>
            <a:r>
              <a:rPr lang="zh-CN" altLang="en-US" dirty="0"/>
              <a:t>、</a:t>
            </a:r>
            <a:r>
              <a:rPr lang="en-US" altLang="zh-CN" dirty="0"/>
              <a:t>“</a:t>
            </a:r>
            <a:r>
              <a:rPr lang="zh-CN" altLang="en-US" dirty="0"/>
              <a:t>先按第一重要性状进行选择，然后在入选株内按第二重要性状进行选择</a:t>
            </a:r>
            <a:r>
              <a:rPr lang="en-US" altLang="zh-CN" dirty="0"/>
              <a:t>”</a:t>
            </a:r>
            <a:r>
              <a:rPr lang="zh-CN" altLang="en-US" dirty="0"/>
              <a:t>、</a:t>
            </a:r>
            <a:r>
              <a:rPr lang="en-US" altLang="zh-CN" dirty="0"/>
              <a:t>“</a:t>
            </a:r>
            <a:r>
              <a:rPr lang="zh-CN" altLang="en-US" dirty="0"/>
              <a:t>顺次累进</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项：按株选目标性状出现的先后顺序进行淘汰，并非根据性状的相对重要性顺序排列进行选择，不符合</a:t>
            </a:r>
            <a:r>
              <a:rPr lang="en-US" altLang="zh-CN" dirty="0"/>
              <a:t>“</a:t>
            </a:r>
            <a:r>
              <a:rPr lang="zh-CN" altLang="en-US" dirty="0"/>
              <a:t>根据性状的相对重要性顺序排列进行选择</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群体内的植株中无病是存活的基础，是第一重要性状，丰产性好体现经济价值，是第二重要性状，再根据产量性状顺次进行选择，在群体内先选择无病植株，再在这些无病植株内选择丰产性好的植株，最后根据产量性状顺次进行选择，是根据性状的相对重要性顺序排列进行选择，符合</a:t>
            </a:r>
            <a:r>
              <a:rPr lang="en-US" altLang="zh-CN" dirty="0"/>
              <a:t>“</a:t>
            </a:r>
            <a:r>
              <a:rPr lang="zh-CN" altLang="en-US" dirty="0"/>
              <a:t>根据性状的相对重要性顺序排列进行选择</a:t>
            </a:r>
            <a:r>
              <a:rPr lang="en-US" altLang="zh-CN" dirty="0"/>
              <a:t>”</a:t>
            </a:r>
            <a:r>
              <a:rPr lang="zh-CN" altLang="en-US" dirty="0"/>
              <a:t>、</a:t>
            </a:r>
            <a:r>
              <a:rPr lang="en-US" altLang="zh-CN" dirty="0"/>
              <a:t>“</a:t>
            </a:r>
            <a:r>
              <a:rPr lang="zh-CN" altLang="en-US" dirty="0"/>
              <a:t>先按第一重要性状进行选择，然后在入选株内按第二重要性状进行选择</a:t>
            </a:r>
            <a:r>
              <a:rPr lang="en-US" altLang="zh-CN" dirty="0"/>
              <a:t>”</a:t>
            </a:r>
            <a:r>
              <a:rPr lang="zh-CN" altLang="en-US" dirty="0"/>
              <a:t>、</a:t>
            </a:r>
            <a:r>
              <a:rPr lang="en-US" altLang="zh-CN" dirty="0"/>
              <a:t>“</a:t>
            </a:r>
            <a:r>
              <a:rPr lang="zh-CN" altLang="en-US" dirty="0"/>
              <a:t>顺次累进</a:t>
            </a:r>
            <a:r>
              <a:rPr lang="en-US" altLang="zh-CN" dirty="0"/>
              <a:t>”</a:t>
            </a:r>
            <a:r>
              <a:rPr lang="zh-CN" altLang="en-US" dirty="0"/>
              <a:t>，符合定义，当选；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项：按照果实的大小、果型等性状初选，没有明确体现第一重要性状，且再按照综合性状入选标准进行复选，并非按照性状的相对重要性顺序排列进行选择，不符合</a:t>
            </a:r>
            <a:r>
              <a:rPr lang="en-US" altLang="zh-CN" dirty="0"/>
              <a:t>“</a:t>
            </a:r>
            <a:r>
              <a:rPr lang="zh-CN" altLang="en-US" dirty="0"/>
              <a:t>根据性状的相对重要性顺序排列进行选择</a:t>
            </a:r>
            <a:r>
              <a:rPr lang="en-US" altLang="zh-CN" dirty="0"/>
              <a:t>”</a:t>
            </a:r>
            <a:r>
              <a:rPr lang="zh-CN" altLang="en-US" dirty="0"/>
              <a:t>、</a:t>
            </a:r>
            <a:r>
              <a:rPr lang="en-US" altLang="zh-CN" dirty="0"/>
              <a:t>“</a:t>
            </a:r>
            <a:r>
              <a:rPr lang="zh-CN" altLang="en-US" dirty="0"/>
              <a:t>先按第一重要性状进行选择，然后在入选株内按第二重要性状进行选择</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项：将需要鉴定的多个性状分别规定最低的入选标准，将低于入选标准的淘汰，没有明确体现性状的重要性顺序，并非按照性状的相对重要性顺序排列进行选择，不符合</a:t>
            </a:r>
            <a:r>
              <a:rPr lang="en-US" altLang="zh-CN" dirty="0"/>
              <a:t>“</a:t>
            </a:r>
            <a:r>
              <a:rPr lang="zh-CN" altLang="en-US" dirty="0"/>
              <a:t>根据性状的相对重要性顺序排列进行选择</a:t>
            </a:r>
            <a:r>
              <a:rPr lang="en-US" altLang="zh-CN" dirty="0"/>
              <a:t>”</a:t>
            </a:r>
            <a:r>
              <a:rPr lang="zh-CN" altLang="en-US" dirty="0"/>
              <a:t>、</a:t>
            </a:r>
            <a:r>
              <a:rPr lang="en-US" altLang="zh-CN" dirty="0"/>
              <a:t>“</a:t>
            </a:r>
            <a:r>
              <a:rPr lang="zh-CN" altLang="en-US" dirty="0"/>
              <a:t>先按第一重要性状进行选择，然后在入选株内按第二重要性状进行选择</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 </a:t>
            </a:r>
            <a:r>
              <a:rPr lang="zh-CN" altLang="en-US" dirty="0"/>
              <a:t>依据是性状出现的先后顺序，而非性状的相对重要性顺序，不符合定义的核心依据。</a:t>
            </a:r>
            <a:r>
              <a:rPr lang="en-US" altLang="en-US" dirty="0"/>
              <a:t>→</a:t>
            </a:r>
            <a:r>
              <a:rPr lang="en-US" altLang="zh-CN" dirty="0"/>
              <a:t> </a:t>
            </a:r>
            <a:r>
              <a:rPr lang="zh-CN" altLang="en-US" dirty="0"/>
              <a:t>不属于。</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第一步：按</a:t>
            </a:r>
            <a:r>
              <a:rPr lang="en-US" altLang="zh-CN" dirty="0"/>
              <a:t> ** </a:t>
            </a:r>
            <a:r>
              <a:rPr lang="zh-CN" altLang="en-US" dirty="0"/>
              <a:t>第一重要性状（无病）</a:t>
            </a:r>
            <a:r>
              <a:rPr lang="en-US" altLang="zh-CN" dirty="0"/>
              <a:t>** </a:t>
            </a:r>
            <a:r>
              <a:rPr lang="zh-CN" altLang="en-US" dirty="0"/>
              <a:t>全群初选；第二步：在已入选的无病株内，按</a:t>
            </a:r>
            <a:r>
              <a:rPr lang="en-US" altLang="zh-CN" dirty="0"/>
              <a:t> ** </a:t>
            </a:r>
            <a:r>
              <a:rPr lang="zh-CN" altLang="en-US" dirty="0"/>
              <a:t>第二重要性状（丰产性</a:t>
            </a:r>
            <a:r>
              <a:rPr lang="en-US" altLang="zh-CN" dirty="0"/>
              <a:t> / </a:t>
            </a:r>
            <a:r>
              <a:rPr lang="zh-CN" altLang="en-US" dirty="0"/>
              <a:t>产量）</a:t>
            </a:r>
            <a:r>
              <a:rPr lang="en-US" altLang="zh-CN" dirty="0"/>
              <a:t>** </a:t>
            </a:r>
            <a:r>
              <a:rPr lang="zh-CN" altLang="en-US" dirty="0"/>
              <a:t>再选；后续继续顺次累进，完全符合</a:t>
            </a:r>
            <a:r>
              <a:rPr lang="en-US" altLang="zh-CN" dirty="0"/>
              <a:t> “</a:t>
            </a:r>
            <a:r>
              <a:rPr lang="zh-CN" altLang="en-US" dirty="0"/>
              <a:t>按重要性、在入选株内顺次选择</a:t>
            </a:r>
            <a:r>
              <a:rPr lang="en-US" altLang="zh-CN" dirty="0"/>
              <a:t>” </a:t>
            </a:r>
            <a:r>
              <a:rPr lang="zh-CN" altLang="en-US" dirty="0"/>
              <a:t>的定义。</a:t>
            </a:r>
            <a:r>
              <a:rPr lang="en-US" altLang="en-US" dirty="0"/>
              <a:t>→</a:t>
            </a:r>
            <a:r>
              <a:rPr lang="en-US" altLang="zh-CN" dirty="0"/>
              <a:t> </a:t>
            </a:r>
            <a:r>
              <a:rPr lang="zh-CN" altLang="en-US" dirty="0"/>
              <a:t>属于分项累进淘汰法。</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 </a:t>
            </a:r>
            <a:r>
              <a:rPr lang="zh-CN" altLang="en-US" dirty="0"/>
              <a:t>只分</a:t>
            </a:r>
            <a:r>
              <a:rPr lang="en-US" altLang="zh-CN" dirty="0"/>
              <a:t> “</a:t>
            </a:r>
            <a:r>
              <a:rPr lang="zh-CN" altLang="en-US" dirty="0"/>
              <a:t>初选</a:t>
            </a:r>
            <a:r>
              <a:rPr lang="en-US" altLang="zh-CN" dirty="0"/>
              <a:t> — </a:t>
            </a:r>
            <a:r>
              <a:rPr lang="zh-CN" altLang="en-US" dirty="0"/>
              <a:t>复选</a:t>
            </a:r>
            <a:r>
              <a:rPr lang="en-US" altLang="zh-CN" dirty="0"/>
              <a:t>” </a:t>
            </a:r>
            <a:r>
              <a:rPr lang="zh-CN" altLang="en-US" dirty="0"/>
              <a:t>两步，且第二步是综合性状，不是按单个重要性状顺次累进，不符合</a:t>
            </a:r>
            <a:r>
              <a:rPr lang="en-US" altLang="zh-CN" dirty="0"/>
              <a:t> “</a:t>
            </a:r>
            <a:r>
              <a:rPr lang="zh-CN" altLang="en-US" dirty="0"/>
              <a:t>依此顺次累进</a:t>
            </a:r>
            <a:r>
              <a:rPr lang="en-US" altLang="zh-CN" dirty="0"/>
              <a:t>” </a:t>
            </a:r>
            <a:r>
              <a:rPr lang="zh-CN" altLang="en-US" dirty="0"/>
              <a:t>的要求。</a:t>
            </a:r>
            <a:r>
              <a:rPr lang="en-US" altLang="en-US" dirty="0"/>
              <a:t>→</a:t>
            </a:r>
            <a:r>
              <a:rPr lang="en-US" altLang="zh-CN" dirty="0"/>
              <a:t> </a:t>
            </a:r>
            <a:r>
              <a:rPr lang="zh-CN" altLang="en-US" dirty="0"/>
              <a:t>不属于。</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这是多性状独立标准、一次性</a:t>
            </a:r>
            <a:r>
              <a:rPr lang="en-US" altLang="zh-CN" dirty="0"/>
              <a:t> / </a:t>
            </a:r>
            <a:r>
              <a:rPr lang="zh-CN" altLang="en-US" dirty="0"/>
              <a:t>并行淘汰，不是</a:t>
            </a:r>
            <a:r>
              <a:rPr lang="en-US" altLang="zh-CN" dirty="0"/>
              <a:t> “</a:t>
            </a:r>
            <a:r>
              <a:rPr lang="zh-CN" altLang="en-US" dirty="0"/>
              <a:t>先按第一性状选，再在入选株内按第二性状选</a:t>
            </a:r>
            <a:r>
              <a:rPr lang="en-US" altLang="zh-CN" dirty="0"/>
              <a:t>” </a:t>
            </a:r>
            <a:r>
              <a:rPr lang="zh-CN" altLang="en-US" dirty="0"/>
              <a:t>的递进方式。</a:t>
            </a:r>
            <a:r>
              <a:rPr lang="en-US" altLang="en-US" dirty="0"/>
              <a:t>→</a:t>
            </a:r>
            <a:r>
              <a:rPr lang="en-US" altLang="zh-CN" dirty="0"/>
              <a:t> </a:t>
            </a:r>
            <a:r>
              <a:rPr lang="zh-CN" altLang="en-US" dirty="0"/>
              <a:t>不属于。</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96.</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经年</a:t>
            </a:r>
            <a:r>
              <a:rPr lang="en-US" altLang="zh-CN" dirty="0"/>
              <a:t>”</a:t>
            </a:r>
            <a:r>
              <a:rPr lang="zh-CN" altLang="en-US" dirty="0"/>
              <a:t>指经过一年或若干年，</a:t>
            </a:r>
            <a:r>
              <a:rPr lang="en-US" altLang="zh-CN" dirty="0"/>
              <a:t>“</a:t>
            </a:r>
            <a:r>
              <a:rPr lang="zh-CN" altLang="en-US" dirty="0"/>
              <a:t>积岁</a:t>
            </a:r>
            <a:r>
              <a:rPr lang="en-US" altLang="zh-CN" dirty="0"/>
              <a:t>”</a:t>
            </a:r>
            <a:r>
              <a:rPr lang="zh-CN" altLang="en-US" dirty="0"/>
              <a:t>指累积多年，二者均可指经过多年，为近义关系。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t>
            </a:r>
            <a:r>
              <a:rPr lang="zh-CN" altLang="en-US" dirty="0"/>
              <a:t>经年</a:t>
            </a:r>
            <a:r>
              <a:rPr lang="en-US" altLang="zh-CN" dirty="0"/>
              <a:t>” </a:t>
            </a:r>
            <a:r>
              <a:rPr lang="zh-CN" altLang="en-US" dirty="0"/>
              <a:t>与</a:t>
            </a:r>
            <a:r>
              <a:rPr lang="en-US" altLang="zh-CN" dirty="0"/>
              <a:t> “</a:t>
            </a:r>
            <a:r>
              <a:rPr lang="zh-CN" altLang="en-US" dirty="0"/>
              <a:t>积岁</a:t>
            </a:r>
            <a:r>
              <a:rPr lang="en-US" altLang="zh-CN" dirty="0"/>
              <a:t>” </a:t>
            </a:r>
            <a:r>
              <a:rPr lang="zh-CN" altLang="en-US" dirty="0"/>
              <a:t>均指</a:t>
            </a:r>
            <a:r>
              <a:rPr lang="en-US" altLang="zh-CN" dirty="0"/>
              <a:t> “</a:t>
            </a:r>
            <a:r>
              <a:rPr lang="zh-CN" altLang="en-US" dirty="0"/>
              <a:t>经过多年、长年累月</a:t>
            </a:r>
            <a:r>
              <a:rPr lang="en-US" altLang="zh-CN" dirty="0"/>
              <a:t>”</a:t>
            </a:r>
            <a:r>
              <a:rPr lang="zh-CN" altLang="en-US" dirty="0"/>
              <a:t>，含义完全相同，属于全同关系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a:t>
            </a:r>
            <a:r>
              <a:rPr lang="en-US" altLang="zh-CN" dirty="0"/>
              <a:t>“</a:t>
            </a:r>
            <a:r>
              <a:rPr lang="zh-CN" altLang="en-US" dirty="0"/>
              <a:t>善本</a:t>
            </a:r>
            <a:r>
              <a:rPr lang="en-US" altLang="zh-CN" dirty="0"/>
              <a:t>”</a:t>
            </a:r>
            <a:r>
              <a:rPr lang="zh-CN" altLang="en-US" dirty="0"/>
              <a:t>指古代书籍中文字讹误较少、学术或艺术价值上比一般本子优异的刻本或写本，</a:t>
            </a:r>
            <a:r>
              <a:rPr lang="en-US" altLang="zh-CN" dirty="0"/>
              <a:t>“</a:t>
            </a:r>
            <a:r>
              <a:rPr lang="zh-CN" altLang="en-US" dirty="0"/>
              <a:t>版本</a:t>
            </a:r>
            <a:r>
              <a:rPr lang="en-US" altLang="zh-CN" dirty="0"/>
              <a:t>”</a:t>
            </a:r>
            <a:r>
              <a:rPr lang="zh-CN" altLang="en-US" dirty="0"/>
              <a:t>指同一部书因编辑、传抄、刻版、排版或装订形式等的不同而产生的不同的本子，</a:t>
            </a:r>
            <a:r>
              <a:rPr lang="en-US" altLang="zh-CN" dirty="0"/>
              <a:t>“</a:t>
            </a:r>
            <a:r>
              <a:rPr lang="zh-CN" altLang="en-US" dirty="0"/>
              <a:t>善本</a:t>
            </a:r>
            <a:r>
              <a:rPr lang="en-US" altLang="zh-CN" dirty="0"/>
              <a:t>”</a:t>
            </a:r>
            <a:r>
              <a:rPr lang="zh-CN" altLang="en-US" dirty="0"/>
              <a:t>是</a:t>
            </a:r>
            <a:r>
              <a:rPr lang="en-US" altLang="zh-CN" dirty="0"/>
              <a:t>“</a:t>
            </a:r>
            <a:r>
              <a:rPr lang="zh-CN" altLang="en-US" dirty="0"/>
              <a:t>版本</a:t>
            </a:r>
            <a:r>
              <a:rPr lang="en-US" altLang="zh-CN" dirty="0"/>
              <a:t>”</a:t>
            </a:r>
            <a:r>
              <a:rPr lang="zh-CN" altLang="en-US" dirty="0"/>
              <a:t>的一种类型，二者不是近义关系，与题干逻辑关系不一致，排除；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善本是</a:t>
            </a:r>
            <a:r>
              <a:rPr lang="en-US" altLang="zh-CN" dirty="0"/>
              <a:t> “</a:t>
            </a:r>
            <a:r>
              <a:rPr lang="zh-CN" altLang="en-US" dirty="0"/>
              <a:t>经过精心校勘、流传稀少的珍贵版本</a:t>
            </a:r>
            <a:r>
              <a:rPr lang="en-US" altLang="zh-CN" dirty="0"/>
              <a:t>”</a:t>
            </a:r>
            <a:r>
              <a:rPr lang="zh-CN" altLang="en-US" dirty="0"/>
              <a:t>，是</a:t>
            </a:r>
            <a:r>
              <a:rPr lang="en-US" altLang="zh-CN" dirty="0"/>
              <a:t> “</a:t>
            </a:r>
            <a:r>
              <a:rPr lang="zh-CN" altLang="en-US" dirty="0"/>
              <a:t>版本</a:t>
            </a:r>
            <a:r>
              <a:rPr lang="en-US" altLang="zh-CN" dirty="0"/>
              <a:t>” </a:t>
            </a:r>
            <a:r>
              <a:rPr lang="zh-CN" altLang="en-US" dirty="0"/>
              <a:t>的一种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a:t>
            </a:r>
            <a:r>
              <a:rPr lang="en-US" altLang="zh-CN" dirty="0"/>
              <a:t>“</a:t>
            </a:r>
            <a:r>
              <a:rPr lang="zh-CN" altLang="en-US" dirty="0"/>
              <a:t>秘方</a:t>
            </a:r>
            <a:r>
              <a:rPr lang="en-US" altLang="zh-CN" dirty="0"/>
              <a:t>”</a:t>
            </a:r>
            <a:r>
              <a:rPr lang="zh-CN" altLang="en-US" dirty="0"/>
              <a:t>指不公开的有显著医疗效果的药方，</a:t>
            </a:r>
            <a:r>
              <a:rPr lang="en-US" altLang="zh-CN" dirty="0"/>
              <a:t>“</a:t>
            </a:r>
            <a:r>
              <a:rPr lang="zh-CN" altLang="en-US" dirty="0"/>
              <a:t>偏方</a:t>
            </a:r>
            <a:r>
              <a:rPr lang="en-US" altLang="zh-CN" dirty="0"/>
              <a:t>”</a:t>
            </a:r>
            <a:r>
              <a:rPr lang="zh-CN" altLang="en-US" dirty="0"/>
              <a:t>指民间流传不见于古典医学著作的中药方，前者从是否公开角度划分，后者从是否正规角度划分，二者为交叉关系，与题干逻辑关系不一致，排除；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秘方侧重</a:t>
            </a:r>
            <a:r>
              <a:rPr lang="en-US" altLang="zh-CN" dirty="0"/>
              <a:t> “</a:t>
            </a:r>
            <a:r>
              <a:rPr lang="zh-CN" altLang="en-US" dirty="0"/>
              <a:t>秘密传承的配方</a:t>
            </a:r>
            <a:r>
              <a:rPr lang="en-US" altLang="zh-CN" dirty="0"/>
              <a:t>”</a:t>
            </a:r>
            <a:r>
              <a:rPr lang="zh-CN" altLang="en-US" dirty="0"/>
              <a:t>，偏方侧重</a:t>
            </a:r>
            <a:r>
              <a:rPr lang="en-US" altLang="zh-CN" dirty="0"/>
              <a:t> “</a:t>
            </a:r>
            <a:r>
              <a:rPr lang="zh-CN" altLang="en-US" dirty="0"/>
              <a:t>民间流传的非正统配方</a:t>
            </a:r>
            <a:r>
              <a:rPr lang="en-US" altLang="zh-CN" dirty="0"/>
              <a:t>”</a:t>
            </a:r>
            <a:r>
              <a:rPr lang="zh-CN" altLang="en-US" dirty="0"/>
              <a:t>，部分秘方可能是偏方，部分偏方可能是秘方，语义有重叠但非完全相同</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a:t>
            </a:r>
            <a:r>
              <a:rPr lang="en-US" altLang="zh-CN" dirty="0"/>
              <a:t>“</a:t>
            </a:r>
            <a:r>
              <a:rPr lang="zh-CN" altLang="en-US" dirty="0"/>
              <a:t>仲夏</a:t>
            </a:r>
            <a:r>
              <a:rPr lang="en-US" altLang="zh-CN" dirty="0"/>
              <a:t>”</a:t>
            </a:r>
            <a:r>
              <a:rPr lang="zh-CN" altLang="en-US" dirty="0"/>
              <a:t>指夏季的第二个月，是</a:t>
            </a:r>
            <a:r>
              <a:rPr lang="en-US" altLang="zh-CN" dirty="0"/>
              <a:t>“</a:t>
            </a:r>
            <a:r>
              <a:rPr lang="zh-CN" altLang="en-US" dirty="0"/>
              <a:t>夏季</a:t>
            </a:r>
            <a:r>
              <a:rPr lang="en-US" altLang="zh-CN" dirty="0"/>
              <a:t>”</a:t>
            </a:r>
            <a:r>
              <a:rPr lang="zh-CN" altLang="en-US" dirty="0"/>
              <a:t>的一部分，二者为组成关系，夏季的三个月分别称之为孟夏、仲夏、季夏，与题干逻辑关系不一致，排除；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a:t>
            </a:r>
            <a:r>
              <a:rPr lang="en-US" altLang="zh-CN" dirty="0"/>
              <a:t>“</a:t>
            </a:r>
            <a:r>
              <a:rPr lang="zh-CN" altLang="en-US" dirty="0"/>
              <a:t>黎民</a:t>
            </a:r>
            <a:r>
              <a:rPr lang="en-US" altLang="zh-CN" dirty="0"/>
              <a:t>”</a:t>
            </a:r>
            <a:r>
              <a:rPr lang="zh-CN" altLang="en-US" dirty="0"/>
              <a:t>指平民、民众，</a:t>
            </a:r>
            <a:r>
              <a:rPr lang="en-US" altLang="zh-CN" dirty="0"/>
              <a:t>“</a:t>
            </a:r>
            <a:r>
              <a:rPr lang="zh-CN" altLang="en-US" dirty="0"/>
              <a:t>百姓</a:t>
            </a:r>
            <a:r>
              <a:rPr lang="en-US" altLang="zh-CN" dirty="0"/>
              <a:t>”</a:t>
            </a:r>
            <a:r>
              <a:rPr lang="zh-CN" altLang="en-US" dirty="0"/>
              <a:t>指军人和官员以外的人，二者均可指普通民众，为近义关系，与题干逻辑关系一致，当选。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两者均指</a:t>
            </a:r>
            <a:r>
              <a:rPr lang="en-US" altLang="zh-CN" dirty="0"/>
              <a:t> “</a:t>
            </a:r>
            <a:r>
              <a:rPr lang="zh-CN" altLang="en-US" dirty="0"/>
              <a:t>普通民众、平民</a:t>
            </a:r>
            <a:r>
              <a:rPr lang="en-US" altLang="zh-CN" dirty="0"/>
              <a:t>”</a:t>
            </a:r>
            <a:r>
              <a:rPr lang="zh-CN" altLang="en-US" dirty="0"/>
              <a:t>，含义完全相同，是典型的近义词（全同关系）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97.</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解析：唾液是口腔的分泌物，前两词是对应关系，淀粉酶是唾液的组成成分，后两词是组成关系。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口腔分泌唾液（分泌的体液，属于口腔功能相关的组成部分），唾液中含有淀粉酶（核心功能物质，负责分解淀粉）；三者关系可简化为：「整体」存在「特定组成部分」，该部分的核心功能由「某类物质」实现。</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项：孜然是一种常用的中草药，其种子可以制作为调味品，与题干逻辑关系不一致，排除；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孜然是种子的一种，孜然种子是调味品的一类（种属关系叠加），孜然的食用部分本质是伞形科孜然芹属植物的干燥成熟种子（日常也常被称为</a:t>
            </a:r>
            <a:r>
              <a:rPr lang="en-US" altLang="zh-CN" dirty="0"/>
              <a:t> “</a:t>
            </a:r>
            <a:r>
              <a:rPr lang="zh-CN" altLang="en-US" dirty="0"/>
              <a:t>孜然粒</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项：叶肉是叶片的组成部分，前两词是组成关系，与题干逻辑关系不一致，排除；叶片（整体器官）包含叶肉（核心组成部分），叶肉中含有叶绿体（核心功能物质，负责光合作用）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项：松脂是松树的分泌物，前两词是对应关系，树脂醇是松脂的组成成分，后两词是组成关系，与题干逻辑关系一致，当选；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松脂是松树分泌的产物（非</a:t>
            </a:r>
            <a:r>
              <a:rPr lang="en-US" altLang="zh-CN" dirty="0"/>
              <a:t> “</a:t>
            </a:r>
            <a:r>
              <a:rPr lang="zh-CN" altLang="en-US" dirty="0"/>
              <a:t>组成部分</a:t>
            </a:r>
            <a:r>
              <a:rPr lang="en-US" altLang="zh-CN" dirty="0"/>
              <a:t>”</a:t>
            </a:r>
            <a:r>
              <a:rPr lang="zh-CN" altLang="en-US" dirty="0"/>
              <a:t>），树脂醇是松脂的化学成分（产物与成分关系）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项：试纸是一种浸渍化学试剂的纸质检测工具，试剂和试纸是配套使用的对应关系，与题干逻辑关系不一致，排除。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试纸是检测试剂的工具，</a:t>
            </a:r>
            <a:r>
              <a:rPr lang="en-US" altLang="zh-CN" dirty="0"/>
              <a:t>pH </a:t>
            </a:r>
            <a:r>
              <a:rPr lang="zh-CN" altLang="en-US" dirty="0"/>
              <a:t>试纸是试纸的一种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98.</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解析：护患比</a:t>
            </a:r>
            <a:r>
              <a:rPr lang="en-US" altLang="zh-CN" dirty="0"/>
              <a:t>=</a:t>
            </a:r>
            <a:r>
              <a:rPr lang="zh-CN" altLang="en-US" dirty="0"/>
              <a:t>护士人数</a:t>
            </a:r>
            <a:r>
              <a:rPr lang="en-US" altLang="zh-CN" dirty="0"/>
              <a:t>/</a:t>
            </a:r>
            <a:r>
              <a:rPr lang="zh-CN" altLang="en-US" dirty="0"/>
              <a:t>患者人数，三者满足公式关系。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项：平均理赔金额</a:t>
            </a:r>
            <a:r>
              <a:rPr lang="en-US" altLang="zh-CN" dirty="0"/>
              <a:t>=</a:t>
            </a:r>
            <a:r>
              <a:rPr lang="zh-CN" altLang="en-US" dirty="0"/>
              <a:t>理赔总额</a:t>
            </a:r>
            <a:r>
              <a:rPr lang="en-US" altLang="zh-CN" dirty="0"/>
              <a:t>/</a:t>
            </a:r>
            <a:r>
              <a:rPr lang="zh-CN" altLang="en-US" dirty="0"/>
              <a:t>理赔次数，与题干逻辑关系一致，当选；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项：签收率</a:t>
            </a:r>
            <a:r>
              <a:rPr lang="en-US" altLang="zh-CN" dirty="0"/>
              <a:t>=</a:t>
            </a:r>
            <a:r>
              <a:rPr lang="zh-CN" altLang="en-US" dirty="0"/>
              <a:t>实际签收数量</a:t>
            </a:r>
            <a:r>
              <a:rPr lang="en-US" altLang="zh-CN" dirty="0"/>
              <a:t>/</a:t>
            </a:r>
            <a:r>
              <a:rPr lang="zh-CN" altLang="en-US" dirty="0"/>
              <a:t>应签收数量，但词语顺序与题干不一致，排除；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项：流动比率</a:t>
            </a:r>
            <a:r>
              <a:rPr lang="en-US" altLang="zh-CN" dirty="0"/>
              <a:t>=</a:t>
            </a:r>
            <a:r>
              <a:rPr lang="zh-CN" altLang="en-US" dirty="0"/>
              <a:t>流动资产</a:t>
            </a:r>
            <a:r>
              <a:rPr lang="en-US" altLang="zh-CN" dirty="0"/>
              <a:t>/</a:t>
            </a:r>
            <a:r>
              <a:rPr lang="zh-CN" altLang="en-US" dirty="0"/>
              <a:t>流动负债，但词语顺序与题干不一致，排除；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项：入住率</a:t>
            </a:r>
            <a:r>
              <a:rPr lang="en-US" altLang="zh-CN" dirty="0"/>
              <a:t>=</a:t>
            </a:r>
            <a:r>
              <a:rPr lang="zh-CN" altLang="en-US" dirty="0"/>
              <a:t>入住客房数</a:t>
            </a:r>
            <a:r>
              <a:rPr lang="en-US" altLang="zh-CN" dirty="0"/>
              <a:t>/</a:t>
            </a:r>
            <a:r>
              <a:rPr lang="zh-CN" altLang="en-US" dirty="0"/>
              <a:t>客房数，而入住客房数</a:t>
            </a:r>
            <a:r>
              <a:rPr lang="en-US" altLang="zh-CN" dirty="0"/>
              <a:t>≠</a:t>
            </a:r>
            <a:r>
              <a:rPr lang="zh-CN" altLang="en-US" dirty="0"/>
              <a:t>旅客数，每间客房入住的旅客数可能不同，与题干逻辑关系不一致，排除。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99.</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a:t>
            </a:r>
            <a:r>
              <a:rPr lang="zh-CN" altLang="en-US" dirty="0"/>
              <a:t>项：颅内感染是颅内疾病的一种，二者为种属关系；岩石熔融和岩石断裂是两种不同的地质现象，二者为并列关系，前后逻辑关系不一致，排除；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项：颅内疾病是机体疾病的一种，二者为种属关系；地壳应力是导致岩石断裂的原因，二者为因果关系，前后逻辑关系不一致，排除；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项：核磁共振是可以用来诊断颅内疾病的工具，二者为诊断工具与疾病的对应关系；地下采样可以用来研究岩石断裂，但二者不是诊断工具与疾病的对应关系，前后逻辑关系不一致，排除；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项：颅内疾病会导致视野缺失，二者为因果对应关系；冰川运动会导致岩石断裂，二者为因果对应关系，前后逻辑关系一致，当选。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地壳应力是地球内部及地壳岩石之间相互作用产生的内应力，是地壳运动、地震、地质灾害（如滑坡、岩爆）的核心驱动力，也是地质工程、地震学等领域的基础概念。</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岩石熔融是固态岩石在特定物理化学条件下转变为岩浆（熔融态硅酸盐物质）的过程，是岩浆形成、火山活动、地壳演化的核心环节，也是地质学基础考点。</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100.</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解析：根据题干图形可知，</a:t>
            </a:r>
            <a:r>
              <a:rPr lang="en-US" altLang="en-US" dirty="0"/>
              <a:t>①</a:t>
            </a:r>
            <a:r>
              <a:rPr lang="zh-CN" altLang="en-US" dirty="0"/>
              <a:t>和</a:t>
            </a:r>
            <a:r>
              <a:rPr lang="en-US" altLang="en-US" dirty="0"/>
              <a:t>②</a:t>
            </a:r>
            <a:r>
              <a:rPr lang="zh-CN" altLang="en-US" dirty="0"/>
              <a:t>是交叉关系；</a:t>
            </a:r>
            <a:r>
              <a:rPr lang="en-US" altLang="en-US" dirty="0"/>
              <a:t>③</a:t>
            </a:r>
            <a:r>
              <a:rPr lang="zh-CN" altLang="en-US" dirty="0"/>
              <a:t>属于</a:t>
            </a:r>
            <a:r>
              <a:rPr lang="en-US" altLang="en-US" dirty="0"/>
              <a:t>①</a:t>
            </a:r>
            <a:r>
              <a:rPr lang="zh-CN" altLang="en-US" dirty="0"/>
              <a:t>，</a:t>
            </a:r>
            <a:r>
              <a:rPr lang="en-US" altLang="en-US" dirty="0"/>
              <a:t>③</a:t>
            </a:r>
            <a:r>
              <a:rPr lang="zh-CN" altLang="en-US" dirty="0"/>
              <a:t>和</a:t>
            </a:r>
            <a:r>
              <a:rPr lang="en-US" altLang="en-US" dirty="0"/>
              <a:t>①</a:t>
            </a:r>
            <a:r>
              <a:rPr lang="zh-CN" altLang="en-US" dirty="0"/>
              <a:t>是种属关系；</a:t>
            </a:r>
            <a:r>
              <a:rPr lang="en-US" altLang="en-US" dirty="0"/>
              <a:t>③</a:t>
            </a:r>
            <a:r>
              <a:rPr lang="zh-CN" altLang="en-US" dirty="0"/>
              <a:t>属于</a:t>
            </a:r>
            <a:r>
              <a:rPr lang="en-US" altLang="en-US" dirty="0"/>
              <a:t>②</a:t>
            </a:r>
            <a:r>
              <a:rPr lang="zh-CN" altLang="en-US" dirty="0"/>
              <a:t>，</a:t>
            </a:r>
            <a:r>
              <a:rPr lang="en-US" altLang="en-US" dirty="0"/>
              <a:t>③</a:t>
            </a:r>
            <a:r>
              <a:rPr lang="zh-CN" altLang="en-US" dirty="0"/>
              <a:t>和</a:t>
            </a:r>
            <a:r>
              <a:rPr lang="en-US" altLang="en-US" dirty="0"/>
              <a:t>②</a:t>
            </a:r>
            <a:r>
              <a:rPr lang="zh-CN" altLang="en-US" dirty="0"/>
              <a:t>是种属关系。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项：航空母舰（</a:t>
            </a:r>
            <a:r>
              <a:rPr lang="en-US" altLang="en-US" dirty="0"/>
              <a:t>③</a:t>
            </a:r>
            <a:r>
              <a:rPr lang="zh-CN" altLang="en-US" dirty="0"/>
              <a:t>）是指军队专用的机动船只，与非机动船（</a:t>
            </a:r>
            <a:r>
              <a:rPr lang="en-US" altLang="en-US" dirty="0"/>
              <a:t>②</a:t>
            </a:r>
            <a:r>
              <a:rPr lang="zh-CN" altLang="en-US" dirty="0"/>
              <a:t>）不是种属关系，与题干逻辑关系不一致，排除；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项：落叶树（</a:t>
            </a:r>
            <a:r>
              <a:rPr lang="en-US" altLang="en-US" dirty="0"/>
              <a:t>①</a:t>
            </a:r>
            <a:r>
              <a:rPr lang="zh-CN" altLang="en-US" dirty="0"/>
              <a:t>）和乔木（</a:t>
            </a:r>
            <a:r>
              <a:rPr lang="en-US" altLang="en-US" dirty="0"/>
              <a:t>②</a:t>
            </a:r>
            <a:r>
              <a:rPr lang="zh-CN" altLang="en-US" dirty="0"/>
              <a:t>）是交叉关系；水杉（</a:t>
            </a:r>
            <a:r>
              <a:rPr lang="en-US" altLang="en-US" dirty="0"/>
              <a:t>③</a:t>
            </a:r>
            <a:r>
              <a:rPr lang="zh-CN" altLang="en-US" dirty="0"/>
              <a:t>）属于落叶树（</a:t>
            </a:r>
            <a:r>
              <a:rPr lang="en-US" altLang="en-US" dirty="0"/>
              <a:t>①</a:t>
            </a:r>
            <a:r>
              <a:rPr lang="zh-CN" altLang="en-US" dirty="0"/>
              <a:t>），</a:t>
            </a:r>
            <a:r>
              <a:rPr lang="en-US" altLang="en-US" dirty="0"/>
              <a:t>③</a:t>
            </a:r>
            <a:r>
              <a:rPr lang="zh-CN" altLang="en-US" dirty="0"/>
              <a:t>和</a:t>
            </a:r>
            <a:r>
              <a:rPr lang="en-US" altLang="en-US" dirty="0"/>
              <a:t>①</a:t>
            </a:r>
            <a:r>
              <a:rPr lang="zh-CN" altLang="en-US" dirty="0"/>
              <a:t>是种属关系；水杉（</a:t>
            </a:r>
            <a:r>
              <a:rPr lang="en-US" altLang="en-US" dirty="0"/>
              <a:t>③</a:t>
            </a:r>
            <a:r>
              <a:rPr lang="zh-CN" altLang="en-US" dirty="0"/>
              <a:t>）属于乔木（</a:t>
            </a:r>
            <a:r>
              <a:rPr lang="en-US" altLang="en-US" dirty="0"/>
              <a:t>②</a:t>
            </a:r>
            <a:r>
              <a:rPr lang="zh-CN" altLang="en-US" dirty="0"/>
              <a:t>），</a:t>
            </a:r>
            <a:r>
              <a:rPr lang="en-US" altLang="en-US" dirty="0"/>
              <a:t>③</a:t>
            </a:r>
            <a:r>
              <a:rPr lang="zh-CN" altLang="en-US" dirty="0"/>
              <a:t>和</a:t>
            </a:r>
            <a:r>
              <a:rPr lang="en-US" altLang="en-US" dirty="0"/>
              <a:t>②</a:t>
            </a:r>
            <a:r>
              <a:rPr lang="zh-CN" altLang="en-US" dirty="0"/>
              <a:t>是种属关系，与题干逻辑关系一致，当选；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项：少儿读物（</a:t>
            </a:r>
            <a:r>
              <a:rPr lang="en-US" altLang="en-US" dirty="0"/>
              <a:t>③</a:t>
            </a:r>
            <a:r>
              <a:rPr lang="zh-CN" altLang="en-US" dirty="0"/>
              <a:t>）和电子书（</a:t>
            </a:r>
            <a:r>
              <a:rPr lang="en-US" altLang="en-US" dirty="0"/>
              <a:t>②</a:t>
            </a:r>
            <a:r>
              <a:rPr lang="zh-CN" altLang="en-US" dirty="0"/>
              <a:t>）是交叉关系，不是种属关系，与题干逻辑关系不一致，排除；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项：中国国家一级保护野生动物（</a:t>
            </a:r>
            <a:r>
              <a:rPr lang="en-US" altLang="en-US" dirty="0"/>
              <a:t>③</a:t>
            </a:r>
            <a:r>
              <a:rPr lang="zh-CN" altLang="en-US" dirty="0"/>
              <a:t>）和哺乳动物（</a:t>
            </a:r>
            <a:r>
              <a:rPr lang="en-US" altLang="en-US" dirty="0"/>
              <a:t>①</a:t>
            </a:r>
            <a:r>
              <a:rPr lang="zh-CN" altLang="en-US" dirty="0"/>
              <a:t>）是交叉关系，不是种属关系，与题干逻辑关系不一致，排除。保护动物，哺乳类大熊猫东北虎穿山甲，</a:t>
            </a:r>
            <a:r>
              <a:rPr lang="en-US" altLang="zh-CN" dirty="0"/>
              <a:t> </a:t>
            </a:r>
            <a:r>
              <a:rPr lang="zh-CN" altLang="en-US" dirty="0"/>
              <a:t>鸟类绿孔雀丹顶鹤，爬行类扬子鳄，两栖类安吉小鲵，硬骨鱼纲，中华鲟</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落叶木（按叶的生命周期）</a:t>
            </a:r>
            <a:r>
              <a:rPr lang="en-US" altLang="zh-CN" dirty="0"/>
              <a:t>	</a:t>
            </a:r>
            <a:r>
              <a:rPr lang="zh-CN" altLang="en-US" dirty="0"/>
              <a:t>秋冬季节叶片脱落，来年重新萌发新叶的树木</a:t>
            </a:r>
            <a:r>
              <a:rPr lang="en-US" altLang="zh-CN" dirty="0"/>
              <a:t>	</a:t>
            </a:r>
            <a:r>
              <a:rPr lang="zh-CN" altLang="en-US" dirty="0"/>
              <a:t>杨树、柳树、苹果树、悬铃木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乔木（按植株形态</a:t>
            </a:r>
            <a:r>
              <a:rPr lang="en-US" altLang="zh-CN" dirty="0"/>
              <a:t> / </a:t>
            </a:r>
            <a:r>
              <a:rPr lang="zh-CN" altLang="en-US" dirty="0"/>
              <a:t>高度）</a:t>
            </a:r>
            <a:r>
              <a:rPr lang="en-US" altLang="zh-CN" dirty="0"/>
              <a:t>	</a:t>
            </a:r>
            <a:r>
              <a:rPr lang="zh-CN" altLang="en-US" dirty="0"/>
              <a:t>具有明显主干，树干高大（通常</a:t>
            </a:r>
            <a:r>
              <a:rPr lang="en-US" altLang="zh-CN" dirty="0"/>
              <a:t>≥6 </a:t>
            </a:r>
            <a:r>
              <a:rPr lang="zh-CN" altLang="en-US" dirty="0"/>
              <a:t>米）的树木</a:t>
            </a:r>
            <a:r>
              <a:rPr lang="en-US" altLang="zh-CN" dirty="0"/>
              <a:t>	</a:t>
            </a:r>
            <a:r>
              <a:rPr lang="zh-CN" altLang="en-US" dirty="0"/>
              <a:t>杨树、松树、樟树、红杉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是落叶木</a:t>
            </a:r>
            <a:r>
              <a:rPr lang="en-US" altLang="zh-CN" dirty="0"/>
              <a:t> + </a:t>
            </a:r>
            <a:r>
              <a:rPr lang="zh-CN" altLang="en-US" dirty="0"/>
              <a:t>是乔木</a:t>
            </a:r>
            <a:r>
              <a:rPr lang="en-US" altLang="zh-CN" dirty="0"/>
              <a:t>	</a:t>
            </a:r>
            <a:r>
              <a:rPr lang="zh-CN" altLang="en-US" dirty="0"/>
              <a:t>存在（核心重叠）</a:t>
            </a:r>
            <a:r>
              <a:rPr lang="en-US" altLang="zh-CN" dirty="0"/>
              <a:t>	</a:t>
            </a:r>
            <a:r>
              <a:rPr lang="zh-CN" altLang="en-US" dirty="0"/>
              <a:t>杨树、柳树、悬铃木、栾树</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是落叶木</a:t>
            </a:r>
            <a:r>
              <a:rPr lang="en-US" altLang="zh-CN" dirty="0"/>
              <a:t> + </a:t>
            </a:r>
            <a:r>
              <a:rPr lang="zh-CN" altLang="en-US" dirty="0"/>
              <a:t>不是乔木（灌木）</a:t>
            </a:r>
            <a:r>
              <a:rPr lang="en-US" altLang="zh-CN" dirty="0"/>
              <a:t>	</a:t>
            </a:r>
            <a:r>
              <a:rPr lang="zh-CN" altLang="en-US" dirty="0"/>
              <a:t>存在</a:t>
            </a:r>
            <a:r>
              <a:rPr lang="en-US" altLang="zh-CN" dirty="0"/>
              <a:t>	</a:t>
            </a:r>
            <a:r>
              <a:rPr lang="zh-CN" altLang="en-US" dirty="0"/>
              <a:t>月季、牡丹、连翘（落叶灌木，无明显主干、植株低矮）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不是落叶木（常绿）</a:t>
            </a:r>
            <a:r>
              <a:rPr lang="en-US" altLang="zh-CN" dirty="0"/>
              <a:t> + </a:t>
            </a:r>
            <a:r>
              <a:rPr lang="zh-CN" altLang="en-US" dirty="0"/>
              <a:t>是乔木</a:t>
            </a:r>
            <a:r>
              <a:rPr lang="en-US" altLang="zh-CN" dirty="0"/>
              <a:t>	</a:t>
            </a:r>
            <a:r>
              <a:rPr lang="zh-CN" altLang="en-US" dirty="0"/>
              <a:t>存在</a:t>
            </a:r>
            <a:r>
              <a:rPr lang="en-US" altLang="zh-CN" dirty="0"/>
              <a:t>	</a:t>
            </a:r>
            <a:r>
              <a:rPr lang="zh-CN" altLang="en-US" dirty="0"/>
              <a:t>松树、樟树、桂花、香樟（常绿乔木，叶片四季不脱落）</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不是落叶木</a:t>
            </a:r>
            <a:r>
              <a:rPr lang="en-US" altLang="zh-CN" dirty="0"/>
              <a:t> + </a:t>
            </a:r>
            <a:r>
              <a:rPr lang="zh-CN" altLang="en-US" dirty="0"/>
              <a:t>不是乔木</a:t>
            </a:r>
            <a:r>
              <a:rPr lang="en-US" altLang="zh-CN" dirty="0"/>
              <a:t>	</a:t>
            </a:r>
            <a:r>
              <a:rPr lang="zh-CN" altLang="en-US" dirty="0"/>
              <a:t>存在</a:t>
            </a:r>
            <a:r>
              <a:rPr lang="en-US" altLang="zh-CN" dirty="0"/>
              <a:t>	</a:t>
            </a:r>
            <a:r>
              <a:rPr lang="zh-CN" altLang="en-US" dirty="0"/>
              <a:t>冬青、杜鹃（常绿灌木）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101.</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解析：论点：这些动物一定属于鸟类。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论据：这些似鸟动物体型与现代鸟类大致接近，尾巴很短，最重要的是它们都具有愈合的尾综骨。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本题论点和论据都在讨论通过愈合的尾综骨可以判断这些似鸟动物为鸟类，二者话题一致，且提问方式为</a:t>
            </a:r>
            <a:r>
              <a:rPr lang="en-US" altLang="zh-CN" dirty="0"/>
              <a:t>“</a:t>
            </a:r>
            <a:r>
              <a:rPr lang="zh-CN" altLang="en-US" dirty="0"/>
              <a:t>前提</a:t>
            </a:r>
            <a:r>
              <a:rPr lang="en-US" altLang="zh-CN" dirty="0"/>
              <a:t>”</a:t>
            </a:r>
            <a:r>
              <a:rPr lang="zh-CN" altLang="en-US" dirty="0"/>
              <a:t>，优先考虑必要条件。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项：该项指出这些似鸟动物与现代鸟类具有相似的脚骨，但是不明确脚骨是否能够判断这些似鸟动物为鸟类，属于不明确选项，无法加强，排除；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项：该项强调这些化石保存的尾综骨等形态清晰，说明这些动物确实具有尾综骨，可以加强论据，但并非论点成立的必要条件，排除；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项：该项说明如果鸟类最后几枚尾椎愈合成尾综骨不是鸟类与爬行动物的显著区别，则无法通过愈合的尾综骨论证这些似鸟动物为鸟类，也有可能是爬行动物，说明该项是上述结论成立的必要条件，当选；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项：该项强调尾综骨结构对似鸟动物独立运动以及飞行能力的重要性，但不能判断其是否属于鸟类，属于不明确选项，无法加强，排除。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102.</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a:t>
            </a:r>
            <a:r>
              <a:rPr lang="en-US" altLang="zh-CN" dirty="0"/>
              <a:t>S</a:t>
            </a:r>
            <a:r>
              <a:rPr lang="zh-CN" altLang="en-US" dirty="0"/>
              <a:t>遗址不是封闭区域，其所在的古国曾与</a:t>
            </a:r>
            <a:r>
              <a:rPr lang="en-US" altLang="zh-CN" dirty="0"/>
              <a:t>Y</a:t>
            </a:r>
            <a:r>
              <a:rPr lang="zh-CN" altLang="en-US" dirty="0"/>
              <a:t>遗址的古国或其他区域存在着交流互动。</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论据：在距离</a:t>
            </a:r>
            <a:r>
              <a:rPr lang="en-US" altLang="zh-CN" dirty="0"/>
              <a:t>S</a:t>
            </a:r>
            <a:r>
              <a:rPr lang="zh-CN" altLang="en-US" dirty="0"/>
              <a:t>遗址较远的北部</a:t>
            </a:r>
            <a:r>
              <a:rPr lang="en-US" altLang="zh-CN" dirty="0"/>
              <a:t>Y</a:t>
            </a:r>
            <a:r>
              <a:rPr lang="zh-CN" altLang="en-US" dirty="0"/>
              <a:t>遗址，出土的青铜器曾大量使用了来自</a:t>
            </a:r>
            <a:r>
              <a:rPr lang="en-US" altLang="zh-CN" dirty="0"/>
              <a:t>S</a:t>
            </a:r>
            <a:r>
              <a:rPr lang="zh-CN" altLang="en-US" dirty="0"/>
              <a:t>遗址附近矿床的铅铜矿料，在</a:t>
            </a:r>
            <a:r>
              <a:rPr lang="en-US" altLang="zh-CN" dirty="0"/>
              <a:t>S</a:t>
            </a:r>
            <a:r>
              <a:rPr lang="zh-CN" altLang="en-US" dirty="0"/>
              <a:t>遗址文化消亡后，</a:t>
            </a:r>
            <a:r>
              <a:rPr lang="en-US" altLang="zh-CN" dirty="0"/>
              <a:t>Y</a:t>
            </a:r>
            <a:r>
              <a:rPr lang="zh-CN" altLang="en-US" dirty="0"/>
              <a:t>遗址出土的青铜器基本不再含有这种矿料。</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项：该项说的是</a:t>
            </a:r>
            <a:r>
              <a:rPr lang="en-US" altLang="zh-CN" dirty="0"/>
              <a:t>S</a:t>
            </a:r>
            <a:r>
              <a:rPr lang="zh-CN" altLang="en-US" dirty="0"/>
              <a:t>遗址的青铜器制造业在当时非常发达，但没有说明</a:t>
            </a:r>
            <a:r>
              <a:rPr lang="en-US" altLang="zh-CN" dirty="0"/>
              <a:t>S</a:t>
            </a:r>
            <a:r>
              <a:rPr lang="zh-CN" altLang="en-US" dirty="0"/>
              <a:t>遗址是否和其他区域存在交流互动，无法加强，当选；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项：该项说的是</a:t>
            </a:r>
            <a:r>
              <a:rPr lang="en-US" altLang="zh-CN" dirty="0"/>
              <a:t>S</a:t>
            </a:r>
            <a:r>
              <a:rPr lang="zh-CN" altLang="en-US" dirty="0"/>
              <a:t>遗址出土了很多带有明显</a:t>
            </a:r>
            <a:r>
              <a:rPr lang="en-US" altLang="zh-CN" dirty="0"/>
              <a:t>Y</a:t>
            </a:r>
            <a:r>
              <a:rPr lang="zh-CN" altLang="en-US" dirty="0"/>
              <a:t>遗址文化元素的青铜器，说明</a:t>
            </a:r>
            <a:r>
              <a:rPr lang="en-US" altLang="zh-CN" dirty="0"/>
              <a:t>S</a:t>
            </a:r>
            <a:r>
              <a:rPr lang="zh-CN" altLang="en-US" dirty="0"/>
              <a:t>遗址所在的古国与</a:t>
            </a:r>
            <a:r>
              <a:rPr lang="en-US" altLang="zh-CN" dirty="0"/>
              <a:t>Y</a:t>
            </a:r>
            <a:r>
              <a:rPr lang="zh-CN" altLang="en-US" dirty="0"/>
              <a:t>遗址的古国存在着交流互动，补充论据，可以加强，排除；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项：该项说的是</a:t>
            </a:r>
            <a:r>
              <a:rPr lang="en-US" altLang="zh-CN" dirty="0"/>
              <a:t>S</a:t>
            </a:r>
            <a:r>
              <a:rPr lang="zh-CN" altLang="en-US" dirty="0"/>
              <a:t>遗址出土的部分文物采用了</a:t>
            </a:r>
            <a:r>
              <a:rPr lang="en-US" altLang="zh-CN" dirty="0"/>
              <a:t>Y</a:t>
            </a:r>
            <a:r>
              <a:rPr lang="zh-CN" altLang="en-US" dirty="0"/>
              <a:t>遗址多见的</a:t>
            </a:r>
            <a:r>
              <a:rPr lang="en-US" altLang="zh-CN" dirty="0"/>
              <a:t>“</a:t>
            </a:r>
            <a:r>
              <a:rPr lang="zh-CN" altLang="en-US" dirty="0"/>
              <a:t>泥模块铸法</a:t>
            </a:r>
            <a:r>
              <a:rPr lang="en-US" altLang="zh-CN" dirty="0"/>
              <a:t>”</a:t>
            </a:r>
            <a:r>
              <a:rPr lang="zh-CN" altLang="en-US" dirty="0"/>
              <a:t>，说明</a:t>
            </a:r>
            <a:r>
              <a:rPr lang="en-US" altLang="zh-CN" dirty="0"/>
              <a:t>S</a:t>
            </a:r>
            <a:r>
              <a:rPr lang="zh-CN" altLang="en-US" dirty="0"/>
              <a:t>遗址所在的古国与</a:t>
            </a:r>
            <a:r>
              <a:rPr lang="en-US" altLang="zh-CN" dirty="0"/>
              <a:t>Y</a:t>
            </a:r>
            <a:r>
              <a:rPr lang="zh-CN" altLang="en-US" dirty="0"/>
              <a:t>遗址的古国存在着交流互动，补充论据，可以加强，排除；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项：该项说的是原本流行于东部地区的牙璋、铜牌饰、陶盉等也在位于南部的</a:t>
            </a:r>
            <a:r>
              <a:rPr lang="en-US" altLang="zh-CN" dirty="0"/>
              <a:t>S</a:t>
            </a:r>
            <a:r>
              <a:rPr lang="zh-CN" altLang="en-US" dirty="0"/>
              <a:t>遗址中大量出现，说明</a:t>
            </a:r>
            <a:r>
              <a:rPr lang="en-US" altLang="zh-CN" dirty="0"/>
              <a:t>S</a:t>
            </a:r>
            <a:r>
              <a:rPr lang="zh-CN" altLang="en-US" dirty="0"/>
              <a:t>遗址所在的古国与其他区域存在着交流互动，补充论据，可以加强，排除。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103.</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en-US" dirty="0"/>
              <a:t>①</a:t>
            </a:r>
            <a:r>
              <a:rPr lang="zh-CN" altLang="en-US" dirty="0"/>
              <a:t>破除我国城乡二元结构、拓展高质量发展空间</a:t>
            </a:r>
            <a:r>
              <a:rPr lang="en-US" altLang="en-US" dirty="0"/>
              <a:t>→</a:t>
            </a:r>
            <a:r>
              <a:rPr lang="zh-CN" altLang="en-US" dirty="0"/>
              <a:t>完善城乡融合发展体制机制；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②</a:t>
            </a:r>
            <a:r>
              <a:rPr lang="zh-CN" altLang="en-US" dirty="0"/>
              <a:t>完善城乡融合发展体制机制</a:t>
            </a:r>
            <a:r>
              <a:rPr lang="en-US" altLang="en-US" dirty="0"/>
              <a:t>→</a:t>
            </a:r>
            <a:r>
              <a:rPr lang="zh-CN" altLang="en-US" dirty="0"/>
              <a:t>完善农业农村优先发展的投入保障机制</a:t>
            </a:r>
            <a:r>
              <a:rPr lang="en-US" altLang="zh-CN" dirty="0"/>
              <a:t> </a:t>
            </a:r>
            <a:r>
              <a:rPr lang="zh-CN" altLang="en-US" dirty="0"/>
              <a:t>且</a:t>
            </a:r>
            <a:r>
              <a:rPr lang="en-US" altLang="zh-CN" dirty="0"/>
              <a:t> </a:t>
            </a:r>
            <a:r>
              <a:rPr lang="zh-CN" altLang="en-US" dirty="0"/>
              <a:t>优化城乡公共资源配置机制；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③</a:t>
            </a:r>
            <a:r>
              <a:rPr lang="zh-CN" altLang="en-US" dirty="0"/>
              <a:t>完善农业农村优先发展的投入保障机制</a:t>
            </a:r>
            <a:r>
              <a:rPr lang="en-US" altLang="en-US" dirty="0"/>
              <a:t>→</a:t>
            </a:r>
            <a:r>
              <a:rPr lang="zh-CN" altLang="en-US" dirty="0"/>
              <a:t>加大中央预算内投资和地方政府专项债券支持力度</a:t>
            </a:r>
            <a:r>
              <a:rPr lang="en-US" altLang="zh-CN" dirty="0"/>
              <a:t> </a:t>
            </a:r>
            <a:r>
              <a:rPr lang="zh-CN" altLang="en-US" dirty="0"/>
              <a:t>且</a:t>
            </a:r>
            <a:r>
              <a:rPr lang="en-US" altLang="zh-CN" dirty="0"/>
              <a:t> </a:t>
            </a:r>
            <a:r>
              <a:rPr lang="zh-CN" altLang="en-US" dirty="0"/>
              <a:t>提高土地出让收入用于农业农村的比例；</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④</a:t>
            </a:r>
            <a:r>
              <a:rPr lang="zh-CN" altLang="en-US" dirty="0"/>
              <a:t>优化城乡公共资源配置机制</a:t>
            </a:r>
            <a:r>
              <a:rPr lang="en-US" altLang="en-US" dirty="0"/>
              <a:t>→</a:t>
            </a:r>
            <a:r>
              <a:rPr lang="zh-CN" altLang="en-US" dirty="0"/>
              <a:t>推进户籍制度改革。</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①②③</a:t>
            </a:r>
            <a:r>
              <a:rPr lang="zh-CN" altLang="en-US" dirty="0"/>
              <a:t>可串联得到：</a:t>
            </a:r>
            <a:r>
              <a:rPr lang="en-US" altLang="en-US" dirty="0"/>
              <a:t>⑤</a:t>
            </a:r>
            <a:r>
              <a:rPr lang="zh-CN" altLang="en-US" dirty="0"/>
              <a:t>破除我国城乡二元结构、拓展高质量发展空间</a:t>
            </a:r>
            <a:r>
              <a:rPr lang="en-US" altLang="en-US" dirty="0"/>
              <a:t>→</a:t>
            </a:r>
            <a:r>
              <a:rPr lang="zh-CN" altLang="en-US" dirty="0"/>
              <a:t>完善城乡融合发展体制机制</a:t>
            </a:r>
            <a:r>
              <a:rPr lang="en-US" altLang="en-US" dirty="0"/>
              <a:t>→</a:t>
            </a:r>
            <a:r>
              <a:rPr lang="zh-CN" altLang="en-US" dirty="0"/>
              <a:t>完善农业农村优先发展的投入保障机制</a:t>
            </a:r>
            <a:r>
              <a:rPr lang="en-US" altLang="en-US" dirty="0"/>
              <a:t>→</a:t>
            </a:r>
            <a:r>
              <a:rPr lang="zh-CN" altLang="en-US" dirty="0"/>
              <a:t>加大中央预算内投资和地方政府专项债券支持力度</a:t>
            </a:r>
            <a:r>
              <a:rPr lang="en-US" altLang="zh-CN" dirty="0"/>
              <a:t> </a:t>
            </a:r>
            <a:r>
              <a:rPr lang="zh-CN" altLang="en-US" dirty="0"/>
              <a:t>且</a:t>
            </a:r>
            <a:r>
              <a:rPr lang="en-US" altLang="zh-CN" dirty="0"/>
              <a:t> </a:t>
            </a:r>
            <a:r>
              <a:rPr lang="zh-CN" altLang="en-US" dirty="0"/>
              <a:t>提高土地出让收入用于农业农村的比例；</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t>①②④</a:t>
            </a:r>
            <a:r>
              <a:rPr lang="zh-CN" altLang="en-US" dirty="0"/>
              <a:t>可串联得到：</a:t>
            </a:r>
            <a:r>
              <a:rPr lang="en-US" altLang="en-US" dirty="0"/>
              <a:t>⑥</a:t>
            </a:r>
            <a:r>
              <a:rPr lang="zh-CN" altLang="en-US" dirty="0"/>
              <a:t>破除我国城乡二元结构、拓展高质量发展空间</a:t>
            </a:r>
            <a:r>
              <a:rPr lang="en-US" altLang="en-US" dirty="0"/>
              <a:t>→</a:t>
            </a:r>
            <a:r>
              <a:rPr lang="zh-CN" altLang="en-US" dirty="0"/>
              <a:t>完善城乡融合发展体制机制</a:t>
            </a:r>
            <a:r>
              <a:rPr lang="en-US" altLang="en-US" dirty="0"/>
              <a:t>→</a:t>
            </a:r>
            <a:r>
              <a:rPr lang="zh-CN" altLang="en-US" dirty="0"/>
              <a:t>优化城乡公共资源配置机制</a:t>
            </a:r>
            <a:r>
              <a:rPr lang="en-US" altLang="en-US" dirty="0"/>
              <a:t>→</a:t>
            </a:r>
            <a:r>
              <a:rPr lang="zh-CN" altLang="en-US" dirty="0"/>
              <a:t>推进户籍制度改革。</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项：该项翻译为</a:t>
            </a:r>
            <a:r>
              <a:rPr lang="en-US" altLang="zh-CN" dirty="0"/>
              <a:t>“</a:t>
            </a:r>
            <a:r>
              <a:rPr lang="zh-CN" altLang="en-US" dirty="0"/>
              <a:t>推进户籍制度改革</a:t>
            </a:r>
            <a:r>
              <a:rPr lang="en-US" altLang="en-US" dirty="0"/>
              <a:t>→</a:t>
            </a:r>
            <a:r>
              <a:rPr lang="zh-CN" altLang="en-US" dirty="0"/>
              <a:t>优化城乡公共资源配置机制</a:t>
            </a:r>
            <a:r>
              <a:rPr lang="en-US" altLang="zh-CN" dirty="0"/>
              <a:t>”</a:t>
            </a:r>
            <a:r>
              <a:rPr lang="zh-CN" altLang="en-US" dirty="0"/>
              <a:t>，是对</a:t>
            </a:r>
            <a:r>
              <a:rPr lang="en-US" altLang="en-US" dirty="0"/>
              <a:t>④</a:t>
            </a:r>
            <a:r>
              <a:rPr lang="zh-CN" altLang="en-US" dirty="0"/>
              <a:t>的肯后，肯后得不到确定性的结论，无法推出，排除；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项：该项翻译为</a:t>
            </a:r>
            <a:r>
              <a:rPr lang="en-US" altLang="zh-CN" dirty="0"/>
              <a:t>“</a:t>
            </a:r>
            <a:r>
              <a:rPr lang="zh-CN" altLang="en-US" dirty="0"/>
              <a:t>完善农业农村优先发展的投入保障机制</a:t>
            </a:r>
            <a:r>
              <a:rPr lang="en-US" altLang="en-US" dirty="0"/>
              <a:t>→</a:t>
            </a:r>
            <a:r>
              <a:rPr lang="zh-CN" altLang="en-US" dirty="0"/>
              <a:t>完善城乡融合发展体制机制</a:t>
            </a:r>
            <a:r>
              <a:rPr lang="en-US" altLang="zh-CN" dirty="0"/>
              <a:t>”</a:t>
            </a:r>
            <a:r>
              <a:rPr lang="zh-CN" altLang="en-US" dirty="0"/>
              <a:t>，是肯定</a:t>
            </a:r>
            <a:r>
              <a:rPr lang="en-US" altLang="en-US" dirty="0"/>
              <a:t>②</a:t>
            </a:r>
            <a:r>
              <a:rPr lang="zh-CN" altLang="en-US" dirty="0"/>
              <a:t>箭头后</a:t>
            </a:r>
            <a:r>
              <a:rPr lang="en-US" altLang="zh-CN" dirty="0"/>
              <a:t>“</a:t>
            </a:r>
            <a:r>
              <a:rPr lang="zh-CN" altLang="en-US" dirty="0"/>
              <a:t>且关系</a:t>
            </a:r>
            <a:r>
              <a:rPr lang="en-US" altLang="zh-CN" dirty="0"/>
              <a:t>”</a:t>
            </a:r>
            <a:r>
              <a:rPr lang="zh-CN" altLang="en-US" dirty="0"/>
              <a:t>中的一部分，肯后得不到确定性的结论，不能推出，排除；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项：该项翻译为</a:t>
            </a:r>
            <a:r>
              <a:rPr lang="en-US" altLang="zh-CN" dirty="0"/>
              <a:t>“</a:t>
            </a:r>
            <a:r>
              <a:rPr lang="zh-CN" altLang="en-US" dirty="0"/>
              <a:t>提高土地出让收入用于农业农村的比例</a:t>
            </a:r>
            <a:r>
              <a:rPr lang="en-US" altLang="en-US" dirty="0"/>
              <a:t>→</a:t>
            </a:r>
            <a:r>
              <a:rPr lang="zh-CN" altLang="en-US" dirty="0"/>
              <a:t>完善农业农村优先发展的投入保障机制</a:t>
            </a:r>
            <a:r>
              <a:rPr lang="en-US" altLang="zh-CN" dirty="0"/>
              <a:t>”</a:t>
            </a:r>
            <a:r>
              <a:rPr lang="zh-CN" altLang="en-US" dirty="0"/>
              <a:t>，是肯定</a:t>
            </a:r>
            <a:r>
              <a:rPr lang="en-US" altLang="en-US" dirty="0"/>
              <a:t>③</a:t>
            </a:r>
            <a:r>
              <a:rPr lang="zh-CN" altLang="en-US" dirty="0"/>
              <a:t>箭头后</a:t>
            </a:r>
            <a:r>
              <a:rPr lang="en-US" altLang="zh-CN" dirty="0"/>
              <a:t>“</a:t>
            </a:r>
            <a:r>
              <a:rPr lang="zh-CN" altLang="en-US" dirty="0"/>
              <a:t>且关系</a:t>
            </a:r>
            <a:r>
              <a:rPr lang="en-US" altLang="zh-CN" dirty="0"/>
              <a:t>”</a:t>
            </a:r>
            <a:r>
              <a:rPr lang="zh-CN" altLang="en-US" dirty="0"/>
              <a:t>中的一部分，肯后得不到确定性的结论，不能推出，排除；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项：该项翻译为</a:t>
            </a:r>
            <a:r>
              <a:rPr lang="en-US" altLang="zh-CN" dirty="0"/>
              <a:t>“</a:t>
            </a:r>
            <a:r>
              <a:rPr lang="zh-CN" altLang="en-US" dirty="0"/>
              <a:t>破除我国城乡二元结构、拓展高质量发展空间</a:t>
            </a:r>
            <a:r>
              <a:rPr lang="en-US" altLang="en-US" dirty="0"/>
              <a:t>→</a:t>
            </a:r>
            <a:r>
              <a:rPr lang="zh-CN" altLang="en-US" dirty="0"/>
              <a:t>加大中央预算内投资和地方政府专项债券支持力度</a:t>
            </a:r>
            <a:r>
              <a:rPr lang="en-US" altLang="zh-CN" dirty="0"/>
              <a:t>”</a:t>
            </a:r>
            <a:r>
              <a:rPr lang="zh-CN" altLang="en-US" dirty="0"/>
              <a:t>，是对</a:t>
            </a:r>
            <a:r>
              <a:rPr lang="en-US" altLang="en-US" dirty="0"/>
              <a:t>⑤</a:t>
            </a:r>
            <a:r>
              <a:rPr lang="zh-CN" altLang="en-US" dirty="0"/>
              <a:t>的肯前，肯前必肯后，可以推出，当选。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104.</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解析：论点：平台企业金融化程度的加深使得平台劳动者的劳动权益保护问题日益突出。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论据：无。</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本题只有论点，没有论据，加强优先考虑补充论据。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项：选项指出为扩大市场规模、争夺消费者注意力，平台企业容易陷入无序竞争，与论点讨论的平台企业金融化程度加深是否会导致平台劳动者的劳动权益保护问题日益突出无关，无关项，无法加强，排除；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指出为塑造轻资产企业形象、摆脱劳动密集型标签，说明平台企业金融化程度在加深，平台企业采用弹性用工制，增加劳动者就业不稳定性，说明平台劳动者的具体劳动和生产过程发生了变化，且增加了平台劳动者的劳动权益保护问题，补充论据，可以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项：选项指出平台企业越来越注重员工培训，与论点讨论的平台企业金融化程度加深是否会导致平台劳动者的劳动权益保护问题无关，无关项，无法加强，排除；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项：选项指出部分平台企业以缴纳保证金、押金或其他名义向劳动者收取财物，限制劳动者在多平台就业，但是不明确这些平台是否存在企业金融化程度的加深，不明确选项，无法加强，排除。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105.</a:t>
            </a: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解析：论点：直接使用通用</a:t>
            </a:r>
            <a:r>
              <a:rPr lang="en-US" altLang="zh-CN" dirty="0"/>
              <a:t>AI</a:t>
            </a:r>
            <a:r>
              <a:rPr lang="zh-CN" altLang="en-US" dirty="0"/>
              <a:t>工具可短暂提高学生数学测试成绩，但最终削弱了学生的数学学习能力。</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论据：研究持续一学期，学生被分为三组，分别在课堂练习阶段使用不同工具：</a:t>
            </a:r>
            <a:r>
              <a:rPr lang="en-US" altLang="en-US" dirty="0"/>
              <a:t>①</a:t>
            </a:r>
            <a:r>
              <a:rPr lang="zh-CN" altLang="en-US" dirty="0"/>
              <a:t>组使用标准课本和笔记；</a:t>
            </a:r>
            <a:r>
              <a:rPr lang="en-US" altLang="en-US" dirty="0"/>
              <a:t>②</a:t>
            </a:r>
            <a:r>
              <a:rPr lang="zh-CN" altLang="en-US" dirty="0"/>
              <a:t>组使用通用</a:t>
            </a:r>
            <a:r>
              <a:rPr lang="en-US" altLang="zh-CN" dirty="0"/>
              <a:t>AI</a:t>
            </a:r>
            <a:r>
              <a:rPr lang="zh-CN" altLang="en-US" dirty="0"/>
              <a:t>工具，可以直接查询答案；</a:t>
            </a:r>
            <a:r>
              <a:rPr lang="en-US" altLang="en-US" dirty="0"/>
              <a:t>③</a:t>
            </a:r>
            <a:r>
              <a:rPr lang="zh-CN" altLang="en-US" dirty="0"/>
              <a:t>组使用特别设计的</a:t>
            </a:r>
            <a:r>
              <a:rPr lang="en-US" altLang="zh-CN" dirty="0"/>
              <a:t>AI</a:t>
            </a:r>
            <a:r>
              <a:rPr lang="zh-CN" altLang="en-US" dirty="0"/>
              <a:t>工具，指导而不直接给出答案。随堂考核发现，</a:t>
            </a:r>
            <a:r>
              <a:rPr lang="en-US" altLang="en-US" dirty="0"/>
              <a:t>②</a:t>
            </a:r>
            <a:r>
              <a:rPr lang="zh-CN" altLang="en-US" dirty="0"/>
              <a:t>组和</a:t>
            </a:r>
            <a:r>
              <a:rPr lang="en-US" altLang="en-US" dirty="0"/>
              <a:t>③</a:t>
            </a:r>
            <a:r>
              <a:rPr lang="zh-CN" altLang="en-US" dirty="0"/>
              <a:t>组学生比</a:t>
            </a:r>
            <a:r>
              <a:rPr lang="en-US" altLang="en-US" dirty="0"/>
              <a:t>①</a:t>
            </a:r>
            <a:r>
              <a:rPr lang="zh-CN" altLang="en-US" dirty="0"/>
              <a:t>组学生的成绩高出</a:t>
            </a:r>
            <a:r>
              <a:rPr lang="en-US" altLang="zh-CN" dirty="0"/>
              <a:t>48</a:t>
            </a:r>
            <a:r>
              <a:rPr lang="zh-CN" altLang="en-US" dirty="0"/>
              <a:t>％和</a:t>
            </a:r>
            <a:r>
              <a:rPr lang="en-US" altLang="zh-CN" dirty="0"/>
              <a:t>127</a:t>
            </a:r>
            <a:r>
              <a:rPr lang="zh-CN" altLang="en-US" dirty="0"/>
              <a:t>％。但期末考试时，</a:t>
            </a:r>
            <a:r>
              <a:rPr lang="en-US" altLang="en-US" dirty="0"/>
              <a:t>②</a:t>
            </a:r>
            <a:r>
              <a:rPr lang="zh-CN" altLang="en-US" dirty="0"/>
              <a:t>组比</a:t>
            </a:r>
            <a:r>
              <a:rPr lang="en-US" altLang="en-US" dirty="0"/>
              <a:t>①</a:t>
            </a:r>
            <a:r>
              <a:rPr lang="zh-CN" altLang="en-US" dirty="0"/>
              <a:t>组成绩低了</a:t>
            </a:r>
            <a:r>
              <a:rPr lang="en-US" altLang="zh-CN" dirty="0"/>
              <a:t>17%</a:t>
            </a:r>
            <a:r>
              <a:rPr lang="zh-CN" altLang="en-US" dirty="0"/>
              <a:t>；而</a:t>
            </a:r>
            <a:r>
              <a:rPr lang="en-US" altLang="en-US" dirty="0"/>
              <a:t>③</a:t>
            </a:r>
            <a:r>
              <a:rPr lang="zh-CN" altLang="en-US" dirty="0"/>
              <a:t>组和</a:t>
            </a:r>
            <a:r>
              <a:rPr lang="en-US" altLang="en-US" dirty="0"/>
              <a:t>①</a:t>
            </a:r>
            <a:r>
              <a:rPr lang="zh-CN" altLang="en-US" dirty="0"/>
              <a:t>组无明显差异。</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本题论点和论据都在讨论使用</a:t>
            </a:r>
            <a:r>
              <a:rPr lang="en-US" altLang="zh-CN" dirty="0"/>
              <a:t>AI</a:t>
            </a:r>
            <a:r>
              <a:rPr lang="zh-CN" altLang="en-US" dirty="0"/>
              <a:t>工具对数学学习能力的影响，二者话题一致，且本题为削弱选非题，排除能削弱的选项即可。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项：该项指出研究结果不能说明正确使用</a:t>
            </a:r>
            <a:r>
              <a:rPr lang="en-US" altLang="zh-CN" dirty="0"/>
              <a:t>AI</a:t>
            </a:r>
            <a:r>
              <a:rPr lang="zh-CN" altLang="en-US" dirty="0"/>
              <a:t>工具的效果，说明实验过程存在漏洞，质疑了实验结果，削弱论据，可以削弱，排除；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项：该项指出学生的数学基础水平、学习动机、课后自主练习等变量都会影响考试成绩，说明存在其他会影响学生成绩的因素，他因削弱，可以削弱，排除；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项：该项指出研究仅针对数学学科，不能说明</a:t>
            </a:r>
            <a:r>
              <a:rPr lang="en-US" altLang="zh-CN" dirty="0"/>
              <a:t>AI</a:t>
            </a:r>
            <a:r>
              <a:rPr lang="zh-CN" altLang="en-US" dirty="0"/>
              <a:t>工具辅助教学对其他学科的影响，说明在数学科目上使用</a:t>
            </a:r>
            <a:r>
              <a:rPr lang="en-US" altLang="zh-CN" dirty="0"/>
              <a:t>AI</a:t>
            </a:r>
            <a:r>
              <a:rPr lang="zh-CN" altLang="en-US" dirty="0"/>
              <a:t>工具对学习能力确实存在影响，为加强项，无法削弱，当选；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项：该项指出研究持续时间不够，不足以说明长期使用</a:t>
            </a:r>
            <a:r>
              <a:rPr lang="en-US" altLang="zh-CN" dirty="0"/>
              <a:t>AI</a:t>
            </a:r>
            <a:r>
              <a:rPr lang="zh-CN" altLang="en-US" dirty="0"/>
              <a:t>工具可能带来的效果，说明实验过程存在漏洞，质疑了实验结果，削弱论据，可以削弱，排除。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106.</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本题题干信息确定，选项信息充分，优先考虑排除法。</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由条件（</a:t>
            </a:r>
            <a:r>
              <a:rPr lang="en-US" altLang="zh-CN" dirty="0"/>
              <a:t>1</a:t>
            </a:r>
            <a:r>
              <a:rPr lang="zh-CN" altLang="en-US" dirty="0"/>
              <a:t>）可知，王、韩没有参加同一个项目，排除</a:t>
            </a:r>
            <a:r>
              <a:rPr lang="en-US" altLang="zh-CN" dirty="0"/>
              <a:t>A</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由条件（</a:t>
            </a:r>
            <a:r>
              <a:rPr lang="en-US" altLang="zh-CN" dirty="0"/>
              <a:t>2</a:t>
            </a:r>
            <a:r>
              <a:rPr lang="zh-CN" altLang="en-US" dirty="0"/>
              <a:t>）可知，韩参加羽毛球，则宋参加网球，排除</a:t>
            </a:r>
            <a:r>
              <a:rPr lang="en-US" altLang="zh-CN" dirty="0"/>
              <a:t>B</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由条件（</a:t>
            </a:r>
            <a:r>
              <a:rPr lang="en-US" altLang="zh-CN" dirty="0"/>
              <a:t>3</a:t>
            </a:r>
            <a:r>
              <a:rPr lang="zh-CN" altLang="en-US" dirty="0"/>
              <a:t>）可知，王参加乒乓球，则吴参加网球，排除</a:t>
            </a:r>
            <a:r>
              <a:rPr lang="en-US" altLang="zh-CN" dirty="0"/>
              <a:t>C</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经验证，</a:t>
            </a:r>
            <a:r>
              <a:rPr lang="en-US" altLang="zh-CN" dirty="0"/>
              <a:t>D</a:t>
            </a:r>
            <a:r>
              <a:rPr lang="zh-CN" altLang="en-US" dirty="0"/>
              <a:t>项满足题干所有条件，当选。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107.</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5</a:t>
            </a:r>
            <a:r>
              <a:rPr lang="zh-CN" altLang="en-US" dirty="0"/>
              <a:t>）宋和韩组队网球。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根据条件（</a:t>
            </a:r>
            <a:r>
              <a:rPr lang="en-US" altLang="zh-CN" dirty="0"/>
              <a:t>1</a:t>
            </a:r>
            <a:r>
              <a:rPr lang="zh-CN" altLang="en-US" dirty="0"/>
              <a:t>）和（</a:t>
            </a:r>
            <a:r>
              <a:rPr lang="en-US" altLang="zh-CN" dirty="0"/>
              <a:t>5</a:t>
            </a:r>
            <a:r>
              <a:rPr lang="zh-CN" altLang="en-US" dirty="0"/>
              <a:t>）可知，王不参加网球；根据条件（</a:t>
            </a:r>
            <a:r>
              <a:rPr lang="en-US" altLang="zh-CN" dirty="0"/>
              <a:t>4</a:t>
            </a:r>
            <a:r>
              <a:rPr lang="zh-CN" altLang="en-US" dirty="0"/>
              <a:t>）和（</a:t>
            </a:r>
            <a:r>
              <a:rPr lang="en-US" altLang="zh-CN" dirty="0"/>
              <a:t>5</a:t>
            </a:r>
            <a:r>
              <a:rPr lang="zh-CN" altLang="en-US" dirty="0"/>
              <a:t>）可知，宋和韩组队网球，队伍已满</a:t>
            </a:r>
            <a:r>
              <a:rPr lang="en-US" altLang="zh-CN" dirty="0"/>
              <a:t>2</a:t>
            </a:r>
            <a:r>
              <a:rPr lang="zh-CN" altLang="en-US" dirty="0"/>
              <a:t>人，所以吴不参加网球，结合条件（</a:t>
            </a:r>
            <a:r>
              <a:rPr lang="en-US" altLang="zh-CN" dirty="0"/>
              <a:t>3</a:t>
            </a:r>
            <a:r>
              <a:rPr lang="zh-CN" altLang="en-US" dirty="0"/>
              <a:t>）可知，王不参加乒乓球；再结合条件（</a:t>
            </a:r>
            <a:r>
              <a:rPr lang="en-US" altLang="zh-CN" dirty="0"/>
              <a:t>4</a:t>
            </a:r>
            <a:r>
              <a:rPr lang="zh-CN" altLang="en-US" dirty="0"/>
              <a:t>）</a:t>
            </a:r>
            <a:r>
              <a:rPr lang="en-US" altLang="zh-CN" dirty="0"/>
              <a:t>4</a:t>
            </a:r>
            <a:r>
              <a:rPr lang="zh-CN" altLang="en-US" dirty="0"/>
              <a:t>人均至少参加了其中的一支队伍可知，王参加羽毛球。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108.</a:t>
            </a: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5</a:t>
            </a:r>
            <a:r>
              <a:rPr lang="zh-CN" altLang="en-US" dirty="0"/>
              <a:t>）吴参加了</a:t>
            </a:r>
            <a:r>
              <a:rPr lang="en-US" altLang="zh-CN" dirty="0"/>
              <a:t>3</a:t>
            </a:r>
            <a:r>
              <a:rPr lang="zh-CN" altLang="en-US" dirty="0"/>
              <a:t>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根据条件（</a:t>
            </a:r>
            <a:r>
              <a:rPr lang="en-US" altLang="zh-CN" dirty="0"/>
              <a:t>4</a:t>
            </a:r>
            <a:r>
              <a:rPr lang="zh-CN" altLang="en-US" dirty="0"/>
              <a:t>）和（</a:t>
            </a:r>
            <a:r>
              <a:rPr lang="en-US" altLang="zh-CN" dirty="0"/>
              <a:t>5</a:t>
            </a:r>
            <a:r>
              <a:rPr lang="zh-CN" altLang="en-US" dirty="0"/>
              <a:t>）可知，吴参加了网球、乒乓球和羽毛球</a:t>
            </a:r>
            <a:r>
              <a:rPr lang="en-US" altLang="zh-CN" dirty="0"/>
              <a:t>3</a:t>
            </a:r>
            <a:r>
              <a:rPr lang="zh-CN" altLang="en-US" dirty="0"/>
              <a:t>个项目，王、韩和宋每人均只参加</a:t>
            </a:r>
            <a:r>
              <a:rPr lang="en-US" altLang="zh-CN" dirty="0"/>
              <a:t>1</a:t>
            </a:r>
            <a:r>
              <a:rPr lang="zh-CN" altLang="en-US" dirty="0"/>
              <a:t>个项目，结合条件（</a:t>
            </a:r>
            <a:r>
              <a:rPr lang="en-US" altLang="zh-CN" dirty="0"/>
              <a:t>3</a:t>
            </a:r>
            <a:r>
              <a:rPr lang="zh-CN" altLang="en-US" dirty="0"/>
              <a:t>）</a:t>
            </a:r>
            <a:r>
              <a:rPr lang="en-US" altLang="zh-CN" dirty="0"/>
              <a:t>“-</a:t>
            </a:r>
            <a:r>
              <a:rPr lang="zh-CN" altLang="en-US" dirty="0"/>
              <a:t>王乒乓球</a:t>
            </a:r>
            <a:r>
              <a:rPr lang="en-US" altLang="en-US" dirty="0"/>
              <a:t>→</a:t>
            </a:r>
            <a:r>
              <a:rPr lang="en-US" altLang="zh-CN" dirty="0"/>
              <a:t>-</a:t>
            </a:r>
            <a:r>
              <a:rPr lang="zh-CN" altLang="en-US" dirty="0"/>
              <a:t>吴网球</a:t>
            </a:r>
            <a:r>
              <a:rPr lang="en-US" altLang="zh-CN" dirty="0"/>
              <a:t>”</a:t>
            </a:r>
            <a:r>
              <a:rPr lang="zh-CN" altLang="en-US" dirty="0"/>
              <a:t>可知，王参加乒乓球项目，此时，韩和宋只需要分别参加羽毛球和网球中的</a:t>
            </a:r>
            <a:r>
              <a:rPr lang="en-US" altLang="zh-CN" dirty="0"/>
              <a:t>1</a:t>
            </a:r>
            <a:r>
              <a:rPr lang="zh-CN" altLang="en-US" dirty="0"/>
              <a:t>个项目即可。综上所述，选项中只有</a:t>
            </a:r>
            <a:r>
              <a:rPr lang="en-US" altLang="zh-CN" dirty="0"/>
              <a:t>A</a:t>
            </a:r>
            <a:r>
              <a:rPr lang="zh-CN" altLang="en-US" dirty="0"/>
              <a:t>项可能正确。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109.</a:t>
            </a: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题干问法为</a:t>
            </a:r>
            <a:r>
              <a:rPr lang="en-US" altLang="zh-CN" dirty="0"/>
              <a:t>“</a:t>
            </a:r>
            <a:r>
              <a:rPr lang="zh-CN" altLang="en-US" dirty="0"/>
              <a:t>可能</a:t>
            </a:r>
            <a:r>
              <a:rPr lang="en-US" altLang="zh-CN" dirty="0"/>
              <a:t>”</a:t>
            </a:r>
            <a:r>
              <a:rPr lang="zh-CN" altLang="en-US" dirty="0"/>
              <a:t>，优先使用代入法。</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A</a:t>
            </a:r>
            <a:r>
              <a:rPr lang="zh-CN" altLang="en-US" dirty="0"/>
              <a:t>项：王和吴同时组队网球和羽毛球双打，根据条件（</a:t>
            </a:r>
            <a:r>
              <a:rPr lang="en-US" altLang="zh-CN" dirty="0"/>
              <a:t>3</a:t>
            </a:r>
            <a:r>
              <a:rPr lang="zh-CN" altLang="en-US" dirty="0"/>
              <a:t>）</a:t>
            </a:r>
            <a:r>
              <a:rPr lang="en-US" altLang="zh-CN" dirty="0"/>
              <a:t>“-</a:t>
            </a:r>
            <a:r>
              <a:rPr lang="zh-CN" altLang="en-US" dirty="0"/>
              <a:t>王乒乓球</a:t>
            </a:r>
            <a:r>
              <a:rPr lang="en-US" altLang="en-US" dirty="0"/>
              <a:t>→</a:t>
            </a:r>
            <a:r>
              <a:rPr lang="en-US" altLang="zh-CN" dirty="0"/>
              <a:t>-</a:t>
            </a:r>
            <a:r>
              <a:rPr lang="zh-CN" altLang="en-US" dirty="0"/>
              <a:t>吴网球</a:t>
            </a:r>
            <a:r>
              <a:rPr lang="en-US" altLang="zh-CN" dirty="0"/>
              <a:t>”</a:t>
            </a:r>
            <a:r>
              <a:rPr lang="zh-CN" altLang="en-US" dirty="0"/>
              <a:t>可知，王参加乒乓球比赛，此时王参加乒乓球比赛、网球比赛和羽毛球比赛，根据条件（</a:t>
            </a:r>
            <a:r>
              <a:rPr lang="en-US" altLang="zh-CN" dirty="0"/>
              <a:t>1</a:t>
            </a:r>
            <a:r>
              <a:rPr lang="zh-CN" altLang="en-US" dirty="0"/>
              <a:t>）可知，韩没有比赛可以参加，不满足题干条件（</a:t>
            </a:r>
            <a:r>
              <a:rPr lang="en-US" altLang="zh-CN" dirty="0"/>
              <a:t>4</a:t>
            </a:r>
            <a:r>
              <a:rPr lang="zh-CN" altLang="en-US" dirty="0"/>
              <a:t>），排除；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B</a:t>
            </a:r>
            <a:r>
              <a:rPr lang="zh-CN" altLang="en-US" dirty="0"/>
              <a:t>项：王和宋同时组队网球和羽毛球双打，此时韩参加乒乓球比赛，吴也参加乒乓球比赛，满足题干所有条件，可能为真，当选；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C</a:t>
            </a:r>
            <a:r>
              <a:rPr lang="zh-CN" altLang="en-US" dirty="0"/>
              <a:t>项：吴和宋同时组队网球和羽毛球双打，根据条件（</a:t>
            </a:r>
            <a:r>
              <a:rPr lang="en-US" altLang="zh-CN" dirty="0"/>
              <a:t>3</a:t>
            </a:r>
            <a:r>
              <a:rPr lang="zh-CN" altLang="en-US" dirty="0"/>
              <a:t>）</a:t>
            </a:r>
            <a:r>
              <a:rPr lang="en-US" altLang="zh-CN" dirty="0"/>
              <a:t>“-</a:t>
            </a:r>
            <a:r>
              <a:rPr lang="zh-CN" altLang="en-US" dirty="0"/>
              <a:t>王乒乓球</a:t>
            </a:r>
            <a:r>
              <a:rPr lang="en-US" altLang="en-US" dirty="0"/>
              <a:t>→</a:t>
            </a:r>
            <a:r>
              <a:rPr lang="en-US" altLang="zh-CN" dirty="0"/>
              <a:t>-</a:t>
            </a:r>
            <a:r>
              <a:rPr lang="zh-CN" altLang="en-US" dirty="0"/>
              <a:t>吴网球</a:t>
            </a:r>
            <a:r>
              <a:rPr lang="en-US" altLang="zh-CN" dirty="0"/>
              <a:t>”</a:t>
            </a:r>
            <a:r>
              <a:rPr lang="zh-CN" altLang="en-US" dirty="0"/>
              <a:t>可知，王参加乒乓球比赛，结合条件（</a:t>
            </a:r>
            <a:r>
              <a:rPr lang="en-US" altLang="zh-CN" dirty="0"/>
              <a:t>1</a:t>
            </a:r>
            <a:r>
              <a:rPr lang="zh-CN" altLang="en-US" dirty="0"/>
              <a:t>）可知，韩不参加乒乓球比赛，此时韩没有比赛可以参加，不满足题干条件（</a:t>
            </a:r>
            <a:r>
              <a:rPr lang="en-US" altLang="zh-CN" dirty="0"/>
              <a:t>4</a:t>
            </a:r>
            <a:r>
              <a:rPr lang="zh-CN" altLang="en-US" dirty="0"/>
              <a:t>），排除；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D</a:t>
            </a:r>
            <a:r>
              <a:rPr lang="zh-CN" altLang="en-US" dirty="0"/>
              <a:t>项：韩和宋同时组队网球和羽毛球双打，根据条件（</a:t>
            </a:r>
            <a:r>
              <a:rPr lang="en-US" altLang="zh-CN" dirty="0"/>
              <a:t>4</a:t>
            </a:r>
            <a:r>
              <a:rPr lang="zh-CN" altLang="en-US" dirty="0"/>
              <a:t>）可知，王和吴参加乒乓球比赛，此时不满足题干条件（</a:t>
            </a:r>
            <a:r>
              <a:rPr lang="en-US" altLang="zh-CN" dirty="0"/>
              <a:t>3</a:t>
            </a:r>
            <a:r>
              <a:rPr lang="zh-CN" altLang="en-US" dirty="0"/>
              <a:t>），排除。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110.</a:t>
            </a: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）王、韩没有参加同一个项目；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）韩羽毛球</a:t>
            </a:r>
            <a:r>
              <a:rPr lang="en-US" altLang="en-US" dirty="0"/>
              <a:t>→</a:t>
            </a:r>
            <a:r>
              <a:rPr lang="zh-CN" altLang="en-US" dirty="0"/>
              <a:t>宋网球；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）王乒乓球</a:t>
            </a:r>
            <a:r>
              <a:rPr lang="en-US" altLang="en-US" dirty="0"/>
              <a:t>→</a:t>
            </a:r>
            <a:r>
              <a:rPr lang="zh-CN" altLang="en-US" dirty="0"/>
              <a:t>吴网球，</a:t>
            </a:r>
            <a:r>
              <a:rPr lang="en-US" altLang="zh-CN" dirty="0"/>
              <a:t>-</a:t>
            </a:r>
            <a:r>
              <a:rPr lang="zh-CN" altLang="en-US" dirty="0"/>
              <a:t>王乒乓球</a:t>
            </a:r>
            <a:r>
              <a:rPr lang="en-US" altLang="en-US" dirty="0"/>
              <a:t>→</a:t>
            </a:r>
            <a:r>
              <a:rPr lang="en-US" altLang="zh-CN" dirty="0"/>
              <a:t>-</a:t>
            </a:r>
            <a:r>
              <a:rPr lang="zh-CN" altLang="en-US" dirty="0"/>
              <a:t>吴网球；</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）每支队伍由其中</a:t>
            </a:r>
            <a:r>
              <a:rPr lang="en-US" altLang="zh-CN" dirty="0"/>
              <a:t>2</a:t>
            </a:r>
            <a:r>
              <a:rPr lang="zh-CN" altLang="en-US" dirty="0"/>
              <a:t>人组成，</a:t>
            </a:r>
            <a:r>
              <a:rPr lang="en-US" altLang="zh-CN" dirty="0"/>
              <a:t>4</a:t>
            </a:r>
            <a:r>
              <a:rPr lang="zh-CN" altLang="en-US" dirty="0"/>
              <a:t>人均至少参加了其中的一支队伍。</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5</a:t>
            </a:r>
            <a:r>
              <a:rPr lang="zh-CN" altLang="en-US" dirty="0"/>
              <a:t>）宋和韩组队乒乓球双打。</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根据条件（</a:t>
            </a:r>
            <a:r>
              <a:rPr lang="en-US" altLang="zh-CN" dirty="0"/>
              <a:t>4</a:t>
            </a:r>
            <a:r>
              <a:rPr lang="zh-CN" altLang="en-US" dirty="0"/>
              <a:t>）与（</a:t>
            </a:r>
            <a:r>
              <a:rPr lang="en-US" altLang="zh-CN" dirty="0"/>
              <a:t>5</a:t>
            </a:r>
            <a:r>
              <a:rPr lang="zh-CN" altLang="en-US" dirty="0"/>
              <a:t>），可知乒乓球队人已满，则王与吴均不能参加乒乓球项目，结合条件（</a:t>
            </a:r>
            <a:r>
              <a:rPr lang="en-US" altLang="zh-CN" dirty="0"/>
              <a:t>3</a:t>
            </a:r>
            <a:r>
              <a:rPr lang="zh-CN" altLang="en-US" dirty="0"/>
              <a:t>），肯前必肯后，可得吴不参加网球项目，排除</a:t>
            </a:r>
            <a:r>
              <a:rPr lang="en-US" altLang="zh-CN" dirty="0"/>
              <a:t>A</a:t>
            </a:r>
            <a:r>
              <a:rPr lang="zh-CN" altLang="en-US" dirty="0"/>
              <a:t>、</a:t>
            </a:r>
            <a:r>
              <a:rPr lang="en-US" altLang="zh-CN" dirty="0"/>
              <a:t>B</a:t>
            </a:r>
            <a:r>
              <a:rPr lang="zh-CN" altLang="en-US" dirty="0"/>
              <a:t>两项；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根据吴不参加乒乓球项目，也不参加网球项目，结合条件（</a:t>
            </a:r>
            <a:r>
              <a:rPr lang="en-US" altLang="zh-CN" dirty="0"/>
              <a:t>4</a:t>
            </a:r>
            <a:r>
              <a:rPr lang="zh-CN" altLang="en-US" dirty="0"/>
              <a:t>），</a:t>
            </a:r>
            <a:r>
              <a:rPr lang="en-US" altLang="zh-CN" dirty="0"/>
              <a:t>4</a:t>
            </a:r>
            <a:r>
              <a:rPr lang="zh-CN" altLang="en-US" dirty="0"/>
              <a:t>人均至少参加了其中的一支队伍，可得吴必须参加羽毛球项目，那么宋和韩不可能同时参加羽毛球项目，排除</a:t>
            </a:r>
            <a:r>
              <a:rPr lang="en-US" altLang="zh-CN" dirty="0"/>
              <a:t>C</a:t>
            </a:r>
            <a:r>
              <a:rPr lang="zh-CN" altLang="en-US" dirty="0"/>
              <a:t>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解析：题干每幅图形中四个黑色三角形均沿着折线逆时针方向每次走一步，且每次自身顺时针旋转</a:t>
            </a:r>
            <a:r>
              <a:rPr lang="en-US" altLang="zh-CN" dirty="0"/>
              <a:t>90</a:t>
            </a:r>
            <a:r>
              <a:rPr lang="en-US" altLang="en-US" dirty="0"/>
              <a:t>°</a:t>
            </a:r>
            <a:r>
              <a:rPr lang="zh-CN" altLang="en-US" dirty="0"/>
              <a:t>，如下图所示。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因此？处图形也应满足此规律，只有</a:t>
            </a:r>
            <a:r>
              <a:rPr lang="en-US" altLang="zh-CN" dirty="0"/>
              <a:t>A</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解析：题干图形均由不同形状小黑块连接而成，且黑色块之间围成封闭面，考虑面数量。题干图形面数量依次为</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，故？处图形面数量应为</a:t>
            </a:r>
            <a:r>
              <a:rPr lang="en-US" altLang="zh-CN" dirty="0"/>
              <a:t>5</a:t>
            </a:r>
            <a:r>
              <a:rPr lang="zh-CN" altLang="en-US" dirty="0"/>
              <a:t>，只有</a:t>
            </a:r>
            <a:r>
              <a:rPr lang="en-US" altLang="zh-CN" dirty="0"/>
              <a:t>D</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解析：第一行中，图</a:t>
            </a:r>
            <a:r>
              <a:rPr lang="en-US" altLang="zh-CN" dirty="0"/>
              <a:t>1</a:t>
            </a:r>
            <a:r>
              <a:rPr lang="zh-CN" altLang="en-US" dirty="0"/>
              <a:t>和图</a:t>
            </a:r>
            <a:r>
              <a:rPr lang="en-US" altLang="zh-CN" dirty="0"/>
              <a:t>2</a:t>
            </a:r>
            <a:r>
              <a:rPr lang="zh-CN" altLang="en-US" dirty="0"/>
              <a:t>先求异，再逆时针旋转</a:t>
            </a:r>
            <a:r>
              <a:rPr lang="en-US" altLang="zh-CN" dirty="0"/>
              <a:t>90</a:t>
            </a:r>
            <a:r>
              <a:rPr lang="en-US" altLang="en-US" dirty="0"/>
              <a:t>°</a:t>
            </a:r>
            <a:r>
              <a:rPr lang="zh-CN" altLang="en-US" dirty="0"/>
              <a:t>，即可得到图</a:t>
            </a:r>
            <a:r>
              <a:rPr lang="en-US" altLang="zh-CN" dirty="0"/>
              <a:t>3</a:t>
            </a:r>
            <a:r>
              <a:rPr lang="zh-CN" altLang="en-US" dirty="0"/>
              <a:t>；经验证，第二行满足此规律；第三行应用此规律，只有</a:t>
            </a:r>
            <a:r>
              <a:rPr lang="en-US" altLang="zh-CN" dirty="0"/>
              <a:t>C</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解析：本题考查三视图。俯视图中间一列最下方为黑色正方形，则对应正视图中间一列最下方为黑色正方形，排除</a:t>
            </a:r>
            <a:r>
              <a:rPr lang="en-US" altLang="zh-CN" dirty="0"/>
              <a:t>C</a:t>
            </a:r>
            <a:r>
              <a:rPr lang="zh-CN" altLang="en-US" dirty="0"/>
              <a:t>、</a:t>
            </a:r>
            <a:r>
              <a:rPr lang="en-US" altLang="zh-CN" dirty="0"/>
              <a:t>D</a:t>
            </a:r>
            <a:r>
              <a:rPr lang="zh-CN" altLang="en-US" dirty="0"/>
              <a:t>两项。俯视图、左视图结合选项主视图可以确定立体图形，逐一分析</a:t>
            </a:r>
            <a:r>
              <a:rPr lang="en-US" altLang="zh-CN" dirty="0"/>
              <a:t>A</a:t>
            </a:r>
            <a:r>
              <a:rPr lang="zh-CN" altLang="en-US" dirty="0"/>
              <a:t>、</a:t>
            </a:r>
            <a:r>
              <a:rPr lang="en-US" altLang="zh-CN" dirty="0"/>
              <a:t>B</a:t>
            </a:r>
            <a:r>
              <a:rPr lang="zh-CN" altLang="en-US" dirty="0"/>
              <a:t>选项。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项：如果</a:t>
            </a:r>
            <a:r>
              <a:rPr lang="en-US" altLang="zh-CN" dirty="0"/>
              <a:t>A</a:t>
            </a:r>
            <a:r>
              <a:rPr lang="zh-CN" altLang="en-US" dirty="0"/>
              <a:t>项为正视图，结合题干左视图，确定立体图形如下图所示，和题干俯视图不一致，且此时小正方体个数共为</a:t>
            </a:r>
            <a:r>
              <a:rPr lang="en-US" altLang="zh-CN" dirty="0"/>
              <a:t>16</a:t>
            </a:r>
            <a:r>
              <a:rPr lang="zh-CN" altLang="en-US" dirty="0"/>
              <a:t>个，与题干所给小正方体个数（</a:t>
            </a:r>
            <a:r>
              <a:rPr lang="en-US" altLang="zh-CN" dirty="0"/>
              <a:t>15</a:t>
            </a:r>
            <a:r>
              <a:rPr lang="zh-CN" altLang="en-US" dirty="0"/>
              <a:t>白</a:t>
            </a:r>
            <a:r>
              <a:rPr lang="en-US" altLang="zh-CN" dirty="0"/>
              <a:t>+3</a:t>
            </a:r>
            <a:r>
              <a:rPr lang="zh-CN" altLang="en-US" dirty="0"/>
              <a:t>黑）不一致，排除；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项：结合题干两个视图和</a:t>
            </a:r>
            <a:r>
              <a:rPr lang="en-US" altLang="zh-CN" dirty="0"/>
              <a:t>B</a:t>
            </a:r>
            <a:r>
              <a:rPr lang="zh-CN" altLang="en-US" dirty="0"/>
              <a:t>项，确定立体图形如下图所示（注意底层是</a:t>
            </a:r>
            <a:r>
              <a:rPr lang="en-US" altLang="zh-CN" dirty="0"/>
              <a:t>7</a:t>
            </a:r>
            <a:r>
              <a:rPr lang="zh-CN" altLang="en-US" dirty="0"/>
              <a:t>个白色块），立体图形有</a:t>
            </a:r>
            <a:r>
              <a:rPr lang="en-US" altLang="zh-CN" dirty="0"/>
              <a:t>15</a:t>
            </a:r>
            <a:r>
              <a:rPr lang="zh-CN" altLang="en-US" dirty="0"/>
              <a:t>个白色块和</a:t>
            </a:r>
            <a:r>
              <a:rPr lang="en-US" altLang="zh-CN" dirty="0"/>
              <a:t>3</a:t>
            </a:r>
            <a:r>
              <a:rPr lang="zh-CN" altLang="en-US" dirty="0"/>
              <a:t>个黑色块，符合题干要求。</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解析：将原展开图标上序号如下图，逐一进行分析。</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项：选项中左侧正方体纸盒由面</a:t>
            </a:r>
            <a:r>
              <a:rPr lang="en-US" altLang="zh-CN" dirty="0"/>
              <a:t>f</a:t>
            </a:r>
            <a:r>
              <a:rPr lang="zh-CN" altLang="en-US" dirty="0"/>
              <a:t>和面</a:t>
            </a:r>
            <a:r>
              <a:rPr lang="en-US" altLang="zh-CN" dirty="0"/>
              <a:t>i</a:t>
            </a:r>
            <a:r>
              <a:rPr lang="zh-CN" altLang="en-US" dirty="0"/>
              <a:t>构成，右侧正方体纸盒由面</a:t>
            </a:r>
            <a:r>
              <a:rPr lang="en-US" altLang="zh-CN" dirty="0"/>
              <a:t>f</a:t>
            </a:r>
            <a:r>
              <a:rPr lang="zh-CN" altLang="en-US" dirty="0"/>
              <a:t>、面</a:t>
            </a:r>
            <a:r>
              <a:rPr lang="en-US" altLang="zh-CN" dirty="0"/>
              <a:t>g</a:t>
            </a:r>
            <a:r>
              <a:rPr lang="zh-CN" altLang="en-US" dirty="0"/>
              <a:t>和面</a:t>
            </a:r>
            <a:r>
              <a:rPr lang="en-US" altLang="zh-CN" dirty="0"/>
              <a:t>k</a:t>
            </a:r>
            <a:r>
              <a:rPr lang="zh-CN" altLang="en-US" dirty="0"/>
              <a:t>构成，选项与题干展开图一致，当选；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项：选项中右侧正方体纸盒由面</a:t>
            </a:r>
            <a:r>
              <a:rPr lang="en-US" altLang="zh-CN" dirty="0"/>
              <a:t>e</a:t>
            </a:r>
            <a:r>
              <a:rPr lang="zh-CN" altLang="en-US" dirty="0"/>
              <a:t>、面</a:t>
            </a:r>
            <a:r>
              <a:rPr lang="en-US" altLang="zh-CN" dirty="0"/>
              <a:t>h</a:t>
            </a:r>
            <a:r>
              <a:rPr lang="zh-CN" altLang="en-US" dirty="0"/>
              <a:t>和面</a:t>
            </a:r>
            <a:r>
              <a:rPr lang="en-US" altLang="zh-CN" dirty="0"/>
              <a:t>i</a:t>
            </a:r>
            <a:r>
              <a:rPr lang="zh-CN" altLang="en-US" dirty="0"/>
              <a:t>构成，题干展开图中三个面的公共点与面</a:t>
            </a:r>
            <a:r>
              <a:rPr lang="en-US" altLang="zh-CN" dirty="0"/>
              <a:t>i</a:t>
            </a:r>
            <a:r>
              <a:rPr lang="zh-CN" altLang="en-US" dirty="0"/>
              <a:t>上黑块的顶点重合，而选项中三个面的公共点与面</a:t>
            </a:r>
            <a:r>
              <a:rPr lang="en-US" altLang="zh-CN" dirty="0"/>
              <a:t>i</a:t>
            </a:r>
            <a:r>
              <a:rPr lang="zh-CN" altLang="en-US" dirty="0"/>
              <a:t>上的黑块不相交，选项与题干展开图不一致，排除；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项：选项中左侧正方形纸盒由面</a:t>
            </a:r>
            <a:r>
              <a:rPr lang="en-US" altLang="zh-CN" dirty="0"/>
              <a:t>f</a:t>
            </a:r>
            <a:r>
              <a:rPr lang="zh-CN" altLang="en-US" dirty="0"/>
              <a:t>和面</a:t>
            </a:r>
            <a:r>
              <a:rPr lang="en-US" altLang="zh-CN" dirty="0"/>
              <a:t>h</a:t>
            </a:r>
            <a:r>
              <a:rPr lang="zh-CN" altLang="en-US" dirty="0"/>
              <a:t>构成，题干展开图中面</a:t>
            </a:r>
            <a:r>
              <a:rPr lang="en-US" altLang="zh-CN" dirty="0"/>
              <a:t>f</a:t>
            </a:r>
            <a:r>
              <a:rPr lang="zh-CN" altLang="en-US" dirty="0"/>
              <a:t>和面</a:t>
            </a:r>
            <a:r>
              <a:rPr lang="en-US" altLang="zh-CN" dirty="0"/>
              <a:t>h</a:t>
            </a:r>
            <a:r>
              <a:rPr lang="zh-CN" altLang="en-US" dirty="0"/>
              <a:t>为相对面，不能同时出现，选项与题干展开图不一致，排除；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项：选项中右侧正方形纸盒由面</a:t>
            </a:r>
            <a:r>
              <a:rPr lang="en-US" altLang="zh-CN" dirty="0"/>
              <a:t>f</a:t>
            </a:r>
            <a:r>
              <a:rPr lang="zh-CN" altLang="en-US" dirty="0"/>
              <a:t>、面</a:t>
            </a:r>
            <a:r>
              <a:rPr lang="en-US" altLang="zh-CN" dirty="0"/>
              <a:t>h</a:t>
            </a:r>
            <a:r>
              <a:rPr lang="zh-CN" altLang="en-US" dirty="0"/>
              <a:t>和面</a:t>
            </a:r>
            <a:r>
              <a:rPr lang="en-US" altLang="zh-CN" dirty="0"/>
              <a:t>i</a:t>
            </a:r>
            <a:r>
              <a:rPr lang="zh-CN" altLang="en-US" dirty="0"/>
              <a:t>构成，题干展开图中面</a:t>
            </a:r>
            <a:r>
              <a:rPr lang="en-US" altLang="zh-CN" dirty="0"/>
              <a:t>f</a:t>
            </a:r>
            <a:r>
              <a:rPr lang="zh-CN" altLang="en-US" dirty="0"/>
              <a:t>和面</a:t>
            </a:r>
            <a:r>
              <a:rPr lang="en-US" altLang="zh-CN" dirty="0"/>
              <a:t>h</a:t>
            </a:r>
            <a:r>
              <a:rPr lang="zh-CN" altLang="en-US" dirty="0"/>
              <a:t>为相对面，不能同时出现，选项与题干展开图不一致，排除。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解析：题干图形均出现两个黑块，且图</a:t>
            </a:r>
            <a:r>
              <a:rPr lang="en-US" altLang="en-US" dirty="0"/>
              <a:t>①③⑥</a:t>
            </a:r>
            <a:r>
              <a:rPr lang="zh-CN" altLang="en-US" dirty="0"/>
              <a:t>中两个黑块均通过一条线连接，图</a:t>
            </a:r>
            <a:r>
              <a:rPr lang="en-US" altLang="en-US" dirty="0"/>
              <a:t>②④⑤</a:t>
            </a:r>
            <a:r>
              <a:rPr lang="zh-CN" altLang="en-US" dirty="0"/>
              <a:t>中两个黑块均通过一个面连接，即图</a:t>
            </a:r>
            <a:r>
              <a:rPr lang="en-US" altLang="en-US" dirty="0"/>
              <a:t>①③⑥</a:t>
            </a:r>
            <a:r>
              <a:rPr lang="zh-CN" altLang="en-US" dirty="0"/>
              <a:t>为一组，图</a:t>
            </a:r>
            <a:r>
              <a:rPr lang="en-US" altLang="en-US" dirty="0"/>
              <a:t>②④⑤</a:t>
            </a:r>
            <a:r>
              <a:rPr lang="zh-CN" altLang="en-US" dirty="0"/>
              <a:t>为一组。</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主动交代本人应当受到党纪处分的问题</a:t>
            </a:r>
            <a:r>
              <a:rPr lang="en-US" altLang="zh-CN" dirty="0"/>
              <a:t>”</a:t>
            </a:r>
            <a:r>
              <a:rPr lang="zh-CN" altLang="en-US" dirty="0"/>
              <a:t>、</a:t>
            </a:r>
            <a:r>
              <a:rPr lang="en-US" altLang="zh-CN" dirty="0"/>
              <a:t>“</a:t>
            </a:r>
            <a:r>
              <a:rPr lang="zh-CN" altLang="en-US" dirty="0"/>
              <a:t>涉嫌违纪的党员在组织谈话函询、初步核实前向有关组织交代自己的问题</a:t>
            </a:r>
            <a:r>
              <a:rPr lang="en-US" altLang="zh-CN" dirty="0"/>
              <a:t>”</a:t>
            </a:r>
            <a:r>
              <a:rPr lang="zh-CN" altLang="en-US" dirty="0"/>
              <a:t>、</a:t>
            </a:r>
            <a:r>
              <a:rPr lang="en-US" altLang="zh-CN" dirty="0"/>
              <a:t>“</a:t>
            </a:r>
            <a:r>
              <a:rPr lang="zh-CN" altLang="en-US" dirty="0"/>
              <a:t>在谈话函询、初步核实和立案审查期间交代组织未掌握的问题</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项：甲主动找到单位领导反映同事的违纪问题，并非交代本人的违纪问题，不符合</a:t>
            </a:r>
            <a:r>
              <a:rPr lang="en-US" altLang="zh-CN" dirty="0"/>
              <a:t>“</a:t>
            </a:r>
            <a:r>
              <a:rPr lang="zh-CN" altLang="en-US" dirty="0"/>
              <a:t>主动交代本人应当受到党纪处分的问题</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项：乙在组织对其进行廉政谈话时，组织举证一项他才承认一项，不符合</a:t>
            </a:r>
            <a:r>
              <a:rPr lang="en-US" altLang="zh-CN" dirty="0"/>
              <a:t>“</a:t>
            </a:r>
            <a:r>
              <a:rPr lang="zh-CN" altLang="en-US" dirty="0"/>
              <a:t>主动交代本人应当受到党纪处分的问题</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项：丙在纪委对其个人财产有关事项进行函询时，如实交代了自己利用职权谋利的问题，符合</a:t>
            </a:r>
            <a:r>
              <a:rPr lang="en-US" altLang="zh-CN" dirty="0"/>
              <a:t>“</a:t>
            </a:r>
            <a:r>
              <a:rPr lang="zh-CN" altLang="en-US" dirty="0"/>
              <a:t>在谈话函询、初步核实和立案审查期间交代组织未掌握的问题</a:t>
            </a:r>
            <a:r>
              <a:rPr lang="en-US" altLang="zh-CN" dirty="0"/>
              <a:t>”</a:t>
            </a:r>
            <a:r>
              <a:rPr lang="zh-CN" altLang="en-US" dirty="0"/>
              <a:t>，符合定义，当选；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项：丁在纪委立案审查期间，面对确凿证据才交代了之前未交代的收受大额礼金的问题，不符合</a:t>
            </a:r>
            <a:r>
              <a:rPr lang="en-US" altLang="zh-CN" dirty="0"/>
              <a:t>“</a:t>
            </a:r>
            <a:r>
              <a:rPr lang="zh-CN" altLang="en-US" dirty="0"/>
              <a:t>主动交代本人应当受到党纪处分的问题</a:t>
            </a:r>
            <a:r>
              <a:rPr lang="en-US" altLang="zh-CN" dirty="0"/>
              <a:t>”</a:t>
            </a:r>
            <a:r>
              <a:rPr lang="zh-CN" altLang="en-US" dirty="0"/>
              <a:t>、</a:t>
            </a:r>
            <a:r>
              <a:rPr lang="en-US" altLang="zh-CN" dirty="0"/>
              <a:t>“</a:t>
            </a:r>
            <a:r>
              <a:rPr lang="zh-CN" altLang="en-US" dirty="0"/>
              <a:t>在谈话函询、初步核实和立案审查期间交代组织未掌握的问题</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解析：直线型组织结构：</a:t>
            </a:r>
            <a:r>
              <a:rPr lang="en-US" altLang="zh-CN" dirty="0"/>
              <a:t>“</a:t>
            </a:r>
            <a:r>
              <a:rPr lang="zh-CN" altLang="en-US" dirty="0"/>
              <a:t>每一个部门只对其直接的下属部门下达工作指令</a:t>
            </a:r>
            <a:r>
              <a:rPr lang="en-US" altLang="zh-CN" dirty="0"/>
              <a:t>”</a:t>
            </a:r>
            <a:r>
              <a:rPr lang="zh-CN" altLang="en-US" dirty="0"/>
              <a:t>、</a:t>
            </a:r>
            <a:r>
              <a:rPr lang="en-US" altLang="zh-CN" dirty="0"/>
              <a:t>“</a:t>
            </a:r>
            <a:r>
              <a:rPr lang="zh-CN" altLang="en-US" dirty="0"/>
              <a:t>不能越级指挥</a:t>
            </a:r>
            <a:r>
              <a:rPr lang="en-US" altLang="zh-CN" dirty="0"/>
              <a:t>”</a:t>
            </a:r>
            <a:r>
              <a:rPr lang="zh-CN" altLang="en-US" dirty="0"/>
              <a:t>、</a:t>
            </a:r>
            <a:r>
              <a:rPr lang="en-US" altLang="zh-CN" dirty="0"/>
              <a:t>“</a:t>
            </a:r>
            <a:r>
              <a:rPr lang="zh-CN" altLang="en-US" dirty="0"/>
              <a:t>每一个部门也只有一个直接的上级部门</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职能型组织结构：</a:t>
            </a:r>
            <a:r>
              <a:rPr lang="en-US" altLang="zh-CN" dirty="0"/>
              <a:t>“</a:t>
            </a:r>
            <a:r>
              <a:rPr lang="zh-CN" altLang="en-US" dirty="0"/>
              <a:t>每一个部门都可对其下属部门下达工作指令</a:t>
            </a:r>
            <a:r>
              <a:rPr lang="en-US" altLang="zh-CN" dirty="0"/>
              <a:t>”</a:t>
            </a:r>
            <a:r>
              <a:rPr lang="zh-CN" altLang="en-US" dirty="0"/>
              <a:t>、</a:t>
            </a:r>
            <a:r>
              <a:rPr lang="en-US" altLang="zh-CN" dirty="0"/>
              <a:t>“</a:t>
            </a:r>
            <a:r>
              <a:rPr lang="zh-CN" altLang="en-US" dirty="0"/>
              <a:t>每一个下属部门可能得到不同上级部门下达的多个工作指令</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直线职能型组织结构：</a:t>
            </a:r>
            <a:r>
              <a:rPr lang="en-US" altLang="zh-CN" dirty="0"/>
              <a:t>“</a:t>
            </a:r>
            <a:r>
              <a:rPr lang="zh-CN" altLang="en-US" dirty="0"/>
              <a:t>在主管之下设置相应的职能部门，实行主管统一指挥与职能部门参谋指导相结合的管理方式</a:t>
            </a:r>
            <a:r>
              <a:rPr lang="en-US" altLang="zh-CN" dirty="0"/>
              <a:t>”</a:t>
            </a:r>
            <a:r>
              <a:rPr lang="zh-CN" altLang="en-US" dirty="0"/>
              <a:t>、</a:t>
            </a:r>
            <a:r>
              <a:rPr lang="en-US" altLang="zh-CN" dirty="0"/>
              <a:t>“</a:t>
            </a:r>
            <a:r>
              <a:rPr lang="zh-CN" altLang="en-US" dirty="0"/>
              <a:t>各部门既受上级的管理，又受同级职能管理部门的业务指导和监督</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事业部组织结构：</a:t>
            </a:r>
            <a:r>
              <a:rPr lang="en-US" altLang="zh-CN" dirty="0"/>
              <a:t>“</a:t>
            </a:r>
            <a:r>
              <a:rPr lang="zh-CN" altLang="en-US" dirty="0"/>
              <a:t>由相对独立的事业部组成的组织结构</a:t>
            </a:r>
            <a:r>
              <a:rPr lang="en-US" altLang="zh-CN" dirty="0"/>
              <a:t>”</a:t>
            </a:r>
            <a:r>
              <a:rPr lang="zh-CN" altLang="en-US" dirty="0"/>
              <a:t>、</a:t>
            </a:r>
            <a:r>
              <a:rPr lang="en-US" altLang="zh-CN" dirty="0"/>
              <a:t>“</a:t>
            </a:r>
            <a:r>
              <a:rPr lang="zh-CN" altLang="en-US" dirty="0"/>
              <a:t>通常按照地区或项目来划分事业部</a:t>
            </a:r>
            <a:r>
              <a:rPr lang="en-US" altLang="zh-CN" dirty="0"/>
              <a:t>”</a:t>
            </a:r>
            <a:r>
              <a:rPr lang="zh-CN" altLang="en-US" dirty="0"/>
              <a:t>、</a:t>
            </a:r>
            <a:r>
              <a:rPr lang="en-US" altLang="zh-CN" dirty="0"/>
              <a:t>“</a:t>
            </a:r>
            <a:r>
              <a:rPr lang="zh-CN" altLang="en-US" dirty="0"/>
              <a:t>每个事业部拥有较大的自主权</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项：结构图中项目二组和项目三组等存在多个上级部门下达指令，不符合</a:t>
            </a:r>
            <a:r>
              <a:rPr lang="en-US" altLang="zh-CN" dirty="0"/>
              <a:t>“</a:t>
            </a:r>
            <a:r>
              <a:rPr lang="zh-CN" altLang="en-US" dirty="0"/>
              <a:t>每一个部门也只有一个直接的上级部门</a:t>
            </a:r>
            <a:r>
              <a:rPr lang="en-US" altLang="zh-CN" dirty="0"/>
              <a:t>”</a:t>
            </a:r>
            <a:r>
              <a:rPr lang="zh-CN" altLang="en-US" dirty="0"/>
              <a:t>，不符合</a:t>
            </a:r>
            <a:r>
              <a:rPr lang="en-US" altLang="zh-CN" dirty="0"/>
              <a:t>“</a:t>
            </a:r>
            <a:r>
              <a:rPr lang="zh-CN" altLang="en-US" dirty="0"/>
              <a:t>直线型组织结构</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项：结构图中的每一个部门都有上级部门，且项目二组和项目三组等存在多个上级部门下达工作指令，符合</a:t>
            </a:r>
            <a:r>
              <a:rPr lang="en-US" altLang="zh-CN" dirty="0"/>
              <a:t>“</a:t>
            </a:r>
            <a:r>
              <a:rPr lang="zh-CN" altLang="en-US" dirty="0"/>
              <a:t>每一个部门都可对其下属部门下达工作指令</a:t>
            </a:r>
            <a:r>
              <a:rPr lang="en-US" altLang="zh-CN" dirty="0"/>
              <a:t>”</a:t>
            </a:r>
            <a:r>
              <a:rPr lang="zh-CN" altLang="en-US" dirty="0"/>
              <a:t>、</a:t>
            </a:r>
            <a:r>
              <a:rPr lang="en-US" altLang="zh-CN" dirty="0"/>
              <a:t>“</a:t>
            </a:r>
            <a:r>
              <a:rPr lang="zh-CN" altLang="en-US" dirty="0"/>
              <a:t>每一个下属部门可能得到不同上级部门下达的多个工作指令</a:t>
            </a:r>
            <a:r>
              <a:rPr lang="en-US" altLang="zh-CN" dirty="0"/>
              <a:t>”</a:t>
            </a:r>
            <a:r>
              <a:rPr lang="zh-CN" altLang="en-US" dirty="0"/>
              <a:t>，符合</a:t>
            </a:r>
            <a:r>
              <a:rPr lang="en-US" altLang="zh-CN" dirty="0"/>
              <a:t>“</a:t>
            </a:r>
            <a:r>
              <a:rPr lang="zh-CN" altLang="en-US" dirty="0"/>
              <a:t>职能型组织结构</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项：结构图中的每个部门都不存在同级职能管理部门的业务指导和监督，不符合</a:t>
            </a:r>
            <a:r>
              <a:rPr lang="en-US" altLang="zh-CN" dirty="0"/>
              <a:t>“</a:t>
            </a:r>
            <a:r>
              <a:rPr lang="zh-CN" altLang="en-US" dirty="0"/>
              <a:t>各部门既受上级的管理，又受同级职能管理部门的业务指导和监督</a:t>
            </a:r>
            <a:r>
              <a:rPr lang="en-US" altLang="zh-CN" dirty="0"/>
              <a:t>”</a:t>
            </a:r>
            <a:r>
              <a:rPr lang="zh-CN" altLang="en-US" dirty="0"/>
              <a:t>，不符合</a:t>
            </a:r>
            <a:r>
              <a:rPr lang="en-US" altLang="zh-CN" dirty="0"/>
              <a:t>“</a:t>
            </a:r>
            <a:r>
              <a:rPr lang="zh-CN" altLang="en-US" dirty="0"/>
              <a:t>直线职能型组织结构</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项：结构图中工种技术部、财务管理部、合同管理部以及项目二组、项目三组等都需要按照上级下达的指令工作，不符合</a:t>
            </a:r>
            <a:r>
              <a:rPr lang="en-US" altLang="zh-CN" dirty="0"/>
              <a:t>“</a:t>
            </a:r>
            <a:r>
              <a:rPr lang="zh-CN" altLang="en-US" dirty="0"/>
              <a:t>每个事业部拥有较大的自主权</a:t>
            </a:r>
            <a:r>
              <a:rPr lang="en-US" altLang="zh-CN" dirty="0"/>
              <a:t>”</a:t>
            </a:r>
            <a:r>
              <a:rPr lang="zh-CN" altLang="en-US" dirty="0"/>
              <a:t>，不符合</a:t>
            </a:r>
            <a:r>
              <a:rPr lang="en-US" altLang="zh-CN" dirty="0"/>
              <a:t>“</a:t>
            </a:r>
            <a:r>
              <a:rPr lang="zh-CN" altLang="en-US" dirty="0"/>
              <a:t>事业部组织结构</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解析：叙实动词：</a:t>
            </a:r>
            <a:r>
              <a:rPr lang="en-US" altLang="zh-CN" dirty="0"/>
              <a:t>“</a:t>
            </a:r>
            <a:r>
              <a:rPr lang="zh-CN" altLang="en-US" dirty="0"/>
              <a:t>肯定式和否定式都预设其宾语小句为真</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非叙实动词：</a:t>
            </a:r>
            <a:r>
              <a:rPr lang="en-US" altLang="zh-CN" dirty="0"/>
              <a:t>“</a:t>
            </a:r>
            <a:r>
              <a:rPr lang="zh-CN" altLang="en-US" dirty="0"/>
              <a:t>肯定式和否定式都不预设其宾语小句为真，也不预设其宾语小句为假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反叙实动词：</a:t>
            </a:r>
            <a:r>
              <a:rPr lang="en-US" altLang="zh-CN" dirty="0"/>
              <a:t>“</a:t>
            </a:r>
            <a:r>
              <a:rPr lang="zh-CN" altLang="en-US" dirty="0"/>
              <a:t>肯定式和否定式都预设其宾语小句为假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a:t>
            </a:r>
            <a:r>
              <a:rPr lang="en-US" altLang="zh-CN" dirty="0"/>
              <a:t>“</a:t>
            </a:r>
            <a:r>
              <a:rPr lang="zh-CN" altLang="en-US" dirty="0"/>
              <a:t>我听说他来过这里</a:t>
            </a:r>
            <a:r>
              <a:rPr lang="en-US" altLang="zh-CN" dirty="0"/>
              <a:t>”</a:t>
            </a:r>
            <a:r>
              <a:rPr lang="zh-CN" altLang="en-US" dirty="0"/>
              <a:t>中的</a:t>
            </a:r>
            <a:r>
              <a:rPr lang="en-US" altLang="zh-CN" dirty="0"/>
              <a:t>“</a:t>
            </a:r>
            <a:r>
              <a:rPr lang="zh-CN" altLang="en-US" dirty="0"/>
              <a:t>听说</a:t>
            </a:r>
            <a:r>
              <a:rPr lang="en-US" altLang="zh-CN" dirty="0"/>
              <a:t>”</a:t>
            </a:r>
            <a:r>
              <a:rPr lang="zh-CN" altLang="en-US" dirty="0"/>
              <a:t>只是陈述信息的来源，没有预设</a:t>
            </a:r>
            <a:r>
              <a:rPr lang="en-US" altLang="zh-CN" dirty="0"/>
              <a:t>“</a:t>
            </a:r>
            <a:r>
              <a:rPr lang="zh-CN" altLang="en-US" dirty="0"/>
              <a:t>来过这里</a:t>
            </a:r>
            <a:r>
              <a:rPr lang="en-US" altLang="zh-CN" dirty="0"/>
              <a:t>”</a:t>
            </a:r>
            <a:r>
              <a:rPr lang="zh-CN" altLang="en-US" dirty="0"/>
              <a:t>为真或为假，符合</a:t>
            </a:r>
            <a:r>
              <a:rPr lang="en-US" altLang="zh-CN" dirty="0"/>
              <a:t>“</a:t>
            </a:r>
            <a:r>
              <a:rPr lang="zh-CN" altLang="en-US" dirty="0"/>
              <a:t>肯定式和否定式都不预设其宾语小句为真，也不预设其宾语小句为假</a:t>
            </a:r>
            <a:r>
              <a:rPr lang="en-US" altLang="zh-CN" dirty="0"/>
              <a:t>”</a:t>
            </a:r>
            <a:r>
              <a:rPr lang="zh-CN" altLang="en-US" dirty="0"/>
              <a:t>，符合</a:t>
            </a:r>
            <a:r>
              <a:rPr lang="en-US" altLang="zh-CN" dirty="0"/>
              <a:t>“</a:t>
            </a:r>
            <a:r>
              <a:rPr lang="zh-CN" altLang="en-US" dirty="0"/>
              <a:t>非叙实动词</a:t>
            </a:r>
            <a:r>
              <a:rPr lang="en-US" altLang="zh-CN" dirty="0"/>
              <a:t>”</a:t>
            </a:r>
            <a:r>
              <a:rPr lang="zh-CN" altLang="en-US" dirty="0"/>
              <a:t>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a:t>
            </a:r>
            <a:r>
              <a:rPr lang="en-US" altLang="zh-CN" dirty="0"/>
              <a:t>“</a:t>
            </a:r>
            <a:r>
              <a:rPr lang="zh-CN" altLang="en-US" dirty="0"/>
              <a:t>我庆幸听了你的建议</a:t>
            </a:r>
            <a:r>
              <a:rPr lang="en-US" altLang="zh-CN" dirty="0"/>
              <a:t>”</a:t>
            </a:r>
            <a:r>
              <a:rPr lang="zh-CN" altLang="en-US" dirty="0"/>
              <a:t>中的</a:t>
            </a:r>
            <a:r>
              <a:rPr lang="en-US" altLang="zh-CN" dirty="0"/>
              <a:t>“</a:t>
            </a:r>
            <a:r>
              <a:rPr lang="zh-CN" altLang="en-US" dirty="0"/>
              <a:t>庆幸</a:t>
            </a:r>
            <a:r>
              <a:rPr lang="en-US" altLang="zh-CN" dirty="0"/>
              <a:t>”</a:t>
            </a:r>
            <a:r>
              <a:rPr lang="zh-CN" altLang="en-US" dirty="0"/>
              <a:t>意味着听了建议是已经发生的事实，是预设其为真，符合</a:t>
            </a:r>
            <a:r>
              <a:rPr lang="en-US" altLang="zh-CN" dirty="0"/>
              <a:t>“</a:t>
            </a:r>
            <a:r>
              <a:rPr lang="zh-CN" altLang="en-US" dirty="0"/>
              <a:t>肯定式和否定式都预设其宾语小句为真</a:t>
            </a:r>
            <a:r>
              <a:rPr lang="en-US" altLang="zh-CN" dirty="0"/>
              <a:t>”</a:t>
            </a:r>
            <a:r>
              <a:rPr lang="zh-CN" altLang="en-US" dirty="0"/>
              <a:t>，符合</a:t>
            </a:r>
            <a:r>
              <a:rPr lang="en-US" altLang="zh-CN" dirty="0"/>
              <a:t>“</a:t>
            </a:r>
            <a:r>
              <a:rPr lang="zh-CN" altLang="en-US" dirty="0"/>
              <a:t>叙实动词</a:t>
            </a:r>
            <a:r>
              <a:rPr lang="en-US" altLang="zh-CN" dirty="0"/>
              <a:t>”</a:t>
            </a:r>
            <a:r>
              <a:rPr lang="zh-CN" altLang="en-US" dirty="0"/>
              <a:t>定义，不符合</a:t>
            </a:r>
            <a:r>
              <a:rPr lang="en-US" altLang="zh-CN" dirty="0"/>
              <a:t>“</a:t>
            </a:r>
            <a:r>
              <a:rPr lang="zh-CN" altLang="en-US" dirty="0"/>
              <a:t>非叙实动词</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a:t>
            </a:r>
            <a:r>
              <a:rPr lang="en-US" altLang="zh-CN" dirty="0"/>
              <a:t>“</a:t>
            </a:r>
            <a:r>
              <a:rPr lang="zh-CN" altLang="en-US" dirty="0"/>
              <a:t>我知道你帮助过我</a:t>
            </a:r>
            <a:r>
              <a:rPr lang="en-US" altLang="zh-CN" dirty="0"/>
              <a:t>”</a:t>
            </a:r>
            <a:r>
              <a:rPr lang="zh-CN" altLang="en-US" dirty="0"/>
              <a:t>中的</a:t>
            </a:r>
            <a:r>
              <a:rPr lang="en-US" altLang="zh-CN" dirty="0"/>
              <a:t>“</a:t>
            </a:r>
            <a:r>
              <a:rPr lang="zh-CN" altLang="en-US" dirty="0"/>
              <a:t>知道</a:t>
            </a:r>
            <a:r>
              <a:rPr lang="en-US" altLang="zh-CN" dirty="0"/>
              <a:t>”</a:t>
            </a:r>
            <a:r>
              <a:rPr lang="zh-CN" altLang="en-US" dirty="0"/>
              <a:t>意味着帮助过我是真实存在的事实，是预设其为真，符合</a:t>
            </a:r>
            <a:r>
              <a:rPr lang="en-US" altLang="zh-CN" dirty="0"/>
              <a:t>“</a:t>
            </a:r>
            <a:r>
              <a:rPr lang="zh-CN" altLang="en-US" dirty="0"/>
              <a:t>肯定式和否定式都预设其宾语小句为真</a:t>
            </a:r>
            <a:r>
              <a:rPr lang="en-US" altLang="zh-CN" dirty="0"/>
              <a:t>”</a:t>
            </a:r>
            <a:r>
              <a:rPr lang="zh-CN" altLang="en-US" dirty="0"/>
              <a:t>，符合</a:t>
            </a:r>
            <a:r>
              <a:rPr lang="en-US" altLang="zh-CN" dirty="0"/>
              <a:t>“</a:t>
            </a:r>
            <a:r>
              <a:rPr lang="zh-CN" altLang="en-US" dirty="0"/>
              <a:t>叙实动词</a:t>
            </a:r>
            <a:r>
              <a:rPr lang="en-US" altLang="zh-CN" dirty="0"/>
              <a:t>”</a:t>
            </a:r>
            <a:r>
              <a:rPr lang="zh-CN" altLang="en-US" dirty="0"/>
              <a:t>定义，不符合</a:t>
            </a:r>
            <a:r>
              <a:rPr lang="en-US" altLang="zh-CN" dirty="0"/>
              <a:t>“</a:t>
            </a:r>
            <a:r>
              <a:rPr lang="zh-CN" altLang="en-US" dirty="0"/>
              <a:t>非叙实动词</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a:t>
            </a:r>
            <a:r>
              <a:rPr lang="en-US" altLang="zh-CN" dirty="0"/>
              <a:t>“</a:t>
            </a:r>
            <a:r>
              <a:rPr lang="zh-CN" altLang="en-US" dirty="0"/>
              <a:t>我幻想成为一只小鸟</a:t>
            </a:r>
            <a:r>
              <a:rPr lang="en-US" altLang="zh-CN" dirty="0"/>
              <a:t>”</a:t>
            </a:r>
            <a:r>
              <a:rPr lang="zh-CN" altLang="en-US" dirty="0"/>
              <a:t>中的</a:t>
            </a:r>
            <a:r>
              <a:rPr lang="en-US" altLang="zh-CN" dirty="0"/>
              <a:t>“</a:t>
            </a:r>
            <a:r>
              <a:rPr lang="zh-CN" altLang="en-US" dirty="0"/>
              <a:t>幻想</a:t>
            </a:r>
            <a:r>
              <a:rPr lang="en-US" altLang="zh-CN" dirty="0"/>
              <a:t>”</a:t>
            </a:r>
            <a:r>
              <a:rPr lang="zh-CN" altLang="en-US" dirty="0"/>
              <a:t>是不可能发生的事，是预设其为假，不符合</a:t>
            </a:r>
            <a:r>
              <a:rPr lang="en-US" altLang="zh-CN" dirty="0"/>
              <a:t>“</a:t>
            </a:r>
            <a:r>
              <a:rPr lang="zh-CN" altLang="en-US" dirty="0"/>
              <a:t>肯定式和否定式都不预设其宾语小句为真，也不预设其宾语小句为假</a:t>
            </a:r>
            <a:r>
              <a:rPr lang="en-US" altLang="zh-CN" dirty="0"/>
              <a:t>”</a:t>
            </a:r>
            <a:r>
              <a:rPr lang="zh-CN" altLang="en-US" dirty="0"/>
              <a:t>，不符合</a:t>
            </a:r>
            <a:r>
              <a:rPr lang="en-US" altLang="zh-CN" dirty="0"/>
              <a:t>“</a:t>
            </a:r>
            <a:r>
              <a:rPr lang="zh-CN" altLang="en-US" dirty="0"/>
              <a:t>非叙实动词</a:t>
            </a:r>
            <a:r>
              <a:rPr lang="en-US" altLang="zh-CN" dirty="0"/>
              <a:t>”</a:t>
            </a:r>
            <a:r>
              <a:rPr lang="zh-CN" altLang="en-US" dirty="0"/>
              <a:t>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解析：自主动机：</a:t>
            </a:r>
            <a:r>
              <a:rPr lang="en-US" altLang="zh-CN" dirty="0"/>
              <a:t>“</a:t>
            </a:r>
            <a:r>
              <a:rPr lang="zh-CN" altLang="en-US" dirty="0"/>
              <a:t>出于兴趣或内在满足感</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外部动机：</a:t>
            </a:r>
            <a:r>
              <a:rPr lang="en-US" altLang="zh-CN" dirty="0"/>
              <a:t>“</a:t>
            </a:r>
            <a:r>
              <a:rPr lang="zh-CN" altLang="en-US" dirty="0"/>
              <a:t>为获得外部奖励或避免惩罚</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自主性需求：</a:t>
            </a:r>
            <a:r>
              <a:rPr lang="en-US" altLang="zh-CN" dirty="0"/>
              <a:t>“</a:t>
            </a:r>
            <a:r>
              <a:rPr lang="zh-CN" altLang="en-US" dirty="0"/>
              <a:t>希望自己能控制和选择自己的行为，而不是受到外部强制</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胜任性需求：</a:t>
            </a:r>
            <a:r>
              <a:rPr lang="en-US" altLang="zh-CN" dirty="0"/>
              <a:t>“</a:t>
            </a:r>
            <a:r>
              <a:rPr lang="zh-CN" altLang="en-US" dirty="0"/>
              <a:t>希望能在自己做的事上获得成就感和自我效能感</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归属感需求：</a:t>
            </a:r>
            <a:r>
              <a:rPr lang="en-US" altLang="zh-CN" dirty="0"/>
              <a:t>“</a:t>
            </a:r>
            <a:r>
              <a:rPr lang="zh-CN" altLang="en-US" dirty="0"/>
              <a:t>希望与他人建立有意义的联系，感受到归属和支持</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项：小张参加了一项感兴趣的社交活动，符合</a:t>
            </a:r>
            <a:r>
              <a:rPr lang="en-US" altLang="zh-CN" dirty="0"/>
              <a:t>“</a:t>
            </a:r>
            <a:r>
              <a:rPr lang="zh-CN" altLang="en-US" dirty="0"/>
              <a:t>出于兴趣或内在满足感</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，体现了自主动机；他认为这能帮助自己结交新朋友，符合</a:t>
            </a:r>
            <a:r>
              <a:rPr lang="en-US" altLang="zh-CN" dirty="0"/>
              <a:t>“</a:t>
            </a:r>
            <a:r>
              <a:rPr lang="zh-CN" altLang="en-US" dirty="0"/>
              <a:t>希望与他人建立有意义的联系，感受到归属和支持</a:t>
            </a:r>
            <a:r>
              <a:rPr lang="en-US" altLang="zh-CN" dirty="0"/>
              <a:t>”</a:t>
            </a:r>
            <a:r>
              <a:rPr lang="zh-CN" altLang="en-US" dirty="0"/>
              <a:t>，体现了归属感需求，说法正确，排除；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项：小李担心不参加被扣绩效，符合</a:t>
            </a:r>
            <a:r>
              <a:rPr lang="en-US" altLang="zh-CN" dirty="0"/>
              <a:t>“</a:t>
            </a:r>
            <a:r>
              <a:rPr lang="zh-CN" altLang="en-US" dirty="0"/>
              <a:t>为获得外部奖励或避免惩罚</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，体现了外部动机；但小李担心如果不参加就会被扣绩效，说明其受到外部约束，不符合</a:t>
            </a:r>
            <a:r>
              <a:rPr lang="en-US" altLang="zh-CN" dirty="0"/>
              <a:t>“</a:t>
            </a:r>
            <a:r>
              <a:rPr lang="zh-CN" altLang="en-US" dirty="0"/>
              <a:t>希望自己能控制和选择自己的行为，而不是受到外部强制</a:t>
            </a:r>
            <a:r>
              <a:rPr lang="en-US" altLang="zh-CN" dirty="0"/>
              <a:t>”</a:t>
            </a:r>
            <a:r>
              <a:rPr lang="zh-CN" altLang="en-US" dirty="0"/>
              <a:t>，没有体现自主性需求，说法错误，当选；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项：小王每天晨跑，很享受锻炼带来的满足感，符合</a:t>
            </a:r>
            <a:r>
              <a:rPr lang="en-US" altLang="zh-CN" dirty="0"/>
              <a:t>“</a:t>
            </a:r>
            <a:r>
              <a:rPr lang="zh-CN" altLang="en-US" dirty="0"/>
              <a:t>出于兴趣或内在满足感</a:t>
            </a:r>
            <a:r>
              <a:rPr lang="en-US" altLang="zh-CN" dirty="0"/>
              <a:t>”</a:t>
            </a:r>
            <a:r>
              <a:rPr lang="zh-CN" altLang="en-US" dirty="0"/>
              <a:t>、</a:t>
            </a:r>
            <a:r>
              <a:rPr lang="en-US" altLang="zh-CN" dirty="0"/>
              <a:t>“</a:t>
            </a:r>
            <a:r>
              <a:rPr lang="zh-CN" altLang="en-US" dirty="0"/>
              <a:t>从事某种活动</a:t>
            </a:r>
            <a:r>
              <a:rPr lang="en-US" altLang="zh-CN" dirty="0"/>
              <a:t>”</a:t>
            </a:r>
            <a:r>
              <a:rPr lang="zh-CN" altLang="en-US" dirty="0"/>
              <a:t>，体现了自主动机；他坚信这是促进健康的必要努力，符合</a:t>
            </a:r>
            <a:r>
              <a:rPr lang="en-US" altLang="zh-CN" dirty="0"/>
              <a:t>“</a:t>
            </a:r>
            <a:r>
              <a:rPr lang="zh-CN" altLang="en-US" dirty="0"/>
              <a:t>希望能在自己做的事上获得成就感和自我效能感</a:t>
            </a:r>
            <a:r>
              <a:rPr lang="en-US" altLang="zh-CN" dirty="0"/>
              <a:t>”</a:t>
            </a:r>
            <a:r>
              <a:rPr lang="zh-CN" altLang="en-US" dirty="0"/>
              <a:t>，体现了胜任性需求，说法正确，排除；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项：小陈和队友为实现团体奖牌零的突破而努力，追求的是成就感，符合</a:t>
            </a:r>
            <a:r>
              <a:rPr lang="en-US" altLang="zh-CN" dirty="0"/>
              <a:t>“</a:t>
            </a:r>
            <a:r>
              <a:rPr lang="zh-CN" altLang="en-US" dirty="0"/>
              <a:t>希望能在自己做的事上获得成就感和自我效能感</a:t>
            </a:r>
            <a:r>
              <a:rPr lang="en-US" altLang="zh-CN" dirty="0"/>
              <a:t>”</a:t>
            </a:r>
            <a:r>
              <a:rPr lang="zh-CN" altLang="en-US" dirty="0"/>
              <a:t>，体现了胜任性需求；他与队友相互鼓励，符合</a:t>
            </a:r>
            <a:r>
              <a:rPr lang="en-US" altLang="zh-CN" dirty="0"/>
              <a:t>“</a:t>
            </a:r>
            <a:r>
              <a:rPr lang="zh-CN" altLang="en-US" dirty="0"/>
              <a:t>希望与他人建立有意义的联系，感受到归属和支持</a:t>
            </a:r>
            <a:r>
              <a:rPr lang="en-US" altLang="zh-CN" dirty="0"/>
              <a:t>”</a:t>
            </a:r>
            <a:r>
              <a:rPr lang="zh-CN" altLang="en-US" dirty="0"/>
              <a:t>，体现了归属感需求，说法正确，排除。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企业对生产运作过程中各工序原材料、半成品</a:t>
            </a:r>
            <a:r>
              <a:rPr lang="en-US" altLang="zh-CN" dirty="0"/>
              <a:t>”</a:t>
            </a:r>
            <a:r>
              <a:rPr lang="zh-CN" altLang="en-US" dirty="0"/>
              <a:t>、</a:t>
            </a:r>
            <a:r>
              <a:rPr lang="en-US" altLang="zh-CN" dirty="0"/>
              <a:t>“</a:t>
            </a:r>
            <a:r>
              <a:rPr lang="zh-CN" altLang="en-US" dirty="0"/>
              <a:t>按照位置、数量、质量及车间之间的物料转运等进行的控制</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项：服装厂确保衣料在不同流水线上流转有序，其中衣料属于生产运作过程中的原材料，符合</a:t>
            </a:r>
            <a:r>
              <a:rPr lang="en-US" altLang="zh-CN" dirty="0"/>
              <a:t>“</a:t>
            </a:r>
            <a:r>
              <a:rPr lang="zh-CN" altLang="en-US" dirty="0"/>
              <a:t>企业对生产运作过程中各工序原材料、半成品</a:t>
            </a:r>
            <a:r>
              <a:rPr lang="en-US" altLang="zh-CN" dirty="0"/>
              <a:t>”</a:t>
            </a:r>
            <a:r>
              <a:rPr lang="zh-CN" altLang="en-US" dirty="0"/>
              <a:t>，在流水线上流转属于在车间内的物料转运，符合</a:t>
            </a:r>
            <a:r>
              <a:rPr lang="en-US" altLang="zh-CN" dirty="0"/>
              <a:t>“</a:t>
            </a:r>
            <a:r>
              <a:rPr lang="zh-CN" altLang="en-US" dirty="0"/>
              <a:t>按照位置、数量、质量及车间之间的物料转运等进行的控制</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项：食品厂设立质检员，定时对各个工序的食材抽样进行衍生物检测，剔除不良品，其中对各个工序的食材抽样属于在生产运作过程中的原材料、半成品，符合</a:t>
            </a:r>
            <a:r>
              <a:rPr lang="en-US" altLang="zh-CN" dirty="0"/>
              <a:t>“</a:t>
            </a:r>
            <a:r>
              <a:rPr lang="zh-CN" altLang="en-US" dirty="0"/>
              <a:t>企业对生产运作过程中各工序原材料、半成品</a:t>
            </a:r>
            <a:r>
              <a:rPr lang="en-US" altLang="zh-CN" dirty="0"/>
              <a:t>”</a:t>
            </a:r>
            <a:r>
              <a:rPr lang="zh-CN" altLang="en-US" dirty="0"/>
              <a:t>，质检员抽样检测是对产品质量的把控，符合</a:t>
            </a:r>
            <a:r>
              <a:rPr lang="en-US" altLang="zh-CN" dirty="0"/>
              <a:t>“</a:t>
            </a:r>
            <a:r>
              <a:rPr lang="zh-CN" altLang="en-US" dirty="0"/>
              <a:t>按照位置、数量、质量及车间之间的物料转运等进行的控制</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项：制药厂规定员工进入洁净区后需每两小时洗手一次，这是对员工进行要求，并非对原材料、半成品进行把控，不符合</a:t>
            </a:r>
            <a:r>
              <a:rPr lang="en-US" altLang="zh-CN" dirty="0"/>
              <a:t>“</a:t>
            </a:r>
            <a:r>
              <a:rPr lang="zh-CN" altLang="en-US" dirty="0"/>
              <a:t>企业对生产运作过程中各工序原材料、半成品</a:t>
            </a:r>
            <a:r>
              <a:rPr lang="en-US" altLang="zh-CN" dirty="0"/>
              <a:t>”</a:t>
            </a:r>
            <a:r>
              <a:rPr lang="zh-CN" altLang="en-US" dirty="0"/>
              <a:t>进行控制，不符合定义，当选；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项：家具厂对板材进行定期盘点，并合理摆放，体现了企业对在生产过程中的板材进行数量把控，符合</a:t>
            </a:r>
            <a:r>
              <a:rPr lang="en-US" altLang="zh-CN" dirty="0"/>
              <a:t>“</a:t>
            </a:r>
            <a:r>
              <a:rPr lang="zh-CN" altLang="en-US" dirty="0"/>
              <a:t>企业对生产运作过程中各工序原材料、半成品</a:t>
            </a:r>
            <a:r>
              <a:rPr lang="en-US" altLang="zh-CN" dirty="0"/>
              <a:t>”</a:t>
            </a:r>
            <a:r>
              <a:rPr lang="zh-CN" altLang="en-US" dirty="0"/>
              <a:t>、</a:t>
            </a:r>
            <a:r>
              <a:rPr lang="en-US" altLang="zh-CN" dirty="0"/>
              <a:t>“</a:t>
            </a:r>
            <a:r>
              <a:rPr lang="zh-CN" altLang="en-US" dirty="0"/>
              <a:t>按照位置、数量、质量及车间之间的物料转运等进行的控制</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机械设备没有发生故障或尚未造成损坏</a:t>
            </a:r>
            <a:r>
              <a:rPr lang="en-US" altLang="zh-CN" dirty="0"/>
              <a:t>”</a:t>
            </a:r>
            <a:r>
              <a:rPr lang="zh-CN" altLang="en-US" dirty="0"/>
              <a:t>、</a:t>
            </a:r>
            <a:r>
              <a:rPr lang="en-US" altLang="zh-CN" dirty="0"/>
              <a:t>“</a:t>
            </a:r>
            <a:r>
              <a:rPr lang="zh-CN" altLang="en-US" dirty="0"/>
              <a:t>对产品的系统性检查，设备测试或更换以防止设备发生故障</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项：道路两旁护栏不是机械设备，且发现护栏松动、断裂时进行修复，是护栏出现问题之后的维修，不符合</a:t>
            </a:r>
            <a:r>
              <a:rPr lang="en-US" altLang="zh-CN" dirty="0"/>
              <a:t>“</a:t>
            </a:r>
            <a:r>
              <a:rPr lang="zh-CN" altLang="en-US" dirty="0"/>
              <a:t>机械设备没有发生故障或尚未造成损坏</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项：正式制造某种设备前的测量，是生产环节的质量检查，不是对已有设备的维护，不符合</a:t>
            </a:r>
            <a:r>
              <a:rPr lang="en-US" altLang="zh-CN" dirty="0"/>
              <a:t>“</a:t>
            </a:r>
            <a:r>
              <a:rPr lang="zh-CN" altLang="en-US" dirty="0"/>
              <a:t>机械设备没有发生故障或尚未造成损坏</a:t>
            </a:r>
            <a:r>
              <a:rPr lang="en-US" altLang="zh-CN" dirty="0"/>
              <a:t>”</a:t>
            </a:r>
            <a:r>
              <a:rPr lang="zh-CN" altLang="en-US" dirty="0"/>
              <a:t>、</a:t>
            </a:r>
            <a:r>
              <a:rPr lang="en-US" altLang="zh-CN" dirty="0"/>
              <a:t>“</a:t>
            </a:r>
            <a:r>
              <a:rPr lang="zh-CN" altLang="en-US" dirty="0"/>
              <a:t>对产品的系统性检查，设备测试或更换以防止设备发生故障</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项：某数控车床突然发生摇动，检查后发现电机出现故障，更换电机后车床可正常运行，说明是电机出现问题之后的维修，不符合</a:t>
            </a:r>
            <a:r>
              <a:rPr lang="en-US" altLang="zh-CN" dirty="0"/>
              <a:t>“</a:t>
            </a:r>
            <a:r>
              <a:rPr lang="zh-CN" altLang="en-US" dirty="0"/>
              <a:t>机械设备没有发生故障或尚未造成损坏</a:t>
            </a:r>
            <a:r>
              <a:rPr lang="en-US" altLang="zh-CN" dirty="0"/>
              <a:t>”</a:t>
            </a:r>
            <a:r>
              <a:rPr lang="zh-CN" altLang="en-US" dirty="0"/>
              <a:t>，不符合定义，排除；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项：对辖区内变压器、配电器、电缆线路等电力设备设施隐患进行专项排查，符合</a:t>
            </a:r>
            <a:r>
              <a:rPr lang="en-US" altLang="zh-CN" dirty="0"/>
              <a:t>“</a:t>
            </a:r>
            <a:r>
              <a:rPr lang="zh-CN" altLang="en-US" dirty="0"/>
              <a:t>机械设备没有发生故障或尚未造成损坏</a:t>
            </a:r>
            <a:r>
              <a:rPr lang="en-US" altLang="zh-CN" dirty="0"/>
              <a:t>”</a:t>
            </a:r>
            <a:r>
              <a:rPr lang="zh-CN" altLang="en-US" dirty="0"/>
              <a:t>、</a:t>
            </a:r>
            <a:r>
              <a:rPr lang="en-US" altLang="zh-CN" dirty="0"/>
              <a:t>“</a:t>
            </a:r>
            <a:r>
              <a:rPr lang="zh-CN" altLang="en-US" dirty="0"/>
              <a:t>对产品的系统性检查，设备测试或更换以防止设备发生故障</a:t>
            </a:r>
            <a:r>
              <a:rPr lang="en-US" altLang="zh-CN" dirty="0"/>
              <a:t>”</a:t>
            </a:r>
            <a:r>
              <a:rPr lang="zh-CN" altLang="en-US" dirty="0"/>
              <a:t>，符合定义，当选。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解析：基因调控是控制细胞凋亡和细胞增殖的机制，细胞凋亡和细胞增殖是两种相反的细胞过程，第一个词和第三个词为并列关系，均与第二个词构成影响因素的对应。</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项：税率调整是影响成本降低和成本增加的机制，成本降低和成本增加是两种相反的结果，第一个词和第三个词为并列关系，均与第二个词构成影响因素的对应，与题干逻辑关系一致，当选；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项：经济萧条和经济复苏是经济周期中的不同阶段，是经济周期的组成部分，第一个词和第三个词为并列关系，均与第二个词构成组成关系，与题干逻辑关系不一致，排除；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项：价格尺度和流通手段均属于货币职能，第一个词和第三个词为并列关系，均与第二个词构成种属关系，与题干逻辑关系不一致，排除；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项：具身智能就是具身化的人工智能，具身智能属于人工智能，智能时代是所处的背景，第一个词和第三个词为种属关系，均与第二个词构成所处背景的对应关系，与题干逻辑关系不一致，排除。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解析：论点：合成数据的使用会影响</a:t>
            </a:r>
            <a:r>
              <a:rPr lang="en-US" altLang="zh-CN" dirty="0"/>
              <a:t>AI</a:t>
            </a:r>
            <a:r>
              <a:rPr lang="zh-CN" altLang="en-US" dirty="0"/>
              <a:t>的准确性。</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论据：当</a:t>
            </a:r>
            <a:r>
              <a:rPr lang="en-US" altLang="zh-CN" dirty="0"/>
              <a:t>AI</a:t>
            </a:r>
            <a:r>
              <a:rPr lang="zh-CN" altLang="en-US" dirty="0"/>
              <a:t>模型过于依赖合成数据时，它们会产生更多</a:t>
            </a:r>
            <a:r>
              <a:rPr lang="en-US" altLang="zh-CN" dirty="0"/>
              <a:t>“</a:t>
            </a:r>
            <a:r>
              <a:rPr lang="zh-CN" altLang="en-US" dirty="0"/>
              <a:t>幻觉</a:t>
            </a:r>
            <a:r>
              <a:rPr lang="en-US" altLang="zh-CN" dirty="0"/>
              <a:t>”</a:t>
            </a:r>
            <a:r>
              <a:rPr lang="zh-CN" altLang="en-US" dirty="0"/>
              <a:t>，编造看似合理可信但实际上并不存在的信息。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本题论点和论据都在讨论</a:t>
            </a:r>
            <a:r>
              <a:rPr lang="en-US" altLang="zh-CN" dirty="0"/>
              <a:t>“</a:t>
            </a:r>
            <a:r>
              <a:rPr lang="zh-CN" altLang="en-US" dirty="0"/>
              <a:t>合成数据</a:t>
            </a:r>
            <a:r>
              <a:rPr lang="en-US" altLang="zh-CN" dirty="0"/>
              <a:t>”</a:t>
            </a:r>
            <a:r>
              <a:rPr lang="zh-CN" altLang="en-US" dirty="0"/>
              <a:t>与</a:t>
            </a:r>
            <a:r>
              <a:rPr lang="en-US" altLang="zh-CN" dirty="0"/>
              <a:t>“AI</a:t>
            </a:r>
            <a:r>
              <a:rPr lang="zh-CN" altLang="en-US" dirty="0"/>
              <a:t>准确性</a:t>
            </a:r>
            <a:r>
              <a:rPr lang="en-US" altLang="zh-CN" dirty="0"/>
              <a:t>”</a:t>
            </a:r>
            <a:r>
              <a:rPr lang="zh-CN" altLang="en-US" dirty="0"/>
              <a:t>之间的关系，二者话题一致，加强优先考虑补充论据。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项：该项指出合成数据可能泄露敏感信息，引发</a:t>
            </a:r>
            <a:r>
              <a:rPr lang="en-US" altLang="zh-CN" dirty="0"/>
              <a:t>“</a:t>
            </a:r>
            <a:r>
              <a:rPr lang="zh-CN" altLang="en-US" dirty="0"/>
              <a:t>隐私风险</a:t>
            </a:r>
            <a:r>
              <a:rPr lang="en-US" altLang="zh-CN" dirty="0"/>
              <a:t>”</a:t>
            </a:r>
            <a:r>
              <a:rPr lang="zh-CN" altLang="en-US" dirty="0"/>
              <a:t>，而论点讨论的是合成数据对</a:t>
            </a:r>
            <a:r>
              <a:rPr lang="en-US" altLang="zh-CN" dirty="0"/>
              <a:t>“AI</a:t>
            </a:r>
            <a:r>
              <a:rPr lang="zh-CN" altLang="en-US" dirty="0"/>
              <a:t>准确性</a:t>
            </a:r>
            <a:r>
              <a:rPr lang="en-US" altLang="zh-CN" dirty="0"/>
              <a:t>”</a:t>
            </a:r>
            <a:r>
              <a:rPr lang="zh-CN" altLang="en-US" dirty="0"/>
              <a:t>的影响，二者话题不一致，无法加强，排除；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项：该项指出合成数据存在过于简单化的风险，无法完全模拟真实世界的复杂性，并不明确</a:t>
            </a:r>
            <a:r>
              <a:rPr lang="en-US" altLang="zh-CN" dirty="0"/>
              <a:t>“</a:t>
            </a:r>
            <a:r>
              <a:rPr lang="zh-CN" altLang="en-US" dirty="0"/>
              <a:t>无法模拟复杂性</a:t>
            </a:r>
            <a:r>
              <a:rPr lang="en-US" altLang="zh-CN" dirty="0"/>
              <a:t>”</a:t>
            </a:r>
            <a:r>
              <a:rPr lang="zh-CN" altLang="en-US" dirty="0"/>
              <a:t>是否会影响</a:t>
            </a:r>
            <a:r>
              <a:rPr lang="en-US" altLang="zh-CN" dirty="0"/>
              <a:t>“AI</a:t>
            </a:r>
            <a:r>
              <a:rPr lang="zh-CN" altLang="en-US" dirty="0"/>
              <a:t>的准确性</a:t>
            </a:r>
            <a:r>
              <a:rPr lang="en-US" altLang="zh-CN" dirty="0"/>
              <a:t>”</a:t>
            </a:r>
            <a:r>
              <a:rPr lang="zh-CN" altLang="en-US" dirty="0"/>
              <a:t>，为不明确项，无法加强，排除；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项：该项指出合成数据会放大源数据的错误或偏差，导致</a:t>
            </a:r>
            <a:r>
              <a:rPr lang="en-US" altLang="zh-CN" dirty="0"/>
              <a:t>“</a:t>
            </a:r>
            <a:r>
              <a:rPr lang="zh-CN" altLang="en-US" dirty="0"/>
              <a:t>失之毫厘，差之千里</a:t>
            </a:r>
            <a:r>
              <a:rPr lang="en-US" altLang="zh-CN" dirty="0"/>
              <a:t>”</a:t>
            </a:r>
            <a:r>
              <a:rPr lang="zh-CN" altLang="en-US" dirty="0"/>
              <a:t>，说明合成数据会放大错误，最终导致</a:t>
            </a:r>
            <a:r>
              <a:rPr lang="en-US" altLang="zh-CN" dirty="0"/>
              <a:t>AI</a:t>
            </a:r>
            <a:r>
              <a:rPr lang="zh-CN" altLang="en-US" dirty="0"/>
              <a:t>输出不准确，解释了为何</a:t>
            </a:r>
            <a:r>
              <a:rPr lang="en-US" altLang="zh-CN" dirty="0"/>
              <a:t>“</a:t>
            </a:r>
            <a:r>
              <a:rPr lang="zh-CN" altLang="en-US" dirty="0"/>
              <a:t>合成数据</a:t>
            </a:r>
            <a:r>
              <a:rPr lang="en-US" altLang="zh-CN" dirty="0"/>
              <a:t>”</a:t>
            </a:r>
            <a:r>
              <a:rPr lang="zh-CN" altLang="en-US" dirty="0"/>
              <a:t>会影响</a:t>
            </a:r>
            <a:r>
              <a:rPr lang="en-US" altLang="zh-CN" dirty="0"/>
              <a:t>“AI</a:t>
            </a:r>
            <a:r>
              <a:rPr lang="zh-CN" altLang="en-US" dirty="0"/>
              <a:t>准确性</a:t>
            </a:r>
            <a:r>
              <a:rPr lang="en-US" altLang="zh-CN" dirty="0"/>
              <a:t>”</a:t>
            </a:r>
            <a:r>
              <a:rPr lang="zh-CN" altLang="en-US" dirty="0"/>
              <a:t>，补充论据，可以加强，当选；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项：该项指出合成数据</a:t>
            </a:r>
            <a:r>
              <a:rPr lang="en-US" altLang="zh-CN" dirty="0"/>
              <a:t>“</a:t>
            </a:r>
            <a:r>
              <a:rPr lang="zh-CN" altLang="en-US" dirty="0"/>
              <a:t>多样性不足，限制泛化能力</a:t>
            </a:r>
            <a:r>
              <a:rPr lang="en-US" altLang="zh-CN" dirty="0"/>
              <a:t>”</a:t>
            </a:r>
            <a:r>
              <a:rPr lang="zh-CN" altLang="en-US" dirty="0"/>
              <a:t>，并不明确</a:t>
            </a:r>
            <a:r>
              <a:rPr lang="en-US" altLang="zh-CN" dirty="0"/>
              <a:t>“</a:t>
            </a:r>
            <a:r>
              <a:rPr lang="zh-CN" altLang="en-US" dirty="0"/>
              <a:t>数据多样性不足</a:t>
            </a:r>
            <a:r>
              <a:rPr lang="en-US" altLang="zh-CN" dirty="0"/>
              <a:t>”</a:t>
            </a:r>
            <a:r>
              <a:rPr lang="zh-CN" altLang="en-US" dirty="0"/>
              <a:t>、</a:t>
            </a:r>
            <a:r>
              <a:rPr lang="en-US" altLang="zh-CN" dirty="0"/>
              <a:t>“</a:t>
            </a:r>
            <a:r>
              <a:rPr lang="zh-CN" altLang="en-US" dirty="0"/>
              <a:t>限制</a:t>
            </a:r>
            <a:r>
              <a:rPr lang="en-US" altLang="zh-CN" dirty="0"/>
              <a:t>AI</a:t>
            </a:r>
            <a:r>
              <a:rPr lang="zh-CN" altLang="en-US" dirty="0"/>
              <a:t>模型的泛化能力</a:t>
            </a:r>
            <a:r>
              <a:rPr lang="en-US" altLang="zh-CN" dirty="0"/>
              <a:t>”</a:t>
            </a:r>
            <a:r>
              <a:rPr lang="zh-CN" altLang="en-US" dirty="0"/>
              <a:t>是否会影响</a:t>
            </a:r>
            <a:r>
              <a:rPr lang="en-US" altLang="zh-CN" dirty="0"/>
              <a:t>“AI</a:t>
            </a:r>
            <a:r>
              <a:rPr lang="zh-CN" altLang="en-US" dirty="0"/>
              <a:t>的准确性</a:t>
            </a:r>
            <a:r>
              <a:rPr lang="en-US" altLang="zh-CN" dirty="0"/>
              <a:t>”</a:t>
            </a:r>
            <a:r>
              <a:rPr lang="zh-CN" altLang="en-US" dirty="0"/>
              <a:t>，为不明确项，无法加强，排除。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解析：论点：现代陆地生态系统的高度复杂性，正是这种古老协同机制（白垩纪时期陆地生态系统高度协同演化的机制）延续和演化的结果。</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论据：无。</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本题只有论点，没有论据，削弱优先考虑削弱论点。</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项：指出白垩纪末期的生态危机对海洋系统和陆地系统的不同影响，与论点讨论的</a:t>
            </a:r>
            <a:r>
              <a:rPr lang="en-US" altLang="zh-CN" dirty="0"/>
              <a:t>“</a:t>
            </a:r>
            <a:r>
              <a:rPr lang="zh-CN" altLang="en-US" dirty="0"/>
              <a:t>白垩纪时期陆地生态系统高度协同演化的机制影响了现代陆地生态系统</a:t>
            </a:r>
            <a:r>
              <a:rPr lang="en-US" altLang="zh-CN" dirty="0"/>
              <a:t>”</a:t>
            </a:r>
            <a:r>
              <a:rPr lang="zh-CN" altLang="en-US" dirty="0"/>
              <a:t>无关，无法削弱，排除；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项：指出白垩纪时期植物、昆虫、脊椎动物与地质过程的演化几乎是在同一时期进行的，说明白垩纪时期陆地生态系统高度协同演化，与论点讨论的</a:t>
            </a:r>
            <a:r>
              <a:rPr lang="en-US" altLang="zh-CN" dirty="0"/>
              <a:t>“</a:t>
            </a:r>
            <a:r>
              <a:rPr lang="zh-CN" altLang="en-US" dirty="0"/>
              <a:t>白垩纪时期陆地生态系统高度协同演化的机制影响了现代陆地生态系统</a:t>
            </a:r>
            <a:r>
              <a:rPr lang="en-US" altLang="zh-CN" dirty="0"/>
              <a:t>”</a:t>
            </a:r>
            <a:r>
              <a:rPr lang="zh-CN" altLang="en-US" dirty="0"/>
              <a:t>无关，无法削弱，排除；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项：指出现代陆地生态系统的复杂性主要受群落内部随机扰动、自组织演化和外源干扰的共同影响，与白垩纪显著不同，说明二者在演化机制方面并不相同，直接削弱论点，可以削弱，当选；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项：指出被子植物的全球扩张对生态结构的主导作用可能被高估，与论点讨论的</a:t>
            </a:r>
            <a:r>
              <a:rPr lang="en-US" altLang="zh-CN" dirty="0"/>
              <a:t>“</a:t>
            </a:r>
            <a:r>
              <a:rPr lang="zh-CN" altLang="en-US" dirty="0"/>
              <a:t>白垩纪时期陆地生态系统高度协同演化的机制影响了现代陆地生态系统</a:t>
            </a:r>
            <a:r>
              <a:rPr lang="en-US" altLang="zh-CN" dirty="0"/>
              <a:t>”</a:t>
            </a:r>
            <a:r>
              <a:rPr lang="zh-CN" altLang="en-US" dirty="0"/>
              <a:t>无关，无法削弱，排除。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解析：题干图形均有一个黑块，黑块与</a:t>
            </a:r>
            <a:r>
              <a:rPr lang="en-US" altLang="zh-CN" dirty="0"/>
              <a:t>4</a:t>
            </a:r>
            <a:r>
              <a:rPr lang="zh-CN" altLang="en-US" dirty="0"/>
              <a:t>个白块共有</a:t>
            </a:r>
            <a:r>
              <a:rPr lang="en-US" altLang="zh-CN" dirty="0"/>
              <a:t>4</a:t>
            </a:r>
            <a:r>
              <a:rPr lang="zh-CN" altLang="en-US" dirty="0"/>
              <a:t>条公共边，且与每个白块均存在</a:t>
            </a:r>
            <a:r>
              <a:rPr lang="en-US" altLang="zh-CN" dirty="0"/>
              <a:t>1</a:t>
            </a:r>
            <a:r>
              <a:rPr lang="zh-CN" altLang="en-US" dirty="0"/>
              <a:t>条公共边，</a:t>
            </a:r>
            <a:r>
              <a:rPr lang="en-US" altLang="zh-CN" dirty="0"/>
              <a:t>A</a:t>
            </a:r>
            <a:r>
              <a:rPr lang="zh-CN" altLang="en-US" dirty="0"/>
              <a:t>项黑块与白块共有</a:t>
            </a:r>
            <a:r>
              <a:rPr lang="en-US" altLang="zh-CN" dirty="0"/>
              <a:t>5</a:t>
            </a:r>
            <a:r>
              <a:rPr lang="zh-CN" altLang="en-US" dirty="0"/>
              <a:t>条公共边，</a:t>
            </a:r>
            <a:r>
              <a:rPr lang="en-US" altLang="zh-CN" dirty="0"/>
              <a:t>B</a:t>
            </a:r>
            <a:r>
              <a:rPr lang="zh-CN" altLang="en-US" dirty="0"/>
              <a:t>项黑块与白块共有</a:t>
            </a:r>
            <a:r>
              <a:rPr lang="en-US" altLang="zh-CN" dirty="0"/>
              <a:t>3</a:t>
            </a:r>
            <a:r>
              <a:rPr lang="zh-CN" altLang="en-US" dirty="0"/>
              <a:t>条公共边，</a:t>
            </a:r>
            <a:r>
              <a:rPr lang="en-US" altLang="zh-CN" dirty="0"/>
              <a:t>C</a:t>
            </a:r>
            <a:r>
              <a:rPr lang="zh-CN" altLang="en-US" dirty="0"/>
              <a:t>项中黑块与右下角白块不存在公共边，排除</a:t>
            </a:r>
            <a:r>
              <a:rPr lang="en-US" altLang="zh-CN" dirty="0"/>
              <a:t>A</a:t>
            </a:r>
            <a:r>
              <a:rPr lang="zh-CN" altLang="en-US" dirty="0"/>
              <a:t>、</a:t>
            </a:r>
            <a:r>
              <a:rPr lang="en-US" altLang="zh-CN" dirty="0"/>
              <a:t>B</a:t>
            </a:r>
            <a:r>
              <a:rPr lang="zh-CN" altLang="en-US" dirty="0"/>
              <a:t>、</a:t>
            </a:r>
            <a:r>
              <a:rPr lang="en-US" altLang="zh-CN" dirty="0"/>
              <a:t>C</a:t>
            </a:r>
            <a:r>
              <a:rPr lang="zh-CN" altLang="en-US" dirty="0"/>
              <a:t>三项，只有</a:t>
            </a:r>
            <a:r>
              <a:rPr lang="en-US" altLang="zh-CN" dirty="0"/>
              <a:t>D</a:t>
            </a:r>
            <a:r>
              <a:rPr lang="zh-CN" altLang="en-US" dirty="0"/>
              <a:t>项符合。</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解析：本题考查立体拼合。题干立体图形可以由</a:t>
            </a:r>
            <a:r>
              <a:rPr lang="en-US" altLang="zh-CN" dirty="0"/>
              <a:t>A</a:t>
            </a:r>
            <a:r>
              <a:rPr lang="zh-CN" altLang="en-US" dirty="0"/>
              <a:t>、</a:t>
            </a:r>
            <a:r>
              <a:rPr lang="en-US" altLang="zh-CN" dirty="0"/>
              <a:t>C</a:t>
            </a:r>
            <a:r>
              <a:rPr lang="zh-CN" altLang="en-US" dirty="0"/>
              <a:t>、</a:t>
            </a:r>
            <a:r>
              <a:rPr lang="en-US" altLang="zh-CN" dirty="0"/>
              <a:t>D</a:t>
            </a:r>
            <a:r>
              <a:rPr lang="zh-CN" altLang="en-US" dirty="0"/>
              <a:t>三项旋转后拼合而成，具体过程如下图所示：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解析：设备利用率：</a:t>
            </a:r>
            <a:r>
              <a:rPr lang="en-US" altLang="zh-CN" dirty="0"/>
              <a:t>“</a:t>
            </a:r>
            <a:r>
              <a:rPr lang="zh-CN" altLang="en-US" dirty="0"/>
              <a:t>每年度设备实际使用时间占计划用时的百分比</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设备完好率：</a:t>
            </a:r>
            <a:r>
              <a:rPr lang="en-US" altLang="zh-CN" dirty="0"/>
              <a:t>“</a:t>
            </a:r>
            <a:r>
              <a:rPr lang="zh-CN" altLang="en-US" dirty="0"/>
              <a:t>完好台数与设备总台数之比</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设备总台数：</a:t>
            </a:r>
            <a:r>
              <a:rPr lang="en-US" altLang="zh-CN" dirty="0"/>
              <a:t>“</a:t>
            </a:r>
            <a:r>
              <a:rPr lang="zh-CN" altLang="en-US" dirty="0"/>
              <a:t>企业在用的、备用的、停用的以及正在检修的全部生产设备</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完好台数：</a:t>
            </a:r>
            <a:r>
              <a:rPr lang="en-US" altLang="zh-CN" dirty="0"/>
              <a:t>“</a:t>
            </a:r>
            <a:r>
              <a:rPr lang="zh-CN" altLang="en-US" dirty="0"/>
              <a:t>设备性能良好、运转正常，且原料、燃料，油料等消耗正常的设备台数</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设备负荷率：</a:t>
            </a:r>
            <a:r>
              <a:rPr lang="en-US" altLang="zh-CN" dirty="0"/>
              <a:t>“</a:t>
            </a:r>
            <a:r>
              <a:rPr lang="zh-CN" altLang="en-US" dirty="0"/>
              <a:t>设备需要台数与实际选用设备的台数之比</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设备闲置率：</a:t>
            </a:r>
            <a:r>
              <a:rPr lang="en-US" altLang="zh-CN" dirty="0"/>
              <a:t>“</a:t>
            </a:r>
            <a:r>
              <a:rPr lang="zh-CN" altLang="en-US" dirty="0"/>
              <a:t>闲置不用的设备台数与设备总台数的比值</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项：年度设备实际使用时间为</a:t>
            </a:r>
            <a:r>
              <a:rPr lang="en-US" altLang="zh-CN" dirty="0"/>
              <a:t>9</a:t>
            </a:r>
            <a:r>
              <a:rPr lang="zh-CN" altLang="en-US" dirty="0"/>
              <a:t>个月、设备利用率为</a:t>
            </a:r>
            <a:r>
              <a:rPr lang="en-US" altLang="zh-CN" dirty="0"/>
              <a:t>75%</a:t>
            </a:r>
            <a:r>
              <a:rPr lang="zh-CN" altLang="en-US" dirty="0"/>
              <a:t>，根据设备利用率为</a:t>
            </a:r>
            <a:r>
              <a:rPr lang="en-US" altLang="zh-CN" dirty="0"/>
              <a:t>“</a:t>
            </a:r>
            <a:r>
              <a:rPr lang="zh-CN" altLang="en-US" dirty="0"/>
              <a:t>每年度设备实际使用时间占计划用时的百分比</a:t>
            </a:r>
            <a:r>
              <a:rPr lang="en-US" altLang="zh-CN" dirty="0"/>
              <a:t>”</a:t>
            </a:r>
            <a:r>
              <a:rPr lang="zh-CN" altLang="en-US" dirty="0"/>
              <a:t>，计划用时应为</a:t>
            </a:r>
            <a:r>
              <a:rPr lang="en-US" altLang="zh-CN" dirty="0"/>
              <a:t>9</a:t>
            </a:r>
            <a:r>
              <a:rPr lang="zh-CN" altLang="en-US" dirty="0"/>
              <a:t>个月</a:t>
            </a:r>
            <a:r>
              <a:rPr lang="en-US" altLang="zh-CN" dirty="0"/>
              <a:t>/75%=12</a:t>
            </a:r>
            <a:r>
              <a:rPr lang="zh-CN" altLang="en-US" dirty="0"/>
              <a:t>个月，说法正确，排除；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项：设备总台数为</a:t>
            </a:r>
            <a:r>
              <a:rPr lang="en-US" altLang="zh-CN" dirty="0"/>
              <a:t>“</a:t>
            </a:r>
            <a:r>
              <a:rPr lang="zh-CN" altLang="en-US" dirty="0"/>
              <a:t>企业在用的、备用的、停用的以及正在检修的全部生产设备</a:t>
            </a:r>
            <a:r>
              <a:rPr lang="en-US" altLang="zh-CN" dirty="0"/>
              <a:t>”</a:t>
            </a:r>
            <a:r>
              <a:rPr lang="zh-CN" altLang="en-US" dirty="0"/>
              <a:t>，所以设备总台数包括正在检修的设备，即使零部件出现磨损或腐蚀，也应计入设备总台数，说法正确，排除；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项：设备负荷率为</a:t>
            </a:r>
            <a:r>
              <a:rPr lang="en-US" altLang="zh-CN" dirty="0"/>
              <a:t>“</a:t>
            </a:r>
            <a:r>
              <a:rPr lang="zh-CN" altLang="en-US" dirty="0"/>
              <a:t>设备需要台数与实际选用设备的台数之比</a:t>
            </a:r>
            <a:r>
              <a:rPr lang="en-US" altLang="zh-CN" dirty="0"/>
              <a:t>”</a:t>
            </a:r>
            <a:r>
              <a:rPr lang="zh-CN" altLang="en-US" dirty="0"/>
              <a:t>，这个比率可以反映设备选用是否合理，该比率大于</a:t>
            </a:r>
            <a:r>
              <a:rPr lang="en-US" altLang="zh-CN" dirty="0"/>
              <a:t>1</a:t>
            </a:r>
            <a:r>
              <a:rPr lang="zh-CN" altLang="en-US" dirty="0"/>
              <a:t>表示设备不足，该比率小于</a:t>
            </a:r>
            <a:r>
              <a:rPr lang="en-US" altLang="zh-CN" dirty="0"/>
              <a:t>1</a:t>
            </a:r>
            <a:r>
              <a:rPr lang="zh-CN" altLang="en-US" dirty="0"/>
              <a:t>表示设备有余，可用于量化分析设备运行状态，说法正确，排除；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项：设备闲置率</a:t>
            </a:r>
            <a:r>
              <a:rPr lang="en-US" altLang="zh-CN" dirty="0"/>
              <a:t>=</a:t>
            </a:r>
            <a:r>
              <a:rPr lang="zh-CN" altLang="en-US" dirty="0"/>
              <a:t>闲置台数</a:t>
            </a:r>
            <a:r>
              <a:rPr lang="en-US" altLang="zh-CN" dirty="0"/>
              <a:t>/</a:t>
            </a:r>
            <a:r>
              <a:rPr lang="zh-CN" altLang="en-US" dirty="0"/>
              <a:t>总台数</a:t>
            </a:r>
            <a:r>
              <a:rPr lang="en-US" altLang="zh-CN" dirty="0"/>
              <a:t>,</a:t>
            </a:r>
            <a:r>
              <a:rPr lang="zh-CN" altLang="en-US" dirty="0"/>
              <a:t>设备完好率</a:t>
            </a:r>
            <a:r>
              <a:rPr lang="en-US" altLang="zh-CN" dirty="0"/>
              <a:t>=</a:t>
            </a:r>
            <a:r>
              <a:rPr lang="zh-CN" altLang="en-US" dirty="0"/>
              <a:t>完好台数</a:t>
            </a:r>
            <a:r>
              <a:rPr lang="en-US" altLang="zh-CN" dirty="0"/>
              <a:t>/</a:t>
            </a:r>
            <a:r>
              <a:rPr lang="zh-CN" altLang="en-US" dirty="0"/>
              <a:t>总台数，完好设备可能闲置，不完好设备也可能在用（例：</a:t>
            </a:r>
            <a:r>
              <a:rPr lang="en-US" altLang="zh-CN" dirty="0"/>
              <a:t>10</a:t>
            </a:r>
            <a:r>
              <a:rPr lang="zh-CN" altLang="en-US" dirty="0"/>
              <a:t>台设备中，闲置</a:t>
            </a:r>
            <a:r>
              <a:rPr lang="en-US" altLang="zh-CN" dirty="0"/>
              <a:t>8</a:t>
            </a:r>
            <a:r>
              <a:rPr lang="zh-CN" altLang="en-US" dirty="0"/>
              <a:t>台（</a:t>
            </a:r>
            <a:r>
              <a:rPr lang="en-US" altLang="zh-CN" dirty="0"/>
              <a:t>3</a:t>
            </a:r>
            <a:r>
              <a:rPr lang="zh-CN" altLang="en-US" dirty="0"/>
              <a:t>台完好</a:t>
            </a:r>
            <a:r>
              <a:rPr lang="en-US" altLang="zh-CN" dirty="0"/>
              <a:t>+5</a:t>
            </a:r>
            <a:r>
              <a:rPr lang="zh-CN" altLang="en-US" dirty="0"/>
              <a:t>台不完好），完好台数共</a:t>
            </a:r>
            <a:r>
              <a:rPr lang="en-US" altLang="zh-CN" dirty="0"/>
              <a:t>5</a:t>
            </a:r>
            <a:r>
              <a:rPr lang="zh-CN" altLang="en-US" dirty="0"/>
              <a:t>台，此时设备闲置率</a:t>
            </a:r>
            <a:r>
              <a:rPr lang="en-US" altLang="zh-CN" dirty="0"/>
              <a:t>80%</a:t>
            </a:r>
            <a:r>
              <a:rPr lang="zh-CN" altLang="en-US" dirty="0"/>
              <a:t>＞设备完好率</a:t>
            </a:r>
            <a:r>
              <a:rPr lang="en-US" altLang="zh-CN" dirty="0"/>
              <a:t>50%</a:t>
            </a:r>
            <a:r>
              <a:rPr lang="zh-CN" altLang="en-US" dirty="0"/>
              <a:t>），所以设备闲置率与设备完好率没有必然的数值大小关系，说法错误，当选。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a:t>
            </a:r>
            <a:r>
              <a:rPr lang="zh-CN" altLang="en-US" dirty="0"/>
              <a:t>在护理过程中，护士发现了影响患者治疗及康复的心理问题后</a:t>
            </a:r>
            <a:r>
              <a:rPr lang="en-US" altLang="zh-CN" dirty="0"/>
              <a:t>”</a:t>
            </a:r>
            <a:r>
              <a:rPr lang="zh-CN" altLang="en-US" dirty="0"/>
              <a:t>、</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项：护士协助医生让青少年患者进行心理量表测试，评估心理问题类型，是心理问题的评估和发现过程，不符合</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，不符合定义，当选；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项：护士发现患儿害怕用药，符合</a:t>
            </a:r>
            <a:r>
              <a:rPr lang="en-US" altLang="zh-CN" dirty="0"/>
              <a:t>“</a:t>
            </a:r>
            <a:r>
              <a:rPr lang="zh-CN" altLang="en-US" dirty="0"/>
              <a:t>在护理过程中，护士发现了影响患者治疗及康复的心理问题后</a:t>
            </a:r>
            <a:r>
              <a:rPr lang="en-US" altLang="zh-CN" dirty="0"/>
              <a:t>”</a:t>
            </a:r>
            <a:r>
              <a:rPr lang="zh-CN" altLang="en-US" dirty="0"/>
              <a:t>，在更换切口敷料时动作轻柔、耐心细致，使患儿不再抵触换药，符合</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项：护士建议家属及时安抚患者的消极情绪并多加陪伴，以增强患者战胜疾病的信心，符合</a:t>
            </a:r>
            <a:r>
              <a:rPr lang="en-US" altLang="zh-CN" dirty="0"/>
              <a:t>“</a:t>
            </a:r>
            <a:r>
              <a:rPr lang="zh-CN" altLang="en-US" dirty="0"/>
              <a:t>在护理过程中，护士发现了影响患者治疗及康复的心理问题后</a:t>
            </a:r>
            <a:r>
              <a:rPr lang="en-US" altLang="zh-CN" dirty="0"/>
              <a:t>”</a:t>
            </a:r>
            <a:r>
              <a:rPr lang="zh-CN" altLang="en-US" dirty="0"/>
              <a:t>、</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项：针对患者手术前的紧张情绪，护士教会患者放松的技巧，帮助患者正确对待手术，符合</a:t>
            </a:r>
            <a:r>
              <a:rPr lang="en-US" altLang="zh-CN" dirty="0"/>
              <a:t>“</a:t>
            </a:r>
            <a:r>
              <a:rPr lang="zh-CN" altLang="en-US" dirty="0"/>
              <a:t>在护理过程中，护士发现了影响患者治疗及康复的心理问题后</a:t>
            </a:r>
            <a:r>
              <a:rPr lang="en-US" altLang="zh-CN" dirty="0"/>
              <a:t>”</a:t>
            </a:r>
            <a:r>
              <a:rPr lang="zh-CN" altLang="en-US" dirty="0"/>
              <a:t>，</a:t>
            </a:r>
            <a:r>
              <a:rPr lang="en-US" altLang="zh-CN" dirty="0"/>
              <a:t>“</a:t>
            </a:r>
            <a:r>
              <a:rPr lang="zh-CN" altLang="en-US" dirty="0"/>
              <a:t>通过自身的语言、态度和行为等，或通过改善环境（包括人文环境及物理环境）去影响或调整患者的心理状态和行为</a:t>
            </a:r>
            <a:r>
              <a:rPr lang="en-US" altLang="zh-CN" dirty="0"/>
              <a:t>”</a:t>
            </a:r>
            <a:r>
              <a:rPr lang="zh-CN" altLang="en-US" dirty="0"/>
              <a:t>、</a:t>
            </a:r>
            <a:r>
              <a:rPr lang="en-US" altLang="zh-CN" dirty="0"/>
              <a:t>“</a:t>
            </a:r>
            <a:r>
              <a:rPr lang="zh-CN" altLang="en-US" dirty="0"/>
              <a:t>帮助患者康复</a:t>
            </a:r>
            <a:r>
              <a:rPr lang="en-US" altLang="zh-CN" dirty="0"/>
              <a:t>”</a:t>
            </a:r>
            <a:r>
              <a:rPr lang="zh-CN" altLang="en-US" dirty="0"/>
              <a:t>，符合定义，排除。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解析：军事演习的目的是提升作战能力，二者为方式目的对应关系。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项：正当防卫的目的是防御人身危险，并非提升人身危险，与题干逻辑关系不一致，排除；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项：定速巡航的目的是控制并维持车辆速度，并非提升车辆速度，与题干逻辑关系不一致，排除；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项：财政赤字可能会导致通货膨胀，二者为因果对应关系，与题干逻辑关系不一致，排除；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项：土壤改良的目的是提升作物产量，二者为方式目的对应关系，与题干逻辑关系一致，当选。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解析：被减数</a:t>
            </a:r>
            <a:r>
              <a:rPr lang="en-US" altLang="zh-CN" dirty="0"/>
              <a:t>-</a:t>
            </a:r>
            <a:r>
              <a:rPr lang="zh-CN" altLang="en-US" dirty="0"/>
              <a:t>减数</a:t>
            </a:r>
            <a:r>
              <a:rPr lang="en-US" altLang="zh-CN" dirty="0"/>
              <a:t>=</a:t>
            </a:r>
            <a:r>
              <a:rPr lang="zh-CN" altLang="en-US" dirty="0"/>
              <a:t>差，三者为减法运算的对应关系。</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项：播种面积</a:t>
            </a:r>
            <a:r>
              <a:rPr lang="en-US" altLang="en-US" dirty="0"/>
              <a:t>×</a:t>
            </a:r>
            <a:r>
              <a:rPr lang="zh-CN" altLang="en-US" dirty="0"/>
              <a:t>粮食单产</a:t>
            </a:r>
            <a:r>
              <a:rPr lang="en-US" altLang="zh-CN" dirty="0"/>
              <a:t>=</a:t>
            </a:r>
            <a:r>
              <a:rPr lang="zh-CN" altLang="en-US" dirty="0"/>
              <a:t>粮食产量，三者为乘法运算的对应关系，与题干逻辑关系不一致，排除；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项：溶液质量</a:t>
            </a:r>
            <a:r>
              <a:rPr lang="en-US" altLang="zh-CN" dirty="0"/>
              <a:t>-</a:t>
            </a:r>
            <a:r>
              <a:rPr lang="zh-CN" altLang="en-US" dirty="0"/>
              <a:t>溶质质量</a:t>
            </a:r>
            <a:r>
              <a:rPr lang="en-US" altLang="zh-CN" dirty="0"/>
              <a:t>=</a:t>
            </a:r>
            <a:r>
              <a:rPr lang="zh-CN" altLang="en-US" dirty="0"/>
              <a:t>溶剂质量，三者为减法运算的对应关系，与题干逻辑关系一致，当选；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项：库存总量</a:t>
            </a:r>
            <a:r>
              <a:rPr lang="en-US" altLang="en-US" dirty="0"/>
              <a:t>÷</a:t>
            </a:r>
            <a:r>
              <a:rPr lang="zh-CN" altLang="en-US" dirty="0"/>
              <a:t>可售天数</a:t>
            </a:r>
            <a:r>
              <a:rPr lang="en-US" altLang="zh-CN" dirty="0"/>
              <a:t>=</a:t>
            </a:r>
            <a:r>
              <a:rPr lang="zh-CN" altLang="en-US" dirty="0"/>
              <a:t>日均销量，三者为除法运算的对应关系，与题干逻辑关系不一致，排除；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项：当结束日期和开始日期不在同一月份时，计算间隔天数不能直接相减，三者不是减法运算的对应关系，与题干逻辑关系不一致，排除。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D</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解析：论点：科学研究进行重点突破比</a:t>
            </a:r>
            <a:r>
              <a:rPr lang="en-US" altLang="zh-CN" dirty="0"/>
              <a:t>“</a:t>
            </a:r>
            <a:r>
              <a:rPr lang="zh-CN" altLang="en-US" dirty="0"/>
              <a:t>一视同仁</a:t>
            </a:r>
            <a:r>
              <a:rPr lang="en-US" altLang="zh-CN" dirty="0"/>
              <a:t>”</a:t>
            </a:r>
            <a:r>
              <a:rPr lang="zh-CN" altLang="en-US" dirty="0"/>
              <a:t>更有意义。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论据：把有限的科研资源用在合适的地方，才能更好地平衡投入与回报。</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本题论据说的是</a:t>
            </a:r>
            <a:r>
              <a:rPr lang="en-US" altLang="zh-CN" dirty="0"/>
              <a:t>“</a:t>
            </a:r>
            <a:r>
              <a:rPr lang="zh-CN" altLang="en-US" dirty="0"/>
              <a:t>把有限的科研资源用在合适地方才能更好地平衡投入与回报</a:t>
            </a:r>
            <a:r>
              <a:rPr lang="en-US" altLang="zh-CN" dirty="0"/>
              <a:t>”</a:t>
            </a:r>
            <a:r>
              <a:rPr lang="zh-CN" altLang="en-US" dirty="0"/>
              <a:t>，论点说的是</a:t>
            </a:r>
            <a:r>
              <a:rPr lang="en-US" altLang="zh-CN" dirty="0"/>
              <a:t>“</a:t>
            </a:r>
            <a:r>
              <a:rPr lang="zh-CN" altLang="en-US" dirty="0"/>
              <a:t>科学研究进行重点突破更有意义</a:t>
            </a:r>
            <a:r>
              <a:rPr lang="en-US" altLang="zh-CN" dirty="0"/>
              <a:t>”</a:t>
            </a:r>
            <a:r>
              <a:rPr lang="zh-CN" altLang="en-US" dirty="0"/>
              <a:t>，从论据可以合理推出论点，因此论据和论点话题一致，加强优先考虑补充论据，且本题为选非题，将可以加强的选项排除即可。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项：该项指出人类需求的粮食作物、家禽家畜等产能的增长得益于对其进行的专门研究，举例说明科学研究进行重点突破比</a:t>
            </a:r>
            <a:r>
              <a:rPr lang="en-US" altLang="zh-CN" dirty="0"/>
              <a:t>“</a:t>
            </a:r>
            <a:r>
              <a:rPr lang="zh-CN" altLang="en-US" dirty="0"/>
              <a:t>一视同仁</a:t>
            </a:r>
            <a:r>
              <a:rPr lang="en-US" altLang="zh-CN" dirty="0"/>
              <a:t>”</a:t>
            </a:r>
            <a:r>
              <a:rPr lang="zh-CN" altLang="en-US" dirty="0"/>
              <a:t>确实更有意义，补充论据，可以加强，排除；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项：该项指出对生长周期短、基因组简单且分布广泛的模式生物进行重点研究更易揭示生命种学的普通规律，解释了为什么科学研究进行重点突破比</a:t>
            </a:r>
            <a:r>
              <a:rPr lang="en-US" altLang="zh-CN" dirty="0"/>
              <a:t>“</a:t>
            </a:r>
            <a:r>
              <a:rPr lang="zh-CN" altLang="en-US" dirty="0"/>
              <a:t>一视同仁</a:t>
            </a:r>
            <a:r>
              <a:rPr lang="en-US" altLang="zh-CN" dirty="0"/>
              <a:t>”</a:t>
            </a:r>
            <a:r>
              <a:rPr lang="zh-CN" altLang="en-US" dirty="0"/>
              <a:t>更有意义，补充论据，可以加强，排除；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项：该项指出因文化、知名度等原因，对某些物种的保护性研究对唤醒人们的生态保护意识具有特殊的号召力和吸引力，解释了为什么科学研究进行重点突破比</a:t>
            </a:r>
            <a:r>
              <a:rPr lang="en-US" altLang="zh-CN" dirty="0"/>
              <a:t>“</a:t>
            </a:r>
            <a:r>
              <a:rPr lang="zh-CN" altLang="en-US" dirty="0"/>
              <a:t>一视同仁</a:t>
            </a:r>
            <a:r>
              <a:rPr lang="en-US" altLang="zh-CN" dirty="0"/>
              <a:t>”</a:t>
            </a:r>
            <a:r>
              <a:rPr lang="zh-CN" altLang="en-US" dirty="0"/>
              <a:t>更有意义，补充论据，可以加强，排除；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项：该项指出濒危树袋熊的相关论文在关于树袋熊的论文中占比较少，未提及科学研究是否要进行重点突破，与论点说的科学研究进行重点突破更有意义无关，话题不一致，无法加强，当选。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D</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解析：论点：非确定性产品的热销说明有相当一部分消费者受到感受性消费动机的驱动，不同于实用性消费动机对商品实用价值的看重，感受性消费动机更看重商品带来的主观体验。</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论据：无。</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本题只有论点，没有论据，加强优先考虑补充论据。本题为选非题，找出可以加强的选项排除即可。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项：选项指出盲盒能够给消费者带来愉悦的审美体验，说明盲盒等</a:t>
            </a:r>
            <a:r>
              <a:rPr lang="en-US" altLang="zh-CN" dirty="0"/>
              <a:t>“</a:t>
            </a:r>
            <a:r>
              <a:rPr lang="zh-CN" altLang="en-US" dirty="0"/>
              <a:t>非确定性产品</a:t>
            </a:r>
            <a:r>
              <a:rPr lang="en-US" altLang="zh-CN" dirty="0"/>
              <a:t>”</a:t>
            </a:r>
            <a:r>
              <a:rPr lang="zh-CN" altLang="en-US" dirty="0"/>
              <a:t>能提供主观审美体验，即有消费者受到感受性消费动机的驱动而购买盲盒，补充论据，可以加强，排除；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项：选项指出限量款盲盒吸引许多消费者以投资为目的购买并加价转手，说明消费者购买限量款盲盒的动机是获利，而不是受到感受性消费动机的驱动，无法加强，当选；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项：选项指出消费者开出隐藏款盲盒时会感受到惊喜、满足，说明盲盒等</a:t>
            </a:r>
            <a:r>
              <a:rPr lang="en-US" altLang="zh-CN" dirty="0"/>
              <a:t>“</a:t>
            </a:r>
            <a:r>
              <a:rPr lang="zh-CN" altLang="en-US" dirty="0"/>
              <a:t>非确定性产品</a:t>
            </a:r>
            <a:r>
              <a:rPr lang="en-US" altLang="zh-CN" dirty="0"/>
              <a:t>”</a:t>
            </a:r>
            <a:r>
              <a:rPr lang="zh-CN" altLang="en-US" dirty="0"/>
              <a:t>能提供惊喜等主观情绪体验，即有消费者受到感受性消费动机的驱动而购买盲盒，补充论据，可以加强，排除；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项：选项指出非确定性产品制造的信息缺口能够激发部分消费者的好奇心，说明非确定性产品能激发好奇心等主观心理感受，即有消费者受到感受性消费动机的驱动而购买盲盒，补充论据，可以加强，排除。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解析：论点：可以适度引入海獭来减缓沼泽边缘的侵蚀。</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论据：某大型沿海河口的河岸和沼泽边缘不断被侵蚀且侵蚀速度逐渐加快，这使得河口的湿地退化，生态环境变得脆弱。同时，人们发现该河口中沼泽蟹的数量持续增加，这加剧了沼泽边缘的退缩。</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说的是引入海獭来减缓沼泽边缘的侵蚀，而论据说的是河岸和沼泽边缘不断被侵蚀且侵蚀速度逐渐加快，同时沼泽蟹数量增加，加剧了沼泽边缘退缩，论点和论据话题不一致，加强优先考虑搭桥，且本题为选非题，将可以加强的选项排除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项：选项指出了沼泽蟹导致沼泽边缘不断退缩的主要原因，补充论据，可以加强，排除；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项：选项指出该地区重新引入海獭不易引发生态失衡，说明引入海獭的措施可行，补充论据，可以加强，排除；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项：选项指出河口出现湿地退化的其他原因，与论点讨论的引入海獭是否能减缓沼泽边缘的侵蚀无关，无关项，无法加强，当选；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项：选项指出海獭是沼泽蟹的天敌，说明引入海獭可以控制沼泽蟹的数量，建立了</a:t>
            </a:r>
            <a:r>
              <a:rPr lang="en-US" altLang="zh-CN" dirty="0"/>
              <a:t>“</a:t>
            </a:r>
            <a:r>
              <a:rPr lang="zh-CN" altLang="en-US" dirty="0"/>
              <a:t>沼泽蟹</a:t>
            </a:r>
            <a:r>
              <a:rPr lang="en-US" altLang="zh-CN" dirty="0"/>
              <a:t>”</a:t>
            </a:r>
            <a:r>
              <a:rPr lang="zh-CN" altLang="en-US" dirty="0"/>
              <a:t>与</a:t>
            </a:r>
            <a:r>
              <a:rPr lang="en-US" altLang="zh-CN" dirty="0"/>
              <a:t>“</a:t>
            </a:r>
            <a:r>
              <a:rPr lang="zh-CN" altLang="en-US" dirty="0"/>
              <a:t>海獭</a:t>
            </a:r>
            <a:r>
              <a:rPr lang="en-US" altLang="zh-CN" dirty="0"/>
              <a:t>”</a:t>
            </a:r>
            <a:r>
              <a:rPr lang="zh-CN" altLang="en-US" dirty="0"/>
              <a:t>之间的联系，搭桥项，可以加强，排除。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a:t>
            </a:r>
            <a:r>
              <a:rPr lang="en-US" altLang="zh-CN" dirty="0"/>
              <a:t>-</a:t>
            </a:r>
            <a:r>
              <a:rPr lang="zh-CN" altLang="en-US" dirty="0"/>
              <a:t>甲</a:t>
            </a:r>
            <a:r>
              <a:rPr lang="en-US" altLang="zh-CN" dirty="0"/>
              <a:t> </a:t>
            </a:r>
            <a:r>
              <a:rPr lang="zh-CN" altLang="en-US" dirty="0"/>
              <a:t>或</a:t>
            </a:r>
            <a:r>
              <a:rPr lang="en-US" altLang="zh-CN" dirty="0"/>
              <a:t>-</a:t>
            </a:r>
            <a:r>
              <a:rPr lang="zh-CN" altLang="en-US" dirty="0"/>
              <a:t>丁；</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）丙或戊</a:t>
            </a:r>
            <a:r>
              <a:rPr lang="en-US" altLang="en-US" dirty="0"/>
              <a:t>→</a:t>
            </a:r>
            <a:r>
              <a:rPr lang="zh-CN" altLang="en-US" dirty="0"/>
              <a:t>甲且</a:t>
            </a:r>
            <a:r>
              <a:rPr lang="en-US" altLang="zh-CN" dirty="0"/>
              <a:t>-</a:t>
            </a:r>
            <a:r>
              <a:rPr lang="zh-CN" altLang="en-US" dirty="0"/>
              <a:t>己；</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）乙或庚</a:t>
            </a:r>
            <a:r>
              <a:rPr lang="en-US" altLang="en-US" dirty="0"/>
              <a:t>→</a:t>
            </a:r>
            <a:r>
              <a:rPr lang="zh-CN" altLang="en-US" dirty="0"/>
              <a:t>丁且</a:t>
            </a:r>
            <a:r>
              <a:rPr lang="en-US" altLang="zh-CN" dirty="0"/>
              <a:t>-</a:t>
            </a:r>
            <a:r>
              <a:rPr lang="zh-CN" altLang="en-US" dirty="0"/>
              <a:t>甲；</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）甲、乙、丙、丁、戊、己、庚</a:t>
            </a:r>
            <a:r>
              <a:rPr lang="en-US" altLang="zh-CN" dirty="0"/>
              <a:t>7</a:t>
            </a:r>
            <a:r>
              <a:rPr lang="zh-CN" altLang="en-US" dirty="0"/>
              <a:t>名代表选</a:t>
            </a:r>
            <a:r>
              <a:rPr lang="en-US" altLang="zh-CN" dirty="0"/>
              <a:t>4</a:t>
            </a:r>
            <a:r>
              <a:rPr lang="zh-CN" altLang="en-US" dirty="0"/>
              <a:t>名发言。</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题干没有确定信息，优先考虑代入法。</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A</a:t>
            </a:r>
            <a:r>
              <a:rPr lang="zh-CN" altLang="en-US" dirty="0"/>
              <a:t>项：安排了乙、庚发言，根据条件（</a:t>
            </a:r>
            <a:r>
              <a:rPr lang="en-US" altLang="zh-CN" dirty="0"/>
              <a:t>3</a:t>
            </a:r>
            <a:r>
              <a:rPr lang="zh-CN" altLang="en-US" dirty="0"/>
              <a:t>）肯前可得，安排丁、不安排甲，剩下三人丙、戊、己，若安排己发言，即安排乙、丁、己、庚发言，不安排甲、丙、戊发言，此时满足题干所有条件，当选；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B</a:t>
            </a:r>
            <a:r>
              <a:rPr lang="zh-CN" altLang="en-US" dirty="0"/>
              <a:t>项：安排了丙、丁发言，丙发言根据条件（</a:t>
            </a:r>
            <a:r>
              <a:rPr lang="en-US" altLang="zh-CN" dirty="0"/>
              <a:t>2</a:t>
            </a:r>
            <a:r>
              <a:rPr lang="zh-CN" altLang="en-US" dirty="0"/>
              <a:t>）肯前可得，安排甲、不安排己，此时甲和丁都安排，与条件（</a:t>
            </a:r>
            <a:r>
              <a:rPr lang="en-US" altLang="zh-CN" dirty="0"/>
              <a:t>1</a:t>
            </a:r>
            <a:r>
              <a:rPr lang="zh-CN" altLang="en-US" dirty="0"/>
              <a:t>）矛盾，排除；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C</a:t>
            </a:r>
            <a:r>
              <a:rPr lang="zh-CN" altLang="en-US" dirty="0"/>
              <a:t>项：安排了己、戊发言，戊发言根据条件（</a:t>
            </a:r>
            <a:r>
              <a:rPr lang="en-US" altLang="zh-CN" dirty="0"/>
              <a:t>2</a:t>
            </a:r>
            <a:r>
              <a:rPr lang="zh-CN" altLang="en-US" dirty="0"/>
              <a:t>）肯前可得，安排甲、不安排己，此时与安排己矛盾，排除；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代入</a:t>
            </a:r>
            <a:r>
              <a:rPr lang="en-US" altLang="zh-CN" dirty="0"/>
              <a:t>D</a:t>
            </a:r>
            <a:r>
              <a:rPr lang="zh-CN" altLang="en-US" dirty="0"/>
              <a:t>项：安排了甲、乙发言，乙发言根据条件（</a:t>
            </a:r>
            <a:r>
              <a:rPr lang="en-US" altLang="zh-CN" dirty="0"/>
              <a:t>3</a:t>
            </a:r>
            <a:r>
              <a:rPr lang="zh-CN" altLang="en-US" dirty="0"/>
              <a:t>）肯前可得，安排丁、不安排甲，此时与安排甲矛盾，排除。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B</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a:t>
            </a:r>
            <a:r>
              <a:rPr lang="en-US" altLang="zh-CN" dirty="0"/>
              <a:t>1</a:t>
            </a:r>
            <a:r>
              <a:rPr lang="zh-CN" altLang="en-US" dirty="0"/>
              <a:t>）促进</a:t>
            </a:r>
            <a:r>
              <a:rPr lang="en-US" altLang="zh-CN" dirty="0"/>
              <a:t>“</a:t>
            </a:r>
            <a:r>
              <a:rPr lang="zh-CN" altLang="en-US" dirty="0"/>
              <a:t>三医</a:t>
            </a:r>
            <a:r>
              <a:rPr lang="en-US" altLang="zh-CN" dirty="0"/>
              <a:t>”</a:t>
            </a:r>
            <a:r>
              <a:rPr lang="zh-CN" altLang="en-US" dirty="0"/>
              <a:t>协同发展和治理</a:t>
            </a:r>
            <a:r>
              <a:rPr lang="en-US" altLang="en-US" dirty="0"/>
              <a:t>→</a:t>
            </a:r>
            <a:r>
              <a:rPr lang="zh-CN" altLang="en-US" dirty="0"/>
              <a:t>提高卫生事业发展水平</a:t>
            </a:r>
            <a:r>
              <a:rPr lang="en-US" altLang="zh-CN" dirty="0"/>
              <a:t> </a:t>
            </a:r>
            <a:r>
              <a:rPr lang="zh-CN" altLang="en-US" dirty="0"/>
              <a:t>且</a:t>
            </a:r>
            <a:r>
              <a:rPr lang="en-US" altLang="zh-CN" dirty="0"/>
              <a:t> </a:t>
            </a:r>
            <a:r>
              <a:rPr lang="zh-CN" altLang="en-US" dirty="0"/>
              <a:t>相关部门密切合作、同向发力；</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）促进</a:t>
            </a:r>
            <a:r>
              <a:rPr lang="en-US" altLang="zh-CN" dirty="0"/>
              <a:t>“</a:t>
            </a:r>
            <a:r>
              <a:rPr lang="zh-CN" altLang="en-US" dirty="0"/>
              <a:t>三医</a:t>
            </a:r>
            <a:r>
              <a:rPr lang="en-US" altLang="zh-CN" dirty="0"/>
              <a:t>”</a:t>
            </a:r>
            <a:r>
              <a:rPr lang="zh-CN" altLang="en-US" dirty="0"/>
              <a:t>协同发展和治理</a:t>
            </a:r>
            <a:r>
              <a:rPr lang="en-US" altLang="en-US" dirty="0"/>
              <a:t>→</a:t>
            </a:r>
            <a:r>
              <a:rPr lang="zh-CN" altLang="en-US" dirty="0"/>
              <a:t>深化医改领导体制和工作推进机制；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）深化医改领导体制和工作推进机制</a:t>
            </a:r>
            <a:r>
              <a:rPr lang="en-US" altLang="en-US" dirty="0"/>
              <a:t>→</a:t>
            </a:r>
            <a:r>
              <a:rPr lang="zh-CN" altLang="en-US" dirty="0"/>
              <a:t>强化区域医疗卫生规划和医疗机构设置规划的刚性约束；</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4</a:t>
            </a:r>
            <a:r>
              <a:rPr lang="zh-CN" altLang="en-US" dirty="0"/>
              <a:t>）提高人民群众的获得感、幸福感和安全感</a:t>
            </a:r>
            <a:r>
              <a:rPr lang="en-US" altLang="en-US" dirty="0"/>
              <a:t>→</a:t>
            </a:r>
            <a:r>
              <a:rPr lang="zh-CN" altLang="en-US" dirty="0"/>
              <a:t>更好满足人民群众对美好生活的新期待</a:t>
            </a:r>
            <a:r>
              <a:rPr lang="en-US" altLang="en-US" dirty="0"/>
              <a:t>→</a:t>
            </a:r>
            <a:r>
              <a:rPr lang="zh-CN" altLang="en-US" dirty="0"/>
              <a:t>深化医改领导体制和工作推进机制；</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2</a:t>
            </a:r>
            <a:r>
              <a:rPr lang="zh-CN" altLang="en-US" dirty="0"/>
              <a:t>）和（</a:t>
            </a:r>
            <a:r>
              <a:rPr lang="en-US" altLang="zh-CN" dirty="0"/>
              <a:t>3</a:t>
            </a:r>
            <a:r>
              <a:rPr lang="zh-CN" altLang="en-US" dirty="0"/>
              <a:t>）可串联为：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5</a:t>
            </a:r>
            <a:r>
              <a:rPr lang="zh-CN" altLang="en-US" dirty="0"/>
              <a:t>）促进</a:t>
            </a:r>
            <a:r>
              <a:rPr lang="en-US" altLang="zh-CN" dirty="0"/>
              <a:t>“</a:t>
            </a:r>
            <a:r>
              <a:rPr lang="zh-CN" altLang="en-US" dirty="0"/>
              <a:t>三医</a:t>
            </a:r>
            <a:r>
              <a:rPr lang="en-US" altLang="zh-CN" dirty="0"/>
              <a:t>”</a:t>
            </a:r>
            <a:r>
              <a:rPr lang="zh-CN" altLang="en-US" dirty="0"/>
              <a:t>协同发展和治理</a:t>
            </a:r>
            <a:r>
              <a:rPr lang="en-US" altLang="en-US" dirty="0"/>
              <a:t>→</a:t>
            </a:r>
            <a:r>
              <a:rPr lang="zh-CN" altLang="en-US" dirty="0"/>
              <a:t>深化医改领导体制和工作推进机制</a:t>
            </a:r>
            <a:r>
              <a:rPr lang="en-US" altLang="en-US" dirty="0"/>
              <a:t>→</a:t>
            </a:r>
            <a:r>
              <a:rPr lang="zh-CN" altLang="en-US" dirty="0"/>
              <a:t>强化区域医疗卫生规划和医疗机构设置规划的刚性约束；</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3</a:t>
            </a:r>
            <a:r>
              <a:rPr lang="zh-CN" altLang="en-US" dirty="0"/>
              <a:t>）和（</a:t>
            </a:r>
            <a:r>
              <a:rPr lang="en-US" altLang="zh-CN" dirty="0"/>
              <a:t>4</a:t>
            </a:r>
            <a:r>
              <a:rPr lang="zh-CN" altLang="en-US" dirty="0"/>
              <a:t>）可串联为：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a:t>
            </a:r>
            <a:r>
              <a:rPr lang="en-US" altLang="zh-CN" dirty="0"/>
              <a:t>6</a:t>
            </a:r>
            <a:r>
              <a:rPr lang="zh-CN" altLang="en-US" dirty="0"/>
              <a:t>）提高人民群众的获得感、幸福感和安全感</a:t>
            </a:r>
            <a:r>
              <a:rPr lang="en-US" altLang="en-US" dirty="0"/>
              <a:t>→</a:t>
            </a:r>
            <a:r>
              <a:rPr lang="zh-CN" altLang="en-US" dirty="0"/>
              <a:t>更好满足人民群众对美好生活的新期待</a:t>
            </a:r>
            <a:r>
              <a:rPr lang="en-US" altLang="en-US" dirty="0"/>
              <a:t>→</a:t>
            </a:r>
            <a:r>
              <a:rPr lang="zh-CN" altLang="en-US" dirty="0"/>
              <a:t>深化医改领导体制和工作推进机制</a:t>
            </a:r>
            <a:r>
              <a:rPr lang="en-US" altLang="en-US" dirty="0"/>
              <a:t>→</a:t>
            </a:r>
            <a:r>
              <a:rPr lang="zh-CN" altLang="en-US" dirty="0"/>
              <a:t>强化区域医疗卫生规划和医疗机构设置规划的刚性约束。</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项：翻译为：提高卫生事业发展水平</a:t>
            </a:r>
            <a:r>
              <a:rPr lang="en-US" altLang="en-US" dirty="0"/>
              <a:t>→</a:t>
            </a:r>
            <a:r>
              <a:rPr lang="zh-CN" altLang="en-US" dirty="0"/>
              <a:t>相关部门密切合作、同向发力，均是条件（</a:t>
            </a:r>
            <a:r>
              <a:rPr lang="en-US" altLang="zh-CN" dirty="0"/>
              <a:t>1</a:t>
            </a:r>
            <a:r>
              <a:rPr lang="zh-CN" altLang="en-US" dirty="0"/>
              <a:t>）的后半部分，二者为且关系，无法推出，排除；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项：翻译为：提高人民群众的获得感、幸福感和安全感</a:t>
            </a:r>
            <a:r>
              <a:rPr lang="en-US" altLang="en-US" dirty="0"/>
              <a:t>→</a:t>
            </a:r>
            <a:r>
              <a:rPr lang="zh-CN" altLang="en-US" dirty="0"/>
              <a:t>强化区域医疗卫生规划和医疗机构设置规划的刚性约束，是对条件（</a:t>
            </a:r>
            <a:r>
              <a:rPr lang="en-US" altLang="zh-CN" dirty="0"/>
              <a:t>6</a:t>
            </a:r>
            <a:r>
              <a:rPr lang="zh-CN" altLang="en-US" dirty="0"/>
              <a:t>）的肯前，肯前必肯后，可以推出，当选；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项：翻译为：深化医改领导体制和工作推进机制</a:t>
            </a:r>
            <a:r>
              <a:rPr lang="en-US" altLang="en-US" dirty="0"/>
              <a:t>→</a:t>
            </a:r>
            <a:r>
              <a:rPr lang="zh-CN" altLang="en-US" dirty="0"/>
              <a:t>促进</a:t>
            </a:r>
            <a:r>
              <a:rPr lang="en-US" altLang="zh-CN" dirty="0"/>
              <a:t>“</a:t>
            </a:r>
            <a:r>
              <a:rPr lang="zh-CN" altLang="en-US" dirty="0"/>
              <a:t>三医</a:t>
            </a:r>
            <a:r>
              <a:rPr lang="en-US" altLang="zh-CN" dirty="0"/>
              <a:t>”</a:t>
            </a:r>
            <a:r>
              <a:rPr lang="zh-CN" altLang="en-US" dirty="0"/>
              <a:t>协同发展和治理，是对条件（</a:t>
            </a:r>
            <a:r>
              <a:rPr lang="en-US" altLang="zh-CN" dirty="0"/>
              <a:t>2</a:t>
            </a:r>
            <a:r>
              <a:rPr lang="zh-CN" altLang="en-US" dirty="0"/>
              <a:t>）的肯后，肯后无必然结论，无法推出，排除；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项：翻译为：</a:t>
            </a:r>
            <a:r>
              <a:rPr lang="en-US" altLang="zh-CN" dirty="0"/>
              <a:t>-</a:t>
            </a:r>
            <a:r>
              <a:rPr lang="zh-CN" altLang="en-US" dirty="0"/>
              <a:t>更好满足人民群众对美好生活的新期待</a:t>
            </a:r>
            <a:r>
              <a:rPr lang="en-US" altLang="en-US" dirty="0"/>
              <a:t>→</a:t>
            </a:r>
            <a:r>
              <a:rPr lang="en-US" altLang="zh-CN" dirty="0"/>
              <a:t>-</a:t>
            </a:r>
            <a:r>
              <a:rPr lang="zh-CN" altLang="en-US" dirty="0"/>
              <a:t>促进</a:t>
            </a:r>
            <a:r>
              <a:rPr lang="en-US" altLang="zh-CN" dirty="0"/>
              <a:t>“</a:t>
            </a:r>
            <a:r>
              <a:rPr lang="zh-CN" altLang="en-US" dirty="0"/>
              <a:t>三医</a:t>
            </a:r>
            <a:r>
              <a:rPr lang="en-US" altLang="zh-CN" dirty="0"/>
              <a:t>”</a:t>
            </a:r>
            <a:r>
              <a:rPr lang="zh-CN" altLang="en-US" dirty="0"/>
              <a:t>协同发展和治理，是对条件（</a:t>
            </a:r>
            <a:r>
              <a:rPr lang="en-US" altLang="zh-CN" dirty="0"/>
              <a:t>4</a:t>
            </a:r>
            <a:r>
              <a:rPr lang="zh-CN" altLang="en-US" dirty="0"/>
              <a:t>）的否前，否前无必然结论，无法推出，排除。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B</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A</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解析：论点：抓挠皮肤并非毫无益处，这一行为可以增强该部位皮肤对细菌的防御能力。</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论据：皮肤瘙痒的小鼠抓挠皮肤后，相比未抓挠的皮肤、抓挠处的皮肤更少受到细菌感染。</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本题论点和论据都在说抓挠皮肤可以增强皮肤对细菌的防御能力，话题一致，加强优先考虑补充论据。</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项：选项指出抓挠激活肥大细胞后，肥大细胞可在局部召集免疫细胞，进而抵抗病原菌的侵害，解释了为什么抓挠皮肤可以增强皮肤对细菌的防御能力，补充论据，可以加强，当选；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项：选项指出抓挠仅增加了皮肤的损伤程度，并未加剧皮肤的炎症反应，而论点说的是抓挠可以增强皮肤对细菌的防御能力，话题不一致，无关项，无法加强，排除；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项：选项指出抓挠产生的痛感较低时，会让人产生愉悦感，而论点说的是抓挠可以增强皮肤对细菌的防御能力，话题不一致，无关项，无法加强，排除；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项：选项指出抓挠耳廓或耳垂有助于增强神经活跃度，而论点说的是抓挠可以增强皮肤对细菌的防御能力，话题不一致，无关项，无法加强，排除。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A</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解析：论点：居住空间受限是城市中的人们更倾向于养宠物猫的主要原因。</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论据：随着城市化进程的加快，城市居民的居住空间越来越有限，养狗可能会面临空间不足的问题，而猫体型小巧，对空间的要求不高。</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本题论点和论据讨论的都是居住空间受限与人们倾向于养宠物猫的关系，论点论据话题一致，本题为削弱选非题，排除能够削弱的选项即可。</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项：该项通过比较指出养狗更容易产生噪音问题以及安全隐患问题，说明人们更倾向于养猫存在其他原因，他因削弱，排除；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项：该项通过比较强调养猫具有陪伴时间需求较少的优势，说明人们更倾向于养猫存在其他原因，他因削弱，排除；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项：该项说明养猫具有可以拓展社交圈的优点，但是该项并未在养猫与养狗之间作比较，即不明确养狗是否具有此优点，不能削弱，当选；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项：该项通过养猫与养狗作比较，指出宠物猫体型小、食量小且养猫开支较少等优点，说明人们更倾向于养猫存在其他原因，他因削弱，排除。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本题为选非题，故正确答案为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答案：</a:t>
            </a:r>
            <a:r>
              <a:rPr lang="en-US" altLang="zh-CN" dirty="0"/>
              <a:t>C</a:t>
            </a:r>
            <a:endParaRPr lang="en-US" altLang="zh-CN"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解析：指出两个现象（强降雨、冷空气与暖湿气流的交汇）之间存在因果关系，根据结果（强降雨）已发生，得到原因（冷空气与暖湿气流的交汇）已发生的结论。</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A</a:t>
            </a:r>
            <a:r>
              <a:rPr lang="zh-CN" altLang="en-US" dirty="0"/>
              <a:t>项：指出两个现象（牧草稀疏、影响绵羊的生长发育）之间存在因果关系，根据原因（牧草稀疏）已发生，得到结果（影响绵羊的生长发育）会发生的结论，与题干论证方式不一致，排除；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B</a:t>
            </a:r>
            <a:r>
              <a:rPr lang="zh-CN" altLang="en-US" dirty="0"/>
              <a:t>项：指出两个现象（旅游人数、图书借阅量）之间不存在因果关系，根据结果（图书借阅量）已发生，得到不是该原因（旅游人数）导致的结论，与题干论证方式不一致，排除；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C</a:t>
            </a:r>
            <a:r>
              <a:rPr lang="zh-CN" altLang="en-US" dirty="0"/>
              <a:t>项：指出两个现象（地质松软、工期延长）之间存在因果关系，根据结果（工期延长）已发生，得到原因（地质松软）已发生的结论，与题干论证方式一致，当选；</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dirty="0"/>
              <a:t>D</a:t>
            </a:r>
            <a:r>
              <a:rPr lang="zh-CN" altLang="en-US" dirty="0"/>
              <a:t>项：指出两个现象（小质量恒星坍缩、变成白矮星）之间存在因果关系，根据原因（小质量恒星坍缩）已发生，得到结果（变成白矮星）会发生的结论，与题干论证方式不一致，排除。</a:t>
            </a: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故正确答案为</a:t>
            </a:r>
            <a:r>
              <a:rPr lang="en-US" altLang="zh-CN" dirty="0"/>
              <a:t>C</a:t>
            </a:r>
            <a:r>
              <a:rPr lang="zh-CN" altLang="en-US" dirty="0"/>
              <a:t>。</a:t>
            </a:r>
            <a:endParaRPr lang="zh-CN" altLang="en-US" dirty="0"/>
          </a:p>
        </p:txBody>
      </p:sp>
      <p:sp>
        <p:nvSpPr>
          <p:cNvPr id="4" name="灯片编号占位符 3"/>
          <p:cNvSpPr>
            <a:spLocks noGrp="1"/>
          </p:cNvSpPr>
          <p:nvPr>
            <p:ph type="sldNum" sz="quarter" idx="10"/>
          </p:nvPr>
        </p:nvSpPr>
        <p:spPr/>
        <p:txBody>
          <a:bodyPr/>
          <a:lstStyle/>
          <a:p>
            <a:fld id="{C0E0BC55-7151-4CA0-8522-D4077B15BA49}"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0" Type="http://schemas.openxmlformats.org/officeDocument/2006/relationships/theme" Target="../theme/theme1.xml"/><Relationship Id="rId3" Type="http://schemas.openxmlformats.org/officeDocument/2006/relationships/slideLayout" Target="../slideLayouts/slideLayout3.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2.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2.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2.xml"/><Relationship Id="rId2" Type="http://schemas.openxmlformats.org/officeDocument/2006/relationships/image" Target="../media/image8.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2.xml"/><Relationship Id="rId2" Type="http://schemas.openxmlformats.org/officeDocument/2006/relationships/image" Target="../media/image10.jpe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2.xml"/><Relationship Id="rId2" Type="http://schemas.openxmlformats.org/officeDocument/2006/relationships/image" Target="../media/image12.png"/><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2.xml"/><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2.xml"/><Relationship Id="rId1"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2.xml"/><Relationship Id="rId1"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2.xml"/><Relationship Id="rId1" Type="http://schemas.openxmlformats.org/officeDocument/2006/relationships/image" Target="../media/image16.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2.xml"/><Relationship Id="rId1" Type="http://schemas.openxmlformats.org/officeDocument/2006/relationships/image" Target="../media/image17.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2.xml"/><Relationship Id="rId1" Type="http://schemas.openxmlformats.org/officeDocument/2006/relationships/image" Target="../media/image18.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2.xml"/><Relationship Id="rId1" Type="http://schemas.openxmlformats.org/officeDocument/2006/relationships/image" Target="../media/image19.jpe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2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2.xml"/><Relationship Id="rId1" Type="http://schemas.openxmlformats.org/officeDocument/2006/relationships/image" Target="../media/image23.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2.xml"/><Relationship Id="rId1" Type="http://schemas.openxmlformats.org/officeDocument/2006/relationships/image" Target="../media/image24.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2.xml"/><Relationship Id="rId1" Type="http://schemas.openxmlformats.org/officeDocument/2006/relationships/image" Target="../media/image25.jpe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2.xml"/><Relationship Id="rId1" Type="http://schemas.openxmlformats.org/officeDocument/2006/relationships/image" Target="../media/image26.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22.xml"/><Relationship Id="rId2" Type="http://schemas.openxmlformats.org/officeDocument/2006/relationships/image" Target="../media/image28.png"/><Relationship Id="rId1" Type="http://schemas.openxmlformats.org/officeDocument/2006/relationships/image" Target="../media/image27.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2.xml"/></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3.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行政执法类</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76</a:t>
            </a:r>
            <a:endParaRPr lang="en-US" altLang="zh-CN" sz="3735" dirty="0" smtClean="0"/>
          </a:p>
        </p:txBody>
      </p:sp>
      <p:pic>
        <p:nvPicPr>
          <p:cNvPr id="72" name="IM 72"/>
          <p:cNvPicPr/>
          <p:nvPr/>
        </p:nvPicPr>
        <p:blipFill>
          <a:blip r:embed="rId1"/>
          <a:stretch>
            <a:fillRect/>
          </a:stretch>
        </p:blipFill>
        <p:spPr>
          <a:xfrm>
            <a:off x="1406525" y="1546225"/>
            <a:ext cx="9217025" cy="44392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77</a:t>
            </a:r>
            <a:endParaRPr lang="en-US" altLang="zh-CN" sz="3735" dirty="0" smtClean="0"/>
          </a:p>
        </p:txBody>
      </p:sp>
      <p:pic>
        <p:nvPicPr>
          <p:cNvPr id="74" name="IM 74"/>
          <p:cNvPicPr/>
          <p:nvPr/>
        </p:nvPicPr>
        <p:blipFill>
          <a:blip r:embed="rId1"/>
          <a:stretch>
            <a:fillRect/>
          </a:stretch>
        </p:blipFill>
        <p:spPr>
          <a:xfrm>
            <a:off x="1738630" y="1642745"/>
            <a:ext cx="8714740" cy="3997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78</a:t>
            </a:r>
            <a:endParaRPr lang="en-US" altLang="zh-CN" sz="3735" dirty="0" smtClean="0"/>
          </a:p>
        </p:txBody>
      </p:sp>
      <p:pic>
        <p:nvPicPr>
          <p:cNvPr id="80" name="IM 80"/>
          <p:cNvPicPr/>
          <p:nvPr/>
        </p:nvPicPr>
        <p:blipFill>
          <a:blip r:embed="rId1"/>
          <a:stretch>
            <a:fillRect/>
          </a:stretch>
        </p:blipFill>
        <p:spPr>
          <a:xfrm>
            <a:off x="1450340" y="1539875"/>
            <a:ext cx="9512300" cy="41821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2383" y="57318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79</a:t>
            </a:r>
            <a:endParaRPr lang="en-US" altLang="zh-CN" sz="3735" dirty="0" smtClean="0"/>
          </a:p>
        </p:txBody>
      </p:sp>
      <p:pic>
        <p:nvPicPr>
          <p:cNvPr id="82" name="IM 82"/>
          <p:cNvPicPr/>
          <p:nvPr/>
        </p:nvPicPr>
        <p:blipFill>
          <a:blip r:embed="rId1"/>
          <a:stretch>
            <a:fillRect/>
          </a:stretch>
        </p:blipFill>
        <p:spPr>
          <a:xfrm>
            <a:off x="3728085" y="1247775"/>
            <a:ext cx="5053965" cy="4953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左边为给定的多面体，现用经</a:t>
            </a:r>
            <a:r>
              <a:rPr lang="en-US" altLang="zh-CN" sz="2400" dirty="0">
                <a:cs typeface="楷体" panose="02010609060101010101" charset="-122"/>
                <a:sym typeface="楷体" panose="02010609060101010101" charset="-122"/>
              </a:rPr>
              <a:t>P</a:t>
            </a:r>
            <a:r>
              <a:rPr lang="zh-CN" altLang="en-US" sz="2400" dirty="0">
                <a:cs typeface="楷体" panose="02010609060101010101" charset="-122"/>
                <a:sym typeface="楷体" panose="02010609060101010101" charset="-122"/>
              </a:rPr>
              <a:t>、</a:t>
            </a:r>
            <a:r>
              <a:rPr lang="en-US" altLang="zh-CN" sz="2400" dirty="0">
                <a:cs typeface="楷体" panose="02010609060101010101" charset="-122"/>
                <a:sym typeface="楷体" panose="02010609060101010101" charset="-122"/>
              </a:rPr>
              <a:t>Q</a:t>
            </a:r>
            <a:r>
              <a:rPr lang="zh-CN" altLang="en-US" sz="2400" dirty="0">
                <a:cs typeface="楷体" panose="02010609060101010101" charset="-122"/>
                <a:sym typeface="楷体" panose="02010609060101010101" charset="-122"/>
              </a:rPr>
              <a:t>、</a:t>
            </a:r>
            <a:r>
              <a:rPr lang="en-US" altLang="zh-CN" sz="2400" dirty="0">
                <a:cs typeface="楷体" panose="02010609060101010101" charset="-122"/>
                <a:sym typeface="楷体" panose="02010609060101010101" charset="-122"/>
              </a:rPr>
              <a:t>R</a:t>
            </a:r>
            <a:r>
              <a:rPr lang="zh-CN" altLang="en-US" sz="2400" dirty="0">
                <a:cs typeface="楷体" panose="02010609060101010101" charset="-122"/>
                <a:sym typeface="楷体" panose="02010609060101010101" charset="-122"/>
              </a:rPr>
              <a:t>三点的平面对其进行切割，切面为：</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80</a:t>
            </a:r>
            <a:endParaRPr lang="en-US" altLang="zh-CN" sz="3735" dirty="0" smtClean="0"/>
          </a:p>
        </p:txBody>
      </p:sp>
      <p:pic>
        <p:nvPicPr>
          <p:cNvPr id="84" name="IM 84"/>
          <p:cNvPicPr/>
          <p:nvPr/>
        </p:nvPicPr>
        <p:blipFill>
          <a:blip r:embed="rId1"/>
          <a:stretch>
            <a:fillRect/>
          </a:stretch>
        </p:blipFill>
        <p:spPr>
          <a:xfrm>
            <a:off x="1009015" y="1822450"/>
            <a:ext cx="10520045" cy="3213100"/>
          </a:xfrm>
          <a:prstGeom prst="rect">
            <a:avLst/>
          </a:prstGeom>
        </p:spPr>
      </p:pic>
      <p:pic>
        <p:nvPicPr>
          <p:cNvPr id="3" name="图片 2" descr="IMG_256"/>
          <p:cNvPicPr>
            <a:picLocks noChangeAspect="1"/>
          </p:cNvPicPr>
          <p:nvPr/>
        </p:nvPicPr>
        <p:blipFill>
          <a:blip r:embed="rId2"/>
          <a:stretch>
            <a:fillRect/>
          </a:stretch>
        </p:blipFill>
        <p:spPr>
          <a:xfrm>
            <a:off x="9517380" y="5019040"/>
            <a:ext cx="2270125" cy="183896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下图为由</a:t>
            </a:r>
            <a:r>
              <a:rPr lang="en-US" altLang="zh-CN" sz="2400" dirty="0">
                <a:cs typeface="楷体" panose="02010609060101010101" charset="-122"/>
                <a:sym typeface="楷体" panose="02010609060101010101" charset="-122"/>
              </a:rPr>
              <a:t>2</a:t>
            </a:r>
            <a:r>
              <a:rPr lang="zh-CN" altLang="en-US" sz="2400" dirty="0">
                <a:cs typeface="楷体" panose="02010609060101010101" charset="-122"/>
                <a:sym typeface="楷体" panose="02010609060101010101" charset="-122"/>
              </a:rPr>
              <a:t>个正方体组合而成的长方体，问这</a:t>
            </a:r>
            <a:r>
              <a:rPr lang="en-US" altLang="zh-CN" sz="2400" dirty="0">
                <a:cs typeface="楷体" panose="02010609060101010101" charset="-122"/>
                <a:sym typeface="楷体" panose="02010609060101010101" charset="-122"/>
              </a:rPr>
              <a:t>2</a:t>
            </a:r>
            <a:r>
              <a:rPr lang="zh-CN" altLang="en-US" sz="2400" dirty="0">
                <a:cs typeface="楷体" panose="02010609060101010101" charset="-122"/>
                <a:sym typeface="楷体" panose="02010609060101010101" charset="-122"/>
              </a:rPr>
              <a:t>个正方体的外表面展开图可能分别是：</a:t>
            </a: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②</a:t>
            </a:r>
            <a:r>
              <a:rPr lang="zh-CN" altLang="en-US" sz="2400" dirty="0">
                <a:cs typeface="楷体" panose="02010609060101010101" charset="-122"/>
                <a:sym typeface="楷体" panose="02010609060101010101" charset="-122"/>
              </a:rPr>
              <a:t>和</a:t>
            </a:r>
            <a:r>
              <a:rPr lang="en-US" altLang="en-US" sz="2400" dirty="0">
                <a:cs typeface="楷体" panose="02010609060101010101" charset="-122"/>
                <a:sym typeface="楷体" panose="02010609060101010101" charset="-122"/>
              </a:rPr>
              <a:t>④		</a:t>
            </a:r>
            <a:r>
              <a:rPr lang="en-US" altLang="zh-CN" sz="2400" dirty="0">
                <a:cs typeface="楷体" panose="02010609060101010101" charset="-122"/>
                <a:sym typeface="楷体" panose="02010609060101010101" charset="-122"/>
              </a:rPr>
              <a:t>B.</a:t>
            </a:r>
            <a:r>
              <a:rPr lang="en-US" altLang="en-US" sz="2400" dirty="0">
                <a:cs typeface="楷体" panose="02010609060101010101" charset="-122"/>
                <a:sym typeface="楷体" panose="02010609060101010101" charset="-122"/>
              </a:rPr>
              <a:t>②</a:t>
            </a:r>
            <a:r>
              <a:rPr lang="zh-CN" altLang="en-US" sz="2400" dirty="0">
                <a:cs typeface="楷体" panose="02010609060101010101" charset="-122"/>
                <a:sym typeface="楷体" panose="02010609060101010101" charset="-122"/>
              </a:rPr>
              <a:t>和</a:t>
            </a:r>
            <a:r>
              <a:rPr lang="en-US" altLang="en-US" sz="2400" dirty="0">
                <a:cs typeface="楷体" panose="02010609060101010101" charset="-122"/>
                <a:sym typeface="楷体" panose="02010609060101010101" charset="-122"/>
              </a:rPr>
              <a:t>③</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a:t>
            </a:r>
            <a:r>
              <a:rPr lang="zh-CN" altLang="en-US" sz="2400" dirty="0">
                <a:cs typeface="楷体" panose="02010609060101010101" charset="-122"/>
                <a:sym typeface="楷体" panose="02010609060101010101" charset="-122"/>
              </a:rPr>
              <a:t>和</a:t>
            </a:r>
            <a:r>
              <a:rPr lang="en-US" altLang="en-US" sz="2400" dirty="0">
                <a:cs typeface="楷体" panose="02010609060101010101" charset="-122"/>
                <a:sym typeface="楷体" panose="02010609060101010101" charset="-122"/>
              </a:rPr>
              <a:t>④		</a:t>
            </a:r>
            <a:r>
              <a:rPr lang="en-US" altLang="zh-CN" sz="2400" dirty="0">
                <a:cs typeface="楷体" panose="02010609060101010101" charset="-122"/>
                <a:sym typeface="楷体" panose="02010609060101010101" charset="-122"/>
              </a:rPr>
              <a:t>D.</a:t>
            </a:r>
            <a:r>
              <a:rPr lang="en-US" altLang="en-US" sz="2400" dirty="0">
                <a:cs typeface="楷体" panose="02010609060101010101" charset="-122"/>
                <a:sym typeface="楷体" panose="02010609060101010101" charset="-122"/>
              </a:rPr>
              <a:t>①</a:t>
            </a:r>
            <a:r>
              <a:rPr lang="zh-CN" altLang="en-US" sz="2400" dirty="0">
                <a:cs typeface="楷体" panose="02010609060101010101" charset="-122"/>
                <a:sym typeface="楷体" panose="02010609060101010101" charset="-122"/>
              </a:rPr>
              <a:t>和</a:t>
            </a:r>
            <a:r>
              <a:rPr lang="en-US" altLang="en-US" sz="2400" dirty="0">
                <a:cs typeface="楷体" panose="02010609060101010101" charset="-122"/>
                <a:sym typeface="楷体" panose="02010609060101010101" charset="-122"/>
              </a:rPr>
              <a:t>③</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81</a:t>
            </a:r>
            <a:endParaRPr lang="en-US" altLang="zh-CN" sz="3735" dirty="0" smtClean="0"/>
          </a:p>
        </p:txBody>
      </p:sp>
      <p:pic>
        <p:nvPicPr>
          <p:cNvPr id="90" name="IM 90"/>
          <p:cNvPicPr/>
          <p:nvPr/>
        </p:nvPicPr>
        <p:blipFill>
          <a:blip r:embed="rId1"/>
          <a:stretch>
            <a:fillRect/>
          </a:stretch>
        </p:blipFill>
        <p:spPr>
          <a:xfrm>
            <a:off x="911225" y="1815465"/>
            <a:ext cx="2022475" cy="1426845"/>
          </a:xfrm>
          <a:prstGeom prst="rect">
            <a:avLst/>
          </a:prstGeom>
        </p:spPr>
      </p:pic>
      <p:pic>
        <p:nvPicPr>
          <p:cNvPr id="92" name="IM 92"/>
          <p:cNvPicPr/>
          <p:nvPr/>
        </p:nvPicPr>
        <p:blipFill>
          <a:blip r:embed="rId2"/>
          <a:stretch>
            <a:fillRect/>
          </a:stretch>
        </p:blipFill>
        <p:spPr>
          <a:xfrm>
            <a:off x="3515360" y="1553210"/>
            <a:ext cx="8472170" cy="27552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523657"/>
            <a:ext cx="11384692" cy="12280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左边为由</a:t>
            </a:r>
            <a:r>
              <a:rPr lang="en-US" altLang="zh-CN" sz="2400" dirty="0">
                <a:cs typeface="楷体" panose="02010609060101010101" charset="-122"/>
                <a:sym typeface="楷体" panose="02010609060101010101" charset="-122"/>
              </a:rPr>
              <a:t>12</a:t>
            </a:r>
            <a:r>
              <a:rPr lang="zh-CN" altLang="en-US" sz="2400" dirty="0">
                <a:cs typeface="楷体" panose="02010609060101010101" charset="-122"/>
                <a:sym typeface="楷体" panose="02010609060101010101" charset="-122"/>
              </a:rPr>
              <a:t>个白色正方体和</a:t>
            </a:r>
            <a:r>
              <a:rPr lang="en-US" altLang="zh-CN" sz="2400" dirty="0">
                <a:cs typeface="楷体" panose="02010609060101010101" charset="-122"/>
                <a:sym typeface="楷体" panose="02010609060101010101" charset="-122"/>
              </a:rPr>
              <a:t>3</a:t>
            </a:r>
            <a:r>
              <a:rPr lang="zh-CN" altLang="en-US" sz="2400" dirty="0">
                <a:cs typeface="楷体" panose="02010609060101010101" charset="-122"/>
                <a:sym typeface="楷体" panose="02010609060101010101" charset="-122"/>
              </a:rPr>
              <a:t>个灰色正方体组合而成的多面体前后两面直观图，问其可以由除哪项外的三个多面体组合而成？</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82</a:t>
            </a:r>
            <a:endParaRPr lang="en-US" altLang="zh-CN" sz="3735" dirty="0" smtClean="0"/>
          </a:p>
        </p:txBody>
      </p:sp>
      <p:pic>
        <p:nvPicPr>
          <p:cNvPr id="94" name="IM 94"/>
          <p:cNvPicPr/>
          <p:nvPr/>
        </p:nvPicPr>
        <p:blipFill>
          <a:blip r:embed="rId1"/>
          <a:stretch>
            <a:fillRect/>
          </a:stretch>
        </p:blipFill>
        <p:spPr>
          <a:xfrm>
            <a:off x="1066165" y="1822450"/>
            <a:ext cx="9592945" cy="2004695"/>
          </a:xfrm>
          <a:prstGeom prst="rect">
            <a:avLst/>
          </a:prstGeom>
        </p:spPr>
      </p:pic>
      <p:pic>
        <p:nvPicPr>
          <p:cNvPr id="9" name="图片 9"/>
          <p:cNvPicPr>
            <a:picLocks noChangeAspect="1"/>
          </p:cNvPicPr>
          <p:nvPr/>
        </p:nvPicPr>
        <p:blipFill>
          <a:blip r:embed="rId2"/>
          <a:stretch>
            <a:fillRect/>
          </a:stretch>
        </p:blipFill>
        <p:spPr>
          <a:xfrm>
            <a:off x="2735580" y="3827145"/>
            <a:ext cx="6720840" cy="30308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①④⑤</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②③⑥			</a:t>
            </a:r>
            <a:r>
              <a:rPr lang="en-US" altLang="zh-CN" sz="2400" dirty="0">
                <a:cs typeface="楷体" panose="02010609060101010101" charset="-122"/>
                <a:sym typeface="楷体" panose="02010609060101010101" charset="-122"/>
              </a:rPr>
              <a:t>B.</a:t>
            </a:r>
            <a:r>
              <a:rPr lang="en-US" altLang="en-US" sz="2400" dirty="0">
                <a:cs typeface="楷体" panose="02010609060101010101" charset="-122"/>
                <a:sym typeface="楷体" panose="02010609060101010101" charset="-122"/>
              </a:rPr>
              <a:t>①③⑤</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②④⑥</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①③④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②⑤⑥			</a:t>
            </a:r>
            <a:r>
              <a:rPr lang="en-US" altLang="zh-CN" sz="2400" dirty="0">
                <a:cs typeface="楷体" panose="02010609060101010101" charset="-122"/>
                <a:sym typeface="楷体" panose="02010609060101010101" charset="-122"/>
              </a:rPr>
              <a:t>D.</a:t>
            </a:r>
            <a:r>
              <a:rPr lang="en-US" altLang="en-US" sz="2400" dirty="0">
                <a:cs typeface="楷体" panose="02010609060101010101" charset="-122"/>
                <a:sym typeface="楷体" panose="02010609060101010101" charset="-122"/>
              </a:rPr>
              <a:t>①②④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③⑤⑥</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83</a:t>
            </a:r>
            <a:endParaRPr lang="en-US" altLang="zh-CN" sz="3735" dirty="0" smtClean="0"/>
          </a:p>
        </p:txBody>
      </p:sp>
      <p:pic>
        <p:nvPicPr>
          <p:cNvPr id="96" name="IM 96"/>
          <p:cNvPicPr/>
          <p:nvPr/>
        </p:nvPicPr>
        <p:blipFill>
          <a:blip r:embed="rId1"/>
          <a:stretch>
            <a:fillRect/>
          </a:stretch>
        </p:blipFill>
        <p:spPr>
          <a:xfrm>
            <a:off x="3633470" y="1397000"/>
            <a:ext cx="5095240" cy="37534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①②⑥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③④⑤			</a:t>
            </a:r>
            <a:r>
              <a:rPr lang="en-US" altLang="zh-CN" sz="2400" dirty="0">
                <a:cs typeface="楷体" panose="02010609060101010101" charset="-122"/>
                <a:sym typeface="楷体" panose="02010609060101010101" charset="-122"/>
              </a:rPr>
              <a:t>B.</a:t>
            </a:r>
            <a:r>
              <a:rPr lang="en-US" altLang="en-US" sz="2400" dirty="0">
                <a:cs typeface="楷体" panose="02010609060101010101" charset="-122"/>
                <a:sym typeface="楷体" panose="02010609060101010101" charset="-122"/>
              </a:rPr>
              <a:t>①②④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③⑤⑥</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①⑤⑥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②③④			</a:t>
            </a:r>
            <a:r>
              <a:rPr lang="en-US" altLang="zh-CN" sz="2400" dirty="0">
                <a:cs typeface="楷体" panose="02010609060101010101" charset="-122"/>
                <a:sym typeface="楷体" panose="02010609060101010101" charset="-122"/>
              </a:rPr>
              <a:t>D.</a:t>
            </a:r>
            <a:r>
              <a:rPr lang="en-US" altLang="en-US" sz="2400" dirty="0">
                <a:cs typeface="楷体" panose="02010609060101010101" charset="-122"/>
                <a:sym typeface="楷体" panose="02010609060101010101" charset="-122"/>
              </a:rPr>
              <a:t>①④⑥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②③⑤</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84</a:t>
            </a:r>
            <a:endParaRPr lang="en-US" altLang="zh-CN" sz="3735" dirty="0" smtClean="0"/>
          </a:p>
        </p:txBody>
      </p:sp>
      <p:pic>
        <p:nvPicPr>
          <p:cNvPr id="102" name="IM 102"/>
          <p:cNvPicPr/>
          <p:nvPr/>
        </p:nvPicPr>
        <p:blipFill>
          <a:blip r:embed="rId1"/>
          <a:stretch>
            <a:fillRect/>
          </a:stretch>
        </p:blipFill>
        <p:spPr>
          <a:xfrm>
            <a:off x="3712845" y="1321435"/>
            <a:ext cx="4766945" cy="38906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把下面</a:t>
            </a:r>
            <a:r>
              <a:rPr lang="en-US" altLang="zh-CN" sz="2400" dirty="0">
                <a:cs typeface="楷体" panose="02010609060101010101" charset="-122"/>
                <a:sym typeface="楷体" panose="02010609060101010101" charset="-122"/>
              </a:rPr>
              <a:t>6</a:t>
            </a:r>
            <a:r>
              <a:rPr lang="zh-CN" altLang="en-US" sz="2400" dirty="0">
                <a:cs typeface="楷体" panose="02010609060101010101" charset="-122"/>
                <a:sym typeface="楷体" panose="02010609060101010101" charset="-122"/>
              </a:rPr>
              <a:t>个图形分为两类，使每一类图形都有各自的共同特征或规律，分类正确的一项是：</a:t>
            </a:r>
            <a:endParaRPr lang="zh-CN" altLang="en-US"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①④⑤</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②③⑥			</a:t>
            </a:r>
            <a:r>
              <a:rPr lang="en-US" altLang="zh-CN" sz="2400" dirty="0">
                <a:cs typeface="楷体" panose="02010609060101010101" charset="-122"/>
                <a:sym typeface="楷体" panose="02010609060101010101" charset="-122"/>
              </a:rPr>
              <a:t>B.</a:t>
            </a:r>
            <a:r>
              <a:rPr lang="en-US" altLang="en-US" sz="2400" dirty="0">
                <a:cs typeface="楷体" panose="02010609060101010101" charset="-122"/>
                <a:sym typeface="楷体" panose="02010609060101010101" charset="-122"/>
              </a:rPr>
              <a:t>①③⑥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②④⑤</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①②⑥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③④⑤			</a:t>
            </a:r>
            <a:r>
              <a:rPr lang="en-US" altLang="zh-CN" sz="2400" dirty="0">
                <a:cs typeface="楷体" panose="02010609060101010101" charset="-122"/>
                <a:sym typeface="楷体" panose="02010609060101010101" charset="-122"/>
              </a:rPr>
              <a:t>D.</a:t>
            </a:r>
            <a:r>
              <a:rPr lang="en-US" altLang="en-US" sz="2400" dirty="0">
                <a:cs typeface="楷体" panose="02010609060101010101" charset="-122"/>
                <a:sym typeface="楷体" panose="02010609060101010101" charset="-122"/>
              </a:rPr>
              <a:t>①②④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③⑤⑥</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85</a:t>
            </a:r>
            <a:endParaRPr lang="en-US" altLang="zh-CN" sz="3735" dirty="0" smtClean="0"/>
          </a:p>
        </p:txBody>
      </p:sp>
      <p:pic>
        <p:nvPicPr>
          <p:cNvPr id="104" name="IM 104"/>
          <p:cNvPicPr/>
          <p:nvPr/>
        </p:nvPicPr>
        <p:blipFill>
          <a:blip r:embed="rId1"/>
          <a:stretch>
            <a:fillRect/>
          </a:stretch>
        </p:blipFill>
        <p:spPr>
          <a:xfrm>
            <a:off x="3639820" y="1325245"/>
            <a:ext cx="4927600" cy="37503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选矿是指用物理、化学或者物理与化学相结合的方法，将原矿中的有用矿物与伴生的无用固定物质（脉石）或有害矿物分开的过程。选矿可显著提高矿石的质量，减少运输费用，降低冶炼成本，进而实现综合利用。</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根据上述定义，下列没有体现选矿过程的是：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利用矿物颗粒电性的差别，在高压电场中挑选出白钨矿、赤铁矿等，通过电机分离除尘</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利用水枪和洗矿槽等设备，将锡矿石中的泥土等杂质洗去，同时也可以将部分轻矿物冲走，实现锡石初步富集</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经验丰富的老师傅通过敲击、光照、观察皮壳等方法对开采的翡翠原石进行筛选，挑选优质原石</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将铜矿矿石破碎到一定的粒度后，混以少量的食盐和煤粉隔氧加热，矿石中的铜便以金属状态析出，由此获得铜精矿</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86</a:t>
            </a:r>
            <a:endParaRPr lang="en-US" altLang="zh-CN" sz="3735"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波特五力模型是一种竞争分析工具，用于评估一个行业的竞争力和吸引力。该模型通过对同行业竞争对手的威胁，潜在进入者的威胁、替代品的威胁、上游供应商的议价能力和下游购买者的议价能力这五个方面的分析，帮助企业了解其所处行业的竞争环境，以制定相应的竞争策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根据上述定义，关于康复机器人行业，对下列问题的分析不能归入波特五力模型的是：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康复机器人行业准入门槛高吗？需要强大的技术能力和创新能力吗？</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医院和康复中心患者规模如何？对于康复机器人的需求有多大？</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与传统物理治疗等康复治疗方法相比，康复机器人有竞争力吗？</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康复机器人企业内部各部门之间的协同合作程度高吗？</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87</a:t>
            </a:r>
            <a:endParaRPr lang="en-US" altLang="zh-CN" sz="3735"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假对是指借用同音或多义的字或词作形（音）此义彼的表达，构成形式上相对的一种修辞方式。假对也是对偶的形式之一，多用于古汉语作品中。根据其构成方式，假对可以分为谐音假对和衍义假对两类：谐音假对是利用语音的相同或相近构成的假对，衍义假对是利用字或词的一形多义现象构成的假对。</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根据上述定义，下列对偶句中的一对画线字属于衍义假对的是：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明月</a:t>
            </a:r>
            <a:r>
              <a:rPr lang="zh-CN" altLang="en-US" sz="2000" u="sng" dirty="0">
                <a:cs typeface="楷体" panose="02010609060101010101" charset="-122"/>
                <a:sym typeface="楷体" panose="02010609060101010101" charset="-122"/>
              </a:rPr>
              <a:t>松</a:t>
            </a:r>
            <a:r>
              <a:rPr lang="zh-CN" altLang="en-US" sz="2000" dirty="0">
                <a:cs typeface="楷体" panose="02010609060101010101" charset="-122"/>
                <a:sym typeface="楷体" panose="02010609060101010101" charset="-122"/>
              </a:rPr>
              <a:t>间照，清泉</a:t>
            </a:r>
            <a:r>
              <a:rPr lang="zh-CN" altLang="en-US" sz="2000" u="sng" dirty="0">
                <a:cs typeface="楷体" panose="02010609060101010101" charset="-122"/>
                <a:sym typeface="楷体" panose="02010609060101010101" charset="-122"/>
              </a:rPr>
              <a:t>石</a:t>
            </a:r>
            <a:r>
              <a:rPr lang="zh-CN" altLang="en-US" sz="2000" dirty="0">
                <a:cs typeface="楷体" panose="02010609060101010101" charset="-122"/>
                <a:sym typeface="楷体" panose="02010609060101010101" charset="-122"/>
              </a:rPr>
              <a:t>上流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厨人具</a:t>
            </a:r>
            <a:r>
              <a:rPr lang="zh-CN" altLang="en-US" sz="2000" u="sng" dirty="0">
                <a:cs typeface="楷体" panose="02010609060101010101" charset="-122"/>
                <a:sym typeface="楷体" panose="02010609060101010101" charset="-122"/>
              </a:rPr>
              <a:t>鸡</a:t>
            </a:r>
            <a:r>
              <a:rPr lang="zh-CN" altLang="en-US" sz="2000" dirty="0">
                <a:cs typeface="楷体" panose="02010609060101010101" charset="-122"/>
                <a:sym typeface="楷体" panose="02010609060101010101" charset="-122"/>
              </a:rPr>
              <a:t>黍，稚子摘</a:t>
            </a:r>
            <a:r>
              <a:rPr lang="zh-CN" altLang="en-US" sz="2000" u="sng" dirty="0">
                <a:cs typeface="楷体" panose="02010609060101010101" charset="-122"/>
                <a:sym typeface="楷体" panose="02010609060101010101" charset="-122"/>
              </a:rPr>
              <a:t>杨</a:t>
            </a:r>
            <a:r>
              <a:rPr lang="zh-CN" altLang="en-US" sz="2000" dirty="0">
                <a:cs typeface="楷体" panose="02010609060101010101" charset="-122"/>
                <a:sym typeface="楷体" panose="02010609060101010101" charset="-122"/>
              </a:rPr>
              <a:t>梅</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本无</a:t>
            </a:r>
            <a:r>
              <a:rPr lang="zh-CN" altLang="en-US" sz="2000" u="sng" dirty="0">
                <a:cs typeface="楷体" panose="02010609060101010101" charset="-122"/>
                <a:sym typeface="楷体" panose="02010609060101010101" charset="-122"/>
              </a:rPr>
              <a:t>丹</a:t>
            </a:r>
            <a:r>
              <a:rPr lang="zh-CN" altLang="en-US" sz="2000" dirty="0">
                <a:cs typeface="楷体" panose="02010609060101010101" charset="-122"/>
                <a:sym typeface="楷体" panose="02010609060101010101" charset="-122"/>
              </a:rPr>
              <a:t>灶术，那免</a:t>
            </a:r>
            <a:r>
              <a:rPr lang="zh-CN" altLang="en-US" sz="2000" u="sng" dirty="0">
                <a:cs typeface="楷体" panose="02010609060101010101" charset="-122"/>
                <a:sym typeface="楷体" panose="02010609060101010101" charset="-122"/>
              </a:rPr>
              <a:t>白</a:t>
            </a:r>
            <a:r>
              <a:rPr lang="zh-CN" altLang="en-US" sz="2000" dirty="0">
                <a:cs typeface="楷体" panose="02010609060101010101" charset="-122"/>
                <a:sym typeface="楷体" panose="02010609060101010101" charset="-122"/>
              </a:rPr>
              <a:t>头翁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u="sng" dirty="0">
                <a:cs typeface="楷体" panose="02010609060101010101" charset="-122"/>
                <a:sym typeface="楷体" panose="02010609060101010101" charset="-122"/>
              </a:rPr>
              <a:t>枸</a:t>
            </a:r>
            <a:r>
              <a:rPr lang="zh-CN" altLang="en-US" sz="2000" dirty="0">
                <a:cs typeface="楷体" panose="02010609060101010101" charset="-122"/>
                <a:sym typeface="楷体" panose="02010609060101010101" charset="-122"/>
              </a:rPr>
              <a:t>杞因吾有，</a:t>
            </a:r>
            <a:r>
              <a:rPr lang="zh-CN" altLang="en-US" sz="2000" u="sng" dirty="0">
                <a:cs typeface="楷体" panose="02010609060101010101" charset="-122"/>
                <a:sym typeface="楷体" panose="02010609060101010101" charset="-122"/>
              </a:rPr>
              <a:t>鸡</a:t>
            </a:r>
            <a:r>
              <a:rPr lang="zh-CN" altLang="en-US" sz="2000" dirty="0">
                <a:cs typeface="楷体" panose="02010609060101010101" charset="-122"/>
                <a:sym typeface="楷体" panose="02010609060101010101" charset="-122"/>
              </a:rPr>
              <a:t>栖奈汝何</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88</a:t>
            </a:r>
            <a:endParaRPr lang="en-US" altLang="zh-CN" sz="3735"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225" y="705485"/>
            <a:ext cx="11546205" cy="335216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药学服务是指药师应用药学专业知识向公众（包括医护人员、患者及家属）提供直接的、负责任的、与药物使用有关的服务，以提高药物治疗的安全性、有效性和经济性。</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根据上述定义，下列没有体现药学服务的是：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药师与主治医生协商，调整了某患者的用药方案，并给予其相应的用药教育和指导</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药师在社区药房开展咨询活动，为长期服药的慢病患者提供个性化的健康用药建议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药师给去药房拿药的患者一个条码，患者扫码后手机就会显示出药物的使用医嘱</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药师在调剂工作中审核某患者处方的合法性，评估病情与用药匹配度及疗程合理性</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89</a:t>
            </a:r>
            <a:endParaRPr lang="en-US" altLang="zh-CN" sz="3735"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均变论认为，支配各种地质过程的法则在地质历史上没有发生过变化，现在起作用的各种自然营力在漫长的地质过程中具有普遍的均一性，即地质具有相同方式和相同的强度；地球上生物的种与演变是一个渐变的过程，种之间有过渡关系，生物进化过程是极其漫长的。灾变论认为，在整个地质发展的过程中，地球经常发生各种突如其来的、短暂的全球性灾难性变化，这些变化强烈地改变了地球的面貌；地球上生物的变化是反复多次灾变的结果。</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根据上述定义，下列说法最能体现灾变论观点的是：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我们找不到开始的痕迹，也看不到结束的迹象</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地质记录是一部被鲜血和火焰写成的史诗</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现在是通往过去的一把钥匙</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自然界里没有飞跃</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90</a:t>
            </a:r>
            <a:endParaRPr lang="en-US" altLang="zh-CN" sz="3735"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35216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联想的相似律是指两种在性质、特征上相似的事物或属性可形成联想；对比律是指具有相反特点的事物或属性可形成联想；接近律是指在空间与时间上接近的事物或属性可形成联想。</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根据上述定义，下列说法正确的是：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由树木想到森林、由蓝天想到飞机，都运用了对比律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由狐狸想到狡猾、由电灯想到房间，都运用了相似律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由钢铁想到坚强、由酷暑想到严寒，分别运用了接近律和对比律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由黑暗想到光明、由花圃想到蝴蝶，分别运用了对比律和接近律</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91</a:t>
            </a:r>
            <a:endParaRPr lang="en-US" altLang="zh-CN" sz="3735"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商品动销率是指在售的商品品种数与库存商品总品种数的比率。商品库销比是指商品库存量与销售额的比率。商品滞销率是指滞销的商品品种数占库存商品总品种数的比率。商品损耗率是指在一定的保管条件下，某商品在储存保管期间，其自然损耗量与商品在库总量的比例。</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根据上述定义，下列说法正确的是：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若商品动销率超过</a:t>
            </a:r>
            <a:r>
              <a:rPr lang="en-US" altLang="zh-CN" sz="2000" dirty="0">
                <a:cs typeface="楷体" panose="02010609060101010101" charset="-122"/>
                <a:sym typeface="楷体" panose="02010609060101010101" charset="-122"/>
              </a:rPr>
              <a:t>100%</a:t>
            </a:r>
            <a:r>
              <a:rPr lang="zh-CN" altLang="en-US" sz="2000" dirty="0">
                <a:cs typeface="楷体" panose="02010609060101010101" charset="-122"/>
                <a:sym typeface="楷体" panose="02010609060101010101" charset="-122"/>
              </a:rPr>
              <a:t>，说明商品在售品种数高于库存商品总品种数</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商品损耗率高表明有库存积压风险，商品损耗率低表明销售态势良好</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库存商品数一定时，商品滞销率越高，说明滞销的商品越多</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当商品库存量越大，销售额越高时，商品库销比就会越大</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92</a:t>
            </a:r>
            <a:endParaRPr lang="en-US" altLang="zh-CN" sz="3735"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动作预期是指运动员在比赛过程中，根据已有信息，对即将发生的动作结果进行预测的过程。在这一过程中，运动员主要依赖两类信息：运动学信息和情境先验信息。运动学信息包括对手的动作、器材的运动轨迹或队员之间的相对位置，情境先验信息则涉及比赛情境中事件发生的概率。</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根据上述定义，下列不涉及上述任何一种信息的是：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篮球队员甲在双方比分紧咬的情况下，基于对手今日比赛罚篮命中率不高，在对手投篮时选择直接犯规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网球运动员乙知道对手在比赛前有一系列习惯性动作，包括整理球衣、球裤、头发等，暗自提醒自己不要被其干扰</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羽毛球双打运动员丙发现对方准备接发球的球员位置稍微靠前，可能来不及转身或后退接球，便发了个后场球</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乒乓球运动员丁发现对方发过来的球位置较低、速度较慢，极有可能擦网变线，便没有后退，向前伸拍做好接球准备</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93</a:t>
            </a:r>
            <a:endParaRPr lang="en-US" altLang="zh-CN" sz="3735"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在民法理论上，可以将条件划分为随意条件、混合条件与偶成条件。随意条件又分为纯粹随意条件和非纯粹随意条件。纯粹随意条件的成就与否完全由一方当事人的意思决定；非纯粹随意条件的成就与否除一方当事人的意思外，尚须另一方当事人发生某种事件；混合条件的成就与否取决于一方当事人与第三人的意思；偶成条件的成就与否无关当事人的意思，但可能受制于第三人的意思。</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根据上述定义，下列属于混合条件的是：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小王与爸爸约定，如果小王考上的研究生院校让爸爸满意，爸爸就资助其旅游经费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某店铺与供应商约定，如果三伏的第一天下雨，则今年的雨伞就多进货</a:t>
            </a:r>
            <a:r>
              <a:rPr lang="en-US" altLang="zh-CN" sz="2000" dirty="0">
                <a:cs typeface="楷体" panose="02010609060101010101" charset="-122"/>
                <a:sym typeface="楷体" panose="02010609060101010101" charset="-122"/>
              </a:rPr>
              <a:t>30%</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甲厂与乙厂约定，如果甲厂能与丙公司签订承揽合同，甲厂就在乙厂购置原料板材</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小李与哥哥约定，如果小李能在开学前考取驾照，哥哥就把现在开的这台车赠送给小李</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94</a:t>
            </a:r>
            <a:endParaRPr lang="en-US" altLang="zh-CN" sz="3735"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分项累进淘汰法是指在对植株进行选种时，根据性状的相对重要性顺序排列，先按第一重要性状进行选择，然后在入选株内按第二重要性状进行选择，依此顺次累进的一种选种方法。</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根据上述定义，下列对南瓜的选种方法属于分项累进淘汰法的是：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按株选目标性状出现的先后顺序，先淘汰蔓生植株，然后淘汰第一雌花节位高的植株，再淘汰单瓜重量低的植株</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首先在群体内选择无病植株，再在这些无病植株内选择丰产性好的植株，再根据产量性状顺次进行选择</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在收获时按照果实的大小、果型等性状初选，在初选瓜内再按照综合性状入选标准进行复选</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将需要鉴定的性状，如蔓长、单瓜重、果实籽粒数、籽粒长等，分别规定一个最低的入选标准，将低于入选标准的淘汰</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95</a:t>
            </a:r>
            <a:endParaRPr lang="en-US" altLang="zh-CN" sz="3735"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经年：积岁</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善本：版本</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秘方：偏方</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仲夏：夏季</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黎民：百姓</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96</a:t>
            </a:r>
            <a:endParaRPr lang="en-US" altLang="zh-CN" sz="3735"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口腔：唾液：淀粉酶</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种子：孜然：调味品</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叶片：叶肉：叶绿体</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松树：松脂：树脂醇</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试剂：试纸：</a:t>
            </a:r>
            <a:r>
              <a:rPr lang="en-US" altLang="zh-CN" sz="2400" dirty="0">
                <a:cs typeface="楷体" panose="02010609060101010101" charset="-122"/>
                <a:sym typeface="楷体" panose="02010609060101010101" charset="-122"/>
              </a:rPr>
              <a:t>pH</a:t>
            </a:r>
            <a:r>
              <a:rPr lang="zh-CN" altLang="en-US" sz="2400" dirty="0">
                <a:cs typeface="楷体" panose="02010609060101010101" charset="-122"/>
                <a:sym typeface="楷体" panose="02010609060101010101" charset="-122"/>
              </a:rPr>
              <a:t>试纸</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97</a:t>
            </a:r>
            <a:endParaRPr lang="en-US" altLang="zh-CN" sz="3735"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护士人数：护患比：患者人数</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理赔总额：平均理赔金额：理赔次数</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签收率：实际签收数量：应签收数量</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流动资产：流动负债：流动比率</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旅客数：入住率：客房数</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98</a:t>
            </a:r>
            <a:endParaRPr lang="en-US" altLang="zh-CN" sz="3735"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颅内疾病对于（）相当于（）对于岩石断裂依次填入括号中最恰当的是：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颅内感染；岩石熔融</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机体疾病；地壳应力</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核磁共振；地下采样</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视野缺失；冰川运动</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99</a:t>
            </a:r>
            <a:endParaRPr lang="en-US" altLang="zh-CN" sz="3735"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066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dirty="0">
                <a:cs typeface="楷体" panose="02010609060101010101" charset="-122"/>
                <a:sym typeface="楷体" panose="02010609060101010101" charset="-122"/>
              </a:rPr>
              <a:t>如果用一个圆来表示词语所指称的对象的集合，那么以下哪项中画横线词语之间的关系符合下图？</a:t>
            </a:r>
            <a:endParaRPr lang="zh-CN" altLang="en-US" dirty="0">
              <a:cs typeface="楷体" panose="02010609060101010101" charset="-122"/>
              <a:sym typeface="楷体" panose="02010609060101010101" charset="-122"/>
            </a:endParaRPr>
          </a:p>
          <a:p>
            <a:pPr>
              <a:lnSpc>
                <a:spcPct val="150000"/>
              </a:lnSpc>
            </a:pPr>
            <a:endParaRPr lang="zh-CN" altLang="en-US" dirty="0">
              <a:cs typeface="楷体" panose="02010609060101010101" charset="-122"/>
              <a:sym typeface="楷体" panose="02010609060101010101" charset="-122"/>
            </a:endParaRPr>
          </a:p>
          <a:p>
            <a:pPr>
              <a:lnSpc>
                <a:spcPct val="150000"/>
              </a:lnSpc>
            </a:pPr>
            <a:endParaRPr lang="zh-CN" altLang="en-US" dirty="0">
              <a:cs typeface="楷体" panose="02010609060101010101" charset="-122"/>
              <a:sym typeface="楷体" panose="02010609060101010101" charset="-122"/>
            </a:endParaRPr>
          </a:p>
          <a:p>
            <a:pPr>
              <a:lnSpc>
                <a:spcPct val="150000"/>
              </a:lnSpc>
            </a:pPr>
            <a:endParaRPr lang="en-US" altLang="zh-CN" dirty="0">
              <a:cs typeface="楷体" panose="02010609060101010101" charset="-122"/>
              <a:sym typeface="楷体" panose="02010609060101010101" charset="-122"/>
            </a:endParaRPr>
          </a:p>
          <a:p>
            <a:pPr>
              <a:lnSpc>
                <a:spcPct val="150000"/>
              </a:lnSpc>
            </a:pPr>
            <a:endParaRPr lang="en-US" altLang="zh-CN" dirty="0">
              <a:cs typeface="楷体" panose="02010609060101010101" charset="-122"/>
              <a:sym typeface="楷体" panose="02010609060101010101" charset="-122"/>
            </a:endParaRPr>
          </a:p>
          <a:p>
            <a:pPr>
              <a:lnSpc>
                <a:spcPct val="150000"/>
              </a:lnSpc>
            </a:pPr>
            <a:endParaRPr lang="en-US" altLang="zh-CN"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A.</a:t>
            </a:r>
            <a:r>
              <a:rPr lang="zh-CN" altLang="en-US" dirty="0">
                <a:cs typeface="楷体" panose="02010609060101010101" charset="-122"/>
                <a:sym typeface="楷体" panose="02010609060101010101" charset="-122"/>
              </a:rPr>
              <a:t>船舶按用途分为</a:t>
            </a:r>
            <a:r>
              <a:rPr lang="zh-CN" altLang="en-US" u="sng" dirty="0">
                <a:cs typeface="楷体" panose="02010609060101010101" charset="-122"/>
                <a:sym typeface="楷体" panose="02010609060101010101" charset="-122"/>
              </a:rPr>
              <a:t>军用船舶</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①</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和民用船舶两大类，潜艇、</a:t>
            </a:r>
            <a:r>
              <a:rPr lang="zh-CN" altLang="en-US" u="sng" dirty="0">
                <a:cs typeface="楷体" panose="02010609060101010101" charset="-122"/>
                <a:sym typeface="楷体" panose="02010609060101010101" charset="-122"/>
              </a:rPr>
              <a:t>航空母舰</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③</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、驱逐舰等都属于军用船舶；按推进动力分为机动船和</a:t>
            </a:r>
            <a:r>
              <a:rPr lang="zh-CN" altLang="en-US" u="sng" dirty="0">
                <a:cs typeface="楷体" panose="02010609060101010101" charset="-122"/>
                <a:sym typeface="楷体" panose="02010609060101010101" charset="-122"/>
              </a:rPr>
              <a:t>非机动船</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②</a:t>
            </a:r>
            <a:r>
              <a:rPr lang="en-US" altLang="zh-CN" dirty="0">
                <a:cs typeface="楷体" panose="02010609060101010101" charset="-122"/>
                <a:sym typeface="楷体" panose="02010609060101010101" charset="-122"/>
              </a:rPr>
              <a:t>)</a:t>
            </a:r>
            <a:endParaRPr lang="en-US" altLang="zh-CN"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B.</a:t>
            </a:r>
            <a:r>
              <a:rPr lang="zh-CN" altLang="en-US" u="sng" dirty="0">
                <a:cs typeface="楷体" panose="02010609060101010101" charset="-122"/>
                <a:sym typeface="楷体" panose="02010609060101010101" charset="-122"/>
              </a:rPr>
              <a:t>水杉</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③</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是我国的特有树种，属于</a:t>
            </a:r>
            <a:r>
              <a:rPr lang="zh-CN" altLang="en-US" u="sng" dirty="0">
                <a:cs typeface="楷体" panose="02010609060101010101" charset="-122"/>
                <a:sym typeface="楷体" panose="02010609060101010101" charset="-122"/>
              </a:rPr>
              <a:t>落叶树</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①</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是一种高大的</a:t>
            </a:r>
            <a:r>
              <a:rPr lang="zh-CN" altLang="en-US" u="sng" dirty="0">
                <a:cs typeface="楷体" panose="02010609060101010101" charset="-122"/>
                <a:sym typeface="楷体" panose="02010609060101010101" charset="-122"/>
              </a:rPr>
              <a:t>乔木</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②</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是世界上珍稀的</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活化石</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植物</a:t>
            </a:r>
            <a:endParaRPr lang="zh-CN" altLang="en-US"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C.</a:t>
            </a:r>
            <a:r>
              <a:rPr lang="zh-CN" altLang="en-US" dirty="0">
                <a:cs typeface="楷体" panose="02010609060101010101" charset="-122"/>
                <a:sym typeface="楷体" panose="02010609060101010101" charset="-122"/>
              </a:rPr>
              <a:t>图书按照读者群可分为</a:t>
            </a:r>
            <a:r>
              <a:rPr lang="zh-CN" altLang="en-US" u="sng" dirty="0">
                <a:cs typeface="楷体" panose="02010609060101010101" charset="-122"/>
                <a:sym typeface="楷体" panose="02010609060101010101" charset="-122"/>
              </a:rPr>
              <a:t>少儿读物</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③</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和成人读物等；按照载体可分为纸质书和</a:t>
            </a:r>
            <a:r>
              <a:rPr lang="zh-CN" altLang="en-US" u="sng" dirty="0">
                <a:cs typeface="楷体" panose="02010609060101010101" charset="-122"/>
                <a:sym typeface="楷体" panose="02010609060101010101" charset="-122"/>
              </a:rPr>
              <a:t>电子书</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②</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等；按照学科可分为历史书、文学书和</a:t>
            </a:r>
            <a:r>
              <a:rPr lang="zh-CN" altLang="en-US" u="sng" dirty="0">
                <a:cs typeface="楷体" panose="02010609060101010101" charset="-122"/>
                <a:sym typeface="楷体" panose="02010609060101010101" charset="-122"/>
              </a:rPr>
              <a:t>哲学书</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①</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等</a:t>
            </a:r>
            <a:endParaRPr lang="zh-CN" altLang="en-US" dirty="0">
              <a:cs typeface="楷体" panose="02010609060101010101" charset="-122"/>
              <a:sym typeface="楷体" panose="02010609060101010101" charset="-122"/>
            </a:endParaRPr>
          </a:p>
          <a:p>
            <a:pPr>
              <a:lnSpc>
                <a:spcPct val="150000"/>
              </a:lnSpc>
            </a:pPr>
            <a:r>
              <a:rPr lang="en-US" altLang="zh-CN" dirty="0">
                <a:cs typeface="楷体" panose="02010609060101010101" charset="-122"/>
                <a:sym typeface="楷体" panose="02010609060101010101" charset="-122"/>
              </a:rPr>
              <a:t>D.</a:t>
            </a:r>
            <a:r>
              <a:rPr lang="zh-CN" altLang="en-US" dirty="0">
                <a:cs typeface="楷体" panose="02010609060101010101" charset="-122"/>
                <a:sym typeface="楷体" panose="02010609060101010101" charset="-122"/>
              </a:rPr>
              <a:t>大熊猫属于</a:t>
            </a:r>
            <a:r>
              <a:rPr lang="zh-CN" altLang="en-US" u="sng" dirty="0">
                <a:cs typeface="楷体" panose="02010609060101010101" charset="-122"/>
                <a:sym typeface="楷体" panose="02010609060101010101" charset="-122"/>
              </a:rPr>
              <a:t>哺乳动物</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①</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是</a:t>
            </a:r>
            <a:r>
              <a:rPr lang="zh-CN" altLang="en-US" u="sng" dirty="0">
                <a:cs typeface="楷体" panose="02010609060101010101" charset="-122"/>
                <a:sym typeface="楷体" panose="02010609060101010101" charset="-122"/>
              </a:rPr>
              <a:t>中国特有动物</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②</a:t>
            </a:r>
            <a:r>
              <a:rPr lang="en-US" altLang="zh-CN" dirty="0">
                <a:cs typeface="楷体" panose="02010609060101010101" charset="-122"/>
                <a:sym typeface="楷体" panose="02010609060101010101" charset="-122"/>
              </a:rPr>
              <a:t>),</a:t>
            </a:r>
            <a:r>
              <a:rPr lang="zh-CN" altLang="en-US" dirty="0">
                <a:cs typeface="楷体" panose="02010609060101010101" charset="-122"/>
                <a:sym typeface="楷体" panose="02010609060101010101" charset="-122"/>
              </a:rPr>
              <a:t>被列为</a:t>
            </a:r>
            <a:r>
              <a:rPr lang="zh-CN" altLang="en-US" u="sng" dirty="0">
                <a:cs typeface="楷体" panose="02010609060101010101" charset="-122"/>
                <a:sym typeface="楷体" panose="02010609060101010101" charset="-122"/>
              </a:rPr>
              <a:t>中国国家一级保护野生动物</a:t>
            </a:r>
            <a:r>
              <a:rPr lang="en-US" altLang="zh-CN" dirty="0">
                <a:cs typeface="楷体" panose="02010609060101010101" charset="-122"/>
                <a:sym typeface="楷体" panose="02010609060101010101" charset="-122"/>
              </a:rPr>
              <a:t>(</a:t>
            </a:r>
            <a:r>
              <a:rPr lang="en-US" altLang="en-US" dirty="0">
                <a:cs typeface="楷体" panose="02010609060101010101" charset="-122"/>
                <a:sym typeface="楷体" panose="02010609060101010101" charset="-122"/>
              </a:rPr>
              <a:t>③</a:t>
            </a:r>
            <a:r>
              <a:rPr lang="en-US" altLang="zh-CN" dirty="0">
                <a:cs typeface="楷体" panose="02010609060101010101" charset="-122"/>
                <a:sym typeface="楷体" panose="02010609060101010101" charset="-122"/>
              </a:rPr>
              <a:t>)</a:t>
            </a:r>
            <a:endParaRPr lang="en-US" altLang="zh-CN"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100</a:t>
            </a:r>
            <a:endParaRPr lang="en-US" altLang="zh-CN" sz="3735" dirty="0" smtClean="0"/>
          </a:p>
        </p:txBody>
      </p:sp>
      <p:pic>
        <p:nvPicPr>
          <p:cNvPr id="118" name="IM 118"/>
          <p:cNvPicPr/>
          <p:nvPr/>
        </p:nvPicPr>
        <p:blipFill>
          <a:blip r:embed="rId1"/>
          <a:stretch>
            <a:fillRect/>
          </a:stretch>
        </p:blipFill>
        <p:spPr>
          <a:xfrm>
            <a:off x="4726940" y="1271905"/>
            <a:ext cx="2738755" cy="182689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考古人员在某地发掘出一些似鸟动物化石，同位素测年显示这些动物生存于中侏罗世晚期（距今</a:t>
            </a:r>
            <a:r>
              <a:rPr lang="en-US" altLang="zh-CN" sz="2000" dirty="0">
                <a:cs typeface="楷体" panose="02010609060101010101" charset="-122"/>
                <a:sym typeface="楷体" panose="02010609060101010101" charset="-122"/>
              </a:rPr>
              <a:t>1.72</a:t>
            </a:r>
            <a:r>
              <a:rPr lang="zh-CN" altLang="en-US" sz="2000" dirty="0">
                <a:cs typeface="楷体" panose="02010609060101010101" charset="-122"/>
                <a:sym typeface="楷体" panose="02010609060101010101" charset="-122"/>
              </a:rPr>
              <a:t>亿～</a:t>
            </a:r>
            <a:r>
              <a:rPr lang="en-US" altLang="zh-CN" sz="2000" dirty="0">
                <a:cs typeface="楷体" panose="02010609060101010101" charset="-122"/>
                <a:sym typeface="楷体" panose="02010609060101010101" charset="-122"/>
              </a:rPr>
              <a:t>1.64</a:t>
            </a:r>
            <a:r>
              <a:rPr lang="zh-CN" altLang="en-US" sz="2000" dirty="0">
                <a:cs typeface="楷体" panose="02010609060101010101" charset="-122"/>
                <a:sym typeface="楷体" panose="02010609060101010101" charset="-122"/>
              </a:rPr>
              <a:t>亿年）。经考古推算，这些似鸟动物体型与现代鸟类大致接近，尾巴很短，最重要的是它们都具有愈合的尾综骨。考古人员据此认为，这些动物一定属于鸟类。</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以下哪项最有可能是考古人员论证的前提？</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这些似鸟动物长有与现代鸟类相似的脚骨，可以在陆地上行走</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这些化石保存了诸如肩胛骨、乌喙骨、尾综骨等骨骼，形态清晰</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鸟类与爬行动物最显著的区别就是鸟类最后几枚尾椎愈合成为尾综骨</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尾综骨结构的出现对似鸟动物后肢和尾骨的独立运动及飞行能力的完善至关重要</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101</a:t>
            </a:r>
            <a:endParaRPr lang="en-US" altLang="zh-CN" sz="3735"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遗址近年来出土了大量与众不同的奇特文物，不少人认定</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遗址展现了一个特色鲜明且区域封闭的南部地方文化。然而最新研究发现，在距离</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遗址较远的北部</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遗址，出土的青铜器曾大量使用了来自</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遗址附近矿床的铅铜矿料，在</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遗址文化消亡后，</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遗址出土的青铜器基本不再含有这种矿料。这说明</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遗址不是封闭区域，其所在的古国曾与</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遗址的古国或其他区域存在着交流互动。</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以下哪项如果为真，没有支持上述结论？</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A.S</a:t>
            </a:r>
            <a:r>
              <a:rPr lang="zh-CN" altLang="en-US" sz="2000" dirty="0">
                <a:cs typeface="楷体" panose="02010609060101010101" charset="-122"/>
                <a:sym typeface="楷体" panose="02010609060101010101" charset="-122"/>
              </a:rPr>
              <a:t>遗址的青铜器制造业在当时非常发达，出土的青铜器含有多种不同的铅铜矿料</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随着考古发掘的深入，</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遗址出土了越来越多带有明显</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遗址文化元素的青铜器</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在铸造工艺上，</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遗址出土的部分文物采用了</a:t>
            </a:r>
            <a:r>
              <a:rPr lang="en-US" altLang="zh-CN" sz="2000" dirty="0">
                <a:cs typeface="楷体" panose="02010609060101010101" charset="-122"/>
                <a:sym typeface="楷体" panose="02010609060101010101" charset="-122"/>
              </a:rPr>
              <a:t>Y</a:t>
            </a:r>
            <a:r>
              <a:rPr lang="zh-CN" altLang="en-US" sz="2000" dirty="0">
                <a:cs typeface="楷体" panose="02010609060101010101" charset="-122"/>
                <a:sym typeface="楷体" panose="02010609060101010101" charset="-122"/>
              </a:rPr>
              <a:t>遗址多见的</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泥模块铸法</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原本流行于东部地区的牙璋、铜牌饰、陶盉等也在位于南部的</a:t>
            </a:r>
            <a:r>
              <a:rPr lang="en-US" altLang="zh-CN" sz="2000" dirty="0">
                <a:cs typeface="楷体" panose="02010609060101010101" charset="-122"/>
                <a:sym typeface="楷体" panose="02010609060101010101" charset="-122"/>
              </a:rPr>
              <a:t>S</a:t>
            </a:r>
            <a:r>
              <a:rPr lang="zh-CN" altLang="en-US" sz="2000" dirty="0">
                <a:cs typeface="楷体" panose="02010609060101010101" charset="-122"/>
                <a:sym typeface="楷体" panose="02010609060101010101" charset="-122"/>
              </a:rPr>
              <a:t>遗址中大量出现</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102</a:t>
            </a:r>
            <a:endParaRPr lang="en-US" altLang="zh-CN" sz="3735"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564932"/>
            <a:ext cx="11384692" cy="572198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indent="0" fontAlgn="auto">
              <a:lnSpc>
                <a:spcPct val="130000"/>
              </a:lnSpc>
            </a:pPr>
            <a:r>
              <a:rPr lang="zh-CN" altLang="en-US" sz="2000" dirty="0">
                <a:cs typeface="楷体" panose="02010609060101010101" charset="-122"/>
                <a:sym typeface="楷体" panose="02010609060101010101" charset="-122"/>
              </a:rPr>
              <a:t>完善城乡融合发展体制机制是破除我国城乡二元结构、拓展高质量发展空间的必要举措。只有完善农业农村优先发展的投入保障机制，并且优化城乡公共资源配置机制，才能完善城乡融合发展体制机制。只有加大中央预算内投资和地方政府专项债券支持力度，并且提高土地出让收入用于农业农村的比例，才能完善农业农村优先发展的投入保障机制。只有推进户籍制度改革，才能优化城乡公共资源配置机制。由此可以推出的是（）。</a:t>
            </a:r>
            <a:endParaRPr lang="zh-CN" altLang="en-US" sz="2000" dirty="0">
              <a:cs typeface="楷体" panose="02010609060101010101" charset="-122"/>
              <a:sym typeface="楷体" panose="02010609060101010101" charset="-122"/>
            </a:endParaRPr>
          </a:p>
          <a:p>
            <a:pPr indent="0" fontAlgn="auto">
              <a:lnSpc>
                <a:spcPct val="130000"/>
              </a:lnSpc>
            </a:pPr>
            <a:endParaRPr lang="zh-CN" altLang="en-US" sz="2000" dirty="0">
              <a:cs typeface="楷体" panose="02010609060101010101" charset="-122"/>
              <a:sym typeface="楷体" panose="02010609060101010101" charset="-122"/>
            </a:endParaRPr>
          </a:p>
          <a:p>
            <a:pPr indent="0" fontAlgn="auto">
              <a:lnSpc>
                <a:spcPct val="130000"/>
              </a:lnSpc>
            </a:pPr>
            <a:endParaRPr lang="zh-CN" altLang="en-US" sz="2000" dirty="0">
              <a:cs typeface="楷体" panose="02010609060101010101" charset="-122"/>
              <a:sym typeface="楷体" panose="02010609060101010101" charset="-122"/>
            </a:endParaRPr>
          </a:p>
          <a:p>
            <a:pPr indent="0" fontAlgn="auto">
              <a:lnSpc>
                <a:spcPct val="130000"/>
              </a:lnSpc>
            </a:pPr>
            <a:endParaRPr lang="zh-CN" altLang="en-US" sz="2000" dirty="0">
              <a:cs typeface="楷体" panose="02010609060101010101" charset="-122"/>
              <a:sym typeface="楷体" panose="02010609060101010101" charset="-122"/>
            </a:endParaRPr>
          </a:p>
          <a:p>
            <a:pPr indent="0" fontAlgn="auto">
              <a:lnSpc>
                <a:spcPct val="130000"/>
              </a:lnSpc>
            </a:pP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如果推进户籍制度改革，就能优化城乡公共资源配置机制</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只要完善农业农村优先发展的投入保障机制，就能完善城乡融合发展体制机制</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除非完善农业农村优先发展的投入保障机制，否则不能提高土地出让收入用于农业农村的比例</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加大中央预算内投资和地方政府专项债券支持力度是破除我国城乡二元结构、拓展高质量发展空间的必要前提</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103</a:t>
            </a:r>
            <a:endParaRPr lang="en-US" altLang="zh-CN" sz="3735" dirty="0" smtClean="0"/>
          </a:p>
        </p:txBody>
      </p:sp>
      <p:sp>
        <p:nvSpPr>
          <p:cNvPr id="3" name="文本框 2"/>
          <p:cNvSpPr txBox="1"/>
          <p:nvPr/>
        </p:nvSpPr>
        <p:spPr>
          <a:xfrm>
            <a:off x="3981450" y="2374265"/>
            <a:ext cx="821055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FF0000"/>
                </a:solidFill>
                <a:sym typeface="+mn-ea"/>
              </a:rPr>
              <a:t>①</a:t>
            </a:r>
            <a:r>
              <a:rPr lang="zh-CN" altLang="en-US" dirty="0">
                <a:solidFill>
                  <a:srgbClr val="FF0000"/>
                </a:solidFill>
                <a:sym typeface="+mn-ea"/>
              </a:rPr>
              <a:t>破除城乡二元结构</a:t>
            </a:r>
            <a:r>
              <a:rPr lang="en-US" altLang="en-US" dirty="0">
                <a:solidFill>
                  <a:srgbClr val="FF0000"/>
                </a:solidFill>
                <a:sym typeface="+mn-ea"/>
              </a:rPr>
              <a:t>→</a:t>
            </a:r>
            <a:r>
              <a:rPr lang="zh-CN" altLang="en-US" dirty="0">
                <a:solidFill>
                  <a:srgbClr val="FF0000"/>
                </a:solidFill>
                <a:sym typeface="+mn-ea"/>
              </a:rPr>
              <a:t>完善城乡融合；</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FF0000"/>
                </a:solidFill>
                <a:sym typeface="+mn-ea"/>
              </a:rPr>
              <a:t>②</a:t>
            </a:r>
            <a:r>
              <a:rPr lang="zh-CN" altLang="en-US" dirty="0">
                <a:solidFill>
                  <a:srgbClr val="FF0000"/>
                </a:solidFill>
                <a:sym typeface="+mn-ea"/>
              </a:rPr>
              <a:t>完善城乡融合</a:t>
            </a:r>
            <a:r>
              <a:rPr lang="en-US" altLang="en-US" dirty="0">
                <a:solidFill>
                  <a:srgbClr val="FF0000"/>
                </a:solidFill>
                <a:sym typeface="+mn-ea"/>
              </a:rPr>
              <a:t>→</a:t>
            </a:r>
            <a:r>
              <a:rPr lang="zh-CN" altLang="en-US" dirty="0">
                <a:solidFill>
                  <a:srgbClr val="FF0000"/>
                </a:solidFill>
                <a:sym typeface="+mn-ea"/>
              </a:rPr>
              <a:t>完善农业农村优先</a:t>
            </a:r>
            <a:r>
              <a:rPr lang="en-US" altLang="zh-CN" dirty="0">
                <a:solidFill>
                  <a:srgbClr val="FF0000"/>
                </a:solidFill>
                <a:sym typeface="+mn-ea"/>
              </a:rPr>
              <a:t> </a:t>
            </a:r>
            <a:r>
              <a:rPr lang="zh-CN" altLang="en-US" dirty="0">
                <a:solidFill>
                  <a:srgbClr val="FF0000"/>
                </a:solidFill>
                <a:sym typeface="+mn-ea"/>
              </a:rPr>
              <a:t>且</a:t>
            </a:r>
            <a:r>
              <a:rPr lang="en-US" altLang="zh-CN" dirty="0">
                <a:solidFill>
                  <a:srgbClr val="FF0000"/>
                </a:solidFill>
                <a:sym typeface="+mn-ea"/>
              </a:rPr>
              <a:t> </a:t>
            </a:r>
            <a:r>
              <a:rPr lang="zh-CN" altLang="en-US" dirty="0">
                <a:solidFill>
                  <a:srgbClr val="FF0000"/>
                </a:solidFill>
                <a:sym typeface="+mn-ea"/>
              </a:rPr>
              <a:t>优化城乡公共资源；</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FF0000"/>
                </a:solidFill>
                <a:sym typeface="+mn-ea"/>
              </a:rPr>
              <a:t>③</a:t>
            </a:r>
            <a:r>
              <a:rPr lang="zh-CN" altLang="en-US" dirty="0">
                <a:solidFill>
                  <a:srgbClr val="FF0000"/>
                </a:solidFill>
                <a:sym typeface="+mn-ea"/>
              </a:rPr>
              <a:t>完善农业农村优先</a:t>
            </a:r>
            <a:r>
              <a:rPr lang="en-US" altLang="en-US" dirty="0">
                <a:solidFill>
                  <a:srgbClr val="FF0000"/>
                </a:solidFill>
                <a:sym typeface="+mn-ea"/>
              </a:rPr>
              <a:t>→</a:t>
            </a:r>
            <a:r>
              <a:rPr lang="zh-CN" altLang="en-US" dirty="0">
                <a:solidFill>
                  <a:srgbClr val="FF0000"/>
                </a:solidFill>
                <a:sym typeface="+mn-ea"/>
              </a:rPr>
              <a:t>加大中央地方预算</a:t>
            </a:r>
            <a:r>
              <a:rPr lang="en-US" altLang="zh-CN" dirty="0">
                <a:solidFill>
                  <a:srgbClr val="FF0000"/>
                </a:solidFill>
                <a:sym typeface="+mn-ea"/>
              </a:rPr>
              <a:t> </a:t>
            </a:r>
            <a:r>
              <a:rPr lang="zh-CN" altLang="en-US" dirty="0">
                <a:solidFill>
                  <a:srgbClr val="FF0000"/>
                </a:solidFill>
                <a:sym typeface="+mn-ea"/>
              </a:rPr>
              <a:t>且</a:t>
            </a:r>
            <a:r>
              <a:rPr lang="en-US" altLang="zh-CN" dirty="0">
                <a:solidFill>
                  <a:srgbClr val="FF0000"/>
                </a:solidFill>
                <a:sym typeface="+mn-ea"/>
              </a:rPr>
              <a:t> </a:t>
            </a:r>
            <a:r>
              <a:rPr lang="zh-CN" altLang="en-US" dirty="0">
                <a:solidFill>
                  <a:srgbClr val="FF0000"/>
                </a:solidFill>
                <a:sym typeface="+mn-ea"/>
              </a:rPr>
              <a:t>提高土地出让收入；</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en-US" dirty="0">
                <a:solidFill>
                  <a:srgbClr val="FF0000"/>
                </a:solidFill>
                <a:sym typeface="+mn-ea"/>
              </a:rPr>
              <a:t>④</a:t>
            </a:r>
            <a:r>
              <a:rPr lang="zh-CN" altLang="en-US" dirty="0">
                <a:solidFill>
                  <a:srgbClr val="FF0000"/>
                </a:solidFill>
                <a:sym typeface="+mn-ea"/>
              </a:rPr>
              <a:t>优化城乡公共资源</a:t>
            </a:r>
            <a:r>
              <a:rPr lang="en-US" altLang="en-US" dirty="0">
                <a:solidFill>
                  <a:srgbClr val="FF0000"/>
                </a:solidFill>
                <a:sym typeface="+mn-ea"/>
              </a:rPr>
              <a:t>→</a:t>
            </a:r>
            <a:r>
              <a:rPr lang="zh-CN" altLang="en-US" dirty="0">
                <a:solidFill>
                  <a:srgbClr val="FF0000"/>
                </a:solidFill>
                <a:sym typeface="+mn-ea"/>
              </a:rPr>
              <a:t>推进户籍制度改革。</a:t>
            </a:r>
            <a:endParaRPr lang="zh-CN" altLang="en-US" dirty="0">
              <a:solidFill>
                <a:srgbClr val="FF0000"/>
              </a:solidFill>
              <a:sym typeface="+mn-ea"/>
            </a:endParaRPr>
          </a:p>
        </p:txBody>
      </p:sp>
      <p:sp>
        <p:nvSpPr>
          <p:cNvPr id="4" name="文本框 3"/>
          <p:cNvSpPr txBox="1"/>
          <p:nvPr/>
        </p:nvSpPr>
        <p:spPr>
          <a:xfrm>
            <a:off x="1097280" y="3573145"/>
            <a:ext cx="10609580" cy="64516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破除城乡二元结构</a:t>
            </a:r>
            <a:r>
              <a:rPr lang="en-US" altLang="en-US" dirty="0">
                <a:solidFill>
                  <a:srgbClr val="FF0000"/>
                </a:solidFill>
                <a:sym typeface="+mn-ea"/>
              </a:rPr>
              <a:t>→</a:t>
            </a:r>
            <a:r>
              <a:rPr lang="zh-CN" altLang="en-US" dirty="0">
                <a:solidFill>
                  <a:srgbClr val="FF0000"/>
                </a:solidFill>
                <a:sym typeface="+mn-ea"/>
              </a:rPr>
              <a:t>完善城乡融合</a:t>
            </a:r>
            <a:r>
              <a:rPr lang="en-US" altLang="en-US" dirty="0">
                <a:solidFill>
                  <a:srgbClr val="FF0000"/>
                </a:solidFill>
                <a:sym typeface="+mn-ea"/>
              </a:rPr>
              <a:t>→</a:t>
            </a:r>
            <a:r>
              <a:rPr lang="zh-CN" altLang="en-US" dirty="0">
                <a:solidFill>
                  <a:srgbClr val="FF0000"/>
                </a:solidFill>
                <a:sym typeface="+mn-ea"/>
              </a:rPr>
              <a:t>完善农业农村优先</a:t>
            </a:r>
            <a:r>
              <a:rPr lang="en-US" altLang="en-US" dirty="0">
                <a:solidFill>
                  <a:srgbClr val="FF0000"/>
                </a:solidFill>
                <a:sym typeface="+mn-ea"/>
              </a:rPr>
              <a:t>→</a:t>
            </a:r>
            <a:r>
              <a:rPr lang="zh-CN" altLang="en-US" dirty="0">
                <a:solidFill>
                  <a:srgbClr val="FF0000"/>
                </a:solidFill>
                <a:sym typeface="+mn-ea"/>
              </a:rPr>
              <a:t>加大中央地方预算</a:t>
            </a:r>
            <a:r>
              <a:rPr lang="en-US" altLang="zh-CN" dirty="0">
                <a:solidFill>
                  <a:srgbClr val="FF0000"/>
                </a:solidFill>
                <a:sym typeface="+mn-ea"/>
              </a:rPr>
              <a:t> </a:t>
            </a:r>
            <a:r>
              <a:rPr lang="zh-CN" altLang="en-US" dirty="0">
                <a:solidFill>
                  <a:srgbClr val="FF0000"/>
                </a:solidFill>
                <a:sym typeface="+mn-ea"/>
              </a:rPr>
              <a:t>且</a:t>
            </a:r>
            <a:r>
              <a:rPr lang="en-US" altLang="zh-CN" dirty="0">
                <a:solidFill>
                  <a:srgbClr val="FF0000"/>
                </a:solidFill>
                <a:sym typeface="+mn-ea"/>
              </a:rPr>
              <a:t> </a:t>
            </a:r>
            <a:r>
              <a:rPr lang="zh-CN" altLang="en-US" dirty="0">
                <a:solidFill>
                  <a:srgbClr val="FF0000"/>
                </a:solidFill>
                <a:sym typeface="+mn-ea"/>
              </a:rPr>
              <a:t>提高土地出让收入</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破除城乡二元结构</a:t>
            </a:r>
            <a:r>
              <a:rPr lang="en-US" altLang="en-US" dirty="0">
                <a:solidFill>
                  <a:srgbClr val="FF0000"/>
                </a:solidFill>
                <a:sym typeface="+mn-ea"/>
              </a:rPr>
              <a:t>→</a:t>
            </a:r>
            <a:r>
              <a:rPr lang="zh-CN" altLang="en-US" dirty="0">
                <a:solidFill>
                  <a:srgbClr val="FF0000"/>
                </a:solidFill>
                <a:sym typeface="+mn-ea"/>
              </a:rPr>
              <a:t>完善城乡融合</a:t>
            </a:r>
            <a:r>
              <a:rPr lang="en-US" altLang="en-US" dirty="0">
                <a:solidFill>
                  <a:srgbClr val="FF0000"/>
                </a:solidFill>
                <a:sym typeface="+mn-ea"/>
              </a:rPr>
              <a:t>→</a:t>
            </a:r>
            <a:r>
              <a:rPr lang="zh-CN" altLang="en-US" dirty="0">
                <a:solidFill>
                  <a:srgbClr val="FF0000"/>
                </a:solidFill>
                <a:sym typeface="+mn-ea"/>
              </a:rPr>
              <a:t>优化城乡公共资源</a:t>
            </a:r>
            <a:r>
              <a:rPr lang="en-US" altLang="en-US" dirty="0">
                <a:solidFill>
                  <a:srgbClr val="FF0000"/>
                </a:solidFill>
                <a:sym typeface="+mn-ea"/>
              </a:rPr>
              <a:t>→</a:t>
            </a:r>
            <a:r>
              <a:rPr lang="zh-CN" altLang="en-US" dirty="0">
                <a:solidFill>
                  <a:srgbClr val="FF0000"/>
                </a:solidFill>
                <a:sym typeface="+mn-ea"/>
              </a:rPr>
              <a:t>推进户籍制度改革</a:t>
            </a:r>
            <a:endParaRPr lang="zh-CN" altLang="en-US" dirty="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平台企业依赖金融资本投资，需要迎合金融市场的估值逻辑，通过轻资产运营、扩大市场规模和用户数据挖掘与开发等，来提升自身在金融市场上的估值。随着平台企业金融化程度的日益加深，平台劳动者的具体劳动和生产过程也在发生变化。研究者认为，平台企业金融化程度的加深使得平台劳动者的劳动权益保护问题日益突出。</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以下哪项如果为真，最能支持上述研究者的观点？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为扩大市场规模、争夺消费者注意力，平台企业在资金投入和服务提升方面容易陷入无序竞争</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为塑造轻资产企业形象、摆脱劳动密集型标签，平台企业采用弹性用工制，增加劳动者就业不稳定性</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越来越多的平台企业日益注重用户数据挖掘，以增加企业竞争力，为此更加注重员工培训</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部分平台企业以缴纳保证金、押金或其他名义向劳动者收取财物，限制劳动者在多平台就业</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104</a:t>
            </a:r>
            <a:endParaRPr lang="en-US" altLang="zh-CN" sz="3735"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一项针对中学生的研究发现：直接使用通用</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工具可短暂提高学生数学测试成绩，但最终削弱了学生的数学学习能力。研究持续一学期，学生被分为三组，分别在课堂练习阶段使用不同工具：</a:t>
            </a:r>
            <a:r>
              <a:rPr lang="en-US" altLang="en-US" sz="2000" dirty="0">
                <a:cs typeface="楷体" panose="02010609060101010101" charset="-122"/>
                <a:sym typeface="楷体" panose="02010609060101010101" charset="-122"/>
              </a:rPr>
              <a:t>①</a:t>
            </a:r>
            <a:r>
              <a:rPr lang="zh-CN" altLang="en-US" sz="2000" dirty="0">
                <a:cs typeface="楷体" panose="02010609060101010101" charset="-122"/>
                <a:sym typeface="楷体" panose="02010609060101010101" charset="-122"/>
              </a:rPr>
              <a:t>组使用标准课本和笔记；</a:t>
            </a:r>
            <a:r>
              <a:rPr lang="en-US" altLang="en-US" sz="2000" dirty="0">
                <a:cs typeface="楷体" panose="02010609060101010101" charset="-122"/>
                <a:sym typeface="楷体" panose="02010609060101010101" charset="-122"/>
              </a:rPr>
              <a:t>②</a:t>
            </a:r>
            <a:r>
              <a:rPr lang="zh-CN" altLang="en-US" sz="2000" dirty="0">
                <a:cs typeface="楷体" panose="02010609060101010101" charset="-122"/>
                <a:sym typeface="楷体" panose="02010609060101010101" charset="-122"/>
              </a:rPr>
              <a:t>组使用通用</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工具，可以直接查询答案；</a:t>
            </a:r>
            <a:r>
              <a:rPr lang="en-US" altLang="en-US" sz="2000" dirty="0">
                <a:cs typeface="楷体" panose="02010609060101010101" charset="-122"/>
                <a:sym typeface="楷体" panose="02010609060101010101" charset="-122"/>
              </a:rPr>
              <a:t>③</a:t>
            </a:r>
            <a:r>
              <a:rPr lang="zh-CN" altLang="en-US" sz="2000" dirty="0">
                <a:cs typeface="楷体" panose="02010609060101010101" charset="-122"/>
                <a:sym typeface="楷体" panose="02010609060101010101" charset="-122"/>
              </a:rPr>
              <a:t>组使用特别设计的</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工具，指导而不直接给出答案。随堂考核发现，</a:t>
            </a:r>
            <a:r>
              <a:rPr lang="en-US" altLang="en-US" sz="2000" dirty="0">
                <a:cs typeface="楷体" panose="02010609060101010101" charset="-122"/>
                <a:sym typeface="楷体" panose="02010609060101010101" charset="-122"/>
              </a:rPr>
              <a:t>②</a:t>
            </a:r>
            <a:r>
              <a:rPr lang="zh-CN" altLang="en-US" sz="2000" dirty="0">
                <a:cs typeface="楷体" panose="02010609060101010101" charset="-122"/>
                <a:sym typeface="楷体" panose="02010609060101010101" charset="-122"/>
              </a:rPr>
              <a:t>组和</a:t>
            </a:r>
            <a:r>
              <a:rPr lang="en-US" altLang="en-US" sz="2000" dirty="0">
                <a:cs typeface="楷体" panose="02010609060101010101" charset="-122"/>
                <a:sym typeface="楷体" panose="02010609060101010101" charset="-122"/>
              </a:rPr>
              <a:t>③</a:t>
            </a:r>
            <a:r>
              <a:rPr lang="zh-CN" altLang="en-US" sz="2000" dirty="0">
                <a:cs typeface="楷体" panose="02010609060101010101" charset="-122"/>
                <a:sym typeface="楷体" panose="02010609060101010101" charset="-122"/>
              </a:rPr>
              <a:t>组学生比</a:t>
            </a:r>
            <a:r>
              <a:rPr lang="en-US" altLang="en-US" sz="2000" dirty="0">
                <a:cs typeface="楷体" panose="02010609060101010101" charset="-122"/>
                <a:sym typeface="楷体" panose="02010609060101010101" charset="-122"/>
              </a:rPr>
              <a:t>①</a:t>
            </a:r>
            <a:r>
              <a:rPr lang="zh-CN" altLang="en-US" sz="2000" dirty="0">
                <a:cs typeface="楷体" panose="02010609060101010101" charset="-122"/>
                <a:sym typeface="楷体" panose="02010609060101010101" charset="-122"/>
              </a:rPr>
              <a:t>组学生的成绩高出</a:t>
            </a:r>
            <a:r>
              <a:rPr lang="en-US" altLang="zh-CN" sz="2000" dirty="0">
                <a:cs typeface="楷体" panose="02010609060101010101" charset="-122"/>
                <a:sym typeface="楷体" panose="02010609060101010101" charset="-122"/>
              </a:rPr>
              <a:t>48</a:t>
            </a:r>
            <a:r>
              <a:rPr lang="zh-CN" altLang="en-US" sz="2000" dirty="0">
                <a:cs typeface="楷体" panose="02010609060101010101" charset="-122"/>
                <a:sym typeface="楷体" panose="02010609060101010101" charset="-122"/>
              </a:rPr>
              <a:t>％和</a:t>
            </a:r>
            <a:r>
              <a:rPr lang="en-US" altLang="zh-CN" sz="2000" dirty="0">
                <a:cs typeface="楷体" panose="02010609060101010101" charset="-122"/>
                <a:sym typeface="楷体" panose="02010609060101010101" charset="-122"/>
              </a:rPr>
              <a:t>127</a:t>
            </a:r>
            <a:r>
              <a:rPr lang="zh-CN" altLang="en-US" sz="2000" dirty="0">
                <a:cs typeface="楷体" panose="02010609060101010101" charset="-122"/>
                <a:sym typeface="楷体" panose="02010609060101010101" charset="-122"/>
              </a:rPr>
              <a:t>％。但期末考试时，</a:t>
            </a:r>
            <a:r>
              <a:rPr lang="en-US" altLang="en-US" sz="2000" dirty="0">
                <a:cs typeface="楷体" panose="02010609060101010101" charset="-122"/>
                <a:sym typeface="楷体" panose="02010609060101010101" charset="-122"/>
              </a:rPr>
              <a:t>②</a:t>
            </a:r>
            <a:r>
              <a:rPr lang="zh-CN" altLang="en-US" sz="2000" dirty="0">
                <a:cs typeface="楷体" panose="02010609060101010101" charset="-122"/>
                <a:sym typeface="楷体" panose="02010609060101010101" charset="-122"/>
              </a:rPr>
              <a:t>组比</a:t>
            </a:r>
            <a:r>
              <a:rPr lang="en-US" altLang="en-US" sz="2000" dirty="0">
                <a:cs typeface="楷体" panose="02010609060101010101" charset="-122"/>
                <a:sym typeface="楷体" panose="02010609060101010101" charset="-122"/>
              </a:rPr>
              <a:t>①</a:t>
            </a:r>
            <a:r>
              <a:rPr lang="zh-CN" altLang="en-US" sz="2000" dirty="0">
                <a:cs typeface="楷体" panose="02010609060101010101" charset="-122"/>
                <a:sym typeface="楷体" panose="02010609060101010101" charset="-122"/>
              </a:rPr>
              <a:t>组成绩低了</a:t>
            </a:r>
            <a:r>
              <a:rPr lang="en-US" altLang="zh-CN" sz="2000" dirty="0">
                <a:cs typeface="楷体" panose="02010609060101010101" charset="-122"/>
                <a:sym typeface="楷体" panose="02010609060101010101" charset="-122"/>
              </a:rPr>
              <a:t>17%</a:t>
            </a:r>
            <a:r>
              <a:rPr lang="zh-CN" altLang="en-US" sz="2000" dirty="0">
                <a:cs typeface="楷体" panose="02010609060101010101" charset="-122"/>
                <a:sym typeface="楷体" panose="02010609060101010101" charset="-122"/>
              </a:rPr>
              <a:t>；而</a:t>
            </a:r>
            <a:r>
              <a:rPr lang="en-US" altLang="en-US" sz="2000" dirty="0">
                <a:cs typeface="楷体" panose="02010609060101010101" charset="-122"/>
                <a:sym typeface="楷体" panose="02010609060101010101" charset="-122"/>
              </a:rPr>
              <a:t>③</a:t>
            </a:r>
            <a:r>
              <a:rPr lang="zh-CN" altLang="en-US" sz="2000" dirty="0">
                <a:cs typeface="楷体" panose="02010609060101010101" charset="-122"/>
                <a:sym typeface="楷体" panose="02010609060101010101" charset="-122"/>
              </a:rPr>
              <a:t>组和</a:t>
            </a:r>
            <a:r>
              <a:rPr lang="en-US" altLang="en-US" sz="2000" dirty="0">
                <a:cs typeface="楷体" panose="02010609060101010101" charset="-122"/>
                <a:sym typeface="楷体" panose="02010609060101010101" charset="-122"/>
              </a:rPr>
              <a:t>①</a:t>
            </a:r>
            <a:r>
              <a:rPr lang="zh-CN" altLang="en-US" sz="2000" dirty="0">
                <a:cs typeface="楷体" panose="02010609060101010101" charset="-122"/>
                <a:sym typeface="楷体" panose="02010609060101010101" charset="-122"/>
              </a:rPr>
              <a:t>组无明显差异。</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以下除哪项外，均能削弱上述结论？</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研究中未对学生做</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工具使用培训，研究结果不能说明正确使用</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工具的效果</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学生的数学基础水平、学习动机、课后自主练习等变量都会影响考试成绩</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研究仅针对数学学科，不能说明</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工具辅助教学对其他学科的影响</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研究持续时间不够，不足以说明长期使用</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工具可能带来的效果</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105</a:t>
            </a:r>
            <a:endParaRPr lang="en-US" altLang="zh-CN" sz="3735"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106.</a:t>
            </a:r>
            <a:r>
              <a:rPr lang="zh-CN" altLang="en-US" sz="2000" dirty="0">
                <a:cs typeface="楷体" panose="02010609060101010101" charset="-122"/>
                <a:sym typeface="楷体" panose="02010609060101010101" charset="-122"/>
              </a:rPr>
              <a:t>对于</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支双打队伍的组成情况，以下哪项是可能的？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网球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王、宋；乒乓球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吴、宋；羽毛球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王、韩</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网球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吴、韩；乒乓球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吴、王；羽毛球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韩、宋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网球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韩、宋；乒乓球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吴、王；羽毛球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网球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王、宋；乒乓球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吴、韩；羽毛球</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王、吴</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106</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107.</a:t>
            </a:r>
            <a:r>
              <a:rPr lang="zh-CN" altLang="en-US" sz="2000" dirty="0">
                <a:cs typeface="楷体" panose="02010609060101010101" charset="-122"/>
                <a:sym typeface="楷体" panose="02010609060101010101" charset="-122"/>
              </a:rPr>
              <a:t>若宋和韩组队网球双打，则以下哪项一定正确？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吴参加乒乓球项目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王参加羽毛球项目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宋参加乒乓球项目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吴参加羽毛球项目</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107</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108.</a:t>
            </a:r>
            <a:r>
              <a:rPr lang="zh-CN" altLang="en-US" sz="2000" dirty="0">
                <a:cs typeface="楷体" panose="02010609060101010101" charset="-122"/>
                <a:sym typeface="楷体" panose="02010609060101010101" charset="-122"/>
              </a:rPr>
              <a:t>若吴参加</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个项目，则以下哪项是可能的？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宋参加网球项目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王参加网球项目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宋参加乒乓球项目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王参加羽毛球项目</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108</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109.</a:t>
            </a:r>
            <a:r>
              <a:rPr lang="zh-CN" altLang="en-US" sz="2000" dirty="0">
                <a:cs typeface="楷体" panose="02010609060101010101" charset="-122"/>
                <a:sym typeface="楷体" panose="02010609060101010101" charset="-122"/>
              </a:rPr>
              <a:t>以下哪项中的两人可能同时组队网球和羽毛球双打？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王和吴</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王和宋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吴和宋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韩和宋</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109</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为倡导团结合作精神，某单位举办了若干项目的双打比赛。该单位后勤部由王、吴、韩和宋</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人组成网球、乒乓球和羽毛球</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支双打队伍参赛，每支队伍由其中</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人组成，</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人均至少参加了其中的一支队伍。已知：</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）王和韩没有参加同一个项目；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）若韩参加羽毛球项目，则宋参加网球项目；</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）若王参加乒乓球项目，则吴参加网球项目，若王不参加乒乓球项目，则吴也不参加网球项目。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110.</a:t>
            </a:r>
            <a:r>
              <a:rPr lang="zh-CN" altLang="en-US" sz="2000" dirty="0">
                <a:cs typeface="楷体" panose="02010609060101010101" charset="-122"/>
                <a:sym typeface="楷体" panose="02010609060101010101" charset="-122"/>
              </a:rPr>
              <a:t>若宋和韩组队乒乓球双打，则以下哪项是可能的？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吴和韩组队网球双打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吴和宋组队网球双打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宋和韩组队羽毛球双打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吴和宋组队羽毛球双打</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110</a:t>
            </a:r>
            <a:endParaRPr lang="en-US" altLang="zh-CN" sz="3735" dirty="0" smtClean="0"/>
          </a:p>
        </p:txBody>
      </p:sp>
      <p:sp>
        <p:nvSpPr>
          <p:cNvPr id="3" name="文本框 2"/>
          <p:cNvSpPr txBox="1"/>
          <p:nvPr/>
        </p:nvSpPr>
        <p:spPr>
          <a:xfrm>
            <a:off x="6611620" y="1792605"/>
            <a:ext cx="5326380" cy="1198880"/>
          </a:xfrm>
          <a:prstGeom prst="rect">
            <a:avLst/>
          </a:prstGeom>
          <a:noFill/>
        </p:spPr>
        <p:txBody>
          <a:bodyPr wrap="square" rtlCol="0" anchor="t">
            <a:spAutoFit/>
          </a:bodyPr>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1</a:t>
            </a:r>
            <a:r>
              <a:rPr lang="zh-CN" altLang="en-US" dirty="0">
                <a:solidFill>
                  <a:srgbClr val="FF0000"/>
                </a:solidFill>
                <a:sym typeface="+mn-ea"/>
              </a:rPr>
              <a:t>）王</a:t>
            </a:r>
            <a:r>
              <a:rPr lang="en-US" altLang="zh-CN" dirty="0">
                <a:solidFill>
                  <a:srgbClr val="FF0000"/>
                </a:solidFill>
                <a:sym typeface="+mn-ea"/>
              </a:rPr>
              <a:t>≠</a:t>
            </a:r>
            <a:r>
              <a:rPr lang="zh-CN" altLang="en-US" dirty="0">
                <a:solidFill>
                  <a:srgbClr val="FF0000"/>
                </a:solidFill>
                <a:sym typeface="+mn-ea"/>
              </a:rPr>
              <a:t>韩</a:t>
            </a:r>
            <a:endParaRPr lang="zh-CN" altLang="en-US" dirty="0">
              <a:solidFill>
                <a:srgbClr val="FF0000"/>
              </a:solidFill>
              <a:sym typeface="+mn-ea"/>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2</a:t>
            </a:r>
            <a:r>
              <a:rPr lang="zh-CN" altLang="en-US" dirty="0">
                <a:solidFill>
                  <a:srgbClr val="FF0000"/>
                </a:solidFill>
                <a:sym typeface="+mn-ea"/>
              </a:rPr>
              <a:t>）韩羽</a:t>
            </a:r>
            <a:r>
              <a:rPr lang="en-US" altLang="en-US" dirty="0">
                <a:solidFill>
                  <a:srgbClr val="FF0000"/>
                </a:solidFill>
                <a:sym typeface="+mn-ea"/>
              </a:rPr>
              <a:t>→</a:t>
            </a:r>
            <a:r>
              <a:rPr lang="zh-CN" altLang="en-US" dirty="0">
                <a:solidFill>
                  <a:srgbClr val="FF0000"/>
                </a:solidFill>
                <a:sym typeface="+mn-ea"/>
              </a:rPr>
              <a:t>宋网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3</a:t>
            </a:r>
            <a:r>
              <a:rPr lang="zh-CN" altLang="en-US" dirty="0">
                <a:solidFill>
                  <a:srgbClr val="FF0000"/>
                </a:solidFill>
                <a:sym typeface="+mn-ea"/>
              </a:rPr>
              <a:t>）王乒</a:t>
            </a:r>
            <a:r>
              <a:rPr lang="en-US" altLang="en-US" dirty="0">
                <a:solidFill>
                  <a:srgbClr val="FF0000"/>
                </a:solidFill>
                <a:sym typeface="+mn-ea"/>
              </a:rPr>
              <a:t>→</a:t>
            </a:r>
            <a:r>
              <a:rPr lang="zh-CN" altLang="en-US" dirty="0">
                <a:solidFill>
                  <a:srgbClr val="FF0000"/>
                </a:solidFill>
                <a:sym typeface="+mn-ea"/>
              </a:rPr>
              <a:t>吴网，</a:t>
            </a:r>
            <a:r>
              <a:rPr lang="en-US" altLang="zh-CN" dirty="0">
                <a:solidFill>
                  <a:srgbClr val="FF0000"/>
                </a:solidFill>
                <a:sym typeface="+mn-ea"/>
              </a:rPr>
              <a:t>-</a:t>
            </a:r>
            <a:r>
              <a:rPr lang="zh-CN" altLang="en-US" dirty="0">
                <a:solidFill>
                  <a:srgbClr val="FF0000"/>
                </a:solidFill>
                <a:sym typeface="+mn-ea"/>
              </a:rPr>
              <a:t>王乒</a:t>
            </a:r>
            <a:r>
              <a:rPr lang="en-US" altLang="en-US" dirty="0">
                <a:solidFill>
                  <a:srgbClr val="FF0000"/>
                </a:solidFill>
                <a:sym typeface="+mn-ea"/>
              </a:rPr>
              <a:t>→</a:t>
            </a:r>
            <a:r>
              <a:rPr lang="en-US" altLang="zh-CN" dirty="0">
                <a:solidFill>
                  <a:srgbClr val="FF0000"/>
                </a:solidFill>
                <a:sym typeface="+mn-ea"/>
              </a:rPr>
              <a:t>-</a:t>
            </a:r>
            <a:r>
              <a:rPr lang="zh-CN" altLang="en-US" dirty="0">
                <a:solidFill>
                  <a:srgbClr val="FF0000"/>
                </a:solidFill>
                <a:sym typeface="+mn-ea"/>
              </a:rPr>
              <a:t>吴网</a:t>
            </a:r>
            <a:endParaRPr lang="zh-CN" alt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FF0000"/>
                </a:solidFill>
                <a:sym typeface="+mn-ea"/>
              </a:rPr>
              <a:t>（</a:t>
            </a:r>
            <a:r>
              <a:rPr lang="en-US" altLang="zh-CN" dirty="0">
                <a:solidFill>
                  <a:srgbClr val="FF0000"/>
                </a:solidFill>
                <a:sym typeface="+mn-ea"/>
              </a:rPr>
              <a:t>4</a:t>
            </a:r>
            <a:r>
              <a:rPr lang="zh-CN" altLang="en-US" dirty="0">
                <a:solidFill>
                  <a:srgbClr val="FF0000"/>
                </a:solidFill>
                <a:sym typeface="+mn-ea"/>
              </a:rPr>
              <a:t>）每支队伍</a:t>
            </a:r>
            <a:r>
              <a:rPr lang="en-US" altLang="zh-CN" dirty="0">
                <a:solidFill>
                  <a:srgbClr val="FF0000"/>
                </a:solidFill>
                <a:sym typeface="+mn-ea"/>
              </a:rPr>
              <a:t>2</a:t>
            </a:r>
            <a:r>
              <a:rPr lang="zh-CN" altLang="en-US" dirty="0">
                <a:solidFill>
                  <a:srgbClr val="FF0000"/>
                </a:solidFill>
                <a:sym typeface="+mn-ea"/>
              </a:rPr>
              <a:t>人，</a:t>
            </a:r>
            <a:r>
              <a:rPr lang="en-US" altLang="zh-CN" dirty="0">
                <a:solidFill>
                  <a:srgbClr val="FF0000"/>
                </a:solidFill>
                <a:sym typeface="+mn-ea"/>
              </a:rPr>
              <a:t>4</a:t>
            </a:r>
            <a:r>
              <a:rPr lang="zh-CN" altLang="en-US" dirty="0">
                <a:solidFill>
                  <a:srgbClr val="FF0000"/>
                </a:solidFill>
                <a:sym typeface="+mn-ea"/>
              </a:rPr>
              <a:t>人均至少参加一支队伍。</a:t>
            </a:r>
            <a:endParaRPr lang="zh-CN" altLang="en-US" dirty="0">
              <a:solidFill>
                <a:srgbClr val="FF0000"/>
              </a:solidFill>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市地级差异题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76</a:t>
            </a:r>
            <a:endParaRPr lang="en-US" altLang="zh-CN" sz="3735" dirty="0" smtClean="0"/>
          </a:p>
        </p:txBody>
      </p:sp>
      <p:pic>
        <p:nvPicPr>
          <p:cNvPr id="3" name="IM 74"/>
          <p:cNvPicPr/>
          <p:nvPr/>
        </p:nvPicPr>
        <p:blipFill>
          <a:blip r:embed="rId1"/>
          <a:stretch>
            <a:fillRect/>
          </a:stretch>
        </p:blipFill>
        <p:spPr>
          <a:xfrm>
            <a:off x="2113915" y="1508760"/>
            <a:ext cx="7807960" cy="454850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78</a:t>
            </a:r>
            <a:endParaRPr lang="en-US" altLang="zh-CN" sz="3735" dirty="0" smtClean="0"/>
          </a:p>
        </p:txBody>
      </p:sp>
      <p:pic>
        <p:nvPicPr>
          <p:cNvPr id="4" name="IM 82"/>
          <p:cNvPicPr/>
          <p:nvPr/>
        </p:nvPicPr>
        <p:blipFill>
          <a:blip r:embed="rId1"/>
          <a:stretch>
            <a:fillRect/>
          </a:stretch>
        </p:blipFill>
        <p:spPr>
          <a:xfrm>
            <a:off x="1305560" y="1629410"/>
            <a:ext cx="9581515" cy="436181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79</a:t>
            </a:r>
            <a:endParaRPr lang="en-US" altLang="zh-CN" sz="3735" dirty="0" smtClean="0"/>
          </a:p>
        </p:txBody>
      </p:sp>
      <p:pic>
        <p:nvPicPr>
          <p:cNvPr id="5" name="IM 84"/>
          <p:cNvPicPr/>
          <p:nvPr/>
        </p:nvPicPr>
        <p:blipFill>
          <a:blip r:embed="rId1"/>
          <a:stretch>
            <a:fillRect/>
          </a:stretch>
        </p:blipFill>
        <p:spPr>
          <a:xfrm>
            <a:off x="3789680" y="1538605"/>
            <a:ext cx="4605655" cy="46863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12280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左边为由</a:t>
            </a:r>
            <a:r>
              <a:rPr lang="en-US" altLang="zh-CN" sz="2400" dirty="0">
                <a:cs typeface="楷体" panose="02010609060101010101" charset="-122"/>
                <a:sym typeface="楷体" panose="02010609060101010101" charset="-122"/>
              </a:rPr>
              <a:t>15</a:t>
            </a:r>
            <a:r>
              <a:rPr lang="zh-CN" altLang="en-US" sz="2400" dirty="0">
                <a:cs typeface="楷体" panose="02010609060101010101" charset="-122"/>
                <a:sym typeface="楷体" panose="02010609060101010101" charset="-122"/>
              </a:rPr>
              <a:t>个白色正方体和</a:t>
            </a:r>
            <a:r>
              <a:rPr lang="en-US" altLang="zh-CN" sz="2400" dirty="0">
                <a:cs typeface="楷体" panose="02010609060101010101" charset="-122"/>
                <a:sym typeface="楷体" panose="02010609060101010101" charset="-122"/>
              </a:rPr>
              <a:t>3</a:t>
            </a:r>
            <a:r>
              <a:rPr lang="zh-CN" altLang="en-US" sz="2400" dirty="0">
                <a:cs typeface="楷体" panose="02010609060101010101" charset="-122"/>
                <a:sym typeface="楷体" panose="02010609060101010101" charset="-122"/>
              </a:rPr>
              <a:t>个黑色正方体组合而成的多面体俯视图和左视图，其正视图可能是：</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80</a:t>
            </a:r>
            <a:endParaRPr lang="en-US" altLang="zh-CN" sz="3735" dirty="0" smtClean="0"/>
          </a:p>
        </p:txBody>
      </p:sp>
      <p:pic>
        <p:nvPicPr>
          <p:cNvPr id="14" name="图片 4" descr="IMG_256"/>
          <p:cNvPicPr>
            <a:picLocks noChangeAspect="1"/>
          </p:cNvPicPr>
          <p:nvPr/>
        </p:nvPicPr>
        <p:blipFill>
          <a:blip r:embed="rId1"/>
          <a:stretch>
            <a:fillRect/>
          </a:stretch>
        </p:blipFill>
        <p:spPr>
          <a:xfrm>
            <a:off x="701040" y="2188210"/>
            <a:ext cx="11053445" cy="2155825"/>
          </a:xfrm>
          <a:prstGeom prst="rect">
            <a:avLst/>
          </a:prstGeom>
          <a:noFill/>
          <a:ln w="9525">
            <a:noFill/>
          </a:ln>
        </p:spPr>
      </p:pic>
      <p:pic>
        <p:nvPicPr>
          <p:cNvPr id="17" name="图片 7"/>
          <p:cNvPicPr>
            <a:picLocks noChangeAspect="1"/>
          </p:cNvPicPr>
          <p:nvPr/>
        </p:nvPicPr>
        <p:blipFill>
          <a:blip r:embed="rId2"/>
          <a:stretch>
            <a:fillRect/>
          </a:stretch>
        </p:blipFill>
        <p:spPr>
          <a:xfrm>
            <a:off x="4085590" y="4541520"/>
            <a:ext cx="2058670" cy="2202180"/>
          </a:xfrm>
          <a:prstGeom prst="rect">
            <a:avLst/>
          </a:prstGeom>
          <a:noFill/>
          <a:ln>
            <a:noFill/>
          </a:ln>
        </p:spPr>
      </p:pic>
      <p:pic>
        <p:nvPicPr>
          <p:cNvPr id="18" name="图片 8"/>
          <p:cNvPicPr>
            <a:picLocks noChangeAspect="1"/>
          </p:cNvPicPr>
          <p:nvPr/>
        </p:nvPicPr>
        <p:blipFill>
          <a:blip r:embed="rId3"/>
          <a:stretch>
            <a:fillRect/>
          </a:stretch>
        </p:blipFill>
        <p:spPr>
          <a:xfrm>
            <a:off x="6285230" y="4536440"/>
            <a:ext cx="2001520" cy="21780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12280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左边为给定的正方体纸盒的外表面展开图，由</a:t>
            </a:r>
            <a:r>
              <a:rPr lang="en-US" altLang="zh-CN" sz="2400" dirty="0">
                <a:cs typeface="楷体" panose="02010609060101010101" charset="-122"/>
                <a:sym typeface="楷体" panose="02010609060101010101" charset="-122"/>
              </a:rPr>
              <a:t>2</a:t>
            </a:r>
            <a:r>
              <a:rPr lang="zh-CN" altLang="en-US" sz="2400" dirty="0">
                <a:cs typeface="楷体" panose="02010609060101010101" charset="-122"/>
                <a:sym typeface="楷体" panose="02010609060101010101" charset="-122"/>
              </a:rPr>
              <a:t>个该正方体纸盒组合而成的长方体可能是：</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81</a:t>
            </a:r>
            <a:endParaRPr lang="en-US" altLang="zh-CN" sz="3735" dirty="0" smtClean="0"/>
          </a:p>
        </p:txBody>
      </p:sp>
      <p:pic>
        <p:nvPicPr>
          <p:cNvPr id="7" name="IM 92"/>
          <p:cNvPicPr/>
          <p:nvPr/>
        </p:nvPicPr>
        <p:blipFill>
          <a:blip r:embed="rId1"/>
          <a:stretch>
            <a:fillRect/>
          </a:stretch>
        </p:blipFill>
        <p:spPr>
          <a:xfrm>
            <a:off x="511810" y="1971675"/>
            <a:ext cx="11275695" cy="307213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把下面的六个图形分为两类，使每一类图形都有各自的共同特征或规律，分类正确的一项是：</a:t>
            </a: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en-US" altLang="en-US" sz="2400" dirty="0">
                <a:cs typeface="楷体" panose="02010609060101010101" charset="-122"/>
                <a:sym typeface="楷体" panose="02010609060101010101" charset="-122"/>
              </a:rPr>
              <a:t>①②③</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④⑤⑥</a:t>
            </a:r>
            <a:r>
              <a:rPr lang="en-US" altLang="zh-CN" sz="2400" dirty="0">
                <a:cs typeface="楷体" panose="02010609060101010101" charset="-122"/>
                <a:sym typeface="楷体" panose="02010609060101010101" charset="-122"/>
              </a:rPr>
              <a:t>		B.</a:t>
            </a:r>
            <a:r>
              <a:rPr lang="en-US" altLang="en-US" sz="2400" dirty="0">
                <a:cs typeface="楷体" panose="02010609060101010101" charset="-122"/>
                <a:sym typeface="楷体" panose="02010609060101010101" charset="-122"/>
              </a:rPr>
              <a:t>①③④</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②⑤⑥</a:t>
            </a:r>
            <a:endParaRPr lang="en-US"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en-US" altLang="en-US" sz="2400" dirty="0">
                <a:cs typeface="楷体" panose="02010609060101010101" charset="-122"/>
                <a:sym typeface="楷体" panose="02010609060101010101" charset="-122"/>
              </a:rPr>
              <a:t>①③⑥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②④⑤</a:t>
            </a:r>
            <a:r>
              <a:rPr lang="en-US" altLang="zh-CN" sz="2400" dirty="0">
                <a:cs typeface="楷体" panose="02010609060101010101" charset="-122"/>
                <a:sym typeface="楷体" panose="02010609060101010101" charset="-122"/>
              </a:rPr>
              <a:t>		D.</a:t>
            </a:r>
            <a:r>
              <a:rPr lang="en-US" altLang="en-US" sz="2400" dirty="0">
                <a:cs typeface="楷体" panose="02010609060101010101" charset="-122"/>
                <a:sym typeface="楷体" panose="02010609060101010101" charset="-122"/>
              </a:rPr>
              <a:t>①⑤⑥</a:t>
            </a:r>
            <a:r>
              <a:rPr lang="en-US" altLang="zh-CN" sz="2400" dirty="0">
                <a:cs typeface="楷体" panose="02010609060101010101" charset="-122"/>
                <a:sym typeface="楷体" panose="02010609060101010101" charset="-122"/>
              </a:rPr>
              <a:t>,</a:t>
            </a:r>
            <a:r>
              <a:rPr lang="en-US" altLang="en-US" sz="2400" dirty="0">
                <a:cs typeface="楷体" panose="02010609060101010101" charset="-122"/>
                <a:sym typeface="楷体" panose="02010609060101010101" charset="-122"/>
              </a:rPr>
              <a:t>②③④</a:t>
            </a:r>
            <a:endParaRPr lang="en-US"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83</a:t>
            </a:r>
            <a:endParaRPr lang="en-US" altLang="zh-CN" sz="3735" dirty="0" smtClean="0"/>
          </a:p>
        </p:txBody>
      </p:sp>
      <p:pic>
        <p:nvPicPr>
          <p:cNvPr id="10" name="IM 96"/>
          <p:cNvPicPr/>
          <p:nvPr/>
        </p:nvPicPr>
        <p:blipFill>
          <a:blip r:embed="rId1"/>
          <a:stretch>
            <a:fillRect/>
          </a:stretch>
        </p:blipFill>
        <p:spPr>
          <a:xfrm>
            <a:off x="3757295" y="1447165"/>
            <a:ext cx="4740275" cy="363728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中国共产党纪律处分条例》规定，主动交代本人应当受到党纪处分的问题，可以从轻或者减轻处分。这里所称的主动交代主要包括两种情况：一是涉嫌违纪的党员在组织谈话函询、初步核实前向有关组织交代自己的问题。二是在谈话函询、初步核实和立案审查期间交代组织未掌握的问题。</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假定下列人员均受该条例约束，根据上述定义，下列属于主动交代的是：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甲在参加违纪违法典型案例警示教育大会后，主动找到单位领导反映同事的违纪问题</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乙在组织对其进行廉政谈话时，组织举证一项他才承认一项，对未涉及的情况闭口不谈</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丙在纪委对其个人财产有关事项进行函询时，将其利用职权为自己和他人谋利的情况如实交代</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丁在纪委对其立案审查期间，面对确凿的证据，交代了之前没有交代的收受大额礼金的问题</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a:t>
            </a:r>
            <a:r>
              <a:rPr lang="en-US" altLang="zh-CN" sz="3735" dirty="0" smtClean="0"/>
              <a:t>6</a:t>
            </a:r>
            <a:endParaRPr lang="en-US" altLang="zh-CN" sz="3735" dirty="0"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6603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组织结构可以划分为以下几种类型：（</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）直线型组织结构，即每一个部门只对其直接的下属部门下达工作指令，不能越级指挥，每一个部门也只有一个直接的上级部门；（</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）职能型组织结构，即每一个部门都可对其下属部门下达工作指令，每一个下属部门可能得到不同上级部门下达的多个工作指令；（</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）直线职能型组织结构，即在主管之下设置相应的职能部门，实行主管统一指挥与职能部门参谋指导相结合的管理方式，各部门既受上级的管理，又受同级职能管理部门的业务指导和监督；（</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）事业部组织结构，即由相对独立的事业部组成的组织结构，通常按照地区或项目来划分事业部，每个事业部拥有较大的自主权。</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根据上述定义，下列组织结构图代表的组织结构类型属于：</a:t>
            </a:r>
            <a:endParaRPr lang="zh-CN" altLang="en-US" sz="2000" dirty="0">
              <a:cs typeface="楷体" panose="02010609060101010101" charset="-122"/>
              <a:sym typeface="楷体" panose="02010609060101010101" charset="-122"/>
            </a:endParaRPr>
          </a:p>
          <a:p>
            <a:pPr>
              <a:lnSpc>
                <a:spcPct val="150000"/>
              </a:lnSpc>
            </a:pPr>
            <a:endParaRPr lang="zh-CN" altLang="en-US" sz="2000" dirty="0">
              <a:cs typeface="楷体" panose="02010609060101010101" charset="-122"/>
              <a:sym typeface="楷体" panose="02010609060101010101" charset="-122"/>
            </a:endParaRPr>
          </a:p>
          <a:p>
            <a:pPr>
              <a:lnSpc>
                <a:spcPct val="150000"/>
              </a:lnSpc>
            </a:pP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直线型组织结构</a:t>
            </a:r>
            <a:r>
              <a:rPr lang="en-US" altLang="zh-CN" sz="2000" dirty="0">
                <a:cs typeface="楷体" panose="02010609060101010101" charset="-122"/>
                <a:sym typeface="楷体" panose="02010609060101010101" charset="-122"/>
              </a:rPr>
              <a:t>	B.</a:t>
            </a:r>
            <a:r>
              <a:rPr lang="zh-CN" altLang="en-US" sz="2000" dirty="0">
                <a:cs typeface="楷体" panose="02010609060101010101" charset="-122"/>
                <a:sym typeface="楷体" panose="02010609060101010101" charset="-122"/>
              </a:rPr>
              <a:t>职能型组织结构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直线职能型组织结构</a:t>
            </a:r>
            <a:r>
              <a:rPr lang="en-US" altLang="zh-CN" sz="2000" dirty="0">
                <a:cs typeface="楷体" panose="02010609060101010101" charset="-122"/>
                <a:sym typeface="楷体" panose="02010609060101010101" charset="-122"/>
              </a:rPr>
              <a:t>	D.</a:t>
            </a:r>
            <a:r>
              <a:rPr lang="zh-CN" altLang="en-US" sz="2000" dirty="0">
                <a:cs typeface="楷体" panose="02010609060101010101" charset="-122"/>
                <a:sym typeface="楷体" panose="02010609060101010101" charset="-122"/>
              </a:rPr>
              <a:t>事业部组织结构</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88</a:t>
            </a:r>
            <a:endParaRPr lang="en-US" altLang="zh-CN" sz="3735" dirty="0" smtClean="0"/>
          </a:p>
        </p:txBody>
      </p:sp>
      <p:pic>
        <p:nvPicPr>
          <p:cNvPr id="110" name="IM 110"/>
          <p:cNvPicPr/>
          <p:nvPr/>
        </p:nvPicPr>
        <p:blipFill>
          <a:blip r:embed="rId1"/>
          <a:stretch>
            <a:fillRect/>
          </a:stretch>
        </p:blipFill>
        <p:spPr>
          <a:xfrm>
            <a:off x="7099618" y="3767138"/>
            <a:ext cx="4358005" cy="207708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根据动词对其后所接的宾语小句（作宾语的句子）真值的不同预设能力可以把现代汉语中的相关动词分为叙实动词、非叙实动词和反叙实动词。叙实动词的肯定式和否定式都预设其宾语小句为真；非叙实动词的肯定式和否定式都不预设其宾语小句为真，也不预设其宾语小句为假；反叙实动词的肯定式和否定式都预设其宾语小句为假。</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根据上述定义，下列画线的动词属于非叙实动词的是：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我听说他来过这里</a:t>
            </a:r>
            <a:r>
              <a:rPr lang="en-US" altLang="zh-CN" sz="2000" dirty="0">
                <a:cs typeface="楷体" panose="02010609060101010101" charset="-122"/>
                <a:sym typeface="楷体" panose="02010609060101010101" charset="-122"/>
              </a:rPr>
              <a:t>	</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我庆幸听了你的建议</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我知道你帮助过我</a:t>
            </a:r>
            <a:r>
              <a:rPr lang="en-US" altLang="zh-CN" sz="2000" dirty="0">
                <a:cs typeface="楷体" panose="02010609060101010101" charset="-122"/>
                <a:sym typeface="楷体" panose="02010609060101010101" charset="-122"/>
              </a:rPr>
              <a:t>	</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我幻想成为一只小鸟</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91</a:t>
            </a:r>
            <a:endParaRPr lang="en-US" altLang="zh-CN" sz="3735"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72198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indent="0" fontAlgn="auto">
              <a:lnSpc>
                <a:spcPct val="130000"/>
              </a:lnSpc>
            </a:pPr>
            <a:r>
              <a:rPr lang="zh-CN" altLang="en-US" sz="2000" dirty="0">
                <a:cs typeface="楷体" panose="02010609060101010101" charset="-122"/>
                <a:sym typeface="楷体" panose="02010609060101010101" charset="-122"/>
              </a:rPr>
              <a:t>自主动机是指人们出于兴趣或内在满足感而从事某种活动，外部动机是指人们为获得外部奖励或避免惩罚而从事某种活动，这些动机背后的心理需求又分为三种：（</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）自主性需求，即人们希望自己能控制和选择自己的行为，而不是受到外部强制；（</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）胜任性需求，即人们希望能在自己做的事上获得成就感和自我效能感；</a:t>
            </a:r>
            <a:endParaRPr lang="zh-CN" altLang="en-US" sz="2000" dirty="0">
              <a:cs typeface="楷体" panose="02010609060101010101" charset="-122"/>
              <a:sym typeface="楷体" panose="02010609060101010101" charset="-122"/>
            </a:endParaRPr>
          </a:p>
          <a:p>
            <a:pPr indent="0" fontAlgn="auto">
              <a:lnSpc>
                <a:spcPct val="13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）归属感需求，即人们希望与他人建立有意义的联系，感受到归属和支持。</a:t>
            </a:r>
            <a:endParaRPr lang="zh-CN" altLang="en-US" sz="2000" dirty="0">
              <a:cs typeface="楷体" panose="02010609060101010101" charset="-122"/>
              <a:sym typeface="楷体" panose="02010609060101010101" charset="-122"/>
            </a:endParaRPr>
          </a:p>
          <a:p>
            <a:pPr indent="0" fontAlgn="auto">
              <a:lnSpc>
                <a:spcPct val="130000"/>
              </a:lnSpc>
            </a:pPr>
            <a:r>
              <a:rPr lang="zh-CN" altLang="en-US" sz="2000" dirty="0">
                <a:cs typeface="楷体" panose="02010609060101010101" charset="-122"/>
                <a:sym typeface="楷体" panose="02010609060101010101" charset="-122"/>
              </a:rPr>
              <a:t>根据上述定义，下列说法错误的是：</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小张参加了一项感兴趣的社交活动，他认为这能帮助自己结交新朋友。这体现了自主动机和归属感需求</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小李参加公司的培训课程，虽然对课程内容不感兴趣，但他担心如果不参加就会被扣绩效。这体现了外部动机和自主性需求</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小王每天晨跑，很享受锻炼带来的满足感，也坚信这是促进健康的必要努力。这体现了自主动机和胜任性需求</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小陈和队友为实现团体奖牌零的突破一直在努力，在艰苦的训练中与队友相互鼓励。这体现了胜任性需求和归属感需求</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92</a:t>
            </a:r>
            <a:endParaRPr lang="en-US" altLang="zh-CN" sz="3735"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35216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在制品控制是企业生产控制的基础工作，是企业对生产运作过程中各工序原材料、半成品等按照位置、数量、质量及车间之间的物料转运等进行的控制。</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根据上述定义，下列没有直接体现在制品控制的是：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服装厂梳理了运动裤制作流程并制定规范，确保衣料在不同流水线上流转有序</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食品厂设立质检员，定时对各个工序的食材抽样进行微生物检测，剔除不良品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制药厂规定员工进入洁净区后，每两小时洗手一次，避免药品生产环境被污染</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家具厂对板材进行定期盘点，并合理摆放，确保板材库存合理且满足生产需要</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94</a:t>
            </a:r>
            <a:endParaRPr lang="en-US" altLang="zh-CN" sz="3735" dirty="0" smtClean="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35216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预防性维修是指在机械设备没有发生故障或尚未造成损坏的前提下，通过对产品的系统性检查，设备测试或更换以防止设备发生故障，使其保持在正常状态所进行的全部活动。</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根据上述定义，下列属于预防性维修的是：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公路管理部门定期巡视道路两旁护栏并涂刷、除锈，发现护栏松动、断裂时进行修复</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某车间在正式制造某种设备前，测量将要安装在该设备中的关键零部件是否符合检查标准</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某数控车床突然发生摇动，无法研制物品，检查后发现电机出现故障，更换电机后车床可正常运行</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雨季来临前，供电公司对辖区内变压器、配电器、电缆线路等电力设备设施隐患进行专项排查</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76</a:t>
            </a:r>
            <a:endParaRPr lang="en-US" altLang="zh-CN" sz="3735" dirty="0"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细胞凋亡：基因调控：细胞增殖</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成本降低：税率调整：成本增加</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经济萧条：经济周期：经济复苏</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价格尺度：货币职能：流通手段</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人工智能：智能时代：具身智能</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97</a:t>
            </a:r>
            <a:endParaRPr lang="en-US" altLang="zh-CN" sz="3735" dirty="0" smtClean="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科技行业越来越多地使用合成数据来满足</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模型数据训练的需要。合成数据是通过算法和统计模型人为创建的数据，在理论上可以无限供应。但合成数据存在一个关键问题：当</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模型过于依赖合成数据时，它们会产生更多</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幻觉</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，编造看似合理可信但实际上并不存在的信息。可见，合成数据的使用会影响</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的准确性。</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以下哪项如果为真，最能支持上述结论？</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即使经过处理，合成数据仍然可能泄露敏感信息，从而引发隐私风险</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合成数据存在过于简单化的风险，无法完全模拟真实世界的复杂性</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合成数据会放大源数据本身的错误或偏差，导致</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失之毫厘，差之千里</a:t>
            </a:r>
            <a:r>
              <a:rPr lang="en-US" altLang="zh-CN" sz="2000" dirty="0">
                <a:cs typeface="楷体" panose="02010609060101010101" charset="-122"/>
                <a:sym typeface="楷体" panose="02010609060101010101" charset="-122"/>
              </a:rPr>
              <a:t>”</a:t>
            </a:r>
            <a:endParaRPr lang="en-US" altLang="zh-CN"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合成数据的多样性可能不如真实数据，限制了</a:t>
            </a:r>
            <a:r>
              <a:rPr lang="en-US" altLang="zh-CN" sz="2000" dirty="0">
                <a:cs typeface="楷体" panose="02010609060101010101" charset="-122"/>
                <a:sym typeface="楷体" panose="02010609060101010101" charset="-122"/>
              </a:rPr>
              <a:t>AI</a:t>
            </a:r>
            <a:r>
              <a:rPr lang="zh-CN" altLang="en-US" sz="2000" dirty="0">
                <a:cs typeface="楷体" panose="02010609060101010101" charset="-122"/>
                <a:sym typeface="楷体" panose="02010609060101010101" charset="-122"/>
              </a:rPr>
              <a:t>模型的泛化能力</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101</a:t>
            </a:r>
            <a:endParaRPr lang="en-US" altLang="zh-CN" sz="3735" dirty="0" smtClean="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5528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部分研究认为，白垩纪陆地生态系统的变革是由植物、昆虫、脊椎动物与地质过程等多个要素相互作用推动的，形成了一个高度协同演化的系统结构。鉴于这一机制在当时造就了复杂而稳定的生态格局，有学者提出，现代陆地生态系统的高度复杂性，正是这种古老协同机制延续和演化的结果。</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以下哪项如果为真，最能削弱上述学者的观点？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在地质记录中，白垩纪末期的生态危机主要影响海洋系统，而陆地系统显示出相对稳定的演替趋势</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对白垩纪地层的系统分析表明，植物、昆虫、脊椎动物与地质过程的演化几乎是在同一时期进行的</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现代陆地生态系统的复杂性主要受群落内部随机扰动、自组织演化和外源干扰的共同影响，与白垩纪显著不同</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被子植物的全球扩张早于部分动物类群多样化，其当时对生态结构的主导作用可能被高估</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102</a:t>
            </a:r>
            <a:endParaRPr lang="en-US" altLang="zh-CN" sz="3735" dirty="0" smtClean="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2026</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国家公务员考试</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副省级差异题</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67437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从所给的四个选项中，选择最合适的一个填入问号处，使之呈现一定的规律性：</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83</a:t>
            </a:r>
            <a:endParaRPr lang="en-US" altLang="zh-CN" sz="3735" dirty="0" smtClean="0"/>
          </a:p>
        </p:txBody>
      </p:sp>
      <p:pic>
        <p:nvPicPr>
          <p:cNvPr id="108" name="IM 108"/>
          <p:cNvPicPr/>
          <p:nvPr/>
        </p:nvPicPr>
        <p:blipFill>
          <a:blip r:embed="rId1"/>
          <a:stretch>
            <a:fillRect/>
          </a:stretch>
        </p:blipFill>
        <p:spPr>
          <a:xfrm>
            <a:off x="1162050" y="1487170"/>
            <a:ext cx="9861550" cy="477329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122809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左边为由</a:t>
            </a:r>
            <a:r>
              <a:rPr lang="en-US" altLang="zh-CN" sz="2400" dirty="0">
                <a:cs typeface="楷体" panose="02010609060101010101" charset="-122"/>
                <a:sym typeface="楷体" panose="02010609060101010101" charset="-122"/>
              </a:rPr>
              <a:t>12</a:t>
            </a:r>
            <a:r>
              <a:rPr lang="zh-CN" altLang="en-US" sz="2400" dirty="0">
                <a:cs typeface="楷体" panose="02010609060101010101" charset="-122"/>
                <a:sym typeface="楷体" panose="02010609060101010101" charset="-122"/>
              </a:rPr>
              <a:t>个白色正方体和</a:t>
            </a:r>
            <a:r>
              <a:rPr lang="en-US" altLang="zh-CN" sz="2400" dirty="0">
                <a:cs typeface="楷体" panose="02010609060101010101" charset="-122"/>
                <a:sym typeface="楷体" panose="02010609060101010101" charset="-122"/>
              </a:rPr>
              <a:t>3</a:t>
            </a:r>
            <a:r>
              <a:rPr lang="zh-CN" altLang="en-US" sz="2400" dirty="0">
                <a:cs typeface="楷体" panose="02010609060101010101" charset="-122"/>
                <a:sym typeface="楷体" panose="02010609060101010101" charset="-122"/>
              </a:rPr>
              <a:t>个灰色正方体组合而成的多面体前后两面直观图，问其可以由除哪项外的三个多面体组合而成？</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88</a:t>
            </a:r>
            <a:endParaRPr lang="en-US" altLang="zh-CN" sz="3735" dirty="0" smtClean="0"/>
          </a:p>
        </p:txBody>
      </p:sp>
      <p:pic>
        <p:nvPicPr>
          <p:cNvPr id="128" name="IM 128"/>
          <p:cNvPicPr/>
          <p:nvPr/>
        </p:nvPicPr>
        <p:blipFill>
          <a:blip r:embed="rId1"/>
          <a:stretch>
            <a:fillRect/>
          </a:stretch>
        </p:blipFill>
        <p:spPr>
          <a:xfrm>
            <a:off x="512445" y="1933575"/>
            <a:ext cx="11369675" cy="2142490"/>
          </a:xfrm>
          <a:prstGeom prst="rect">
            <a:avLst/>
          </a:prstGeom>
        </p:spPr>
      </p:pic>
      <p:pic>
        <p:nvPicPr>
          <p:cNvPr id="21" name="图片 11" descr="IMG_256"/>
          <p:cNvPicPr>
            <a:picLocks noChangeAspect="1"/>
          </p:cNvPicPr>
          <p:nvPr/>
        </p:nvPicPr>
        <p:blipFill>
          <a:blip r:embed="rId2"/>
          <a:stretch>
            <a:fillRect/>
          </a:stretch>
        </p:blipFill>
        <p:spPr>
          <a:xfrm>
            <a:off x="4523105" y="4076065"/>
            <a:ext cx="5757545" cy="2773045"/>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设备利用率是指每年度设备实际使用时间占计划用时的百分比。设备完好率是根据各类设备完好标准，对企业设备进行逐台检查所确定的完好台数与设备总台数之比。设备总台数是指企业在用的、备用的、停用的以及正在检修的全部生产设备，完好台数是指设备性能良好、运转正常，且原料、燃料，油料等消耗正常的设备台数，设备负荷率是指设备需要台数与实际选用设备的台数之比。设备闲置率是指闲置不用的设备台数与设备总台数的比值。</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根据上述定义，下列说法错误的是：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若年度设备实际使用时间为</a:t>
            </a:r>
            <a:r>
              <a:rPr lang="en-US" altLang="zh-CN" sz="2000" dirty="0">
                <a:cs typeface="楷体" panose="02010609060101010101" charset="-122"/>
                <a:sym typeface="楷体" panose="02010609060101010101" charset="-122"/>
              </a:rPr>
              <a:t>9</a:t>
            </a:r>
            <a:r>
              <a:rPr lang="zh-CN" altLang="en-US" sz="2000" dirty="0">
                <a:cs typeface="楷体" panose="02010609060101010101" charset="-122"/>
                <a:sym typeface="楷体" panose="02010609060101010101" charset="-122"/>
              </a:rPr>
              <a:t>个月、设备利用率为</a:t>
            </a:r>
            <a:r>
              <a:rPr lang="en-US" altLang="zh-CN" sz="2000" dirty="0">
                <a:cs typeface="楷体" panose="02010609060101010101" charset="-122"/>
                <a:sym typeface="楷体" panose="02010609060101010101" charset="-122"/>
              </a:rPr>
              <a:t>75%</a:t>
            </a:r>
            <a:r>
              <a:rPr lang="zh-CN" altLang="en-US" sz="2000" dirty="0">
                <a:cs typeface="楷体" panose="02010609060101010101" charset="-122"/>
                <a:sym typeface="楷体" panose="02010609060101010101" charset="-122"/>
              </a:rPr>
              <a:t>，则计划用时为</a:t>
            </a:r>
            <a:r>
              <a:rPr lang="en-US" altLang="zh-CN" sz="2000" dirty="0">
                <a:cs typeface="楷体" panose="02010609060101010101" charset="-122"/>
                <a:sym typeface="楷体" panose="02010609060101010101" charset="-122"/>
              </a:rPr>
              <a:t>12</a:t>
            </a:r>
            <a:r>
              <a:rPr lang="zh-CN" altLang="en-US" sz="2000" dirty="0">
                <a:cs typeface="楷体" panose="02010609060101010101" charset="-122"/>
                <a:sym typeface="楷体" panose="02010609060101010101" charset="-122"/>
              </a:rPr>
              <a:t>个月</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企业正在检修的、零部件出现磨损或腐蚀的设备应当纳入设备总台数的计算中</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设备负荷率可用来考核设备选用的合理性程度，可用于量化分析设备运行状态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设备闲置率可以反映出设备资产投资的回报程度，其数值一般小于设备完好率</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9</a:t>
            </a:r>
            <a:r>
              <a:rPr lang="en-US" altLang="zh-CN" sz="3735" dirty="0" smtClean="0"/>
              <a:t>6</a:t>
            </a:r>
            <a:endParaRPr lang="en-US" altLang="zh-CN" sz="3735" dirty="0" smtClean="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心理护理是指在护理过程中，护士发现了影响患者治疗及康复的心理问题后，运用心理学的理论作指导，通过自身的语言、态度和行为等，或通过改善环境（包括人文环境及物理环境）去影响或调整患者的心理状态和行为，进而帮助患者康复的护理方法。</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根据上述定义，下列没有体现心理护理的是：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护士协助医生让青少年患者进行心理量表的测试，进而评估患者心理问题的类型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护士发观患儿害怕用药后，在更换切口敷料时动作轻柔、耐心细致，使患儿不再抵触换药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护士建议家属及时安抚患者的消极情绪并多加陪伴，以增强患者战胜疾病的信心</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针对患者手术前的紧张情绪，护士教会患者放松的技巧，帮助患者正确对待手术</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100</a:t>
            </a:r>
            <a:endParaRPr lang="en-US" altLang="zh-CN" sz="3735" dirty="0" smtClean="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军事演习：作战能力</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正当防卫：人身危险</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定速巡航：车辆速度</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财政赤字：通货膨胀</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土壤改良：作物产量</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101</a:t>
            </a:r>
            <a:endParaRPr lang="en-US" altLang="zh-CN" sz="3735" dirty="0" smtClean="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289052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400" dirty="0">
                <a:cs typeface="楷体" panose="02010609060101010101" charset="-122"/>
                <a:sym typeface="楷体" panose="02010609060101010101" charset="-122"/>
              </a:rPr>
              <a:t>与</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减数：被减数：差</a:t>
            </a:r>
            <a:r>
              <a:rPr lang="en-US" altLang="zh-CN" sz="2400" dirty="0">
                <a:cs typeface="楷体" panose="02010609060101010101" charset="-122"/>
                <a:sym typeface="楷体" panose="02010609060101010101" charset="-122"/>
              </a:rPr>
              <a:t>”</a:t>
            </a:r>
            <a:r>
              <a:rPr lang="zh-CN" altLang="en-US" sz="2400" dirty="0">
                <a:cs typeface="楷体" panose="02010609060101010101" charset="-122"/>
                <a:sym typeface="楷体" panose="02010609060101010101" charset="-122"/>
              </a:rPr>
              <a:t>在逻辑关系上最相近的是：</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A.</a:t>
            </a:r>
            <a:r>
              <a:rPr lang="zh-CN" altLang="en-US" sz="2400" dirty="0">
                <a:cs typeface="楷体" panose="02010609060101010101" charset="-122"/>
                <a:sym typeface="楷体" panose="02010609060101010101" charset="-122"/>
              </a:rPr>
              <a:t>粮食产量：播种面积：粮食单产</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B.</a:t>
            </a:r>
            <a:r>
              <a:rPr lang="zh-CN" altLang="en-US" sz="2400" dirty="0">
                <a:cs typeface="楷体" panose="02010609060101010101" charset="-122"/>
                <a:sym typeface="楷体" panose="02010609060101010101" charset="-122"/>
              </a:rPr>
              <a:t>溶质质量：溶液质量：溶剂质量</a:t>
            </a:r>
            <a:endParaRPr lang="zh-CN" altLang="en-US"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C.</a:t>
            </a:r>
            <a:r>
              <a:rPr lang="zh-CN" altLang="en-US" sz="2400" dirty="0">
                <a:cs typeface="楷体" panose="02010609060101010101" charset="-122"/>
                <a:sym typeface="楷体" panose="02010609060101010101" charset="-122"/>
              </a:rPr>
              <a:t>可售天数：库存总量：日均销量</a:t>
            </a:r>
            <a:r>
              <a:rPr lang="en-US" altLang="zh-CN" sz="2400" dirty="0">
                <a:cs typeface="楷体" panose="02010609060101010101" charset="-122"/>
                <a:sym typeface="楷体" panose="02010609060101010101" charset="-122"/>
              </a:rPr>
              <a:t>	</a:t>
            </a:r>
            <a:endParaRPr lang="en-US" altLang="zh-CN" sz="2400" dirty="0">
              <a:cs typeface="楷体" panose="02010609060101010101" charset="-122"/>
              <a:sym typeface="楷体" panose="02010609060101010101" charset="-122"/>
            </a:endParaRPr>
          </a:p>
          <a:p>
            <a:pPr>
              <a:lnSpc>
                <a:spcPct val="150000"/>
              </a:lnSpc>
            </a:pPr>
            <a:r>
              <a:rPr lang="en-US" altLang="zh-CN" sz="2400" dirty="0">
                <a:cs typeface="楷体" panose="02010609060101010101" charset="-122"/>
                <a:sym typeface="楷体" panose="02010609060101010101" charset="-122"/>
              </a:rPr>
              <a:t>D.</a:t>
            </a:r>
            <a:r>
              <a:rPr lang="zh-CN" altLang="en-US" sz="2400" dirty="0">
                <a:cs typeface="楷体" panose="02010609060101010101" charset="-122"/>
                <a:sym typeface="楷体" panose="02010609060101010101" charset="-122"/>
              </a:rPr>
              <a:t>间隔天数：结束日期：开始日期</a:t>
            </a:r>
            <a:endParaRPr lang="zh-CN" altLang="en-US" sz="24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103</a:t>
            </a:r>
            <a:endParaRPr lang="en-US" altLang="zh-CN" sz="3735" dirty="0" smtClean="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52183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indent="0" fontAlgn="auto">
              <a:lnSpc>
                <a:spcPct val="130000"/>
              </a:lnSpc>
            </a:pPr>
            <a:r>
              <a:rPr lang="zh-CN" altLang="en-US" sz="2000" dirty="0">
                <a:cs typeface="楷体" panose="02010609060101010101" charset="-122"/>
                <a:sym typeface="楷体" panose="02010609060101010101" charset="-122"/>
              </a:rPr>
              <a:t>研究发现，受人喜爱、知名度高的物种更易成为科研人员研究的对象。有观点认为，每一物种都有研究的意义和价值，科研人员不应对研究对象差别对待，但反对者却认为，科学研究进行重点突破比</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一视同仁</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更有意义，因为把有限的科研资源用在合适的地方，才能更好地平衡投入与回报。</a:t>
            </a:r>
            <a:endParaRPr lang="zh-CN" altLang="en-US" sz="2000" dirty="0">
              <a:cs typeface="楷体" panose="02010609060101010101" charset="-122"/>
              <a:sym typeface="楷体" panose="02010609060101010101" charset="-122"/>
            </a:endParaRPr>
          </a:p>
          <a:p>
            <a:pPr indent="0" fontAlgn="auto">
              <a:lnSpc>
                <a:spcPct val="130000"/>
              </a:lnSpc>
            </a:pPr>
            <a:r>
              <a:rPr lang="zh-CN" altLang="en-US" sz="2000" dirty="0">
                <a:cs typeface="楷体" panose="02010609060101010101" charset="-122"/>
                <a:sym typeface="楷体" panose="02010609060101010101" charset="-122"/>
              </a:rPr>
              <a:t>以下哪项如果为真，没有支持反对者的观点？</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关系人类基本需求的粮食作物，家禽家畜等产能的不断增长，得益于当初人们对其进行选择性的专门研究</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对那些生长周期短，基因组简单且分布广泛的模式生物进行重点研究更易揭示生命种学的普通规律</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由于文化、知名度等原因，对某些物种的保护性研究对唤醒人们的生态保护意识具有特殊的号召力和吸引力</a:t>
            </a:r>
            <a:endParaRPr lang="zh-CN" altLang="en-US" sz="2000" dirty="0">
              <a:cs typeface="楷体" panose="02010609060101010101" charset="-122"/>
              <a:sym typeface="楷体" panose="02010609060101010101" charset="-122"/>
            </a:endParaRPr>
          </a:p>
          <a:p>
            <a:pPr indent="0" fontAlgn="auto">
              <a:lnSpc>
                <a:spcPct val="13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网络上搜索到关于树袋熊的相关论文有</a:t>
            </a:r>
            <a:r>
              <a:rPr lang="en-US" altLang="zh-CN" sz="2000" dirty="0">
                <a:cs typeface="楷体" panose="02010609060101010101" charset="-122"/>
                <a:sym typeface="楷体" panose="02010609060101010101" charset="-122"/>
              </a:rPr>
              <a:t>5000</a:t>
            </a:r>
            <a:r>
              <a:rPr lang="zh-CN" altLang="en-US" sz="2000" dirty="0">
                <a:cs typeface="楷体" panose="02010609060101010101" charset="-122"/>
                <a:sym typeface="楷体" panose="02010609060101010101" charset="-122"/>
              </a:rPr>
              <a:t>多篇，而更为濒危的昆士兰毛树袋熊的论文则不到</a:t>
            </a:r>
            <a:r>
              <a:rPr lang="en-US" altLang="zh-CN" sz="2000" dirty="0">
                <a:cs typeface="楷体" panose="02010609060101010101" charset="-122"/>
                <a:sym typeface="楷体" panose="02010609060101010101" charset="-122"/>
              </a:rPr>
              <a:t>1000</a:t>
            </a:r>
            <a:r>
              <a:rPr lang="zh-CN" altLang="en-US" sz="2000" dirty="0">
                <a:cs typeface="楷体" panose="02010609060101010101" charset="-122"/>
                <a:sym typeface="楷体" panose="02010609060101010101" charset="-122"/>
              </a:rPr>
              <a:t>篇</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106</a:t>
            </a:r>
            <a:endParaRPr lang="en-US" altLang="zh-CN" sz="3735" dirty="0" smtClean="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近年来，盲盒等</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非确定性产品</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的市场规模迅速扩张，有分析人士指出，非确定性产品的热销说明有相当一部分消费者受到感受性消费动机的驱动，不同于实用性消费动机对商品实用价值的看重，感受性消费动机更看重商品带来的主观体验。</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以下哪项如果为真，不能支持上述分析人士的观点？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盲盒等产品通常设计精美，能够给消费者带来愉悦的审美体验</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限量款盲盒产品吸引许多消费者以投资为目的购买并加价转手</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许多盲盒产品设计有隐藏款，消费者开出时会感受到惊喜、满足</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非确定性产品制造的信息缺口能够激发部分消费者强烈的好奇心</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108</a:t>
            </a:r>
            <a:endParaRPr lang="en-US" altLang="zh-CN" sz="3735" dirty="0" smtClean="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在过去几十年，某大型沿海河口的河岸和沼泽边缘不断被侵蚀且侵蚀速度逐渐加快，这使得河口的湿地退化，生态环境变得脆弱。同时，人们发现该河口中沼泽蟹的数量持续增加，这加剧了沼泽边缘的退缩。因此，可以适度引入海獭来减缓沼泽边缘的侵蚀。</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以下除哪项外，均能支持上述论证？</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沼泽蟹会在泥沙中挖掘洞穴，这是导致沼泽边缘不断退缩的主要原因</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该地区原有的海獭曾因人类活动而消失，重新引入不易引发生态失衡</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近年来，受海平面上升和潮汐冲刷的影响，许多河口都出现了湿地退化</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海獭是沼泽蟹的天敌，包括沼泽蟹在内的无脊椎动物是海獭的主要食物</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109</a:t>
            </a:r>
            <a:endParaRPr lang="en-US" altLang="zh-CN" sz="3735" dirty="0" smtClean="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381381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某学术会议共有甲、乙、丙、丁、戊、己、庚</a:t>
            </a:r>
            <a:r>
              <a:rPr lang="en-US" altLang="zh-CN" sz="2000" dirty="0">
                <a:cs typeface="楷体" panose="02010609060101010101" charset="-122"/>
                <a:sym typeface="楷体" panose="02010609060101010101" charset="-122"/>
              </a:rPr>
              <a:t>7</a:t>
            </a:r>
            <a:r>
              <a:rPr lang="zh-CN" altLang="en-US" sz="2000" dirty="0">
                <a:cs typeface="楷体" panose="02010609060101010101" charset="-122"/>
                <a:sym typeface="楷体" panose="02010609060101010101" charset="-122"/>
              </a:rPr>
              <a:t>名代表参加，在专题讨论环节，受时间限制，对于代表发言的安排，有如下考虑：</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1</a:t>
            </a:r>
            <a:r>
              <a:rPr lang="zh-CN" altLang="en-US" sz="2000" dirty="0">
                <a:cs typeface="楷体" panose="02010609060101010101" charset="-122"/>
                <a:sym typeface="楷体" panose="02010609060101010101" charset="-122"/>
              </a:rPr>
              <a:t>）甲、丁至多安排其中一人发言；</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2</a:t>
            </a:r>
            <a:r>
              <a:rPr lang="zh-CN" altLang="en-US" sz="2000" dirty="0">
                <a:cs typeface="楷体" panose="02010609060101010101" charset="-122"/>
                <a:sym typeface="楷体" panose="02010609060101010101" charset="-122"/>
              </a:rPr>
              <a:t>）如果丙、戊至少安排其一，则安排甲而不安排己发言；</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a:t>
            </a:r>
            <a:r>
              <a:rPr lang="en-US" altLang="zh-CN" sz="2000" dirty="0">
                <a:cs typeface="楷体" panose="02010609060101010101" charset="-122"/>
                <a:sym typeface="楷体" panose="02010609060101010101" charset="-122"/>
              </a:rPr>
              <a:t>3</a:t>
            </a:r>
            <a:r>
              <a:rPr lang="zh-CN" altLang="en-US" sz="2000" dirty="0">
                <a:cs typeface="楷体" panose="02010609060101010101" charset="-122"/>
                <a:sym typeface="楷体" panose="02010609060101010101" charset="-122"/>
              </a:rPr>
              <a:t>）如果乙、庚至少安排其一，则安排丁而不安排甲发言。</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专题讨论最终安排了</a:t>
            </a:r>
            <a:r>
              <a:rPr lang="en-US" altLang="zh-CN" sz="2000" dirty="0">
                <a:cs typeface="楷体" panose="02010609060101010101" charset="-122"/>
                <a:sym typeface="楷体" panose="02010609060101010101" charset="-122"/>
              </a:rPr>
              <a:t>4</a:t>
            </a:r>
            <a:r>
              <a:rPr lang="zh-CN" altLang="en-US" sz="2000" dirty="0">
                <a:cs typeface="楷体" panose="02010609060101010101" charset="-122"/>
                <a:sym typeface="楷体" panose="02010609060101010101" charset="-122"/>
              </a:rPr>
              <a:t>名代表发言，上述考虑均被满足。下列说法正确的是：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安排了乙、庚发言</a:t>
            </a:r>
            <a:r>
              <a:rPr lang="en-US" altLang="zh-CN" sz="2000" dirty="0">
                <a:cs typeface="楷体" panose="02010609060101010101" charset="-122"/>
                <a:sym typeface="楷体" panose="02010609060101010101" charset="-122"/>
              </a:rPr>
              <a:t>	B.</a:t>
            </a:r>
            <a:r>
              <a:rPr lang="zh-CN" altLang="en-US" sz="2000" dirty="0">
                <a:cs typeface="楷体" panose="02010609060101010101" charset="-122"/>
                <a:sym typeface="楷体" panose="02010609060101010101" charset="-122"/>
              </a:rPr>
              <a:t>安排了丙、丁发言</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安排了己、戊发言</a:t>
            </a:r>
            <a:r>
              <a:rPr lang="en-US" altLang="zh-CN" sz="2000" dirty="0">
                <a:cs typeface="楷体" panose="02010609060101010101" charset="-122"/>
                <a:sym typeface="楷体" panose="02010609060101010101" charset="-122"/>
              </a:rPr>
              <a:t>	D.</a:t>
            </a:r>
            <a:r>
              <a:rPr lang="zh-CN" altLang="en-US" sz="2000" dirty="0">
                <a:cs typeface="楷体" panose="02010609060101010101" charset="-122"/>
                <a:sym typeface="楷体" panose="02010609060101010101" charset="-122"/>
              </a:rPr>
              <a:t>安排了甲、乙发言</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110</a:t>
            </a:r>
            <a:endParaRPr lang="en-US" altLang="zh-CN" sz="3735" dirty="0" smtClean="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519874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三医</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是医疗、医保、医药的简称，只有提高卫生事业发展水平，且相关部门密切合作、同向发力，才能促进</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三医</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协同发展和治理。只有深化医改领导体制和工作推进机制，才能促进</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三医</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协同发展和治理。深化医改领导体制和工作推进机制，必须强化区域医疗卫生规划和医疗机构设置规划的刚性约束。只有深化医改领导体制和工作推进机制，才能更好满足人民群众对美好生活的新期待，进而提高人民群众的获得感、幸福感和安全感。</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由此可以推出：</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只要提高卫生事业发展水平，就能使相关部门密切合作、同向发力</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只有强化区域医疗卫生规划和医疗机构设置规划的刚性约束，才能提高人民群众的获得感、幸福感和安全感</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要深化医改领导体制和工作推进机制，就必须促进</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三医</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协同发展和治理</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如果不能更好满足人民群众对美好生活的新期待，就不能促进</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三医</a:t>
            </a:r>
            <a:r>
              <a:rPr lang="en-US" altLang="zh-CN" sz="2000" dirty="0">
                <a:cs typeface="楷体" panose="02010609060101010101" charset="-122"/>
                <a:sym typeface="楷体" panose="02010609060101010101" charset="-122"/>
              </a:rPr>
              <a:t>”</a:t>
            </a:r>
            <a:r>
              <a:rPr lang="zh-CN" altLang="en-US" sz="2000" dirty="0">
                <a:cs typeface="楷体" panose="02010609060101010101" charset="-122"/>
                <a:sym typeface="楷体" panose="02010609060101010101" charset="-122"/>
              </a:rPr>
              <a:t>协同发展和治理</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111</a:t>
            </a:r>
            <a:endParaRPr lang="en-US" altLang="zh-CN" sz="3735" dirty="0" smtClean="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275455"/>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抓挠是对皮肤瘙痒感觉的一种反应。一般来说，抓挠会激活皮肤中表达</a:t>
            </a:r>
            <a:r>
              <a:rPr lang="en-US" altLang="zh-CN" sz="2000" dirty="0">
                <a:cs typeface="楷体" panose="02010609060101010101" charset="-122"/>
                <a:sym typeface="楷体" panose="02010609060101010101" charset="-122"/>
              </a:rPr>
              <a:t>TRPVI</a:t>
            </a:r>
            <a:r>
              <a:rPr lang="zh-CN" altLang="en-US" sz="2000" dirty="0">
                <a:cs typeface="楷体" panose="02010609060101010101" charset="-122"/>
                <a:sym typeface="楷体" panose="02010609060101010101" charset="-122"/>
              </a:rPr>
              <a:t>的痛觉神经元，促进其释放</a:t>
            </a:r>
            <a:r>
              <a:rPr lang="en-US" altLang="zh-CN" sz="2000" dirty="0">
                <a:cs typeface="楷体" panose="02010609060101010101" charset="-122"/>
                <a:sym typeface="楷体" panose="02010609060101010101" charset="-122"/>
              </a:rPr>
              <a:t>P</a:t>
            </a:r>
            <a:r>
              <a:rPr lang="zh-CN" altLang="en-US" sz="2000" dirty="0">
                <a:cs typeface="楷体" panose="02010609060101010101" charset="-122"/>
                <a:sym typeface="楷体" panose="02010609060101010101" charset="-122"/>
              </a:rPr>
              <a:t>物质，激活肥大细胞，增强炎症反应，而最近的研究发现，皮肤瘙痒的小鼠抓挠皮肤后，相比未抓挠的皮肤、抓挠处的皮肤更少受到细菌感染。因此研究人员认为，抓挠皮肤并非毫无益处，这一行为可以增强该部位皮肤对细菌的防御能力。</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以下哪项如果为真，最能支持上述研究人员的观点？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抓挠激活肥大细胞后，肥大细胞可在局部召集免疫细胞，进而抵抗病原菌的侵害</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近期一项研究发现，抓挠仅增加了皮肤的损伤程度，而并未加剧皮肤的炎症反应</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抓挠产生的痛感强度低于大脑疼痛阈值时，大脑会分泌血清素，让人产生愉悦感</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抓挠耳廓或耳垂能够刺激外耳皮肤中的迷走神经小分支，有助于增强神经活跃度</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112</a:t>
            </a:r>
            <a:endParaRPr lang="en-US" altLang="zh-CN" sz="3735" dirty="0" smtClean="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zh-CN" altLang="en-US" sz="2000" dirty="0">
                <a:cs typeface="楷体" panose="02010609060101010101" charset="-122"/>
                <a:sym typeface="楷体" panose="02010609060101010101" charset="-122"/>
              </a:rPr>
              <a:t>数据显示，当前我国的宠物数量已超过</a:t>
            </a:r>
            <a:r>
              <a:rPr lang="en-US" altLang="zh-CN" sz="2000" dirty="0">
                <a:cs typeface="楷体" panose="02010609060101010101" charset="-122"/>
                <a:sym typeface="楷体" panose="02010609060101010101" charset="-122"/>
              </a:rPr>
              <a:t>1.2</a:t>
            </a:r>
            <a:r>
              <a:rPr lang="zh-CN" altLang="en-US" sz="2000" dirty="0">
                <a:cs typeface="楷体" panose="02010609060101010101" charset="-122"/>
                <a:sym typeface="楷体" panose="02010609060101010101" charset="-122"/>
              </a:rPr>
              <a:t>亿只，养宠家庭规模破亿。在整体上升的趋势中，猫狗的数量增长并不同步，宠物猫的增速远高于宠物狗，尤其是在大城市，宠物猫的数量上升得更快。部分人士认为，随着城市化进程的加快，城市居民的居住空间越来越有限，养狗可能会面临空间不足的问题，而猫体型小巧，对空间的要求不高。因此居住空间受限是城市中的人们更倾向于养宠物猫的主要原因。</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以下除哪项外，均能削弱上述观点？</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狗易吠叫且更具人身危险性，容易引发邻里矛盾，有些居民担心养狗会带来麻烦</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猫不需每天遛，也不需花费大量时间陪伴，这对于上班族来说更具吸引力</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人们饲养宠物猫后，增加了与其他猫主人之间的交流，拓展了社交圈</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相比宠物狗，猫体型较小且食量也较少，食物和日常用品的开支较低</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113</a:t>
            </a:r>
            <a:endParaRPr lang="en-US" altLang="zh-CN" sz="3735" dirty="0" smtClean="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文本框 2"/>
          <p:cNvSpPr txBox="1"/>
          <p:nvPr/>
        </p:nvSpPr>
        <p:spPr>
          <a:xfrm>
            <a:off x="403018" y="705267"/>
            <a:ext cx="11384692" cy="4737100"/>
          </a:xfrm>
          <a:prstGeom prst="rect">
            <a:avLst/>
          </a:prstGeom>
          <a:ln w="12700">
            <a:miter lim="400000"/>
          </a:ln>
        </p:spPr>
        <p:txBody>
          <a:bodyPr wrap="square" lIns="60957" tIns="60957" rIns="60957" bIns="60957">
            <a:spAutoFit/>
          </a:bodyPr>
          <a:lstStyle>
            <a:lvl1pPr>
              <a:defRPr>
                <a:latin typeface="+mn-lt"/>
                <a:ea typeface="+mn-ea"/>
                <a:cs typeface="+mn-cs"/>
                <a:sym typeface="Calibri" panose="020F0502020204030204"/>
              </a:defRPr>
            </a:lvl1pPr>
          </a:lstStyle>
          <a:p>
            <a:pPr>
              <a:lnSpc>
                <a:spcPct val="150000"/>
              </a:lnSpc>
            </a:pPr>
            <a:r>
              <a:rPr lang="en-US" altLang="zh-CN" sz="2000" dirty="0">
                <a:cs typeface="楷体" panose="02010609060101010101" charset="-122"/>
                <a:sym typeface="楷体" panose="02010609060101010101" charset="-122"/>
              </a:rPr>
              <a:t>R</a:t>
            </a:r>
            <a:r>
              <a:rPr lang="zh-CN" altLang="en-US" sz="2000" dirty="0">
                <a:cs typeface="楷体" panose="02010609060101010101" charset="-122"/>
                <a:sym typeface="楷体" panose="02010609060101010101" charset="-122"/>
              </a:rPr>
              <a:t>市最近出现较强降雨。因为冷空气与暖湿气流交汇时会产生强降雨，可见</a:t>
            </a:r>
            <a:r>
              <a:rPr lang="en-US" altLang="zh-CN" sz="2000" dirty="0">
                <a:cs typeface="楷体" panose="02010609060101010101" charset="-122"/>
                <a:sym typeface="楷体" panose="02010609060101010101" charset="-122"/>
              </a:rPr>
              <a:t>R</a:t>
            </a:r>
            <a:r>
              <a:rPr lang="zh-CN" altLang="en-US" sz="2000" dirty="0">
                <a:cs typeface="楷体" panose="02010609060101010101" charset="-122"/>
                <a:sym typeface="楷体" panose="02010609060101010101" charset="-122"/>
              </a:rPr>
              <a:t>市最近出现了冷空气与暖湿气流的交汇。</a:t>
            </a:r>
            <a:endParaRPr lang="zh-CN" altLang="en-US" sz="2000" dirty="0">
              <a:cs typeface="楷体" panose="02010609060101010101" charset="-122"/>
              <a:sym typeface="楷体" panose="02010609060101010101" charset="-122"/>
            </a:endParaRPr>
          </a:p>
          <a:p>
            <a:pPr>
              <a:lnSpc>
                <a:spcPct val="150000"/>
              </a:lnSpc>
            </a:pPr>
            <a:r>
              <a:rPr lang="zh-CN" altLang="en-US" sz="2000" dirty="0">
                <a:cs typeface="楷体" panose="02010609060101010101" charset="-122"/>
                <a:sym typeface="楷体" panose="02010609060101010101" charset="-122"/>
              </a:rPr>
              <a:t>以下哪项与上述论证方式最为相似？</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A.</a:t>
            </a:r>
            <a:r>
              <a:rPr lang="zh-CN" altLang="en-US" sz="2000" dirty="0">
                <a:cs typeface="楷体" panose="02010609060101010101" charset="-122"/>
                <a:sym typeface="楷体" panose="02010609060101010101" charset="-122"/>
              </a:rPr>
              <a:t>某草场今年牧草稀疏，因为牧草稀疏时绵羊无法摄入足够的营养，进而影响生长发育，所以该草场今年绵羊的生长发育会受到影响</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B.</a:t>
            </a:r>
            <a:r>
              <a:rPr lang="zh-CN" altLang="en-US" sz="2000" dirty="0">
                <a:cs typeface="楷体" panose="02010609060101010101" charset="-122"/>
                <a:sym typeface="楷体" panose="02010609060101010101" charset="-122"/>
              </a:rPr>
              <a:t>某地图书馆春节期间图书借阅量减少，因为旅游人数增加不会导致图书借阅量减少，可见该地图书馆图书借阅量减少与旅游人数增加无关</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C.</a:t>
            </a:r>
            <a:r>
              <a:rPr lang="zh-CN" altLang="en-US" sz="2000" dirty="0">
                <a:cs typeface="楷体" panose="02010609060101010101" charset="-122"/>
                <a:sym typeface="楷体" panose="02010609060101010101" charset="-122"/>
              </a:rPr>
              <a:t>由于地质松软会导致建设隧道时工期延长，某区域建设隧道时工期延长，所以该区域的地质松软</a:t>
            </a:r>
            <a:endParaRPr lang="zh-CN" altLang="en-US" sz="2000" dirty="0">
              <a:cs typeface="楷体" panose="02010609060101010101" charset="-122"/>
              <a:sym typeface="楷体" panose="02010609060101010101" charset="-122"/>
            </a:endParaRPr>
          </a:p>
          <a:p>
            <a:pPr>
              <a:lnSpc>
                <a:spcPct val="150000"/>
              </a:lnSpc>
            </a:pPr>
            <a:r>
              <a:rPr lang="en-US" altLang="zh-CN" sz="2000" dirty="0">
                <a:cs typeface="楷体" panose="02010609060101010101" charset="-122"/>
                <a:sym typeface="楷体" panose="02010609060101010101" charset="-122"/>
              </a:rPr>
              <a:t>D.</a:t>
            </a:r>
            <a:r>
              <a:rPr lang="zh-CN" altLang="en-US" sz="2000" dirty="0">
                <a:cs typeface="楷体" panose="02010609060101010101" charset="-122"/>
                <a:sym typeface="楷体" panose="02010609060101010101" charset="-122"/>
              </a:rPr>
              <a:t>因为小质量恒星坍缩后大多会变成白矮星，科学家发现某个小质量恒星正在发生坍缩，所以这个小质量恒星会变成白矮星</a:t>
            </a:r>
            <a:endParaRPr lang="zh-CN" altLang="en-US" sz="2000" dirty="0">
              <a:cs typeface="楷体" panose="02010609060101010101" charset="-122"/>
              <a:sym typeface="楷体" panose="02010609060101010101" charset="-122"/>
            </a:endParaRPr>
          </a:p>
        </p:txBody>
      </p:sp>
      <p:sp>
        <p:nvSpPr>
          <p:cNvPr id="2" name="标题 1"/>
          <p:cNvSpPr>
            <a:spLocks noGrp="1"/>
          </p:cNvSpPr>
          <p:nvPr>
            <p:ph type="title" idx="4294967295"/>
          </p:nvPr>
        </p:nvSpPr>
        <p:spPr>
          <a:xfrm>
            <a:off x="608400" y="70"/>
            <a:ext cx="10969200" cy="705600"/>
          </a:xfrm>
        </p:spPr>
        <p:txBody>
          <a:bodyPr>
            <a:normAutofit/>
          </a:bodyPr>
          <a:lstStyle/>
          <a:p>
            <a:r>
              <a:rPr lang="zh-CN" altLang="en-US" sz="3735" dirty="0" smtClean="0"/>
              <a:t>题</a:t>
            </a:r>
            <a:r>
              <a:rPr lang="en-US" altLang="zh-CN" sz="3735" dirty="0" smtClean="0"/>
              <a:t>115</a:t>
            </a:r>
            <a:endParaRPr lang="en-US" altLang="zh-CN" sz="3735" dirty="0" smtClean="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13559</Words>
  <Application>WPS 演示</Application>
  <PresentationFormat>宽屏</PresentationFormat>
  <Paragraphs>598</Paragraphs>
  <Slides>70</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70</vt:i4>
      </vt:variant>
    </vt:vector>
  </HeadingPairs>
  <TitlesOfParts>
    <vt:vector size="80" baseType="lpstr">
      <vt:lpstr>Arial</vt:lpstr>
      <vt:lpstr>宋体</vt:lpstr>
      <vt:lpstr>Wingdings</vt:lpstr>
      <vt:lpstr>微软雅黑</vt:lpstr>
      <vt:lpstr>Wingdings</vt:lpstr>
      <vt:lpstr>微软雅黑 Light</vt:lpstr>
      <vt:lpstr>楷体</vt:lpstr>
      <vt:lpstr>Calibri</vt:lpstr>
      <vt:lpstr>Arial Unicode MS</vt:lpstr>
      <vt:lpstr>WPS</vt:lpstr>
      <vt:lpstr>PowerPoint 演示文稿</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题101</vt:lpstr>
      <vt:lpstr>题102</vt:lpstr>
      <vt:lpstr>题103</vt:lpstr>
      <vt:lpstr>题104</vt:lpstr>
      <vt:lpstr>题105</vt:lpstr>
      <vt:lpstr>题106</vt:lpstr>
      <vt:lpstr>题107</vt:lpstr>
      <vt:lpstr>题108</vt:lpstr>
      <vt:lpstr>题109</vt:lpstr>
      <vt:lpstr>题110</vt:lpstr>
      <vt:lpstr>PowerPoint 演示文稿</vt:lpstr>
      <vt:lpstr>PowerPoint 演示文稿</vt:lpstr>
      <vt:lpstr>题76</vt:lpstr>
      <vt:lpstr>题78</vt:lpstr>
      <vt:lpstr>题79</vt:lpstr>
      <vt:lpstr>题80</vt:lpstr>
      <vt:lpstr>题81</vt:lpstr>
      <vt:lpstr>题83</vt:lpstr>
      <vt:lpstr>题86</vt:lpstr>
      <vt:lpstr>题88</vt:lpstr>
      <vt:lpstr>题91</vt:lpstr>
      <vt:lpstr>题92</vt:lpstr>
      <vt:lpstr>题94</vt:lpstr>
      <vt:lpstr>题76</vt:lpstr>
      <vt:lpstr>题97</vt:lpstr>
      <vt:lpstr>题101</vt:lpstr>
      <vt:lpstr>题102</vt:lpstr>
      <vt:lpstr>PowerPoint 演示文稿</vt:lpstr>
      <vt:lpstr>PowerPoint 演示文稿</vt:lpstr>
      <vt:lpstr>题83</vt:lpstr>
      <vt:lpstr>题88</vt:lpstr>
      <vt:lpstr>题96</vt:lpstr>
      <vt:lpstr>题100</vt:lpstr>
      <vt:lpstr>题101</vt:lpstr>
      <vt:lpstr>题103</vt:lpstr>
      <vt:lpstr>题106</vt:lpstr>
      <vt:lpstr>题108</vt:lpstr>
      <vt:lpstr>题109</vt:lpstr>
      <vt:lpstr>题110</vt:lpstr>
      <vt:lpstr>题111</vt:lpstr>
      <vt:lpstr>题112</vt:lpstr>
      <vt:lpstr>题113</vt:lpstr>
      <vt:lpstr>题115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231</cp:revision>
  <dcterms:created xsi:type="dcterms:W3CDTF">2019-06-19T02:08:00Z</dcterms:created>
  <dcterms:modified xsi:type="dcterms:W3CDTF">2026-02-02T06:41:42Z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7E0F0589F6D94CFE8A4BC2AEA01394FF_11</vt:lpwstr>
  </property>
</Properties>
</file>